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308" r:id="rId12"/>
    <p:sldId id="267" r:id="rId13"/>
    <p:sldId id="269" r:id="rId14"/>
    <p:sldId id="309" r:id="rId15"/>
    <p:sldId id="271" r:id="rId16"/>
    <p:sldId id="310" r:id="rId17"/>
    <p:sldId id="311" r:id="rId18"/>
    <p:sldId id="272" r:id="rId19"/>
    <p:sldId id="274" r:id="rId20"/>
    <p:sldId id="313" r:id="rId21"/>
    <p:sldId id="314" r:id="rId22"/>
    <p:sldId id="315" r:id="rId23"/>
    <p:sldId id="316" r:id="rId24"/>
    <p:sldId id="317" r:id="rId25"/>
    <p:sldId id="318" r:id="rId26"/>
    <p:sldId id="275" r:id="rId27"/>
    <p:sldId id="276" r:id="rId28"/>
    <p:sldId id="312" r:id="rId29"/>
    <p:sldId id="278" r:id="rId30"/>
    <p:sldId id="279" r:id="rId31"/>
    <p:sldId id="319" r:id="rId32"/>
    <p:sldId id="280" r:id="rId33"/>
    <p:sldId id="320" r:id="rId34"/>
    <p:sldId id="281" r:id="rId35"/>
    <p:sldId id="322" r:id="rId36"/>
    <p:sldId id="321" r:id="rId37"/>
    <p:sldId id="282" r:id="rId38"/>
    <p:sldId id="283" r:id="rId39"/>
    <p:sldId id="284" r:id="rId40"/>
    <p:sldId id="285" r:id="rId41"/>
    <p:sldId id="288" r:id="rId42"/>
    <p:sldId id="286" r:id="rId43"/>
    <p:sldId id="287" r:id="rId44"/>
    <p:sldId id="289" r:id="rId45"/>
    <p:sldId id="290" r:id="rId46"/>
    <p:sldId id="291" r:id="rId47"/>
    <p:sldId id="323" r:id="rId48"/>
    <p:sldId id="324" r:id="rId49"/>
    <p:sldId id="325" r:id="rId50"/>
    <p:sldId id="292" r:id="rId51"/>
    <p:sldId id="293" r:id="rId52"/>
    <p:sldId id="294" r:id="rId53"/>
    <p:sldId id="295" r:id="rId54"/>
    <p:sldId id="296" r:id="rId55"/>
    <p:sldId id="298" r:id="rId56"/>
    <p:sldId id="297" r:id="rId57"/>
    <p:sldId id="299" r:id="rId58"/>
    <p:sldId id="300" r:id="rId59"/>
    <p:sldId id="301" r:id="rId60"/>
    <p:sldId id="302" r:id="rId61"/>
    <p:sldId id="326" r:id="rId62"/>
    <p:sldId id="304" r:id="rId63"/>
    <p:sldId id="305" r:id="rId64"/>
    <p:sldId id="306"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E7CC"/>
    <a:srgbClr val="E3C1E8"/>
    <a:srgbClr val="BEE0FB"/>
    <a:srgbClr val="96BCDC"/>
    <a:srgbClr val="BBEFFF"/>
    <a:srgbClr val="8EB5D6"/>
    <a:srgbClr val="749FC2"/>
    <a:srgbClr val="C49BCC"/>
    <a:srgbClr val="9CBD9D"/>
    <a:srgbClr val="B487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267F91-CA84-436A-A840-DCCC5366F6D9}">
  <a:tblStyle styleId="{65267F91-CA84-436A-A840-DCCC5366F6D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8" d="100"/>
          <a:sy n="108" d="100"/>
        </p:scale>
        <p:origin x="70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8ABE9854-2C4F-6E1A-9E62-EF26C1363958}"/>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2070B659-99E0-6C73-BC18-7BD10F92C9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07F36AE1-9B91-5C29-79C4-9A89BA1E67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013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86E7B199-7161-A696-A528-9769D7CA42E7}"/>
            </a:ext>
          </a:extLst>
        </p:cNvPr>
        <p:cNvGrpSpPr/>
        <p:nvPr/>
      </p:nvGrpSpPr>
      <p:grpSpPr>
        <a:xfrm>
          <a:off x="0" y="0"/>
          <a:ext cx="0" cy="0"/>
          <a:chOff x="0" y="0"/>
          <a:chExt cx="0" cy="0"/>
        </a:xfrm>
      </p:grpSpPr>
      <p:sp>
        <p:nvSpPr>
          <p:cNvPr id="402" name="Google Shape;402;p14:notes">
            <a:extLst>
              <a:ext uri="{FF2B5EF4-FFF2-40B4-BE49-F238E27FC236}">
                <a16:creationId xmlns:a16="http://schemas.microsoft.com/office/drawing/2014/main" id="{3BDE6B90-12A6-F964-D185-7BA8AFFAD1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4:notes">
            <a:extLst>
              <a:ext uri="{FF2B5EF4-FFF2-40B4-BE49-F238E27FC236}">
                <a16:creationId xmlns:a16="http://schemas.microsoft.com/office/drawing/2014/main" id="{B41E2920-A4B3-4B53-D0E2-F9A5961A3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943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F6B265BF-451E-E81A-51FC-792466D48667}"/>
            </a:ext>
          </a:extLst>
        </p:cNvPr>
        <p:cNvGrpSpPr/>
        <p:nvPr/>
      </p:nvGrpSpPr>
      <p:grpSpPr>
        <a:xfrm>
          <a:off x="0" y="0"/>
          <a:ext cx="0" cy="0"/>
          <a:chOff x="0" y="0"/>
          <a:chExt cx="0" cy="0"/>
        </a:xfrm>
      </p:grpSpPr>
      <p:sp>
        <p:nvSpPr>
          <p:cNvPr id="428" name="Google Shape;428;p16:notes">
            <a:extLst>
              <a:ext uri="{FF2B5EF4-FFF2-40B4-BE49-F238E27FC236}">
                <a16:creationId xmlns:a16="http://schemas.microsoft.com/office/drawing/2014/main" id="{D2F25C64-5C58-8AAF-7584-9E54791347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a:extLst>
              <a:ext uri="{FF2B5EF4-FFF2-40B4-BE49-F238E27FC236}">
                <a16:creationId xmlns:a16="http://schemas.microsoft.com/office/drawing/2014/main" id="{D850D69A-912A-76A3-22FD-3B65EA682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3850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DAD781CA-A9AF-861D-51F9-0C09EC30DABB}"/>
            </a:ext>
          </a:extLst>
        </p:cNvPr>
        <p:cNvGrpSpPr/>
        <p:nvPr/>
      </p:nvGrpSpPr>
      <p:grpSpPr>
        <a:xfrm>
          <a:off x="0" y="0"/>
          <a:ext cx="0" cy="0"/>
          <a:chOff x="0" y="0"/>
          <a:chExt cx="0" cy="0"/>
        </a:xfrm>
      </p:grpSpPr>
      <p:sp>
        <p:nvSpPr>
          <p:cNvPr id="428" name="Google Shape;428;p16:notes">
            <a:extLst>
              <a:ext uri="{FF2B5EF4-FFF2-40B4-BE49-F238E27FC236}">
                <a16:creationId xmlns:a16="http://schemas.microsoft.com/office/drawing/2014/main" id="{9B1E8305-76C9-61BD-556F-6FA15F924B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16:notes">
            <a:extLst>
              <a:ext uri="{FF2B5EF4-FFF2-40B4-BE49-F238E27FC236}">
                <a16:creationId xmlns:a16="http://schemas.microsoft.com/office/drawing/2014/main" id="{1C1E76DB-5DD8-B4FA-50A4-E39A204DC6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05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016DE454-348C-6BA5-F909-8B0DA7831612}"/>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07F00485-9622-34AF-0EB4-19FAB315ED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5F7E4943-A2F0-CA4A-923F-E235DD3EAD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5961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B53BD63A-6641-6BAE-1EF3-0C8656BD832B}"/>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50BC0105-9022-4E7E-8C54-9132B6C070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F017B1C2-9487-90E5-9343-E1A7875857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7673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03E3ABBA-E62F-2E35-6356-E5995D1BA8F3}"/>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419FA5A9-9965-4503-17C2-CF0CE9D9A4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4CFEDD68-6B60-BCBC-1757-4F9A685CD7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673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D04019C7-6734-F29C-525A-307C8AE6F1AA}"/>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47FC24AF-0DC0-D4F1-A6EE-09BF2CBD8B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2BC2F6F7-13C9-E347-B89D-0EA393B1F7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974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24A9BC4A-6CC7-5385-7432-51B566A01E41}"/>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EA987E18-94E2-F092-808E-E88AB0CA3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0558B991-02D4-CFB6-064E-CD8F12D95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775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a:extLst>
            <a:ext uri="{FF2B5EF4-FFF2-40B4-BE49-F238E27FC236}">
              <a16:creationId xmlns:a16="http://schemas.microsoft.com/office/drawing/2014/main" id="{64A6870C-6432-247E-9A17-2DD11D1C10C9}"/>
            </a:ext>
          </a:extLst>
        </p:cNvPr>
        <p:cNvGrpSpPr/>
        <p:nvPr/>
      </p:nvGrpSpPr>
      <p:grpSpPr>
        <a:xfrm>
          <a:off x="0" y="0"/>
          <a:ext cx="0" cy="0"/>
          <a:chOff x="0" y="0"/>
          <a:chExt cx="0" cy="0"/>
        </a:xfrm>
      </p:grpSpPr>
      <p:sp>
        <p:nvSpPr>
          <p:cNvPr id="467" name="Google Shape;467;p19:notes">
            <a:extLst>
              <a:ext uri="{FF2B5EF4-FFF2-40B4-BE49-F238E27FC236}">
                <a16:creationId xmlns:a16="http://schemas.microsoft.com/office/drawing/2014/main" id="{EE1B5E7C-3527-AE34-9089-52FD72DE0C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8" name="Google Shape;468;p19:notes">
            <a:extLst>
              <a:ext uri="{FF2B5EF4-FFF2-40B4-BE49-F238E27FC236}">
                <a16:creationId xmlns:a16="http://schemas.microsoft.com/office/drawing/2014/main" id="{5563670A-BF70-E99C-ED1C-61B7E4AEBA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15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0" name="Google Shape;49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BEC7F1D0-40AF-BF06-2DBE-3D4CBED95743}"/>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762B6AE2-6D78-70BA-1349-0CEC2C2A0A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6281F11E-0AE9-BB61-C4E5-4801572EC8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30876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33D481EB-F9F4-1604-ECEA-9B7F378A69F7}"/>
            </a:ext>
          </a:extLst>
        </p:cNvPr>
        <p:cNvGrpSpPr/>
        <p:nvPr/>
      </p:nvGrpSpPr>
      <p:grpSpPr>
        <a:xfrm>
          <a:off x="0" y="0"/>
          <a:ext cx="0" cy="0"/>
          <a:chOff x="0" y="0"/>
          <a:chExt cx="0" cy="0"/>
        </a:xfrm>
      </p:grpSpPr>
      <p:sp>
        <p:nvSpPr>
          <p:cNvPr id="618" name="Google Shape;618;p25:notes">
            <a:extLst>
              <a:ext uri="{FF2B5EF4-FFF2-40B4-BE49-F238E27FC236}">
                <a16:creationId xmlns:a16="http://schemas.microsoft.com/office/drawing/2014/main" id="{74081745-91A3-0B80-F413-1AB4DA0FBD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9" name="Google Shape;619;p25:notes">
            <a:extLst>
              <a:ext uri="{FF2B5EF4-FFF2-40B4-BE49-F238E27FC236}">
                <a16:creationId xmlns:a16="http://schemas.microsoft.com/office/drawing/2014/main" id="{38411FF5-7975-03A3-247D-40AD9F4F32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6182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9" name="Google Shape;6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a:extLst>
            <a:ext uri="{FF2B5EF4-FFF2-40B4-BE49-F238E27FC236}">
              <a16:creationId xmlns:a16="http://schemas.microsoft.com/office/drawing/2014/main" id="{0815E666-09D7-4164-6667-F2C13841B8AC}"/>
            </a:ext>
          </a:extLst>
        </p:cNvPr>
        <p:cNvGrpSpPr/>
        <p:nvPr/>
      </p:nvGrpSpPr>
      <p:grpSpPr>
        <a:xfrm>
          <a:off x="0" y="0"/>
          <a:ext cx="0" cy="0"/>
          <a:chOff x="0" y="0"/>
          <a:chExt cx="0" cy="0"/>
        </a:xfrm>
      </p:grpSpPr>
      <p:sp>
        <p:nvSpPr>
          <p:cNvPr id="680" name="Google Shape;680;p27:notes">
            <a:extLst>
              <a:ext uri="{FF2B5EF4-FFF2-40B4-BE49-F238E27FC236}">
                <a16:creationId xmlns:a16="http://schemas.microsoft.com/office/drawing/2014/main" id="{14E80299-34D9-8582-3C19-59C346602A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27:notes">
            <a:extLst>
              <a:ext uri="{FF2B5EF4-FFF2-40B4-BE49-F238E27FC236}">
                <a16:creationId xmlns:a16="http://schemas.microsoft.com/office/drawing/2014/main" id="{36FB204A-C236-27A5-E4F1-5D710D2DED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0356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AE314090-4263-F9F2-7147-61EFBEFDEBE3}"/>
            </a:ext>
          </a:extLst>
        </p:cNvPr>
        <p:cNvGrpSpPr/>
        <p:nvPr/>
      </p:nvGrpSpPr>
      <p:grpSpPr>
        <a:xfrm>
          <a:off x="0" y="0"/>
          <a:ext cx="0" cy="0"/>
          <a:chOff x="0" y="0"/>
          <a:chExt cx="0" cy="0"/>
        </a:xfrm>
      </p:grpSpPr>
      <p:sp>
        <p:nvSpPr>
          <p:cNvPr id="651" name="Google Shape;651;p26:notes">
            <a:extLst>
              <a:ext uri="{FF2B5EF4-FFF2-40B4-BE49-F238E27FC236}">
                <a16:creationId xmlns:a16="http://schemas.microsoft.com/office/drawing/2014/main" id="{C758F73C-F9DF-3510-786A-C08C465E9D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a:extLst>
              <a:ext uri="{FF2B5EF4-FFF2-40B4-BE49-F238E27FC236}">
                <a16:creationId xmlns:a16="http://schemas.microsoft.com/office/drawing/2014/main" id="{152E1EB4-E4B1-6CD9-4908-0828CF0B73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2586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84845F56-41AD-F3F6-93D8-4AA7259B468F}"/>
            </a:ext>
          </a:extLst>
        </p:cNvPr>
        <p:cNvGrpSpPr/>
        <p:nvPr/>
      </p:nvGrpSpPr>
      <p:grpSpPr>
        <a:xfrm>
          <a:off x="0" y="0"/>
          <a:ext cx="0" cy="0"/>
          <a:chOff x="0" y="0"/>
          <a:chExt cx="0" cy="0"/>
        </a:xfrm>
      </p:grpSpPr>
      <p:sp>
        <p:nvSpPr>
          <p:cNvPr id="651" name="Google Shape;651;p26:notes">
            <a:extLst>
              <a:ext uri="{FF2B5EF4-FFF2-40B4-BE49-F238E27FC236}">
                <a16:creationId xmlns:a16="http://schemas.microsoft.com/office/drawing/2014/main" id="{91F84999-F986-B68D-57D9-6088CB2BF3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2" name="Google Shape;652;p26:notes">
            <a:extLst>
              <a:ext uri="{FF2B5EF4-FFF2-40B4-BE49-F238E27FC236}">
                <a16:creationId xmlns:a16="http://schemas.microsoft.com/office/drawing/2014/main" id="{97711A07-5400-B0AF-05DE-DAEC227426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38150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1" name="Google Shape;68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4" name="Google Shape;73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7" name="Google Shape;74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2" name="Google Shape;84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7" name="Google Shape;79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4" name="Google Shape;854;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3" name="Google Shape;873;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6" name="Google Shape;92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a:extLst>
            <a:ext uri="{FF2B5EF4-FFF2-40B4-BE49-F238E27FC236}">
              <a16:creationId xmlns:a16="http://schemas.microsoft.com/office/drawing/2014/main" id="{CE0D1D7D-E233-AFC6-823F-8343F1093553}"/>
            </a:ext>
          </a:extLst>
        </p:cNvPr>
        <p:cNvGrpSpPr/>
        <p:nvPr/>
      </p:nvGrpSpPr>
      <p:grpSpPr>
        <a:xfrm>
          <a:off x="0" y="0"/>
          <a:ext cx="0" cy="0"/>
          <a:chOff x="0" y="0"/>
          <a:chExt cx="0" cy="0"/>
        </a:xfrm>
      </p:grpSpPr>
      <p:sp>
        <p:nvSpPr>
          <p:cNvPr id="925" name="Google Shape;925;p36:notes">
            <a:extLst>
              <a:ext uri="{FF2B5EF4-FFF2-40B4-BE49-F238E27FC236}">
                <a16:creationId xmlns:a16="http://schemas.microsoft.com/office/drawing/2014/main" id="{0508EF7F-4956-17CD-433A-4778950ED2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6" name="Google Shape;926;p36:notes">
            <a:extLst>
              <a:ext uri="{FF2B5EF4-FFF2-40B4-BE49-F238E27FC236}">
                <a16:creationId xmlns:a16="http://schemas.microsoft.com/office/drawing/2014/main" id="{FBCDA7B6-EDE0-7D15-DE67-84B9D14F57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2241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a:extLst>
            <a:ext uri="{FF2B5EF4-FFF2-40B4-BE49-F238E27FC236}">
              <a16:creationId xmlns:a16="http://schemas.microsoft.com/office/drawing/2014/main" id="{9D47BA59-3320-193B-CB4F-36EF73A84751}"/>
            </a:ext>
          </a:extLst>
        </p:cNvPr>
        <p:cNvGrpSpPr/>
        <p:nvPr/>
      </p:nvGrpSpPr>
      <p:grpSpPr>
        <a:xfrm>
          <a:off x="0" y="0"/>
          <a:ext cx="0" cy="0"/>
          <a:chOff x="0" y="0"/>
          <a:chExt cx="0" cy="0"/>
        </a:xfrm>
      </p:grpSpPr>
      <p:sp>
        <p:nvSpPr>
          <p:cNvPr id="987" name="Google Shape;987;p38:notes">
            <a:extLst>
              <a:ext uri="{FF2B5EF4-FFF2-40B4-BE49-F238E27FC236}">
                <a16:creationId xmlns:a16="http://schemas.microsoft.com/office/drawing/2014/main" id="{0BEBC779-7660-61EF-E82E-8117706220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8" name="Google Shape;988;p38:notes">
            <a:extLst>
              <a:ext uri="{FF2B5EF4-FFF2-40B4-BE49-F238E27FC236}">
                <a16:creationId xmlns:a16="http://schemas.microsoft.com/office/drawing/2014/main" id="{22D01329-8EC1-8E7C-A9A4-BEA6FC63C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87279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a:extLst>
            <a:ext uri="{FF2B5EF4-FFF2-40B4-BE49-F238E27FC236}">
              <a16:creationId xmlns:a16="http://schemas.microsoft.com/office/drawing/2014/main" id="{3C48A3AC-E21A-4E33-F7B8-EDBAE2480CD8}"/>
            </a:ext>
          </a:extLst>
        </p:cNvPr>
        <p:cNvGrpSpPr/>
        <p:nvPr/>
      </p:nvGrpSpPr>
      <p:grpSpPr>
        <a:xfrm>
          <a:off x="0" y="0"/>
          <a:ext cx="0" cy="0"/>
          <a:chOff x="0" y="0"/>
          <a:chExt cx="0" cy="0"/>
        </a:xfrm>
      </p:grpSpPr>
      <p:sp>
        <p:nvSpPr>
          <p:cNvPr id="958" name="Google Shape;958;p37:notes">
            <a:extLst>
              <a:ext uri="{FF2B5EF4-FFF2-40B4-BE49-F238E27FC236}">
                <a16:creationId xmlns:a16="http://schemas.microsoft.com/office/drawing/2014/main" id="{F3F80DAE-410B-C8F4-7771-58730E1AAA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37:notes">
            <a:extLst>
              <a:ext uri="{FF2B5EF4-FFF2-40B4-BE49-F238E27FC236}">
                <a16:creationId xmlns:a16="http://schemas.microsoft.com/office/drawing/2014/main" id="{7E686FB8-149B-4D5A-EFFA-408022989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2869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8" name="Google Shape;98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7" name="Google Shape;100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1" name="Google Shape;104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4" name="Google Shape;105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2" name="Google Shape;1102;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9" name="Google Shape;106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5" name="Google Shape;111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3" name="Google Shape;115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5" name="Google Shape;1165;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6" name="Google Shape;1196;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a:extLst>
            <a:ext uri="{FF2B5EF4-FFF2-40B4-BE49-F238E27FC236}">
              <a16:creationId xmlns:a16="http://schemas.microsoft.com/office/drawing/2014/main" id="{52459080-1AFE-D5E8-D8A1-9713D2A19F94}"/>
            </a:ext>
          </a:extLst>
        </p:cNvPr>
        <p:cNvGrpSpPr/>
        <p:nvPr/>
      </p:nvGrpSpPr>
      <p:grpSpPr>
        <a:xfrm>
          <a:off x="0" y="0"/>
          <a:ext cx="0" cy="0"/>
          <a:chOff x="0" y="0"/>
          <a:chExt cx="0" cy="0"/>
        </a:xfrm>
      </p:grpSpPr>
      <p:sp>
        <p:nvSpPr>
          <p:cNvPr id="274" name="Google Shape;274;p8:notes">
            <a:extLst>
              <a:ext uri="{FF2B5EF4-FFF2-40B4-BE49-F238E27FC236}">
                <a16:creationId xmlns:a16="http://schemas.microsoft.com/office/drawing/2014/main" id="{EA72C9A5-BDF0-FDE5-60C0-B17403B689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8:notes">
            <a:extLst>
              <a:ext uri="{FF2B5EF4-FFF2-40B4-BE49-F238E27FC236}">
                <a16:creationId xmlns:a16="http://schemas.microsoft.com/office/drawing/2014/main" id="{DC482B85-127E-3BB2-6929-5C9FA4AF32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26639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4" name="Google Shape;123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5" name="Google Shape;1285;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6" name="Google Shape;132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HỆ THỐNG QUẢN TRỊ QUY TRÌNH NGHIỆP VỤ  ·  SOLVENTUM VIỆT NAM</a:t>
            </a:r>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HỆ THỐNG QUẢN TRỊ QUY TRÌNH NGHIỆP VỤ  ·  SOLVENTUM VIỆT NAM</a:t>
            </a:r>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83"/>
        <p:cNvGrpSpPr/>
        <p:nvPr/>
      </p:nvGrpSpPr>
      <p:grpSpPr>
        <a:xfrm>
          <a:off x="0" y="0"/>
          <a:ext cx="0" cy="0"/>
          <a:chOff x="0" y="0"/>
          <a:chExt cx="0" cy="0"/>
        </a:xfrm>
      </p:grpSpPr>
      <p:sp>
        <p:nvSpPr>
          <p:cNvPr id="84" name="Google Shape;84;p13"/>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a:off x="8138160" y="0"/>
            <a:ext cx="4059936"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3"/>
          <p:cNvSpPr txBox="1"/>
          <p:nvPr/>
        </p:nvSpPr>
        <p:spPr>
          <a:xfrm>
            <a:off x="310699" y="316469"/>
            <a:ext cx="8725146" cy="3539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C2A8"/>
                </a:solidFill>
                <a:latin typeface="Calibri"/>
                <a:ea typeface="Calibri"/>
                <a:cs typeface="Calibri"/>
                <a:sym typeface="Calibri"/>
              </a:rPr>
              <a:t>ĐỒ ÁN CUỐI KỲ  ·  HỆ THỐNG QUẢN TRỊ QUY TRÌNH NGHIỆP VỤ</a:t>
            </a:r>
            <a:endParaRPr lang="en-US" sz="2300"/>
          </a:p>
        </p:txBody>
      </p:sp>
      <p:sp>
        <p:nvSpPr>
          <p:cNvPr id="87" name="Google Shape;87;p13"/>
          <p:cNvSpPr txBox="1"/>
          <p:nvPr/>
        </p:nvSpPr>
        <p:spPr>
          <a:xfrm>
            <a:off x="441960" y="1455174"/>
            <a:ext cx="7284720" cy="2022733"/>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3600" b="1" i="0" u="none" strike="noStrike" cap="none">
                <a:solidFill>
                  <a:srgbClr val="FFFFFF"/>
                </a:solidFill>
                <a:latin typeface="Calibri"/>
                <a:ea typeface="Calibri"/>
                <a:cs typeface="Calibri"/>
                <a:sym typeface="Calibri"/>
              </a:rPr>
              <a:t>TÌM HIỂU QUY TRÌNH NGHIỆP VỤ</a:t>
            </a:r>
            <a:endParaRPr sz="1600"/>
          </a:p>
          <a:p>
            <a:pPr marL="0" marR="0" lvl="0" indent="0" algn="l" rtl="0">
              <a:lnSpc>
                <a:spcPct val="106000"/>
              </a:lnSpc>
              <a:spcBef>
                <a:spcPts val="0"/>
              </a:spcBef>
              <a:spcAft>
                <a:spcPts val="0"/>
              </a:spcAft>
              <a:buNone/>
            </a:pPr>
            <a:r>
              <a:rPr lang="en-US" sz="4400" b="1" i="0" u="none" strike="noStrike" cap="none">
                <a:solidFill>
                  <a:srgbClr val="0096D6"/>
                </a:solidFill>
                <a:latin typeface="Calibri"/>
                <a:ea typeface="Calibri"/>
                <a:cs typeface="Calibri"/>
                <a:sym typeface="Calibri"/>
              </a:rPr>
              <a:t>CÔNG TY TNHH SOLVENTUM VIỆT NAM</a:t>
            </a:r>
            <a:endParaRPr sz="2000"/>
          </a:p>
        </p:txBody>
      </p:sp>
      <p:sp>
        <p:nvSpPr>
          <p:cNvPr id="88" name="Google Shape;88;p13"/>
          <p:cNvSpPr/>
          <p:nvPr/>
        </p:nvSpPr>
        <p:spPr>
          <a:xfrm>
            <a:off x="960120" y="3675887"/>
            <a:ext cx="1005840"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3"/>
          <p:cNvSpPr txBox="1"/>
          <p:nvPr/>
        </p:nvSpPr>
        <p:spPr>
          <a:xfrm>
            <a:off x="563880" y="4262669"/>
            <a:ext cx="7040880" cy="808426"/>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2400" b="1" i="0" u="none" strike="noStrike" cap="none">
                <a:solidFill>
                  <a:srgbClr val="FFFFFF"/>
                </a:solidFill>
                <a:latin typeface="Calibri"/>
                <a:ea typeface="Calibri"/>
                <a:cs typeface="Calibri"/>
                <a:sym typeface="Calibri"/>
              </a:rPr>
              <a:t>GVHD:  </a:t>
            </a:r>
            <a:r>
              <a:rPr lang="en-US" sz="2400" b="1" i="0" u="none" strike="noStrike" cap="none" err="1">
                <a:solidFill>
                  <a:srgbClr val="FFFFFF"/>
                </a:solidFill>
                <a:latin typeface="Calibri"/>
                <a:ea typeface="Calibri"/>
                <a:cs typeface="Calibri"/>
                <a:sym typeface="Calibri"/>
              </a:rPr>
              <a:t>ThS</a:t>
            </a:r>
            <a:r>
              <a:rPr lang="en-US" sz="2400" b="1" i="0" u="none" strike="noStrike" cap="none">
                <a:solidFill>
                  <a:srgbClr val="FFFFFF"/>
                </a:solidFill>
                <a:latin typeface="Calibri"/>
                <a:ea typeface="Calibri"/>
                <a:cs typeface="Calibri"/>
                <a:sym typeface="Calibri"/>
              </a:rPr>
              <a:t>. Hà Lê Hoài Trung</a:t>
            </a:r>
            <a:endParaRPr sz="2400" b="1" i="0" u="none" strike="noStrike" cap="none">
              <a:solidFill>
                <a:srgbClr val="FFFFFF"/>
              </a:solidFill>
              <a:latin typeface="Calibri"/>
              <a:ea typeface="Calibri"/>
              <a:cs typeface="Calibri"/>
              <a:sym typeface="Calibri"/>
            </a:endParaRPr>
          </a:p>
          <a:p>
            <a:pPr marL="0" marR="0" lvl="0" indent="0" algn="l" rtl="0">
              <a:lnSpc>
                <a:spcPct val="120000"/>
              </a:lnSpc>
              <a:spcBef>
                <a:spcPts val="400"/>
              </a:spcBef>
              <a:spcAft>
                <a:spcPts val="0"/>
              </a:spcAft>
              <a:buNone/>
            </a:pPr>
            <a:r>
              <a:rPr lang="en-US" sz="1600" b="0" i="1" u="none" strike="noStrike" cap="none">
                <a:solidFill>
                  <a:srgbClr val="9FB4C6"/>
                </a:solidFill>
                <a:latin typeface="Calibri"/>
                <a:ea typeface="Calibri"/>
                <a:cs typeface="Calibri"/>
                <a:sym typeface="Calibri"/>
              </a:rPr>
              <a:t>TP. </a:t>
            </a:r>
            <a:r>
              <a:rPr lang="en-US" sz="1600" b="0" i="1" u="none" strike="noStrike" cap="none" err="1">
                <a:solidFill>
                  <a:srgbClr val="9FB4C6"/>
                </a:solidFill>
                <a:latin typeface="Calibri"/>
                <a:ea typeface="Calibri"/>
                <a:cs typeface="Calibri"/>
                <a:sym typeface="Calibri"/>
              </a:rPr>
              <a:t>Hồ</a:t>
            </a:r>
            <a:r>
              <a:rPr lang="en-US" sz="1600" b="0" i="1" u="none" strike="noStrike" cap="none">
                <a:solidFill>
                  <a:srgbClr val="9FB4C6"/>
                </a:solidFill>
                <a:latin typeface="Calibri"/>
                <a:ea typeface="Calibri"/>
                <a:cs typeface="Calibri"/>
                <a:sym typeface="Calibri"/>
              </a:rPr>
              <a:t> Chí Minh,  </a:t>
            </a:r>
            <a:r>
              <a:rPr lang="en-US" sz="1600" b="0" i="1" u="none" strike="noStrike" cap="none" err="1">
                <a:solidFill>
                  <a:srgbClr val="9FB4C6"/>
                </a:solidFill>
                <a:latin typeface="Calibri"/>
                <a:ea typeface="Calibri"/>
                <a:cs typeface="Calibri"/>
                <a:sym typeface="Calibri"/>
              </a:rPr>
              <a:t>tháng</a:t>
            </a:r>
            <a:r>
              <a:rPr lang="en-US" sz="1600" b="0" i="1" u="none" strike="noStrike" cap="none">
                <a:solidFill>
                  <a:srgbClr val="9FB4C6"/>
                </a:solidFill>
                <a:latin typeface="Calibri"/>
                <a:ea typeface="Calibri"/>
                <a:cs typeface="Calibri"/>
                <a:sym typeface="Calibri"/>
              </a:rPr>
              <a:t> 08/2026</a:t>
            </a:r>
            <a:endParaRPr sz="1600" b="0" i="1" u="none" strike="noStrike" cap="none">
              <a:solidFill>
                <a:srgbClr val="9FB4C6"/>
              </a:solidFill>
              <a:latin typeface="Calibri"/>
              <a:ea typeface="Calibri"/>
              <a:cs typeface="Calibri"/>
              <a:sym typeface="Calibri"/>
            </a:endParaRPr>
          </a:p>
        </p:txBody>
      </p:sp>
      <p:sp>
        <p:nvSpPr>
          <p:cNvPr id="91" name="Google Shape;91;p13"/>
          <p:cNvSpPr txBox="1"/>
          <p:nvPr/>
        </p:nvSpPr>
        <p:spPr>
          <a:xfrm>
            <a:off x="8549640" y="1783080"/>
            <a:ext cx="320040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C2A8"/>
                </a:solidFill>
                <a:latin typeface="Calibri"/>
                <a:ea typeface="Calibri"/>
                <a:cs typeface="Calibri"/>
                <a:sym typeface="Calibri"/>
              </a:rPr>
              <a:t>NHÓM THỰC HIỆN</a:t>
            </a:r>
            <a:endParaRPr sz="2000"/>
          </a:p>
        </p:txBody>
      </p:sp>
      <p:sp>
        <p:nvSpPr>
          <p:cNvPr id="92" name="Google Shape;92;p13"/>
          <p:cNvSpPr/>
          <p:nvPr/>
        </p:nvSpPr>
        <p:spPr>
          <a:xfrm>
            <a:off x="8549640" y="2103120"/>
            <a:ext cx="640080" cy="3657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3"/>
          <p:cNvSpPr txBox="1"/>
          <p:nvPr/>
        </p:nvSpPr>
        <p:spPr>
          <a:xfrm>
            <a:off x="8549640" y="2390686"/>
            <a:ext cx="3291840" cy="217444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1" i="0" u="none" strike="noStrike" cap="none">
                <a:solidFill>
                  <a:srgbClr val="FFFFFF"/>
                </a:solidFill>
                <a:latin typeface="Calibri"/>
                <a:ea typeface="Calibri"/>
                <a:cs typeface="Calibri"/>
                <a:sym typeface="Calibri"/>
              </a:rPr>
              <a:t>Nguyễn Chí Thanh</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25210195</a:t>
            </a:r>
            <a:endParaRPr sz="1800"/>
          </a:p>
          <a:p>
            <a:pPr marL="0" marR="0" lvl="0" indent="0" algn="l" rtl="0">
              <a:lnSpc>
                <a:spcPct val="110000"/>
              </a:lnSpc>
              <a:spcBef>
                <a:spcPts val="1200"/>
              </a:spcBef>
              <a:spcAft>
                <a:spcPts val="0"/>
              </a:spcAft>
              <a:buNone/>
            </a:pPr>
            <a:r>
              <a:rPr lang="en-US" sz="1800" b="1" i="0" u="none" strike="noStrike" cap="none">
                <a:solidFill>
                  <a:srgbClr val="FFFFFF"/>
                </a:solidFill>
                <a:latin typeface="Calibri"/>
                <a:ea typeface="Calibri"/>
                <a:cs typeface="Calibri"/>
                <a:sym typeface="Calibri"/>
              </a:rPr>
              <a:t>Trần Xuân Trứ</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25210227</a:t>
            </a:r>
            <a:endParaRPr sz="1800"/>
          </a:p>
          <a:p>
            <a:pPr marL="0" marR="0" lvl="0" indent="0" algn="l" rtl="0">
              <a:lnSpc>
                <a:spcPct val="110000"/>
              </a:lnSpc>
              <a:spcBef>
                <a:spcPts val="1200"/>
              </a:spcBef>
              <a:spcAft>
                <a:spcPts val="0"/>
              </a:spcAft>
              <a:buNone/>
            </a:pPr>
            <a:r>
              <a:rPr lang="en-US" sz="1800" b="1" i="0" u="none" strike="noStrike" cap="none">
                <a:solidFill>
                  <a:srgbClr val="FFFFFF"/>
                </a:solidFill>
                <a:latin typeface="Calibri"/>
                <a:ea typeface="Calibri"/>
                <a:cs typeface="Calibri"/>
                <a:sym typeface="Calibri"/>
              </a:rPr>
              <a:t>Tăng Thuận Phát</a:t>
            </a:r>
            <a:endParaRPr sz="1800" b="1" i="0" u="none" strike="noStrike" cap="none">
              <a:solidFill>
                <a:srgbClr val="FFFFFF"/>
              </a:solidFill>
              <a:latin typeface="Calibri"/>
              <a:ea typeface="Calibri"/>
              <a:cs typeface="Calibri"/>
              <a:sym typeface="Calibri"/>
            </a:endParaRPr>
          </a:p>
          <a:p>
            <a:pPr marL="0" marR="0" lvl="0" indent="0" algn="l" rtl="0">
              <a:lnSpc>
                <a:spcPct val="110000"/>
              </a:lnSpc>
              <a:spcBef>
                <a:spcPts val="100"/>
              </a:spcBef>
              <a:spcAft>
                <a:spcPts val="0"/>
              </a:spcAft>
              <a:buNone/>
            </a:pPr>
            <a:r>
              <a:rPr lang="en-US" sz="1800" b="0" i="0" u="none" strike="noStrike" cap="none">
                <a:solidFill>
                  <a:srgbClr val="9FB4C6"/>
                </a:solidFill>
                <a:latin typeface="Calibri"/>
                <a:ea typeface="Calibri"/>
                <a:cs typeface="Calibri"/>
                <a:sym typeface="Calibri"/>
              </a:rPr>
              <a:t>MSSV: 25210163</a:t>
            </a:r>
            <a:endParaRPr sz="1800"/>
          </a:p>
        </p:txBody>
      </p:sp>
      <p:sp>
        <p:nvSpPr>
          <p:cNvPr id="2" name="Footer Placeholder 1">
            <a:extLst>
              <a:ext uri="{FF2B5EF4-FFF2-40B4-BE49-F238E27FC236}">
                <a16:creationId xmlns:a16="http://schemas.microsoft.com/office/drawing/2014/main" id="{38832D6F-075C-64FD-B280-8EFFB06CCFA7}"/>
              </a:ext>
            </a:extLst>
          </p:cNvPr>
          <p:cNvSpPr>
            <a:spLocks noGrp="1"/>
          </p:cNvSpPr>
          <p:nvPr>
            <p:ph type="ftr" idx="11"/>
          </p:nvPr>
        </p:nvSpPr>
        <p:spPr>
          <a:xfrm>
            <a:off x="563880" y="6342380"/>
            <a:ext cx="61874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2D947876-1538-6110-B2F8-737609EF2D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u="none" strike="noStrike" cap="none">
                <a:solidFill>
                  <a:srgbClr val="0096D6"/>
                </a:solidFill>
                <a:latin typeface="Calibri"/>
                <a:ea typeface="Calibri"/>
                <a:cs typeface="Calibri"/>
                <a:sym typeface="Calibri"/>
              </a:rPr>
              <a:t>AGENDA</a:t>
            </a:r>
            <a:endParaRPr sz="2400"/>
          </a:p>
        </p:txBody>
      </p:sp>
      <p:sp>
        <p:nvSpPr>
          <p:cNvPr id="99" name="Google Shape;99;p14"/>
          <p:cNvSpPr txBox="1"/>
          <p:nvPr/>
        </p:nvSpPr>
        <p:spPr>
          <a:xfrm>
            <a:off x="646481" y="630936"/>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NỘI DUNG TRÌNH BÀY</a:t>
            </a:r>
            <a:endParaRPr/>
          </a:p>
        </p:txBody>
      </p:sp>
      <p:sp>
        <p:nvSpPr>
          <p:cNvPr id="100" name="Google Shape;100;p1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101;p1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4"/>
          <p:cNvSpPr/>
          <p:nvPr/>
        </p:nvSpPr>
        <p:spPr>
          <a:xfrm>
            <a:off x="658368" y="1560379"/>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6" name="Google Shape;106;p14"/>
          <p:cNvSpPr/>
          <p:nvPr/>
        </p:nvSpPr>
        <p:spPr>
          <a:xfrm>
            <a:off x="658368" y="1560379"/>
            <a:ext cx="50292" cy="7863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7" name="Google Shape;107;p14"/>
          <p:cNvSpPr txBox="1"/>
          <p:nvPr/>
        </p:nvSpPr>
        <p:spPr>
          <a:xfrm>
            <a:off x="914400" y="1743259"/>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96D6"/>
                </a:solidFill>
                <a:latin typeface="Calibri"/>
                <a:ea typeface="Calibri"/>
                <a:cs typeface="Calibri"/>
                <a:sym typeface="Calibri"/>
              </a:rPr>
              <a:t>01</a:t>
            </a:r>
            <a:endParaRPr/>
          </a:p>
        </p:txBody>
      </p:sp>
      <p:sp>
        <p:nvSpPr>
          <p:cNvPr id="108" name="Google Shape;108;p14"/>
          <p:cNvSpPr txBox="1"/>
          <p:nvPr/>
        </p:nvSpPr>
        <p:spPr>
          <a:xfrm>
            <a:off x="1755648" y="1697539"/>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GIỚI THIỆU DOANH NGHIỆP</a:t>
            </a:r>
            <a:endParaRPr/>
          </a:p>
        </p:txBody>
      </p:sp>
      <p:sp>
        <p:nvSpPr>
          <p:cNvPr id="109" name="Google Shape;109;p14"/>
          <p:cNvSpPr txBox="1"/>
          <p:nvPr/>
        </p:nvSpPr>
        <p:spPr>
          <a:xfrm>
            <a:off x="1755648" y="2017579"/>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Tổng quan Solventum Việt Nam, sản phẩm – dịch vụ, cơ cấu tổ chức và phạm vi nghiên cứu.</a:t>
            </a:r>
            <a:endParaRPr/>
          </a:p>
        </p:txBody>
      </p:sp>
      <p:sp>
        <p:nvSpPr>
          <p:cNvPr id="110" name="Google Shape;110;p14"/>
          <p:cNvSpPr txBox="1"/>
          <p:nvPr/>
        </p:nvSpPr>
        <p:spPr>
          <a:xfrm>
            <a:off x="9473380" y="18346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96D6"/>
                </a:solidFill>
                <a:latin typeface="Calibri"/>
                <a:ea typeface="Calibri"/>
                <a:cs typeface="Calibri"/>
                <a:sym typeface="Calibri"/>
              </a:rPr>
              <a:t>Chương</a:t>
            </a:r>
            <a:r>
              <a:rPr lang="en-US" sz="2000" b="1" i="1" u="none" strike="noStrike" cap="none">
                <a:solidFill>
                  <a:srgbClr val="0096D6"/>
                </a:solidFill>
                <a:latin typeface="Calibri"/>
                <a:ea typeface="Calibri"/>
                <a:cs typeface="Calibri"/>
                <a:sym typeface="Calibri"/>
              </a:rPr>
              <a:t> 1</a:t>
            </a:r>
            <a:endParaRPr sz="2000"/>
          </a:p>
        </p:txBody>
      </p:sp>
      <p:sp>
        <p:nvSpPr>
          <p:cNvPr id="111" name="Google Shape;111;p14"/>
          <p:cNvSpPr/>
          <p:nvPr/>
        </p:nvSpPr>
        <p:spPr>
          <a:xfrm>
            <a:off x="658368" y="2483923"/>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12;p14"/>
          <p:cNvSpPr/>
          <p:nvPr/>
        </p:nvSpPr>
        <p:spPr>
          <a:xfrm>
            <a:off x="658368" y="2483923"/>
            <a:ext cx="50292" cy="7863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14"/>
          <p:cNvSpPr txBox="1"/>
          <p:nvPr/>
        </p:nvSpPr>
        <p:spPr>
          <a:xfrm>
            <a:off x="914400" y="2666803"/>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96D6"/>
                </a:solidFill>
                <a:latin typeface="Calibri"/>
                <a:ea typeface="Calibri"/>
                <a:cs typeface="Calibri"/>
                <a:sym typeface="Calibri"/>
              </a:rPr>
              <a:t>02</a:t>
            </a:r>
            <a:endParaRPr/>
          </a:p>
        </p:txBody>
      </p:sp>
      <p:sp>
        <p:nvSpPr>
          <p:cNvPr id="114" name="Google Shape;114;p14"/>
          <p:cNvSpPr txBox="1"/>
          <p:nvPr/>
        </p:nvSpPr>
        <p:spPr>
          <a:xfrm>
            <a:off x="1755648" y="2621083"/>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KHẢO SÁT HỆ THỐNG QUY TRÌNH</a:t>
            </a:r>
            <a:endParaRPr/>
          </a:p>
        </p:txBody>
      </p:sp>
      <p:sp>
        <p:nvSpPr>
          <p:cNvPr id="115" name="Google Shape;115;p14"/>
          <p:cNvSpPr txBox="1"/>
          <p:nvPr/>
        </p:nvSpPr>
        <p:spPr>
          <a:xfrm>
            <a:off x="1755648" y="2941123"/>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Kiến trúc quy trình nghiệp vụ (Process Landscape) và danh mục 10 quy trình tiêu biểu.</a:t>
            </a:r>
            <a:endParaRPr/>
          </a:p>
        </p:txBody>
      </p:sp>
      <p:sp>
        <p:nvSpPr>
          <p:cNvPr id="116" name="Google Shape;116;p14"/>
          <p:cNvSpPr txBox="1"/>
          <p:nvPr/>
        </p:nvSpPr>
        <p:spPr>
          <a:xfrm>
            <a:off x="9473380" y="27490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96D6"/>
                </a:solidFill>
                <a:latin typeface="Calibri"/>
                <a:ea typeface="Calibri"/>
                <a:cs typeface="Calibri"/>
                <a:sym typeface="Calibri"/>
              </a:rPr>
              <a:t>Chương</a:t>
            </a:r>
            <a:r>
              <a:rPr lang="en-US" sz="2000" b="1" i="1" u="none" strike="noStrike" cap="none">
                <a:solidFill>
                  <a:srgbClr val="0096D6"/>
                </a:solidFill>
                <a:latin typeface="Calibri"/>
                <a:ea typeface="Calibri"/>
                <a:cs typeface="Calibri"/>
                <a:sym typeface="Calibri"/>
              </a:rPr>
              <a:t> 2</a:t>
            </a:r>
            <a:endParaRPr sz="2000"/>
          </a:p>
        </p:txBody>
      </p:sp>
      <p:sp>
        <p:nvSpPr>
          <p:cNvPr id="117" name="Google Shape;117;p14"/>
          <p:cNvSpPr/>
          <p:nvPr/>
        </p:nvSpPr>
        <p:spPr>
          <a:xfrm>
            <a:off x="658368" y="3407467"/>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8" name="Google Shape;118;p14"/>
          <p:cNvSpPr/>
          <p:nvPr/>
        </p:nvSpPr>
        <p:spPr>
          <a:xfrm>
            <a:off x="658368" y="3407467"/>
            <a:ext cx="50292" cy="78638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19;p14"/>
          <p:cNvSpPr txBox="1"/>
          <p:nvPr/>
        </p:nvSpPr>
        <p:spPr>
          <a:xfrm>
            <a:off x="914400" y="3590347"/>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00C2A8"/>
                </a:solidFill>
                <a:latin typeface="Calibri"/>
                <a:ea typeface="Calibri"/>
                <a:cs typeface="Calibri"/>
                <a:sym typeface="Calibri"/>
              </a:rPr>
              <a:t>03</a:t>
            </a:r>
            <a:endParaRPr/>
          </a:p>
        </p:txBody>
      </p:sp>
      <p:sp>
        <p:nvSpPr>
          <p:cNvPr id="120" name="Google Shape;120;p14"/>
          <p:cNvSpPr txBox="1"/>
          <p:nvPr/>
        </p:nvSpPr>
        <p:spPr>
          <a:xfrm>
            <a:off x="1755648" y="3544627"/>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MÔ HÌNH HÓA &amp; LỰA CHỌN</a:t>
            </a:r>
            <a:endParaRPr/>
          </a:p>
        </p:txBody>
      </p:sp>
      <p:sp>
        <p:nvSpPr>
          <p:cNvPr id="121" name="Google Shape;121;p14"/>
          <p:cNvSpPr txBox="1"/>
          <p:nvPr/>
        </p:nvSpPr>
        <p:spPr>
          <a:xfrm>
            <a:off x="1755648" y="3864667"/>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Mô hình BPMN As-Is cho 06 quy trình, phương pháp Process Discovery và sàng lọc theo 05 tiêu chí.</a:t>
            </a:r>
            <a:endParaRPr/>
          </a:p>
        </p:txBody>
      </p:sp>
      <p:sp>
        <p:nvSpPr>
          <p:cNvPr id="122" name="Google Shape;122;p14"/>
          <p:cNvSpPr txBox="1"/>
          <p:nvPr/>
        </p:nvSpPr>
        <p:spPr>
          <a:xfrm>
            <a:off x="9473380" y="3663499"/>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00C2A8"/>
                </a:solidFill>
                <a:latin typeface="Calibri"/>
                <a:ea typeface="Calibri"/>
                <a:cs typeface="Calibri"/>
                <a:sym typeface="Calibri"/>
              </a:rPr>
              <a:t>Chương</a:t>
            </a:r>
            <a:r>
              <a:rPr lang="en-US" sz="1400" b="1" i="1" u="none" strike="noStrike" cap="none">
                <a:solidFill>
                  <a:srgbClr val="00C2A8"/>
                </a:solidFill>
                <a:latin typeface="Calibri"/>
                <a:ea typeface="Calibri"/>
                <a:cs typeface="Calibri"/>
                <a:sym typeface="Calibri"/>
              </a:rPr>
              <a:t> </a:t>
            </a:r>
            <a:r>
              <a:rPr lang="en-US" sz="2000" b="1" i="1" u="none" strike="noStrike" cap="none">
                <a:solidFill>
                  <a:srgbClr val="00C2A8"/>
                </a:solidFill>
                <a:latin typeface="Calibri"/>
                <a:ea typeface="Calibri"/>
                <a:cs typeface="Calibri"/>
                <a:sym typeface="Calibri"/>
              </a:rPr>
              <a:t>3</a:t>
            </a:r>
            <a:endParaRPr sz="2000"/>
          </a:p>
        </p:txBody>
      </p:sp>
      <p:sp>
        <p:nvSpPr>
          <p:cNvPr id="123" name="Google Shape;123;p14"/>
          <p:cNvSpPr/>
          <p:nvPr/>
        </p:nvSpPr>
        <p:spPr>
          <a:xfrm>
            <a:off x="658368" y="4331011"/>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4" name="Google Shape;124;p14"/>
          <p:cNvSpPr/>
          <p:nvPr/>
        </p:nvSpPr>
        <p:spPr>
          <a:xfrm>
            <a:off x="658368" y="4331011"/>
            <a:ext cx="50292" cy="786384"/>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14"/>
          <p:cNvSpPr txBox="1"/>
          <p:nvPr/>
        </p:nvSpPr>
        <p:spPr>
          <a:xfrm>
            <a:off x="914400" y="4513891"/>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C87F0A"/>
                </a:solidFill>
                <a:latin typeface="Calibri"/>
                <a:ea typeface="Calibri"/>
                <a:cs typeface="Calibri"/>
                <a:sym typeface="Calibri"/>
              </a:rPr>
              <a:t>04</a:t>
            </a:r>
            <a:endParaRPr/>
          </a:p>
        </p:txBody>
      </p:sp>
      <p:sp>
        <p:nvSpPr>
          <p:cNvPr id="126" name="Google Shape;126;p14"/>
          <p:cNvSpPr txBox="1"/>
          <p:nvPr/>
        </p:nvSpPr>
        <p:spPr>
          <a:xfrm>
            <a:off x="1755648" y="4468171"/>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PHÂN TÍCH CHUYÊN SÂU</a:t>
            </a:r>
            <a:endParaRPr/>
          </a:p>
        </p:txBody>
      </p:sp>
      <p:sp>
        <p:nvSpPr>
          <p:cNvPr id="127" name="Google Shape;127;p14"/>
          <p:cNvSpPr txBox="1"/>
          <p:nvPr/>
        </p:nvSpPr>
        <p:spPr>
          <a:xfrm>
            <a:off x="1755648" y="4788211"/>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Phân tích định tính và định lượng 02 quy trình trọng tâm, tổng hợp vấn đề và đề xuất cải tiến.</a:t>
            </a:r>
            <a:endParaRPr/>
          </a:p>
        </p:txBody>
      </p:sp>
      <p:sp>
        <p:nvSpPr>
          <p:cNvPr id="128" name="Google Shape;128;p14"/>
          <p:cNvSpPr txBox="1"/>
          <p:nvPr/>
        </p:nvSpPr>
        <p:spPr>
          <a:xfrm>
            <a:off x="9473380" y="4605331"/>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C87F0A"/>
                </a:solidFill>
                <a:latin typeface="Calibri"/>
                <a:ea typeface="Calibri"/>
                <a:cs typeface="Calibri"/>
                <a:sym typeface="Calibri"/>
              </a:rPr>
              <a:t>Chương</a:t>
            </a:r>
            <a:r>
              <a:rPr lang="en-US" sz="2000" b="1" i="1" u="none" strike="noStrike" cap="none">
                <a:solidFill>
                  <a:srgbClr val="C87F0A"/>
                </a:solidFill>
                <a:latin typeface="Calibri"/>
                <a:ea typeface="Calibri"/>
                <a:cs typeface="Calibri"/>
                <a:sym typeface="Calibri"/>
              </a:rPr>
              <a:t> 4</a:t>
            </a:r>
            <a:endParaRPr sz="2000"/>
          </a:p>
        </p:txBody>
      </p:sp>
      <p:sp>
        <p:nvSpPr>
          <p:cNvPr id="129" name="Google Shape;129;p14"/>
          <p:cNvSpPr/>
          <p:nvPr/>
        </p:nvSpPr>
        <p:spPr>
          <a:xfrm>
            <a:off x="658368" y="5254555"/>
            <a:ext cx="108749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14"/>
          <p:cNvSpPr/>
          <p:nvPr/>
        </p:nvSpPr>
        <p:spPr>
          <a:xfrm>
            <a:off x="658368" y="5254555"/>
            <a:ext cx="50292" cy="786384"/>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14"/>
          <p:cNvSpPr txBox="1"/>
          <p:nvPr/>
        </p:nvSpPr>
        <p:spPr>
          <a:xfrm>
            <a:off x="914400" y="5437435"/>
            <a:ext cx="77724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00" b="1" i="0" u="none" strike="noStrike" cap="none">
                <a:solidFill>
                  <a:srgbClr val="C0392B"/>
                </a:solidFill>
                <a:latin typeface="Calibri"/>
                <a:ea typeface="Calibri"/>
                <a:cs typeface="Calibri"/>
                <a:sym typeface="Calibri"/>
              </a:rPr>
              <a:t>05</a:t>
            </a:r>
            <a:endParaRPr/>
          </a:p>
        </p:txBody>
      </p:sp>
      <p:sp>
        <p:nvSpPr>
          <p:cNvPr id="132" name="Google Shape;132;p14"/>
          <p:cNvSpPr txBox="1"/>
          <p:nvPr/>
        </p:nvSpPr>
        <p:spPr>
          <a:xfrm>
            <a:off x="1755648" y="5391715"/>
            <a:ext cx="6035040" cy="3200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KẾT LUẬN &amp; HƯỚNG PHÁT TRIỂN</a:t>
            </a:r>
            <a:endParaRPr/>
          </a:p>
        </p:txBody>
      </p:sp>
      <p:sp>
        <p:nvSpPr>
          <p:cNvPr id="133" name="Google Shape;133;p14"/>
          <p:cNvSpPr txBox="1"/>
          <p:nvPr/>
        </p:nvSpPr>
        <p:spPr>
          <a:xfrm>
            <a:off x="1755648" y="5711755"/>
            <a:ext cx="7315200" cy="32004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0" i="0" u="none" strike="noStrike" cap="none">
                <a:solidFill>
                  <a:srgbClr val="6B7784"/>
                </a:solidFill>
                <a:latin typeface="Calibri"/>
                <a:ea typeface="Calibri"/>
                <a:cs typeface="Calibri"/>
                <a:sym typeface="Calibri"/>
              </a:rPr>
              <a:t>Kết quả đạt được, ba hạn chế của đề tài và bốn hướng phát triển tiếp theo.</a:t>
            </a:r>
            <a:endParaRPr/>
          </a:p>
        </p:txBody>
      </p:sp>
      <p:sp>
        <p:nvSpPr>
          <p:cNvPr id="134" name="Google Shape;134;p14"/>
          <p:cNvSpPr txBox="1"/>
          <p:nvPr/>
        </p:nvSpPr>
        <p:spPr>
          <a:xfrm>
            <a:off x="9473380" y="5620315"/>
            <a:ext cx="1920240" cy="2743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000" b="1" i="1" u="none" strike="noStrike" cap="none" err="1">
                <a:solidFill>
                  <a:srgbClr val="C0392B"/>
                </a:solidFill>
                <a:latin typeface="Calibri"/>
                <a:ea typeface="Calibri"/>
                <a:cs typeface="Calibri"/>
                <a:sym typeface="Calibri"/>
              </a:rPr>
              <a:t>Chương</a:t>
            </a:r>
            <a:r>
              <a:rPr lang="en-US" sz="2000" b="1" i="1" u="none" strike="noStrike" cap="none">
                <a:solidFill>
                  <a:srgbClr val="C0392B"/>
                </a:solidFill>
                <a:latin typeface="Calibri"/>
                <a:ea typeface="Calibri"/>
                <a:cs typeface="Calibri"/>
                <a:sym typeface="Calibri"/>
              </a:rPr>
              <a:t> 5</a:t>
            </a:r>
            <a:endParaRPr sz="2000"/>
          </a:p>
        </p:txBody>
      </p:sp>
      <p:sp>
        <p:nvSpPr>
          <p:cNvPr id="2" name="Footer Placeholder 1">
            <a:extLst>
              <a:ext uri="{FF2B5EF4-FFF2-40B4-BE49-F238E27FC236}">
                <a16:creationId xmlns:a16="http://schemas.microsoft.com/office/drawing/2014/main" id="{10F908B9-C301-3B17-FF0B-671DA39B4E3D}"/>
              </a:ext>
            </a:extLst>
          </p:cNvPr>
          <p:cNvSpPr>
            <a:spLocks noGrp="1"/>
          </p:cNvSpPr>
          <p:nvPr>
            <p:ph type="ftr" idx="11"/>
          </p:nvPr>
        </p:nvSpPr>
        <p:spPr>
          <a:xfrm>
            <a:off x="658368" y="6351835"/>
            <a:ext cx="49022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62270E48-CC93-901B-6748-F949DD754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138"/>
        <p:cNvGrpSpPr/>
        <p:nvPr/>
      </p:nvGrpSpPr>
      <p:grpSpPr>
        <a:xfrm>
          <a:off x="0" y="0"/>
          <a:ext cx="0" cy="0"/>
          <a:chOff x="0" y="0"/>
          <a:chExt cx="0" cy="0"/>
        </a:xfrm>
      </p:grpSpPr>
      <p:sp>
        <p:nvSpPr>
          <p:cNvPr id="139" name="Google Shape;139;p15"/>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0" name="Google Shape;140;p15"/>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1" name="Google Shape;141;p15"/>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5000" b="1" i="0" u="none" strike="noStrike" cap="none">
                <a:solidFill>
                  <a:srgbClr val="E7F7F3"/>
                </a:solidFill>
                <a:latin typeface="Calibri"/>
                <a:ea typeface="Calibri"/>
                <a:cs typeface="Calibri"/>
                <a:sym typeface="Calibri"/>
              </a:rPr>
              <a:t>01</a:t>
            </a:r>
            <a:endParaRPr>
              <a:solidFill>
                <a:srgbClr val="E7F7F3"/>
              </a:solidFill>
            </a:endParaRPr>
          </a:p>
        </p:txBody>
      </p:sp>
      <p:sp>
        <p:nvSpPr>
          <p:cNvPr id="142" name="Google Shape;142;p15"/>
          <p:cNvSpPr txBox="1"/>
          <p:nvPr/>
        </p:nvSpPr>
        <p:spPr>
          <a:xfrm>
            <a:off x="457200" y="551776"/>
            <a:ext cx="658368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C2A8"/>
                </a:solidFill>
                <a:latin typeface="Calibri"/>
                <a:ea typeface="Calibri"/>
                <a:cs typeface="Calibri"/>
                <a:sym typeface="Calibri"/>
              </a:rPr>
              <a:t>PHẦN 1 · COMPANY OVERVIEW</a:t>
            </a:r>
            <a:endParaRPr sz="2400"/>
          </a:p>
        </p:txBody>
      </p:sp>
      <p:sp>
        <p:nvSpPr>
          <p:cNvPr id="143" name="Google Shape;143;p15"/>
          <p:cNvSpPr txBox="1"/>
          <p:nvPr/>
        </p:nvSpPr>
        <p:spPr>
          <a:xfrm>
            <a:off x="548640" y="1337203"/>
            <a:ext cx="7576788" cy="717761"/>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4400" b="1" i="0" u="none" strike="noStrike" cap="none">
                <a:solidFill>
                  <a:srgbClr val="FFFFFF"/>
                </a:solidFill>
                <a:latin typeface="Calibri"/>
                <a:ea typeface="Calibri"/>
                <a:cs typeface="Calibri"/>
                <a:sym typeface="Calibri"/>
              </a:rPr>
              <a:t>Giới thiệu Solventum Việt Nam</a:t>
            </a:r>
            <a:endParaRPr sz="2000"/>
          </a:p>
        </p:txBody>
      </p:sp>
      <p:sp>
        <p:nvSpPr>
          <p:cNvPr id="144" name="Google Shape;144;p15"/>
          <p:cNvSpPr/>
          <p:nvPr/>
        </p:nvSpPr>
        <p:spPr>
          <a:xfrm>
            <a:off x="548640" y="2471059"/>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145" name="Google Shape;145;p15"/>
          <p:cNvSpPr txBox="1"/>
          <p:nvPr/>
        </p:nvSpPr>
        <p:spPr>
          <a:xfrm>
            <a:off x="548640" y="2708803"/>
            <a:ext cx="649224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0" i="0" u="none" strike="noStrike" cap="none">
                <a:solidFill>
                  <a:srgbClr val="B6C9D8"/>
                </a:solidFill>
                <a:latin typeface="Calibri"/>
                <a:ea typeface="Calibri"/>
                <a:cs typeface="Calibri"/>
                <a:sym typeface="Calibri"/>
              </a:rPr>
              <a:t>Quá trình hình thành  ·  Sản phẩm và dịch vụ  ·  Cơ cấu tổ chức  ·  Mục tiêu và phạm vi nghiên cứu</a:t>
            </a:r>
            <a:endParaRPr sz="2400" b="0" i="0" u="none" strike="noStrike" cap="none">
              <a:solidFill>
                <a:srgbClr val="B6C9D8"/>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D36397AA-03D1-1DDC-4763-53618C161108}"/>
              </a:ext>
            </a:extLst>
          </p:cNvPr>
          <p:cNvSpPr>
            <a:spLocks noGrp="1"/>
          </p:cNvSpPr>
          <p:nvPr>
            <p:ph type="ftr" idx="11"/>
          </p:nvPr>
        </p:nvSpPr>
        <p:spPr>
          <a:xfrm>
            <a:off x="548640" y="6342380"/>
            <a:ext cx="543052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AEA769C-8C81-59BD-72A8-14692F0947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p:nvPr/>
        </p:nvSpPr>
        <p:spPr>
          <a:xfrm>
            <a:off x="658368" y="384048"/>
            <a:ext cx="10874959" cy="3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GIỚI THIỆU VỀ CÔNG TY SOLVENTUM VIỆT NAM</a:t>
            </a:r>
          </a:p>
          <a:p>
            <a:pPr marL="0" marR="0" lvl="0" indent="0" algn="l" rtl="0">
              <a:lnSpc>
                <a:spcPct val="100000"/>
              </a:lnSpc>
              <a:spcBef>
                <a:spcPts val="0"/>
              </a:spcBef>
              <a:spcAft>
                <a:spcPts val="0"/>
              </a:spcAft>
              <a:buNone/>
            </a:pPr>
            <a:endParaRPr/>
          </a:p>
        </p:txBody>
      </p:sp>
      <p:sp>
        <p:nvSpPr>
          <p:cNvPr id="153" name="Google Shape;153;p16"/>
          <p:cNvSpPr txBox="1"/>
          <p:nvPr/>
        </p:nvSpPr>
        <p:spPr>
          <a:xfrm>
            <a:off x="658368" y="640080"/>
            <a:ext cx="10874959" cy="403957"/>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SOLVENTUM VIỆT NAM</a:t>
            </a:r>
            <a:endParaRPr sz="2500" b="1" i="0" u="none" strike="noStrike" cap="none">
              <a:solidFill>
                <a:srgbClr val="0A2540"/>
              </a:solidFill>
              <a:latin typeface="Calibri"/>
              <a:ea typeface="Calibri"/>
              <a:cs typeface="Calibri"/>
              <a:sym typeface="Calibri"/>
            </a:endParaRPr>
          </a:p>
        </p:txBody>
      </p:sp>
      <p:sp>
        <p:nvSpPr>
          <p:cNvPr id="154" name="Google Shape;154;p1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5" name="Google Shape;155;p1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9" name="Google Shape;159;p16"/>
          <p:cNvSpPr/>
          <p:nvPr/>
        </p:nvSpPr>
        <p:spPr>
          <a:xfrm>
            <a:off x="3397021" y="3599590"/>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0" name="Google Shape;160;p16"/>
          <p:cNvSpPr/>
          <p:nvPr/>
        </p:nvSpPr>
        <p:spPr>
          <a:xfrm>
            <a:off x="3397021" y="3599590"/>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1" name="Google Shape;161;p16"/>
          <p:cNvSpPr txBox="1"/>
          <p:nvPr/>
        </p:nvSpPr>
        <p:spPr>
          <a:xfrm>
            <a:off x="3598189" y="3809902"/>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01/04/2024</a:t>
            </a:r>
            <a:endParaRPr/>
          </a:p>
        </p:txBody>
      </p:sp>
      <p:sp>
        <p:nvSpPr>
          <p:cNvPr id="162" name="Google Shape;162;p16"/>
          <p:cNvSpPr txBox="1"/>
          <p:nvPr/>
        </p:nvSpPr>
        <p:spPr>
          <a:xfrm>
            <a:off x="3562426" y="4239174"/>
            <a:ext cx="2188387"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Chính thức hoạt động độc lập sau khi hoàn tất tách khỏi Tập đoàn 3M</a:t>
            </a:r>
            <a:endParaRPr/>
          </a:p>
        </p:txBody>
      </p:sp>
      <p:sp>
        <p:nvSpPr>
          <p:cNvPr id="163" name="Google Shape;163;p16"/>
          <p:cNvSpPr/>
          <p:nvPr/>
        </p:nvSpPr>
        <p:spPr>
          <a:xfrm>
            <a:off x="619040" y="3614904"/>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p16"/>
          <p:cNvSpPr/>
          <p:nvPr/>
        </p:nvSpPr>
        <p:spPr>
          <a:xfrm>
            <a:off x="619040" y="3614904"/>
            <a:ext cx="2554147"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5" name="Google Shape;165;p16"/>
          <p:cNvSpPr txBox="1"/>
          <p:nvPr/>
        </p:nvSpPr>
        <p:spPr>
          <a:xfrm>
            <a:off x="820208" y="3825216"/>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70+ năm</a:t>
            </a:r>
            <a:endParaRPr/>
          </a:p>
        </p:txBody>
      </p:sp>
      <p:sp>
        <p:nvSpPr>
          <p:cNvPr id="166" name="Google Shape;166;p16"/>
          <p:cNvSpPr txBox="1"/>
          <p:nvPr/>
        </p:nvSpPr>
        <p:spPr>
          <a:xfrm>
            <a:off x="718464" y="4239173"/>
            <a:ext cx="2433954"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Kinh nghiệm y khoa toàn cầu được kế thừa từ nền tảng 3M Health Care</a:t>
            </a:r>
            <a:endParaRPr sz="1600"/>
          </a:p>
        </p:txBody>
      </p:sp>
      <p:sp>
        <p:nvSpPr>
          <p:cNvPr id="167" name="Google Shape;167;p16"/>
          <p:cNvSpPr/>
          <p:nvPr/>
        </p:nvSpPr>
        <p:spPr>
          <a:xfrm>
            <a:off x="6205575" y="3598217"/>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8" name="Google Shape;168;p16"/>
          <p:cNvSpPr/>
          <p:nvPr/>
        </p:nvSpPr>
        <p:spPr>
          <a:xfrm>
            <a:off x="6205575" y="3598217"/>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9" name="Google Shape;169;p16"/>
          <p:cNvSpPr txBox="1"/>
          <p:nvPr/>
        </p:nvSpPr>
        <p:spPr>
          <a:xfrm>
            <a:off x="6406743" y="3808529"/>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03 nhóm</a:t>
            </a:r>
            <a:endParaRPr/>
          </a:p>
        </p:txBody>
      </p:sp>
      <p:sp>
        <p:nvSpPr>
          <p:cNvPr id="170" name="Google Shape;170;p16"/>
          <p:cNvSpPr txBox="1"/>
          <p:nvPr/>
        </p:nvSpPr>
        <p:spPr>
          <a:xfrm>
            <a:off x="6388454" y="4207624"/>
            <a:ext cx="2371268"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Giải pháp chủ lực: Y tế (MedSurg) · Nha khoa · Lọc nước chuyên dụng</a:t>
            </a:r>
            <a:endParaRPr b="0" i="0" u="none" strike="noStrike" cap="none">
              <a:solidFill>
                <a:srgbClr val="6B7784"/>
              </a:solidFill>
              <a:latin typeface="Calibri"/>
              <a:ea typeface="Calibri"/>
              <a:cs typeface="Calibri"/>
              <a:sym typeface="Calibri"/>
            </a:endParaRPr>
          </a:p>
        </p:txBody>
      </p:sp>
      <p:sp>
        <p:nvSpPr>
          <p:cNvPr id="171" name="Google Shape;171;p16"/>
          <p:cNvSpPr/>
          <p:nvPr/>
        </p:nvSpPr>
        <p:spPr>
          <a:xfrm>
            <a:off x="8979179" y="3598217"/>
            <a:ext cx="2554147" cy="148132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2" name="Google Shape;172;p16"/>
          <p:cNvSpPr/>
          <p:nvPr/>
        </p:nvSpPr>
        <p:spPr>
          <a:xfrm>
            <a:off x="8979179" y="3598217"/>
            <a:ext cx="2554147"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 name="Google Shape;173;p16"/>
          <p:cNvSpPr txBox="1"/>
          <p:nvPr/>
        </p:nvSpPr>
        <p:spPr>
          <a:xfrm>
            <a:off x="9180347" y="3808529"/>
            <a:ext cx="218838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A2540"/>
                </a:solidFill>
                <a:latin typeface="Calibri"/>
                <a:ea typeface="Calibri"/>
                <a:cs typeface="Calibri"/>
                <a:sym typeface="Calibri"/>
              </a:rPr>
              <a:t>B2B</a:t>
            </a:r>
            <a:endParaRPr/>
          </a:p>
        </p:txBody>
      </p:sp>
      <p:sp>
        <p:nvSpPr>
          <p:cNvPr id="174" name="Google Shape;174;p16"/>
          <p:cNvSpPr txBox="1"/>
          <p:nvPr/>
        </p:nvSpPr>
        <p:spPr>
          <a:xfrm>
            <a:off x="9180347" y="4239173"/>
            <a:ext cx="2352979" cy="807913"/>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b="0" i="0" u="none" strike="noStrike" cap="none">
                <a:solidFill>
                  <a:srgbClr val="6B7784"/>
                </a:solidFill>
                <a:latin typeface="Calibri"/>
                <a:ea typeface="Calibri"/>
                <a:cs typeface="Calibri"/>
                <a:sym typeface="Calibri"/>
              </a:rPr>
              <a:t>Khách hàng là bệnh viện, phòng khám, cơ sở nha khoa và doanh nghiệp</a:t>
            </a:r>
            <a:endParaRPr b="0" i="0" u="none" strike="noStrike" cap="none">
              <a:solidFill>
                <a:srgbClr val="6B7784"/>
              </a:solidFill>
              <a:latin typeface="Calibri"/>
              <a:ea typeface="Calibri"/>
              <a:cs typeface="Calibri"/>
              <a:sym typeface="Calibri"/>
            </a:endParaRPr>
          </a:p>
        </p:txBody>
      </p:sp>
      <p:sp>
        <p:nvSpPr>
          <p:cNvPr id="175" name="Google Shape;175;p16"/>
          <p:cNvSpPr/>
          <p:nvPr/>
        </p:nvSpPr>
        <p:spPr>
          <a:xfrm>
            <a:off x="658368" y="5353865"/>
            <a:ext cx="10874959" cy="93268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6" name="Google Shape;176;p16"/>
          <p:cNvSpPr/>
          <p:nvPr/>
        </p:nvSpPr>
        <p:spPr>
          <a:xfrm>
            <a:off x="658368" y="5353865"/>
            <a:ext cx="50292" cy="932688"/>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7" name="Google Shape;177;p16"/>
          <p:cNvSpPr txBox="1"/>
          <p:nvPr/>
        </p:nvSpPr>
        <p:spPr>
          <a:xfrm>
            <a:off x="950976" y="5523461"/>
            <a:ext cx="10326319" cy="593496"/>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600" b="1" i="0" u="none" strike="noStrike" cap="none">
                <a:solidFill>
                  <a:srgbClr val="FFFFFF"/>
                </a:solidFill>
                <a:latin typeface="Calibri"/>
                <a:ea typeface="Calibri"/>
                <a:cs typeface="Calibri"/>
                <a:sym typeface="Calibri"/>
              </a:rPr>
              <a:t>SỨ MỆNH  ·  “Enabling Better, Smarter, Safer Healthcare”</a:t>
            </a:r>
            <a:endParaRPr/>
          </a:p>
          <a:p>
            <a:pPr marL="0" marR="0" lvl="0" indent="0" algn="l" rtl="0">
              <a:lnSpc>
                <a:spcPct val="120000"/>
              </a:lnSpc>
              <a:spcBef>
                <a:spcPts val="500"/>
              </a:spcBef>
              <a:spcAft>
                <a:spcPts val="0"/>
              </a:spcAft>
              <a:buNone/>
            </a:pPr>
            <a:r>
              <a:rPr lang="en-US" sz="1400" b="0" i="0" u="none" strike="noStrike" cap="none">
                <a:solidFill>
                  <a:srgbClr val="B6C9D8"/>
                </a:solidFill>
                <a:latin typeface="Calibri"/>
                <a:ea typeface="Calibri"/>
                <a:cs typeface="Calibri"/>
                <a:sym typeface="Calibri"/>
              </a:rPr>
              <a:t>Kết hợp Khoa học sức khỏe  +  Khoa học vật liệu  +  Khoa học dữ liệu để nâng cao chất lượng chăm sóc sức khỏe.</a:t>
            </a:r>
            <a:endParaRPr/>
          </a:p>
        </p:txBody>
      </p:sp>
      <p:pic>
        <p:nvPicPr>
          <p:cNvPr id="2" name="Picture 1" descr="Unable to view the image, Please provide a valid URL.">
            <a:extLst>
              <a:ext uri="{FF2B5EF4-FFF2-40B4-BE49-F238E27FC236}">
                <a16:creationId xmlns:a16="http://schemas.microsoft.com/office/drawing/2014/main" id="{85377519-A5B3-D938-EAC0-7BA7808EC8C2}"/>
              </a:ext>
            </a:extLst>
          </p:cNvPr>
          <p:cNvPicPr>
            <a:picLocks noChangeAspect="1"/>
          </p:cNvPicPr>
          <p:nvPr/>
        </p:nvPicPr>
        <p:blipFill>
          <a:blip r:embed="rId3"/>
          <a:stretch>
            <a:fillRect/>
          </a:stretch>
        </p:blipFill>
        <p:spPr>
          <a:xfrm>
            <a:off x="1553478" y="2934391"/>
            <a:ext cx="816624" cy="510390"/>
          </a:xfrm>
          <a:prstGeom prst="rect">
            <a:avLst/>
          </a:prstGeom>
        </p:spPr>
      </p:pic>
      <p:pic>
        <p:nvPicPr>
          <p:cNvPr id="6" name="Picture 5">
            <a:extLst>
              <a:ext uri="{FF2B5EF4-FFF2-40B4-BE49-F238E27FC236}">
                <a16:creationId xmlns:a16="http://schemas.microsoft.com/office/drawing/2014/main" id="{E95B3DB7-2A2E-B14F-4270-C10936A4E699}"/>
              </a:ext>
            </a:extLst>
          </p:cNvPr>
          <p:cNvPicPr>
            <a:picLocks noChangeAspect="1"/>
          </p:cNvPicPr>
          <p:nvPr/>
        </p:nvPicPr>
        <p:blipFill>
          <a:blip r:embed="rId4"/>
          <a:stretch>
            <a:fillRect/>
          </a:stretch>
        </p:blipFill>
        <p:spPr>
          <a:xfrm>
            <a:off x="548639" y="1549939"/>
            <a:ext cx="2773604" cy="850782"/>
          </a:xfrm>
          <a:prstGeom prst="rect">
            <a:avLst/>
          </a:prstGeom>
        </p:spPr>
      </p:pic>
      <p:pic>
        <p:nvPicPr>
          <p:cNvPr id="10" name="Picture 9">
            <a:extLst>
              <a:ext uri="{FF2B5EF4-FFF2-40B4-BE49-F238E27FC236}">
                <a16:creationId xmlns:a16="http://schemas.microsoft.com/office/drawing/2014/main" id="{35DC7087-E46D-239C-7F15-E2EBA71F2893}"/>
              </a:ext>
            </a:extLst>
          </p:cNvPr>
          <p:cNvPicPr>
            <a:picLocks noChangeAspect="1"/>
          </p:cNvPicPr>
          <p:nvPr/>
        </p:nvPicPr>
        <p:blipFill>
          <a:blip r:embed="rId5"/>
          <a:stretch>
            <a:fillRect/>
          </a:stretch>
        </p:blipFill>
        <p:spPr>
          <a:xfrm>
            <a:off x="3397021" y="1340357"/>
            <a:ext cx="8136305" cy="2120727"/>
          </a:xfrm>
          <a:prstGeom prst="rect">
            <a:avLst/>
          </a:prstGeom>
        </p:spPr>
      </p:pic>
      <p:sp>
        <p:nvSpPr>
          <p:cNvPr id="13" name="TextBox 12">
            <a:extLst>
              <a:ext uri="{FF2B5EF4-FFF2-40B4-BE49-F238E27FC236}">
                <a16:creationId xmlns:a16="http://schemas.microsoft.com/office/drawing/2014/main" id="{06DB5570-4FA2-0164-37A7-2AB32D0B8488}"/>
              </a:ext>
            </a:extLst>
          </p:cNvPr>
          <p:cNvSpPr txBox="1"/>
          <p:nvPr/>
        </p:nvSpPr>
        <p:spPr>
          <a:xfrm rot="5400000">
            <a:off x="1666710" y="2306027"/>
            <a:ext cx="760452" cy="646331"/>
          </a:xfrm>
          <a:prstGeom prst="rect">
            <a:avLst/>
          </a:prstGeom>
          <a:noFill/>
        </p:spPr>
        <p:txBody>
          <a:bodyPr wrap="square">
            <a:spAutoFit/>
          </a:bodyPr>
          <a:lstStyle/>
          <a:p>
            <a:r>
              <a:rPr lang="en-US" sz="3600"/>
              <a:t>←</a:t>
            </a:r>
          </a:p>
        </p:txBody>
      </p:sp>
      <p:sp>
        <p:nvSpPr>
          <p:cNvPr id="14" name="Footer Placeholder 13">
            <a:extLst>
              <a:ext uri="{FF2B5EF4-FFF2-40B4-BE49-F238E27FC236}">
                <a16:creationId xmlns:a16="http://schemas.microsoft.com/office/drawing/2014/main" id="{5B145D99-DA45-095A-FA1C-BC59091C68F2}"/>
              </a:ext>
            </a:extLst>
          </p:cNvPr>
          <p:cNvSpPr>
            <a:spLocks noGrp="1"/>
          </p:cNvSpPr>
          <p:nvPr>
            <p:ph type="ftr" idx="11"/>
          </p:nvPr>
        </p:nvSpPr>
        <p:spPr>
          <a:xfrm>
            <a:off x="708660" y="6397718"/>
            <a:ext cx="4756379" cy="365125"/>
          </a:xfrm>
        </p:spPr>
        <p:txBody>
          <a:bodyPr/>
          <a:lstStyle/>
          <a:p>
            <a:pPr algn="l"/>
            <a:r>
              <a:rPr lang="en-US"/>
              <a:t>HỆ THỐNG QUẢN TRỊ QUY TRÌNH NGHIỆP VỤ  ·  SOLVENTUM VIỆT NAM</a:t>
            </a:r>
          </a:p>
        </p:txBody>
      </p:sp>
      <p:sp>
        <p:nvSpPr>
          <p:cNvPr id="15" name="Slide Number Placeholder 14">
            <a:extLst>
              <a:ext uri="{FF2B5EF4-FFF2-40B4-BE49-F238E27FC236}">
                <a16:creationId xmlns:a16="http://schemas.microsoft.com/office/drawing/2014/main" id="{93F37D61-21F0-5EF1-912D-C27E2236D2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7"/>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a:t>
            </a:r>
            <a:r>
              <a:rPr lang="en-US" sz="1050" b="1">
                <a:solidFill>
                  <a:srgbClr val="0096D6"/>
                </a:solidFill>
                <a:latin typeface="Calibri"/>
                <a:ea typeface="Calibri"/>
                <a:cs typeface="Calibri"/>
                <a:sym typeface="Calibri"/>
              </a:rPr>
              <a:t>S</a:t>
            </a:r>
            <a:r>
              <a:rPr lang="en-US" sz="1050" b="1" i="0" u="none" strike="noStrike" cap="none">
                <a:solidFill>
                  <a:srgbClr val="0096D6"/>
                </a:solidFill>
                <a:latin typeface="Calibri"/>
                <a:ea typeface="Calibri"/>
                <a:cs typeface="Calibri"/>
                <a:sym typeface="Calibri"/>
              </a:rPr>
              <a:t>ẢN PHẨM VÀ DỊCH VỤ</a:t>
            </a:r>
            <a:endParaRPr/>
          </a:p>
        </p:txBody>
      </p:sp>
      <p:sp>
        <p:nvSpPr>
          <p:cNvPr id="184" name="Google Shape;184;p17"/>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BA NHÓM SẢN PHẨM &amp; GIẢI PHÁP CHỦ LỰC</a:t>
            </a:r>
            <a:endParaRPr/>
          </a:p>
        </p:txBody>
      </p:sp>
      <p:sp>
        <p:nvSpPr>
          <p:cNvPr id="185" name="Google Shape;185;p1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6" name="Google Shape;186;p1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17"/>
          <p:cNvSpPr/>
          <p:nvPr/>
        </p:nvSpPr>
        <p:spPr>
          <a:xfrm>
            <a:off x="658368"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1" name="Google Shape;191;p17"/>
          <p:cNvSpPr/>
          <p:nvPr/>
        </p:nvSpPr>
        <p:spPr>
          <a:xfrm>
            <a:off x="658368" y="1584198"/>
            <a:ext cx="344210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2" name="Google Shape;192;p17"/>
          <p:cNvSpPr txBox="1"/>
          <p:nvPr/>
        </p:nvSpPr>
        <p:spPr>
          <a:xfrm>
            <a:off x="896112"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01</a:t>
            </a:r>
            <a:endParaRPr sz="1600"/>
          </a:p>
        </p:txBody>
      </p:sp>
      <p:sp>
        <p:nvSpPr>
          <p:cNvPr id="193" name="Google Shape;193;p17"/>
          <p:cNvSpPr txBox="1"/>
          <p:nvPr/>
        </p:nvSpPr>
        <p:spPr>
          <a:xfrm>
            <a:off x="896112"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Y TẾ</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MedSurg</a:t>
            </a:r>
            <a:endParaRPr sz="1100" b="0" i="1" u="none" strike="noStrike" cap="none">
              <a:solidFill>
                <a:srgbClr val="6B7784"/>
              </a:solidFill>
              <a:latin typeface="Calibri"/>
              <a:ea typeface="Calibri"/>
              <a:cs typeface="Calibri"/>
              <a:sym typeface="Calibri"/>
            </a:endParaRPr>
          </a:p>
        </p:txBody>
      </p:sp>
      <p:sp>
        <p:nvSpPr>
          <p:cNvPr id="194" name="Google Shape;194;p17"/>
          <p:cNvSpPr txBox="1"/>
          <p:nvPr/>
        </p:nvSpPr>
        <p:spPr>
          <a:xfrm>
            <a:off x="896112"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Chăm sóc vết thương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Kiểm soát nhiễm khuẩn</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Kiểm soát thân nhiệt bệnh nhân</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Thiết bị hỗ trợ phẫu thuật</a:t>
            </a:r>
            <a:endParaRPr sz="1600" b="0" i="0" u="none" strike="noStrike" cap="none">
              <a:solidFill>
                <a:srgbClr val="2B3440"/>
              </a:solidFill>
              <a:latin typeface="Calibri"/>
              <a:ea typeface="Calibri"/>
              <a:cs typeface="Calibri"/>
              <a:sym typeface="Calibri"/>
            </a:endParaRPr>
          </a:p>
        </p:txBody>
      </p:sp>
      <p:sp>
        <p:nvSpPr>
          <p:cNvPr id="195" name="Google Shape;195;p17"/>
          <p:cNvSpPr/>
          <p:nvPr/>
        </p:nvSpPr>
        <p:spPr>
          <a:xfrm>
            <a:off x="4374794"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6" name="Google Shape;196;p17"/>
          <p:cNvSpPr/>
          <p:nvPr/>
        </p:nvSpPr>
        <p:spPr>
          <a:xfrm>
            <a:off x="4374794" y="1584198"/>
            <a:ext cx="344210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197" name="Google Shape;197;p17"/>
          <p:cNvSpPr txBox="1"/>
          <p:nvPr/>
        </p:nvSpPr>
        <p:spPr>
          <a:xfrm>
            <a:off x="4612538"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C2A8"/>
                </a:solidFill>
                <a:latin typeface="Calibri"/>
                <a:ea typeface="Calibri"/>
                <a:cs typeface="Calibri"/>
                <a:sym typeface="Calibri"/>
              </a:rPr>
              <a:t>02</a:t>
            </a:r>
            <a:endParaRPr sz="1600"/>
          </a:p>
        </p:txBody>
      </p:sp>
      <p:sp>
        <p:nvSpPr>
          <p:cNvPr id="198" name="Google Shape;198;p17"/>
          <p:cNvSpPr txBox="1"/>
          <p:nvPr/>
        </p:nvSpPr>
        <p:spPr>
          <a:xfrm>
            <a:off x="4612538"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NHA KHOA</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Dental Solutions</a:t>
            </a:r>
            <a:endParaRPr sz="1600"/>
          </a:p>
        </p:txBody>
      </p:sp>
      <p:sp>
        <p:nvSpPr>
          <p:cNvPr id="199" name="Google Shape;199;p17"/>
          <p:cNvSpPr txBox="1"/>
          <p:nvPr/>
        </p:nvSpPr>
        <p:spPr>
          <a:xfrm>
            <a:off x="4612538"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Vật liệu phục hồi răng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Sản phẩm chỉnh nha</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Keo dán &amp; xi măng nha khoa</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Vật tư hỗ trợ điều trị</a:t>
            </a:r>
            <a:endParaRPr sz="1600" b="0" i="0" u="none" strike="noStrike" cap="none">
              <a:solidFill>
                <a:srgbClr val="2B3440"/>
              </a:solidFill>
              <a:latin typeface="Calibri"/>
              <a:ea typeface="Calibri"/>
              <a:cs typeface="Calibri"/>
              <a:sym typeface="Calibri"/>
            </a:endParaRPr>
          </a:p>
        </p:txBody>
      </p:sp>
      <p:sp>
        <p:nvSpPr>
          <p:cNvPr id="200" name="Google Shape;200;p17"/>
          <p:cNvSpPr/>
          <p:nvPr/>
        </p:nvSpPr>
        <p:spPr>
          <a:xfrm>
            <a:off x="8091220" y="1584198"/>
            <a:ext cx="3442106" cy="26060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1" name="Google Shape;201;p17"/>
          <p:cNvSpPr/>
          <p:nvPr/>
        </p:nvSpPr>
        <p:spPr>
          <a:xfrm>
            <a:off x="8091220" y="1584198"/>
            <a:ext cx="344210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2" name="Google Shape;202;p17"/>
          <p:cNvSpPr txBox="1"/>
          <p:nvPr/>
        </p:nvSpPr>
        <p:spPr>
          <a:xfrm>
            <a:off x="8328964" y="1767078"/>
            <a:ext cx="2984906"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03</a:t>
            </a:r>
            <a:endParaRPr sz="1600"/>
          </a:p>
        </p:txBody>
      </p:sp>
      <p:sp>
        <p:nvSpPr>
          <p:cNvPr id="203" name="Google Shape;203;p17"/>
          <p:cNvSpPr txBox="1"/>
          <p:nvPr/>
        </p:nvSpPr>
        <p:spPr>
          <a:xfrm>
            <a:off x="8328964" y="2132838"/>
            <a:ext cx="2984906" cy="47038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GIẢI PHÁP LỌC NƯỚC</a:t>
            </a:r>
            <a:endParaRPr sz="1600"/>
          </a:p>
          <a:p>
            <a:pPr marL="0" marR="0" lvl="0" indent="0" algn="l" rtl="0">
              <a:lnSpc>
                <a:spcPct val="110000"/>
              </a:lnSpc>
              <a:spcBef>
                <a:spcPts val="200"/>
              </a:spcBef>
              <a:spcAft>
                <a:spcPts val="0"/>
              </a:spcAft>
              <a:buNone/>
            </a:pPr>
            <a:r>
              <a:rPr lang="en-US" sz="1100" b="0" i="1" u="none" strike="noStrike" cap="none">
                <a:solidFill>
                  <a:srgbClr val="6B7784"/>
                </a:solidFill>
                <a:latin typeface="Calibri"/>
                <a:ea typeface="Calibri"/>
                <a:cs typeface="Calibri"/>
                <a:sym typeface="Calibri"/>
              </a:rPr>
              <a:t>Water Filtration</a:t>
            </a:r>
            <a:endParaRPr sz="1600"/>
          </a:p>
        </p:txBody>
      </p:sp>
      <p:sp>
        <p:nvSpPr>
          <p:cNvPr id="204" name="Google Shape;204;p17"/>
          <p:cNvSpPr txBox="1"/>
          <p:nvPr/>
        </p:nvSpPr>
        <p:spPr>
          <a:xfrm>
            <a:off x="8328964" y="2791206"/>
            <a:ext cx="2984906" cy="128650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b="0" i="0" u="none" strike="noStrike" cap="none">
                <a:solidFill>
                  <a:srgbClr val="2B3440"/>
                </a:solidFill>
                <a:latin typeface="Calibri"/>
                <a:ea typeface="Calibri"/>
                <a:cs typeface="Calibri"/>
                <a:sym typeface="Calibri"/>
              </a:rPr>
              <a:t>•  Hệ thống lọc thương mại</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Hệ thống lọc công nghiệp</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Giải pháp lọc dân dụng</a:t>
            </a:r>
            <a:endParaRPr sz="1600" b="0" i="0" u="none" strike="noStrike" cap="none">
              <a:solidFill>
                <a:srgbClr val="2B3440"/>
              </a:solidFill>
              <a:latin typeface="Calibri"/>
              <a:ea typeface="Calibri"/>
              <a:cs typeface="Calibri"/>
              <a:sym typeface="Calibri"/>
            </a:endParaRPr>
          </a:p>
          <a:p>
            <a:pPr marL="0" marR="0" lvl="0" indent="0" algn="l" rtl="0">
              <a:lnSpc>
                <a:spcPct val="115000"/>
              </a:lnSpc>
              <a:spcBef>
                <a:spcPts val="400"/>
              </a:spcBef>
              <a:spcAft>
                <a:spcPts val="0"/>
              </a:spcAft>
              <a:buNone/>
            </a:pPr>
            <a:r>
              <a:rPr lang="en-US" sz="1600" b="0" i="0" u="none" strike="noStrike" cap="none">
                <a:solidFill>
                  <a:srgbClr val="2B3440"/>
                </a:solidFill>
                <a:latin typeface="Calibri"/>
                <a:ea typeface="Calibri"/>
                <a:cs typeface="Calibri"/>
                <a:sym typeface="Calibri"/>
              </a:rPr>
              <a:t>•  Vật liệu lọc chuyên dụng</a:t>
            </a:r>
            <a:endParaRPr sz="1600" b="0" i="0" u="none" strike="noStrike" cap="none">
              <a:solidFill>
                <a:srgbClr val="2B3440"/>
              </a:solidFill>
              <a:latin typeface="Calibri"/>
              <a:ea typeface="Calibri"/>
              <a:cs typeface="Calibri"/>
              <a:sym typeface="Calibri"/>
            </a:endParaRPr>
          </a:p>
        </p:txBody>
      </p:sp>
      <p:sp>
        <p:nvSpPr>
          <p:cNvPr id="205" name="Google Shape;205;p17"/>
          <p:cNvSpPr/>
          <p:nvPr/>
        </p:nvSpPr>
        <p:spPr>
          <a:xfrm>
            <a:off x="658368" y="4608576"/>
            <a:ext cx="10874959" cy="1097280"/>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6" name="Google Shape;206;p17"/>
          <p:cNvSpPr/>
          <p:nvPr/>
        </p:nvSpPr>
        <p:spPr>
          <a:xfrm>
            <a:off x="658368" y="4608576"/>
            <a:ext cx="50292" cy="109728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0" i="0" u="none" strike="noStrike" cap="none">
              <a:solidFill>
                <a:schemeClr val="lt1"/>
              </a:solidFill>
              <a:latin typeface="Calibri"/>
              <a:ea typeface="Calibri"/>
              <a:cs typeface="Calibri"/>
              <a:sym typeface="Calibri"/>
            </a:endParaRPr>
          </a:p>
        </p:txBody>
      </p:sp>
      <p:sp>
        <p:nvSpPr>
          <p:cNvPr id="207" name="Google Shape;207;p17"/>
          <p:cNvSpPr txBox="1"/>
          <p:nvPr/>
        </p:nvSpPr>
        <p:spPr>
          <a:xfrm>
            <a:off x="932688" y="4675546"/>
            <a:ext cx="10326319" cy="963341"/>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DỊCH VỤ SAU BÁN HÀNG  —  Yếu tố quan trọng không kém chất lượng sản phẩm</a:t>
            </a:r>
            <a:endParaRPr sz="1600" b="1" i="0" u="none" strike="noStrike" cap="none">
              <a:solidFill>
                <a:srgbClr val="0A2540"/>
              </a:solidFill>
              <a:latin typeface="Calibri"/>
              <a:ea typeface="Calibri"/>
              <a:cs typeface="Calibri"/>
              <a:sym typeface="Calibri"/>
            </a:endParaRPr>
          </a:p>
          <a:p>
            <a:pPr marL="0" marR="0" lvl="0" indent="0" algn="l" rtl="0">
              <a:lnSpc>
                <a:spcPct val="125000"/>
              </a:lnSpc>
              <a:spcBef>
                <a:spcPts val="600"/>
              </a:spcBef>
              <a:spcAft>
                <a:spcPts val="0"/>
              </a:spcAft>
              <a:buNone/>
            </a:pPr>
            <a:r>
              <a:rPr lang="en-US" sz="1600" b="0" i="0" u="none" strike="noStrike" cap="none">
                <a:solidFill>
                  <a:srgbClr val="2B3440"/>
                </a:solidFill>
                <a:latin typeface="Calibri"/>
                <a:ea typeface="Calibri"/>
                <a:cs typeface="Calibri"/>
                <a:sym typeface="Calibri"/>
              </a:rPr>
              <a:t>Tư vấn kỹ thuật  ·  Hỗ trợ lắp đặt và hướng dẫn sử dụng  ·  Bảo trì  ·  Bảo hành  ·  Sửa chữa thiết bị  →  là nền tảng hình thành quy trình Service Order Management được phân tích ở Chương 3 – 4.</a:t>
            </a:r>
            <a:endParaRPr sz="1600"/>
          </a:p>
        </p:txBody>
      </p:sp>
      <p:sp>
        <p:nvSpPr>
          <p:cNvPr id="2" name="Footer Placeholder 1">
            <a:extLst>
              <a:ext uri="{FF2B5EF4-FFF2-40B4-BE49-F238E27FC236}">
                <a16:creationId xmlns:a16="http://schemas.microsoft.com/office/drawing/2014/main" id="{15C2466B-3EA9-774C-BF6B-3678A4537651}"/>
              </a:ext>
            </a:extLst>
          </p:cNvPr>
          <p:cNvSpPr>
            <a:spLocks noGrp="1"/>
          </p:cNvSpPr>
          <p:nvPr>
            <p:ph type="ftr" idx="11"/>
          </p:nvPr>
        </p:nvSpPr>
        <p:spPr>
          <a:xfrm>
            <a:off x="658368" y="6291389"/>
            <a:ext cx="47396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B66F0946-5CA8-254E-4A3E-545417BE44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3" name="Google Shape;213;p18"/>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CƠ CẤU TỔ CHỨC</a:t>
            </a:r>
            <a:endParaRPr/>
          </a:p>
        </p:txBody>
      </p:sp>
      <p:sp>
        <p:nvSpPr>
          <p:cNvPr id="214" name="Google Shape;214;p18"/>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MÔ HÌNH QUẢN LÝ THEO CHIỀU DỌC</a:t>
            </a:r>
            <a:endParaRPr/>
          </a:p>
        </p:txBody>
      </p:sp>
      <p:sp>
        <p:nvSpPr>
          <p:cNvPr id="215" name="Google Shape;215;p1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1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9" name="Google Shape;219;p18"/>
          <p:cNvSpPr txBox="1"/>
          <p:nvPr/>
        </p:nvSpPr>
        <p:spPr>
          <a:xfrm>
            <a:off x="658368" y="1536192"/>
            <a:ext cx="603504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VERTICAL ORGANIZATION</a:t>
            </a:r>
            <a:endParaRPr sz="1800" b="1" i="0" u="none" strike="noStrike" cap="none">
              <a:solidFill>
                <a:srgbClr val="0096D6"/>
              </a:solidFill>
              <a:latin typeface="Calibri"/>
              <a:ea typeface="Calibri"/>
              <a:cs typeface="Calibri"/>
              <a:sym typeface="Calibri"/>
            </a:endParaRPr>
          </a:p>
        </p:txBody>
      </p:sp>
      <p:sp>
        <p:nvSpPr>
          <p:cNvPr id="220" name="Google Shape;220;p18"/>
          <p:cNvSpPr/>
          <p:nvPr/>
        </p:nvSpPr>
        <p:spPr>
          <a:xfrm>
            <a:off x="658367" y="1920239"/>
            <a:ext cx="7174993" cy="728305"/>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1" name="Google Shape;221;p18"/>
          <p:cNvSpPr/>
          <p:nvPr/>
        </p:nvSpPr>
        <p:spPr>
          <a:xfrm>
            <a:off x="658368" y="1920240"/>
            <a:ext cx="50292" cy="72830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2" name="Google Shape;222;p18"/>
          <p:cNvSpPr txBox="1"/>
          <p:nvPr/>
        </p:nvSpPr>
        <p:spPr>
          <a:xfrm>
            <a:off x="896112" y="2011680"/>
            <a:ext cx="548640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A2540"/>
                </a:solidFill>
                <a:latin typeface="Calibri"/>
                <a:ea typeface="Calibri"/>
                <a:cs typeface="Calibri"/>
                <a:sym typeface="Calibri"/>
              </a:rPr>
              <a:t>GLOBAL LEADERSHIP</a:t>
            </a:r>
            <a:endParaRPr sz="1800"/>
          </a:p>
        </p:txBody>
      </p:sp>
      <p:sp>
        <p:nvSpPr>
          <p:cNvPr id="223" name="Google Shape;223;p18"/>
          <p:cNvSpPr txBox="1"/>
          <p:nvPr/>
        </p:nvSpPr>
        <p:spPr>
          <a:xfrm>
            <a:off x="1230630" y="2285866"/>
            <a:ext cx="6609588"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a:solidFill>
                  <a:srgbClr val="6B7784"/>
                </a:solidFill>
                <a:latin typeface="Calibri"/>
                <a:ea typeface="Calibri"/>
                <a:cs typeface="Calibri"/>
                <a:sym typeface="Calibri"/>
              </a:rPr>
              <a:t>Định </a:t>
            </a:r>
            <a:r>
              <a:rPr lang="en-US" sz="1800" b="0" i="0" u="none" strike="noStrike" cap="none" err="1">
                <a:solidFill>
                  <a:srgbClr val="6B7784"/>
                </a:solidFill>
                <a:latin typeface="Calibri"/>
                <a:ea typeface="Calibri"/>
                <a:cs typeface="Calibri"/>
                <a:sym typeface="Calibri"/>
              </a:rPr>
              <a:t>hướng</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chiến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lược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chuẩn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mực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quản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trị</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toàn</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tập</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đoàn</a:t>
            </a:r>
            <a:endParaRPr sz="1800" b="0" i="0" u="none" strike="noStrike" cap="none">
              <a:solidFill>
                <a:srgbClr val="6B7784"/>
              </a:solidFill>
              <a:latin typeface="Calibri"/>
              <a:ea typeface="Calibri"/>
              <a:cs typeface="Calibri"/>
              <a:sym typeface="Calibri"/>
            </a:endParaRPr>
          </a:p>
        </p:txBody>
      </p:sp>
      <p:sp>
        <p:nvSpPr>
          <p:cNvPr id="224" name="Google Shape;224;p18"/>
          <p:cNvSpPr txBox="1"/>
          <p:nvPr/>
        </p:nvSpPr>
        <p:spPr>
          <a:xfrm>
            <a:off x="1732787" y="2596896"/>
            <a:ext cx="365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a:t>
            </a:r>
            <a:endParaRPr sz="1800"/>
          </a:p>
        </p:txBody>
      </p:sp>
      <p:sp>
        <p:nvSpPr>
          <p:cNvPr id="225" name="Google Shape;225;p18"/>
          <p:cNvSpPr/>
          <p:nvPr/>
        </p:nvSpPr>
        <p:spPr>
          <a:xfrm>
            <a:off x="1199388" y="2843783"/>
            <a:ext cx="7441692" cy="75318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18"/>
          <p:cNvSpPr/>
          <p:nvPr/>
        </p:nvSpPr>
        <p:spPr>
          <a:xfrm>
            <a:off x="1199388" y="2843783"/>
            <a:ext cx="50292" cy="753187"/>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7" name="Google Shape;227;p18"/>
          <p:cNvSpPr txBox="1"/>
          <p:nvPr/>
        </p:nvSpPr>
        <p:spPr>
          <a:xfrm>
            <a:off x="1437132" y="2935224"/>
            <a:ext cx="521208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A2540"/>
                </a:solidFill>
                <a:latin typeface="Calibri"/>
                <a:ea typeface="Calibri"/>
                <a:cs typeface="Calibri"/>
                <a:sym typeface="Calibri"/>
              </a:rPr>
              <a:t>REGIONAL LEADERSHIP (APAC)</a:t>
            </a:r>
            <a:endParaRPr sz="1800"/>
          </a:p>
        </p:txBody>
      </p:sp>
      <p:sp>
        <p:nvSpPr>
          <p:cNvPr id="228" name="Google Shape;228;p18"/>
          <p:cNvSpPr txBox="1"/>
          <p:nvPr/>
        </p:nvSpPr>
        <p:spPr>
          <a:xfrm>
            <a:off x="1808226" y="3209410"/>
            <a:ext cx="7828788"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err="1">
                <a:solidFill>
                  <a:srgbClr val="6B7784"/>
                </a:solidFill>
                <a:latin typeface="Calibri"/>
                <a:ea typeface="Calibri"/>
                <a:cs typeface="Calibri"/>
                <a:sym typeface="Calibri"/>
              </a:rPr>
              <a:t>Điều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phối</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hoạt</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động</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và</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giám</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sát</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mục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tiêu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khu</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vực</a:t>
            </a:r>
            <a:r>
              <a:rPr lang="en-US" sz="1800" b="0" i="0" u="none" strike="noStrike" cap="none">
                <a:solidFill>
                  <a:srgbClr val="6B7784"/>
                </a:solidFill>
                <a:latin typeface="Calibri"/>
                <a:ea typeface="Calibri"/>
                <a:cs typeface="Calibri"/>
                <a:sym typeface="Calibri"/>
              </a:rPr>
              <a:t> </a:t>
            </a:r>
            <a:r>
              <a:rPr lang="en-US" sz="1800" b="0" i="0" u="none" strike="noStrike" cap="none" err="1">
                <a:solidFill>
                  <a:srgbClr val="6B7784"/>
                </a:solidFill>
                <a:latin typeface="Calibri"/>
                <a:ea typeface="Calibri"/>
                <a:cs typeface="Calibri"/>
                <a:sym typeface="Calibri"/>
              </a:rPr>
              <a:t>châu</a:t>
            </a:r>
            <a:r>
              <a:rPr lang="en-US" sz="1800" b="0" i="0" u="none" strike="noStrike" cap="none">
                <a:solidFill>
                  <a:srgbClr val="6B7784"/>
                </a:solidFill>
                <a:latin typeface="Calibri"/>
                <a:ea typeface="Calibri"/>
                <a:cs typeface="Calibri"/>
                <a:sym typeface="Calibri"/>
              </a:rPr>
              <a:t> Á – TBD</a:t>
            </a:r>
            <a:endParaRPr sz="1800"/>
          </a:p>
        </p:txBody>
      </p:sp>
      <p:sp>
        <p:nvSpPr>
          <p:cNvPr id="229" name="Google Shape;229;p18"/>
          <p:cNvSpPr txBox="1"/>
          <p:nvPr/>
        </p:nvSpPr>
        <p:spPr>
          <a:xfrm>
            <a:off x="2400808" y="3528289"/>
            <a:ext cx="365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96D6"/>
                </a:solidFill>
                <a:latin typeface="Calibri"/>
                <a:ea typeface="Calibri"/>
                <a:cs typeface="Calibri"/>
                <a:sym typeface="Calibri"/>
              </a:rPr>
              <a:t>▼</a:t>
            </a:r>
            <a:endParaRPr sz="1800"/>
          </a:p>
        </p:txBody>
      </p:sp>
      <p:sp>
        <p:nvSpPr>
          <p:cNvPr id="230" name="Google Shape;230;p18"/>
          <p:cNvSpPr/>
          <p:nvPr/>
        </p:nvSpPr>
        <p:spPr>
          <a:xfrm>
            <a:off x="1816606" y="3752087"/>
            <a:ext cx="7639813" cy="802780"/>
          </a:xfrm>
          <a:prstGeom prst="rect">
            <a:avLst/>
          </a:prstGeom>
          <a:solidFill>
            <a:srgbClr val="0A2540"/>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1" name="Google Shape;231;p18"/>
          <p:cNvSpPr/>
          <p:nvPr/>
        </p:nvSpPr>
        <p:spPr>
          <a:xfrm>
            <a:off x="1816607" y="3752087"/>
            <a:ext cx="50292" cy="80278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2" name="Google Shape;232;p18"/>
          <p:cNvSpPr txBox="1"/>
          <p:nvPr/>
        </p:nvSpPr>
        <p:spPr>
          <a:xfrm>
            <a:off x="2054351" y="3843527"/>
            <a:ext cx="4937760"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FFFF"/>
                </a:solidFill>
                <a:latin typeface="Calibri"/>
                <a:ea typeface="Calibri"/>
                <a:cs typeface="Calibri"/>
                <a:sym typeface="Calibri"/>
              </a:rPr>
              <a:t>COUNTRY LEADERSHIP (VIỆT NAM)</a:t>
            </a:r>
            <a:endParaRPr sz="1800"/>
          </a:p>
        </p:txBody>
      </p:sp>
      <p:sp>
        <p:nvSpPr>
          <p:cNvPr id="233" name="Google Shape;233;p18"/>
          <p:cNvSpPr txBox="1"/>
          <p:nvPr/>
        </p:nvSpPr>
        <p:spPr>
          <a:xfrm>
            <a:off x="2351530" y="4047844"/>
            <a:ext cx="7920229" cy="30469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800" b="0" i="0" u="none" strike="noStrike" cap="none" err="1">
                <a:solidFill>
                  <a:srgbClr val="B6C9D8"/>
                </a:solidFill>
                <a:latin typeface="Calibri"/>
                <a:ea typeface="Calibri"/>
                <a:cs typeface="Calibri"/>
                <a:sym typeface="Calibri"/>
              </a:rPr>
              <a:t>Triển</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khai</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kế</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hoạch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kinh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doanh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và</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vận</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hành</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tại</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thị</a:t>
            </a:r>
            <a:r>
              <a:rPr lang="en-US" sz="1800" b="0" i="0" u="none" strike="noStrike" cap="none">
                <a:solidFill>
                  <a:srgbClr val="B6C9D8"/>
                </a:solidFill>
                <a:latin typeface="Calibri"/>
                <a:ea typeface="Calibri"/>
                <a:cs typeface="Calibri"/>
                <a:sym typeface="Calibri"/>
              </a:rPr>
              <a:t> </a:t>
            </a:r>
            <a:r>
              <a:rPr lang="en-US" sz="1800" b="0" i="0" u="none" strike="noStrike" cap="none" err="1">
                <a:solidFill>
                  <a:srgbClr val="B6C9D8"/>
                </a:solidFill>
                <a:latin typeface="Calibri"/>
                <a:ea typeface="Calibri"/>
                <a:cs typeface="Calibri"/>
                <a:sym typeface="Calibri"/>
              </a:rPr>
              <a:t>trường</a:t>
            </a:r>
            <a:r>
              <a:rPr lang="en-US" sz="1800" b="0" i="0" u="none" strike="noStrike" cap="none">
                <a:solidFill>
                  <a:srgbClr val="B6C9D8"/>
                </a:solidFill>
                <a:latin typeface="Calibri"/>
                <a:ea typeface="Calibri"/>
                <a:cs typeface="Calibri"/>
                <a:sym typeface="Calibri"/>
              </a:rPr>
              <a:t> Việt Nam</a:t>
            </a:r>
            <a:endParaRPr sz="1800"/>
          </a:p>
        </p:txBody>
      </p:sp>
      <p:sp>
        <p:nvSpPr>
          <p:cNvPr id="234" name="Google Shape;234;p18"/>
          <p:cNvSpPr txBox="1"/>
          <p:nvPr/>
        </p:nvSpPr>
        <p:spPr>
          <a:xfrm>
            <a:off x="3094542" y="4681816"/>
            <a:ext cx="5135118"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CÁC BỘ PHẬN CHỨC NĂNG TẠI VIỆT NAM</a:t>
            </a:r>
            <a:endParaRPr sz="2000"/>
          </a:p>
        </p:txBody>
      </p:sp>
      <p:grpSp>
        <p:nvGrpSpPr>
          <p:cNvPr id="3" name="Group 2">
            <a:extLst>
              <a:ext uri="{FF2B5EF4-FFF2-40B4-BE49-F238E27FC236}">
                <a16:creationId xmlns:a16="http://schemas.microsoft.com/office/drawing/2014/main" id="{D4D8091D-F997-8CA4-FAFC-8AFCB2C627FA}"/>
              </a:ext>
            </a:extLst>
          </p:cNvPr>
          <p:cNvGrpSpPr/>
          <p:nvPr/>
        </p:nvGrpSpPr>
        <p:grpSpPr>
          <a:xfrm>
            <a:off x="1549374" y="5191726"/>
            <a:ext cx="1607820" cy="441296"/>
            <a:chOff x="310895" y="4858719"/>
            <a:chExt cx="1607820" cy="441296"/>
          </a:xfrm>
        </p:grpSpPr>
        <p:sp>
          <p:nvSpPr>
            <p:cNvPr id="2" name="Flowchart: Preparation 1">
              <a:extLst>
                <a:ext uri="{FF2B5EF4-FFF2-40B4-BE49-F238E27FC236}">
                  <a16:creationId xmlns:a16="http://schemas.microsoft.com/office/drawing/2014/main" id="{F0DE7503-D1F9-C8A8-10F2-174F24A37B94}"/>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6" name="Google Shape;236;p18"/>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Sales </a:t>
              </a:r>
            </a:p>
          </p:txBody>
        </p:sp>
      </p:grpSp>
      <p:grpSp>
        <p:nvGrpSpPr>
          <p:cNvPr id="4" name="Group 3">
            <a:extLst>
              <a:ext uri="{FF2B5EF4-FFF2-40B4-BE49-F238E27FC236}">
                <a16:creationId xmlns:a16="http://schemas.microsoft.com/office/drawing/2014/main" id="{C8163F3E-3BE5-86FF-4DAE-D674C61526B0}"/>
              </a:ext>
            </a:extLst>
          </p:cNvPr>
          <p:cNvGrpSpPr/>
          <p:nvPr/>
        </p:nvGrpSpPr>
        <p:grpSpPr>
          <a:xfrm>
            <a:off x="3758057" y="5177161"/>
            <a:ext cx="1607820" cy="441296"/>
            <a:chOff x="310895" y="4858719"/>
            <a:chExt cx="1607820" cy="441296"/>
          </a:xfrm>
        </p:grpSpPr>
        <p:sp>
          <p:nvSpPr>
            <p:cNvPr id="5" name="Flowchart: Preparation 4">
              <a:extLst>
                <a:ext uri="{FF2B5EF4-FFF2-40B4-BE49-F238E27FC236}">
                  <a16:creationId xmlns:a16="http://schemas.microsoft.com/office/drawing/2014/main" id="{57CEEBF1-D1C2-01F3-182F-73703309EE8B}"/>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Google Shape;236;p18">
              <a:extLst>
                <a:ext uri="{FF2B5EF4-FFF2-40B4-BE49-F238E27FC236}">
                  <a16:creationId xmlns:a16="http://schemas.microsoft.com/office/drawing/2014/main" id="{2A947621-1C68-E018-8359-458F89D1F5C8}"/>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Marketing</a:t>
              </a:r>
              <a:endParaRPr lang="en-US"/>
            </a:p>
          </p:txBody>
        </p:sp>
      </p:grpSp>
      <p:grpSp>
        <p:nvGrpSpPr>
          <p:cNvPr id="7" name="Group 6">
            <a:extLst>
              <a:ext uri="{FF2B5EF4-FFF2-40B4-BE49-F238E27FC236}">
                <a16:creationId xmlns:a16="http://schemas.microsoft.com/office/drawing/2014/main" id="{7BA5684B-0F31-9356-E052-EF13F48417A8}"/>
              </a:ext>
            </a:extLst>
          </p:cNvPr>
          <p:cNvGrpSpPr/>
          <p:nvPr/>
        </p:nvGrpSpPr>
        <p:grpSpPr>
          <a:xfrm>
            <a:off x="6016851" y="5177161"/>
            <a:ext cx="1607820" cy="441296"/>
            <a:chOff x="310895" y="4858719"/>
            <a:chExt cx="1607820" cy="441296"/>
          </a:xfrm>
        </p:grpSpPr>
        <p:sp>
          <p:nvSpPr>
            <p:cNvPr id="8" name="Flowchart: Preparation 7">
              <a:extLst>
                <a:ext uri="{FF2B5EF4-FFF2-40B4-BE49-F238E27FC236}">
                  <a16:creationId xmlns:a16="http://schemas.microsoft.com/office/drawing/2014/main" id="{183F01EF-670C-FA19-F793-4B383C84A130}"/>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Google Shape;236;p18">
              <a:extLst>
                <a:ext uri="{FF2B5EF4-FFF2-40B4-BE49-F238E27FC236}">
                  <a16:creationId xmlns:a16="http://schemas.microsoft.com/office/drawing/2014/main" id="{661C804A-487B-123F-09C2-A561C932F342}"/>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Supply Chain</a:t>
              </a:r>
              <a:endParaRPr lang="en-US"/>
            </a:p>
          </p:txBody>
        </p:sp>
      </p:grpSp>
      <p:grpSp>
        <p:nvGrpSpPr>
          <p:cNvPr id="10" name="Group 9">
            <a:extLst>
              <a:ext uri="{FF2B5EF4-FFF2-40B4-BE49-F238E27FC236}">
                <a16:creationId xmlns:a16="http://schemas.microsoft.com/office/drawing/2014/main" id="{41C456D4-9FAF-EC85-8EF6-3A138DD8BDB7}"/>
              </a:ext>
            </a:extLst>
          </p:cNvPr>
          <p:cNvGrpSpPr/>
          <p:nvPr/>
        </p:nvGrpSpPr>
        <p:grpSpPr>
          <a:xfrm>
            <a:off x="8226859" y="5177161"/>
            <a:ext cx="1607820" cy="441296"/>
            <a:chOff x="310895" y="4858719"/>
            <a:chExt cx="1607820" cy="441296"/>
          </a:xfrm>
        </p:grpSpPr>
        <p:sp>
          <p:nvSpPr>
            <p:cNvPr id="11" name="Flowchart: Preparation 10">
              <a:extLst>
                <a:ext uri="{FF2B5EF4-FFF2-40B4-BE49-F238E27FC236}">
                  <a16:creationId xmlns:a16="http://schemas.microsoft.com/office/drawing/2014/main" id="{A070A297-7652-1CA2-4539-8CF8C5FC5B11}"/>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Google Shape;236;p18">
              <a:extLst>
                <a:ext uri="{FF2B5EF4-FFF2-40B4-BE49-F238E27FC236}">
                  <a16:creationId xmlns:a16="http://schemas.microsoft.com/office/drawing/2014/main" id="{1AEFF858-A4EC-C79E-E293-927C71CD79D6}"/>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Finance</a:t>
              </a:r>
              <a:endParaRPr lang="en-US"/>
            </a:p>
          </p:txBody>
        </p:sp>
      </p:grpSp>
      <p:grpSp>
        <p:nvGrpSpPr>
          <p:cNvPr id="13" name="Group 12">
            <a:extLst>
              <a:ext uri="{FF2B5EF4-FFF2-40B4-BE49-F238E27FC236}">
                <a16:creationId xmlns:a16="http://schemas.microsoft.com/office/drawing/2014/main" id="{E4D7A60D-FB1B-5CCA-E879-7EBA632F3513}"/>
              </a:ext>
            </a:extLst>
          </p:cNvPr>
          <p:cNvGrpSpPr/>
          <p:nvPr/>
        </p:nvGrpSpPr>
        <p:grpSpPr>
          <a:xfrm>
            <a:off x="2668016" y="5879481"/>
            <a:ext cx="1607820" cy="452432"/>
            <a:chOff x="310895" y="4853151"/>
            <a:chExt cx="1607820" cy="452432"/>
          </a:xfrm>
        </p:grpSpPr>
        <p:sp>
          <p:nvSpPr>
            <p:cNvPr id="14" name="Flowchart: Preparation 13">
              <a:extLst>
                <a:ext uri="{FF2B5EF4-FFF2-40B4-BE49-F238E27FC236}">
                  <a16:creationId xmlns:a16="http://schemas.microsoft.com/office/drawing/2014/main" id="{C7C54AE6-3F82-C558-FE30-A92469945FA4}"/>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Google Shape;236;p18">
              <a:extLst>
                <a:ext uri="{FF2B5EF4-FFF2-40B4-BE49-F238E27FC236}">
                  <a16:creationId xmlns:a16="http://schemas.microsoft.com/office/drawing/2014/main" id="{1D748C9A-CC1C-52AE-5CE4-174C90841AB1}"/>
                </a:ext>
              </a:extLst>
            </p:cNvPr>
            <p:cNvSpPr txBox="1"/>
            <p:nvPr/>
          </p:nvSpPr>
          <p:spPr>
            <a:xfrm>
              <a:off x="519971" y="4853151"/>
              <a:ext cx="1296161" cy="452432"/>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Regulatory Affairs</a:t>
              </a:r>
              <a:endParaRPr lang="en-US"/>
            </a:p>
          </p:txBody>
        </p:sp>
      </p:grpSp>
      <p:grpSp>
        <p:nvGrpSpPr>
          <p:cNvPr id="16" name="Group 15">
            <a:extLst>
              <a:ext uri="{FF2B5EF4-FFF2-40B4-BE49-F238E27FC236}">
                <a16:creationId xmlns:a16="http://schemas.microsoft.com/office/drawing/2014/main" id="{FCB482FC-7F0D-AF39-EA38-A021A022BEA4}"/>
              </a:ext>
            </a:extLst>
          </p:cNvPr>
          <p:cNvGrpSpPr/>
          <p:nvPr/>
        </p:nvGrpSpPr>
        <p:grpSpPr>
          <a:xfrm>
            <a:off x="9421336" y="5886778"/>
            <a:ext cx="1607820" cy="457454"/>
            <a:chOff x="310895" y="4858719"/>
            <a:chExt cx="1607820" cy="457454"/>
          </a:xfrm>
        </p:grpSpPr>
        <p:sp>
          <p:nvSpPr>
            <p:cNvPr id="17" name="Flowchart: Preparation 16">
              <a:extLst>
                <a:ext uri="{FF2B5EF4-FFF2-40B4-BE49-F238E27FC236}">
                  <a16:creationId xmlns:a16="http://schemas.microsoft.com/office/drawing/2014/main" id="{7B830654-38F2-BE9F-C30C-1817DE0DA61B}"/>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Google Shape;236;p18">
              <a:extLst>
                <a:ext uri="{FF2B5EF4-FFF2-40B4-BE49-F238E27FC236}">
                  <a16:creationId xmlns:a16="http://schemas.microsoft.com/office/drawing/2014/main" id="{D3FBA67F-812E-E43F-C39D-ED9F371A4648}"/>
                </a:ext>
              </a:extLst>
            </p:cNvPr>
            <p:cNvSpPr txBox="1"/>
            <p:nvPr/>
          </p:nvSpPr>
          <p:spPr>
            <a:xfrm>
              <a:off x="466724" y="4863741"/>
              <a:ext cx="1296161" cy="452432"/>
            </a:xfrm>
            <a:prstGeom prst="rect">
              <a:avLst/>
            </a:prstGeom>
            <a:noFill/>
            <a:ln>
              <a:noFill/>
            </a:ln>
          </p:spPr>
          <p:txBody>
            <a:bodyPr spcFirstLastPara="1" wrap="square" lIns="0" tIns="0" rIns="0" bIns="0" anchor="ctr" anchorCtr="0">
              <a:spAutoFit/>
            </a:bodyPr>
            <a:lstStyle/>
            <a:p>
              <a:pPr algn="ctr">
                <a:lnSpc>
                  <a:spcPct val="105000"/>
                </a:lnSpc>
              </a:pPr>
              <a:r>
                <a:rPr lang="en-US" b="1">
                  <a:solidFill>
                    <a:srgbClr val="0A2540"/>
                  </a:solidFill>
                  <a:latin typeface="Calibri"/>
                  <a:ea typeface="Calibri"/>
                  <a:cs typeface="Calibri"/>
                  <a:sym typeface="Calibri"/>
                </a:rPr>
                <a:t>Human Resources</a:t>
              </a:r>
              <a:endParaRPr lang="en-US"/>
            </a:p>
          </p:txBody>
        </p:sp>
      </p:grpSp>
      <p:grpSp>
        <p:nvGrpSpPr>
          <p:cNvPr id="19" name="Group 18">
            <a:extLst>
              <a:ext uri="{FF2B5EF4-FFF2-40B4-BE49-F238E27FC236}">
                <a16:creationId xmlns:a16="http://schemas.microsoft.com/office/drawing/2014/main" id="{944F179F-FDFA-2516-5E35-4B224748B880}"/>
              </a:ext>
            </a:extLst>
          </p:cNvPr>
          <p:cNvGrpSpPr/>
          <p:nvPr/>
        </p:nvGrpSpPr>
        <p:grpSpPr>
          <a:xfrm>
            <a:off x="4850734" y="5904939"/>
            <a:ext cx="1607820" cy="441296"/>
            <a:chOff x="310895" y="4858719"/>
            <a:chExt cx="1607820" cy="441296"/>
          </a:xfrm>
        </p:grpSpPr>
        <p:sp>
          <p:nvSpPr>
            <p:cNvPr id="20" name="Flowchart: Preparation 19">
              <a:extLst>
                <a:ext uri="{FF2B5EF4-FFF2-40B4-BE49-F238E27FC236}">
                  <a16:creationId xmlns:a16="http://schemas.microsoft.com/office/drawing/2014/main" id="{E02B3180-0ED6-6E53-F52F-93865484FE2F}"/>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1" name="Google Shape;236;p18">
              <a:extLst>
                <a:ext uri="{FF2B5EF4-FFF2-40B4-BE49-F238E27FC236}">
                  <a16:creationId xmlns:a16="http://schemas.microsoft.com/office/drawing/2014/main" id="{4AA2C1BB-96C6-5FEF-CA73-A9F159093905}"/>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Quality</a:t>
              </a:r>
              <a:endParaRPr lang="en-US"/>
            </a:p>
          </p:txBody>
        </p:sp>
      </p:grpSp>
      <p:grpSp>
        <p:nvGrpSpPr>
          <p:cNvPr id="22" name="Group 21">
            <a:extLst>
              <a:ext uri="{FF2B5EF4-FFF2-40B4-BE49-F238E27FC236}">
                <a16:creationId xmlns:a16="http://schemas.microsoft.com/office/drawing/2014/main" id="{A0725AA4-4E7E-972C-A6AD-C18F7181D478}"/>
              </a:ext>
            </a:extLst>
          </p:cNvPr>
          <p:cNvGrpSpPr/>
          <p:nvPr/>
        </p:nvGrpSpPr>
        <p:grpSpPr>
          <a:xfrm>
            <a:off x="7136035" y="5886778"/>
            <a:ext cx="1607820" cy="441296"/>
            <a:chOff x="310895" y="4858719"/>
            <a:chExt cx="1607820" cy="441296"/>
          </a:xfrm>
        </p:grpSpPr>
        <p:sp>
          <p:nvSpPr>
            <p:cNvPr id="23" name="Flowchart: Preparation 22">
              <a:extLst>
                <a:ext uri="{FF2B5EF4-FFF2-40B4-BE49-F238E27FC236}">
                  <a16:creationId xmlns:a16="http://schemas.microsoft.com/office/drawing/2014/main" id="{77CCF98C-BBE6-1618-D167-6059BAA23F81}"/>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Google Shape;236;p18">
              <a:extLst>
                <a:ext uri="{FF2B5EF4-FFF2-40B4-BE49-F238E27FC236}">
                  <a16:creationId xmlns:a16="http://schemas.microsoft.com/office/drawing/2014/main" id="{CDF8F556-5185-4DB5-AAD2-35FBAC595D0E}"/>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lvl="0" algn="ctr">
                <a:lnSpc>
                  <a:spcPct val="105000"/>
                </a:lnSpc>
              </a:pPr>
              <a:r>
                <a:rPr lang="en-US" b="1">
                  <a:solidFill>
                    <a:srgbClr val="0A2540"/>
                  </a:solidFill>
                  <a:latin typeface="Calibri"/>
                  <a:ea typeface="Calibri"/>
                  <a:cs typeface="Calibri"/>
                  <a:sym typeface="Calibri"/>
                </a:rPr>
                <a:t>Technical Service</a:t>
              </a:r>
              <a:endParaRPr lang="en-US"/>
            </a:p>
          </p:txBody>
        </p:sp>
      </p:grpSp>
      <p:grpSp>
        <p:nvGrpSpPr>
          <p:cNvPr id="25" name="Group 24">
            <a:extLst>
              <a:ext uri="{FF2B5EF4-FFF2-40B4-BE49-F238E27FC236}">
                <a16:creationId xmlns:a16="http://schemas.microsoft.com/office/drawing/2014/main" id="{35F7D84B-B152-73BA-67FB-E6EDC928797D}"/>
              </a:ext>
            </a:extLst>
          </p:cNvPr>
          <p:cNvGrpSpPr/>
          <p:nvPr/>
        </p:nvGrpSpPr>
        <p:grpSpPr>
          <a:xfrm>
            <a:off x="10485653" y="5202991"/>
            <a:ext cx="1607820" cy="441296"/>
            <a:chOff x="310895" y="4858719"/>
            <a:chExt cx="1607820" cy="441296"/>
          </a:xfrm>
        </p:grpSpPr>
        <p:sp>
          <p:nvSpPr>
            <p:cNvPr id="26" name="Flowchart: Preparation 25">
              <a:extLst>
                <a:ext uri="{FF2B5EF4-FFF2-40B4-BE49-F238E27FC236}">
                  <a16:creationId xmlns:a16="http://schemas.microsoft.com/office/drawing/2014/main" id="{4E4A2DFD-2A40-FD63-79A5-7C00F51AFF36}"/>
                </a:ext>
              </a:extLst>
            </p:cNvPr>
            <p:cNvSpPr/>
            <p:nvPr/>
          </p:nvSpPr>
          <p:spPr>
            <a:xfrm>
              <a:off x="310895" y="4858719"/>
              <a:ext cx="1607820" cy="441296"/>
            </a:xfrm>
            <a:prstGeom prst="flowChartPreparation">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7" name="Google Shape;236;p18">
              <a:extLst>
                <a:ext uri="{FF2B5EF4-FFF2-40B4-BE49-F238E27FC236}">
                  <a16:creationId xmlns:a16="http://schemas.microsoft.com/office/drawing/2014/main" id="{901122A5-F893-28D3-A920-19850BB44449}"/>
                </a:ext>
              </a:extLst>
            </p:cNvPr>
            <p:cNvSpPr txBox="1"/>
            <p:nvPr/>
          </p:nvSpPr>
          <p:spPr>
            <a:xfrm>
              <a:off x="466724" y="4976849"/>
              <a:ext cx="1296161" cy="226216"/>
            </a:xfrm>
            <a:prstGeom prst="rect">
              <a:avLst/>
            </a:prstGeom>
            <a:noFill/>
            <a:ln>
              <a:noFill/>
            </a:ln>
          </p:spPr>
          <p:txBody>
            <a:bodyPr spcFirstLastPara="1" wrap="square" lIns="0" tIns="0" rIns="0" bIns="0" anchor="ctr" anchorCtr="0">
              <a:spAutoFit/>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CIR </a:t>
              </a:r>
            </a:p>
          </p:txBody>
        </p:sp>
      </p:grpSp>
      <p:sp>
        <p:nvSpPr>
          <p:cNvPr id="28" name="Callout: Quad Arrow 27">
            <a:extLst>
              <a:ext uri="{FF2B5EF4-FFF2-40B4-BE49-F238E27FC236}">
                <a16:creationId xmlns:a16="http://schemas.microsoft.com/office/drawing/2014/main" id="{EEB50E9B-4FE4-6BD7-5674-3A89EA06EDF3}"/>
              </a:ext>
            </a:extLst>
          </p:cNvPr>
          <p:cNvSpPr/>
          <p:nvPr/>
        </p:nvSpPr>
        <p:spPr>
          <a:xfrm>
            <a:off x="5674615" y="5531769"/>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allout: Quad Arrow 29">
            <a:extLst>
              <a:ext uri="{FF2B5EF4-FFF2-40B4-BE49-F238E27FC236}">
                <a16:creationId xmlns:a16="http://schemas.microsoft.com/office/drawing/2014/main" id="{246075F3-A5A9-5DFF-96D6-FC59607138D1}"/>
              </a:ext>
            </a:extLst>
          </p:cNvPr>
          <p:cNvSpPr/>
          <p:nvPr/>
        </p:nvSpPr>
        <p:spPr>
          <a:xfrm>
            <a:off x="4592282" y="5858675"/>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allout: Quad Arrow 30">
            <a:extLst>
              <a:ext uri="{FF2B5EF4-FFF2-40B4-BE49-F238E27FC236}">
                <a16:creationId xmlns:a16="http://schemas.microsoft.com/office/drawing/2014/main" id="{37266112-B321-F583-6469-6E4B7E9198FC}"/>
              </a:ext>
            </a:extLst>
          </p:cNvPr>
          <p:cNvSpPr/>
          <p:nvPr/>
        </p:nvSpPr>
        <p:spPr>
          <a:xfrm>
            <a:off x="6773870" y="5868174"/>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allout: Quad Arrow 31">
            <a:extLst>
              <a:ext uri="{FF2B5EF4-FFF2-40B4-BE49-F238E27FC236}">
                <a16:creationId xmlns:a16="http://schemas.microsoft.com/office/drawing/2014/main" id="{3AEA6279-3A27-4CBA-CD11-892D2D8F80DC}"/>
              </a:ext>
            </a:extLst>
          </p:cNvPr>
          <p:cNvSpPr/>
          <p:nvPr/>
        </p:nvSpPr>
        <p:spPr>
          <a:xfrm>
            <a:off x="9068782" y="5897282"/>
            <a:ext cx="45719" cy="92527"/>
          </a:xfrm>
          <a:prstGeom prst="quadArrowCallout">
            <a:avLst>
              <a:gd name="adj1" fmla="val 18515"/>
              <a:gd name="adj2" fmla="val 18515"/>
              <a:gd name="adj3" fmla="val 18515"/>
              <a:gd name="adj4" fmla="val 629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ooter Placeholder 32">
            <a:extLst>
              <a:ext uri="{FF2B5EF4-FFF2-40B4-BE49-F238E27FC236}">
                <a16:creationId xmlns:a16="http://schemas.microsoft.com/office/drawing/2014/main" id="{DC207A05-B2C4-4CFD-07D5-CD53C24B678C}"/>
              </a:ext>
            </a:extLst>
          </p:cNvPr>
          <p:cNvSpPr>
            <a:spLocks noGrp="1"/>
          </p:cNvSpPr>
          <p:nvPr>
            <p:ph type="ftr" idx="11"/>
          </p:nvPr>
        </p:nvSpPr>
        <p:spPr>
          <a:xfrm>
            <a:off x="465261" y="6438661"/>
            <a:ext cx="5058858" cy="365125"/>
          </a:xfrm>
        </p:spPr>
        <p:txBody>
          <a:bodyPr/>
          <a:lstStyle/>
          <a:p>
            <a:pPr algn="l"/>
            <a:r>
              <a:rPr lang="en-US"/>
              <a:t>HỆ THỐNG QUẢN TRỊ QUY TRÌNH NGHIỆP VỤ  ·  SOLVENTUM VIỆT NAM</a:t>
            </a:r>
          </a:p>
        </p:txBody>
      </p:sp>
      <p:sp>
        <p:nvSpPr>
          <p:cNvPr id="34" name="Slide Number Placeholder 33">
            <a:extLst>
              <a:ext uri="{FF2B5EF4-FFF2-40B4-BE49-F238E27FC236}">
                <a16:creationId xmlns:a16="http://schemas.microsoft.com/office/drawing/2014/main" id="{0A8A1BD3-73EF-DB0F-9158-C43F16990B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5" name="Callout: Quad Arrow 34">
            <a:extLst>
              <a:ext uri="{FF2B5EF4-FFF2-40B4-BE49-F238E27FC236}">
                <a16:creationId xmlns:a16="http://schemas.microsoft.com/office/drawing/2014/main" id="{705A7400-35A6-9B4C-637E-19F8F49B35AA}"/>
              </a:ext>
            </a:extLst>
          </p:cNvPr>
          <p:cNvSpPr/>
          <p:nvPr/>
        </p:nvSpPr>
        <p:spPr>
          <a:xfrm>
            <a:off x="3426459" y="5552798"/>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llout: Quad Arrow 35">
            <a:extLst>
              <a:ext uri="{FF2B5EF4-FFF2-40B4-BE49-F238E27FC236}">
                <a16:creationId xmlns:a16="http://schemas.microsoft.com/office/drawing/2014/main" id="{8AA8F8E4-6D16-12AB-1B39-084E4C5005D0}"/>
              </a:ext>
            </a:extLst>
          </p:cNvPr>
          <p:cNvSpPr/>
          <p:nvPr/>
        </p:nvSpPr>
        <p:spPr>
          <a:xfrm>
            <a:off x="7919878" y="5561333"/>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allout: Quad Arrow 36">
            <a:extLst>
              <a:ext uri="{FF2B5EF4-FFF2-40B4-BE49-F238E27FC236}">
                <a16:creationId xmlns:a16="http://schemas.microsoft.com/office/drawing/2014/main" id="{E99C1E5E-3ED6-FF4F-B5A3-E07D60D800AA}"/>
              </a:ext>
            </a:extLst>
          </p:cNvPr>
          <p:cNvSpPr/>
          <p:nvPr/>
        </p:nvSpPr>
        <p:spPr>
          <a:xfrm>
            <a:off x="10121867" y="5561333"/>
            <a:ext cx="45719" cy="82954"/>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9"/>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1 · MỤC TIÊU VÀ PHẠM VI</a:t>
            </a:r>
            <a:endParaRPr/>
          </a:p>
        </p:txBody>
      </p:sp>
      <p:sp>
        <p:nvSpPr>
          <p:cNvPr id="256" name="Google Shape;256;p19"/>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MỤC TIÊU VÀ PHẠM VI NGHIÊN CỨU</a:t>
            </a:r>
            <a:endParaRPr/>
          </a:p>
        </p:txBody>
      </p:sp>
      <p:sp>
        <p:nvSpPr>
          <p:cNvPr id="257" name="Google Shape;257;p1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8" name="Google Shape;258;p1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1" name="Google Shape;261;p19"/>
          <p:cNvSpPr/>
          <p:nvPr/>
        </p:nvSpPr>
        <p:spPr>
          <a:xfrm>
            <a:off x="658368" y="1572768"/>
            <a:ext cx="5257800" cy="440283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2" name="Google Shape;262;p19"/>
          <p:cNvSpPr/>
          <p:nvPr/>
        </p:nvSpPr>
        <p:spPr>
          <a:xfrm>
            <a:off x="658368" y="1572768"/>
            <a:ext cx="5257800"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3" name="Google Shape;263;p19"/>
          <p:cNvSpPr txBox="1"/>
          <p:nvPr/>
        </p:nvSpPr>
        <p:spPr>
          <a:xfrm>
            <a:off x="932688" y="17922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MỤC TIÊU NGHIÊN CỨU</a:t>
            </a:r>
            <a:endParaRPr sz="1600"/>
          </a:p>
        </p:txBody>
      </p:sp>
      <p:sp>
        <p:nvSpPr>
          <p:cNvPr id="264" name="Google Shape;264;p19"/>
          <p:cNvSpPr txBox="1"/>
          <p:nvPr/>
        </p:nvSpPr>
        <p:spPr>
          <a:xfrm>
            <a:off x="890016" y="2212848"/>
            <a:ext cx="5026152" cy="3642023"/>
          </a:xfrm>
          <a:prstGeom prst="rect">
            <a:avLst/>
          </a:prstGeom>
          <a:noFill/>
          <a:ln>
            <a:noFill/>
          </a:ln>
        </p:spPr>
        <p:txBody>
          <a:bodyPr spcFirstLastPara="1" wrap="square" lIns="0" tIns="0" rIns="0" bIns="0" anchor="t" anchorCtr="0">
            <a:spAutoFit/>
          </a:bodyPr>
          <a:lstStyle/>
          <a:p>
            <a:pPr marL="285750" marR="0" lvl="0" indent="-285750" algn="l" rtl="0">
              <a:lnSpc>
                <a:spcPct val="125000"/>
              </a:lnSpc>
              <a:spcBef>
                <a:spcPts val="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Vận </a:t>
            </a:r>
            <a:r>
              <a:rPr lang="en-US" sz="1600" b="0" i="0" u="none" strike="noStrike" cap="none" err="1">
                <a:solidFill>
                  <a:srgbClr val="2B3440"/>
                </a:solidFill>
                <a:latin typeface="Calibri"/>
                <a:ea typeface="Calibri"/>
                <a:cs typeface="Calibri"/>
                <a:sym typeface="Calibri"/>
              </a:rPr>
              <a:t>dụng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kiến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thức</a:t>
            </a:r>
            <a:r>
              <a:rPr lang="en-US" sz="1600" b="0" i="0" u="none" strike="noStrike" cap="none">
                <a:solidFill>
                  <a:srgbClr val="2B3440"/>
                </a:solidFill>
                <a:latin typeface="Calibri"/>
                <a:ea typeface="Calibri"/>
                <a:cs typeface="Calibri"/>
                <a:sym typeface="Calibri"/>
              </a:rPr>
              <a:t> BPM </a:t>
            </a:r>
            <a:r>
              <a:rPr lang="en-US" sz="1600" b="0" i="0" u="none" strike="noStrike" cap="none" err="1">
                <a:solidFill>
                  <a:srgbClr val="2B3440"/>
                </a:solidFill>
                <a:latin typeface="Calibri"/>
                <a:ea typeface="Calibri"/>
                <a:cs typeface="Calibri"/>
                <a:sym typeface="Calibri"/>
              </a:rPr>
              <a:t>vào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hoạt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động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thực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doanh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Khảo </a:t>
            </a:r>
            <a:r>
              <a:rPr lang="en-US" sz="1600" b="0" i="0" u="none" strike="noStrike" cap="none" err="1">
                <a:solidFill>
                  <a:srgbClr val="2B3440"/>
                </a:solidFill>
                <a:latin typeface="Calibri"/>
                <a:ea typeface="Calibri"/>
                <a:cs typeface="Calibri"/>
                <a:sym typeface="Calibri"/>
              </a:rPr>
              <a:t>sát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xây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dựng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kiến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trúc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vụ</a:t>
            </a:r>
            <a:r>
              <a:rPr lang="en-US" sz="1600" b="0" i="0" u="none" strike="noStrike" cap="none">
                <a:solidFill>
                  <a:srgbClr val="2B3440"/>
                </a:solidFill>
                <a:latin typeface="Calibri"/>
                <a:ea typeface="Calibri"/>
                <a:cs typeface="Calibri"/>
                <a:sym typeface="Calibri"/>
              </a:rPr>
              <a:t> (Process Landscape)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Solventum</a:t>
            </a:r>
            <a:r>
              <a:rPr lang="en-US" sz="1600" b="0" i="0" u="none" strike="noStrike" cap="none">
                <a:solidFill>
                  <a:srgbClr val="2B3440"/>
                </a:solidFill>
                <a:latin typeface="Calibri"/>
                <a:ea typeface="Calibri"/>
                <a:cs typeface="Calibri"/>
                <a:sym typeface="Calibri"/>
              </a:rPr>
              <a:t> Việt Nam.</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Mô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hiện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trạng</a:t>
            </a:r>
            <a:r>
              <a:rPr lang="en-US" sz="1600" b="0" i="0" u="none" strike="noStrike" cap="none">
                <a:solidFill>
                  <a:srgbClr val="2B3440"/>
                </a:solidFill>
                <a:latin typeface="Calibri"/>
                <a:ea typeface="Calibri"/>
                <a:cs typeface="Calibri"/>
                <a:sym typeface="Calibri"/>
              </a:rPr>
              <a:t> (As-Is) </a:t>
            </a:r>
            <a:r>
              <a:rPr lang="en-US" sz="1600" b="0" i="0" u="none" strike="noStrike" cap="none" err="1">
                <a:solidFill>
                  <a:srgbClr val="2B3440"/>
                </a:solidFill>
                <a:latin typeface="Calibri"/>
                <a:ea typeface="Calibri"/>
                <a:cs typeface="Calibri"/>
                <a:sym typeface="Calibri"/>
              </a:rPr>
              <a:t>các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tiêu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biểu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bằng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chuẩn</a:t>
            </a:r>
            <a:r>
              <a:rPr lang="en-US" sz="1600" b="0" i="0" u="none" strike="noStrike" cap="none">
                <a:solidFill>
                  <a:srgbClr val="2B3440"/>
                </a:solidFill>
                <a:latin typeface="Calibri"/>
                <a:ea typeface="Calibri"/>
                <a:cs typeface="Calibri"/>
                <a:sym typeface="Calibri"/>
              </a:rPr>
              <a:t> BPMN 2.0.</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Lựa </a:t>
            </a:r>
            <a:r>
              <a:rPr lang="en-US" sz="1600" b="0" i="0" u="none" strike="noStrike" cap="none" err="1">
                <a:solidFill>
                  <a:srgbClr val="2B3440"/>
                </a:solidFill>
                <a:latin typeface="Calibri"/>
                <a:ea typeface="Calibri"/>
                <a:cs typeface="Calibri"/>
                <a:sym typeface="Calibri"/>
              </a:rPr>
              <a:t>chọn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trọng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tâm</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để</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chuyên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sâu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về</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giá</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trị</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tăng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lãng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phí</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thời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gian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chi </a:t>
            </a:r>
            <a:r>
              <a:rPr lang="en-US" sz="1600" b="0" i="0" u="none" strike="noStrike" cap="none" err="1">
                <a:solidFill>
                  <a:srgbClr val="2B3440"/>
                </a:solidFill>
                <a:latin typeface="Calibri"/>
                <a:ea typeface="Calibri"/>
                <a:cs typeface="Calibri"/>
                <a:sym typeface="Calibri"/>
              </a:rPr>
              <a:t>phí</a:t>
            </a:r>
            <a:r>
              <a:rPr lang="en-US" sz="1600" b="0" i="0" u="none" strike="noStrike" cap="none">
                <a:solidFill>
                  <a:srgbClr val="2B3440"/>
                </a:solidFill>
                <a:latin typeface="Calibri"/>
                <a:ea typeface="Calibri"/>
                <a:cs typeface="Calibri"/>
                <a:sym typeface="Calibri"/>
              </a:rPr>
              <a:t>.</a:t>
            </a:r>
            <a:endParaRPr sz="1600"/>
          </a:p>
          <a:p>
            <a:pPr marL="285750" marR="0" lvl="0" indent="-285750" algn="l" rtl="0">
              <a:lnSpc>
                <a:spcPct val="125000"/>
              </a:lnSpc>
              <a:spcBef>
                <a:spcPts val="1100"/>
              </a:spcBef>
              <a:spcAft>
                <a:spcPts val="0"/>
              </a:spcAft>
              <a:buFont typeface="Arial" panose="020B0604020202020204" pitchFamily="34" charset="0"/>
              <a:buChar char="•"/>
            </a:pPr>
            <a:r>
              <a:rPr lang="en-US" sz="1600" b="0" i="0" u="none" strike="noStrike" cap="none">
                <a:solidFill>
                  <a:srgbClr val="2B3440"/>
                </a:solidFill>
                <a:latin typeface="Calibri"/>
                <a:ea typeface="Calibri"/>
                <a:cs typeface="Calibri"/>
                <a:sym typeface="Calibri"/>
              </a:rPr>
              <a:t>Đề </a:t>
            </a:r>
            <a:r>
              <a:rPr lang="en-US" sz="1600" b="0" i="0" u="none" strike="noStrike" cap="none" err="1">
                <a:solidFill>
                  <a:srgbClr val="2B3440"/>
                </a:solidFill>
                <a:latin typeface="Calibri"/>
                <a:ea typeface="Calibri"/>
                <a:cs typeface="Calibri"/>
                <a:sym typeface="Calibri"/>
              </a:rPr>
              <a:t>xuất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giải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pháp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nâng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cao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hiệu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quả</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vận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hành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chuẩn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a:t>
            </a:r>
            <a:endParaRPr sz="1600"/>
          </a:p>
        </p:txBody>
      </p:sp>
      <p:sp>
        <p:nvSpPr>
          <p:cNvPr id="265" name="Google Shape;265;p19"/>
          <p:cNvSpPr/>
          <p:nvPr/>
        </p:nvSpPr>
        <p:spPr>
          <a:xfrm>
            <a:off x="6272783" y="1572768"/>
            <a:ext cx="5257800" cy="2075688"/>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6" name="Google Shape;266;p19"/>
          <p:cNvSpPr/>
          <p:nvPr/>
        </p:nvSpPr>
        <p:spPr>
          <a:xfrm>
            <a:off x="6272783" y="1572768"/>
            <a:ext cx="525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67" name="Google Shape;267;p19"/>
          <p:cNvSpPr txBox="1"/>
          <p:nvPr/>
        </p:nvSpPr>
        <p:spPr>
          <a:xfrm>
            <a:off x="6547104" y="17922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   TRONG PHẠM VI</a:t>
            </a:r>
            <a:endParaRPr sz="1600"/>
          </a:p>
        </p:txBody>
      </p:sp>
      <p:sp>
        <p:nvSpPr>
          <p:cNvPr id="268" name="Google Shape;268;p19"/>
          <p:cNvSpPr txBox="1"/>
          <p:nvPr/>
        </p:nvSpPr>
        <p:spPr>
          <a:xfrm>
            <a:off x="6434869" y="2176272"/>
            <a:ext cx="5166476" cy="1080745"/>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ở </a:t>
            </a:r>
            <a:r>
              <a:rPr lang="en-US" sz="1600" b="0" i="0" u="none" strike="noStrike" cap="none" err="1">
                <a:solidFill>
                  <a:srgbClr val="2B3440"/>
                </a:solidFill>
                <a:latin typeface="Calibri"/>
                <a:ea typeface="Calibri"/>
                <a:cs typeface="Calibri"/>
                <a:sym typeface="Calibri"/>
              </a:rPr>
              <a:t>góc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độ</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quản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lý</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vụ</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Khảo</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sát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thực</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kết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hợp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tài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liệu</a:t>
            </a:r>
            <a:r>
              <a:rPr lang="en-US" sz="1600" b="0" i="0" u="none" strike="noStrike" cap="none">
                <a:solidFill>
                  <a:srgbClr val="2B3440"/>
                </a:solidFill>
                <a:latin typeface="Calibri"/>
                <a:ea typeface="Calibri"/>
                <a:cs typeface="Calibri"/>
                <a:sym typeface="Calibri"/>
              </a:rPr>
              <a:t> SOP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tài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liệu</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Mô</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BPMN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phân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tích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định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tính</a:t>
            </a:r>
            <a:r>
              <a:rPr lang="en-US" sz="1600" b="0" i="0" u="none" strike="noStrike" cap="none">
                <a:solidFill>
                  <a:srgbClr val="2B3440"/>
                </a:solidFill>
                <a:latin typeface="Calibri"/>
                <a:ea typeface="Calibri"/>
                <a:cs typeface="Calibri"/>
                <a:sym typeface="Calibri"/>
              </a:rPr>
              <a:t> – </a:t>
            </a:r>
            <a:r>
              <a:rPr lang="en-US" sz="1600" b="0" i="0" u="none" strike="noStrike" cap="none" err="1">
                <a:solidFill>
                  <a:srgbClr val="2B3440"/>
                </a:solidFill>
                <a:latin typeface="Calibri"/>
                <a:ea typeface="Calibri"/>
                <a:cs typeface="Calibri"/>
                <a:sym typeface="Calibri"/>
              </a:rPr>
              <a:t>định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lượng</a:t>
            </a:r>
            <a:r>
              <a:rPr lang="en-US" sz="1600" b="0" i="0" u="none" strike="noStrike" cap="none">
                <a:solidFill>
                  <a:srgbClr val="2B3440"/>
                </a:solidFill>
                <a:latin typeface="Calibri"/>
                <a:ea typeface="Calibri"/>
                <a:cs typeface="Calibri"/>
                <a:sym typeface="Calibri"/>
              </a:rPr>
              <a:t>.</a:t>
            </a:r>
            <a:endParaRPr sz="1600"/>
          </a:p>
        </p:txBody>
      </p:sp>
      <p:sp>
        <p:nvSpPr>
          <p:cNvPr id="269" name="Google Shape;269;p19"/>
          <p:cNvSpPr/>
          <p:nvPr/>
        </p:nvSpPr>
        <p:spPr>
          <a:xfrm>
            <a:off x="6272783" y="3844067"/>
            <a:ext cx="5257800" cy="2123161"/>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70" name="Google Shape;270;p19"/>
          <p:cNvSpPr/>
          <p:nvPr/>
        </p:nvSpPr>
        <p:spPr>
          <a:xfrm>
            <a:off x="6272783" y="3844068"/>
            <a:ext cx="525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271" name="Google Shape;271;p19"/>
          <p:cNvSpPr txBox="1"/>
          <p:nvPr/>
        </p:nvSpPr>
        <p:spPr>
          <a:xfrm>
            <a:off x="6547104" y="4063524"/>
            <a:ext cx="475488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   NGOÀI PHẠM VI</a:t>
            </a:r>
            <a:endParaRPr sz="1600"/>
          </a:p>
        </p:txBody>
      </p:sp>
      <p:sp>
        <p:nvSpPr>
          <p:cNvPr id="272" name="Google Shape;272;p19"/>
          <p:cNvSpPr txBox="1"/>
          <p:nvPr/>
        </p:nvSpPr>
        <p:spPr>
          <a:xfrm>
            <a:off x="6453851" y="4445819"/>
            <a:ext cx="5166476" cy="1080745"/>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Thiết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kế</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và</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phát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triển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phần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mềm</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Triển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khai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kỹ</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thuật</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ERP/CRM </a:t>
            </a:r>
            <a:r>
              <a:rPr lang="en-US" sz="1600" b="0" i="0" u="none" strike="noStrike" cap="none" err="1">
                <a:solidFill>
                  <a:srgbClr val="2B3440"/>
                </a:solidFill>
                <a:latin typeface="Calibri"/>
                <a:ea typeface="Calibri"/>
                <a:cs typeface="Calibri"/>
                <a:sym typeface="Calibri"/>
              </a:rPr>
              <a:t>tại</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doanh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nghiệp</a:t>
            </a:r>
            <a:r>
              <a:rPr lang="en-US" sz="1600" b="0" i="0" u="none" strike="noStrike" cap="none">
                <a:solidFill>
                  <a:srgbClr val="2B3440"/>
                </a:solidFill>
                <a:latin typeface="Calibri"/>
                <a:ea typeface="Calibri"/>
                <a:cs typeface="Calibri"/>
                <a:sym typeface="Calibri"/>
              </a:rPr>
              <a:t>.</a:t>
            </a:r>
            <a:endParaRPr sz="1600"/>
          </a:p>
          <a:p>
            <a:pPr marL="0" marR="0" lvl="0" indent="0" algn="l" rtl="0">
              <a:lnSpc>
                <a:spcPct val="122000"/>
              </a:lnSpc>
              <a:spcBef>
                <a:spcPts val="700"/>
              </a:spcBef>
              <a:spcAft>
                <a:spcPts val="0"/>
              </a:spcAft>
              <a:buNone/>
            </a:pP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Mô</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hóa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toàn</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bộ</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hệ</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thống</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quy</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trình</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của</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tập</a:t>
            </a:r>
            <a:r>
              <a:rPr lang="en-US" sz="1600" b="0" i="0" u="none" strike="noStrike" cap="none">
                <a:solidFill>
                  <a:srgbClr val="2B3440"/>
                </a:solidFill>
                <a:latin typeface="Calibri"/>
                <a:ea typeface="Calibri"/>
                <a:cs typeface="Calibri"/>
                <a:sym typeface="Calibri"/>
              </a:rPr>
              <a:t> </a:t>
            </a:r>
            <a:r>
              <a:rPr lang="en-US" sz="1600" b="0" i="0" u="none" strike="noStrike" cap="none" err="1">
                <a:solidFill>
                  <a:srgbClr val="2B3440"/>
                </a:solidFill>
                <a:latin typeface="Calibri"/>
                <a:ea typeface="Calibri"/>
                <a:cs typeface="Calibri"/>
                <a:sym typeface="Calibri"/>
              </a:rPr>
              <a:t>đoàn</a:t>
            </a:r>
            <a:r>
              <a:rPr lang="en-US" sz="1600" b="0" i="0" u="none" strike="noStrike" cap="none">
                <a:solidFill>
                  <a:srgbClr val="2B3440"/>
                </a:solidFill>
                <a:latin typeface="Calibri"/>
                <a:ea typeface="Calibri"/>
                <a:cs typeface="Calibri"/>
                <a:sym typeface="Calibri"/>
              </a:rPr>
              <a:t>.</a:t>
            </a:r>
            <a:endParaRPr sz="1600"/>
          </a:p>
        </p:txBody>
      </p:sp>
      <p:sp>
        <p:nvSpPr>
          <p:cNvPr id="2" name="Footer Placeholder 1">
            <a:extLst>
              <a:ext uri="{FF2B5EF4-FFF2-40B4-BE49-F238E27FC236}">
                <a16:creationId xmlns:a16="http://schemas.microsoft.com/office/drawing/2014/main" id="{00717FB2-93DC-C02C-DA30-71771B514F9A}"/>
              </a:ext>
            </a:extLst>
          </p:cNvPr>
          <p:cNvSpPr>
            <a:spLocks noGrp="1"/>
          </p:cNvSpPr>
          <p:nvPr>
            <p:ph type="ftr" idx="11"/>
          </p:nvPr>
        </p:nvSpPr>
        <p:spPr>
          <a:xfrm>
            <a:off x="658368" y="6356350"/>
            <a:ext cx="477012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BF71DF82-9227-C793-98C7-FA097839EB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p:cNvGrpSpPr/>
        <p:nvPr/>
      </p:nvGrpSpPr>
      <p:grpSpPr>
        <a:xfrm>
          <a:off x="0" y="0"/>
          <a:ext cx="0" cy="0"/>
          <a:chOff x="0" y="0"/>
          <a:chExt cx="0" cy="0"/>
        </a:xfrm>
      </p:grpSpPr>
      <p:sp>
        <p:nvSpPr>
          <p:cNvPr id="277" name="Google Shape;277;p20"/>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8" name="Google Shape;278;p20"/>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9" name="Google Shape;279;p20"/>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5000" b="1" i="0" u="none" strike="noStrike" cap="none">
                <a:solidFill>
                  <a:srgbClr val="E7F7F3"/>
                </a:solidFill>
                <a:latin typeface="Calibri"/>
                <a:ea typeface="Calibri"/>
                <a:cs typeface="Calibri"/>
                <a:sym typeface="Calibri"/>
              </a:rPr>
              <a:t>02</a:t>
            </a:r>
            <a:endParaRPr>
              <a:solidFill>
                <a:srgbClr val="E7F7F3"/>
              </a:solidFill>
            </a:endParaRPr>
          </a:p>
        </p:txBody>
      </p:sp>
      <p:sp>
        <p:nvSpPr>
          <p:cNvPr id="280" name="Google Shape;280;p20"/>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C2A8"/>
                </a:solidFill>
                <a:latin typeface="Calibri"/>
                <a:ea typeface="Calibri"/>
                <a:cs typeface="Calibri"/>
                <a:sym typeface="Calibri"/>
              </a:rPr>
              <a:t>PHẦN 2 · PROCESS LANDSCAPE</a:t>
            </a:r>
            <a:endParaRPr sz="2400"/>
          </a:p>
        </p:txBody>
      </p:sp>
      <p:sp>
        <p:nvSpPr>
          <p:cNvPr id="281" name="Google Shape;281;p20"/>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rtl="0">
              <a:lnSpc>
                <a:spcPct val="106000"/>
              </a:lnSpc>
              <a:spcBef>
                <a:spcPts val="0"/>
              </a:spcBef>
              <a:spcAft>
                <a:spcPts val="0"/>
              </a:spcAft>
              <a:buNone/>
            </a:pPr>
            <a:r>
              <a:rPr lang="en-US" sz="4400" b="1" i="0" u="none" strike="noStrike" cap="none">
                <a:solidFill>
                  <a:srgbClr val="FFFFFF"/>
                </a:solidFill>
                <a:latin typeface="Calibri"/>
                <a:ea typeface="Calibri"/>
                <a:cs typeface="Calibri"/>
                <a:sym typeface="Calibri"/>
              </a:rPr>
              <a:t>Khảo sát hệ thống quy trình nghiệp vụ</a:t>
            </a:r>
            <a:endParaRPr sz="2000"/>
          </a:p>
        </p:txBody>
      </p:sp>
      <p:sp>
        <p:nvSpPr>
          <p:cNvPr id="282" name="Google Shape;282;p20"/>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3" name="Google Shape;283;p20"/>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0" i="0" u="none" strike="noStrike" cap="none">
                <a:solidFill>
                  <a:srgbClr val="B6C9D8"/>
                </a:solidFill>
                <a:latin typeface="Calibri"/>
                <a:ea typeface="Calibri"/>
                <a:cs typeface="Calibri"/>
                <a:sym typeface="Calibri"/>
              </a:rPr>
              <a:t>Kiến trúc quy trình ba nhóm  ·  Danh mục 10 quy trình tiêu biểu  ·  Khung mô tả quy trình</a:t>
            </a:r>
            <a:endParaRPr sz="2400" b="0" i="0" u="none" strike="noStrike" cap="none">
              <a:solidFill>
                <a:srgbClr val="B6C9D8"/>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7B90A4C4-D7E3-E750-4A94-5F22796FA8F9}"/>
              </a:ext>
            </a:extLst>
          </p:cNvPr>
          <p:cNvSpPr>
            <a:spLocks noGrp="1"/>
          </p:cNvSpPr>
          <p:nvPr>
            <p:ph type="ftr" idx="11"/>
          </p:nvPr>
        </p:nvSpPr>
        <p:spPr>
          <a:xfrm>
            <a:off x="502920" y="6342027"/>
            <a:ext cx="531876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B063E4F-2AF3-3A7D-F2B4-28640319D2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1"/>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2 · BUSINESS ARCHITECTURE</a:t>
            </a:r>
            <a:endParaRPr/>
          </a:p>
        </p:txBody>
      </p:sp>
      <p:sp>
        <p:nvSpPr>
          <p:cNvPr id="291" name="Google Shape;291;p21"/>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KIẾN TRÚC QUY TRÌNH NGHIỆP VỤ</a:t>
            </a:r>
            <a:endParaRPr/>
          </a:p>
        </p:txBody>
      </p:sp>
      <p:sp>
        <p:nvSpPr>
          <p:cNvPr id="292" name="Google Shape;292;p2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3" name="Google Shape;293;p2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8" name="Google Shape;308;p21"/>
          <p:cNvSpPr txBox="1"/>
          <p:nvPr/>
        </p:nvSpPr>
        <p:spPr>
          <a:xfrm>
            <a:off x="9026963" y="2755434"/>
            <a:ext cx="1584960" cy="3462486"/>
          </a:xfrm>
          <a:prstGeom prst="rect">
            <a:avLst/>
          </a:prstGeom>
          <a:noFill/>
          <a:ln>
            <a:noFill/>
          </a:ln>
        </p:spPr>
        <p:txBody>
          <a:bodyPr spcFirstLastPara="1" wrap="square" lIns="0" tIns="0" rIns="0" bIns="0" anchor="t" anchorCtr="0">
            <a:spAutoFit/>
          </a:bodyPr>
          <a:lstStyle/>
          <a:p>
            <a:pPr marL="0" marR="0" lvl="0" indent="0" algn="l" rtl="0">
              <a:lnSpc>
                <a:spcPct val="250000"/>
              </a:lnSpc>
              <a:spcBef>
                <a:spcPts val="0"/>
              </a:spcBef>
              <a:spcAft>
                <a:spcPts val="0"/>
              </a:spcAft>
              <a:buNone/>
            </a:pPr>
            <a:r>
              <a:rPr lang="en-US" sz="1800" b="1" i="1" u="none" strike="noStrike" cap="none">
                <a:solidFill>
                  <a:schemeClr val="accent5">
                    <a:lumMod val="50000"/>
                  </a:schemeClr>
                </a:solidFill>
                <a:latin typeface="Calibri"/>
                <a:ea typeface="Calibri"/>
                <a:cs typeface="Calibri"/>
                <a:sym typeface="Calibri"/>
              </a:rPr>
              <a:t>“Ba nhóm hỗ trợ và bổ trợ lẫn nhau trong một dòng chảy giá trị thống nhất.”</a:t>
            </a:r>
            <a:endParaRPr sz="1800" i="1">
              <a:solidFill>
                <a:schemeClr val="accent5">
                  <a:lumMod val="50000"/>
                </a:schemeClr>
              </a:solidFill>
            </a:endParaRPr>
          </a:p>
        </p:txBody>
      </p:sp>
      <p:pic>
        <p:nvPicPr>
          <p:cNvPr id="3" name="Picture 2">
            <a:extLst>
              <a:ext uri="{FF2B5EF4-FFF2-40B4-BE49-F238E27FC236}">
                <a16:creationId xmlns:a16="http://schemas.microsoft.com/office/drawing/2014/main" id="{1CE94A3B-B53B-C5A9-C5B7-41EEF65A7484}"/>
              </a:ext>
            </a:extLst>
          </p:cNvPr>
          <p:cNvPicPr>
            <a:picLocks noChangeAspect="1"/>
          </p:cNvPicPr>
          <p:nvPr/>
        </p:nvPicPr>
        <p:blipFill>
          <a:blip r:embed="rId3"/>
          <a:srcRect t="265"/>
          <a:stretch>
            <a:fillRect/>
          </a:stretch>
        </p:blipFill>
        <p:spPr>
          <a:xfrm>
            <a:off x="549819" y="1357883"/>
            <a:ext cx="8309701" cy="5123797"/>
          </a:xfrm>
          <a:prstGeom prst="rect">
            <a:avLst/>
          </a:prstGeom>
        </p:spPr>
      </p:pic>
      <p:sp>
        <p:nvSpPr>
          <p:cNvPr id="4" name="Footer Placeholder 3">
            <a:extLst>
              <a:ext uri="{FF2B5EF4-FFF2-40B4-BE49-F238E27FC236}">
                <a16:creationId xmlns:a16="http://schemas.microsoft.com/office/drawing/2014/main" id="{3A4BE638-8DEB-2F71-1DCF-1FECFB89BBA2}"/>
              </a:ext>
            </a:extLst>
          </p:cNvPr>
          <p:cNvSpPr>
            <a:spLocks noGrp="1"/>
          </p:cNvSpPr>
          <p:nvPr>
            <p:ph type="ftr" idx="11"/>
          </p:nvPr>
        </p:nvSpPr>
        <p:spPr>
          <a:xfrm>
            <a:off x="658368" y="6401117"/>
            <a:ext cx="5003800" cy="365125"/>
          </a:xfrm>
        </p:spPr>
        <p:txBody>
          <a:bodyPr/>
          <a:lstStyle/>
          <a:p>
            <a:pPr algn="l"/>
            <a:r>
              <a:rPr lang="en-US"/>
              <a:t>HỆ THỐNG QUẢN TRỊ QUY TRÌNH NGHIỆP VỤ  ·  SOLVENTUM VIỆT NAM</a:t>
            </a:r>
          </a:p>
        </p:txBody>
      </p:sp>
      <p:sp>
        <p:nvSpPr>
          <p:cNvPr id="5" name="Slide Number Placeholder 4">
            <a:extLst>
              <a:ext uri="{FF2B5EF4-FFF2-40B4-BE49-F238E27FC236}">
                <a16:creationId xmlns:a16="http://schemas.microsoft.com/office/drawing/2014/main" id="{08D4FCC4-0039-D938-1278-A97AA0045A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2"/>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2 · KHẢO SÁT QUY TRÌNH</a:t>
            </a:r>
            <a:endParaRPr/>
          </a:p>
        </p:txBody>
      </p:sp>
      <p:sp>
        <p:nvSpPr>
          <p:cNvPr id="315" name="Google Shape;315;p22"/>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DANH MỤC 10 QUY TRÌNH NGHIỆP VỤ TIÊU BIỂU</a:t>
            </a:r>
            <a:endParaRPr/>
          </a:p>
        </p:txBody>
      </p:sp>
      <p:sp>
        <p:nvSpPr>
          <p:cNvPr id="316" name="Google Shape;316;p2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7" name="Google Shape;317;p2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8" name="Google Shape;318;p22"/>
          <p:cNvSpPr txBox="1"/>
          <p:nvPr/>
        </p:nvSpPr>
        <p:spPr>
          <a:xfrm>
            <a:off x="658368" y="1371600"/>
            <a:ext cx="10874959" cy="290529"/>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600" b="0" i="1" u="none" strike="noStrike" cap="none">
                <a:solidFill>
                  <a:srgbClr val="6B7784"/>
                </a:solidFill>
                <a:latin typeface="Calibri"/>
                <a:ea typeface="Calibri"/>
                <a:cs typeface="Calibri"/>
                <a:sym typeface="Calibri"/>
              </a:rPr>
              <a:t>Bảng 2.1 — Danh mục các quy trình nghiệp vụ tại Solventum Việt Nam  ·  Mã quy trình do nhóm đặt để tiện tham chiếu</a:t>
            </a:r>
            <a:endParaRPr sz="1600" b="0" i="1" u="none" strike="noStrike" cap="none">
              <a:solidFill>
                <a:srgbClr val="6B7784"/>
              </a:solidFill>
              <a:latin typeface="Calibri"/>
              <a:ea typeface="Calibri"/>
              <a:cs typeface="Calibri"/>
              <a:sym typeface="Calibri"/>
            </a:endParaRPr>
          </a:p>
        </p:txBody>
      </p:sp>
      <p:graphicFrame>
        <p:nvGraphicFramePr>
          <p:cNvPr id="321" name="Google Shape;321;p22"/>
          <p:cNvGraphicFramePr/>
          <p:nvPr>
            <p:extLst>
              <p:ext uri="{D42A27DB-BD31-4B8C-83A1-F6EECF244321}">
                <p14:modId xmlns:p14="http://schemas.microsoft.com/office/powerpoint/2010/main" val="3579866016"/>
              </p:ext>
            </p:extLst>
          </p:nvPr>
        </p:nvGraphicFramePr>
        <p:xfrm>
          <a:off x="658368" y="1792224"/>
          <a:ext cx="10984993" cy="4425698"/>
        </p:xfrm>
        <a:graphic>
          <a:graphicData uri="http://schemas.openxmlformats.org/drawingml/2006/table">
            <a:tbl>
              <a:tblPr firstRow="1">
                <a:noFill/>
                <a:tableStyleId>{65267F91-CA84-436A-A840-DCCC5366F6D9}</a:tableStyleId>
              </a:tblPr>
              <a:tblGrid>
                <a:gridCol w="759815">
                  <a:extLst>
                    <a:ext uri="{9D8B030D-6E8A-4147-A177-3AD203B41FA5}">
                      <a16:colId xmlns:a16="http://schemas.microsoft.com/office/drawing/2014/main" val="20000"/>
                    </a:ext>
                  </a:extLst>
                </a:gridCol>
                <a:gridCol w="1343585">
                  <a:extLst>
                    <a:ext uri="{9D8B030D-6E8A-4147-A177-3AD203B41FA5}">
                      <a16:colId xmlns:a16="http://schemas.microsoft.com/office/drawing/2014/main" val="20001"/>
                    </a:ext>
                  </a:extLst>
                </a:gridCol>
                <a:gridCol w="3752791">
                  <a:extLst>
                    <a:ext uri="{9D8B030D-6E8A-4147-A177-3AD203B41FA5}">
                      <a16:colId xmlns:a16="http://schemas.microsoft.com/office/drawing/2014/main" val="20002"/>
                    </a:ext>
                  </a:extLst>
                </a:gridCol>
                <a:gridCol w="2825595">
                  <a:extLst>
                    <a:ext uri="{9D8B030D-6E8A-4147-A177-3AD203B41FA5}">
                      <a16:colId xmlns:a16="http://schemas.microsoft.com/office/drawing/2014/main" val="20003"/>
                    </a:ext>
                  </a:extLst>
                </a:gridCol>
                <a:gridCol w="2303207">
                  <a:extLst>
                    <a:ext uri="{9D8B030D-6E8A-4147-A177-3AD203B41FA5}">
                      <a16:colId xmlns:a16="http://schemas.microsoft.com/office/drawing/2014/main" val="20004"/>
                    </a:ext>
                  </a:extLst>
                </a:gridCol>
              </a:tblGrid>
              <a:tr h="440285">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MÃ</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NHÓM</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QUY TRÌNH NGHIỆP VỤ</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THUẬT NGỮ TIẾNG ANH</a:t>
                      </a:r>
                      <a:endParaRPr/>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PROCESS OWNER</a:t>
                      </a:r>
                      <a:endParaRPr/>
                    </a:p>
                  </a:txBody>
                  <a:tcPr marL="100575" marR="73150" marT="41150" marB="41150" anchor="ctr">
                    <a:solidFill>
                      <a:srgbClr val="0A2540"/>
                    </a:solidFill>
                  </a:tcPr>
                </a:tc>
                <a:extLst>
                  <a:ext uri="{0D108BD9-81ED-4DB2-BD59-A6C34878D82A}">
                    <a16:rowId xmlns:a16="http://schemas.microsoft.com/office/drawing/2014/main" val="10000"/>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M01</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Hoạch định và triển khai chiến lược kinh doanh</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Business Planning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Country Management</a:t>
                      </a:r>
                      <a:endParaRPr/>
                    </a:p>
                  </a:txBody>
                  <a:tcPr marL="100575" marR="73150" marT="41150" marB="41150" anchor="ctr">
                    <a:solidFill>
                      <a:srgbClr val="FFFFFF"/>
                    </a:solidFill>
                  </a:tcPr>
                </a:tc>
                <a:extLst>
                  <a:ext uri="{0D108BD9-81ED-4DB2-BD59-A6C34878D82A}">
                    <a16:rowId xmlns:a16="http://schemas.microsoft.com/office/drawing/2014/main" val="10001"/>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M02</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khiếu nại khách hàng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Customer Complaint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Quality / CIR</a:t>
                      </a:r>
                      <a:endParaRPr/>
                    </a:p>
                  </a:txBody>
                  <a:tcPr marL="100575" marR="73150" marT="41150" marB="41150" anchor="ctr">
                    <a:solidFill>
                      <a:srgbClr val="F4F7FA"/>
                    </a:solidFill>
                  </a:tcPr>
                </a:tc>
                <a:extLst>
                  <a:ext uri="{0D108BD9-81ED-4DB2-BD59-A6C34878D82A}">
                    <a16:rowId xmlns:a16="http://schemas.microsoft.com/office/drawing/2014/main" val="10002"/>
                  </a:ext>
                </a:extLst>
              </a:tr>
              <a:tr h="59760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M03</a:t>
                      </a:r>
                      <a:endParaRPr/>
                    </a:p>
                  </a:txBody>
                  <a:tcPr marL="100575" marR="73150" marT="41150" marB="41150" anchor="ctr">
                    <a:solidFill>
                      <a:srgbClr val="E9F3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pháp lý và tuân thủ</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Regulatory Affairs &amp; Compliance 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Regulatory Affairs (RA)</a:t>
                      </a:r>
                      <a:endParaRPr/>
                    </a:p>
                  </a:txBody>
                  <a:tcPr marL="100575" marR="73150" marT="41150" marB="41150" anchor="ctr">
                    <a:solidFill>
                      <a:srgbClr val="FFFFFF"/>
                    </a:solidFill>
                  </a:tcPr>
                </a:tc>
                <a:extLst>
                  <a:ext uri="{0D108BD9-81ED-4DB2-BD59-A6C34878D82A}">
                    <a16:rowId xmlns:a16="http://schemas.microsoft.com/office/drawing/2014/main" val="10003"/>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C01</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khách hàng và đối tác kinh doanh</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Business Partner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Sales</a:t>
                      </a:r>
                      <a:endParaRPr/>
                    </a:p>
                  </a:txBody>
                  <a:tcPr marL="100575" marR="73150" marT="41150" marB="41150" anchor="ctr">
                    <a:solidFill>
                      <a:srgbClr val="F4F7FA"/>
                    </a:solidFill>
                  </a:tcPr>
                </a:tc>
                <a:extLst>
                  <a:ext uri="{0D108BD9-81ED-4DB2-BD59-A6C34878D82A}">
                    <a16:rowId xmlns:a16="http://schemas.microsoft.com/office/drawing/2014/main" val="10004"/>
                  </a:ext>
                </a:extLst>
              </a:tr>
              <a:tr h="368799">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C02</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đơn hàng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Order Management (Order-to-Cash)</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Customer Service / Sales Ops</a:t>
                      </a:r>
                      <a:endParaRPr/>
                    </a:p>
                  </a:txBody>
                  <a:tcPr marL="100575" marR="73150" marT="41150" marB="41150" anchor="ctr">
                    <a:solidFill>
                      <a:srgbClr val="FFFFFF"/>
                    </a:solidFill>
                  </a:tcPr>
                </a:tc>
                <a:extLst>
                  <a:ext uri="{0D108BD9-81ED-4DB2-BD59-A6C34878D82A}">
                    <a16:rowId xmlns:a16="http://schemas.microsoft.com/office/drawing/2014/main" val="10005"/>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0A2540"/>
                          </a:solidFill>
                          <a:latin typeface="Calibri"/>
                          <a:ea typeface="Calibri"/>
                          <a:cs typeface="Calibri"/>
                          <a:sym typeface="Calibri"/>
                        </a:rPr>
                        <a:t>C03</a:t>
                      </a:r>
                      <a:endParaRPr/>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Core</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dịch vụ và sửa chữa</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Service Order Management</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Technical Service</a:t>
                      </a:r>
                      <a:endParaRPr/>
                    </a:p>
                  </a:txBody>
                  <a:tcPr marL="100575" marR="73150" marT="41150" marB="41150" anchor="ctr">
                    <a:solidFill>
                      <a:srgbClr val="F4F7FA"/>
                    </a:solidFill>
                  </a:tcPr>
                </a:tc>
                <a:extLst>
                  <a:ext uri="{0D108BD9-81ED-4DB2-BD59-A6C34878D82A}">
                    <a16:rowId xmlns:a16="http://schemas.microsoft.com/office/drawing/2014/main" val="10006"/>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S01</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mua hàng và cung ứng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Procurement Management</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Supply Chain</a:t>
                      </a:r>
                      <a:endParaRPr/>
                    </a:p>
                  </a:txBody>
                  <a:tcPr marL="100575" marR="73150" marT="41150" marB="41150" anchor="ctr">
                    <a:solidFill>
                      <a:srgbClr val="FFFFFF"/>
                    </a:solidFill>
                  </a:tcPr>
                </a:tc>
                <a:extLst>
                  <a:ext uri="{0D108BD9-81ED-4DB2-BD59-A6C34878D82A}">
                    <a16:rowId xmlns:a16="http://schemas.microsoft.com/office/drawing/2014/main" val="10007"/>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S02</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nhập kho</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Inbound Processing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 / Logistics</a:t>
                      </a:r>
                      <a:endParaRPr/>
                    </a:p>
                  </a:txBody>
                  <a:tcPr marL="100575" marR="73150" marT="41150" marB="41150" anchor="ctr">
                    <a:solidFill>
                      <a:srgbClr val="F4F7FA"/>
                    </a:solidFill>
                  </a:tcPr>
                </a:tc>
                <a:extLst>
                  <a:ext uri="{0D108BD9-81ED-4DB2-BD59-A6C34878D82A}">
                    <a16:rowId xmlns:a16="http://schemas.microsoft.com/office/drawing/2014/main" val="10008"/>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S03</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xuất kho</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Outbound Processing</a:t>
                      </a:r>
                      <a:endParaRPr/>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 / Logistics</a:t>
                      </a:r>
                      <a:endParaRPr/>
                    </a:p>
                  </a:txBody>
                  <a:tcPr marL="100575" marR="73150" marT="41150" marB="41150" anchor="ctr">
                    <a:solidFill>
                      <a:srgbClr val="FFFFFF"/>
                    </a:solidFill>
                  </a:tcPr>
                </a:tc>
                <a:extLst>
                  <a:ext uri="{0D108BD9-81ED-4DB2-BD59-A6C34878D82A}">
                    <a16:rowId xmlns:a16="http://schemas.microsoft.com/office/drawing/2014/main" val="10009"/>
                  </a:ext>
                </a:extLst>
              </a:tr>
              <a:tr h="377376">
                <a:tc>
                  <a:txBody>
                    <a:bodyPr/>
                    <a:lstStyle/>
                    <a:p>
                      <a:pPr marL="0" marR="0" lvl="0" indent="0" algn="ctr"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S04</a:t>
                      </a:r>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Supporting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Quản lý loại bỏ hàng hóa</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Scrapping Processing</a:t>
                      </a:r>
                      <a:endParaRPr/>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0" u="none" strike="noStrike" cap="none">
                          <a:solidFill>
                            <a:srgbClr val="2B3440"/>
                          </a:solidFill>
                          <a:latin typeface="Calibri"/>
                          <a:ea typeface="Calibri"/>
                          <a:cs typeface="Calibri"/>
                          <a:sym typeface="Calibri"/>
                        </a:rPr>
                        <a:t>Warehouse</a:t>
                      </a:r>
                      <a:endParaRPr/>
                    </a:p>
                  </a:txBody>
                  <a:tcPr marL="100575" marR="73150" marT="41150" marB="41150" anchor="ctr">
                    <a:solidFill>
                      <a:srgbClr val="F4F7FA"/>
                    </a:solidFill>
                  </a:tcPr>
                </a:tc>
                <a:extLst>
                  <a:ext uri="{0D108BD9-81ED-4DB2-BD59-A6C34878D82A}">
                    <a16:rowId xmlns:a16="http://schemas.microsoft.com/office/drawing/2014/main" val="10010"/>
                  </a:ext>
                </a:extLst>
              </a:tr>
            </a:tbl>
          </a:graphicData>
        </a:graphic>
      </p:graphicFrame>
      <p:sp>
        <p:nvSpPr>
          <p:cNvPr id="2" name="Footer Placeholder 1">
            <a:extLst>
              <a:ext uri="{FF2B5EF4-FFF2-40B4-BE49-F238E27FC236}">
                <a16:creationId xmlns:a16="http://schemas.microsoft.com/office/drawing/2014/main" id="{2EEFE132-B147-A0DA-C625-205845A4D170}"/>
              </a:ext>
            </a:extLst>
          </p:cNvPr>
          <p:cNvSpPr>
            <a:spLocks noGrp="1"/>
          </p:cNvSpPr>
          <p:nvPr>
            <p:ph type="ftr" idx="11"/>
          </p:nvPr>
        </p:nvSpPr>
        <p:spPr>
          <a:xfrm>
            <a:off x="658368" y="6356350"/>
            <a:ext cx="470916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2C1ED0E-CEEE-4632-3A7E-F483A63E01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2635B5AB-0B4D-4B7C-C51D-F1BC8D5D2C16}"/>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52A4FB82-97AA-620C-BFCA-4517EE4D491D}"/>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CDD604AC-3D9B-C901-2C9E-726FB635D529}"/>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BF73C0DE-8419-FF15-CAC5-A9B526ECF98E}"/>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lvl="0" algn="ctr">
              <a:lnSpc>
                <a:spcPct val="90000"/>
              </a:lnSpc>
            </a:pPr>
            <a:r>
              <a:rPr lang="en-US" sz="15000" b="1">
                <a:solidFill>
                  <a:srgbClr val="E7F7F3"/>
                </a:solidFill>
                <a:latin typeface="Calibri"/>
                <a:ea typeface="Calibri"/>
                <a:cs typeface="Calibri"/>
                <a:sym typeface="Calibri"/>
              </a:rPr>
              <a:t>03</a:t>
            </a:r>
            <a:endParaRPr lang="en-US" sz="9600">
              <a:solidFill>
                <a:srgbClr val="E7F7F3"/>
              </a:solidFill>
            </a:endParaRPr>
          </a:p>
        </p:txBody>
      </p:sp>
      <p:sp>
        <p:nvSpPr>
          <p:cNvPr id="280" name="Google Shape;280;p20">
            <a:extLst>
              <a:ext uri="{FF2B5EF4-FFF2-40B4-BE49-F238E27FC236}">
                <a16:creationId xmlns:a16="http://schemas.microsoft.com/office/drawing/2014/main" id="{FBD614FE-3E35-374A-437D-A757A6F842A6}"/>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lvl="0"/>
            <a:r>
              <a:rPr lang="en-US" sz="2400" b="1">
                <a:solidFill>
                  <a:srgbClr val="00C2A8"/>
                </a:solidFill>
                <a:latin typeface="Calibri"/>
                <a:ea typeface="Calibri"/>
                <a:cs typeface="Calibri"/>
                <a:sym typeface="Calibri"/>
              </a:rPr>
              <a:t>PHẦN 3 · MODELLING &amp; SELECTION</a:t>
            </a:r>
            <a:endParaRPr lang="en-US" sz="2400"/>
          </a:p>
        </p:txBody>
      </p:sp>
      <p:sp>
        <p:nvSpPr>
          <p:cNvPr id="281" name="Google Shape;281;p20">
            <a:extLst>
              <a:ext uri="{FF2B5EF4-FFF2-40B4-BE49-F238E27FC236}">
                <a16:creationId xmlns:a16="http://schemas.microsoft.com/office/drawing/2014/main" id="{9ADEB928-89D5-FAFA-8CEC-09277D83E59C}"/>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lvl="0">
              <a:lnSpc>
                <a:spcPct val="106000"/>
              </a:lnSpc>
            </a:pPr>
            <a:r>
              <a:rPr lang="en-US" sz="4400" b="1">
                <a:solidFill>
                  <a:srgbClr val="FFFFFF"/>
                </a:solidFill>
                <a:latin typeface="Calibri"/>
                <a:ea typeface="Calibri"/>
                <a:cs typeface="Calibri"/>
                <a:sym typeface="Calibri"/>
              </a:rPr>
              <a:t>Mô hình hóa và lựa chọn quy trình</a:t>
            </a:r>
            <a:endParaRPr lang="en-US" sz="4400"/>
          </a:p>
        </p:txBody>
      </p:sp>
      <p:sp>
        <p:nvSpPr>
          <p:cNvPr id="282" name="Google Shape;282;p20">
            <a:extLst>
              <a:ext uri="{FF2B5EF4-FFF2-40B4-BE49-F238E27FC236}">
                <a16:creationId xmlns:a16="http://schemas.microsoft.com/office/drawing/2014/main" id="{35F4C06D-E561-2703-BAFD-E8F04E36D9E8}"/>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C02FDEF8-8173-1346-0C64-9F9E6DE6A80B}"/>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lvl="0">
              <a:lnSpc>
                <a:spcPct val="130000"/>
              </a:lnSpc>
            </a:pPr>
            <a:r>
              <a:rPr lang="en-US" sz="2400">
                <a:solidFill>
                  <a:srgbClr val="B6C9D8"/>
                </a:solidFill>
                <a:latin typeface="Calibri"/>
                <a:ea typeface="Calibri"/>
                <a:cs typeface="Calibri"/>
                <a:sym typeface="Calibri"/>
              </a:rPr>
              <a:t>Phạm vi mô hình hóa  ·  06 mô hình BPMN As-Is  ·  Process Discovery  ·  Sàng lọc theo 05 tiêu chí</a:t>
            </a:r>
          </a:p>
        </p:txBody>
      </p:sp>
      <p:sp>
        <p:nvSpPr>
          <p:cNvPr id="2" name="Footer Placeholder 1">
            <a:extLst>
              <a:ext uri="{FF2B5EF4-FFF2-40B4-BE49-F238E27FC236}">
                <a16:creationId xmlns:a16="http://schemas.microsoft.com/office/drawing/2014/main" id="{1AC9EDB0-2A1A-2EB4-5571-D41EC824B47A}"/>
              </a:ext>
            </a:extLst>
          </p:cNvPr>
          <p:cNvSpPr>
            <a:spLocks noGrp="1"/>
          </p:cNvSpPr>
          <p:nvPr>
            <p:ph type="ftr" idx="11"/>
          </p:nvPr>
        </p:nvSpPr>
        <p:spPr>
          <a:xfrm>
            <a:off x="502920" y="6330597"/>
            <a:ext cx="484967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C36DD92-2271-4691-7B3C-069D2E56B4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880726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4"/>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u="none" strike="noStrike" cap="none">
                <a:solidFill>
                  <a:srgbClr val="0096D6"/>
                </a:solidFill>
                <a:latin typeface="Calibri"/>
                <a:ea typeface="Calibri"/>
                <a:cs typeface="Calibri"/>
                <a:sym typeface="Calibri"/>
              </a:rPr>
              <a:t>CHƯƠNG 3 · PHẠM VI MÔ HÌNH HÓA</a:t>
            </a:r>
            <a:endParaRPr/>
          </a:p>
        </p:txBody>
      </p:sp>
      <p:sp>
        <p:nvSpPr>
          <p:cNvPr id="340" name="Google Shape;340;p24"/>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u="none" strike="noStrike" cap="none">
                <a:solidFill>
                  <a:srgbClr val="0A2540"/>
                </a:solidFill>
                <a:latin typeface="Calibri"/>
                <a:ea typeface="Calibri"/>
                <a:cs typeface="Calibri"/>
                <a:sym typeface="Calibri"/>
              </a:rPr>
              <a:t>TỪ 10 QUY TRÌNH SANG 06 QUY TRÌNH MÔ HÌNH HÓA</a:t>
            </a:r>
            <a:endParaRPr/>
          </a:p>
        </p:txBody>
      </p:sp>
      <p:sp>
        <p:nvSpPr>
          <p:cNvPr id="341" name="Google Shape;341;p2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2" name="Google Shape;342;p2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6" name="Google Shape;346;p24"/>
          <p:cNvSpPr/>
          <p:nvPr/>
        </p:nvSpPr>
        <p:spPr>
          <a:xfrm>
            <a:off x="658368" y="1558544"/>
            <a:ext cx="3442106" cy="47548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47" name="Google Shape;347;p24"/>
          <p:cNvSpPr txBox="1"/>
          <p:nvPr/>
        </p:nvSpPr>
        <p:spPr>
          <a:xfrm>
            <a:off x="841247"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FFFFFF"/>
                </a:solidFill>
                <a:latin typeface="Calibri"/>
                <a:ea typeface="Calibri"/>
                <a:cs typeface="Calibri"/>
                <a:sym typeface="Calibri"/>
              </a:rPr>
              <a:t>MANAGEMENT PROCESSES</a:t>
            </a:r>
            <a:endParaRPr sz="1600"/>
          </a:p>
        </p:txBody>
      </p:sp>
      <p:sp>
        <p:nvSpPr>
          <p:cNvPr id="348" name="Google Shape;348;p24"/>
          <p:cNvSpPr/>
          <p:nvPr/>
        </p:nvSpPr>
        <p:spPr>
          <a:xfrm>
            <a:off x="658368"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49" name="Google Shape;349;p24"/>
          <p:cNvSpPr/>
          <p:nvPr/>
        </p:nvSpPr>
        <p:spPr>
          <a:xfrm>
            <a:off x="658368" y="2143760"/>
            <a:ext cx="50292" cy="118465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0" name="Google Shape;350;p24"/>
          <p:cNvSpPr txBox="1"/>
          <p:nvPr/>
        </p:nvSpPr>
        <p:spPr>
          <a:xfrm>
            <a:off x="877824"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M01</a:t>
            </a:r>
            <a:endParaRPr sz="1600"/>
          </a:p>
        </p:txBody>
      </p:sp>
      <p:sp>
        <p:nvSpPr>
          <p:cNvPr id="351" name="Google Shape;351;p24"/>
          <p:cNvSpPr txBox="1"/>
          <p:nvPr/>
        </p:nvSpPr>
        <p:spPr>
          <a:xfrm>
            <a:off x="877824" y="2527808"/>
            <a:ext cx="3039770" cy="541687"/>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Hoạch định và triển khai chiến lược kinh doanh</a:t>
            </a:r>
            <a:endParaRPr sz="1600"/>
          </a:p>
        </p:txBody>
      </p:sp>
      <p:sp>
        <p:nvSpPr>
          <p:cNvPr id="352" name="Google Shape;352;p24"/>
          <p:cNvSpPr txBox="1"/>
          <p:nvPr/>
        </p:nvSpPr>
        <p:spPr>
          <a:xfrm>
            <a:off x="884682" y="3046969"/>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Business Planning</a:t>
            </a:r>
            <a:endParaRPr sz="1600"/>
          </a:p>
        </p:txBody>
      </p:sp>
      <p:sp>
        <p:nvSpPr>
          <p:cNvPr id="353" name="Google Shape;353;p24"/>
          <p:cNvSpPr/>
          <p:nvPr/>
        </p:nvSpPr>
        <p:spPr>
          <a:xfrm>
            <a:off x="658368" y="3529584"/>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4" name="Google Shape;354;p24"/>
          <p:cNvSpPr/>
          <p:nvPr/>
        </p:nvSpPr>
        <p:spPr>
          <a:xfrm>
            <a:off x="658368" y="3529584"/>
            <a:ext cx="50292" cy="118465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5" name="Google Shape;355;p24"/>
          <p:cNvSpPr txBox="1"/>
          <p:nvPr/>
        </p:nvSpPr>
        <p:spPr>
          <a:xfrm>
            <a:off x="877824"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M02</a:t>
            </a:r>
            <a:endParaRPr sz="1600"/>
          </a:p>
        </p:txBody>
      </p:sp>
      <p:sp>
        <p:nvSpPr>
          <p:cNvPr id="356" name="Google Shape;356;p24"/>
          <p:cNvSpPr txBox="1"/>
          <p:nvPr/>
        </p:nvSpPr>
        <p:spPr>
          <a:xfrm>
            <a:off x="877824"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khiếu nại khách hàng</a:t>
            </a:r>
            <a:endParaRPr sz="1600"/>
          </a:p>
        </p:txBody>
      </p:sp>
      <p:sp>
        <p:nvSpPr>
          <p:cNvPr id="357" name="Google Shape;357;p24"/>
          <p:cNvSpPr txBox="1"/>
          <p:nvPr/>
        </p:nvSpPr>
        <p:spPr>
          <a:xfrm>
            <a:off x="877824"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Customer Complaint Management</a:t>
            </a:r>
            <a:endParaRPr sz="1600"/>
          </a:p>
        </p:txBody>
      </p:sp>
      <p:sp>
        <p:nvSpPr>
          <p:cNvPr id="358" name="Google Shape;358;p24"/>
          <p:cNvSpPr/>
          <p:nvPr/>
        </p:nvSpPr>
        <p:spPr>
          <a:xfrm>
            <a:off x="658368"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59" name="Google Shape;359;p24"/>
          <p:cNvSpPr txBox="1"/>
          <p:nvPr/>
        </p:nvSpPr>
        <p:spPr>
          <a:xfrm>
            <a:off x="859536" y="4976782"/>
            <a:ext cx="3240938"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sz="1600"/>
          </a:p>
          <a:p>
            <a:pPr marL="0" marR="0" lvl="0" indent="0" algn="l" rtl="0">
              <a:lnSpc>
                <a:spcPct val="122000"/>
              </a:lnSpc>
              <a:spcBef>
                <a:spcPts val="500"/>
              </a:spcBef>
              <a:spcAft>
                <a:spcPts val="0"/>
              </a:spcAft>
              <a:buNone/>
            </a:pPr>
            <a:r>
              <a:rPr lang="vi-VN" sz="1600" b="0" i="0" u="none" strike="noStrike" cap="none">
                <a:solidFill>
                  <a:srgbClr val="2B3440"/>
                </a:solidFill>
                <a:latin typeface="Calibri"/>
                <a:ea typeface="Calibri"/>
                <a:cs typeface="Calibri"/>
                <a:sym typeface="Calibri"/>
              </a:rPr>
              <a:t>Đại diện cho hoạch định và kiểm soát: từ định hướng kinh doanh đến quản lý phản hồi và chất lượng.</a:t>
            </a:r>
            <a:endParaRPr sz="1600"/>
          </a:p>
        </p:txBody>
      </p:sp>
      <p:sp>
        <p:nvSpPr>
          <p:cNvPr id="360" name="Google Shape;360;p24"/>
          <p:cNvSpPr/>
          <p:nvPr/>
        </p:nvSpPr>
        <p:spPr>
          <a:xfrm>
            <a:off x="4374794" y="1558544"/>
            <a:ext cx="3442106" cy="47548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1" name="Google Shape;361;p24"/>
          <p:cNvSpPr txBox="1"/>
          <p:nvPr/>
        </p:nvSpPr>
        <p:spPr>
          <a:xfrm>
            <a:off x="4557674"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FFFFFF"/>
                </a:solidFill>
                <a:latin typeface="Calibri"/>
                <a:ea typeface="Calibri"/>
                <a:cs typeface="Calibri"/>
                <a:sym typeface="Calibri"/>
              </a:rPr>
              <a:t>CORE BUSINESS PROCESSES</a:t>
            </a:r>
            <a:endParaRPr sz="1600"/>
          </a:p>
        </p:txBody>
      </p:sp>
      <p:sp>
        <p:nvSpPr>
          <p:cNvPr id="362" name="Google Shape;362;p24"/>
          <p:cNvSpPr/>
          <p:nvPr/>
        </p:nvSpPr>
        <p:spPr>
          <a:xfrm>
            <a:off x="4374794"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3" name="Google Shape;363;p24"/>
          <p:cNvSpPr/>
          <p:nvPr/>
        </p:nvSpPr>
        <p:spPr>
          <a:xfrm>
            <a:off x="4374794" y="2143760"/>
            <a:ext cx="50292" cy="118465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4" name="Google Shape;364;p24"/>
          <p:cNvSpPr txBox="1"/>
          <p:nvPr/>
        </p:nvSpPr>
        <p:spPr>
          <a:xfrm>
            <a:off x="4594250"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C02</a:t>
            </a:r>
            <a:endParaRPr sz="1600"/>
          </a:p>
        </p:txBody>
      </p:sp>
      <p:sp>
        <p:nvSpPr>
          <p:cNvPr id="365" name="Google Shape;365;p24"/>
          <p:cNvSpPr txBox="1"/>
          <p:nvPr/>
        </p:nvSpPr>
        <p:spPr>
          <a:xfrm>
            <a:off x="4594250" y="2527808"/>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đơn hàng</a:t>
            </a:r>
            <a:endParaRPr sz="1600"/>
          </a:p>
        </p:txBody>
      </p:sp>
      <p:sp>
        <p:nvSpPr>
          <p:cNvPr id="366" name="Google Shape;366;p24"/>
          <p:cNvSpPr txBox="1"/>
          <p:nvPr/>
        </p:nvSpPr>
        <p:spPr>
          <a:xfrm>
            <a:off x="4594250" y="2930144"/>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Order Management (Order-to-Cash)</a:t>
            </a:r>
            <a:endParaRPr sz="1600"/>
          </a:p>
        </p:txBody>
      </p:sp>
      <p:sp>
        <p:nvSpPr>
          <p:cNvPr id="367" name="Google Shape;367;p24"/>
          <p:cNvSpPr/>
          <p:nvPr/>
        </p:nvSpPr>
        <p:spPr>
          <a:xfrm>
            <a:off x="4374794" y="3529584"/>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8" name="Google Shape;368;p24"/>
          <p:cNvSpPr/>
          <p:nvPr/>
        </p:nvSpPr>
        <p:spPr>
          <a:xfrm>
            <a:off x="4374794" y="3529584"/>
            <a:ext cx="50292" cy="118465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69" name="Google Shape;369;p24"/>
          <p:cNvSpPr txBox="1"/>
          <p:nvPr/>
        </p:nvSpPr>
        <p:spPr>
          <a:xfrm>
            <a:off x="4594250"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C03</a:t>
            </a:r>
            <a:endParaRPr sz="1600"/>
          </a:p>
        </p:txBody>
      </p:sp>
      <p:sp>
        <p:nvSpPr>
          <p:cNvPr id="370" name="Google Shape;370;p24"/>
          <p:cNvSpPr txBox="1"/>
          <p:nvPr/>
        </p:nvSpPr>
        <p:spPr>
          <a:xfrm>
            <a:off x="4594250"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dịch vụ và sửa chữa</a:t>
            </a:r>
            <a:endParaRPr sz="1600"/>
          </a:p>
        </p:txBody>
      </p:sp>
      <p:sp>
        <p:nvSpPr>
          <p:cNvPr id="371" name="Google Shape;371;p24"/>
          <p:cNvSpPr txBox="1"/>
          <p:nvPr/>
        </p:nvSpPr>
        <p:spPr>
          <a:xfrm>
            <a:off x="4594250"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Service Order Management</a:t>
            </a:r>
            <a:endParaRPr sz="1600"/>
          </a:p>
        </p:txBody>
      </p:sp>
      <p:sp>
        <p:nvSpPr>
          <p:cNvPr id="372" name="Google Shape;372;p24"/>
          <p:cNvSpPr/>
          <p:nvPr/>
        </p:nvSpPr>
        <p:spPr>
          <a:xfrm>
            <a:off x="4374794"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3" name="Google Shape;373;p24"/>
          <p:cNvSpPr txBox="1"/>
          <p:nvPr/>
        </p:nvSpPr>
        <p:spPr>
          <a:xfrm>
            <a:off x="4575962" y="4922516"/>
            <a:ext cx="3240938"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lang="en-US" sz="1600"/>
          </a:p>
          <a:p>
            <a:pPr marL="0" marR="0" lvl="0" indent="0" algn="l" rtl="0">
              <a:lnSpc>
                <a:spcPct val="122000"/>
              </a:lnSpc>
              <a:spcBef>
                <a:spcPts val="500"/>
              </a:spcBef>
              <a:spcAft>
                <a:spcPts val="0"/>
              </a:spcAft>
              <a:buNone/>
            </a:pPr>
            <a:r>
              <a:rPr lang="vi-VN" sz="1600" b="0" i="0" u="none" strike="noStrike" cap="none">
                <a:solidFill>
                  <a:srgbClr val="2B3440"/>
                </a:solidFill>
                <a:latin typeface="Calibri"/>
                <a:ea typeface="Calibri"/>
                <a:cs typeface="Calibri"/>
                <a:sym typeface="Calibri"/>
              </a:rPr>
              <a:t>Đại diện cho chuỗi tạo giá trị trực tiếp cho khách hàng: từ xử lý đơn hàng đến cung cấp dịch vụ sau bán hàng.</a:t>
            </a:r>
            <a:endParaRPr lang="en-US" sz="1600"/>
          </a:p>
        </p:txBody>
      </p:sp>
      <p:sp>
        <p:nvSpPr>
          <p:cNvPr id="374" name="Google Shape;374;p24"/>
          <p:cNvSpPr/>
          <p:nvPr/>
        </p:nvSpPr>
        <p:spPr>
          <a:xfrm>
            <a:off x="8091220" y="1558544"/>
            <a:ext cx="3442106" cy="475488"/>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5" name="Google Shape;375;p24"/>
          <p:cNvSpPr txBox="1"/>
          <p:nvPr/>
        </p:nvSpPr>
        <p:spPr>
          <a:xfrm>
            <a:off x="8274100" y="1673178"/>
            <a:ext cx="307634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SUPPORTING PROCESSES</a:t>
            </a:r>
            <a:endParaRPr sz="1600"/>
          </a:p>
        </p:txBody>
      </p:sp>
      <p:sp>
        <p:nvSpPr>
          <p:cNvPr id="376" name="Google Shape;376;p24"/>
          <p:cNvSpPr/>
          <p:nvPr/>
        </p:nvSpPr>
        <p:spPr>
          <a:xfrm>
            <a:off x="8091220" y="2143760"/>
            <a:ext cx="3442106" cy="1184656"/>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7" name="Google Shape;377;p24"/>
          <p:cNvSpPr/>
          <p:nvPr/>
        </p:nvSpPr>
        <p:spPr>
          <a:xfrm>
            <a:off x="8091220" y="2143760"/>
            <a:ext cx="50292" cy="118465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78" name="Google Shape;378;p24"/>
          <p:cNvSpPr txBox="1"/>
          <p:nvPr/>
        </p:nvSpPr>
        <p:spPr>
          <a:xfrm>
            <a:off x="8310676" y="2271776"/>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S01</a:t>
            </a:r>
            <a:endParaRPr sz="1600"/>
          </a:p>
        </p:txBody>
      </p:sp>
      <p:sp>
        <p:nvSpPr>
          <p:cNvPr id="379" name="Google Shape;379;p24"/>
          <p:cNvSpPr txBox="1"/>
          <p:nvPr/>
        </p:nvSpPr>
        <p:spPr>
          <a:xfrm>
            <a:off x="8310676" y="2527808"/>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mua hàng và cung ứng</a:t>
            </a:r>
            <a:endParaRPr sz="1600"/>
          </a:p>
        </p:txBody>
      </p:sp>
      <p:sp>
        <p:nvSpPr>
          <p:cNvPr id="380" name="Google Shape;380;p24"/>
          <p:cNvSpPr txBox="1"/>
          <p:nvPr/>
        </p:nvSpPr>
        <p:spPr>
          <a:xfrm>
            <a:off x="8310676" y="2930144"/>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Procurement Management</a:t>
            </a:r>
            <a:endParaRPr sz="1600"/>
          </a:p>
        </p:txBody>
      </p:sp>
      <p:sp>
        <p:nvSpPr>
          <p:cNvPr id="381" name="Google Shape;381;p24"/>
          <p:cNvSpPr/>
          <p:nvPr/>
        </p:nvSpPr>
        <p:spPr>
          <a:xfrm>
            <a:off x="8091220" y="3529584"/>
            <a:ext cx="3442106" cy="1169162"/>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2" name="Google Shape;382;p24"/>
          <p:cNvSpPr/>
          <p:nvPr/>
        </p:nvSpPr>
        <p:spPr>
          <a:xfrm>
            <a:off x="8091220" y="3529584"/>
            <a:ext cx="50292" cy="116916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3" name="Google Shape;383;p24"/>
          <p:cNvSpPr txBox="1"/>
          <p:nvPr/>
        </p:nvSpPr>
        <p:spPr>
          <a:xfrm>
            <a:off x="8310676" y="3657600"/>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A2540"/>
                </a:solidFill>
                <a:latin typeface="Calibri"/>
                <a:ea typeface="Calibri"/>
                <a:cs typeface="Calibri"/>
                <a:sym typeface="Calibri"/>
              </a:rPr>
              <a:t>S02</a:t>
            </a:r>
            <a:endParaRPr sz="1600"/>
          </a:p>
        </p:txBody>
      </p:sp>
      <p:sp>
        <p:nvSpPr>
          <p:cNvPr id="384" name="Google Shape;384;p24"/>
          <p:cNvSpPr txBox="1"/>
          <p:nvPr/>
        </p:nvSpPr>
        <p:spPr>
          <a:xfrm>
            <a:off x="8310676" y="3913632"/>
            <a:ext cx="3039770" cy="27084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1600" b="1" i="0" u="none" strike="noStrike" cap="none">
                <a:solidFill>
                  <a:srgbClr val="0A2540"/>
                </a:solidFill>
                <a:latin typeface="Calibri"/>
                <a:ea typeface="Calibri"/>
                <a:cs typeface="Calibri"/>
                <a:sym typeface="Calibri"/>
              </a:rPr>
              <a:t>Quản lý nhập kho</a:t>
            </a:r>
            <a:endParaRPr sz="1600"/>
          </a:p>
        </p:txBody>
      </p:sp>
      <p:sp>
        <p:nvSpPr>
          <p:cNvPr id="385" name="Google Shape;385;p24"/>
          <p:cNvSpPr txBox="1"/>
          <p:nvPr/>
        </p:nvSpPr>
        <p:spPr>
          <a:xfrm>
            <a:off x="8310676" y="4315968"/>
            <a:ext cx="3039770" cy="24622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0" i="1" u="none" strike="noStrike" cap="none">
                <a:solidFill>
                  <a:srgbClr val="6B7784"/>
                </a:solidFill>
                <a:latin typeface="Calibri"/>
                <a:ea typeface="Calibri"/>
                <a:cs typeface="Calibri"/>
                <a:sym typeface="Calibri"/>
              </a:rPr>
              <a:t>Inbound Processing</a:t>
            </a:r>
            <a:endParaRPr sz="1600"/>
          </a:p>
        </p:txBody>
      </p:sp>
      <p:sp>
        <p:nvSpPr>
          <p:cNvPr id="386" name="Google Shape;386;p24"/>
          <p:cNvSpPr/>
          <p:nvPr/>
        </p:nvSpPr>
        <p:spPr>
          <a:xfrm>
            <a:off x="8091220" y="4919472"/>
            <a:ext cx="3442106" cy="143687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387" name="Google Shape;387;p24"/>
          <p:cNvSpPr txBox="1"/>
          <p:nvPr/>
        </p:nvSpPr>
        <p:spPr>
          <a:xfrm>
            <a:off x="8195441" y="4972065"/>
            <a:ext cx="3337885" cy="121155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600" b="1" i="0" u="none" strike="noStrike" cap="none">
                <a:solidFill>
                  <a:srgbClr val="0096D6"/>
                </a:solidFill>
                <a:latin typeface="Calibri"/>
                <a:ea typeface="Calibri"/>
                <a:cs typeface="Calibri"/>
                <a:sym typeface="Calibri"/>
              </a:rPr>
              <a:t>LÝ DO LỰA CHỌN</a:t>
            </a:r>
            <a:endParaRPr sz="1600"/>
          </a:p>
          <a:p>
            <a:pPr marL="0" marR="0" lvl="0" indent="0" algn="l" rtl="0">
              <a:lnSpc>
                <a:spcPct val="122000"/>
              </a:lnSpc>
              <a:spcBef>
                <a:spcPts val="500"/>
              </a:spcBef>
              <a:spcAft>
                <a:spcPts val="0"/>
              </a:spcAft>
              <a:buNone/>
            </a:pPr>
            <a:r>
              <a:rPr lang="en-US" sz="1600" b="0" i="0" u="none" strike="noStrike" cap="none">
                <a:solidFill>
                  <a:srgbClr val="2B3440"/>
                </a:solidFill>
                <a:latin typeface="Calibri"/>
                <a:ea typeface="Calibri"/>
                <a:cs typeface="Calibri"/>
                <a:sym typeface="Calibri"/>
              </a:rPr>
              <a:t>Đại diện cho chuỗi cung ứng hỗ trợ hoạt động kinh doanh: từ mua hàng, cung ứng đến tiếp nhận hàng hóa vào kho.</a:t>
            </a:r>
            <a:endParaRPr sz="1600"/>
          </a:p>
        </p:txBody>
      </p:sp>
      <p:sp>
        <p:nvSpPr>
          <p:cNvPr id="2" name="Footer Placeholder 1">
            <a:extLst>
              <a:ext uri="{FF2B5EF4-FFF2-40B4-BE49-F238E27FC236}">
                <a16:creationId xmlns:a16="http://schemas.microsoft.com/office/drawing/2014/main" id="{85FC6100-A4EE-05EA-5869-4E6EBD25ABBB}"/>
              </a:ext>
            </a:extLst>
          </p:cNvPr>
          <p:cNvSpPr>
            <a:spLocks noGrp="1"/>
          </p:cNvSpPr>
          <p:nvPr>
            <p:ph type="ftr" idx="11"/>
          </p:nvPr>
        </p:nvSpPr>
        <p:spPr>
          <a:xfrm>
            <a:off x="658368" y="6322060"/>
            <a:ext cx="470916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5812B93-69C9-754C-AE90-96AECBFF89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6"/>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6" name="Google Shape;406;p26"/>
          <p:cNvSpPr/>
          <p:nvPr/>
        </p:nvSpPr>
        <p:spPr>
          <a:xfrm>
            <a:off x="0" y="0"/>
            <a:ext cx="182880"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7" name="Google Shape;407;p26"/>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u="none" strike="noStrike" cap="none">
                <a:solidFill>
                  <a:srgbClr val="00C2A8"/>
                </a:solidFill>
                <a:latin typeface="Calibri"/>
                <a:ea typeface="Calibri"/>
                <a:cs typeface="Calibri"/>
                <a:sym typeface="Calibri"/>
              </a:rPr>
              <a:t>CHƯƠNG 3 · MÔ HÌNH HÓA BPMN (AS-IS)  ·  NHÓM QUẢN LÝ</a:t>
            </a:r>
            <a:endParaRPr/>
          </a:p>
        </p:txBody>
      </p:sp>
      <p:sp>
        <p:nvSpPr>
          <p:cNvPr id="408" name="Google Shape;408;p26"/>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Calibri"/>
                <a:ea typeface="Calibri"/>
                <a:cs typeface="Calibri"/>
                <a:sym typeface="Calibri"/>
              </a:rPr>
              <a:t>M02  —  Quản lý khiếu nại khách hàng</a:t>
            </a:r>
            <a:endParaRPr sz="1800"/>
          </a:p>
        </p:txBody>
      </p:sp>
      <p:sp>
        <p:nvSpPr>
          <p:cNvPr id="409" name="Google Shape;409;p26"/>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u="none" strike="noStrike" cap="none">
                <a:solidFill>
                  <a:srgbClr val="00C2A8"/>
                </a:solidFill>
                <a:latin typeface="Calibri"/>
                <a:ea typeface="Calibri"/>
                <a:cs typeface="Calibri"/>
                <a:sym typeface="Calibri"/>
              </a:rPr>
              <a:t>Hình 3.3</a:t>
            </a:r>
            <a:endParaRPr/>
          </a:p>
        </p:txBody>
      </p:sp>
      <p:sp>
        <p:nvSpPr>
          <p:cNvPr id="2" name="Footer Placeholder 1">
            <a:extLst>
              <a:ext uri="{FF2B5EF4-FFF2-40B4-BE49-F238E27FC236}">
                <a16:creationId xmlns:a16="http://schemas.microsoft.com/office/drawing/2014/main" id="{8AFF262D-6AEF-BFBE-6913-341097382FA0}"/>
              </a:ext>
            </a:extLst>
          </p:cNvPr>
          <p:cNvSpPr>
            <a:spLocks noGrp="1"/>
          </p:cNvSpPr>
          <p:nvPr>
            <p:ph type="ftr" idx="11"/>
          </p:nvPr>
        </p:nvSpPr>
        <p:spPr>
          <a:xfrm>
            <a:off x="475488" y="6313050"/>
            <a:ext cx="471211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2640167-D383-24F1-0E12-16981A42D1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Google Shape;265;p19">
            <a:extLst>
              <a:ext uri="{FF2B5EF4-FFF2-40B4-BE49-F238E27FC236}">
                <a16:creationId xmlns:a16="http://schemas.microsoft.com/office/drawing/2014/main" id="{643D77C4-6CAF-4D95-6B46-E549B0125FF6}"/>
              </a:ext>
            </a:extLst>
          </p:cNvPr>
          <p:cNvSpPr/>
          <p:nvPr/>
        </p:nvSpPr>
        <p:spPr>
          <a:xfrm>
            <a:off x="838200" y="1187609"/>
            <a:ext cx="8356600" cy="2075688"/>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E84BEA38-7098-768D-D3A7-500E965238A3}"/>
              </a:ext>
            </a:extLst>
          </p:cNvPr>
          <p:cNvSpPr/>
          <p:nvPr/>
        </p:nvSpPr>
        <p:spPr>
          <a:xfrm>
            <a:off x="838200" y="1187609"/>
            <a:ext cx="83566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0A4E8D68-8536-6829-9C27-7D1FBF4CBB77}"/>
              </a:ext>
            </a:extLst>
          </p:cNvPr>
          <p:cNvSpPr txBox="1"/>
          <p:nvPr/>
        </p:nvSpPr>
        <p:spPr>
          <a:xfrm>
            <a:off x="1112521" y="140706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F8EB8736-136D-DAEB-138F-5AFBB20ED618}"/>
              </a:ext>
            </a:extLst>
          </p:cNvPr>
          <p:cNvSpPr txBox="1"/>
          <p:nvPr/>
        </p:nvSpPr>
        <p:spPr>
          <a:xfrm>
            <a:off x="1542461" y="1783876"/>
            <a:ext cx="7290274"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1" i="0" u="none" strike="noStrike" cap="none">
                <a:solidFill>
                  <a:srgbClr val="2B3440"/>
                </a:solidFill>
                <a:latin typeface="Calibri"/>
                <a:ea typeface="Calibri"/>
                <a:cs typeface="Calibri"/>
                <a:sym typeface="Calibri"/>
              </a:rPr>
              <a:t>Customer:</a:t>
            </a:r>
            <a:r>
              <a:rPr lang="vi-VN" sz="1800" b="0" i="0" u="none" strike="noStrike" cap="none">
                <a:solidFill>
                  <a:srgbClr val="2B3440"/>
                </a:solidFill>
                <a:latin typeface="Calibri"/>
                <a:ea typeface="Calibri"/>
                <a:cs typeface="Calibri"/>
                <a:sym typeface="Calibri"/>
              </a:rPr>
              <a:t> Phát sinh và cung cấp thông tin complaint; bổ sung thông tin khi được yêu cầu và nhận phản hồi liên quan đến quá trình xử lý.</a:t>
            </a:r>
          </a:p>
          <a:p>
            <a:pPr lvl="0">
              <a:lnSpc>
                <a:spcPct val="122000"/>
              </a:lnSpc>
            </a:pPr>
            <a:r>
              <a:rPr lang="en-US" sz="1800">
                <a:solidFill>
                  <a:srgbClr val="2B3440"/>
                </a:solidFill>
                <a:latin typeface="Calibri"/>
                <a:ea typeface="Calibri"/>
                <a:cs typeface="Calibri"/>
                <a:sym typeface="Calibri"/>
              </a:rPr>
              <a:t>•  </a:t>
            </a:r>
            <a:r>
              <a:rPr lang="vi-VN" sz="1800" b="1" i="0" u="none" strike="noStrike" cap="none">
                <a:solidFill>
                  <a:srgbClr val="2B3440"/>
                </a:solidFill>
                <a:latin typeface="Calibri"/>
                <a:ea typeface="Calibri"/>
                <a:cs typeface="Calibri"/>
                <a:sym typeface="Calibri"/>
              </a:rPr>
              <a:t>CIR Team</a:t>
            </a:r>
            <a:r>
              <a:rPr lang="vi-VN" sz="1800" b="0" i="0" u="none" strike="noStrike" cap="none">
                <a:solidFill>
                  <a:srgbClr val="2B3440"/>
                </a:solidFill>
                <a:latin typeface="Calibri"/>
                <a:ea typeface="Calibri"/>
                <a:cs typeface="Calibri"/>
                <a:sym typeface="Calibri"/>
              </a:rPr>
              <a:t>: Tiếp nhận, đánh giá, ghi nhận và xử lý complaint; thu thập thông tin bổ sung, theo dõi quá trình điều tra và hoàn tất complaint.</a:t>
            </a:r>
            <a:endParaRPr sz="1800"/>
          </a:p>
        </p:txBody>
      </p:sp>
      <p:sp>
        <p:nvSpPr>
          <p:cNvPr id="13" name="Google Shape;269;p19">
            <a:extLst>
              <a:ext uri="{FF2B5EF4-FFF2-40B4-BE49-F238E27FC236}">
                <a16:creationId xmlns:a16="http://schemas.microsoft.com/office/drawing/2014/main" id="{07F1F3A5-26CA-50D8-3E20-F52C103FCA31}"/>
              </a:ext>
            </a:extLst>
          </p:cNvPr>
          <p:cNvSpPr/>
          <p:nvPr/>
        </p:nvSpPr>
        <p:spPr>
          <a:xfrm>
            <a:off x="838200" y="3458908"/>
            <a:ext cx="8356600" cy="2123161"/>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5A7D8D0C-F48B-E735-734D-9950D189C95A}"/>
              </a:ext>
            </a:extLst>
          </p:cNvPr>
          <p:cNvSpPr/>
          <p:nvPr/>
        </p:nvSpPr>
        <p:spPr>
          <a:xfrm>
            <a:off x="838200" y="3458909"/>
            <a:ext cx="83566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9B29398F-82E7-1248-DD0D-1210E0F03DB0}"/>
              </a:ext>
            </a:extLst>
          </p:cNvPr>
          <p:cNvSpPr txBox="1"/>
          <p:nvPr/>
        </p:nvSpPr>
        <p:spPr>
          <a:xfrm>
            <a:off x="1112521" y="3678365"/>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983388A0-B2C7-36AF-6F7B-860A7C105A1C}"/>
              </a:ext>
            </a:extLst>
          </p:cNvPr>
          <p:cNvSpPr txBox="1"/>
          <p:nvPr/>
        </p:nvSpPr>
        <p:spPr>
          <a:xfrm>
            <a:off x="1542460" y="4081272"/>
            <a:ext cx="7290275"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Nhu cầu khiếu nại của khách hàng được giải quyết và kết quả xử lý được khách hàng xác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Khiếu nại được Solventum hoàn tất xử lý và ghi nhận kết quả theo quy trình.</a:t>
            </a:r>
            <a:endParaRPr lang="vi-VN" sz="1800" b="0" i="0" u="none" strike="noStrike" cap="none" err="1">
              <a:solidFill>
                <a:srgbClr val="2B344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0BB3D2EE-9774-320B-67D7-C7756369AB63}"/>
            </a:ext>
          </a:extLst>
        </p:cNvPr>
        <p:cNvGrpSpPr/>
        <p:nvPr/>
      </p:nvGrpSpPr>
      <p:grpSpPr>
        <a:xfrm>
          <a:off x="0" y="0"/>
          <a:ext cx="0" cy="0"/>
          <a:chOff x="0" y="0"/>
          <a:chExt cx="0" cy="0"/>
        </a:xfrm>
      </p:grpSpPr>
      <p:sp>
        <p:nvSpPr>
          <p:cNvPr id="405" name="Google Shape;405;p26">
            <a:extLst>
              <a:ext uri="{FF2B5EF4-FFF2-40B4-BE49-F238E27FC236}">
                <a16:creationId xmlns:a16="http://schemas.microsoft.com/office/drawing/2014/main" id="{173D3DB8-28B5-1369-3629-9DEEB813ABA3}"/>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6" name="Google Shape;406;p26">
            <a:extLst>
              <a:ext uri="{FF2B5EF4-FFF2-40B4-BE49-F238E27FC236}">
                <a16:creationId xmlns:a16="http://schemas.microsoft.com/office/drawing/2014/main" id="{42BA7B9C-C4C8-032D-1134-BD74E912056E}"/>
              </a:ext>
            </a:extLst>
          </p:cNvPr>
          <p:cNvSpPr/>
          <p:nvPr/>
        </p:nvSpPr>
        <p:spPr>
          <a:xfrm>
            <a:off x="0" y="0"/>
            <a:ext cx="182880"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7" name="Google Shape;407;p26">
            <a:extLst>
              <a:ext uri="{FF2B5EF4-FFF2-40B4-BE49-F238E27FC236}">
                <a16:creationId xmlns:a16="http://schemas.microsoft.com/office/drawing/2014/main" id="{48D580EC-E864-6D1C-C35B-2F0EA8D551F2}"/>
              </a:ext>
            </a:extLst>
          </p:cNvPr>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u="none" strike="noStrike" cap="none">
                <a:solidFill>
                  <a:srgbClr val="00C2A8"/>
                </a:solidFill>
                <a:latin typeface="Calibri"/>
                <a:ea typeface="Calibri"/>
                <a:cs typeface="Calibri"/>
                <a:sym typeface="Calibri"/>
              </a:rPr>
              <a:t>CHƯƠNG 3 · MÔ HÌNH HÓA BPMN (AS-IS)  ·  NHÓM QUẢN LÝ</a:t>
            </a:r>
            <a:endParaRPr/>
          </a:p>
        </p:txBody>
      </p:sp>
      <p:sp>
        <p:nvSpPr>
          <p:cNvPr id="408" name="Google Shape;408;p26">
            <a:extLst>
              <a:ext uri="{FF2B5EF4-FFF2-40B4-BE49-F238E27FC236}">
                <a16:creationId xmlns:a16="http://schemas.microsoft.com/office/drawing/2014/main" id="{6F390D13-D33B-297B-8E4C-490B587AE455}"/>
              </a:ext>
            </a:extLst>
          </p:cNvPr>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u="none" strike="noStrike" cap="none">
                <a:solidFill>
                  <a:srgbClr val="FFFFFF"/>
                </a:solidFill>
                <a:latin typeface="Calibri"/>
                <a:ea typeface="Calibri"/>
                <a:cs typeface="Calibri"/>
                <a:sym typeface="Calibri"/>
              </a:rPr>
              <a:t>M02  —  Quản lý khiếu nại khách hàng</a:t>
            </a:r>
            <a:endParaRPr/>
          </a:p>
        </p:txBody>
      </p:sp>
      <p:sp>
        <p:nvSpPr>
          <p:cNvPr id="409" name="Google Shape;409;p26">
            <a:extLst>
              <a:ext uri="{FF2B5EF4-FFF2-40B4-BE49-F238E27FC236}">
                <a16:creationId xmlns:a16="http://schemas.microsoft.com/office/drawing/2014/main" id="{8789A897-1D8B-4759-BB63-F60AF6B5B986}"/>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u="none" strike="noStrike" cap="none">
                <a:solidFill>
                  <a:srgbClr val="00C2A8"/>
                </a:solidFill>
                <a:latin typeface="Calibri"/>
                <a:ea typeface="Calibri"/>
                <a:cs typeface="Calibri"/>
                <a:sym typeface="Calibri"/>
              </a:rPr>
              <a:t>Hình 3.3</a:t>
            </a:r>
            <a:endParaRPr/>
          </a:p>
        </p:txBody>
      </p:sp>
      <p:sp>
        <p:nvSpPr>
          <p:cNvPr id="412" name="Google Shape;412;p26">
            <a:extLst>
              <a:ext uri="{FF2B5EF4-FFF2-40B4-BE49-F238E27FC236}">
                <a16:creationId xmlns:a16="http://schemas.microsoft.com/office/drawing/2014/main" id="{C6024651-A9A8-AB32-6A07-EB6D28D123BE}"/>
              </a:ext>
            </a:extLst>
          </p:cNvPr>
          <p:cNvSpPr/>
          <p:nvPr/>
        </p:nvSpPr>
        <p:spPr>
          <a:xfrm>
            <a:off x="2842671" y="6413063"/>
            <a:ext cx="6877235"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1" u="none" strike="noStrike" cap="none">
                <a:solidFill>
                  <a:schemeClr val="dk1"/>
                </a:solidFill>
                <a:latin typeface="Calibri"/>
                <a:ea typeface="Calibri"/>
                <a:cs typeface="Calibri"/>
                <a:sym typeface="Calibri"/>
              </a:rPr>
              <a:t>Hình 3.3. Mô hình BPMN Quản lý khiếu nại khách hàng – Customer Complaint Management</a:t>
            </a:r>
            <a:endParaRPr sz="1400">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12C9AC0F-C8BB-B80B-DFAC-E60A913FB1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5E12A792-B861-5584-46DC-54E00F2BEC2E}"/>
              </a:ext>
            </a:extLst>
          </p:cNvPr>
          <p:cNvPicPr>
            <a:picLocks noChangeAspect="1"/>
          </p:cNvPicPr>
          <p:nvPr/>
        </p:nvPicPr>
        <p:blipFill>
          <a:blip r:embed="rId3"/>
          <a:stretch>
            <a:fillRect/>
          </a:stretch>
        </p:blipFill>
        <p:spPr>
          <a:xfrm>
            <a:off x="246658" y="879094"/>
            <a:ext cx="11591381" cy="5567426"/>
          </a:xfrm>
          <a:prstGeom prst="rect">
            <a:avLst/>
          </a:prstGeom>
        </p:spPr>
      </p:pic>
    </p:spTree>
    <p:extLst>
      <p:ext uri="{BB962C8B-B14F-4D97-AF65-F5344CB8AC3E}">
        <p14:creationId xmlns:p14="http://schemas.microsoft.com/office/powerpoint/2010/main" val="1590722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2" name="Google Shape;432;p28"/>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CỐT LÕI</a:t>
            </a:r>
            <a:endParaRPr/>
          </a:p>
        </p:txBody>
      </p:sp>
      <p:sp>
        <p:nvSpPr>
          <p:cNvPr id="435" name="Google Shape;435;p28"/>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C03  —  Quản lý dịch vụ và sửa chữa</a:t>
            </a:r>
            <a:endParaRPr sz="1800"/>
          </a:p>
        </p:txBody>
      </p:sp>
      <p:sp>
        <p:nvSpPr>
          <p:cNvPr id="436" name="Google Shape;436;p28"/>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2" name="Footer Placeholder 1">
            <a:extLst>
              <a:ext uri="{FF2B5EF4-FFF2-40B4-BE49-F238E27FC236}">
                <a16:creationId xmlns:a16="http://schemas.microsoft.com/office/drawing/2014/main" id="{802F1FDE-90F8-0B8E-6EFB-A8184DC7E6A3}"/>
              </a:ext>
            </a:extLst>
          </p:cNvPr>
          <p:cNvSpPr>
            <a:spLocks noGrp="1"/>
          </p:cNvSpPr>
          <p:nvPr>
            <p:ph type="ftr" idx="11"/>
          </p:nvPr>
        </p:nvSpPr>
        <p:spPr>
          <a:xfrm>
            <a:off x="259080" y="5928995"/>
            <a:ext cx="48006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3CF1F0F-7121-7D4D-795C-A8DFBD9F3991}"/>
              </a:ext>
            </a:extLst>
          </p:cNvPr>
          <p:cNvSpPr>
            <a:spLocks noGrp="1"/>
          </p:cNvSpPr>
          <p:nvPr>
            <p:ph type="sldNum" idx="12"/>
          </p:nvPr>
        </p:nvSpPr>
        <p:spPr>
          <a:xfrm>
            <a:off x="8031480" y="5929630"/>
            <a:ext cx="2743200" cy="365125"/>
          </a:xfrm>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Google Shape;265;p19">
            <a:extLst>
              <a:ext uri="{FF2B5EF4-FFF2-40B4-BE49-F238E27FC236}">
                <a16:creationId xmlns:a16="http://schemas.microsoft.com/office/drawing/2014/main" id="{4C7C4643-2325-465B-7CD3-5BC675EE1390}"/>
              </a:ext>
            </a:extLst>
          </p:cNvPr>
          <p:cNvSpPr/>
          <p:nvPr/>
        </p:nvSpPr>
        <p:spPr>
          <a:xfrm>
            <a:off x="259080" y="1025049"/>
            <a:ext cx="11607800" cy="2883390"/>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25B09407-AE52-62C2-6E36-B4DCEEEB3EFC}"/>
              </a:ext>
            </a:extLst>
          </p:cNvPr>
          <p:cNvSpPr/>
          <p:nvPr/>
        </p:nvSpPr>
        <p:spPr>
          <a:xfrm>
            <a:off x="259080" y="1025049"/>
            <a:ext cx="1160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3FA9055D-5052-B63E-4C9D-21CD821E8D1C}"/>
              </a:ext>
            </a:extLst>
          </p:cNvPr>
          <p:cNvSpPr txBox="1"/>
          <p:nvPr/>
        </p:nvSpPr>
        <p:spPr>
          <a:xfrm>
            <a:off x="325120" y="120314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49D47FDE-1D89-B987-AEA6-06D462CFCA0D}"/>
              </a:ext>
            </a:extLst>
          </p:cNvPr>
          <p:cNvSpPr txBox="1"/>
          <p:nvPr/>
        </p:nvSpPr>
        <p:spPr>
          <a:xfrm>
            <a:off x="475488" y="1621316"/>
            <a:ext cx="11274552" cy="2234330"/>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700" b="0" i="0" u="none" strike="noStrike" cap="none">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Hospital / End User</a:t>
            </a:r>
            <a:r>
              <a:rPr lang="vi-VN" sz="1700" i="0" u="none" strike="noStrike" cap="none">
                <a:solidFill>
                  <a:srgbClr val="2B3440"/>
                </a:solidFill>
                <a:latin typeface="Calibri"/>
                <a:ea typeface="Calibri"/>
                <a:cs typeface="Calibri"/>
                <a:sym typeface="Calibri"/>
              </a:rPr>
              <a:t>: đơn vị trực tiếp sử dụng thiết bị, phát sinh yêu cầu dịch vụ, cung cấp thông tin và xác nhận kết quả thực hiện.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Distributor</a:t>
            </a:r>
            <a:r>
              <a:rPr lang="vi-VN" sz="1700" i="0" u="none" strike="noStrike" cap="none">
                <a:solidFill>
                  <a:srgbClr val="2B3440"/>
                </a:solidFill>
                <a:latin typeface="Calibri"/>
                <a:ea typeface="Calibri"/>
                <a:cs typeface="Calibri"/>
                <a:sym typeface="Calibri"/>
              </a:rPr>
              <a:t>: tiếp nhận hoặc chuyển tiếp yêu cầu trong một số trường hợp và thực hiện các thủ tục thương mại với Hospital/End User đối với dịch vụ có tính phí.</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Service Admin</a:t>
            </a:r>
            <a:r>
              <a:rPr lang="vi-VN" sz="1700" i="0" u="none" strike="noStrike" cap="none">
                <a:solidFill>
                  <a:srgbClr val="2B3440"/>
                </a:solidFill>
                <a:latin typeface="Calibri"/>
                <a:ea typeface="Calibri"/>
                <a:cs typeface="Calibri"/>
                <a:sym typeface="Calibri"/>
              </a:rPr>
              <a:t>: đầu mối tiếp nhận, xác minh, điều phối và theo dõi yêu cầu dịch vụ; thực hiện các nghiệp vụ quản lý Service Order và phối hợp với các bên liên quan.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Service Engineer</a:t>
            </a:r>
            <a:r>
              <a:rPr lang="vi-VN" sz="1700" i="0" u="none" strike="noStrike" cap="none">
                <a:solidFill>
                  <a:srgbClr val="2B3440"/>
                </a:solidFill>
                <a:latin typeface="Calibri"/>
                <a:ea typeface="Calibri"/>
                <a:cs typeface="Calibri"/>
                <a:sym typeface="Calibri"/>
              </a:rPr>
              <a:t>: đánh giá tình trạng thiết bị, hỗ trợ kỹ thuật, kiểm tra, sửa chữa hoặc bảo trì và ghi nhận kết quả thực hiện.</a:t>
            </a:r>
            <a:endParaRPr sz="1700"/>
          </a:p>
        </p:txBody>
      </p:sp>
      <p:sp>
        <p:nvSpPr>
          <p:cNvPr id="13" name="Google Shape;269;p19">
            <a:extLst>
              <a:ext uri="{FF2B5EF4-FFF2-40B4-BE49-F238E27FC236}">
                <a16:creationId xmlns:a16="http://schemas.microsoft.com/office/drawing/2014/main" id="{11B2EB04-CCB8-585F-D5DA-66304BC51090}"/>
              </a:ext>
            </a:extLst>
          </p:cNvPr>
          <p:cNvSpPr/>
          <p:nvPr/>
        </p:nvSpPr>
        <p:spPr>
          <a:xfrm>
            <a:off x="259080" y="4098988"/>
            <a:ext cx="11607800" cy="2621852"/>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9C061EB4-B0EC-A702-8877-AB5B9BC19B33}"/>
              </a:ext>
            </a:extLst>
          </p:cNvPr>
          <p:cNvSpPr/>
          <p:nvPr/>
        </p:nvSpPr>
        <p:spPr>
          <a:xfrm>
            <a:off x="259080" y="4098989"/>
            <a:ext cx="1160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6D0B3469-2E10-5F1F-8DFB-421F9DF9EBFD}"/>
              </a:ext>
            </a:extLst>
          </p:cNvPr>
          <p:cNvSpPr txBox="1"/>
          <p:nvPr/>
        </p:nvSpPr>
        <p:spPr>
          <a:xfrm>
            <a:off x="325120" y="4222747"/>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F9A579DA-32CA-A8D3-73CD-857F770FD235}"/>
              </a:ext>
            </a:extLst>
          </p:cNvPr>
          <p:cNvSpPr txBox="1"/>
          <p:nvPr/>
        </p:nvSpPr>
        <p:spPr>
          <a:xfrm>
            <a:off x="475488" y="4641116"/>
            <a:ext cx="10581132" cy="2027478"/>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Nhu cầu dịch vụ của Hospital/End-user được xử lý và kết quả được xác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của Hospital/End-user bị hủy do báo giá không được chấp thuận.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được Distributor phối hợp xử lý hoàn tất.</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tại Distributor bị hủy sau khi Hospital/End-user từ chối báo giá.</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Service Order được Solventum xử lý hoàn tất và kết quả dịch vụ được ghi nhận.</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dịch vụ tại Solventum bị hủy do báo giá không được chấp thuận. </a:t>
            </a:r>
          </a:p>
        </p:txBody>
      </p:sp>
      <p:sp>
        <p:nvSpPr>
          <p:cNvPr id="21" name="Google Shape;438;p28">
            <a:extLst>
              <a:ext uri="{FF2B5EF4-FFF2-40B4-BE49-F238E27FC236}">
                <a16:creationId xmlns:a16="http://schemas.microsoft.com/office/drawing/2014/main" id="{E11CFE96-5FD5-C90D-AD72-2E9C3772C024}"/>
              </a:ext>
            </a:extLst>
          </p:cNvPr>
          <p:cNvSpPr txBox="1"/>
          <p:nvPr/>
        </p:nvSpPr>
        <p:spPr>
          <a:xfrm>
            <a:off x="10984687" y="6355080"/>
            <a:ext cx="548640" cy="14619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8F18C62B-8B96-1E6B-F74E-5F718775FE03}"/>
            </a:ext>
          </a:extLst>
        </p:cNvPr>
        <p:cNvGrpSpPr/>
        <p:nvPr/>
      </p:nvGrpSpPr>
      <p:grpSpPr>
        <a:xfrm>
          <a:off x="0" y="0"/>
          <a:ext cx="0" cy="0"/>
          <a:chOff x="0" y="0"/>
          <a:chExt cx="0" cy="0"/>
        </a:xfrm>
      </p:grpSpPr>
      <p:sp>
        <p:nvSpPr>
          <p:cNvPr id="432" name="Google Shape;432;p28">
            <a:extLst>
              <a:ext uri="{FF2B5EF4-FFF2-40B4-BE49-F238E27FC236}">
                <a16:creationId xmlns:a16="http://schemas.microsoft.com/office/drawing/2014/main" id="{7B4D1308-A974-126E-37EC-856C27E8B123}"/>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a:extLst>
              <a:ext uri="{FF2B5EF4-FFF2-40B4-BE49-F238E27FC236}">
                <a16:creationId xmlns:a16="http://schemas.microsoft.com/office/drawing/2014/main" id="{6F654CD3-7282-85E5-0B72-97E380AC93B1}"/>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a:extLst>
              <a:ext uri="{FF2B5EF4-FFF2-40B4-BE49-F238E27FC236}">
                <a16:creationId xmlns:a16="http://schemas.microsoft.com/office/drawing/2014/main" id="{696CC65C-7557-0BCF-7930-9F424D734F49}"/>
              </a:ext>
            </a:extLst>
          </p:cNvPr>
          <p:cNvSpPr txBox="1"/>
          <p:nvPr/>
        </p:nvSpPr>
        <p:spPr>
          <a:xfrm>
            <a:off x="475488" y="137160"/>
            <a:ext cx="795527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3.2 MÔ HÌNH HÓA BPMN (AS-IS)  ·  NHÓM CỐT LÕI</a:t>
            </a:r>
            <a:endParaRPr/>
          </a:p>
        </p:txBody>
      </p:sp>
      <p:sp>
        <p:nvSpPr>
          <p:cNvPr id="435" name="Google Shape;435;p28">
            <a:extLst>
              <a:ext uri="{FF2B5EF4-FFF2-40B4-BE49-F238E27FC236}">
                <a16:creationId xmlns:a16="http://schemas.microsoft.com/office/drawing/2014/main" id="{9481596F-BE02-62A0-24CE-4F1BA4A81746}"/>
              </a:ext>
            </a:extLst>
          </p:cNvPr>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C03  —  Quản lý dịch vụ và sửa chữa</a:t>
            </a:r>
            <a:endParaRPr sz="1800"/>
          </a:p>
        </p:txBody>
      </p:sp>
      <p:sp>
        <p:nvSpPr>
          <p:cNvPr id="436" name="Google Shape;436;p28">
            <a:extLst>
              <a:ext uri="{FF2B5EF4-FFF2-40B4-BE49-F238E27FC236}">
                <a16:creationId xmlns:a16="http://schemas.microsoft.com/office/drawing/2014/main" id="{8FA7D48D-85CC-940A-CA82-E7477FA36308}"/>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439" name="Google Shape;439;p28">
            <a:extLst>
              <a:ext uri="{FF2B5EF4-FFF2-40B4-BE49-F238E27FC236}">
                <a16:creationId xmlns:a16="http://schemas.microsoft.com/office/drawing/2014/main" id="{7A74596E-A486-4DC0-1A80-639C9E50A067}"/>
              </a:ext>
            </a:extLst>
          </p:cNvPr>
          <p:cNvSpPr/>
          <p:nvPr/>
        </p:nvSpPr>
        <p:spPr>
          <a:xfrm>
            <a:off x="2577258" y="6446520"/>
            <a:ext cx="6753000" cy="325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3.5. Mô hình BPMN Quản lý dịch vụ và sửa chữa – Service Order Management</a:t>
            </a:r>
            <a:endParaRPr sz="1400" i="1">
              <a:solidFill>
                <a:schemeClr val="dk1"/>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A943CB39-EE54-F4DA-F8AD-B5C214B37ADE}"/>
              </a:ext>
            </a:extLst>
          </p:cNvPr>
          <p:cNvSpPr>
            <a:spLocks noGrp="1"/>
          </p:cNvSpPr>
          <p:nvPr>
            <p:ph type="sldNum" idx="12"/>
          </p:nvPr>
        </p:nvSpPr>
        <p:spPr>
          <a:xfrm>
            <a:off x="9513138" y="6356350"/>
            <a:ext cx="1840662" cy="365125"/>
          </a:xfrm>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Picture 4">
            <a:extLst>
              <a:ext uri="{FF2B5EF4-FFF2-40B4-BE49-F238E27FC236}">
                <a16:creationId xmlns:a16="http://schemas.microsoft.com/office/drawing/2014/main" id="{E6524B55-D568-E940-7D0C-2E4913B89B38}"/>
              </a:ext>
            </a:extLst>
          </p:cNvPr>
          <p:cNvPicPr>
            <a:picLocks noChangeAspect="1"/>
          </p:cNvPicPr>
          <p:nvPr/>
        </p:nvPicPr>
        <p:blipFill>
          <a:blip r:embed="rId3"/>
          <a:stretch>
            <a:fillRect/>
          </a:stretch>
        </p:blipFill>
        <p:spPr>
          <a:xfrm>
            <a:off x="182880" y="859536"/>
            <a:ext cx="11490960" cy="5615973"/>
          </a:xfrm>
          <a:prstGeom prst="rect">
            <a:avLst/>
          </a:prstGeom>
        </p:spPr>
      </p:pic>
    </p:spTree>
    <p:extLst>
      <p:ext uri="{BB962C8B-B14F-4D97-AF65-F5344CB8AC3E}">
        <p14:creationId xmlns:p14="http://schemas.microsoft.com/office/powerpoint/2010/main" val="1246874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B242695C-35E6-CB08-C747-7A0E6FA03653}"/>
            </a:ext>
          </a:extLst>
        </p:cNvPr>
        <p:cNvGrpSpPr/>
        <p:nvPr/>
      </p:nvGrpSpPr>
      <p:grpSpPr>
        <a:xfrm>
          <a:off x="0" y="0"/>
          <a:ext cx="0" cy="0"/>
          <a:chOff x="0" y="0"/>
          <a:chExt cx="0" cy="0"/>
        </a:xfrm>
      </p:grpSpPr>
      <p:sp>
        <p:nvSpPr>
          <p:cNvPr id="432" name="Google Shape;432;p28">
            <a:extLst>
              <a:ext uri="{FF2B5EF4-FFF2-40B4-BE49-F238E27FC236}">
                <a16:creationId xmlns:a16="http://schemas.microsoft.com/office/drawing/2014/main" id="{E97AEC53-A613-5D44-E225-F30F4D7BE287}"/>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p28">
            <a:extLst>
              <a:ext uri="{FF2B5EF4-FFF2-40B4-BE49-F238E27FC236}">
                <a16:creationId xmlns:a16="http://schemas.microsoft.com/office/drawing/2014/main" id="{F4128ADC-ECC9-14DA-DFA1-3AE9A4FBDD16}"/>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4" name="Google Shape;434;p28">
            <a:extLst>
              <a:ext uri="{FF2B5EF4-FFF2-40B4-BE49-F238E27FC236}">
                <a16:creationId xmlns:a16="http://schemas.microsoft.com/office/drawing/2014/main" id="{8A5ECCBB-E252-9A81-553B-E4C7075CA3D5}"/>
              </a:ext>
            </a:extLst>
          </p:cNvPr>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CỐT LÕI</a:t>
            </a:r>
            <a:endParaRPr/>
          </a:p>
        </p:txBody>
      </p:sp>
      <p:sp>
        <p:nvSpPr>
          <p:cNvPr id="436" name="Google Shape;436;p28">
            <a:extLst>
              <a:ext uri="{FF2B5EF4-FFF2-40B4-BE49-F238E27FC236}">
                <a16:creationId xmlns:a16="http://schemas.microsoft.com/office/drawing/2014/main" id="{1E54927E-6190-1692-8A01-8C29B7916389}"/>
              </a:ext>
            </a:extLst>
          </p:cNvPr>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3.5</a:t>
            </a:r>
            <a:endParaRPr/>
          </a:p>
        </p:txBody>
      </p:sp>
      <p:sp>
        <p:nvSpPr>
          <p:cNvPr id="2" name="Footer Placeholder 1">
            <a:extLst>
              <a:ext uri="{FF2B5EF4-FFF2-40B4-BE49-F238E27FC236}">
                <a16:creationId xmlns:a16="http://schemas.microsoft.com/office/drawing/2014/main" id="{E35DACBD-3A0D-DB49-3A58-05143AF03F5F}"/>
              </a:ext>
            </a:extLst>
          </p:cNvPr>
          <p:cNvSpPr>
            <a:spLocks noGrp="1"/>
          </p:cNvSpPr>
          <p:nvPr>
            <p:ph type="ftr" idx="11"/>
          </p:nvPr>
        </p:nvSpPr>
        <p:spPr>
          <a:xfrm>
            <a:off x="259080" y="6355080"/>
            <a:ext cx="48006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21D9DF5-884F-EF86-2BA6-F14205C2916C}"/>
              </a:ext>
            </a:extLst>
          </p:cNvPr>
          <p:cNvSpPr>
            <a:spLocks noGrp="1"/>
          </p:cNvSpPr>
          <p:nvPr>
            <p:ph type="sldNum" idx="12"/>
          </p:nvPr>
        </p:nvSpPr>
        <p:spPr>
          <a:xfrm>
            <a:off x="9123680" y="6410261"/>
            <a:ext cx="2743200" cy="365125"/>
          </a:xfrm>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Google Shape;265;p19">
            <a:extLst>
              <a:ext uri="{FF2B5EF4-FFF2-40B4-BE49-F238E27FC236}">
                <a16:creationId xmlns:a16="http://schemas.microsoft.com/office/drawing/2014/main" id="{6B635F22-D43A-264B-AEED-8323DFDC0831}"/>
              </a:ext>
            </a:extLst>
          </p:cNvPr>
          <p:cNvSpPr/>
          <p:nvPr/>
        </p:nvSpPr>
        <p:spPr>
          <a:xfrm>
            <a:off x="259080" y="1025049"/>
            <a:ext cx="11607800" cy="2883390"/>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7" name="Google Shape;266;p19">
            <a:extLst>
              <a:ext uri="{FF2B5EF4-FFF2-40B4-BE49-F238E27FC236}">
                <a16:creationId xmlns:a16="http://schemas.microsoft.com/office/drawing/2014/main" id="{14E645A5-1B86-8428-19AC-328A4C923FB0}"/>
              </a:ext>
            </a:extLst>
          </p:cNvPr>
          <p:cNvSpPr/>
          <p:nvPr/>
        </p:nvSpPr>
        <p:spPr>
          <a:xfrm>
            <a:off x="259080" y="1025049"/>
            <a:ext cx="11607800"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9" name="Google Shape;267;p19">
            <a:extLst>
              <a:ext uri="{FF2B5EF4-FFF2-40B4-BE49-F238E27FC236}">
                <a16:creationId xmlns:a16="http://schemas.microsoft.com/office/drawing/2014/main" id="{5B86391C-EFC8-F03D-23B3-37495F1650F2}"/>
              </a:ext>
            </a:extLst>
          </p:cNvPr>
          <p:cNvSpPr txBox="1"/>
          <p:nvPr/>
        </p:nvSpPr>
        <p:spPr>
          <a:xfrm>
            <a:off x="325120" y="1203145"/>
            <a:ext cx="4754880"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A2540"/>
                </a:solidFill>
                <a:latin typeface="Calibri"/>
                <a:ea typeface="Calibri"/>
                <a:cs typeface="Calibri"/>
                <a:sym typeface="Calibri"/>
              </a:rPr>
              <a:t>✓   Tác nhân (Actors)</a:t>
            </a:r>
            <a:endParaRPr sz="2000"/>
          </a:p>
        </p:txBody>
      </p:sp>
      <p:sp>
        <p:nvSpPr>
          <p:cNvPr id="11" name="Google Shape;268;p19">
            <a:extLst>
              <a:ext uri="{FF2B5EF4-FFF2-40B4-BE49-F238E27FC236}">
                <a16:creationId xmlns:a16="http://schemas.microsoft.com/office/drawing/2014/main" id="{CAAE5C95-F81E-5A4A-F6AB-1B49DC1B75B2}"/>
              </a:ext>
            </a:extLst>
          </p:cNvPr>
          <p:cNvSpPr txBox="1"/>
          <p:nvPr/>
        </p:nvSpPr>
        <p:spPr>
          <a:xfrm>
            <a:off x="475488" y="1621316"/>
            <a:ext cx="11274552" cy="2234330"/>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700" b="0" i="0" u="none" strike="noStrike" cap="none">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Requester:</a:t>
            </a:r>
            <a:r>
              <a:rPr lang="vi-VN" sz="1700" i="0" u="none" strike="noStrike" cap="none">
                <a:solidFill>
                  <a:srgbClr val="2B3440"/>
                </a:solidFill>
                <a:latin typeface="Calibri"/>
                <a:ea typeface="Calibri"/>
                <a:cs typeface="Calibri"/>
                <a:sym typeface="Calibri"/>
              </a:rPr>
              <a:t> phát sinh nhu cầu, cung cấp thông tin mua sắm và tạo hoặc đề nghị tạo Purchase Requisition.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Approver:</a:t>
            </a:r>
            <a:r>
              <a:rPr lang="vi-VN" sz="1700" i="0" u="none" strike="noStrike" cap="none">
                <a:solidFill>
                  <a:srgbClr val="2B3440"/>
                </a:solidFill>
                <a:latin typeface="Calibri"/>
                <a:ea typeface="Calibri"/>
                <a:cs typeface="Calibri"/>
                <a:sym typeface="Calibri"/>
              </a:rPr>
              <a:t> xem xét và phê duyệt hoặc từ chối Purchase Requisition theo thẩm quyền.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Procurement / Buyer</a:t>
            </a:r>
            <a:r>
              <a:rPr lang="vi-VN" sz="1700" i="0" u="none" strike="noStrike" cap="none">
                <a:solidFill>
                  <a:srgbClr val="2B3440"/>
                </a:solidFill>
                <a:latin typeface="Calibri"/>
                <a:ea typeface="Calibri"/>
                <a:cs typeface="Calibri"/>
                <a:sym typeface="Calibri"/>
              </a:rPr>
              <a:t>: xử lý yêu cầu mua sắm đã được phê duyệt, thực hiện sourcing khi áp dụng, tạo/phát hành Purchase Order và phối hợp với Supplier.</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Supplier</a:t>
            </a:r>
            <a:r>
              <a:rPr lang="vi-VN" sz="1700" i="0" u="none" strike="noStrike" cap="none">
                <a:solidFill>
                  <a:srgbClr val="2B3440"/>
                </a:solidFill>
                <a:latin typeface="Calibri"/>
                <a:ea typeface="Calibri"/>
                <a:cs typeface="Calibri"/>
                <a:sym typeface="Calibri"/>
              </a:rPr>
              <a:t>: tiếp nhận Purchase Order, xác nhận khả năng cung ứng, giao hàng hoặc cung cấp dịch vụ và phát hành hóa đơn.</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Warehouse</a:t>
            </a:r>
            <a:r>
              <a:rPr lang="vi-VN" sz="1700" i="0" u="none" strike="noStrike" cap="none">
                <a:solidFill>
                  <a:srgbClr val="2B3440"/>
                </a:solidFill>
                <a:latin typeface="Calibri"/>
                <a:ea typeface="Calibri"/>
                <a:cs typeface="Calibri"/>
                <a:sym typeface="Calibri"/>
              </a:rPr>
              <a:t>: tiếp nhận và xác nhận hàng hóa hoặc dịch vụ theo phạm vi áp dụng.</a:t>
            </a:r>
          </a:p>
          <a:p>
            <a:pPr lvl="0">
              <a:lnSpc>
                <a:spcPct val="122000"/>
              </a:lnSpc>
            </a:pPr>
            <a:r>
              <a:rPr lang="en-US" sz="1700">
                <a:solidFill>
                  <a:srgbClr val="2B3440"/>
                </a:solidFill>
                <a:latin typeface="Calibri"/>
                <a:ea typeface="Calibri"/>
                <a:cs typeface="Calibri"/>
                <a:sym typeface="Calibri"/>
              </a:rPr>
              <a:t>•  </a:t>
            </a:r>
            <a:r>
              <a:rPr lang="vi-VN" sz="1700" b="1" i="0" u="none" strike="noStrike" cap="none">
                <a:solidFill>
                  <a:srgbClr val="2B3440"/>
                </a:solidFill>
                <a:latin typeface="Calibri"/>
                <a:ea typeface="Calibri"/>
                <a:cs typeface="Calibri"/>
                <a:sym typeface="Calibri"/>
              </a:rPr>
              <a:t>Finance / Accounts Payable</a:t>
            </a:r>
            <a:r>
              <a:rPr lang="vi-VN" sz="1700" i="0" u="none" strike="noStrike" cap="none">
                <a:solidFill>
                  <a:srgbClr val="2B3440"/>
                </a:solidFill>
                <a:latin typeface="Calibri"/>
                <a:ea typeface="Calibri"/>
                <a:cs typeface="Calibri"/>
                <a:sym typeface="Calibri"/>
              </a:rPr>
              <a:t>: tiếp nhận, kiểm tra và đối chiếu hóa đơn, quản lý khoản phải trả và thực hiện thanh toán.</a:t>
            </a:r>
            <a:endParaRPr sz="1700"/>
          </a:p>
        </p:txBody>
      </p:sp>
      <p:sp>
        <p:nvSpPr>
          <p:cNvPr id="13" name="Google Shape;269;p19">
            <a:extLst>
              <a:ext uri="{FF2B5EF4-FFF2-40B4-BE49-F238E27FC236}">
                <a16:creationId xmlns:a16="http://schemas.microsoft.com/office/drawing/2014/main" id="{D7A6CAFE-28FF-074D-07B9-23CC0D18AD16}"/>
              </a:ext>
            </a:extLst>
          </p:cNvPr>
          <p:cNvSpPr/>
          <p:nvPr/>
        </p:nvSpPr>
        <p:spPr>
          <a:xfrm>
            <a:off x="259080" y="4098988"/>
            <a:ext cx="11607800" cy="1662715"/>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5" name="Google Shape;270;p19">
            <a:extLst>
              <a:ext uri="{FF2B5EF4-FFF2-40B4-BE49-F238E27FC236}">
                <a16:creationId xmlns:a16="http://schemas.microsoft.com/office/drawing/2014/main" id="{A9CE7125-BAC6-ACCC-E995-82E7F8FEC14A}"/>
              </a:ext>
            </a:extLst>
          </p:cNvPr>
          <p:cNvSpPr/>
          <p:nvPr/>
        </p:nvSpPr>
        <p:spPr>
          <a:xfrm>
            <a:off x="259080" y="4098989"/>
            <a:ext cx="11607800" cy="50292"/>
          </a:xfrm>
          <a:prstGeom prst="rect">
            <a:avLst/>
          </a:prstGeom>
          <a:solidFill>
            <a:srgbClr val="D92D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lt1"/>
              </a:solidFill>
              <a:latin typeface="Calibri"/>
              <a:ea typeface="Calibri"/>
              <a:cs typeface="Calibri"/>
              <a:sym typeface="Calibri"/>
            </a:endParaRPr>
          </a:p>
        </p:txBody>
      </p:sp>
      <p:sp>
        <p:nvSpPr>
          <p:cNvPr id="17" name="Google Shape;271;p19">
            <a:extLst>
              <a:ext uri="{FF2B5EF4-FFF2-40B4-BE49-F238E27FC236}">
                <a16:creationId xmlns:a16="http://schemas.microsoft.com/office/drawing/2014/main" id="{63DE0FD5-B6B1-A195-1D3E-E558D58A498C}"/>
              </a:ext>
            </a:extLst>
          </p:cNvPr>
          <p:cNvSpPr txBox="1"/>
          <p:nvPr/>
        </p:nvSpPr>
        <p:spPr>
          <a:xfrm>
            <a:off x="325120" y="4222747"/>
            <a:ext cx="4754880" cy="307777"/>
          </a:xfrm>
          <a:prstGeom prst="rect">
            <a:avLst/>
          </a:prstGeom>
          <a:noFill/>
          <a:ln>
            <a:noFill/>
          </a:ln>
        </p:spPr>
        <p:txBody>
          <a:bodyPr spcFirstLastPara="1" wrap="square" lIns="0" tIns="0" rIns="0" bIns="0" anchor="t" anchorCtr="0">
            <a:spAutoFit/>
          </a:bodyPr>
          <a:lstStyle/>
          <a:p>
            <a:pPr lvl="0"/>
            <a:r>
              <a:rPr lang="en-US" sz="2000" b="1">
                <a:solidFill>
                  <a:srgbClr val="0A2540"/>
                </a:solidFill>
                <a:latin typeface="Calibri"/>
                <a:ea typeface="Calibri"/>
                <a:cs typeface="Calibri"/>
                <a:sym typeface="Calibri"/>
              </a:rPr>
              <a:t>✓</a:t>
            </a:r>
            <a:r>
              <a:rPr lang="en-US" sz="2000" b="1" i="0" u="none" strike="noStrike" cap="none">
                <a:solidFill>
                  <a:srgbClr val="0A2540"/>
                </a:solidFill>
                <a:latin typeface="Calibri"/>
                <a:ea typeface="Calibri"/>
                <a:cs typeface="Calibri"/>
                <a:sym typeface="Calibri"/>
              </a:rPr>
              <a:t>   </a:t>
            </a:r>
            <a:r>
              <a:rPr lang="en-US" sz="2000" b="1">
                <a:solidFill>
                  <a:srgbClr val="0A2540"/>
                </a:solidFill>
                <a:latin typeface="Calibri"/>
                <a:ea typeface="Calibri"/>
                <a:cs typeface="Calibri"/>
                <a:sym typeface="Calibri"/>
              </a:rPr>
              <a:t>Kết quả đầu ra (Outcomes)</a:t>
            </a:r>
            <a:endParaRPr sz="2000"/>
          </a:p>
        </p:txBody>
      </p:sp>
      <p:sp>
        <p:nvSpPr>
          <p:cNvPr id="19" name="Google Shape;272;p19">
            <a:extLst>
              <a:ext uri="{FF2B5EF4-FFF2-40B4-BE49-F238E27FC236}">
                <a16:creationId xmlns:a16="http://schemas.microsoft.com/office/drawing/2014/main" id="{018F78FC-CC26-302D-20E9-10B3450EF209}"/>
              </a:ext>
            </a:extLst>
          </p:cNvPr>
          <p:cNvSpPr txBox="1"/>
          <p:nvPr/>
        </p:nvSpPr>
        <p:spPr>
          <a:xfrm>
            <a:off x="475488" y="4641116"/>
            <a:ext cx="10581132" cy="1351652"/>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800" b="0" i="0" u="none" strike="noStrike" cap="none">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Yêu cầu mua hàng của Requester được đóng.</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Quá trình mua hàng và cung ứng của Solventum được hoàn tất.</a:t>
            </a:r>
          </a:p>
          <a:p>
            <a:pPr lvl="0">
              <a:lnSpc>
                <a:spcPct val="122000"/>
              </a:lnSpc>
            </a:pPr>
            <a:r>
              <a:rPr lang="en-US" sz="1800">
                <a:solidFill>
                  <a:srgbClr val="2B3440"/>
                </a:solidFill>
                <a:latin typeface="Calibri"/>
                <a:ea typeface="Calibri"/>
                <a:cs typeface="Calibri"/>
                <a:sym typeface="Calibri"/>
              </a:rPr>
              <a:t>•  </a:t>
            </a:r>
            <a:r>
              <a:rPr lang="vi-VN" sz="1800" b="0" i="0" u="none" strike="noStrike" cap="none">
                <a:solidFill>
                  <a:srgbClr val="2B3440"/>
                </a:solidFill>
                <a:latin typeface="Calibri"/>
                <a:ea typeface="Calibri"/>
                <a:cs typeface="Calibri"/>
                <a:sym typeface="Calibri"/>
              </a:rPr>
              <a:t>Quá trình cung ứng hàng hóa và thanh toán với Supplier được hoàn tất. </a:t>
            </a:r>
          </a:p>
          <a:p>
            <a:pPr lvl="0">
              <a:lnSpc>
                <a:spcPct val="122000"/>
              </a:lnSpc>
            </a:pPr>
            <a:r>
              <a:rPr lang="vi-VN" sz="1800" b="0" i="0" u="none" strike="noStrike" cap="none">
                <a:solidFill>
                  <a:srgbClr val="2B3440"/>
                </a:solidFill>
                <a:latin typeface="Calibri"/>
                <a:ea typeface="Calibri"/>
                <a:cs typeface="Calibri"/>
                <a:sym typeface="Calibri"/>
              </a:rPr>
              <a:t> </a:t>
            </a:r>
          </a:p>
        </p:txBody>
      </p:sp>
      <p:sp>
        <p:nvSpPr>
          <p:cNvPr id="6" name="Google Shape;447;p29">
            <a:extLst>
              <a:ext uri="{FF2B5EF4-FFF2-40B4-BE49-F238E27FC236}">
                <a16:creationId xmlns:a16="http://schemas.microsoft.com/office/drawing/2014/main" id="{84911EC6-4AFC-8E81-B6BE-58EA0D7C73B8}"/>
              </a:ext>
            </a:extLst>
          </p:cNvPr>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S01  —  Quản lý mua hàng và cung ứng</a:t>
            </a:r>
            <a:endParaRPr sz="1800"/>
          </a:p>
        </p:txBody>
      </p:sp>
    </p:spTree>
    <p:extLst>
      <p:ext uri="{BB962C8B-B14F-4D97-AF65-F5344CB8AC3E}">
        <p14:creationId xmlns:p14="http://schemas.microsoft.com/office/powerpoint/2010/main" val="2488108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9"/>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5" name="Google Shape;445;p29"/>
          <p:cNvSpPr/>
          <p:nvPr/>
        </p:nvSpPr>
        <p:spPr>
          <a:xfrm>
            <a:off x="0" y="0"/>
            <a:ext cx="182880" cy="85953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6" name="Google Shape;446;p29"/>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3 · MÔ HÌNH HÓA BPMN (AS-IS)  ·  NHÓM HỖ TRỢ</a:t>
            </a:r>
            <a:endParaRPr/>
          </a:p>
        </p:txBody>
      </p:sp>
      <p:sp>
        <p:nvSpPr>
          <p:cNvPr id="447" name="Google Shape;447;p29"/>
          <p:cNvSpPr txBox="1"/>
          <p:nvPr/>
        </p:nvSpPr>
        <p:spPr>
          <a:xfrm>
            <a:off x="475488" y="411480"/>
            <a:ext cx="7955279"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a:solidFill>
                  <a:srgbClr val="FFFFFF"/>
                </a:solidFill>
                <a:latin typeface="Calibri"/>
                <a:ea typeface="Calibri"/>
                <a:cs typeface="Calibri"/>
                <a:sym typeface="Calibri"/>
              </a:rPr>
              <a:t>S01  —  Quản lý mua hàng và cung ứng</a:t>
            </a:r>
            <a:endParaRPr sz="1800"/>
          </a:p>
        </p:txBody>
      </p:sp>
      <p:sp>
        <p:nvSpPr>
          <p:cNvPr id="448" name="Google Shape;448;p29"/>
          <p:cNvSpPr txBox="1"/>
          <p:nvPr/>
        </p:nvSpPr>
        <p:spPr>
          <a:xfrm>
            <a:off x="8595360" y="265176"/>
            <a:ext cx="3154680" cy="329184"/>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3.6</a:t>
            </a:r>
            <a:endParaRPr/>
          </a:p>
        </p:txBody>
      </p:sp>
      <p:sp>
        <p:nvSpPr>
          <p:cNvPr id="451" name="Google Shape;451;p29"/>
          <p:cNvSpPr/>
          <p:nvPr/>
        </p:nvSpPr>
        <p:spPr>
          <a:xfrm>
            <a:off x="7400718" y="6252624"/>
            <a:ext cx="3581914" cy="3402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3.6. Mô hình BPMN Quản lý mua hàng và cung ứng – Procurement Management</a:t>
            </a:r>
            <a:endParaRPr sz="1400">
              <a:solidFill>
                <a:schemeClr val="dk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509A6439-573C-A8B3-41F9-29F0FA26DF89}"/>
              </a:ext>
            </a:extLst>
          </p:cNvPr>
          <p:cNvSpPr>
            <a:spLocks noGrp="1"/>
          </p:cNvSpPr>
          <p:nvPr>
            <p:ph type="ftr" idx="11"/>
          </p:nvPr>
        </p:nvSpPr>
        <p:spPr>
          <a:xfrm>
            <a:off x="475488" y="6325171"/>
            <a:ext cx="51227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8633174-E2EF-5D0B-F57C-3F169D31C0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5" name="Picture 4">
            <a:extLst>
              <a:ext uri="{FF2B5EF4-FFF2-40B4-BE49-F238E27FC236}">
                <a16:creationId xmlns:a16="http://schemas.microsoft.com/office/drawing/2014/main" id="{FB085D09-05D8-236B-57DB-1F143E4F7740}"/>
              </a:ext>
            </a:extLst>
          </p:cNvPr>
          <p:cNvPicPr>
            <a:picLocks noChangeAspect="1"/>
          </p:cNvPicPr>
          <p:nvPr/>
        </p:nvPicPr>
        <p:blipFill>
          <a:blip r:embed="rId3"/>
          <a:stretch>
            <a:fillRect/>
          </a:stretch>
        </p:blipFill>
        <p:spPr>
          <a:xfrm>
            <a:off x="268257" y="859535"/>
            <a:ext cx="7047084" cy="59863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1"/>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4" name="Google Shape;474;p31"/>
          <p:cNvSpPr txBox="1"/>
          <p:nvPr/>
        </p:nvSpPr>
        <p:spPr>
          <a:xfrm>
            <a:off x="658368" y="1371600"/>
            <a:ext cx="10874959" cy="290529"/>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600" b="0" i="1">
                <a:solidFill>
                  <a:srgbClr val="6B7784"/>
                </a:solidFill>
                <a:latin typeface="Calibri"/>
                <a:ea typeface="Calibri"/>
                <a:cs typeface="Calibri"/>
                <a:sym typeface="Calibri"/>
              </a:rPr>
              <a:t>Kết hợp hai hướng để đối chiếu thông tin từ tài liệu với cách thực hiện trong thực tế</a:t>
            </a:r>
            <a:endParaRPr sz="1600"/>
          </a:p>
        </p:txBody>
      </p:sp>
      <p:sp>
        <p:nvSpPr>
          <p:cNvPr id="477" name="Google Shape;477;p31"/>
          <p:cNvSpPr/>
          <p:nvPr/>
        </p:nvSpPr>
        <p:spPr>
          <a:xfrm>
            <a:off x="658368" y="1792223"/>
            <a:ext cx="5230368" cy="341716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p:cNvSpPr/>
          <p:nvPr/>
        </p:nvSpPr>
        <p:spPr>
          <a:xfrm>
            <a:off x="658368" y="179222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p:cNvSpPr txBox="1"/>
          <p:nvPr/>
        </p:nvSpPr>
        <p:spPr>
          <a:xfrm>
            <a:off x="932688" y="201168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① DỰA TRÊN BẰNG CHỨNG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Evidence-based Discovery  ·  nguồn thông tin chính</a:t>
            </a:r>
            <a:endParaRPr sz="1600"/>
          </a:p>
        </p:txBody>
      </p:sp>
      <p:sp>
        <p:nvSpPr>
          <p:cNvPr id="480" name="Google Shape;480;p31"/>
          <p:cNvSpPr txBox="1"/>
          <p:nvPr/>
        </p:nvSpPr>
        <p:spPr>
          <a:xfrm>
            <a:off x="932688" y="2706624"/>
            <a:ext cx="4663440" cy="2110193"/>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a:solidFill>
                  <a:srgbClr val="2B3440"/>
                </a:solidFill>
                <a:latin typeface="Calibri"/>
                <a:ea typeface="Calibri"/>
                <a:cs typeface="Calibri"/>
                <a:sym typeface="Calibri"/>
              </a:rPr>
              <a:t>•  Tài liệu quy trình vận hành chuẩn (SOP) của tập đoàn.</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Tài liệu hướng dẫn hệ thống SAP ERP và SAP CRM-Service.</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Sơ đồ tổ chức và mô tả vai trò các bộ phận.</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Biểu mẫu chứng từ gốc: Sales Order, Service Order, PR, PO, Inbound Delivery.</a:t>
            </a:r>
            <a:endParaRPr sz="1600"/>
          </a:p>
        </p:txBody>
      </p:sp>
      <p:sp>
        <p:nvSpPr>
          <p:cNvPr id="481" name="Google Shape;481;p31"/>
          <p:cNvSpPr/>
          <p:nvPr/>
        </p:nvSpPr>
        <p:spPr>
          <a:xfrm>
            <a:off x="6096000" y="1792223"/>
            <a:ext cx="5434584" cy="3417167"/>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2" name="Google Shape;482;p31"/>
          <p:cNvSpPr/>
          <p:nvPr/>
        </p:nvSpPr>
        <p:spPr>
          <a:xfrm>
            <a:off x="6096000" y="1796796"/>
            <a:ext cx="5434584"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3" name="Google Shape;483;p31"/>
          <p:cNvSpPr txBox="1"/>
          <p:nvPr/>
        </p:nvSpPr>
        <p:spPr>
          <a:xfrm>
            <a:off x="6327648" y="197261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② PHỎNG VẤN ĐỐI TƯỢNG LIÊN QUAN</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Interview-based Discovery  ·  phương pháp bổ sung</a:t>
            </a:r>
            <a:endParaRPr sz="1600"/>
          </a:p>
        </p:txBody>
      </p:sp>
      <p:sp>
        <p:nvSpPr>
          <p:cNvPr id="484" name="Google Shape;484;p31"/>
          <p:cNvSpPr txBox="1"/>
          <p:nvPr/>
        </p:nvSpPr>
        <p:spPr>
          <a:xfrm>
            <a:off x="6327648" y="2706624"/>
            <a:ext cx="4937760" cy="241059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600" b="0" i="0">
                <a:solidFill>
                  <a:srgbClr val="2B3440"/>
                </a:solidFill>
                <a:latin typeface="Calibri"/>
                <a:ea typeface="Calibri"/>
                <a:cs typeface="Calibri"/>
                <a:sym typeface="Calibri"/>
              </a:rPr>
              <a:t>•  Bổ sung cho những nội dung tài liệu chưa mô tả đầy đủ.</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Xác nhận cách quy trình thực sự được áp dụng trong thực tế.</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Làm rõ điểm ra quyết định, ngoại lệ và điểm phát sinh chờ đợi.</a:t>
            </a:r>
            <a:endParaRPr sz="1600"/>
          </a:p>
          <a:p>
            <a:pPr marL="0" marR="0" lvl="0" indent="0" algn="l" rtl="0">
              <a:lnSpc>
                <a:spcPct val="122000"/>
              </a:lnSpc>
              <a:spcBef>
                <a:spcPts val="800"/>
              </a:spcBef>
              <a:spcAft>
                <a:spcPts val="0"/>
              </a:spcAft>
              <a:buNone/>
            </a:pPr>
            <a:r>
              <a:rPr lang="en-US" sz="1600" b="0" i="0">
                <a:solidFill>
                  <a:srgbClr val="2B3440"/>
                </a:solidFill>
                <a:latin typeface="Calibri"/>
                <a:ea typeface="Calibri"/>
                <a:cs typeface="Calibri"/>
                <a:sym typeface="Calibri"/>
              </a:rPr>
              <a:t>•  Sử dụng bộ 20 câu hỏi chuẩn hóa (10 định tính + 10 định lượng).</a:t>
            </a:r>
            <a:endParaRPr sz="1600"/>
          </a:p>
        </p:txBody>
      </p:sp>
      <p:sp>
        <p:nvSpPr>
          <p:cNvPr id="485" name="Google Shape;485;p31"/>
          <p:cNvSpPr/>
          <p:nvPr/>
        </p:nvSpPr>
        <p:spPr>
          <a:xfrm>
            <a:off x="658368" y="5499577"/>
            <a:ext cx="10874959" cy="84124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6" name="Google Shape;486;p31"/>
          <p:cNvSpPr/>
          <p:nvPr/>
        </p:nvSpPr>
        <p:spPr>
          <a:xfrm>
            <a:off x="658368" y="5499577"/>
            <a:ext cx="50292" cy="84124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7" name="Google Shape;487;p31"/>
          <p:cNvSpPr txBox="1"/>
          <p:nvPr/>
        </p:nvSpPr>
        <p:spPr>
          <a:xfrm>
            <a:off x="950976" y="5600113"/>
            <a:ext cx="10529316" cy="640175"/>
          </a:xfrm>
          <a:prstGeom prst="rect">
            <a:avLst/>
          </a:prstGeom>
          <a:noFill/>
          <a:ln>
            <a:noFill/>
          </a:ln>
        </p:spPr>
        <p:txBody>
          <a:bodyPr spcFirstLastPara="1" wrap="square" lIns="0" tIns="0" rIns="0" bIns="0" anchor="ctr" anchorCtr="0">
            <a:spAutoFit/>
          </a:bodyPr>
          <a:lstStyle/>
          <a:p>
            <a:pPr marL="0" marR="0" lvl="0" indent="0" algn="l" rtl="0">
              <a:lnSpc>
                <a:spcPct val="130000"/>
              </a:lnSpc>
              <a:spcBef>
                <a:spcPts val="0"/>
              </a:spcBef>
              <a:spcAft>
                <a:spcPts val="0"/>
              </a:spcAft>
              <a:buNone/>
            </a:pPr>
            <a:r>
              <a:rPr lang="en-US" sz="1600" b="0" i="0">
                <a:solidFill>
                  <a:srgbClr val="2B3440"/>
                </a:solidFill>
                <a:latin typeface="Calibri"/>
                <a:ea typeface="Calibri"/>
                <a:cs typeface="Calibri"/>
                <a:sym typeface="Calibri"/>
              </a:rPr>
              <a:t>Thông tin từ hai nguồn được tổng hợp và ĐỐI CHIẾU CHÉO trước khi đưa vào mô hình BPMN — vừa xác minh các thành phần của quy trình (Actor, Pool, Lane, Activity, Event, Gateway, Data Object), vừa thu thập dữ liệu phục vụ phân tích ở Chương 4.</a:t>
            </a:r>
            <a:endParaRPr sz="1600"/>
          </a:p>
        </p:txBody>
      </p:sp>
      <p:sp>
        <p:nvSpPr>
          <p:cNvPr id="2" name="Footer Placeholder 1">
            <a:extLst>
              <a:ext uri="{FF2B5EF4-FFF2-40B4-BE49-F238E27FC236}">
                <a16:creationId xmlns:a16="http://schemas.microsoft.com/office/drawing/2014/main" id="{A573D759-C21A-1902-42AA-D4C0DB6CF913}"/>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CC4F18C6-6860-EF15-4CA9-15FAD6D732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9A36AD11-833B-1909-E016-A12F77ED0B44}"/>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2F1F07AE-0169-C651-BF05-CD10F1707E49}"/>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FD3FABE9-2CB3-205C-69C1-D49496A33181}"/>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9B08BDC6-6539-CD11-8CA8-F9A848268E81}"/>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FD34C9D8-F5F5-A76C-CC2E-E48813EDDD11}"/>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40564EB-D01E-CE81-1698-E5C4E96C87EF}"/>
              </a:ext>
            </a:extLst>
          </p:cNvPr>
          <p:cNvSpPr/>
          <p:nvPr/>
        </p:nvSpPr>
        <p:spPr>
          <a:xfrm>
            <a:off x="658368" y="1448093"/>
            <a:ext cx="5230368" cy="775321"/>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EEB7D015-B2FF-A598-E830-502A77DBBDF7}"/>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201049F2-9AE6-973D-3132-CCE4FF80822E}"/>
              </a:ext>
            </a:extLst>
          </p:cNvPr>
          <p:cNvSpPr txBox="1"/>
          <p:nvPr/>
        </p:nvSpPr>
        <p:spPr>
          <a:xfrm>
            <a:off x="932688" y="1667550"/>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① DỰA TRÊN BẰNG CHỨNG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Evidence-based Discovery  ·  nguồn thông tin chính</a:t>
            </a:r>
            <a:endParaRPr sz="1600"/>
          </a:p>
        </p:txBody>
      </p:sp>
      <p:graphicFrame>
        <p:nvGraphicFramePr>
          <p:cNvPr id="4" name="Table 3">
            <a:extLst>
              <a:ext uri="{FF2B5EF4-FFF2-40B4-BE49-F238E27FC236}">
                <a16:creationId xmlns:a16="http://schemas.microsoft.com/office/drawing/2014/main" id="{F44BA2FA-F621-634D-31EA-C23F32D93ACD}"/>
              </a:ext>
            </a:extLst>
          </p:cNvPr>
          <p:cNvGraphicFramePr>
            <a:graphicFrameLocks noGrp="1"/>
          </p:cNvGraphicFramePr>
          <p:nvPr>
            <p:extLst>
              <p:ext uri="{D42A27DB-BD31-4B8C-83A1-F6EECF244321}">
                <p14:modId xmlns:p14="http://schemas.microsoft.com/office/powerpoint/2010/main" val="1300782241"/>
              </p:ext>
            </p:extLst>
          </p:nvPr>
        </p:nvGraphicFramePr>
        <p:xfrm>
          <a:off x="658368" y="2351430"/>
          <a:ext cx="10992858" cy="4001268"/>
        </p:xfrm>
        <a:graphic>
          <a:graphicData uri="http://schemas.openxmlformats.org/drawingml/2006/table">
            <a:tbl>
              <a:tblPr firstRow="1" firstCol="1" bandRow="1">
                <a:tableStyleId>{65267F91-CA84-436A-A840-DCCC5366F6D9}</a:tableStyleId>
              </a:tblPr>
              <a:tblGrid>
                <a:gridCol w="2833460">
                  <a:extLst>
                    <a:ext uri="{9D8B030D-6E8A-4147-A177-3AD203B41FA5}">
                      <a16:colId xmlns:a16="http://schemas.microsoft.com/office/drawing/2014/main" val="2046447954"/>
                    </a:ext>
                  </a:extLst>
                </a:gridCol>
                <a:gridCol w="4128172">
                  <a:extLst>
                    <a:ext uri="{9D8B030D-6E8A-4147-A177-3AD203B41FA5}">
                      <a16:colId xmlns:a16="http://schemas.microsoft.com/office/drawing/2014/main" val="300868623"/>
                    </a:ext>
                  </a:extLst>
                </a:gridCol>
                <a:gridCol w="4031226">
                  <a:extLst>
                    <a:ext uri="{9D8B030D-6E8A-4147-A177-3AD203B41FA5}">
                      <a16:colId xmlns:a16="http://schemas.microsoft.com/office/drawing/2014/main" val="1180040576"/>
                    </a:ext>
                  </a:extLst>
                </a:gridCol>
              </a:tblGrid>
              <a:tr h="310493">
                <a:tc>
                  <a:txBody>
                    <a:bodyPr/>
                    <a:lstStyle/>
                    <a:p>
                      <a:pPr marL="0" marR="0" algn="ctr">
                        <a:lnSpc>
                          <a:spcPct val="115000"/>
                        </a:lnSpc>
                        <a:spcAft>
                          <a:spcPts val="800"/>
                        </a:spcAft>
                        <a:buNone/>
                      </a:pPr>
                      <a:r>
                        <a:rPr lang="en-US" sz="1600">
                          <a:effectLst/>
                        </a:rPr>
                        <a:t>Quy trình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gn="ctr">
                        <a:lnSpc>
                          <a:spcPct val="115000"/>
                        </a:lnSpc>
                        <a:spcAft>
                          <a:spcPts val="800"/>
                        </a:spcAft>
                        <a:buNone/>
                      </a:pPr>
                      <a:r>
                        <a:rPr lang="en-US" sz="1600">
                          <a:effectLst/>
                        </a:rPr>
                        <a:t>Nguồn bằng chứng chính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gn="ctr">
                        <a:lnSpc>
                          <a:spcPct val="115000"/>
                        </a:lnSpc>
                        <a:spcAft>
                          <a:spcPts val="800"/>
                        </a:spcAft>
                        <a:buNone/>
                      </a:pPr>
                      <a:r>
                        <a:rPr lang="en-US" sz="1600">
                          <a:effectLst/>
                        </a:rPr>
                        <a:t>Nội dung khai thác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864492544"/>
                  </a:ext>
                </a:extLst>
              </a:tr>
              <a:tr h="582091">
                <a:tc>
                  <a:txBody>
                    <a:bodyPr/>
                    <a:lstStyle/>
                    <a:p>
                      <a:pPr marL="0" marR="0">
                        <a:lnSpc>
                          <a:spcPct val="115000"/>
                        </a:lnSpc>
                        <a:spcAft>
                          <a:spcPts val="800"/>
                        </a:spcAft>
                        <a:buNone/>
                      </a:pPr>
                      <a:r>
                        <a:rPr lang="en-US" sz="1600">
                          <a:effectLst/>
                        </a:rPr>
                        <a:t>Business Planning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vi-VN" sz="1600">
                          <a:effectLst/>
                        </a:rPr>
                        <a:t>Tài liệu chiến lược, Long-Range Plan, sơ đồ tổ chức và thông tin khảo sát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vi-VN" sz="1600">
                          <a:effectLst/>
                        </a:rPr>
                        <a:t>Mục tiêu, vai trò, lập và triển khai kế hoạch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2012262112"/>
                  </a:ext>
                </a:extLst>
              </a:tr>
              <a:tr h="582091">
                <a:tc>
                  <a:txBody>
                    <a:bodyPr/>
                    <a:lstStyle/>
                    <a:p>
                      <a:pPr marL="0" marR="0">
                        <a:lnSpc>
                          <a:spcPct val="115000"/>
                        </a:lnSpc>
                        <a:spcAft>
                          <a:spcPts val="800"/>
                        </a:spcAft>
                        <a:buNone/>
                      </a:pPr>
                      <a:r>
                        <a:rPr lang="en-US" sz="1600">
                          <a:effectLst/>
                        </a:rPr>
                        <a:t>Customer Complaint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APAC M&amp;SC Customer Complaint Management Procedure; CFR SOP for Buyer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Complaint lifecycle, roles, investigation, resolution, closure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2909340395"/>
                  </a:ext>
                </a:extLst>
              </a:tr>
              <a:tr h="582091">
                <a:tc>
                  <a:txBody>
                    <a:bodyPr/>
                    <a:lstStyle/>
                    <a:p>
                      <a:pPr marL="0" marR="0">
                        <a:lnSpc>
                          <a:spcPct val="115000"/>
                        </a:lnSpc>
                        <a:spcAft>
                          <a:spcPts val="800"/>
                        </a:spcAft>
                        <a:buNone/>
                      </a:pPr>
                      <a:r>
                        <a:rPr lang="en-US" sz="1600">
                          <a:effectLst/>
                        </a:rPr>
                        <a:t>Order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OTC201; OTC344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Order Management, Sales Order và luồng xử lý</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1231437220"/>
                  </a:ext>
                </a:extLst>
              </a:tr>
              <a:tr h="780320">
                <a:tc>
                  <a:txBody>
                    <a:bodyPr/>
                    <a:lstStyle/>
                    <a:p>
                      <a:pPr marL="0" marR="0">
                        <a:lnSpc>
                          <a:spcPct val="115000"/>
                        </a:lnSpc>
                        <a:spcAft>
                          <a:spcPts val="800"/>
                        </a:spcAft>
                        <a:buNone/>
                      </a:pPr>
                      <a:r>
                        <a:rPr lang="en-US" sz="1600">
                          <a:effectLst/>
                        </a:rPr>
                        <a:t>Service Order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OTC350; OTC352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Service request, Repair/Service Order, quotation, service completion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838582126"/>
                  </a:ext>
                </a:extLst>
              </a:tr>
              <a:tr h="582091">
                <a:tc>
                  <a:txBody>
                    <a:bodyPr/>
                    <a:lstStyle/>
                    <a:p>
                      <a:pPr marL="0" marR="0">
                        <a:lnSpc>
                          <a:spcPct val="115000"/>
                        </a:lnSpc>
                        <a:spcAft>
                          <a:spcPts val="800"/>
                        </a:spcAft>
                        <a:buNone/>
                      </a:pPr>
                      <a:r>
                        <a:rPr lang="en-US" sz="1600">
                          <a:effectLst/>
                        </a:rPr>
                        <a:t>Procurement Management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W4_STP – Procurement End User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PR, Approval, PO, acknowledgement và supply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345180090"/>
                  </a:ext>
                </a:extLst>
              </a:tr>
              <a:tr h="582091">
                <a:tc>
                  <a:txBody>
                    <a:bodyPr/>
                    <a:lstStyle/>
                    <a:p>
                      <a:pPr marL="0" marR="0">
                        <a:lnSpc>
                          <a:spcPct val="115000"/>
                        </a:lnSpc>
                        <a:spcAft>
                          <a:spcPts val="800"/>
                        </a:spcAft>
                        <a:buNone/>
                      </a:pPr>
                      <a:r>
                        <a:rPr lang="en-US" sz="1600">
                          <a:effectLst/>
                        </a:rPr>
                        <a:t>Inbound Processing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LEX370 – Inbound Processing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tc>
                  <a:txBody>
                    <a:bodyPr/>
                    <a:lstStyle/>
                    <a:p>
                      <a:pPr marL="0" marR="0">
                        <a:lnSpc>
                          <a:spcPct val="115000"/>
                        </a:lnSpc>
                        <a:spcAft>
                          <a:spcPts val="800"/>
                        </a:spcAft>
                        <a:buNone/>
                      </a:pPr>
                      <a:r>
                        <a:rPr lang="en-US" sz="1600">
                          <a:effectLst/>
                        </a:rPr>
                        <a:t>PO, Inbound Delivery, Goods Receipt và SAP EWM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4888" marR="64888" marT="0" marB="0" anchor="ctr"/>
                </a:tc>
                <a:extLst>
                  <a:ext uri="{0D108BD9-81ED-4DB2-BD59-A6C34878D82A}">
                    <a16:rowId xmlns:a16="http://schemas.microsoft.com/office/drawing/2014/main" val="1748480120"/>
                  </a:ext>
                </a:extLst>
              </a:tr>
            </a:tbl>
          </a:graphicData>
        </a:graphic>
      </p:graphicFrame>
      <p:sp>
        <p:nvSpPr>
          <p:cNvPr id="5" name="Footer Placeholder 1">
            <a:extLst>
              <a:ext uri="{FF2B5EF4-FFF2-40B4-BE49-F238E27FC236}">
                <a16:creationId xmlns:a16="http://schemas.microsoft.com/office/drawing/2014/main" id="{2D1F0714-837B-2E3C-FFFA-ADA0493ED34E}"/>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616D14A2-4F19-900C-EA95-1621D9FDCAE4}"/>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871293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4C045D16-FA8F-50FD-1E74-B4A2ED7C0BBA}"/>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B91EBC8B-BD31-EF6E-95B7-7FC2B2FEA5E1}"/>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D2F3E78A-0982-5CA4-4D06-B91684A5C905}"/>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230CAB18-6EBF-DDB4-563D-37A64173FAB3}"/>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2160DE82-7FFE-DEBC-4504-C78068380AA3}"/>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81" name="Google Shape;481;p31">
            <a:extLst>
              <a:ext uri="{FF2B5EF4-FFF2-40B4-BE49-F238E27FC236}">
                <a16:creationId xmlns:a16="http://schemas.microsoft.com/office/drawing/2014/main" id="{33C86362-9473-AA11-DDB3-21D1FDFB7977}"/>
              </a:ext>
            </a:extLst>
          </p:cNvPr>
          <p:cNvSpPr/>
          <p:nvPr/>
        </p:nvSpPr>
        <p:spPr>
          <a:xfrm>
            <a:off x="658368" y="1428429"/>
            <a:ext cx="5434584" cy="7107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2" name="Google Shape;482;p31">
            <a:extLst>
              <a:ext uri="{FF2B5EF4-FFF2-40B4-BE49-F238E27FC236}">
                <a16:creationId xmlns:a16="http://schemas.microsoft.com/office/drawing/2014/main" id="{D19C8010-5FDF-11EE-00F8-E0EBFA9FE528}"/>
              </a:ext>
            </a:extLst>
          </p:cNvPr>
          <p:cNvSpPr/>
          <p:nvPr/>
        </p:nvSpPr>
        <p:spPr>
          <a:xfrm>
            <a:off x="658368" y="1433002"/>
            <a:ext cx="5434584"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83" name="Google Shape;483;p31">
            <a:extLst>
              <a:ext uri="{FF2B5EF4-FFF2-40B4-BE49-F238E27FC236}">
                <a16:creationId xmlns:a16="http://schemas.microsoft.com/office/drawing/2014/main" id="{E6FADC55-5A0B-1D17-A519-6ED432DBE033}"/>
              </a:ext>
            </a:extLst>
          </p:cNvPr>
          <p:cNvSpPr txBox="1"/>
          <p:nvPr/>
        </p:nvSpPr>
        <p:spPr>
          <a:xfrm>
            <a:off x="890016" y="1608816"/>
            <a:ext cx="466344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② PHỎNG VẤN ĐỐI TƯỢNG LIÊN QUAN</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Interview-based Discovery  ·  phương pháp bổ sung</a:t>
            </a:r>
            <a:endParaRPr sz="1600"/>
          </a:p>
        </p:txBody>
      </p:sp>
      <p:sp>
        <p:nvSpPr>
          <p:cNvPr id="2" name="Footer Placeholder 1">
            <a:extLst>
              <a:ext uri="{FF2B5EF4-FFF2-40B4-BE49-F238E27FC236}">
                <a16:creationId xmlns:a16="http://schemas.microsoft.com/office/drawing/2014/main" id="{DF5C784B-86BB-74B0-B84B-56B30113F1A5}"/>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14BF4EBA-F60B-70A8-7BDC-9B9DDC8903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graphicFrame>
        <p:nvGraphicFramePr>
          <p:cNvPr id="4" name="Table 3">
            <a:extLst>
              <a:ext uri="{FF2B5EF4-FFF2-40B4-BE49-F238E27FC236}">
                <a16:creationId xmlns:a16="http://schemas.microsoft.com/office/drawing/2014/main" id="{03FF7117-49E6-8478-CA34-3F1819D7AD23}"/>
              </a:ext>
            </a:extLst>
          </p:cNvPr>
          <p:cNvGraphicFramePr>
            <a:graphicFrameLocks noGrp="1"/>
          </p:cNvGraphicFramePr>
          <p:nvPr>
            <p:extLst>
              <p:ext uri="{D42A27DB-BD31-4B8C-83A1-F6EECF244321}">
                <p14:modId xmlns:p14="http://schemas.microsoft.com/office/powerpoint/2010/main" val="3185556694"/>
              </p:ext>
            </p:extLst>
          </p:nvPr>
        </p:nvGraphicFramePr>
        <p:xfrm>
          <a:off x="663422" y="2269312"/>
          <a:ext cx="10869906" cy="3867129"/>
        </p:xfrm>
        <a:graphic>
          <a:graphicData uri="http://schemas.openxmlformats.org/drawingml/2006/table">
            <a:tbl>
              <a:tblPr firstRow="1" firstCol="1" bandRow="1">
                <a:tableStyleId>{65267F91-CA84-436A-A840-DCCC5366F6D9}</a:tableStyleId>
              </a:tblPr>
              <a:tblGrid>
                <a:gridCol w="3233734">
                  <a:extLst>
                    <a:ext uri="{9D8B030D-6E8A-4147-A177-3AD203B41FA5}">
                      <a16:colId xmlns:a16="http://schemas.microsoft.com/office/drawing/2014/main" val="2038150234"/>
                    </a:ext>
                  </a:extLst>
                </a:gridCol>
                <a:gridCol w="4012470">
                  <a:extLst>
                    <a:ext uri="{9D8B030D-6E8A-4147-A177-3AD203B41FA5}">
                      <a16:colId xmlns:a16="http://schemas.microsoft.com/office/drawing/2014/main" val="1794342001"/>
                    </a:ext>
                  </a:extLst>
                </a:gridCol>
                <a:gridCol w="3623702">
                  <a:extLst>
                    <a:ext uri="{9D8B030D-6E8A-4147-A177-3AD203B41FA5}">
                      <a16:colId xmlns:a16="http://schemas.microsoft.com/office/drawing/2014/main" val="1191558355"/>
                    </a:ext>
                  </a:extLst>
                </a:gridCol>
              </a:tblGrid>
              <a:tr h="355680">
                <a:tc>
                  <a:txBody>
                    <a:bodyPr/>
                    <a:lstStyle/>
                    <a:p>
                      <a:pPr marL="0" marR="0" algn="ctr">
                        <a:lnSpc>
                          <a:spcPct val="115000"/>
                        </a:lnSpc>
                        <a:spcAft>
                          <a:spcPts val="800"/>
                        </a:spcAft>
                        <a:buNone/>
                      </a:pPr>
                      <a:r>
                        <a:rPr lang="en-US" sz="1600">
                          <a:effectLst/>
                        </a:rPr>
                        <a:t>Quy trình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Đối tượng/vai trò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Nội dung cần xác minh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7876321"/>
                  </a:ext>
                </a:extLst>
              </a:tr>
              <a:tr h="487660">
                <a:tc>
                  <a:txBody>
                    <a:bodyPr/>
                    <a:lstStyle/>
                    <a:p>
                      <a:pPr marL="0" marR="0">
                        <a:lnSpc>
                          <a:spcPct val="115000"/>
                        </a:lnSpc>
                        <a:spcAft>
                          <a:spcPts val="800"/>
                        </a:spcAft>
                        <a:buNone/>
                      </a:pPr>
                      <a:r>
                        <a:rPr lang="en-US" sz="1600">
                          <a:effectLst/>
                        </a:rPr>
                        <a:t>Business Planning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Management và các bộ phận chức năng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Lập kế hoạch, phê duyệt và triển khai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564921"/>
                  </a:ext>
                </a:extLst>
              </a:tr>
              <a:tr h="765271">
                <a:tc>
                  <a:txBody>
                    <a:bodyPr/>
                    <a:lstStyle/>
                    <a:p>
                      <a:pPr marL="0" marR="0">
                        <a:lnSpc>
                          <a:spcPct val="115000"/>
                        </a:lnSpc>
                        <a:spcAft>
                          <a:spcPts val="800"/>
                        </a:spcAft>
                        <a:buNone/>
                      </a:pPr>
                      <a:r>
                        <a:rPr lang="en-US" sz="1600">
                          <a:effectLst/>
                        </a:rPr>
                        <a:t>Customer Complaint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CIR Team, Complaint Coordinator, Resolution Owner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Tiếp nhận, đánh giá, điều tra, xử lý và đóng complaint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12180550"/>
                  </a:ext>
                </a:extLst>
              </a:tr>
              <a:tr h="487660">
                <a:tc>
                  <a:txBody>
                    <a:bodyPr/>
                    <a:lstStyle/>
                    <a:p>
                      <a:pPr marL="0" marR="0">
                        <a:lnSpc>
                          <a:spcPct val="115000"/>
                        </a:lnSpc>
                        <a:spcAft>
                          <a:spcPts val="800"/>
                        </a:spcAft>
                        <a:buNone/>
                      </a:pPr>
                      <a:r>
                        <a:rPr lang="en-US" sz="1600">
                          <a:effectLst/>
                        </a:rPr>
                        <a:t>Order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Sales/Customer Service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Sales Order và luồng xử lý đơn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02118247"/>
                  </a:ext>
                </a:extLst>
              </a:tr>
              <a:tr h="738876">
                <a:tc>
                  <a:txBody>
                    <a:bodyPr/>
                    <a:lstStyle/>
                    <a:p>
                      <a:pPr marL="0" marR="0">
                        <a:lnSpc>
                          <a:spcPct val="115000"/>
                        </a:lnSpc>
                        <a:spcAft>
                          <a:spcPts val="800"/>
                        </a:spcAft>
                        <a:buNone/>
                      </a:pPr>
                      <a:r>
                        <a:rPr lang="en-US" sz="1600">
                          <a:effectLst/>
                        </a:rPr>
                        <a:t>Service Order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Service Admin, Technical Service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Service request, quotation, Service Order và completion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39515077"/>
                  </a:ext>
                </a:extLst>
              </a:tr>
              <a:tr h="487660">
                <a:tc>
                  <a:txBody>
                    <a:bodyPr/>
                    <a:lstStyle/>
                    <a:p>
                      <a:pPr marL="0" marR="0">
                        <a:lnSpc>
                          <a:spcPct val="115000"/>
                        </a:lnSpc>
                        <a:spcAft>
                          <a:spcPts val="800"/>
                        </a:spcAft>
                        <a:buNone/>
                      </a:pPr>
                      <a:r>
                        <a:rPr lang="en-US" sz="1600">
                          <a:effectLst/>
                        </a:rPr>
                        <a:t>Procurement Management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Procurement/Buyer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PR, approval, PO và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88041859"/>
                  </a:ext>
                </a:extLst>
              </a:tr>
              <a:tr h="487660">
                <a:tc>
                  <a:txBody>
                    <a:bodyPr/>
                    <a:lstStyle/>
                    <a:p>
                      <a:pPr marL="0" marR="0">
                        <a:lnSpc>
                          <a:spcPct val="115000"/>
                        </a:lnSpc>
                        <a:spcAft>
                          <a:spcPts val="800"/>
                        </a:spcAft>
                        <a:buNone/>
                      </a:pPr>
                      <a:r>
                        <a:rPr lang="en-US" sz="1600">
                          <a:effectLst/>
                        </a:rPr>
                        <a:t>Inbound Processing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Warehouse và các bên liên quan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Inbound Delivery, nhận hàng và Goods Receipt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4480305"/>
                  </a:ext>
                </a:extLst>
              </a:tr>
            </a:tbl>
          </a:graphicData>
        </a:graphic>
      </p:graphicFrame>
    </p:spTree>
    <p:extLst>
      <p:ext uri="{BB962C8B-B14F-4D97-AF65-F5344CB8AC3E}">
        <p14:creationId xmlns:p14="http://schemas.microsoft.com/office/powerpoint/2010/main" val="170187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B61DFD48-4037-73FE-D493-535FA3F0E64F}"/>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2A5D4B38-4F22-BDE1-5A85-55A2302ED357}"/>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E477E3CD-CA30-F975-724E-A3B9D5A05D16}"/>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73944219-2780-8B9A-4AE7-4BCAF95393DA}"/>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E97D8024-8039-3DCC-3D24-E71A881E249D}"/>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376CBE9-5E16-3E08-7CE4-A7AFC714B96C}"/>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1BE5D6D1-B20F-58D2-94BC-F02E384ADC71}"/>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FB3AB7E2-EDAB-F8F2-83A4-9B8F198894A0}"/>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TÍNH – CÓ CẤU TRÚC</a:t>
            </a:r>
            <a:endParaRPr sz="1600"/>
          </a:p>
        </p:txBody>
      </p:sp>
      <p:sp>
        <p:nvSpPr>
          <p:cNvPr id="5" name="Footer Placeholder 1">
            <a:extLst>
              <a:ext uri="{FF2B5EF4-FFF2-40B4-BE49-F238E27FC236}">
                <a16:creationId xmlns:a16="http://schemas.microsoft.com/office/drawing/2014/main" id="{9A2A1C23-8A74-D3D8-896C-E5FF1F4E933B}"/>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23440392-E70F-F04D-898C-65FF1213F9B0}"/>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22</a:t>
            </a:fld>
            <a:endParaRPr lang="en-US"/>
          </a:p>
        </p:txBody>
      </p:sp>
      <p:graphicFrame>
        <p:nvGraphicFramePr>
          <p:cNvPr id="3" name="Table 2">
            <a:extLst>
              <a:ext uri="{FF2B5EF4-FFF2-40B4-BE49-F238E27FC236}">
                <a16:creationId xmlns:a16="http://schemas.microsoft.com/office/drawing/2014/main" id="{803FAFA8-9944-82E7-A19B-002FE68047DF}"/>
              </a:ext>
            </a:extLst>
          </p:cNvPr>
          <p:cNvGraphicFramePr>
            <a:graphicFrameLocks noGrp="1"/>
          </p:cNvGraphicFramePr>
          <p:nvPr>
            <p:extLst>
              <p:ext uri="{D42A27DB-BD31-4B8C-83A1-F6EECF244321}">
                <p14:modId xmlns:p14="http://schemas.microsoft.com/office/powerpoint/2010/main" val="950972470"/>
              </p:ext>
            </p:extLst>
          </p:nvPr>
        </p:nvGraphicFramePr>
        <p:xfrm>
          <a:off x="658367" y="2010664"/>
          <a:ext cx="10874958" cy="4411086"/>
        </p:xfrm>
        <a:graphic>
          <a:graphicData uri="http://schemas.openxmlformats.org/drawingml/2006/table">
            <a:tbl>
              <a:tblPr firstRow="1" firstCol="1" bandRow="1">
                <a:tableStyleId>{65267F91-CA84-436A-A840-DCCC5366F6D9}</a:tableStyleId>
              </a:tblPr>
              <a:tblGrid>
                <a:gridCol w="458101">
                  <a:extLst>
                    <a:ext uri="{9D8B030D-6E8A-4147-A177-3AD203B41FA5}">
                      <a16:colId xmlns:a16="http://schemas.microsoft.com/office/drawing/2014/main" val="2435015914"/>
                    </a:ext>
                  </a:extLst>
                </a:gridCol>
                <a:gridCol w="5295468">
                  <a:extLst>
                    <a:ext uri="{9D8B030D-6E8A-4147-A177-3AD203B41FA5}">
                      <a16:colId xmlns:a16="http://schemas.microsoft.com/office/drawing/2014/main" val="1329183638"/>
                    </a:ext>
                  </a:extLst>
                </a:gridCol>
                <a:gridCol w="5121389">
                  <a:extLst>
                    <a:ext uri="{9D8B030D-6E8A-4147-A177-3AD203B41FA5}">
                      <a16:colId xmlns:a16="http://schemas.microsoft.com/office/drawing/2014/main" val="26704687"/>
                    </a:ext>
                  </a:extLst>
                </a:gridCol>
              </a:tblGrid>
              <a:tr h="227147">
                <a:tc>
                  <a:txBody>
                    <a:bodyPr/>
                    <a:lstStyle/>
                    <a:p>
                      <a:pPr marL="0" marR="0" algn="ctr">
                        <a:lnSpc>
                          <a:spcPct val="115000"/>
                        </a:lnSpc>
                        <a:spcAft>
                          <a:spcPts val="800"/>
                        </a:spcAft>
                        <a:buNone/>
                      </a:pPr>
                      <a:r>
                        <a:rPr lang="en-US" sz="1600">
                          <a:effectLst/>
                        </a:rPr>
                        <a:t>STT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gn="ctr">
                        <a:lnSpc>
                          <a:spcPct val="115000"/>
                        </a:lnSpc>
                        <a:spcAft>
                          <a:spcPts val="800"/>
                        </a:spcAft>
                        <a:buNone/>
                      </a:pPr>
                      <a:r>
                        <a:rPr lang="en-US" sz="1600">
                          <a:effectLst/>
                        </a:rPr>
                        <a:t>Câu hỏi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gn="ctr">
                        <a:lnSpc>
                          <a:spcPct val="115000"/>
                        </a:lnSpc>
                        <a:spcAft>
                          <a:spcPts val="800"/>
                        </a:spcAft>
                        <a:buNone/>
                      </a:pPr>
                      <a:r>
                        <a:rPr lang="en-US" sz="1600">
                          <a:effectLst/>
                        </a:rPr>
                        <a:t>Phương án trả lời</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tc>
                <a:extLst>
                  <a:ext uri="{0D108BD9-81ED-4DB2-BD59-A6C34878D82A}">
                    <a16:rowId xmlns:a16="http://schemas.microsoft.com/office/drawing/2014/main" val="3900600125"/>
                  </a:ext>
                </a:extLst>
              </a:tr>
              <a:tr h="844962">
                <a:tc>
                  <a:txBody>
                    <a:bodyPr/>
                    <a:lstStyle/>
                    <a:p>
                      <a:pPr marL="0" marR="0" algn="ctr">
                        <a:lnSpc>
                          <a:spcPct val="115000"/>
                        </a:lnSpc>
                        <a:spcAft>
                          <a:spcPts val="800"/>
                        </a:spcAft>
                        <a:buNone/>
                      </a:pPr>
                      <a:r>
                        <a:rPr lang="en-US" sz="1050">
                          <a:effectLst/>
                        </a:rPr>
                        <a:t>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Anh/chị đánh giá mức độ cần thiết của các hoạt động hiện tại trong quy trình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cần thiết  </a:t>
                      </a:r>
                      <a:r>
                        <a:rPr lang="en-US" sz="1400">
                          <a:effectLst/>
                          <a:sym typeface="Wingdings" panose="05000000000000000000" pitchFamily="2" charset="2"/>
                        </a:rPr>
                        <a:t></a:t>
                      </a:r>
                      <a:r>
                        <a:rPr lang="en-US" sz="1400">
                          <a:effectLst/>
                        </a:rPr>
                        <a:t>  Cần thiết  </a:t>
                      </a:r>
                      <a:r>
                        <a:rPr lang="en-US" sz="1400">
                          <a:effectLst/>
                          <a:sym typeface="Wingdings" panose="05000000000000000000" pitchFamily="2" charset="2"/>
                        </a:rPr>
                        <a:t></a:t>
                      </a:r>
                      <a:r>
                        <a:rPr lang="en-US" sz="1400">
                          <a:effectLst/>
                        </a:rPr>
                        <a:t>  Bình thường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Ít cần thiết  </a:t>
                      </a:r>
                      <a:r>
                        <a:rPr lang="en-US" sz="1400">
                          <a:effectLst/>
                          <a:sym typeface="Wingdings" panose="05000000000000000000" pitchFamily="2" charset="2"/>
                        </a:rPr>
                        <a:t></a:t>
                      </a:r>
                      <a:r>
                        <a:rPr lang="en-US" sz="1400">
                          <a:effectLst/>
                        </a:rPr>
                        <a:t>  Không cần thiết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3352893976"/>
                  </a:ext>
                </a:extLst>
              </a:tr>
              <a:tr h="693565">
                <a:tc>
                  <a:txBody>
                    <a:bodyPr/>
                    <a:lstStyle/>
                    <a:p>
                      <a:pPr marL="0" marR="0" algn="ctr">
                        <a:lnSpc>
                          <a:spcPct val="115000"/>
                        </a:lnSpc>
                        <a:spcAft>
                          <a:spcPts val="800"/>
                        </a:spcAft>
                        <a:buNone/>
                      </a:pPr>
                      <a:r>
                        <a:rPr lang="en-US" sz="1050">
                          <a:effectLst/>
                        </a:rPr>
                        <a:t>2</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chuyển giao thông tin, chứng từ hoặc công việc giữa các bên trong quá trình xử lý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gn="l">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3738023703"/>
                  </a:ext>
                </a:extLst>
              </a:tr>
              <a:tr h="731863">
                <a:tc>
                  <a:txBody>
                    <a:bodyPr/>
                    <a:lstStyle/>
                    <a:p>
                      <a:pPr marL="0" marR="0" algn="ctr">
                        <a:lnSpc>
                          <a:spcPct val="115000"/>
                        </a:lnSpc>
                        <a:spcAft>
                          <a:spcPts val="800"/>
                        </a:spcAft>
                        <a:buNone/>
                      </a:pPr>
                      <a:r>
                        <a:rPr lang="en-US" sz="1050">
                          <a:effectLst/>
                        </a:rPr>
                        <a:t>3</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chờ thông tin, phản hồi, xác nhận hoặc phê duyệt từ bên khác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 </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  </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875392610"/>
                  </a:ext>
                </a:extLst>
              </a:tr>
              <a:tr h="776095">
                <a:tc>
                  <a:txBody>
                    <a:bodyPr/>
                    <a:lstStyle/>
                    <a:p>
                      <a:pPr marL="0" marR="0" algn="ctr">
                        <a:lnSpc>
                          <a:spcPct val="115000"/>
                        </a:lnSpc>
                        <a:spcAft>
                          <a:spcPts val="800"/>
                        </a:spcAft>
                        <a:buNone/>
                      </a:pPr>
                      <a:r>
                        <a:rPr lang="en-US" sz="1050">
                          <a:effectLst/>
                        </a:rPr>
                        <a:t>4</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Mức độ thường xuyên phải bổ sung, điều chỉnh hoặc thực hiện lại công việc đã xử lý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285750" marR="0" indent="-285750">
                        <a:lnSpc>
                          <a:spcPct val="115000"/>
                        </a:lnSpc>
                        <a:spcAft>
                          <a:spcPts val="800"/>
                        </a:spcAft>
                        <a:buFont typeface="Wingdings" panose="05000000000000000000" pitchFamily="2" charset="2"/>
                        <a:buChar char="o"/>
                      </a:pPr>
                      <a:r>
                        <a:rPr lang="en-US" sz="1400">
                          <a:effectLst/>
                        </a:rPr>
                        <a:t>Rất thường xuyên </a:t>
                      </a:r>
                      <a:r>
                        <a:rPr lang="en-US" sz="1400">
                          <a:effectLst/>
                          <a:sym typeface="Wingdings" panose="05000000000000000000" pitchFamily="2" charset="2"/>
                        </a:rPr>
                        <a:t></a:t>
                      </a:r>
                      <a:r>
                        <a:rPr lang="en-US" sz="1400">
                          <a:effectLst/>
                        </a:rPr>
                        <a:t> Thường xuyên  </a:t>
                      </a:r>
                      <a:r>
                        <a:rPr lang="en-US" sz="1400">
                          <a:effectLst/>
                          <a:sym typeface="Wingdings" panose="05000000000000000000" pitchFamily="2" charset="2"/>
                        </a:rPr>
                        <a:t></a:t>
                      </a:r>
                      <a:r>
                        <a:rPr lang="en-US" sz="1400">
                          <a:effectLst/>
                        </a:rPr>
                        <a:t> Thỉnh thoảng  </a:t>
                      </a:r>
                    </a:p>
                    <a:p>
                      <a:pPr marL="0" marR="0" indent="0">
                        <a:lnSpc>
                          <a:spcPct val="115000"/>
                        </a:lnSpc>
                        <a:spcAft>
                          <a:spcPts val="800"/>
                        </a:spcAft>
                        <a:buFont typeface="Wingdings" panose="05000000000000000000" pitchFamily="2" charset="2"/>
                        <a:buNone/>
                      </a:pPr>
                      <a:r>
                        <a:rPr lang="en-US" sz="1400">
                          <a:effectLst/>
                          <a:sym typeface="Wingdings" panose="05000000000000000000" pitchFamily="2" charset="2"/>
                        </a:rPr>
                        <a:t></a:t>
                      </a:r>
                      <a:r>
                        <a:rPr lang="en-US" sz="1400">
                          <a:effectLst/>
                        </a:rPr>
                        <a:t> Hiếm khi  </a:t>
                      </a:r>
                      <a:r>
                        <a:rPr lang="en-US" sz="1400">
                          <a:effectLst/>
                          <a:sym typeface="Wingdings" panose="05000000000000000000" pitchFamily="2" charset="2"/>
                        </a:rPr>
                        <a:t></a:t>
                      </a:r>
                      <a:r>
                        <a:rPr lang="en-US" sz="1400">
                          <a:effectLst/>
                        </a:rPr>
                        <a:t> Không xảy ra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2035714715"/>
                  </a:ext>
                </a:extLst>
              </a:tr>
              <a:tr h="1100695">
                <a:tc>
                  <a:txBody>
                    <a:bodyPr/>
                    <a:lstStyle/>
                    <a:p>
                      <a:pPr marL="0" marR="0" algn="ctr">
                        <a:lnSpc>
                          <a:spcPct val="115000"/>
                        </a:lnSpc>
                        <a:spcAft>
                          <a:spcPts val="800"/>
                        </a:spcAft>
                        <a:buNone/>
                      </a:pPr>
                      <a:r>
                        <a:rPr lang="en-US" sz="1050">
                          <a:effectLst/>
                        </a:rPr>
                        <a:t>5</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600">
                          <a:effectLst/>
                        </a:rPr>
                        <a:t>Anh/chị đánh giá mức độ ảnh hưởng của các vấn đề phát sinh đến hiệu quả chung của quy trình như thế nào?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tc>
                  <a:txBody>
                    <a:bodyPr/>
                    <a:lstStyle/>
                    <a:p>
                      <a:pPr marL="0" marR="0">
                        <a:lnSpc>
                          <a:spcPct val="115000"/>
                        </a:lnSpc>
                        <a:spcAft>
                          <a:spcPts val="800"/>
                        </a:spcAft>
                        <a:buNone/>
                      </a:pPr>
                      <a:r>
                        <a:rPr lang="en-US" sz="1400">
                          <a:effectLst/>
                          <a:sym typeface="Wingdings" panose="05000000000000000000" pitchFamily="2" charset="2"/>
                        </a:rPr>
                        <a:t></a:t>
                      </a:r>
                      <a:r>
                        <a:rPr lang="en-US" sz="1400">
                          <a:effectLst/>
                        </a:rPr>
                        <a:t> Rất lớn </a:t>
                      </a:r>
                      <a:r>
                        <a:rPr lang="en-US" sz="1400">
                          <a:effectLst/>
                          <a:sym typeface="Wingdings" panose="05000000000000000000" pitchFamily="2" charset="2"/>
                        </a:rPr>
                        <a:t></a:t>
                      </a:r>
                      <a:r>
                        <a:rPr lang="en-US" sz="1400">
                          <a:effectLst/>
                        </a:rPr>
                        <a:t> Lớn  </a:t>
                      </a:r>
                      <a:r>
                        <a:rPr lang="en-US" sz="1400">
                          <a:effectLst/>
                          <a:sym typeface="Wingdings" panose="05000000000000000000" pitchFamily="2" charset="2"/>
                        </a:rPr>
                        <a:t></a:t>
                      </a:r>
                      <a:r>
                        <a:rPr lang="en-US" sz="1400">
                          <a:effectLst/>
                        </a:rPr>
                        <a:t> Trung bình  </a:t>
                      </a:r>
                      <a:r>
                        <a:rPr lang="en-US" sz="1400">
                          <a:effectLst/>
                          <a:sym typeface="Wingdings" panose="05000000000000000000" pitchFamily="2" charset="2"/>
                        </a:rPr>
                        <a:t></a:t>
                      </a:r>
                      <a:r>
                        <a:rPr lang="en-US" sz="1400">
                          <a:effectLst/>
                        </a:rPr>
                        <a:t> Thấp  </a:t>
                      </a:r>
                      <a:r>
                        <a:rPr lang="en-US" sz="1400">
                          <a:effectLst/>
                          <a:sym typeface="Wingdings" panose="05000000000000000000" pitchFamily="2" charset="2"/>
                        </a:rPr>
                        <a:t></a:t>
                      </a:r>
                      <a:r>
                        <a:rPr lang="en-US" sz="1400">
                          <a:effectLst/>
                        </a:rPr>
                        <a:t> Không đáng kể</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39854" marR="39854" marT="0" marB="0" anchor="ctr"/>
                </a:tc>
                <a:extLst>
                  <a:ext uri="{0D108BD9-81ED-4DB2-BD59-A6C34878D82A}">
                    <a16:rowId xmlns:a16="http://schemas.microsoft.com/office/drawing/2014/main" val="1153999257"/>
                  </a:ext>
                </a:extLst>
              </a:tr>
            </a:tbl>
          </a:graphicData>
        </a:graphic>
      </p:graphicFrame>
    </p:spTree>
    <p:extLst>
      <p:ext uri="{BB962C8B-B14F-4D97-AF65-F5344CB8AC3E}">
        <p14:creationId xmlns:p14="http://schemas.microsoft.com/office/powerpoint/2010/main" val="2826010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D2B16D92-6492-971B-8253-00561920E740}"/>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CAAFF485-F6AE-C2CE-7156-EAA0065EE42C}"/>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3B9AD6AE-37C5-5A31-1224-77CDA24F4193}"/>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48E77A02-18F1-88CB-80C0-777E2EB1BCB7}"/>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CCE71A26-F49A-4CBF-A8B0-2AA026B598C0}"/>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692F5A21-F3E6-7EAA-B011-5DEF5507A467}"/>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CB7B8EFE-04B9-E7E0-C531-8F7CF5F79CDF}"/>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F9520AB2-6F65-51D2-280D-D659F0997B3A}"/>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TÍNH – </a:t>
            </a:r>
            <a:r>
              <a:rPr lang="en-US" sz="1600" b="1" i="0">
                <a:solidFill>
                  <a:schemeClr val="accent2">
                    <a:lumMod val="75000"/>
                  </a:schemeClr>
                </a:solidFill>
                <a:latin typeface="Calibri"/>
                <a:ea typeface="Calibri"/>
                <a:cs typeface="Calibri"/>
                <a:sym typeface="Calibri"/>
              </a:rPr>
              <a:t>KHÔNG</a:t>
            </a:r>
            <a:r>
              <a:rPr lang="en-US" sz="1600" b="1" i="0">
                <a:solidFill>
                  <a:srgbClr val="0A2540"/>
                </a:solidFill>
                <a:latin typeface="Calibri"/>
                <a:ea typeface="Calibri"/>
                <a:cs typeface="Calibri"/>
                <a:sym typeface="Calibri"/>
              </a:rPr>
              <a:t> CẤU TRÚC</a:t>
            </a:r>
            <a:endParaRPr sz="1600"/>
          </a:p>
        </p:txBody>
      </p:sp>
      <p:sp>
        <p:nvSpPr>
          <p:cNvPr id="5" name="Footer Placeholder 1">
            <a:extLst>
              <a:ext uri="{FF2B5EF4-FFF2-40B4-BE49-F238E27FC236}">
                <a16:creationId xmlns:a16="http://schemas.microsoft.com/office/drawing/2014/main" id="{B990DDB3-552E-14F1-C0BD-1B1E73BC3A2A}"/>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F6FCC538-3D15-A6D0-E3D4-852EBAA1F16C}"/>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23</a:t>
            </a:fld>
            <a:endParaRPr lang="en-US"/>
          </a:p>
        </p:txBody>
      </p:sp>
      <p:graphicFrame>
        <p:nvGraphicFramePr>
          <p:cNvPr id="2" name="Table 1">
            <a:extLst>
              <a:ext uri="{FF2B5EF4-FFF2-40B4-BE49-F238E27FC236}">
                <a16:creationId xmlns:a16="http://schemas.microsoft.com/office/drawing/2014/main" id="{E0E1653C-85DB-EEF8-8F90-89EEC496D039}"/>
              </a:ext>
            </a:extLst>
          </p:cNvPr>
          <p:cNvGraphicFramePr>
            <a:graphicFrameLocks noGrp="1"/>
          </p:cNvGraphicFramePr>
          <p:nvPr>
            <p:extLst>
              <p:ext uri="{D42A27DB-BD31-4B8C-83A1-F6EECF244321}">
                <p14:modId xmlns:p14="http://schemas.microsoft.com/office/powerpoint/2010/main" val="1145386813"/>
              </p:ext>
            </p:extLst>
          </p:nvPr>
        </p:nvGraphicFramePr>
        <p:xfrm>
          <a:off x="658367" y="2174575"/>
          <a:ext cx="9311543" cy="4118118"/>
        </p:xfrm>
        <a:graphic>
          <a:graphicData uri="http://schemas.openxmlformats.org/drawingml/2006/table">
            <a:tbl>
              <a:tblPr firstRow="1" firstCol="1" bandRow="1">
                <a:tableStyleId>{65267F91-CA84-436A-A840-DCCC5366F6D9}</a:tableStyleId>
              </a:tblPr>
              <a:tblGrid>
                <a:gridCol w="728379">
                  <a:extLst>
                    <a:ext uri="{9D8B030D-6E8A-4147-A177-3AD203B41FA5}">
                      <a16:colId xmlns:a16="http://schemas.microsoft.com/office/drawing/2014/main" val="154409418"/>
                    </a:ext>
                  </a:extLst>
                </a:gridCol>
                <a:gridCol w="8583164">
                  <a:extLst>
                    <a:ext uri="{9D8B030D-6E8A-4147-A177-3AD203B41FA5}">
                      <a16:colId xmlns:a16="http://schemas.microsoft.com/office/drawing/2014/main" val="4276151565"/>
                    </a:ext>
                  </a:extLst>
                </a:gridCol>
              </a:tblGrid>
              <a:tr h="536464">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20653748"/>
                  </a:ext>
                </a:extLst>
              </a:tr>
              <a:tr h="829086">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anh/chị, những hoạt động nào trong quy trình trực tiếp tạo ra giá trị cho kết quả cuối cùng và những hoạt động nào chủ yếu phục vụ kiểm soát hoặc hỗ trợ nội bộ? Vì sao?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61979780"/>
                  </a:ext>
                </a:extLst>
              </a:tr>
              <a:tr h="829086">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bước nào thường phát sinh việc chuyển giao thông tin, chứng từ hoặc trách nhiệm giữa các bên và việc chuyển giao này thường gặp khó khăn gì?</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16678222"/>
                  </a:ext>
                </a:extLst>
              </a:tr>
              <a:tr h="547198">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hoạt động nào thường phải chờ thông tin, phản hồi, xác nhận, phê duyệt hoặc điều kiện khác trước khi có thể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1132311"/>
                  </a:ext>
                </a:extLst>
              </a:tr>
              <a:tr h="547198">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trường hợp nào thường làm công việc phải được bổ sung, điều chỉnh, kiểm tra lại hoặc thực hiện lại?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97686401"/>
                  </a:ext>
                </a:extLst>
              </a:tr>
              <a:tr h="829086">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kinh nghiệm của anh/chị, nguyên nhân chính dẫn đến các vấn đề hoặc sự chậm trễ trong quy trình là gì? Hoạt động nào nên được ưu tiên cải tiến và vì sao?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31364138"/>
                  </a:ext>
                </a:extLst>
              </a:tr>
            </a:tbl>
          </a:graphicData>
        </a:graphic>
      </p:graphicFrame>
    </p:spTree>
    <p:extLst>
      <p:ext uri="{BB962C8B-B14F-4D97-AF65-F5344CB8AC3E}">
        <p14:creationId xmlns:p14="http://schemas.microsoft.com/office/powerpoint/2010/main" val="1242756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585C38E0-8D65-6279-FE38-36DF99BD4A76}"/>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9EE14B1C-CAAF-DFDA-D24C-B3D8F107676F}"/>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42DC5501-106A-075E-4472-C94D7771E2BB}"/>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F796F9E4-D3EF-ED95-94FE-5FCECD0985E9}"/>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C8992096-26C0-505C-0D63-F659B8148C48}"/>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B08545D7-4E3B-6699-47A6-4AE0F02E69B0}"/>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79E3303C-292A-9CEC-C8E1-C7B3B96A2B57}"/>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5769D8B3-30F2-306D-20FA-484E539EBB4E}"/>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LƯỢNG – CÓ CẤU TRÚC</a:t>
            </a:r>
            <a:endParaRPr sz="1600"/>
          </a:p>
        </p:txBody>
      </p:sp>
      <p:sp>
        <p:nvSpPr>
          <p:cNvPr id="5" name="Footer Placeholder 1">
            <a:extLst>
              <a:ext uri="{FF2B5EF4-FFF2-40B4-BE49-F238E27FC236}">
                <a16:creationId xmlns:a16="http://schemas.microsoft.com/office/drawing/2014/main" id="{1F090082-CA88-F06D-CD06-DB3A54D973F4}"/>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8AB3A7FB-9995-7FAD-71B0-7BEBB4BC60B1}"/>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24</a:t>
            </a:fld>
            <a:endParaRPr lang="en-US"/>
          </a:p>
        </p:txBody>
      </p:sp>
      <p:graphicFrame>
        <p:nvGraphicFramePr>
          <p:cNvPr id="2" name="Table 1">
            <a:extLst>
              <a:ext uri="{FF2B5EF4-FFF2-40B4-BE49-F238E27FC236}">
                <a16:creationId xmlns:a16="http://schemas.microsoft.com/office/drawing/2014/main" id="{194943DD-F758-3D4E-960E-7DB81822BA7B}"/>
              </a:ext>
            </a:extLst>
          </p:cNvPr>
          <p:cNvGraphicFramePr>
            <a:graphicFrameLocks noGrp="1"/>
          </p:cNvGraphicFramePr>
          <p:nvPr>
            <p:extLst>
              <p:ext uri="{D42A27DB-BD31-4B8C-83A1-F6EECF244321}">
                <p14:modId xmlns:p14="http://schemas.microsoft.com/office/powerpoint/2010/main" val="276680453"/>
              </p:ext>
            </p:extLst>
          </p:nvPr>
        </p:nvGraphicFramePr>
        <p:xfrm>
          <a:off x="646912" y="2194400"/>
          <a:ext cx="9549140" cy="4023520"/>
        </p:xfrm>
        <a:graphic>
          <a:graphicData uri="http://schemas.openxmlformats.org/drawingml/2006/table">
            <a:tbl>
              <a:tblPr firstRow="1" firstCol="1" bandRow="1">
                <a:tableStyleId>{65267F91-CA84-436A-A840-DCCC5366F6D9}</a:tableStyleId>
              </a:tblPr>
              <a:tblGrid>
                <a:gridCol w="744171">
                  <a:extLst>
                    <a:ext uri="{9D8B030D-6E8A-4147-A177-3AD203B41FA5}">
                      <a16:colId xmlns:a16="http://schemas.microsoft.com/office/drawing/2014/main" val="3879126562"/>
                    </a:ext>
                  </a:extLst>
                </a:gridCol>
                <a:gridCol w="5777834">
                  <a:extLst>
                    <a:ext uri="{9D8B030D-6E8A-4147-A177-3AD203B41FA5}">
                      <a16:colId xmlns:a16="http://schemas.microsoft.com/office/drawing/2014/main" val="2310302236"/>
                    </a:ext>
                  </a:extLst>
                </a:gridCol>
                <a:gridCol w="3027135">
                  <a:extLst>
                    <a:ext uri="{9D8B030D-6E8A-4147-A177-3AD203B41FA5}">
                      <a16:colId xmlns:a16="http://schemas.microsoft.com/office/drawing/2014/main" val="446067420"/>
                    </a:ext>
                  </a:extLst>
                </a:gridCol>
              </a:tblGrid>
              <a:tr h="324722">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Phương án trả lời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8229134"/>
                  </a:ext>
                </a:extLst>
              </a:tr>
              <a:tr h="660319">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mỗi tháng có bao nhiêu yêu cầu/giao dịch thuộc quy trình được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yêu cầu/tháng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96753771"/>
                  </a:ext>
                </a:extLst>
              </a:tr>
              <a:tr h="632353">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Thời gian trung bình từ khi một yêu cầu/giao dịch bắt đầu đến khi hoàn thành là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giờ/ngày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65154320"/>
                  </a:ext>
                </a:extLst>
              </a:tr>
              <a:tr h="646336">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Trong tổng thời gian trên, thời gian thực tế dành cho việc xử lý công việc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giờ/ngày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23780277"/>
                  </a:ext>
                </a:extLst>
              </a:tr>
              <a:tr h="939984">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trong 100 yêu cầu/giao dịch có bao nhiêu trường hợp phải bổ sung, sửa đổi hoặc thực hiện lại ít nhất một bước?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/100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36948122"/>
                  </a:ext>
                </a:extLst>
              </a:tr>
              <a:tr h="819806">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Trung bình trong 100 yêu cầu/giao dịch có bao nhiêu trường hợp được hoàn thành đúng thời hạn hoặc SLA áp dụng?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_____ /100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7913701"/>
                  </a:ext>
                </a:extLst>
              </a:tr>
            </a:tbl>
          </a:graphicData>
        </a:graphic>
      </p:graphicFrame>
    </p:spTree>
    <p:extLst>
      <p:ext uri="{BB962C8B-B14F-4D97-AF65-F5344CB8AC3E}">
        <p14:creationId xmlns:p14="http://schemas.microsoft.com/office/powerpoint/2010/main" val="814268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9">
          <a:extLst>
            <a:ext uri="{FF2B5EF4-FFF2-40B4-BE49-F238E27FC236}">
              <a16:creationId xmlns:a16="http://schemas.microsoft.com/office/drawing/2014/main" id="{08B3DC49-2A25-F0B9-6E02-3ED7B5967304}"/>
            </a:ext>
          </a:extLst>
        </p:cNvPr>
        <p:cNvGrpSpPr/>
        <p:nvPr/>
      </p:nvGrpSpPr>
      <p:grpSpPr>
        <a:xfrm>
          <a:off x="0" y="0"/>
          <a:ext cx="0" cy="0"/>
          <a:chOff x="0" y="0"/>
          <a:chExt cx="0" cy="0"/>
        </a:xfrm>
      </p:grpSpPr>
      <p:sp>
        <p:nvSpPr>
          <p:cNvPr id="470" name="Google Shape;470;p31">
            <a:extLst>
              <a:ext uri="{FF2B5EF4-FFF2-40B4-BE49-F238E27FC236}">
                <a16:creationId xmlns:a16="http://schemas.microsoft.com/office/drawing/2014/main" id="{E619208D-48CA-463C-F4CC-42545BC337F6}"/>
              </a:ext>
            </a:extLst>
          </p:cNvPr>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PROCESS DISCOVERY</a:t>
            </a:r>
            <a:endParaRPr/>
          </a:p>
        </p:txBody>
      </p:sp>
      <p:sp>
        <p:nvSpPr>
          <p:cNvPr id="471" name="Google Shape;471;p31">
            <a:extLst>
              <a:ext uri="{FF2B5EF4-FFF2-40B4-BE49-F238E27FC236}">
                <a16:creationId xmlns:a16="http://schemas.microsoft.com/office/drawing/2014/main" id="{3EC0347F-95D7-C6C2-A184-2B60C7582554}"/>
              </a:ext>
            </a:extLst>
          </p:cNvPr>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PHƯƠNG PHÁP KHÁM PHÁ QUY TRÌNH</a:t>
            </a:r>
            <a:endParaRPr/>
          </a:p>
        </p:txBody>
      </p:sp>
      <p:sp>
        <p:nvSpPr>
          <p:cNvPr id="472" name="Google Shape;472;p31">
            <a:extLst>
              <a:ext uri="{FF2B5EF4-FFF2-40B4-BE49-F238E27FC236}">
                <a16:creationId xmlns:a16="http://schemas.microsoft.com/office/drawing/2014/main" id="{F964BDFD-3F9D-F57B-4D23-782E3A780C6B}"/>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3" name="Google Shape;473;p31">
            <a:extLst>
              <a:ext uri="{FF2B5EF4-FFF2-40B4-BE49-F238E27FC236}">
                <a16:creationId xmlns:a16="http://schemas.microsoft.com/office/drawing/2014/main" id="{76AE8CD5-0315-C55E-1C73-1DE83C26CB50}"/>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77" name="Google Shape;477;p31">
            <a:extLst>
              <a:ext uri="{FF2B5EF4-FFF2-40B4-BE49-F238E27FC236}">
                <a16:creationId xmlns:a16="http://schemas.microsoft.com/office/drawing/2014/main" id="{CADF0C9C-5524-3062-681E-87061B89C512}"/>
              </a:ext>
            </a:extLst>
          </p:cNvPr>
          <p:cNvSpPr/>
          <p:nvPr/>
        </p:nvSpPr>
        <p:spPr>
          <a:xfrm>
            <a:off x="658368" y="1448093"/>
            <a:ext cx="5230368" cy="477989"/>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 </a:t>
            </a:r>
            <a:endParaRPr sz="1600">
              <a:solidFill>
                <a:schemeClr val="lt1"/>
              </a:solidFill>
              <a:latin typeface="Calibri"/>
              <a:ea typeface="Calibri"/>
              <a:cs typeface="Calibri"/>
              <a:sym typeface="Calibri"/>
            </a:endParaRPr>
          </a:p>
        </p:txBody>
      </p:sp>
      <p:sp>
        <p:nvSpPr>
          <p:cNvPr id="478" name="Google Shape;478;p31">
            <a:extLst>
              <a:ext uri="{FF2B5EF4-FFF2-40B4-BE49-F238E27FC236}">
                <a16:creationId xmlns:a16="http://schemas.microsoft.com/office/drawing/2014/main" id="{B3269C0C-7133-25B0-8165-57420B953B29}"/>
              </a:ext>
            </a:extLst>
          </p:cNvPr>
          <p:cNvSpPr/>
          <p:nvPr/>
        </p:nvSpPr>
        <p:spPr>
          <a:xfrm>
            <a:off x="658368" y="1448094"/>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479" name="Google Shape;479;p31">
            <a:extLst>
              <a:ext uri="{FF2B5EF4-FFF2-40B4-BE49-F238E27FC236}">
                <a16:creationId xmlns:a16="http://schemas.microsoft.com/office/drawing/2014/main" id="{9A5AD2FE-9315-A402-7799-4121C8F6B3D5}"/>
              </a:ext>
            </a:extLst>
          </p:cNvPr>
          <p:cNvSpPr txBox="1"/>
          <p:nvPr/>
        </p:nvSpPr>
        <p:spPr>
          <a:xfrm>
            <a:off x="874186" y="1582968"/>
            <a:ext cx="4663440" cy="25853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5 CÂU HỎI ĐỊNH LƯỢNG – </a:t>
            </a:r>
            <a:r>
              <a:rPr lang="en-US" sz="1600" b="1" i="0">
                <a:solidFill>
                  <a:schemeClr val="accent2">
                    <a:lumMod val="75000"/>
                  </a:schemeClr>
                </a:solidFill>
                <a:latin typeface="Calibri"/>
                <a:ea typeface="Calibri"/>
                <a:cs typeface="Calibri"/>
                <a:sym typeface="Calibri"/>
              </a:rPr>
              <a:t>KHÔNG</a:t>
            </a:r>
            <a:r>
              <a:rPr lang="en-US" sz="1600" b="1" i="0">
                <a:solidFill>
                  <a:srgbClr val="0A2540"/>
                </a:solidFill>
                <a:latin typeface="Calibri"/>
                <a:ea typeface="Calibri"/>
                <a:cs typeface="Calibri"/>
                <a:sym typeface="Calibri"/>
              </a:rPr>
              <a:t> CẤU TRÚC</a:t>
            </a:r>
            <a:endParaRPr sz="1600"/>
          </a:p>
        </p:txBody>
      </p:sp>
      <p:sp>
        <p:nvSpPr>
          <p:cNvPr id="5" name="Footer Placeholder 1">
            <a:extLst>
              <a:ext uri="{FF2B5EF4-FFF2-40B4-BE49-F238E27FC236}">
                <a16:creationId xmlns:a16="http://schemas.microsoft.com/office/drawing/2014/main" id="{00490DE7-6048-453D-F292-DE312B2A8D44}"/>
              </a:ext>
            </a:extLst>
          </p:cNvPr>
          <p:cNvSpPr>
            <a:spLocks noGrp="1"/>
          </p:cNvSpPr>
          <p:nvPr>
            <p:ph type="ftr" idx="11"/>
          </p:nvPr>
        </p:nvSpPr>
        <p:spPr>
          <a:xfrm>
            <a:off x="658368" y="6377277"/>
            <a:ext cx="4879258" cy="365125"/>
          </a:xfrm>
        </p:spPr>
        <p:txBody>
          <a:bodyPr/>
          <a:lstStyle/>
          <a:p>
            <a:pPr algn="l"/>
            <a:r>
              <a:rPr lang="en-US"/>
              <a:t>HỆ THỐNG QUẢN TRỊ QUY TRÌNH NGHIỆP VỤ  ·  SOLVENTUM VIỆT NAM</a:t>
            </a:r>
          </a:p>
        </p:txBody>
      </p:sp>
      <p:sp>
        <p:nvSpPr>
          <p:cNvPr id="6" name="Slide Number Placeholder 2">
            <a:extLst>
              <a:ext uri="{FF2B5EF4-FFF2-40B4-BE49-F238E27FC236}">
                <a16:creationId xmlns:a16="http://schemas.microsoft.com/office/drawing/2014/main" id="{EBA08805-AF32-5FE9-DCF7-9C1C6439B573}"/>
              </a:ext>
            </a:extLst>
          </p:cNvPr>
          <p:cNvSpPr>
            <a:spLocks noGrp="1"/>
          </p:cNvSpPr>
          <p:nvPr>
            <p:ph type="sldNum" idx="12"/>
          </p:nvPr>
        </p:nvSpPr>
        <p:spPr>
          <a:xfrm>
            <a:off x="8610600" y="6356350"/>
            <a:ext cx="2743200" cy="365125"/>
          </a:xfrm>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3" name="Table 2">
            <a:extLst>
              <a:ext uri="{FF2B5EF4-FFF2-40B4-BE49-F238E27FC236}">
                <a16:creationId xmlns:a16="http://schemas.microsoft.com/office/drawing/2014/main" id="{B24109B7-EBAE-8B1C-3ECD-D0A4D90010C8}"/>
              </a:ext>
            </a:extLst>
          </p:cNvPr>
          <p:cNvGraphicFramePr>
            <a:graphicFrameLocks noGrp="1"/>
          </p:cNvGraphicFramePr>
          <p:nvPr>
            <p:extLst>
              <p:ext uri="{D42A27DB-BD31-4B8C-83A1-F6EECF244321}">
                <p14:modId xmlns:p14="http://schemas.microsoft.com/office/powerpoint/2010/main" val="2261247158"/>
              </p:ext>
            </p:extLst>
          </p:nvPr>
        </p:nvGraphicFramePr>
        <p:xfrm>
          <a:off x="658368" y="2218702"/>
          <a:ext cx="9429529" cy="3824102"/>
        </p:xfrm>
        <a:graphic>
          <a:graphicData uri="http://schemas.openxmlformats.org/drawingml/2006/table">
            <a:tbl>
              <a:tblPr firstRow="1" firstCol="1" bandRow="1">
                <a:tableStyleId>{65267F91-CA84-436A-A840-DCCC5366F6D9}</a:tableStyleId>
              </a:tblPr>
              <a:tblGrid>
                <a:gridCol w="742202">
                  <a:extLst>
                    <a:ext uri="{9D8B030D-6E8A-4147-A177-3AD203B41FA5}">
                      <a16:colId xmlns:a16="http://schemas.microsoft.com/office/drawing/2014/main" val="3899933817"/>
                    </a:ext>
                  </a:extLst>
                </a:gridCol>
                <a:gridCol w="8687327">
                  <a:extLst>
                    <a:ext uri="{9D8B030D-6E8A-4147-A177-3AD203B41FA5}">
                      <a16:colId xmlns:a16="http://schemas.microsoft.com/office/drawing/2014/main" val="290147771"/>
                    </a:ext>
                  </a:extLst>
                </a:gridCol>
              </a:tblGrid>
              <a:tr h="346132">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600">
                          <a:effectLst/>
                        </a:rPr>
                        <a:t>Câu hỏi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5894947"/>
                  </a:ext>
                </a:extLst>
              </a:tr>
              <a:tr h="873860">
                <a:tc>
                  <a:txBody>
                    <a:bodyPr/>
                    <a:lstStyle/>
                    <a:p>
                      <a:pPr marL="0" marR="0" algn="ctr">
                        <a:lnSpc>
                          <a:spcPct val="115000"/>
                        </a:lnSpc>
                        <a:spcAft>
                          <a:spcPts val="800"/>
                        </a:spcAft>
                        <a:buNone/>
                      </a:pPr>
                      <a:r>
                        <a:rPr lang="en-US" sz="16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Theo dữ liệu hoặc kinh nghiệm thực tế, những bước nào chiếm nhiều thời gian nhất trong quy trình và thời gian trung bình của từng bước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8240388"/>
                  </a:ext>
                </a:extLst>
              </a:tr>
              <a:tr h="576750">
                <a:tc>
                  <a:txBody>
                    <a:bodyPr/>
                    <a:lstStyle/>
                    <a:p>
                      <a:pPr marL="0" marR="0" algn="ctr">
                        <a:lnSpc>
                          <a:spcPct val="115000"/>
                        </a:lnSpc>
                        <a:spcAft>
                          <a:spcPts val="800"/>
                        </a:spcAft>
                        <a:buNone/>
                      </a:pPr>
                      <a:r>
                        <a:rPr lang="en-US" sz="16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Những bước nào thường phát sinh thời gian chờ và thời gian chờ trung bình tại từng bước khoảng bao lâu?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6667985"/>
                  </a:ext>
                </a:extLst>
              </a:tr>
              <a:tr h="576750">
                <a:tc>
                  <a:txBody>
                    <a:bodyPr/>
                    <a:lstStyle/>
                    <a:p>
                      <a:pPr marL="0" marR="0" algn="ctr">
                        <a:lnSpc>
                          <a:spcPct val="115000"/>
                        </a:lnSpc>
                        <a:spcAft>
                          <a:spcPts val="800"/>
                        </a:spcAft>
                        <a:buNone/>
                      </a:pPr>
                      <a:r>
                        <a:rPr lang="en-US" sz="16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Khi một yêu cầu phải bổ sung, sửa đổi hoặc thực hiện lại, trung bình phát sinh thêm bao nhiêu thời gian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1192540"/>
                  </a:ext>
                </a:extLst>
              </a:tr>
              <a:tr h="576750">
                <a:tc>
                  <a:txBody>
                    <a:bodyPr/>
                    <a:lstStyle/>
                    <a:p>
                      <a:pPr marL="0" marR="0" algn="ctr">
                        <a:lnSpc>
                          <a:spcPct val="115000"/>
                        </a:lnSpc>
                        <a:spcAft>
                          <a:spcPts val="800"/>
                        </a:spcAft>
                        <a:buNone/>
                      </a:pPr>
                      <a:r>
                        <a:rPr lang="en-US" sz="16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Đối với một yêu cầu/giao dịch điển hình, có bao nhiêu người tham gia xử lý và tổng số giờ công sử dụng khoảng bao nhiêu?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00798750"/>
                  </a:ext>
                </a:extLst>
              </a:tr>
              <a:tr h="873860">
                <a:tc>
                  <a:txBody>
                    <a:bodyPr/>
                    <a:lstStyle/>
                    <a:p>
                      <a:pPr marL="0" marR="0" algn="ctr">
                        <a:lnSpc>
                          <a:spcPct val="115000"/>
                        </a:lnSpc>
                        <a:spcAft>
                          <a:spcPts val="800"/>
                        </a:spcAft>
                        <a:buNone/>
                      </a:pPr>
                      <a:r>
                        <a:rPr lang="en-US" sz="16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600">
                          <a:effectLst/>
                        </a:rPr>
                        <a:t>Đối với những hoạt động có thể xác định được chi phí, chi phí hoặc nguồn lực phát sinh chủ yếu nằm ở những hoạt động nào và giá trị ước tính khoảng bao nhiêu?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4565748"/>
                  </a:ext>
                </a:extLst>
              </a:tr>
            </a:tbl>
          </a:graphicData>
        </a:graphic>
      </p:graphicFrame>
    </p:spTree>
    <p:extLst>
      <p:ext uri="{BB962C8B-B14F-4D97-AF65-F5344CB8AC3E}">
        <p14:creationId xmlns:p14="http://schemas.microsoft.com/office/powerpoint/2010/main" val="3131238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2"/>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ĐÁNH GIÁ VÀ KẾT QUẢ</a:t>
            </a:r>
            <a:endParaRPr/>
          </a:p>
        </p:txBody>
      </p:sp>
      <p:sp>
        <p:nvSpPr>
          <p:cNvPr id="493" name="Google Shape;493;p32"/>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MA TRẬN ĐÁNH GIÁ 06 QUY TRÌNH THEO 05 TIÊU CHÍ</a:t>
            </a:r>
            <a:endParaRPr/>
          </a:p>
        </p:txBody>
      </p:sp>
      <p:sp>
        <p:nvSpPr>
          <p:cNvPr id="494" name="Google Shape;494;p3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3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6" name="Google Shape;496;p32"/>
          <p:cNvSpPr txBox="1"/>
          <p:nvPr/>
        </p:nvSpPr>
        <p:spPr>
          <a:xfrm>
            <a:off x="658368" y="1371600"/>
            <a:ext cx="10874959" cy="25423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400" b="0" i="1">
                <a:solidFill>
                  <a:srgbClr val="6B7784"/>
                </a:solidFill>
                <a:latin typeface="Calibri"/>
                <a:ea typeface="Calibri"/>
                <a:cs typeface="Calibri"/>
                <a:sym typeface="Calibri"/>
              </a:rPr>
              <a:t>Bảng 3.9 — Đánh giá mức độ phù hợp cho phân tích chuyên sâu (thang Cao – Trung bình – Thấp)</a:t>
            </a:r>
            <a:endParaRPr/>
          </a:p>
        </p:txBody>
      </p:sp>
      <p:graphicFrame>
        <p:nvGraphicFramePr>
          <p:cNvPr id="499" name="Google Shape;499;p32"/>
          <p:cNvGraphicFramePr/>
          <p:nvPr>
            <p:extLst>
              <p:ext uri="{D42A27DB-BD31-4B8C-83A1-F6EECF244321}">
                <p14:modId xmlns:p14="http://schemas.microsoft.com/office/powerpoint/2010/main" val="2057160991"/>
              </p:ext>
            </p:extLst>
          </p:nvPr>
        </p:nvGraphicFramePr>
        <p:xfrm>
          <a:off x="649202" y="1739701"/>
          <a:ext cx="10874959" cy="3445714"/>
        </p:xfrm>
        <a:graphic>
          <a:graphicData uri="http://schemas.openxmlformats.org/drawingml/2006/table">
            <a:tbl>
              <a:tblPr firstRow="1">
                <a:noFill/>
                <a:tableStyleId>{65267F91-CA84-436A-A840-DCCC5366F6D9}</a:tableStyleId>
              </a:tblPr>
              <a:tblGrid>
                <a:gridCol w="3380426">
                  <a:extLst>
                    <a:ext uri="{9D8B030D-6E8A-4147-A177-3AD203B41FA5}">
                      <a16:colId xmlns:a16="http://schemas.microsoft.com/office/drawing/2014/main" val="20000"/>
                    </a:ext>
                  </a:extLst>
                </a:gridCol>
                <a:gridCol w="1498362">
                  <a:extLst>
                    <a:ext uri="{9D8B030D-6E8A-4147-A177-3AD203B41FA5}">
                      <a16:colId xmlns:a16="http://schemas.microsoft.com/office/drawing/2014/main" val="20001"/>
                    </a:ext>
                  </a:extLst>
                </a:gridCol>
                <a:gridCol w="1498362">
                  <a:extLst>
                    <a:ext uri="{9D8B030D-6E8A-4147-A177-3AD203B41FA5}">
                      <a16:colId xmlns:a16="http://schemas.microsoft.com/office/drawing/2014/main" val="20002"/>
                    </a:ext>
                  </a:extLst>
                </a:gridCol>
                <a:gridCol w="1498362">
                  <a:extLst>
                    <a:ext uri="{9D8B030D-6E8A-4147-A177-3AD203B41FA5}">
                      <a16:colId xmlns:a16="http://schemas.microsoft.com/office/drawing/2014/main" val="20003"/>
                    </a:ext>
                  </a:extLst>
                </a:gridCol>
                <a:gridCol w="1562308">
                  <a:extLst>
                    <a:ext uri="{9D8B030D-6E8A-4147-A177-3AD203B41FA5}">
                      <a16:colId xmlns:a16="http://schemas.microsoft.com/office/drawing/2014/main" val="20004"/>
                    </a:ext>
                  </a:extLst>
                </a:gridCol>
                <a:gridCol w="1437139">
                  <a:extLst>
                    <a:ext uri="{9D8B030D-6E8A-4147-A177-3AD203B41FA5}">
                      <a16:colId xmlns:a16="http://schemas.microsoft.com/office/drawing/2014/main" val="20005"/>
                    </a:ext>
                  </a:extLst>
                </a:gridCol>
              </a:tblGrid>
              <a:tr h="632050">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QUY TRÌNH</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Tương tác</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giữa các bên</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Chuyển giao</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công việc</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Khả năng</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phát sinh chờ</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Khả năng phân</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tích định lượng</a:t>
                      </a:r>
                      <a:endParaRPr sz="2400"/>
                    </a:p>
                  </a:txBody>
                  <a:tcPr marL="100575"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400" b="1" u="none" strike="noStrike" cap="none">
                          <a:solidFill>
                            <a:srgbClr val="FFFFFF"/>
                          </a:solidFill>
                          <a:latin typeface="Calibri"/>
                          <a:ea typeface="Calibri"/>
                          <a:cs typeface="Calibri"/>
                          <a:sym typeface="Calibri"/>
                        </a:rPr>
                        <a:t>Tiềm năng</a:t>
                      </a:r>
                      <a:br>
                        <a:rPr lang="en-US" sz="1400" b="1" u="none" strike="noStrike" cap="none">
                          <a:solidFill>
                            <a:srgbClr val="FFFFFF"/>
                          </a:solidFill>
                          <a:latin typeface="Calibri"/>
                          <a:ea typeface="Calibri"/>
                          <a:cs typeface="Calibri"/>
                          <a:sym typeface="Calibri"/>
                        </a:rPr>
                      </a:br>
                      <a:r>
                        <a:rPr lang="en-US" sz="1400" b="1" u="none" strike="noStrike" cap="none">
                          <a:solidFill>
                            <a:srgbClr val="FFFFFF"/>
                          </a:solidFill>
                          <a:latin typeface="Calibri"/>
                          <a:ea typeface="Calibri"/>
                          <a:cs typeface="Calibri"/>
                          <a:sym typeface="Calibri"/>
                        </a:rPr>
                        <a:t>cải tiến</a:t>
                      </a:r>
                      <a:endParaRPr sz="2400"/>
                    </a:p>
                  </a:txBody>
                  <a:tcPr marL="100575" marR="73150" marT="41150" marB="41150" anchor="ctr">
                    <a:solidFill>
                      <a:srgbClr val="0A2540"/>
                    </a:solidFill>
                  </a:tcPr>
                </a:tc>
                <a:extLst>
                  <a:ext uri="{0D108BD9-81ED-4DB2-BD59-A6C34878D82A}">
                    <a16:rowId xmlns:a16="http://schemas.microsoft.com/office/drawing/2014/main" val="10000"/>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M01  Business Planning</a:t>
                      </a:r>
                      <a:endParaRPr sz="2400"/>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1400" b="1" u="none" strike="noStrike" cap="none">
                        <a:solidFill>
                          <a:srgbClr val="B54A08"/>
                        </a:solidFill>
                        <a:latin typeface="Calibri"/>
                        <a:ea typeface="Calibri"/>
                        <a:cs typeface="Calibri"/>
                        <a:sym typeface="Calibri"/>
                      </a:endParaRPr>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D92D20"/>
                          </a:solidFill>
                          <a:latin typeface="Calibri"/>
                          <a:ea typeface="Calibri"/>
                          <a:cs typeface="Calibri"/>
                          <a:sym typeface="Calibri"/>
                        </a:rPr>
                        <a:t>Thấp</a:t>
                      </a:r>
                      <a:endParaRPr sz="2400"/>
                    </a:p>
                  </a:txBody>
                  <a:tcPr marL="100575" marR="73150" marT="41150" marB="41150" anchor="ctr">
                    <a:solidFill>
                      <a:srgbClr val="FEF3F2"/>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extLst>
                  <a:ext uri="{0D108BD9-81ED-4DB2-BD59-A6C34878D82A}">
                    <a16:rowId xmlns:a16="http://schemas.microsoft.com/office/drawing/2014/main" val="10001"/>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M02  Customer Complaint Management</a:t>
                      </a:r>
                      <a:endParaRPr sz="2400"/>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2"/>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C02  Order Management (OTC)</a:t>
                      </a:r>
                      <a:endParaRPr sz="2400"/>
                    </a:p>
                  </a:txBody>
                  <a:tcPr marL="100575" marR="73150" marT="41150" marB="41150" anchor="ctr">
                    <a:solidFill>
                      <a:srgbClr val="FFFFFF"/>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extLst>
                  <a:ext uri="{0D108BD9-81ED-4DB2-BD59-A6C34878D82A}">
                    <a16:rowId xmlns:a16="http://schemas.microsoft.com/office/drawing/2014/main" val="10003"/>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C03  Service Order Management</a:t>
                      </a:r>
                      <a:endParaRPr sz="2400"/>
                    </a:p>
                  </a:txBody>
                  <a:tcPr marL="100575" marR="73150" marT="41150" marB="41150" anchor="ctr">
                    <a:solidFill>
                      <a:srgbClr val="E3F0F9"/>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4"/>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S01  Procurement Management</a:t>
                      </a:r>
                      <a:endParaRPr sz="2400"/>
                    </a:p>
                  </a:txBody>
                  <a:tcPr marL="100575" marR="73150" marT="41150" marB="41150" anchor="ctr">
                    <a:solidFill>
                      <a:srgbClr val="E3F0F9"/>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extLst>
                  <a:ext uri="{0D108BD9-81ED-4DB2-BD59-A6C34878D82A}">
                    <a16:rowId xmlns:a16="http://schemas.microsoft.com/office/drawing/2014/main" val="10005"/>
                  </a:ext>
                </a:extLst>
              </a:tr>
              <a:tr h="468944">
                <a:tc>
                  <a:txBody>
                    <a:bodyPr/>
                    <a:lstStyle/>
                    <a:p>
                      <a:pPr marL="0" marR="0" lvl="0" indent="0" algn="ctr" rtl="0">
                        <a:lnSpc>
                          <a:spcPct val="105000"/>
                        </a:lnSpc>
                        <a:spcBef>
                          <a:spcPts val="0"/>
                        </a:spcBef>
                        <a:spcAft>
                          <a:spcPts val="0"/>
                        </a:spcAft>
                        <a:buNone/>
                      </a:pPr>
                      <a:r>
                        <a:rPr lang="en-US" sz="1400" b="1" u="none" strike="noStrike" cap="none">
                          <a:solidFill>
                            <a:srgbClr val="2B3440"/>
                          </a:solidFill>
                          <a:latin typeface="Calibri"/>
                          <a:ea typeface="Calibri"/>
                          <a:cs typeface="Calibri"/>
                          <a:sym typeface="Calibri"/>
                        </a:rPr>
                        <a:t>S02  Inbound Processing</a:t>
                      </a:r>
                      <a:endParaRPr sz="2400"/>
                    </a:p>
                  </a:txBody>
                  <a:tcPr marL="100575" marR="73150" marT="41150" marB="41150" anchor="ctr">
                    <a:solidFill>
                      <a:srgbClr val="F4F7FA"/>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2400"/>
                    </a:p>
                  </a:txBody>
                  <a:tcPr marL="100575" marR="73150" marT="41150" marB="41150" anchor="ctr">
                    <a:solidFill>
                      <a:srgbClr val="FFF6E8"/>
                    </a:solidFill>
                  </a:tcPr>
                </a:tc>
                <a:tc>
                  <a:txBody>
                    <a:bodyPr/>
                    <a:lstStyle/>
                    <a:p>
                      <a:pPr marL="0" marR="0" lvl="0" indent="0" algn="l" rtl="0">
                        <a:lnSpc>
                          <a:spcPct val="105000"/>
                        </a:lnSpc>
                        <a:spcBef>
                          <a:spcPts val="0"/>
                        </a:spcBef>
                        <a:spcAft>
                          <a:spcPts val="0"/>
                        </a:spcAft>
                        <a:buNone/>
                      </a:pPr>
                      <a:r>
                        <a:rPr lang="en-US" sz="1400" b="1" u="none" strike="noStrike" cap="none">
                          <a:solidFill>
                            <a:srgbClr val="006B5C"/>
                          </a:solidFill>
                          <a:latin typeface="Calibri"/>
                          <a:ea typeface="Calibri"/>
                          <a:cs typeface="Calibri"/>
                          <a:sym typeface="Calibri"/>
                        </a:rPr>
                        <a:t>Cao</a:t>
                      </a:r>
                      <a:endParaRPr sz="2400"/>
                    </a:p>
                  </a:txBody>
                  <a:tcPr marL="100575" marR="73150" marT="41150" marB="41150" anchor="ctr">
                    <a:solidFill>
                      <a:srgbClr val="E7F7F3"/>
                    </a:solidFill>
                  </a:tcPr>
                </a:tc>
                <a:tc>
                  <a:txBody>
                    <a:bodyPr/>
                    <a:lstStyle/>
                    <a:p>
                      <a:pPr marL="0" marR="0" lvl="0" indent="0" algn="l" rtl="0">
                        <a:lnSpc>
                          <a:spcPct val="105000"/>
                        </a:lnSpc>
                        <a:spcBef>
                          <a:spcPts val="0"/>
                        </a:spcBef>
                        <a:spcAft>
                          <a:spcPts val="0"/>
                        </a:spcAft>
                        <a:buNone/>
                      </a:pPr>
                      <a:r>
                        <a:rPr lang="en-US" sz="1400" b="1" u="none" strike="noStrike" cap="none">
                          <a:solidFill>
                            <a:srgbClr val="B54A08"/>
                          </a:solidFill>
                          <a:latin typeface="Calibri"/>
                          <a:ea typeface="Calibri"/>
                          <a:cs typeface="Calibri"/>
                          <a:sym typeface="Calibri"/>
                        </a:rPr>
                        <a:t>Trung bình</a:t>
                      </a:r>
                      <a:endParaRPr sz="1400" b="1" u="none" strike="noStrike" cap="none">
                        <a:solidFill>
                          <a:srgbClr val="B54A08"/>
                        </a:solidFill>
                        <a:latin typeface="Calibri"/>
                        <a:ea typeface="Calibri"/>
                        <a:cs typeface="Calibri"/>
                        <a:sym typeface="Calibri"/>
                      </a:endParaRPr>
                    </a:p>
                  </a:txBody>
                  <a:tcPr marL="100575" marR="73150" marT="41150" marB="41150" anchor="ctr">
                    <a:solidFill>
                      <a:srgbClr val="FFF6E8"/>
                    </a:solidFill>
                  </a:tcPr>
                </a:tc>
                <a:extLst>
                  <a:ext uri="{0D108BD9-81ED-4DB2-BD59-A6C34878D82A}">
                    <a16:rowId xmlns:a16="http://schemas.microsoft.com/office/drawing/2014/main" val="10006"/>
                  </a:ext>
                </a:extLst>
              </a:tr>
            </a:tbl>
          </a:graphicData>
        </a:graphic>
      </p:graphicFrame>
      <p:sp>
        <p:nvSpPr>
          <p:cNvPr id="500" name="Google Shape;500;p32"/>
          <p:cNvSpPr/>
          <p:nvPr/>
        </p:nvSpPr>
        <p:spPr>
          <a:xfrm>
            <a:off x="489203" y="3785616"/>
            <a:ext cx="59437" cy="93878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2" name="Google Shape;502;p32"/>
          <p:cNvSpPr/>
          <p:nvPr/>
        </p:nvSpPr>
        <p:spPr>
          <a:xfrm>
            <a:off x="658368" y="5489942"/>
            <a:ext cx="256032" cy="219456"/>
          </a:xfrm>
          <a:prstGeom prst="rect">
            <a:avLst/>
          </a:prstGeom>
          <a:solidFill>
            <a:srgbClr val="E7F7F3"/>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3" name="Google Shape;503;p32"/>
          <p:cNvSpPr txBox="1"/>
          <p:nvPr/>
        </p:nvSpPr>
        <p:spPr>
          <a:xfrm>
            <a:off x="100584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006B5C"/>
                </a:solidFill>
                <a:latin typeface="Calibri"/>
                <a:ea typeface="Calibri"/>
                <a:cs typeface="Calibri"/>
                <a:sym typeface="Calibri"/>
              </a:rPr>
              <a:t>Cao</a:t>
            </a:r>
            <a:endParaRPr/>
          </a:p>
        </p:txBody>
      </p:sp>
      <p:sp>
        <p:nvSpPr>
          <p:cNvPr id="504" name="Google Shape;504;p32"/>
          <p:cNvSpPr/>
          <p:nvPr/>
        </p:nvSpPr>
        <p:spPr>
          <a:xfrm>
            <a:off x="2075688" y="5489942"/>
            <a:ext cx="256032" cy="219456"/>
          </a:xfrm>
          <a:prstGeom prst="rect">
            <a:avLst/>
          </a:prstGeom>
          <a:solidFill>
            <a:srgbClr val="FFF6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5" name="Google Shape;505;p32"/>
          <p:cNvSpPr txBox="1"/>
          <p:nvPr/>
        </p:nvSpPr>
        <p:spPr>
          <a:xfrm>
            <a:off x="242316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B54A08"/>
                </a:solidFill>
                <a:latin typeface="Calibri"/>
                <a:ea typeface="Calibri"/>
                <a:cs typeface="Calibri"/>
                <a:sym typeface="Calibri"/>
              </a:rPr>
              <a:t>Trung bình</a:t>
            </a:r>
            <a:endParaRPr/>
          </a:p>
        </p:txBody>
      </p:sp>
      <p:sp>
        <p:nvSpPr>
          <p:cNvPr id="506" name="Google Shape;506;p32"/>
          <p:cNvSpPr/>
          <p:nvPr/>
        </p:nvSpPr>
        <p:spPr>
          <a:xfrm>
            <a:off x="3493008" y="5489942"/>
            <a:ext cx="256032" cy="219456"/>
          </a:xfrm>
          <a:prstGeom prst="rect">
            <a:avLst/>
          </a:prstGeom>
          <a:solidFill>
            <a:srgbClr val="FEF3F2"/>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Calibri"/>
              <a:ea typeface="Calibri"/>
              <a:cs typeface="Calibri"/>
              <a:sym typeface="Calibri"/>
            </a:endParaRPr>
          </a:p>
        </p:txBody>
      </p:sp>
      <p:sp>
        <p:nvSpPr>
          <p:cNvPr id="507" name="Google Shape;507;p32"/>
          <p:cNvSpPr txBox="1"/>
          <p:nvPr/>
        </p:nvSpPr>
        <p:spPr>
          <a:xfrm>
            <a:off x="3840480" y="5489942"/>
            <a:ext cx="1005840"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D92D20"/>
                </a:solidFill>
                <a:latin typeface="Calibri"/>
                <a:ea typeface="Calibri"/>
                <a:cs typeface="Calibri"/>
                <a:sym typeface="Calibri"/>
              </a:rPr>
              <a:t>Thấp</a:t>
            </a:r>
            <a:endParaRPr/>
          </a:p>
        </p:txBody>
      </p:sp>
      <p:sp>
        <p:nvSpPr>
          <p:cNvPr id="508" name="Google Shape;508;p32"/>
          <p:cNvSpPr txBox="1"/>
          <p:nvPr/>
        </p:nvSpPr>
        <p:spPr>
          <a:xfrm>
            <a:off x="5230368" y="5489942"/>
            <a:ext cx="6302959" cy="219456"/>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b="1" i="0">
                <a:solidFill>
                  <a:srgbClr val="0A2540"/>
                </a:solidFill>
                <a:latin typeface="Calibri"/>
                <a:ea typeface="Calibri"/>
                <a:cs typeface="Calibri"/>
                <a:sym typeface="Calibri"/>
              </a:rPr>
              <a:t>▌  Hàng được tô nền xanh là 02 quy trình đạt mức Cao ở toàn bộ 05 tiêu chí</a:t>
            </a:r>
            <a:endParaRPr/>
          </a:p>
        </p:txBody>
      </p:sp>
      <p:sp>
        <p:nvSpPr>
          <p:cNvPr id="509" name="Google Shape;509;p32"/>
          <p:cNvSpPr/>
          <p:nvPr/>
        </p:nvSpPr>
        <p:spPr>
          <a:xfrm>
            <a:off x="658368" y="5873990"/>
            <a:ext cx="10874959" cy="47548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10" name="Google Shape;510;p32"/>
          <p:cNvSpPr txBox="1"/>
          <p:nvPr/>
        </p:nvSpPr>
        <p:spPr>
          <a:xfrm>
            <a:off x="914400" y="5987854"/>
            <a:ext cx="10372039" cy="247760"/>
          </a:xfrm>
          <a:prstGeom prst="rect">
            <a:avLst/>
          </a:prstGeom>
          <a:noFill/>
          <a:ln>
            <a:noFill/>
          </a:ln>
        </p:spPr>
        <p:txBody>
          <a:bodyPr spcFirstLastPara="1" wrap="square" lIns="0" tIns="0" rIns="0" bIns="0" anchor="ctr" anchorCtr="0">
            <a:spAutoFit/>
          </a:bodyPr>
          <a:lstStyle/>
          <a:p>
            <a:pPr marL="0" marR="0" lvl="0" indent="0" algn="l" rtl="0">
              <a:lnSpc>
                <a:spcPct val="115000"/>
              </a:lnSpc>
              <a:spcBef>
                <a:spcPts val="0"/>
              </a:spcBef>
              <a:spcAft>
                <a:spcPts val="0"/>
              </a:spcAft>
              <a:buNone/>
            </a:pPr>
            <a:r>
              <a:rPr lang="en-US" sz="1400" b="0" i="1">
                <a:solidFill>
                  <a:srgbClr val="6B7784"/>
                </a:solidFill>
                <a:latin typeface="Calibri"/>
                <a:ea typeface="Calibri"/>
                <a:cs typeface="Calibri"/>
                <a:sym typeface="Calibri"/>
              </a:rPr>
              <a:t>Ghi chú: mức độ Cao – Trung bình – Thấp được đánh giá tương đối, dựa trên đặc điểm các quy trình đã khảo sát và mô hình hóa.</a:t>
            </a:r>
            <a:endParaRPr/>
          </a:p>
        </p:txBody>
      </p:sp>
      <p:sp>
        <p:nvSpPr>
          <p:cNvPr id="2" name="Footer Placeholder 1">
            <a:extLst>
              <a:ext uri="{FF2B5EF4-FFF2-40B4-BE49-F238E27FC236}">
                <a16:creationId xmlns:a16="http://schemas.microsoft.com/office/drawing/2014/main" id="{BAB32B2C-147D-2A47-79E2-CDA3DCF6A003}"/>
              </a:ext>
            </a:extLst>
          </p:cNvPr>
          <p:cNvSpPr>
            <a:spLocks noGrp="1"/>
          </p:cNvSpPr>
          <p:nvPr>
            <p:ph type="ftr" idx="11"/>
          </p:nvPr>
        </p:nvSpPr>
        <p:spPr>
          <a:xfrm>
            <a:off x="658368" y="6382509"/>
            <a:ext cx="472440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EA87AD0-9F6D-8357-2729-FCE810198B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3"/>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3 · ĐÁNH GIÁ VÀ KẾT QUẢ</a:t>
            </a:r>
            <a:endParaRPr/>
          </a:p>
        </p:txBody>
      </p:sp>
      <p:sp>
        <p:nvSpPr>
          <p:cNvPr id="516" name="Google Shape;516;p33"/>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02 QUY TRÌNH ĐƯỢC CHỌN PHÂN TÍCH CHUYÊN SÂU</a:t>
            </a:r>
            <a:endParaRPr/>
          </a:p>
        </p:txBody>
      </p:sp>
      <p:sp>
        <p:nvSpPr>
          <p:cNvPr id="517" name="Google Shape;517;p3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8" name="Google Shape;518;p3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33"/>
          <p:cNvSpPr/>
          <p:nvPr/>
        </p:nvSpPr>
        <p:spPr>
          <a:xfrm>
            <a:off x="658368" y="1536387"/>
            <a:ext cx="5367528" cy="3701473"/>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2" name="Google Shape;522;p33"/>
          <p:cNvSpPr/>
          <p:nvPr/>
        </p:nvSpPr>
        <p:spPr>
          <a:xfrm>
            <a:off x="658368" y="1536388"/>
            <a:ext cx="5367528" cy="5486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3" name="Google Shape;523;p33"/>
          <p:cNvSpPr/>
          <p:nvPr/>
        </p:nvSpPr>
        <p:spPr>
          <a:xfrm>
            <a:off x="914400" y="1755844"/>
            <a:ext cx="859536" cy="420624"/>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4" name="Google Shape;524;p33"/>
          <p:cNvSpPr txBox="1"/>
          <p:nvPr/>
        </p:nvSpPr>
        <p:spPr>
          <a:xfrm>
            <a:off x="914400" y="1843046"/>
            <a:ext cx="85953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a:solidFill>
                  <a:srgbClr val="FFFFFF"/>
                </a:solidFill>
                <a:latin typeface="Calibri"/>
                <a:ea typeface="Calibri"/>
                <a:cs typeface="Calibri"/>
                <a:sym typeface="Calibri"/>
              </a:rPr>
              <a:t>C03</a:t>
            </a:r>
            <a:endParaRPr sz="1600"/>
          </a:p>
        </p:txBody>
      </p:sp>
      <p:sp>
        <p:nvSpPr>
          <p:cNvPr id="525" name="Google Shape;525;p33"/>
          <p:cNvSpPr txBox="1"/>
          <p:nvPr/>
        </p:nvSpPr>
        <p:spPr>
          <a:xfrm>
            <a:off x="1901952" y="1737556"/>
            <a:ext cx="393192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QUẢN LÝ DỊCH VỤ VÀ SỬA CHỮA</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Service Order Management  ·  Nhóm Cốt lõi</a:t>
            </a:r>
            <a:endParaRPr sz="1600"/>
          </a:p>
        </p:txBody>
      </p:sp>
      <p:sp>
        <p:nvSpPr>
          <p:cNvPr id="526" name="Google Shape;526;p33"/>
          <p:cNvSpPr txBox="1"/>
          <p:nvPr/>
        </p:nvSpPr>
        <p:spPr>
          <a:xfrm>
            <a:off x="932688" y="2487364"/>
            <a:ext cx="4846320" cy="2750497"/>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600" b="0" i="0">
                <a:solidFill>
                  <a:srgbClr val="2B3440"/>
                </a:solidFill>
                <a:latin typeface="Calibri"/>
                <a:ea typeface="Calibri"/>
                <a:cs typeface="Calibri"/>
                <a:sym typeface="Calibri"/>
              </a:rPr>
              <a:t>•  Nhiều điểm tương tác và chuyển giao giữa khách hàng, Service Admin và Technical Service.</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Chuỗi xử lý dài: tiếp nhận yêu cầu → báo giá → Service / Repair Order → hoàn tất dịch vụ.</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Đo lường được thời gian phản hồi, thời gian sửa chữa và chi phí dịch vụ.</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Quyết định trực tiếp uy tín sau bán hàng của doanh nghiệp.</a:t>
            </a:r>
            <a:endParaRPr sz="1600"/>
          </a:p>
        </p:txBody>
      </p:sp>
      <p:sp>
        <p:nvSpPr>
          <p:cNvPr id="527" name="Google Shape;527;p33"/>
          <p:cNvSpPr/>
          <p:nvPr/>
        </p:nvSpPr>
        <p:spPr>
          <a:xfrm>
            <a:off x="6199632" y="1536388"/>
            <a:ext cx="5367528" cy="3701472"/>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8" name="Google Shape;528;p33"/>
          <p:cNvSpPr/>
          <p:nvPr/>
        </p:nvSpPr>
        <p:spPr>
          <a:xfrm>
            <a:off x="6199632" y="1536388"/>
            <a:ext cx="5367528" cy="5486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29" name="Google Shape;529;p33"/>
          <p:cNvSpPr/>
          <p:nvPr/>
        </p:nvSpPr>
        <p:spPr>
          <a:xfrm>
            <a:off x="6455664" y="1755844"/>
            <a:ext cx="859536" cy="420624"/>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30" name="Google Shape;530;p33"/>
          <p:cNvSpPr txBox="1"/>
          <p:nvPr/>
        </p:nvSpPr>
        <p:spPr>
          <a:xfrm>
            <a:off x="6455664" y="1843046"/>
            <a:ext cx="859536" cy="24622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US" sz="1600" b="1" i="0">
                <a:solidFill>
                  <a:srgbClr val="0A2540"/>
                </a:solidFill>
                <a:latin typeface="Calibri"/>
                <a:ea typeface="Calibri"/>
                <a:cs typeface="Calibri"/>
                <a:sym typeface="Calibri"/>
              </a:rPr>
              <a:t>S01</a:t>
            </a:r>
            <a:endParaRPr sz="1600"/>
          </a:p>
        </p:txBody>
      </p:sp>
      <p:sp>
        <p:nvSpPr>
          <p:cNvPr id="531" name="Google Shape;531;p33"/>
          <p:cNvSpPr txBox="1"/>
          <p:nvPr/>
        </p:nvSpPr>
        <p:spPr>
          <a:xfrm>
            <a:off x="7443216" y="1737556"/>
            <a:ext cx="3931920" cy="530402"/>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QUẢN LÝ MUA HÀNG VÀ CUNG ỨNG</a:t>
            </a:r>
            <a:endParaRPr sz="1600"/>
          </a:p>
          <a:p>
            <a:pPr marL="0" marR="0" lvl="0" indent="0" algn="l" rtl="0">
              <a:lnSpc>
                <a:spcPct val="100000"/>
              </a:lnSpc>
              <a:spcBef>
                <a:spcPts val="200"/>
              </a:spcBef>
              <a:spcAft>
                <a:spcPts val="0"/>
              </a:spcAft>
              <a:buNone/>
            </a:pPr>
            <a:r>
              <a:rPr lang="en-US" sz="1600" b="0" i="1">
                <a:solidFill>
                  <a:srgbClr val="6B7784"/>
                </a:solidFill>
                <a:latin typeface="Calibri"/>
                <a:ea typeface="Calibri"/>
                <a:cs typeface="Calibri"/>
                <a:sym typeface="Calibri"/>
              </a:rPr>
              <a:t>Procurement Management  ·  Nhóm Hỗ trợ</a:t>
            </a:r>
            <a:endParaRPr sz="1600"/>
          </a:p>
        </p:txBody>
      </p:sp>
      <p:sp>
        <p:nvSpPr>
          <p:cNvPr id="532" name="Google Shape;532;p33"/>
          <p:cNvSpPr txBox="1"/>
          <p:nvPr/>
        </p:nvSpPr>
        <p:spPr>
          <a:xfrm>
            <a:off x="6473952" y="2487364"/>
            <a:ext cx="4846320" cy="2750497"/>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600" b="0" i="0">
                <a:solidFill>
                  <a:srgbClr val="2B3440"/>
                </a:solidFill>
                <a:latin typeface="Calibri"/>
                <a:ea typeface="Calibri"/>
                <a:cs typeface="Calibri"/>
                <a:sym typeface="Calibri"/>
              </a:rPr>
              <a:t>•  Chu trình Source-to-Pay đi qua nhiều bộ phận: Requester – Buyer – Approver – Supplier.</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Thường phát sinh chờ đợi ở khâu phê duyệt PR và xác nhận PO từ nhà cung cấp.</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Có sẵn dữ liệu định lượng: số PR/PO, lead time, tỷ lệ PR bị trả lại.</a:t>
            </a:r>
            <a:endParaRPr sz="1600"/>
          </a:p>
          <a:p>
            <a:pPr marL="0" marR="0" lvl="0" indent="0" algn="l" rtl="0">
              <a:lnSpc>
                <a:spcPct val="124000"/>
              </a:lnSpc>
              <a:spcBef>
                <a:spcPts val="800"/>
              </a:spcBef>
              <a:spcAft>
                <a:spcPts val="0"/>
              </a:spcAft>
              <a:buNone/>
            </a:pPr>
            <a:r>
              <a:rPr lang="en-US" sz="1600" b="0" i="0">
                <a:solidFill>
                  <a:srgbClr val="2B3440"/>
                </a:solidFill>
                <a:latin typeface="Calibri"/>
                <a:ea typeface="Calibri"/>
                <a:cs typeface="Calibri"/>
                <a:sym typeface="Calibri"/>
              </a:rPr>
              <a:t>•  Là quy trình nền cho toàn bộ chuỗi cung ứng và hoạt động nhập kho.</a:t>
            </a:r>
            <a:endParaRPr sz="1600"/>
          </a:p>
        </p:txBody>
      </p:sp>
      <p:sp>
        <p:nvSpPr>
          <p:cNvPr id="533" name="Google Shape;533;p33"/>
          <p:cNvSpPr/>
          <p:nvPr/>
        </p:nvSpPr>
        <p:spPr>
          <a:xfrm>
            <a:off x="658368" y="5464770"/>
            <a:ext cx="10874959" cy="950976"/>
          </a:xfrm>
          <a:prstGeom prst="rect">
            <a:avLst/>
          </a:prstGeom>
          <a:solidFill>
            <a:srgbClr val="FFF6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34" name="Google Shape;534;p33"/>
          <p:cNvSpPr/>
          <p:nvPr/>
        </p:nvSpPr>
        <p:spPr>
          <a:xfrm>
            <a:off x="658368" y="5464770"/>
            <a:ext cx="50292" cy="950976"/>
          </a:xfrm>
          <a:prstGeom prst="rect">
            <a:avLst/>
          </a:prstGeom>
          <a:solidFill>
            <a:srgbClr val="B54A0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35" name="Google Shape;535;p33"/>
          <p:cNvSpPr txBox="1"/>
          <p:nvPr/>
        </p:nvSpPr>
        <p:spPr>
          <a:xfrm>
            <a:off x="950976" y="5522579"/>
            <a:ext cx="10280599" cy="83535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1400" b="1" i="0">
                <a:solidFill>
                  <a:srgbClr val="B54A08"/>
                </a:solidFill>
                <a:latin typeface="Calibri"/>
                <a:ea typeface="Calibri"/>
                <a:cs typeface="Calibri"/>
                <a:sym typeface="Calibri"/>
              </a:rPr>
              <a:t>VÌ SAO KHÔNG CHỌN M02 – CUSTOMER COMPLAINT MANAGEMENT?</a:t>
            </a:r>
            <a:endParaRPr/>
          </a:p>
          <a:p>
            <a:pPr marL="0" marR="0" lvl="0" indent="0" algn="l" rtl="0">
              <a:lnSpc>
                <a:spcPct val="126000"/>
              </a:lnSpc>
              <a:spcBef>
                <a:spcPts val="600"/>
              </a:spcBef>
              <a:spcAft>
                <a:spcPts val="0"/>
              </a:spcAft>
              <a:buNone/>
            </a:pPr>
            <a:r>
              <a:rPr lang="en-US" sz="1400" b="0" i="0">
                <a:solidFill>
                  <a:srgbClr val="2B3440"/>
                </a:solidFill>
                <a:latin typeface="Calibri"/>
                <a:ea typeface="Calibri"/>
                <a:cs typeface="Calibri"/>
                <a:sym typeface="Calibri"/>
              </a:rPr>
              <a:t>M02 đạt mức Cao ở 04/05 tiêu chí và là ứng viên sát nút. Điểm khác biệt duy nhất nằm ở tiêu chí “Khả năng phân tích định lượng” (Trung bình): dữ liệu complaint mang tính vụ việc, khó thu thập chỉ số Cycle Time – Cost – Rework đủ tin cậy cho phân tích định lượng ở Chương 4.</a:t>
            </a:r>
            <a:endParaRPr/>
          </a:p>
        </p:txBody>
      </p:sp>
      <p:sp>
        <p:nvSpPr>
          <p:cNvPr id="2" name="Footer Placeholder 1">
            <a:extLst>
              <a:ext uri="{FF2B5EF4-FFF2-40B4-BE49-F238E27FC236}">
                <a16:creationId xmlns:a16="http://schemas.microsoft.com/office/drawing/2014/main" id="{B4528837-C33C-9117-13B5-8FCB91A8A68A}"/>
              </a:ext>
            </a:extLst>
          </p:cNvPr>
          <p:cNvSpPr>
            <a:spLocks noGrp="1"/>
          </p:cNvSpPr>
          <p:nvPr>
            <p:ph type="ftr" idx="11"/>
          </p:nvPr>
        </p:nvSpPr>
        <p:spPr>
          <a:xfrm>
            <a:off x="658368" y="6356350"/>
            <a:ext cx="491858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063ED4D-730A-F879-CEF6-7E67283EE1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72225462-E98B-65CC-7AE5-13F23DFE48CB}"/>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7CE63CD3-6E67-A671-2DCA-20FB234C3251}"/>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3CF751FA-2B49-06EC-0020-08070BE5A193}"/>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AC6D3A5C-ACBE-B671-63F5-EDDD7DF94571}"/>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5000" b="1" i="0" u="none" strike="noStrike" kern="0" cap="none" spc="0" normalizeH="0" baseline="0" noProof="0">
                <a:ln>
                  <a:noFill/>
                </a:ln>
                <a:solidFill>
                  <a:srgbClr val="E7F7F3"/>
                </a:solidFill>
                <a:effectLst/>
                <a:uLnTx/>
                <a:uFillTx/>
                <a:latin typeface="Calibri"/>
                <a:ea typeface="Calibri"/>
                <a:cs typeface="Calibri"/>
                <a:sym typeface="Calibri"/>
              </a:rPr>
              <a:t>04</a:t>
            </a:r>
            <a:endParaRPr kumimoji="0" lang="en-US" sz="9600" b="0" i="0" u="none" strike="noStrike" kern="0" cap="none" spc="0" normalizeH="0" baseline="0" noProof="0">
              <a:ln>
                <a:noFill/>
              </a:ln>
              <a:solidFill>
                <a:srgbClr val="E7F7F3"/>
              </a:solidFill>
              <a:effectLst/>
              <a:uLnTx/>
              <a:uFillTx/>
              <a:latin typeface="Arial"/>
              <a:cs typeface="Arial"/>
              <a:sym typeface="Arial"/>
            </a:endParaRPr>
          </a:p>
        </p:txBody>
      </p:sp>
      <p:sp>
        <p:nvSpPr>
          <p:cNvPr id="280" name="Google Shape;280;p20">
            <a:extLst>
              <a:ext uri="{FF2B5EF4-FFF2-40B4-BE49-F238E27FC236}">
                <a16:creationId xmlns:a16="http://schemas.microsoft.com/office/drawing/2014/main" id="{0B1860E9-D0A2-69E4-FCC8-6B8B6D18FD74}"/>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C2A8"/>
                </a:solidFill>
                <a:effectLst/>
                <a:uLnTx/>
                <a:uFillTx/>
                <a:latin typeface="Calibri"/>
                <a:ea typeface="Calibri"/>
                <a:cs typeface="Calibri"/>
                <a:sym typeface="Calibri"/>
              </a:rPr>
              <a:t>PHẦN 4 · PROCESS ANALYSIS</a:t>
            </a:r>
          </a:p>
        </p:txBody>
      </p:sp>
      <p:sp>
        <p:nvSpPr>
          <p:cNvPr id="281" name="Google Shape;281;p20">
            <a:extLst>
              <a:ext uri="{FF2B5EF4-FFF2-40B4-BE49-F238E27FC236}">
                <a16:creationId xmlns:a16="http://schemas.microsoft.com/office/drawing/2014/main" id="{3F7AD13A-4DCA-50E7-6F9E-25CAB4E1060D}"/>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6000"/>
              </a:lnSpc>
              <a:spcBef>
                <a:spcPts val="0"/>
              </a:spcBef>
              <a:spcAft>
                <a:spcPts val="0"/>
              </a:spcAft>
              <a:buClr>
                <a:srgbClr val="000000"/>
              </a:buClr>
              <a:buSzTx/>
              <a:buFont typeface="Arial"/>
              <a:buNone/>
              <a:tabLst/>
              <a:defRPr/>
            </a:pPr>
            <a:r>
              <a:rPr kumimoji="0" lang="en-US" sz="4400" b="1" i="0" u="none" strike="noStrike" kern="0" cap="none" spc="0" normalizeH="0" baseline="0" noProof="0">
                <a:ln>
                  <a:noFill/>
                </a:ln>
                <a:solidFill>
                  <a:srgbClr val="FFFFFF"/>
                </a:solidFill>
                <a:effectLst/>
                <a:uLnTx/>
                <a:uFillTx/>
                <a:latin typeface="Calibri"/>
                <a:ea typeface="Calibri"/>
                <a:cs typeface="Calibri"/>
                <a:sym typeface="Calibri"/>
              </a:rPr>
              <a:t>Phân tích chuyên sâu 02 quy trình</a:t>
            </a:r>
          </a:p>
        </p:txBody>
      </p:sp>
      <p:sp>
        <p:nvSpPr>
          <p:cNvPr id="282" name="Google Shape;282;p20">
            <a:extLst>
              <a:ext uri="{FF2B5EF4-FFF2-40B4-BE49-F238E27FC236}">
                <a16:creationId xmlns:a16="http://schemas.microsoft.com/office/drawing/2014/main" id="{B6180BEC-5191-EAD6-B9A6-4414C7FD7ED9}"/>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47DDE09A-E54A-42E7-D127-F4408AD069DB}"/>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lvl="0">
              <a:lnSpc>
                <a:spcPct val="130000"/>
              </a:lnSpc>
            </a:pPr>
            <a:r>
              <a:rPr lang="vi-VN" sz="2400">
                <a:solidFill>
                  <a:srgbClr val="B6C9D8"/>
                </a:solidFill>
                <a:latin typeface="Calibri"/>
                <a:ea typeface="Calibri"/>
                <a:cs typeface="Calibri"/>
                <a:sym typeface="Calibri"/>
              </a:rPr>
              <a:t>C03 Service Order Management  ·  S01 Procurement Management  —  phân tích định tính và định lượng</a:t>
            </a:r>
          </a:p>
        </p:txBody>
      </p:sp>
      <p:sp>
        <p:nvSpPr>
          <p:cNvPr id="2" name="Footer Placeholder 1">
            <a:extLst>
              <a:ext uri="{FF2B5EF4-FFF2-40B4-BE49-F238E27FC236}">
                <a16:creationId xmlns:a16="http://schemas.microsoft.com/office/drawing/2014/main" id="{F2991709-2260-D783-6907-DF068C3B0FAA}"/>
              </a:ext>
            </a:extLst>
          </p:cNvPr>
          <p:cNvSpPr>
            <a:spLocks noGrp="1"/>
          </p:cNvSpPr>
          <p:nvPr>
            <p:ph type="ftr" idx="11"/>
          </p:nvPr>
        </p:nvSpPr>
        <p:spPr>
          <a:xfrm>
            <a:off x="502920" y="6330597"/>
            <a:ext cx="484967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t>HỆ THỐNG QUẢN TRỊ QUY TRÌNH NGHIỆP VỤ  ·  SOLVENTUM VIỆT NAM</a:t>
            </a:r>
          </a:p>
        </p:txBody>
      </p:sp>
      <p:sp>
        <p:nvSpPr>
          <p:cNvPr id="3" name="Slide Number Placeholder 2">
            <a:extLst>
              <a:ext uri="{FF2B5EF4-FFF2-40B4-BE49-F238E27FC236}">
                <a16:creationId xmlns:a16="http://schemas.microsoft.com/office/drawing/2014/main" id="{FF94217D-C9CF-1922-2991-11BB8A64B537}"/>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lang="en-US"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00129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5"/>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PHƯƠNG PHÁP VÀ NỘI DUNG</a:t>
            </a:r>
            <a:endParaRPr/>
          </a:p>
        </p:txBody>
      </p:sp>
      <p:sp>
        <p:nvSpPr>
          <p:cNvPr id="554" name="Google Shape;554;p35"/>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KHUNG PHÂN TÍCH ÁP DỤNG CHO CẢ HAI QUY TRÌNH</a:t>
            </a:r>
            <a:endParaRPr/>
          </a:p>
        </p:txBody>
      </p:sp>
      <p:sp>
        <p:nvSpPr>
          <p:cNvPr id="555" name="Google Shape;555;p35"/>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35"/>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9" name="Google Shape;559;p35"/>
          <p:cNvSpPr/>
          <p:nvPr/>
        </p:nvSpPr>
        <p:spPr>
          <a:xfrm>
            <a:off x="658368" y="1560378"/>
            <a:ext cx="5230368" cy="365494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0" name="Google Shape;560;p35"/>
          <p:cNvSpPr/>
          <p:nvPr/>
        </p:nvSpPr>
        <p:spPr>
          <a:xfrm>
            <a:off x="658368" y="1560378"/>
            <a:ext cx="5230368"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1" name="Google Shape;561;p35"/>
          <p:cNvSpPr txBox="1"/>
          <p:nvPr/>
        </p:nvSpPr>
        <p:spPr>
          <a:xfrm>
            <a:off x="854030" y="1740506"/>
            <a:ext cx="4663440" cy="246221"/>
          </a:xfrm>
          <a:prstGeom prst="rect">
            <a:avLst/>
          </a:prstGeom>
          <a:noFill/>
          <a:ln>
            <a:noFill/>
          </a:ln>
        </p:spPr>
        <p:txBody>
          <a:bodyPr spcFirstLastPara="1" wrap="square" lIns="0" tIns="0" rIns="0" bIns="0" anchor="t" anchorCtr="0">
            <a:spAutoFit/>
          </a:bodyPr>
          <a:lstStyle/>
          <a:p>
            <a:pPr marL="285750" marR="0" lvl="0" indent="-285750" algn="l" rtl="0">
              <a:lnSpc>
                <a:spcPct val="100000"/>
              </a:lnSpc>
              <a:spcBef>
                <a:spcPts val="0"/>
              </a:spcBef>
              <a:spcAft>
                <a:spcPts val="0"/>
              </a:spcAft>
              <a:buFont typeface="Wingdings" panose="05000000000000000000" pitchFamily="2" charset="2"/>
              <a:buChar char="q"/>
            </a:pPr>
            <a:r>
              <a:rPr lang="en-US" sz="1600" b="1" i="0">
                <a:solidFill>
                  <a:srgbClr val="0A2540"/>
                </a:solidFill>
                <a:latin typeface="Calibri"/>
                <a:ea typeface="Calibri"/>
                <a:cs typeface="Calibri"/>
                <a:sym typeface="Calibri"/>
              </a:rPr>
              <a:t>PHÂN TÍCH ĐỊNH TÍNH</a:t>
            </a:r>
            <a:endParaRPr sz="1600"/>
          </a:p>
        </p:txBody>
      </p:sp>
      <p:sp>
        <p:nvSpPr>
          <p:cNvPr id="562" name="Google Shape;562;p35"/>
          <p:cNvSpPr txBox="1"/>
          <p:nvPr/>
        </p:nvSpPr>
        <p:spPr>
          <a:xfrm>
            <a:off x="950976" y="2076052"/>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Giá trị gia tăng   —   Value-added Analysis</a:t>
            </a:r>
            <a:endParaRPr sz="1600"/>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Phân loại từng hoạt động thành VA – BVA – NVA, kèm mô tả và hướng khắc phục.</a:t>
            </a:r>
            <a:endParaRPr sz="1600"/>
          </a:p>
        </p:txBody>
      </p:sp>
      <p:sp>
        <p:nvSpPr>
          <p:cNvPr id="563" name="Google Shape;563;p35"/>
          <p:cNvSpPr txBox="1"/>
          <p:nvPr/>
        </p:nvSpPr>
        <p:spPr>
          <a:xfrm>
            <a:off x="932688" y="3126559"/>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Sự lãng phí   —   Waste Analysis</a:t>
            </a:r>
            <a:endParaRPr sz="1600"/>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Nhận diện ba dạng Move – Hold – Overdo và vị trí phát sinh trên mô hình.</a:t>
            </a:r>
            <a:endParaRPr sz="1600"/>
          </a:p>
        </p:txBody>
      </p:sp>
      <p:sp>
        <p:nvSpPr>
          <p:cNvPr id="564" name="Google Shape;564;p35"/>
          <p:cNvSpPr txBox="1"/>
          <p:nvPr/>
        </p:nvSpPr>
        <p:spPr>
          <a:xfrm>
            <a:off x="932688" y="4177067"/>
            <a:ext cx="4663440" cy="592470"/>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rgbClr val="0096D6"/>
                </a:solidFill>
                <a:latin typeface="Calibri"/>
                <a:ea typeface="Calibri"/>
                <a:cs typeface="Calibri"/>
                <a:sym typeface="Calibri"/>
              </a:rPr>
              <a:t>▪  Các bên liên quan   —   Stakeholder Analysis</a:t>
            </a:r>
            <a:endParaRPr sz="1600"/>
          </a:p>
          <a:p>
            <a:pPr lvl="0">
              <a:lnSpc>
                <a:spcPct val="120000"/>
              </a:lnSpc>
              <a:spcBef>
                <a:spcPts val="300"/>
              </a:spcBef>
            </a:pPr>
            <a:r>
              <a:rPr lang="en-US" sz="1600" b="0" i="0">
                <a:solidFill>
                  <a:srgbClr val="2B3440"/>
                </a:solidFill>
                <a:latin typeface="Calibri"/>
                <a:ea typeface="Calibri"/>
                <a:cs typeface="Calibri"/>
                <a:sym typeface="Calibri"/>
              </a:rPr>
              <a:t>     Chọn Fishbone </a:t>
            </a:r>
            <a:r>
              <a:rPr lang="en-US" sz="1600">
                <a:solidFill>
                  <a:srgbClr val="2B3440"/>
                </a:solidFill>
                <a:latin typeface="Calibri"/>
                <a:ea typeface="Calibri"/>
                <a:cs typeface="Calibri"/>
                <a:sym typeface="Calibri"/>
              </a:rPr>
              <a:t>để nhận diện các nguyên nhân</a:t>
            </a:r>
            <a:r>
              <a:rPr lang="en-US" sz="1600" b="0" i="0">
                <a:solidFill>
                  <a:srgbClr val="2B3440"/>
                </a:solidFill>
                <a:latin typeface="Calibri"/>
                <a:ea typeface="Calibri"/>
                <a:cs typeface="Calibri"/>
                <a:sym typeface="Calibri"/>
              </a:rPr>
              <a:t>.</a:t>
            </a:r>
            <a:endParaRPr sz="1600"/>
          </a:p>
        </p:txBody>
      </p:sp>
      <p:sp>
        <p:nvSpPr>
          <p:cNvPr id="565" name="Google Shape;565;p35"/>
          <p:cNvSpPr/>
          <p:nvPr/>
        </p:nvSpPr>
        <p:spPr>
          <a:xfrm>
            <a:off x="6327648" y="1560378"/>
            <a:ext cx="5202936" cy="3654948"/>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6" name="Google Shape;566;p35"/>
          <p:cNvSpPr/>
          <p:nvPr/>
        </p:nvSpPr>
        <p:spPr>
          <a:xfrm>
            <a:off x="6327648" y="1560378"/>
            <a:ext cx="520293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67" name="Google Shape;567;p35"/>
          <p:cNvSpPr txBox="1"/>
          <p:nvPr/>
        </p:nvSpPr>
        <p:spPr>
          <a:xfrm>
            <a:off x="6552808" y="1760170"/>
            <a:ext cx="4663440" cy="246221"/>
          </a:xfrm>
          <a:prstGeom prst="rect">
            <a:avLst/>
          </a:prstGeom>
          <a:noFill/>
          <a:ln>
            <a:noFill/>
          </a:ln>
        </p:spPr>
        <p:txBody>
          <a:bodyPr spcFirstLastPara="1" wrap="square" lIns="0" tIns="0" rIns="0" bIns="0" anchor="t" anchorCtr="0">
            <a:spAutoFit/>
          </a:bodyPr>
          <a:lstStyle/>
          <a:p>
            <a:pPr marL="285750" marR="0" lvl="0" indent="-285750" algn="l" rtl="0">
              <a:lnSpc>
                <a:spcPct val="100000"/>
              </a:lnSpc>
              <a:spcBef>
                <a:spcPts val="0"/>
              </a:spcBef>
              <a:spcAft>
                <a:spcPts val="0"/>
              </a:spcAft>
              <a:buFont typeface="Wingdings" panose="05000000000000000000" pitchFamily="2" charset="2"/>
              <a:buChar char="q"/>
            </a:pPr>
            <a:r>
              <a:rPr lang="en-US" sz="1600" b="1" i="0">
                <a:solidFill>
                  <a:srgbClr val="0A2540"/>
                </a:solidFill>
                <a:latin typeface="Calibri"/>
                <a:ea typeface="Calibri"/>
                <a:cs typeface="Calibri"/>
                <a:sym typeface="Calibri"/>
              </a:rPr>
              <a:t>PHÂN TÍCH ĐỊNH LƯỢNG</a:t>
            </a:r>
            <a:endParaRPr sz="1600"/>
          </a:p>
        </p:txBody>
      </p:sp>
      <p:sp>
        <p:nvSpPr>
          <p:cNvPr id="568" name="Google Shape;568;p35"/>
          <p:cNvSpPr txBox="1"/>
          <p:nvPr/>
        </p:nvSpPr>
        <p:spPr>
          <a:xfrm>
            <a:off x="6601968" y="2157976"/>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Thời gian   —   Time</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Thời gian thực hiện, thời gian chờ và thời gian phát sinh do bổ sung hoặc xử lý lại.</a:t>
            </a:r>
            <a:endParaRPr sz="1600"/>
          </a:p>
        </p:txBody>
      </p:sp>
      <p:sp>
        <p:nvSpPr>
          <p:cNvPr id="569" name="Google Shape;569;p35"/>
          <p:cNvSpPr txBox="1"/>
          <p:nvPr/>
        </p:nvSpPr>
        <p:spPr>
          <a:xfrm>
            <a:off x="6601968" y="3234350"/>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Chất lượng   —   Quality</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Tỷ lệ hoàn thành đúng hạn, tỷ lệ sai sót, tỷ lệ bổ sung thông tin, tỷ lệ xử lý lại.</a:t>
            </a:r>
            <a:endParaRPr sz="1600"/>
          </a:p>
        </p:txBody>
      </p:sp>
      <p:sp>
        <p:nvSpPr>
          <p:cNvPr id="570" name="Google Shape;570;p35"/>
          <p:cNvSpPr txBox="1"/>
          <p:nvPr/>
        </p:nvSpPr>
        <p:spPr>
          <a:xfrm>
            <a:off x="6601968" y="4186976"/>
            <a:ext cx="4663440" cy="887935"/>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600" b="1" i="0">
                <a:solidFill>
                  <a:schemeClr val="accent2">
                    <a:lumMod val="75000"/>
                  </a:schemeClr>
                </a:solidFill>
                <a:latin typeface="Calibri"/>
                <a:ea typeface="Calibri"/>
                <a:cs typeface="Calibri"/>
                <a:sym typeface="Calibri"/>
              </a:rPr>
              <a:t>▪  Chi phí   —   Cost</a:t>
            </a:r>
            <a:endParaRPr sz="1600">
              <a:solidFill>
                <a:schemeClr val="accent2">
                  <a:lumMod val="75000"/>
                </a:schemeClr>
              </a:solidFill>
            </a:endParaRPr>
          </a:p>
          <a:p>
            <a:pPr marL="0" marR="0" lvl="0" indent="0" algn="l" rtl="0">
              <a:lnSpc>
                <a:spcPct val="120000"/>
              </a:lnSpc>
              <a:spcBef>
                <a:spcPts val="300"/>
              </a:spcBef>
              <a:spcAft>
                <a:spcPts val="0"/>
              </a:spcAft>
              <a:buNone/>
            </a:pPr>
            <a:r>
              <a:rPr lang="en-US" sz="1600" b="0" i="0">
                <a:solidFill>
                  <a:srgbClr val="2B3440"/>
                </a:solidFill>
                <a:latin typeface="Calibri"/>
                <a:ea typeface="Calibri"/>
                <a:cs typeface="Calibri"/>
                <a:sym typeface="Calibri"/>
              </a:rPr>
              <a:t>     Chi phí và nguồn lực sử dụng, bao gồm giờ công và các chi phí xác định được.</a:t>
            </a:r>
            <a:endParaRPr sz="1600"/>
          </a:p>
        </p:txBody>
      </p:sp>
      <p:sp>
        <p:nvSpPr>
          <p:cNvPr id="571" name="Google Shape;571;p35"/>
          <p:cNvSpPr/>
          <p:nvPr/>
        </p:nvSpPr>
        <p:spPr>
          <a:xfrm>
            <a:off x="658368" y="5509604"/>
            <a:ext cx="10874959" cy="749808"/>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72" name="Google Shape;572;p35"/>
          <p:cNvSpPr/>
          <p:nvPr/>
        </p:nvSpPr>
        <p:spPr>
          <a:xfrm>
            <a:off x="658368" y="5509604"/>
            <a:ext cx="50292" cy="749808"/>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
        <p:nvSpPr>
          <p:cNvPr id="573" name="Google Shape;573;p35"/>
          <p:cNvSpPr txBox="1"/>
          <p:nvPr/>
        </p:nvSpPr>
        <p:spPr>
          <a:xfrm>
            <a:off x="950976" y="5574295"/>
            <a:ext cx="10280599" cy="620426"/>
          </a:xfrm>
          <a:prstGeom prst="rect">
            <a:avLst/>
          </a:prstGeom>
          <a:noFill/>
          <a:ln>
            <a:noFill/>
          </a:ln>
        </p:spPr>
        <p:txBody>
          <a:bodyPr spcFirstLastPara="1" wrap="square" lIns="0" tIns="0" rIns="0" bIns="0" anchor="ctr" anchorCtr="0">
            <a:spAutoFit/>
          </a:bodyPr>
          <a:lstStyle/>
          <a:p>
            <a:pPr marL="0" marR="0" lvl="0" indent="0" algn="l" rtl="0">
              <a:lnSpc>
                <a:spcPct val="126000"/>
              </a:lnSpc>
              <a:spcBef>
                <a:spcPts val="0"/>
              </a:spcBef>
              <a:spcAft>
                <a:spcPts val="0"/>
              </a:spcAft>
              <a:buNone/>
            </a:pPr>
            <a:r>
              <a:rPr lang="en-US" sz="1600" b="0" i="0">
                <a:solidFill>
                  <a:srgbClr val="2B3440"/>
                </a:solidFill>
                <a:latin typeface="Calibri"/>
                <a:ea typeface="Calibri"/>
                <a:cs typeface="Calibri"/>
                <a:sym typeface="Calibri"/>
              </a:rPr>
              <a:t>Dữ liệu phân tích khai thác từ các nguồn bằng chứng và thông tin thu thập trong Process Discovery ở Chương 3. Trường hợp chưa có số liệu thực tế đầy đủ, giá trị được ước lượng theo cấu trúc luồng của mô hình BPMN.</a:t>
            </a:r>
            <a:endParaRPr sz="1600"/>
          </a:p>
        </p:txBody>
      </p:sp>
      <p:sp>
        <p:nvSpPr>
          <p:cNvPr id="2" name="Footer Placeholder 1">
            <a:extLst>
              <a:ext uri="{FF2B5EF4-FFF2-40B4-BE49-F238E27FC236}">
                <a16:creationId xmlns:a16="http://schemas.microsoft.com/office/drawing/2014/main" id="{8C953343-DD43-24B2-EA86-AA58284DE49E}"/>
              </a:ext>
            </a:extLst>
          </p:cNvPr>
          <p:cNvSpPr>
            <a:spLocks noGrp="1"/>
          </p:cNvSpPr>
          <p:nvPr>
            <p:ph type="ftr" idx="11"/>
          </p:nvPr>
        </p:nvSpPr>
        <p:spPr>
          <a:xfrm>
            <a:off x="667709" y="6371127"/>
            <a:ext cx="484976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DD9BB63-C1A0-D3F1-9AA2-A23CA78618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36"/>
          <p:cNvSpPr txBox="1"/>
          <p:nvPr/>
        </p:nvSpPr>
        <p:spPr>
          <a:xfrm>
            <a:off x="658368" y="384048"/>
            <a:ext cx="10874959" cy="1615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QUAN QUY TRÌNH PHÂN TÍCH</a:t>
            </a:r>
            <a:endParaRPr/>
          </a:p>
        </p:txBody>
      </p:sp>
      <p:sp>
        <p:nvSpPr>
          <p:cNvPr id="579" name="Google Shape;579;p36"/>
          <p:cNvSpPr txBox="1"/>
          <p:nvPr/>
        </p:nvSpPr>
        <p:spPr>
          <a:xfrm>
            <a:off x="658368" y="640080"/>
            <a:ext cx="10874959" cy="603504"/>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C03 — SERVICE ORDER MANAGEMENT</a:t>
            </a:r>
            <a:endParaRPr/>
          </a:p>
        </p:txBody>
      </p:sp>
      <p:sp>
        <p:nvSpPr>
          <p:cNvPr id="580" name="Google Shape;580;p3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1" name="Google Shape;581;p3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36"/>
          <p:cNvSpPr txBox="1"/>
          <p:nvPr/>
        </p:nvSpPr>
        <p:spPr>
          <a:xfrm>
            <a:off x="658368" y="1371600"/>
            <a:ext cx="10874959" cy="254237"/>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pPr>
            <a:r>
              <a:rPr lang="en-US" sz="1400" b="0" i="1">
                <a:solidFill>
                  <a:srgbClr val="6B7784"/>
                </a:solidFill>
                <a:latin typeface="Calibri"/>
                <a:ea typeface="Calibri"/>
                <a:cs typeface="Calibri"/>
                <a:sym typeface="Calibri"/>
              </a:rPr>
              <a:t>Quản lý dịch vụ và sửa chữa  ·  Nhóm quy trình cốt lõi</a:t>
            </a:r>
            <a:endParaRPr sz="1400" b="0" i="1">
              <a:solidFill>
                <a:srgbClr val="6B7784"/>
              </a:solidFill>
              <a:latin typeface="Calibri"/>
              <a:ea typeface="Calibri"/>
              <a:cs typeface="Calibri"/>
              <a:sym typeface="Calibri"/>
            </a:endParaRPr>
          </a:p>
        </p:txBody>
      </p:sp>
      <p:sp>
        <p:nvSpPr>
          <p:cNvPr id="585" name="Google Shape;585;p36"/>
          <p:cNvSpPr/>
          <p:nvPr/>
        </p:nvSpPr>
        <p:spPr>
          <a:xfrm>
            <a:off x="658368"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6" name="Google Shape;586;p36"/>
          <p:cNvSpPr/>
          <p:nvPr/>
        </p:nvSpPr>
        <p:spPr>
          <a:xfrm>
            <a:off x="658368"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7" name="Google Shape;587;p36"/>
          <p:cNvSpPr txBox="1"/>
          <p:nvPr/>
        </p:nvSpPr>
        <p:spPr>
          <a:xfrm>
            <a:off x="859536"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Service Admin</a:t>
            </a:r>
            <a:endParaRPr/>
          </a:p>
        </p:txBody>
      </p:sp>
      <p:sp>
        <p:nvSpPr>
          <p:cNvPr id="588" name="Google Shape;588;p36"/>
          <p:cNvSpPr txBox="1"/>
          <p:nvPr/>
        </p:nvSpPr>
        <p:spPr>
          <a:xfrm>
            <a:off x="859536"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Tiếp nhận, xác minh yêu cầu, xác định phạm vi, lập báo giá, tạo và đóng Service Order.</a:t>
            </a:r>
            <a:endParaRPr/>
          </a:p>
        </p:txBody>
      </p:sp>
      <p:sp>
        <p:nvSpPr>
          <p:cNvPr id="589" name="Google Shape;589;p36"/>
          <p:cNvSpPr/>
          <p:nvPr/>
        </p:nvSpPr>
        <p:spPr>
          <a:xfrm>
            <a:off x="3431971"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0" name="Google Shape;590;p36"/>
          <p:cNvSpPr/>
          <p:nvPr/>
        </p:nvSpPr>
        <p:spPr>
          <a:xfrm>
            <a:off x="3431971"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1" name="Google Shape;591;p36"/>
          <p:cNvSpPr txBox="1"/>
          <p:nvPr/>
        </p:nvSpPr>
        <p:spPr>
          <a:xfrm>
            <a:off x="3633139"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Service Engineer</a:t>
            </a:r>
            <a:endParaRPr/>
          </a:p>
        </p:txBody>
      </p:sp>
      <p:sp>
        <p:nvSpPr>
          <p:cNvPr id="592" name="Google Shape;592;p36"/>
          <p:cNvSpPr txBox="1"/>
          <p:nvPr/>
        </p:nvSpPr>
        <p:spPr>
          <a:xfrm>
            <a:off x="3633139"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Đánh giá tình trạng thiết bị, hỗ trợ từ xa, kiểm tra hiện trường, thực hiện dịch vụ.</a:t>
            </a:r>
            <a:endParaRPr/>
          </a:p>
        </p:txBody>
      </p:sp>
      <p:sp>
        <p:nvSpPr>
          <p:cNvPr id="593" name="Google Shape;593;p36"/>
          <p:cNvSpPr/>
          <p:nvPr/>
        </p:nvSpPr>
        <p:spPr>
          <a:xfrm>
            <a:off x="6205575"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4" name="Google Shape;594;p36"/>
          <p:cNvSpPr/>
          <p:nvPr/>
        </p:nvSpPr>
        <p:spPr>
          <a:xfrm>
            <a:off x="6205575"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5" name="Google Shape;595;p36"/>
          <p:cNvSpPr txBox="1"/>
          <p:nvPr/>
        </p:nvSpPr>
        <p:spPr>
          <a:xfrm>
            <a:off x="6406743"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Distributor</a:t>
            </a:r>
            <a:endParaRPr/>
          </a:p>
        </p:txBody>
      </p:sp>
      <p:sp>
        <p:nvSpPr>
          <p:cNvPr id="596" name="Google Shape;596;p36"/>
          <p:cNvSpPr txBox="1"/>
          <p:nvPr/>
        </p:nvSpPr>
        <p:spPr>
          <a:xfrm>
            <a:off x="6406743"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Thực hiện thủ tục thương mại và xác nhận báo giá với Hospital/End-user.</a:t>
            </a:r>
            <a:endParaRPr/>
          </a:p>
        </p:txBody>
      </p:sp>
      <p:sp>
        <p:nvSpPr>
          <p:cNvPr id="597" name="Google Shape;597;p36"/>
          <p:cNvSpPr/>
          <p:nvPr/>
        </p:nvSpPr>
        <p:spPr>
          <a:xfrm>
            <a:off x="8979179" y="1755648"/>
            <a:ext cx="2554147" cy="17007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8" name="Google Shape;598;p36"/>
          <p:cNvSpPr/>
          <p:nvPr/>
        </p:nvSpPr>
        <p:spPr>
          <a:xfrm>
            <a:off x="8979179" y="1755648"/>
            <a:ext cx="2554147"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99" name="Google Shape;599;p36"/>
          <p:cNvSpPr txBox="1"/>
          <p:nvPr/>
        </p:nvSpPr>
        <p:spPr>
          <a:xfrm>
            <a:off x="9180347" y="1956816"/>
            <a:ext cx="2170099" cy="226216"/>
          </a:xfrm>
          <a:prstGeom prst="rect">
            <a:avLst/>
          </a:prstGeom>
          <a:noFill/>
          <a:ln>
            <a:noFill/>
          </a:ln>
        </p:spPr>
        <p:txBody>
          <a:bodyPr spcFirstLastPara="1" wrap="square" lIns="0" tIns="0" rIns="0" bIns="0" anchor="t" anchorCtr="0">
            <a:sp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Hospital / End-user</a:t>
            </a:r>
            <a:endParaRPr/>
          </a:p>
        </p:txBody>
      </p:sp>
      <p:sp>
        <p:nvSpPr>
          <p:cNvPr id="600" name="Google Shape;600;p36"/>
          <p:cNvSpPr txBox="1"/>
          <p:nvPr/>
        </p:nvSpPr>
        <p:spPr>
          <a:xfrm>
            <a:off x="9180347" y="2340864"/>
            <a:ext cx="2170099" cy="788486"/>
          </a:xfrm>
          <a:prstGeom prst="rect">
            <a:avLst/>
          </a:prstGeom>
          <a:noFill/>
          <a:ln>
            <a:noFill/>
          </a:ln>
        </p:spPr>
        <p:txBody>
          <a:bodyPr spcFirstLastPara="1" wrap="square" lIns="0" tIns="0" rIns="0" bIns="0" anchor="t" anchorCtr="0">
            <a:spAutoFit/>
          </a:bodyPr>
          <a:lstStyle/>
          <a:p>
            <a:pPr marL="0" marR="0" lvl="0" indent="0" algn="l" rtl="0">
              <a:lnSpc>
                <a:spcPct val="122000"/>
              </a:lnSpc>
              <a:spcBef>
                <a:spcPts val="0"/>
              </a:spcBef>
              <a:spcAft>
                <a:spcPts val="0"/>
              </a:spcAft>
              <a:buNone/>
            </a:pPr>
            <a:r>
              <a:rPr lang="en-US" sz="1400" b="0" i="0">
                <a:solidFill>
                  <a:srgbClr val="2B3440"/>
                </a:solidFill>
                <a:latin typeface="Calibri"/>
                <a:ea typeface="Calibri"/>
                <a:cs typeface="Calibri"/>
                <a:sym typeface="Calibri"/>
              </a:rPr>
              <a:t>Gửi yêu cầu dịch vụ, phối hợp kiểm tra và xác nhận kết quả sau khi hoàn thành.</a:t>
            </a:r>
            <a:endParaRPr/>
          </a:p>
        </p:txBody>
      </p:sp>
      <p:sp>
        <p:nvSpPr>
          <p:cNvPr id="601" name="Google Shape;601;p36"/>
          <p:cNvSpPr txBox="1"/>
          <p:nvPr/>
        </p:nvSpPr>
        <p:spPr>
          <a:xfrm>
            <a:off x="658368" y="3639312"/>
            <a:ext cx="1087495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QUY TRÌNH CÓ NHIỀU NHÁNH XỬ LÝ KHÁC NHAU</a:t>
            </a:r>
            <a:endParaRPr/>
          </a:p>
        </p:txBody>
      </p:sp>
      <p:sp>
        <p:nvSpPr>
          <p:cNvPr id="602" name="Google Shape;602;p36"/>
          <p:cNvSpPr/>
          <p:nvPr/>
        </p:nvSpPr>
        <p:spPr>
          <a:xfrm>
            <a:off x="658368"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3" name="Google Shape;603;p36"/>
          <p:cNvSpPr txBox="1"/>
          <p:nvPr/>
        </p:nvSpPr>
        <p:spPr>
          <a:xfrm>
            <a:off x="859536"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Remote Support</a:t>
            </a:r>
            <a:endParaRPr/>
          </a:p>
        </p:txBody>
      </p:sp>
      <p:sp>
        <p:nvSpPr>
          <p:cNvPr id="604" name="Google Shape;604;p36"/>
          <p:cNvSpPr txBox="1"/>
          <p:nvPr/>
        </p:nvSpPr>
        <p:spPr>
          <a:xfrm>
            <a:off x="859536"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Xử lý thành công từ xa, không cần triển khai hiện trường.</a:t>
            </a:r>
            <a:endParaRPr/>
          </a:p>
        </p:txBody>
      </p:sp>
      <p:sp>
        <p:nvSpPr>
          <p:cNvPr id="605" name="Google Shape;605;p36"/>
          <p:cNvSpPr/>
          <p:nvPr/>
        </p:nvSpPr>
        <p:spPr>
          <a:xfrm>
            <a:off x="3431971"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6" name="Google Shape;606;p36"/>
          <p:cNvSpPr txBox="1"/>
          <p:nvPr/>
        </p:nvSpPr>
        <p:spPr>
          <a:xfrm>
            <a:off x="3633139"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Onsite / Service</a:t>
            </a:r>
            <a:endParaRPr/>
          </a:p>
        </p:txBody>
      </p:sp>
      <p:sp>
        <p:nvSpPr>
          <p:cNvPr id="607" name="Google Shape;607;p36"/>
          <p:cNvSpPr txBox="1"/>
          <p:nvPr/>
        </p:nvSpPr>
        <p:spPr>
          <a:xfrm>
            <a:off x="3633139"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Cần kiểm tra và thực hiện dịch vụ tại hiện trường.</a:t>
            </a:r>
            <a:endParaRPr/>
          </a:p>
        </p:txBody>
      </p:sp>
      <p:sp>
        <p:nvSpPr>
          <p:cNvPr id="608" name="Google Shape;608;p36"/>
          <p:cNvSpPr/>
          <p:nvPr/>
        </p:nvSpPr>
        <p:spPr>
          <a:xfrm>
            <a:off x="6205575"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9" name="Google Shape;609;p36"/>
          <p:cNvSpPr txBox="1"/>
          <p:nvPr/>
        </p:nvSpPr>
        <p:spPr>
          <a:xfrm>
            <a:off x="6406743"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Warranty / No-charge</a:t>
            </a:r>
            <a:endParaRPr/>
          </a:p>
        </p:txBody>
      </p:sp>
      <p:sp>
        <p:nvSpPr>
          <p:cNvPr id="610" name="Google Shape;610;p36"/>
          <p:cNvSpPr txBox="1"/>
          <p:nvPr/>
        </p:nvSpPr>
        <p:spPr>
          <a:xfrm>
            <a:off x="6406743" y="4425696"/>
            <a:ext cx="2266740"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dirty="0" err="1">
                <a:solidFill>
                  <a:srgbClr val="2B3440"/>
                </a:solidFill>
                <a:latin typeface="Calibri"/>
                <a:ea typeface="Calibri"/>
                <a:cs typeface="Calibri"/>
                <a:sym typeface="Calibri"/>
              </a:rPr>
              <a:t>Dịch</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vụ</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trong</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phạm</a:t>
            </a:r>
            <a:r>
              <a:rPr lang="en-US" sz="1400" b="0" i="0" dirty="0">
                <a:solidFill>
                  <a:srgbClr val="2B3440"/>
                </a:solidFill>
                <a:latin typeface="Calibri"/>
                <a:ea typeface="Calibri"/>
                <a:cs typeface="Calibri"/>
                <a:sym typeface="Calibri"/>
              </a:rPr>
              <a:t> vi </a:t>
            </a:r>
            <a:r>
              <a:rPr lang="en-US" sz="1400" b="0" i="0" dirty="0" err="1">
                <a:solidFill>
                  <a:srgbClr val="2B3440"/>
                </a:solidFill>
                <a:latin typeface="Calibri"/>
                <a:ea typeface="Calibri"/>
                <a:cs typeface="Calibri"/>
                <a:sym typeface="Calibri"/>
              </a:rPr>
              <a:t>bảo</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hành</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không</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phát</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sinh</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báo</a:t>
            </a:r>
            <a:r>
              <a:rPr lang="en-US" sz="1400" b="0" i="0" dirty="0">
                <a:solidFill>
                  <a:srgbClr val="2B3440"/>
                </a:solidFill>
                <a:latin typeface="Calibri"/>
                <a:ea typeface="Calibri"/>
                <a:cs typeface="Calibri"/>
                <a:sym typeface="Calibri"/>
              </a:rPr>
              <a:t> </a:t>
            </a:r>
            <a:r>
              <a:rPr lang="en-US" sz="1400" b="0" i="0" dirty="0" err="1">
                <a:solidFill>
                  <a:srgbClr val="2B3440"/>
                </a:solidFill>
                <a:latin typeface="Calibri"/>
                <a:ea typeface="Calibri"/>
                <a:cs typeface="Calibri"/>
                <a:sym typeface="Calibri"/>
              </a:rPr>
              <a:t>giá</a:t>
            </a:r>
            <a:r>
              <a:rPr lang="en-US" sz="1400" b="0" i="0" dirty="0">
                <a:solidFill>
                  <a:srgbClr val="2B3440"/>
                </a:solidFill>
                <a:latin typeface="Calibri"/>
                <a:ea typeface="Calibri"/>
                <a:cs typeface="Calibri"/>
                <a:sym typeface="Calibri"/>
              </a:rPr>
              <a:t>.</a:t>
            </a:r>
            <a:endParaRPr dirty="0"/>
          </a:p>
        </p:txBody>
      </p:sp>
      <p:sp>
        <p:nvSpPr>
          <p:cNvPr id="611" name="Google Shape;611;p36"/>
          <p:cNvSpPr/>
          <p:nvPr/>
        </p:nvSpPr>
        <p:spPr>
          <a:xfrm>
            <a:off x="8979179" y="3986784"/>
            <a:ext cx="2554147" cy="1060704"/>
          </a:xfrm>
          <a:prstGeom prst="rect">
            <a:avLst/>
          </a:prstGeom>
          <a:solidFill>
            <a:srgbClr val="E9F3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2" name="Google Shape;612;p36"/>
          <p:cNvSpPr txBox="1"/>
          <p:nvPr/>
        </p:nvSpPr>
        <p:spPr>
          <a:xfrm>
            <a:off x="9180347" y="4133087"/>
            <a:ext cx="2170099" cy="2154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a:solidFill>
                  <a:srgbClr val="0A2540"/>
                </a:solidFill>
                <a:latin typeface="Calibri"/>
                <a:ea typeface="Calibri"/>
                <a:cs typeface="Calibri"/>
                <a:sym typeface="Calibri"/>
              </a:rPr>
              <a:t>Chargeable</a:t>
            </a:r>
            <a:endParaRPr/>
          </a:p>
        </p:txBody>
      </p:sp>
      <p:sp>
        <p:nvSpPr>
          <p:cNvPr id="613" name="Google Shape;613;p36"/>
          <p:cNvSpPr txBox="1"/>
          <p:nvPr/>
        </p:nvSpPr>
        <p:spPr>
          <a:xfrm>
            <a:off x="9180347" y="4425696"/>
            <a:ext cx="2170099" cy="51706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00" b="0" i="0">
                <a:solidFill>
                  <a:srgbClr val="2B3440"/>
                </a:solidFill>
                <a:latin typeface="Calibri"/>
                <a:ea typeface="Calibri"/>
                <a:cs typeface="Calibri"/>
                <a:sym typeface="Calibri"/>
              </a:rPr>
              <a:t>Dịch vụ có tính phí, phải chờ Distributor xác nhận báo giá.</a:t>
            </a:r>
            <a:endParaRPr/>
          </a:p>
        </p:txBody>
      </p:sp>
      <p:sp>
        <p:nvSpPr>
          <p:cNvPr id="614" name="Google Shape;614;p36"/>
          <p:cNvSpPr/>
          <p:nvPr/>
        </p:nvSpPr>
        <p:spPr>
          <a:xfrm>
            <a:off x="658368" y="5212080"/>
            <a:ext cx="10874959" cy="58521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5" name="Google Shape;615;p36"/>
          <p:cNvSpPr/>
          <p:nvPr/>
        </p:nvSpPr>
        <p:spPr>
          <a:xfrm>
            <a:off x="658368" y="5212080"/>
            <a:ext cx="50292" cy="585216"/>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16" name="Google Shape;616;p36"/>
          <p:cNvSpPr txBox="1"/>
          <p:nvPr/>
        </p:nvSpPr>
        <p:spPr>
          <a:xfrm>
            <a:off x="950976" y="5386194"/>
            <a:ext cx="10280599" cy="236988"/>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None/>
            </a:pPr>
            <a:r>
              <a:rPr lang="en-US" sz="1400" b="1" i="0">
                <a:solidFill>
                  <a:srgbClr val="00C2A8"/>
                </a:solidFill>
                <a:latin typeface="Calibri"/>
                <a:ea typeface="Calibri"/>
                <a:cs typeface="Calibri"/>
                <a:sym typeface="Calibri"/>
              </a:rPr>
              <a:t>Nhiều điểm tương tác và chuyển giao thông tin  →  dễ phát sinh thời gian chờ, bổ sung thông tin và xử lý lại.</a:t>
            </a:r>
            <a:endParaRPr/>
          </a:p>
        </p:txBody>
      </p:sp>
      <p:sp>
        <p:nvSpPr>
          <p:cNvPr id="2" name="Footer Placeholder 1">
            <a:extLst>
              <a:ext uri="{FF2B5EF4-FFF2-40B4-BE49-F238E27FC236}">
                <a16:creationId xmlns:a16="http://schemas.microsoft.com/office/drawing/2014/main" id="{EA7B164F-4FEA-D823-77DC-516C9EB5E93D}"/>
              </a:ext>
            </a:extLst>
          </p:cNvPr>
          <p:cNvSpPr>
            <a:spLocks noGrp="1"/>
          </p:cNvSpPr>
          <p:nvPr>
            <p:ph type="ftr" idx="11"/>
          </p:nvPr>
        </p:nvSpPr>
        <p:spPr>
          <a:xfrm>
            <a:off x="658368" y="6300085"/>
            <a:ext cx="4721429"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015B73C-844F-475C-0C4C-8FF197898D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26957B56-EBF6-CD82-BD14-C71B591630BA}"/>
            </a:ext>
          </a:extLst>
        </p:cNvPr>
        <p:cNvGrpSpPr/>
        <p:nvPr/>
      </p:nvGrpSpPr>
      <p:grpSpPr>
        <a:xfrm>
          <a:off x="0" y="0"/>
          <a:ext cx="0" cy="0"/>
          <a:chOff x="0" y="0"/>
          <a:chExt cx="0" cy="0"/>
        </a:xfrm>
      </p:grpSpPr>
      <p:sp>
        <p:nvSpPr>
          <p:cNvPr id="621" name="Google Shape;621;p37">
            <a:extLst>
              <a:ext uri="{FF2B5EF4-FFF2-40B4-BE49-F238E27FC236}">
                <a16:creationId xmlns:a16="http://schemas.microsoft.com/office/drawing/2014/main" id="{A9F70262-AFDF-9C10-1FBA-344ED765BCF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1050" b="1" i="0">
                <a:solidFill>
                  <a:srgbClr val="0096D6"/>
                </a:solidFill>
                <a:latin typeface="Calibri"/>
                <a:ea typeface="Calibri"/>
                <a:cs typeface="Calibri"/>
                <a:sym typeface="Calibri"/>
              </a:rPr>
              <a:t>CHƯƠNG 4 · PHÂN TÍCH </a:t>
            </a:r>
            <a:r>
              <a:rPr lang="vi-VN" sz="1050" b="1">
                <a:solidFill>
                  <a:srgbClr val="0096D6"/>
                </a:solidFill>
                <a:latin typeface="Calibri"/>
                <a:ea typeface="Calibri"/>
                <a:cs typeface="Calibri"/>
                <a:sym typeface="Calibri"/>
              </a:rPr>
              <a:t>ĐỊNH TÍNH -</a:t>
            </a:r>
            <a:r>
              <a:rPr lang="en-US" sz="1050" b="1">
                <a:solidFill>
                  <a:srgbClr val="0096D6"/>
                </a:solidFill>
                <a:latin typeface="Calibri"/>
                <a:ea typeface="Calibri"/>
                <a:cs typeface="Calibri"/>
                <a:sym typeface="Calibri"/>
              </a:rPr>
              <a:t> </a:t>
            </a:r>
            <a:r>
              <a:rPr lang="vi-VN" sz="1050" b="1">
                <a:solidFill>
                  <a:srgbClr val="0096D6"/>
                </a:solidFill>
                <a:latin typeface="Calibri"/>
                <a:ea typeface="Calibri"/>
                <a:cs typeface="Calibri"/>
                <a:sym typeface="Calibri"/>
              </a:rPr>
              <a:t>GIÁ TRỊ GIA TĂNG </a:t>
            </a:r>
            <a:endParaRPr lang="vi-VN"/>
          </a:p>
        </p:txBody>
      </p:sp>
      <p:sp>
        <p:nvSpPr>
          <p:cNvPr id="622" name="Google Shape;622;p37">
            <a:extLst>
              <a:ext uri="{FF2B5EF4-FFF2-40B4-BE49-F238E27FC236}">
                <a16:creationId xmlns:a16="http://schemas.microsoft.com/office/drawing/2014/main" id="{76169475-9FE5-7C85-ACD3-4D751ECDE98A}"/>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SERVICE ORDER MANAGEMENT</a:t>
            </a:r>
            <a:endParaRPr/>
          </a:p>
        </p:txBody>
      </p:sp>
      <p:sp>
        <p:nvSpPr>
          <p:cNvPr id="623" name="Google Shape;623;p37">
            <a:extLst>
              <a:ext uri="{FF2B5EF4-FFF2-40B4-BE49-F238E27FC236}">
                <a16:creationId xmlns:a16="http://schemas.microsoft.com/office/drawing/2014/main" id="{50FBBEA2-E118-D412-7993-CB5459046930}"/>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7">
            <a:extLst>
              <a:ext uri="{FF2B5EF4-FFF2-40B4-BE49-F238E27FC236}">
                <a16:creationId xmlns:a16="http://schemas.microsoft.com/office/drawing/2014/main" id="{08426936-77CE-5065-E164-92ED582458FA}"/>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3B1F993B-814E-18E6-683E-A8DD9311A77F}"/>
              </a:ext>
            </a:extLst>
          </p:cNvPr>
          <p:cNvSpPr>
            <a:spLocks noGrp="1"/>
          </p:cNvSpPr>
          <p:nvPr>
            <p:ph type="ftr" idx="11"/>
          </p:nvPr>
        </p:nvSpPr>
        <p:spPr>
          <a:xfrm>
            <a:off x="683514" y="6309360"/>
            <a:ext cx="468261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80C4FB5-FC22-A02E-8072-8EC60B5CE9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graphicFrame>
        <p:nvGraphicFramePr>
          <p:cNvPr id="5" name="Table 4">
            <a:extLst>
              <a:ext uri="{FF2B5EF4-FFF2-40B4-BE49-F238E27FC236}">
                <a16:creationId xmlns:a16="http://schemas.microsoft.com/office/drawing/2014/main" id="{984D58D1-B597-B242-1FAA-C977AC3F2CA0}"/>
              </a:ext>
            </a:extLst>
          </p:cNvPr>
          <p:cNvGraphicFramePr>
            <a:graphicFrameLocks noGrp="1"/>
          </p:cNvGraphicFramePr>
          <p:nvPr>
            <p:extLst>
              <p:ext uri="{D42A27DB-BD31-4B8C-83A1-F6EECF244321}">
                <p14:modId xmlns:p14="http://schemas.microsoft.com/office/powerpoint/2010/main" val="838914595"/>
              </p:ext>
            </p:extLst>
          </p:nvPr>
        </p:nvGraphicFramePr>
        <p:xfrm>
          <a:off x="501447" y="1382661"/>
          <a:ext cx="5722373" cy="4620105"/>
        </p:xfrm>
        <a:graphic>
          <a:graphicData uri="http://schemas.openxmlformats.org/drawingml/2006/table">
            <a:tbl>
              <a:tblPr firstRow="1" firstCol="1" bandRow="1">
                <a:tableStyleId>{65267F91-CA84-436A-A840-DCCC5366F6D9}</a:tableStyleId>
              </a:tblPr>
              <a:tblGrid>
                <a:gridCol w="532251">
                  <a:extLst>
                    <a:ext uri="{9D8B030D-6E8A-4147-A177-3AD203B41FA5}">
                      <a16:colId xmlns:a16="http://schemas.microsoft.com/office/drawing/2014/main" val="3459455039"/>
                    </a:ext>
                  </a:extLst>
                </a:gridCol>
                <a:gridCol w="2907670">
                  <a:extLst>
                    <a:ext uri="{9D8B030D-6E8A-4147-A177-3AD203B41FA5}">
                      <a16:colId xmlns:a16="http://schemas.microsoft.com/office/drawing/2014/main" val="3848436711"/>
                    </a:ext>
                  </a:extLst>
                </a:gridCol>
                <a:gridCol w="1271489">
                  <a:extLst>
                    <a:ext uri="{9D8B030D-6E8A-4147-A177-3AD203B41FA5}">
                      <a16:colId xmlns:a16="http://schemas.microsoft.com/office/drawing/2014/main" val="836421764"/>
                    </a:ext>
                  </a:extLst>
                </a:gridCol>
                <a:gridCol w="1010963">
                  <a:extLst>
                    <a:ext uri="{9D8B030D-6E8A-4147-A177-3AD203B41FA5}">
                      <a16:colId xmlns:a16="http://schemas.microsoft.com/office/drawing/2014/main" val="2549654110"/>
                    </a:ext>
                  </a:extLst>
                </a:gridCol>
              </a:tblGrid>
              <a:tr h="547956">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Hoạt động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Đối tượng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600">
                          <a:effectLst/>
                        </a:rPr>
                        <a:t>Phân loại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7666139"/>
                  </a:ext>
                </a:extLst>
              </a:tr>
              <a:tr h="221398">
                <a:tc>
                  <a:txBody>
                    <a:bodyPr/>
                    <a:lstStyle/>
                    <a:p>
                      <a:pPr marL="0" marR="0" algn="ctr">
                        <a:lnSpc>
                          <a:spcPct val="115000"/>
                        </a:lnSpc>
                        <a:spcAft>
                          <a:spcPts val="800"/>
                        </a:spcAft>
                        <a:buNone/>
                      </a:pPr>
                      <a:r>
                        <a:rPr lang="en-US" sz="1200">
                          <a:effectLst/>
                        </a:rPr>
                        <a:t>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Soạn nội dung yêu cầu dịch vụ phát sinh</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789977"/>
                  </a:ext>
                </a:extLst>
              </a:tr>
              <a:tr h="221398">
                <a:tc>
                  <a:txBody>
                    <a:bodyPr/>
                    <a:lstStyle/>
                    <a:p>
                      <a:pPr marL="0" marR="0" algn="ctr">
                        <a:lnSpc>
                          <a:spcPct val="115000"/>
                        </a:lnSpc>
                        <a:spcAft>
                          <a:spcPts val="800"/>
                        </a:spcAft>
                        <a:buNone/>
                      </a:pPr>
                      <a:r>
                        <a:rPr lang="en-US" sz="1200">
                          <a:effectLst/>
                        </a:rPr>
                        <a:t>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Gửi yêu cầu dịch vụ qua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7440044"/>
                  </a:ext>
                </a:extLst>
              </a:tr>
              <a:tr h="221398">
                <a:tc>
                  <a:txBody>
                    <a:bodyPr/>
                    <a:lstStyle/>
                    <a:p>
                      <a:pPr marL="0" marR="0" algn="ctr">
                        <a:lnSpc>
                          <a:spcPct val="115000"/>
                        </a:lnSpc>
                        <a:spcAft>
                          <a:spcPts val="800"/>
                        </a:spcAft>
                        <a:buNone/>
                      </a:pPr>
                      <a:r>
                        <a:rPr lang="en-US" sz="1200">
                          <a:effectLst/>
                        </a:rPr>
                        <a:t>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Bổ sung thông tin yêu cầu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3689032"/>
                  </a:ext>
                </a:extLst>
              </a:tr>
              <a:tr h="221398">
                <a:tc>
                  <a:txBody>
                    <a:bodyPr/>
                    <a:lstStyle/>
                    <a:p>
                      <a:pPr marL="0" marR="0" algn="ctr">
                        <a:lnSpc>
                          <a:spcPct val="115000"/>
                        </a:lnSpc>
                        <a:spcAft>
                          <a:spcPts val="800"/>
                        </a:spcAft>
                        <a:buNone/>
                      </a:pPr>
                      <a:r>
                        <a:rPr lang="en-US" sz="1200">
                          <a:effectLst/>
                        </a:rPr>
                        <a:t>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kiểm tra/xử lý từ xa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2720217"/>
                  </a:ext>
                </a:extLst>
              </a:tr>
              <a:tr h="221398">
                <a:tc>
                  <a:txBody>
                    <a:bodyPr/>
                    <a:lstStyle/>
                    <a:p>
                      <a:pPr marL="0" marR="0" algn="ctr">
                        <a:lnSpc>
                          <a:spcPct val="115000"/>
                        </a:lnSpc>
                        <a:spcAft>
                          <a:spcPts val="800"/>
                        </a:spcAft>
                        <a:buNone/>
                      </a:pPr>
                      <a:r>
                        <a:rPr lang="en-US" sz="1200">
                          <a:effectLst/>
                        </a:rPr>
                        <a:t>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kiểm tra trực tiếp</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628285"/>
                  </a:ext>
                </a:extLst>
              </a:tr>
              <a:tr h="221398">
                <a:tc>
                  <a:txBody>
                    <a:bodyPr/>
                    <a:lstStyle/>
                    <a:p>
                      <a:pPr marL="0" marR="0" algn="ctr">
                        <a:lnSpc>
                          <a:spcPct val="115000"/>
                        </a:lnSpc>
                        <a:spcAft>
                          <a:spcPts val="800"/>
                        </a:spcAft>
                        <a:buNone/>
                      </a:pPr>
                      <a:r>
                        <a:rPr lang="en-US" sz="1200">
                          <a:effectLst/>
                        </a:rPr>
                        <a:t>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Chấp nhận báo giá</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3244081"/>
                  </a:ext>
                </a:extLst>
              </a:tr>
              <a:tr h="221398">
                <a:tc>
                  <a:txBody>
                    <a:bodyPr/>
                    <a:lstStyle/>
                    <a:p>
                      <a:pPr marL="0" marR="0" algn="ctr">
                        <a:lnSpc>
                          <a:spcPct val="115000"/>
                        </a:lnSpc>
                        <a:spcAft>
                          <a:spcPts val="800"/>
                        </a:spcAft>
                        <a:buNone/>
                      </a:pPr>
                      <a:r>
                        <a:rPr lang="en-US" sz="1200">
                          <a:effectLst/>
                        </a:rPr>
                        <a:t>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Từ chối báo giá</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1285116"/>
                  </a:ext>
                </a:extLst>
              </a:tr>
              <a:tr h="280161">
                <a:tc>
                  <a:txBody>
                    <a:bodyPr/>
                    <a:lstStyle/>
                    <a:p>
                      <a:pPr marL="0" marR="0" algn="ctr">
                        <a:lnSpc>
                          <a:spcPct val="115000"/>
                        </a:lnSpc>
                        <a:spcAft>
                          <a:spcPts val="800"/>
                        </a:spcAft>
                        <a:buNone/>
                      </a:pPr>
                      <a:r>
                        <a:rPr lang="en-US" sz="1200">
                          <a:effectLst/>
                        </a:rPr>
                        <a:t>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Phối hợp xử lý nhu cầu dịch vụ với 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2062671"/>
                  </a:ext>
                </a:extLst>
              </a:tr>
              <a:tr h="221398">
                <a:tc>
                  <a:txBody>
                    <a:bodyPr/>
                    <a:lstStyle/>
                    <a:p>
                      <a:pPr marL="0" marR="0" algn="ctr">
                        <a:lnSpc>
                          <a:spcPct val="115000"/>
                        </a:lnSpc>
                        <a:spcAft>
                          <a:spcPts val="800"/>
                        </a:spcAft>
                        <a:buNone/>
                      </a:pPr>
                      <a:r>
                        <a:rPr lang="en-US" sz="1200">
                          <a:effectLst/>
                        </a:rPr>
                        <a:t>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nhận kết quả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Hospital/End-user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0744567"/>
                  </a:ext>
                </a:extLst>
              </a:tr>
              <a:tr h="221398">
                <a:tc>
                  <a:txBody>
                    <a:bodyPr/>
                    <a:lstStyle/>
                    <a:p>
                      <a:pPr marL="0" marR="0" algn="ctr">
                        <a:lnSpc>
                          <a:spcPct val="115000"/>
                        </a:lnSpc>
                        <a:spcAft>
                          <a:spcPts val="800"/>
                        </a:spcAft>
                        <a:buNone/>
                      </a:pPr>
                      <a:r>
                        <a:rPr lang="en-US" sz="1200">
                          <a:effectLst/>
                        </a:rPr>
                        <a:t>10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Chuyển yêu cầu cho 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2494335"/>
                  </a:ext>
                </a:extLst>
              </a:tr>
              <a:tr h="302943">
                <a:tc>
                  <a:txBody>
                    <a:bodyPr/>
                    <a:lstStyle/>
                    <a:p>
                      <a:pPr marL="0" marR="0" algn="ctr">
                        <a:lnSpc>
                          <a:spcPct val="115000"/>
                        </a:lnSpc>
                        <a:spcAft>
                          <a:spcPts val="800"/>
                        </a:spcAft>
                        <a:buNone/>
                      </a:pPr>
                      <a:r>
                        <a:rPr lang="en-US" sz="1200">
                          <a:effectLst/>
                        </a:rPr>
                        <a:t>11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Chuyển thông tin bổ sung cho 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748256"/>
                  </a:ext>
                </a:extLst>
              </a:tr>
              <a:tr h="221398">
                <a:tc>
                  <a:txBody>
                    <a:bodyPr/>
                    <a:lstStyle/>
                    <a:p>
                      <a:pPr marL="0" marR="0" algn="ctr">
                        <a:lnSpc>
                          <a:spcPct val="115000"/>
                        </a:lnSpc>
                        <a:spcAft>
                          <a:spcPts val="800"/>
                        </a:spcAft>
                        <a:buNone/>
                      </a:pPr>
                      <a:r>
                        <a:rPr lang="en-US" sz="1200">
                          <a:effectLst/>
                        </a:rPr>
                        <a:t>12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Yêu cầu End-user bổ sung thông tin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7290159"/>
                  </a:ext>
                </a:extLst>
              </a:tr>
              <a:tr h="221398">
                <a:tc>
                  <a:txBody>
                    <a:bodyPr/>
                    <a:lstStyle/>
                    <a:p>
                      <a:pPr marL="0" marR="0" algn="ctr">
                        <a:lnSpc>
                          <a:spcPct val="115000"/>
                        </a:lnSpc>
                        <a:spcAft>
                          <a:spcPts val="800"/>
                        </a:spcAft>
                        <a:buNone/>
                      </a:pPr>
                      <a:r>
                        <a:rPr lang="en-US" sz="1200">
                          <a:effectLst/>
                        </a:rPr>
                        <a:t>13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Thực hiện thủ tục thương mại với End-User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3220406"/>
                  </a:ext>
                </a:extLst>
              </a:tr>
              <a:tr h="456602">
                <a:tc>
                  <a:txBody>
                    <a:bodyPr/>
                    <a:lstStyle/>
                    <a:p>
                      <a:pPr marL="0" marR="0" algn="ctr">
                        <a:lnSpc>
                          <a:spcPct val="115000"/>
                        </a:lnSpc>
                        <a:spcAft>
                          <a:spcPts val="800"/>
                        </a:spcAft>
                        <a:buNone/>
                      </a:pPr>
                      <a:r>
                        <a:rPr lang="en-US" sz="1200">
                          <a:effectLst/>
                        </a:rPr>
                        <a:t>14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Phản hồi End-User từ chối báo giá của SOLVENTUM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7270793"/>
                  </a:ext>
                </a:extLst>
              </a:tr>
              <a:tr h="456602">
                <a:tc>
                  <a:txBody>
                    <a:bodyPr/>
                    <a:lstStyle/>
                    <a:p>
                      <a:pPr marL="0" marR="0" algn="ctr">
                        <a:lnSpc>
                          <a:spcPct val="115000"/>
                        </a:lnSpc>
                        <a:spcAft>
                          <a:spcPts val="800"/>
                        </a:spcAft>
                        <a:buNone/>
                      </a:pPr>
                      <a:r>
                        <a:rPr lang="en-US" sz="1200">
                          <a:effectLst/>
                        </a:rPr>
                        <a:t>15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Phản hồi End-User đồng ý báo giá của SOLVENTUM</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51398302"/>
                  </a:ext>
                </a:extLst>
              </a:tr>
            </a:tbl>
          </a:graphicData>
        </a:graphic>
      </p:graphicFrame>
      <p:graphicFrame>
        <p:nvGraphicFramePr>
          <p:cNvPr id="7" name="Table 6">
            <a:extLst>
              <a:ext uri="{FF2B5EF4-FFF2-40B4-BE49-F238E27FC236}">
                <a16:creationId xmlns:a16="http://schemas.microsoft.com/office/drawing/2014/main" id="{1329C8ED-0EB2-37E1-B373-0737F34AE2C3}"/>
              </a:ext>
            </a:extLst>
          </p:cNvPr>
          <p:cNvGraphicFramePr>
            <a:graphicFrameLocks noGrp="1"/>
          </p:cNvGraphicFramePr>
          <p:nvPr>
            <p:extLst>
              <p:ext uri="{D42A27DB-BD31-4B8C-83A1-F6EECF244321}">
                <p14:modId xmlns:p14="http://schemas.microsoft.com/office/powerpoint/2010/main" val="756478925"/>
              </p:ext>
            </p:extLst>
          </p:nvPr>
        </p:nvGraphicFramePr>
        <p:xfrm>
          <a:off x="6415887" y="1382661"/>
          <a:ext cx="5562845" cy="5233903"/>
        </p:xfrm>
        <a:graphic>
          <a:graphicData uri="http://schemas.openxmlformats.org/drawingml/2006/table">
            <a:tbl>
              <a:tblPr firstRow="1" firstCol="1" bandRow="1">
                <a:tableStyleId>{65267F91-CA84-436A-A840-DCCC5366F6D9}</a:tableStyleId>
              </a:tblPr>
              <a:tblGrid>
                <a:gridCol w="451403">
                  <a:extLst>
                    <a:ext uri="{9D8B030D-6E8A-4147-A177-3AD203B41FA5}">
                      <a16:colId xmlns:a16="http://schemas.microsoft.com/office/drawing/2014/main" val="1832098959"/>
                    </a:ext>
                  </a:extLst>
                </a:gridCol>
                <a:gridCol w="3045698">
                  <a:extLst>
                    <a:ext uri="{9D8B030D-6E8A-4147-A177-3AD203B41FA5}">
                      <a16:colId xmlns:a16="http://schemas.microsoft.com/office/drawing/2014/main" val="3245411441"/>
                    </a:ext>
                  </a:extLst>
                </a:gridCol>
                <a:gridCol w="1434545">
                  <a:extLst>
                    <a:ext uri="{9D8B030D-6E8A-4147-A177-3AD203B41FA5}">
                      <a16:colId xmlns:a16="http://schemas.microsoft.com/office/drawing/2014/main" val="1649192318"/>
                    </a:ext>
                  </a:extLst>
                </a:gridCol>
                <a:gridCol w="631199">
                  <a:extLst>
                    <a:ext uri="{9D8B030D-6E8A-4147-A177-3AD203B41FA5}">
                      <a16:colId xmlns:a16="http://schemas.microsoft.com/office/drawing/2014/main" val="6609158"/>
                    </a:ext>
                  </a:extLst>
                </a:gridCol>
              </a:tblGrid>
              <a:tr h="463590">
                <a:tc>
                  <a:txBody>
                    <a:bodyPr/>
                    <a:lstStyle/>
                    <a:p>
                      <a:pPr marL="0" marR="0" algn="ctr">
                        <a:lnSpc>
                          <a:spcPct val="115000"/>
                        </a:lnSpc>
                        <a:spcAft>
                          <a:spcPts val="800"/>
                        </a:spcAft>
                        <a:buNone/>
                      </a:pPr>
                      <a:r>
                        <a:rPr lang="en-US" sz="1800">
                          <a:effectLst/>
                        </a:rPr>
                        <a:t>STT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Hoạt động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Đối tượng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800">
                          <a:effectLst/>
                        </a:rPr>
                        <a:t>Phân loại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9628205"/>
                  </a:ext>
                </a:extLst>
              </a:tr>
              <a:tr h="386301">
                <a:tc>
                  <a:txBody>
                    <a:bodyPr/>
                    <a:lstStyle/>
                    <a:p>
                      <a:pPr marL="0" marR="0" algn="ctr">
                        <a:lnSpc>
                          <a:spcPct val="115000"/>
                        </a:lnSpc>
                        <a:spcAft>
                          <a:spcPts val="800"/>
                        </a:spcAft>
                        <a:buNone/>
                      </a:pPr>
                      <a:r>
                        <a:rPr lang="en-US" sz="1200">
                          <a:effectLst/>
                        </a:rPr>
                        <a:t>16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minh thông tin thiết bị &amp; điều kiện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883558"/>
                  </a:ext>
                </a:extLst>
              </a:tr>
              <a:tr h="187311">
                <a:tc>
                  <a:txBody>
                    <a:bodyPr/>
                    <a:lstStyle/>
                    <a:p>
                      <a:pPr marL="0" marR="0" algn="ctr">
                        <a:lnSpc>
                          <a:spcPct val="115000"/>
                        </a:lnSpc>
                        <a:spcAft>
                          <a:spcPts val="800"/>
                        </a:spcAft>
                        <a:buNone/>
                      </a:pPr>
                      <a:r>
                        <a:rPr lang="en-US" sz="1200">
                          <a:effectLst/>
                        </a:rPr>
                        <a:t>17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Yêu cầu Distributor bổ sung thông tin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NVA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2727828"/>
                  </a:ext>
                </a:extLst>
              </a:tr>
              <a:tr h="187311">
                <a:tc>
                  <a:txBody>
                    <a:bodyPr/>
                    <a:lstStyle/>
                    <a:p>
                      <a:pPr marL="0" marR="0" algn="ctr">
                        <a:lnSpc>
                          <a:spcPct val="115000"/>
                        </a:lnSpc>
                        <a:spcAft>
                          <a:spcPts val="800"/>
                        </a:spcAft>
                        <a:buNone/>
                      </a:pPr>
                      <a:r>
                        <a:rPr lang="en-US" sz="1200">
                          <a:effectLst/>
                        </a:rPr>
                        <a:t>18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Xem xét/phân loại yêu cầu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826367"/>
                  </a:ext>
                </a:extLst>
              </a:tr>
              <a:tr h="187311">
                <a:tc>
                  <a:txBody>
                    <a:bodyPr/>
                    <a:lstStyle/>
                    <a:p>
                      <a:pPr marL="0" marR="0" algn="ctr">
                        <a:lnSpc>
                          <a:spcPct val="115000"/>
                        </a:lnSpc>
                        <a:spcAft>
                          <a:spcPts val="800"/>
                        </a:spcAft>
                        <a:buNone/>
                      </a:pPr>
                      <a:r>
                        <a:rPr lang="en-US" sz="1200">
                          <a:effectLst/>
                        </a:rPr>
                        <a:t>19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Phân công 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1178075"/>
                  </a:ext>
                </a:extLst>
              </a:tr>
              <a:tr h="187311">
                <a:tc>
                  <a:txBody>
                    <a:bodyPr/>
                    <a:lstStyle/>
                    <a:p>
                      <a:pPr marL="0" marR="0" algn="ctr">
                        <a:lnSpc>
                          <a:spcPct val="115000"/>
                        </a:lnSpc>
                        <a:spcAft>
                          <a:spcPts val="800"/>
                        </a:spcAft>
                        <a:buNone/>
                      </a:pPr>
                      <a:r>
                        <a:rPr lang="en-US" sz="1200">
                          <a:effectLst/>
                        </a:rPr>
                        <a:t>20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định phạm vi và điều kiện dịch vụ</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4734712"/>
                  </a:ext>
                </a:extLst>
              </a:tr>
              <a:tr h="187311">
                <a:tc>
                  <a:txBody>
                    <a:bodyPr/>
                    <a:lstStyle/>
                    <a:p>
                      <a:pPr marL="0" marR="0" algn="ctr">
                        <a:lnSpc>
                          <a:spcPct val="115000"/>
                        </a:lnSpc>
                        <a:spcAft>
                          <a:spcPts val="800"/>
                        </a:spcAft>
                        <a:buNone/>
                      </a:pPr>
                      <a:r>
                        <a:rPr lang="en-US" sz="1200">
                          <a:effectLst/>
                        </a:rPr>
                        <a:t>21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Lập báo giá gửi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2826109"/>
                  </a:ext>
                </a:extLst>
              </a:tr>
              <a:tr h="187311">
                <a:tc>
                  <a:txBody>
                    <a:bodyPr/>
                    <a:lstStyle/>
                    <a:p>
                      <a:pPr marL="0" marR="0" algn="ctr">
                        <a:lnSpc>
                          <a:spcPct val="115000"/>
                        </a:lnSpc>
                        <a:spcAft>
                          <a:spcPts val="800"/>
                        </a:spcAft>
                        <a:buNone/>
                      </a:pPr>
                      <a:r>
                        <a:rPr lang="en-US" sz="1200">
                          <a:effectLst/>
                        </a:rPr>
                        <a:t>22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Tạo và hoàn thiện Service Order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0632784"/>
                  </a:ext>
                </a:extLst>
              </a:tr>
              <a:tr h="187311">
                <a:tc>
                  <a:txBody>
                    <a:bodyPr/>
                    <a:lstStyle/>
                    <a:p>
                      <a:pPr marL="0" marR="0" algn="ctr">
                        <a:lnSpc>
                          <a:spcPct val="115000"/>
                        </a:lnSpc>
                        <a:spcAft>
                          <a:spcPts val="800"/>
                        </a:spcAft>
                        <a:buNone/>
                      </a:pPr>
                      <a:r>
                        <a:rPr lang="en-US" sz="1200">
                          <a:effectLst/>
                        </a:rPr>
                        <a:t>23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Phân công Service Engineer phù hợp</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1263406"/>
                  </a:ext>
                </a:extLst>
              </a:tr>
              <a:tr h="187311">
                <a:tc>
                  <a:txBody>
                    <a:bodyPr/>
                    <a:lstStyle/>
                    <a:p>
                      <a:pPr marL="0" marR="0" algn="ctr">
                        <a:lnSpc>
                          <a:spcPct val="115000"/>
                        </a:lnSpc>
                        <a:spcAft>
                          <a:spcPts val="800"/>
                        </a:spcAft>
                        <a:buNone/>
                      </a:pPr>
                      <a:r>
                        <a:rPr lang="en-US" sz="1200">
                          <a:effectLst/>
                        </a:rPr>
                        <a:t>24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Tiếp nhận kết quả đánh giá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2730242"/>
                  </a:ext>
                </a:extLst>
              </a:tr>
              <a:tr h="187311">
                <a:tc>
                  <a:txBody>
                    <a:bodyPr/>
                    <a:lstStyle/>
                    <a:p>
                      <a:pPr marL="0" marR="0" algn="ctr">
                        <a:lnSpc>
                          <a:spcPct val="115000"/>
                        </a:lnSpc>
                        <a:spcAft>
                          <a:spcPts val="800"/>
                        </a:spcAft>
                        <a:buNone/>
                      </a:pPr>
                      <a:r>
                        <a:rPr lang="en-US" sz="1200">
                          <a:effectLst/>
                        </a:rPr>
                        <a:t>25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Cập nhật lịch sử dịch vụ của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028261"/>
                  </a:ext>
                </a:extLst>
              </a:tr>
              <a:tr h="187311">
                <a:tc>
                  <a:txBody>
                    <a:bodyPr/>
                    <a:lstStyle/>
                    <a:p>
                      <a:pPr marL="0" marR="0" algn="ctr">
                        <a:lnSpc>
                          <a:spcPct val="115000"/>
                        </a:lnSpc>
                        <a:spcAft>
                          <a:spcPts val="800"/>
                        </a:spcAft>
                        <a:buNone/>
                      </a:pPr>
                      <a:r>
                        <a:rPr lang="en-US" sz="1200">
                          <a:effectLst/>
                        </a:rPr>
                        <a:t>26</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Kiểm tra và cập nhật thông tin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7719936"/>
                  </a:ext>
                </a:extLst>
              </a:tr>
              <a:tr h="187311">
                <a:tc>
                  <a:txBody>
                    <a:bodyPr/>
                    <a:lstStyle/>
                    <a:p>
                      <a:pPr marL="0" marR="0" algn="ctr">
                        <a:lnSpc>
                          <a:spcPct val="115000"/>
                        </a:lnSpc>
                        <a:spcAft>
                          <a:spcPts val="800"/>
                        </a:spcAft>
                        <a:buNone/>
                      </a:pPr>
                      <a:r>
                        <a:rPr lang="en-US" sz="1200">
                          <a:effectLst/>
                        </a:rPr>
                        <a:t>27</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Thông báo kết quả xử lý cho Distributor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Admin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8279544"/>
                  </a:ext>
                </a:extLst>
              </a:tr>
              <a:tr h="187311">
                <a:tc>
                  <a:txBody>
                    <a:bodyPr/>
                    <a:lstStyle/>
                    <a:p>
                      <a:pPr marL="0" marR="0" algn="ctr">
                        <a:lnSpc>
                          <a:spcPct val="115000"/>
                        </a:lnSpc>
                        <a:spcAft>
                          <a:spcPts val="800"/>
                        </a:spcAft>
                        <a:buNone/>
                      </a:pPr>
                      <a:r>
                        <a:rPr lang="en-US" sz="1200">
                          <a:effectLst/>
                        </a:rPr>
                        <a:t>28</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Tiếp nhận yêu cầu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6778423"/>
                  </a:ext>
                </a:extLst>
              </a:tr>
              <a:tr h="187311">
                <a:tc>
                  <a:txBody>
                    <a:bodyPr/>
                    <a:lstStyle/>
                    <a:p>
                      <a:pPr marL="0" marR="0" algn="ctr">
                        <a:lnSpc>
                          <a:spcPct val="115000"/>
                        </a:lnSpc>
                        <a:spcAft>
                          <a:spcPts val="800"/>
                        </a:spcAft>
                        <a:buNone/>
                      </a:pPr>
                      <a:r>
                        <a:rPr lang="en-US" sz="1200">
                          <a:effectLst/>
                        </a:rPr>
                        <a:t>29</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Đánh giá sơ bộ tình trạng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1759426"/>
                  </a:ext>
                </a:extLst>
              </a:tr>
              <a:tr h="187311">
                <a:tc>
                  <a:txBody>
                    <a:bodyPr/>
                    <a:lstStyle/>
                    <a:p>
                      <a:pPr marL="0" marR="0" algn="ctr">
                        <a:lnSpc>
                          <a:spcPct val="115000"/>
                        </a:lnSpc>
                        <a:spcAft>
                          <a:spcPts val="800"/>
                        </a:spcAft>
                        <a:buNone/>
                      </a:pPr>
                      <a:r>
                        <a:rPr lang="en-US" sz="1200">
                          <a:effectLst/>
                        </a:rPr>
                        <a:t>30</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Kiểm tra và xử lý kỹ thuật từ xa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0430517"/>
                  </a:ext>
                </a:extLst>
              </a:tr>
              <a:tr h="187311">
                <a:tc>
                  <a:txBody>
                    <a:bodyPr/>
                    <a:lstStyle/>
                    <a:p>
                      <a:pPr marL="0" marR="0" algn="ctr">
                        <a:lnSpc>
                          <a:spcPct val="115000"/>
                        </a:lnSpc>
                        <a:spcAft>
                          <a:spcPts val="800"/>
                        </a:spcAft>
                        <a:buNone/>
                      </a:pPr>
                      <a:r>
                        <a:rPr lang="en-US" sz="1200">
                          <a:effectLst/>
                        </a:rPr>
                        <a:t>31</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Khảo sát và đánh giá hiện trạng thiết bị</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7994404"/>
                  </a:ext>
                </a:extLst>
              </a:tr>
              <a:tr h="386301">
                <a:tc>
                  <a:txBody>
                    <a:bodyPr/>
                    <a:lstStyle/>
                    <a:p>
                      <a:pPr marL="0" marR="0" algn="ctr">
                        <a:lnSpc>
                          <a:spcPct val="115000"/>
                        </a:lnSpc>
                        <a:spcAft>
                          <a:spcPts val="800"/>
                        </a:spcAft>
                        <a:buNone/>
                      </a:pPr>
                      <a:r>
                        <a:rPr lang="en-US" sz="1200">
                          <a:effectLst/>
                        </a:rPr>
                        <a:t>32</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Xác định nguyên nhân và đề xuất phương án</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5043010"/>
                  </a:ext>
                </a:extLst>
              </a:tr>
              <a:tr h="187311">
                <a:tc>
                  <a:txBody>
                    <a:bodyPr/>
                    <a:lstStyle/>
                    <a:p>
                      <a:pPr marL="0" marR="0" algn="ctr">
                        <a:lnSpc>
                          <a:spcPct val="115000"/>
                        </a:lnSpc>
                        <a:spcAft>
                          <a:spcPts val="800"/>
                        </a:spcAft>
                        <a:buNone/>
                      </a:pPr>
                      <a:r>
                        <a:rPr lang="en-US" sz="1200">
                          <a:effectLst/>
                        </a:rPr>
                        <a:t>33</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Thực hiện dịch vụ kỹ thuật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1620035"/>
                  </a:ext>
                </a:extLst>
              </a:tr>
              <a:tr h="255061">
                <a:tc>
                  <a:txBody>
                    <a:bodyPr/>
                    <a:lstStyle/>
                    <a:p>
                      <a:pPr marL="0" marR="0" algn="ctr">
                        <a:lnSpc>
                          <a:spcPct val="115000"/>
                        </a:lnSpc>
                        <a:spcAft>
                          <a:spcPts val="800"/>
                        </a:spcAft>
                        <a:buNone/>
                      </a:pPr>
                      <a:r>
                        <a:rPr lang="en-US" sz="1200">
                          <a:effectLst/>
                        </a:rPr>
                        <a:t>34</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Lập Service Report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8427975"/>
                  </a:ext>
                </a:extLst>
              </a:tr>
              <a:tr h="187311">
                <a:tc>
                  <a:txBody>
                    <a:bodyPr/>
                    <a:lstStyle/>
                    <a:p>
                      <a:pPr marL="0" marR="0" algn="ctr">
                        <a:lnSpc>
                          <a:spcPct val="115000"/>
                        </a:lnSpc>
                        <a:spcAft>
                          <a:spcPts val="800"/>
                        </a:spcAft>
                        <a:buNone/>
                      </a:pPr>
                      <a:r>
                        <a:rPr lang="en-US" sz="1200">
                          <a:effectLst/>
                        </a:rPr>
                        <a:t>35</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a:effectLst/>
                        </a:rPr>
                        <a:t>Ghi nhận thông tin xử lý</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Service Engineer</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200">
                          <a:effectLst/>
                        </a:rPr>
                        <a:t>BVA</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459507"/>
                  </a:ext>
                </a:extLst>
              </a:tr>
            </a:tbl>
          </a:graphicData>
        </a:graphic>
      </p:graphicFrame>
    </p:spTree>
    <p:extLst>
      <p:ext uri="{BB962C8B-B14F-4D97-AF65-F5344CB8AC3E}">
        <p14:creationId xmlns:p14="http://schemas.microsoft.com/office/powerpoint/2010/main" val="1604757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2" name="Google Shape;622;p3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SERVICE ORDER MANAGEMENT</a:t>
            </a:r>
            <a:endParaRPr/>
          </a:p>
        </p:txBody>
      </p:sp>
      <p:sp>
        <p:nvSpPr>
          <p:cNvPr id="623" name="Google Shape;623;p3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4" name="Google Shape;624;p3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5" name="Google Shape;625;p3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 — 35 hoạt động của 04 tác nhân được phân loại theo mức độ đóng góp giá trị</a:t>
            </a:r>
            <a:endParaRPr/>
          </a:p>
        </p:txBody>
      </p:sp>
      <p:sp>
        <p:nvSpPr>
          <p:cNvPr id="628" name="Google Shape;628;p37"/>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37"/>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0" name="Google Shape;630;p37"/>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C2A8"/>
                </a:solidFill>
                <a:latin typeface="Calibri"/>
                <a:ea typeface="Calibri"/>
                <a:cs typeface="Calibri"/>
                <a:sym typeface="Calibri"/>
              </a:rPr>
              <a:t>08</a:t>
            </a:r>
            <a:endParaRPr/>
          </a:p>
        </p:txBody>
      </p:sp>
      <p:sp>
        <p:nvSpPr>
          <p:cNvPr id="631" name="Google Shape;631;p37"/>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VA</a:t>
            </a:r>
            <a:endParaRPr/>
          </a:p>
        </p:txBody>
      </p:sp>
      <p:sp>
        <p:nvSpPr>
          <p:cNvPr id="632" name="Google Shape;632;p37"/>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Value Added — trực tiếp tạo giá trị cho khách hàng: đánh giá, kiểm tra và thực hiện dịch vụ kỹ thuật.</a:t>
            </a:r>
            <a:endParaRPr/>
          </a:p>
        </p:txBody>
      </p:sp>
      <p:sp>
        <p:nvSpPr>
          <p:cNvPr id="633" name="Google Shape;633;p37"/>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4" name="Google Shape;634;p37"/>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5" name="Google Shape;635;p37"/>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96D6"/>
                </a:solidFill>
                <a:latin typeface="Calibri"/>
                <a:ea typeface="Calibri"/>
                <a:cs typeface="Calibri"/>
                <a:sym typeface="Calibri"/>
              </a:rPr>
              <a:t>23</a:t>
            </a:r>
            <a:endParaRPr/>
          </a:p>
        </p:txBody>
      </p:sp>
      <p:sp>
        <p:nvSpPr>
          <p:cNvPr id="636" name="Google Shape;636;p37"/>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BVA</a:t>
            </a:r>
            <a:endParaRPr/>
          </a:p>
        </p:txBody>
      </p:sp>
      <p:sp>
        <p:nvSpPr>
          <p:cNvPr id="637" name="Google Shape;637;p37"/>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Business Value Added — cần thiết để tiếp nhận, kiểm soát, điều phối và quản lý hồ sơ dịch vụ.</a:t>
            </a:r>
            <a:endParaRPr/>
          </a:p>
        </p:txBody>
      </p:sp>
      <p:sp>
        <p:nvSpPr>
          <p:cNvPr id="638" name="Google Shape;638;p37"/>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9" name="Google Shape;639;p37"/>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0" name="Google Shape;640;p37"/>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04</a:t>
            </a:r>
            <a:endParaRPr/>
          </a:p>
        </p:txBody>
      </p:sp>
      <p:sp>
        <p:nvSpPr>
          <p:cNvPr id="641" name="Google Shape;641;p37"/>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NVA</a:t>
            </a:r>
            <a:endParaRPr/>
          </a:p>
        </p:txBody>
      </p:sp>
      <p:sp>
        <p:nvSpPr>
          <p:cNvPr id="642" name="Google Shape;642;p37"/>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Non-Value Added — phát sinh từ vòng lặp bổ sung thông tin khi yêu cầu ban đầu chưa đầy đủ.</a:t>
            </a:r>
            <a:endParaRPr/>
          </a:p>
        </p:txBody>
      </p:sp>
      <p:sp>
        <p:nvSpPr>
          <p:cNvPr id="643" name="Google Shape;643;p37"/>
          <p:cNvSpPr txBox="1"/>
          <p:nvPr/>
        </p:nvSpPr>
        <p:spPr>
          <a:xfrm>
            <a:off x="6583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08 HOẠT ĐỘNG VA — TẠO GIÁ TRỊ TRỰC TIẾP</a:t>
            </a:r>
            <a:endParaRPr/>
          </a:p>
        </p:txBody>
      </p:sp>
      <p:sp>
        <p:nvSpPr>
          <p:cNvPr id="644" name="Google Shape;644;p37"/>
          <p:cNvSpPr txBox="1"/>
          <p:nvPr/>
        </p:nvSpPr>
        <p:spPr>
          <a:xfrm>
            <a:off x="658368" y="3776980"/>
            <a:ext cx="5323459" cy="1600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150" b="0" i="0">
                <a:solidFill>
                  <a:srgbClr val="6B7784"/>
                </a:solidFill>
                <a:latin typeface="Calibri"/>
                <a:ea typeface="Calibri"/>
                <a:cs typeface="Calibri"/>
                <a:sym typeface="Calibri"/>
              </a:rPr>
              <a:t>•  Phối hợp kiểm tra/xử lý từ xa  ·  Phối hợp kiểm tra trực tiếp  (Hospital/End-user)</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Phối hợp xử lý nhu cầu dịch vụ với Service Engineer  (Hospital/End-user)</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Đánh giá sơ bộ tình trạng thiết bị  ·  Kiểm tra và xử lý kỹ thuật từ xa</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Khảo sát và đánh giá hiện trạng thiết bị  ·  Xác định nguyên nhân và đề xuất phương án</a:t>
            </a:r>
            <a:endParaRPr/>
          </a:p>
          <a:p>
            <a:pPr marL="0" marR="0" lvl="0" indent="0" algn="l" rtl="0">
              <a:lnSpc>
                <a:spcPct val="115000"/>
              </a:lnSpc>
              <a:spcBef>
                <a:spcPts val="400"/>
              </a:spcBef>
              <a:spcAft>
                <a:spcPts val="0"/>
              </a:spcAft>
              <a:buNone/>
            </a:pPr>
            <a:r>
              <a:rPr lang="en-US" sz="1150" b="0" i="0">
                <a:solidFill>
                  <a:srgbClr val="6B7784"/>
                </a:solidFill>
                <a:latin typeface="Calibri"/>
                <a:ea typeface="Calibri"/>
                <a:cs typeface="Calibri"/>
                <a:sym typeface="Calibri"/>
              </a:rPr>
              <a:t>•  Thực hiện dịch vụ kỹ thuật  (Service Engineer)</a:t>
            </a:r>
            <a:endParaRPr/>
          </a:p>
        </p:txBody>
      </p:sp>
      <p:sp>
        <p:nvSpPr>
          <p:cNvPr id="645" name="Google Shape;645;p37"/>
          <p:cNvSpPr txBox="1"/>
          <p:nvPr/>
        </p:nvSpPr>
        <p:spPr>
          <a:xfrm>
            <a:off x="62098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C0392B"/>
                </a:solidFill>
                <a:latin typeface="Calibri"/>
                <a:ea typeface="Calibri"/>
                <a:cs typeface="Calibri"/>
                <a:sym typeface="Calibri"/>
              </a:rPr>
              <a:t>04 HOẠT ĐỘNG NVA — CẦN LOẠI BỎ NGUYÊN NHÂN</a:t>
            </a:r>
            <a:endParaRPr/>
          </a:p>
        </p:txBody>
      </p:sp>
      <p:sp>
        <p:nvSpPr>
          <p:cNvPr id="646" name="Google Shape;646;p37"/>
          <p:cNvSpPr txBox="1"/>
          <p:nvPr/>
        </p:nvSpPr>
        <p:spPr>
          <a:xfrm>
            <a:off x="6209868" y="3776980"/>
            <a:ext cx="5323459" cy="1600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300" b="0" i="0">
                <a:solidFill>
                  <a:srgbClr val="6B7784"/>
                </a:solidFill>
                <a:latin typeface="Calibri"/>
                <a:ea typeface="Calibri"/>
                <a:cs typeface="Calibri"/>
                <a:sym typeface="Calibri"/>
              </a:rPr>
              <a:t>•  Bổ sung thông tin yêu cầu dịch vụ  (Hospital/End-user)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Chuyển thông tin bổ sung cho Service Admin  (Distributor)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Yêu cầu End-user bổ sung thông tin  (Distributor)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Yêu cầu Distributor bổ sung thông tin  (Service Admin)</a:t>
            </a:r>
            <a:endParaRPr/>
          </a:p>
        </p:txBody>
      </p:sp>
      <p:sp>
        <p:nvSpPr>
          <p:cNvPr id="647" name="Google Shape;647;p37"/>
          <p:cNvSpPr/>
          <p:nvPr/>
        </p:nvSpPr>
        <p:spPr>
          <a:xfrm>
            <a:off x="658368" y="5486400"/>
            <a:ext cx="10874959" cy="59436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37"/>
          <p:cNvSpPr/>
          <p:nvPr/>
        </p:nvSpPr>
        <p:spPr>
          <a:xfrm>
            <a:off x="658368" y="5486400"/>
            <a:ext cx="50292" cy="59436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9" name="Google Shape;649;p37"/>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Không có hoạt động NVA nằm ở khâu kỹ thuật: cả 04 hoạt động NVA đều sinh ra từ một nguyên nhân duy nhất — thông tin yêu cầu dịch vụ ban đầu chưa đầy đủ. Chuẩn hóa thông tin đầu vào là hướng cải tiến gốc.</a:t>
            </a:r>
            <a:endParaRPr/>
          </a:p>
        </p:txBody>
      </p:sp>
      <p:sp>
        <p:nvSpPr>
          <p:cNvPr id="2" name="Footer Placeholder 1">
            <a:extLst>
              <a:ext uri="{FF2B5EF4-FFF2-40B4-BE49-F238E27FC236}">
                <a16:creationId xmlns:a16="http://schemas.microsoft.com/office/drawing/2014/main" id="{DDA60A03-C8A4-3D81-6ECB-0890DB51F35B}"/>
              </a:ext>
            </a:extLst>
          </p:cNvPr>
          <p:cNvSpPr>
            <a:spLocks noGrp="1"/>
          </p:cNvSpPr>
          <p:nvPr>
            <p:ph type="ftr" idx="11"/>
          </p:nvPr>
        </p:nvSpPr>
        <p:spPr>
          <a:xfrm>
            <a:off x="683514" y="6309360"/>
            <a:ext cx="468261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48E7A92-1AEF-1E7D-67FC-E45C856E13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5" name="Google Shape;621;p37">
            <a:extLst>
              <a:ext uri="{FF2B5EF4-FFF2-40B4-BE49-F238E27FC236}">
                <a16:creationId xmlns:a16="http://schemas.microsoft.com/office/drawing/2014/main" id="{FDEEB702-7660-35F0-E0AB-51B7FD5227C5}"/>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1050" b="1" i="0">
                <a:solidFill>
                  <a:srgbClr val="0096D6"/>
                </a:solidFill>
                <a:latin typeface="Calibri"/>
                <a:ea typeface="Calibri"/>
                <a:cs typeface="Calibri"/>
                <a:sym typeface="Calibri"/>
              </a:rPr>
              <a:t>CHƯƠNG 4 · PHÂN TÍCH </a:t>
            </a:r>
            <a:r>
              <a:rPr lang="vi-VN" sz="1050" b="1">
                <a:solidFill>
                  <a:srgbClr val="0096D6"/>
                </a:solidFill>
                <a:latin typeface="Calibri"/>
                <a:ea typeface="Calibri"/>
                <a:cs typeface="Calibri"/>
                <a:sym typeface="Calibri"/>
              </a:rPr>
              <a:t>ĐỊNH TÍNH -</a:t>
            </a:r>
            <a:r>
              <a:rPr lang="en-US" sz="1050" b="1">
                <a:solidFill>
                  <a:srgbClr val="0096D6"/>
                </a:solidFill>
                <a:latin typeface="Calibri"/>
                <a:ea typeface="Calibri"/>
                <a:cs typeface="Calibri"/>
                <a:sym typeface="Calibri"/>
              </a:rPr>
              <a:t> </a:t>
            </a:r>
            <a:r>
              <a:rPr lang="vi-VN" sz="1050" b="1">
                <a:solidFill>
                  <a:srgbClr val="0096D6"/>
                </a:solidFill>
                <a:latin typeface="Calibri"/>
                <a:ea typeface="Calibri"/>
                <a:cs typeface="Calibri"/>
                <a:sym typeface="Calibri"/>
              </a:rPr>
              <a:t>GIÁ TRỊ GIA TĂNG </a:t>
            </a:r>
            <a:endParaRPr lang="vi-V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2">
          <a:extLst>
            <a:ext uri="{FF2B5EF4-FFF2-40B4-BE49-F238E27FC236}">
              <a16:creationId xmlns:a16="http://schemas.microsoft.com/office/drawing/2014/main" id="{295EDF4D-4DB5-7EA3-3EFC-389FE46B3A7A}"/>
            </a:ext>
          </a:extLst>
        </p:cNvPr>
        <p:cNvGrpSpPr/>
        <p:nvPr/>
      </p:nvGrpSpPr>
      <p:grpSpPr>
        <a:xfrm>
          <a:off x="0" y="0"/>
          <a:ext cx="0" cy="0"/>
          <a:chOff x="0" y="0"/>
          <a:chExt cx="0" cy="0"/>
        </a:xfrm>
      </p:grpSpPr>
      <p:sp>
        <p:nvSpPr>
          <p:cNvPr id="683" name="Google Shape;683;p39">
            <a:extLst>
              <a:ext uri="{FF2B5EF4-FFF2-40B4-BE49-F238E27FC236}">
                <a16:creationId xmlns:a16="http://schemas.microsoft.com/office/drawing/2014/main" id="{870E9188-F338-CC3E-E889-1CE475DBEFB5}"/>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39">
            <a:extLst>
              <a:ext uri="{FF2B5EF4-FFF2-40B4-BE49-F238E27FC236}">
                <a16:creationId xmlns:a16="http://schemas.microsoft.com/office/drawing/2014/main" id="{6B4992FB-7B31-6AB1-750C-F18998E3ACF5}"/>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39">
            <a:extLst>
              <a:ext uri="{FF2B5EF4-FFF2-40B4-BE49-F238E27FC236}">
                <a16:creationId xmlns:a16="http://schemas.microsoft.com/office/drawing/2014/main" id="{4187F2CB-029B-626C-7CA7-EA2635EBFA51}"/>
              </a:ext>
            </a:extLst>
          </p:cNvPr>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vi-VN" sz="950" b="1" i="0">
                <a:solidFill>
                  <a:srgbClr val="00C2A8"/>
                </a:solidFill>
                <a:latin typeface="Calibri"/>
                <a:ea typeface="Calibri"/>
                <a:cs typeface="Calibri"/>
                <a:sym typeface="Calibri"/>
              </a:rPr>
              <a:t>CHƯƠNG 4 · PHÂN TÍCH ĐỊNH TÍNH - GIÁ TRỊ GIA TĂNG </a:t>
            </a:r>
          </a:p>
        </p:txBody>
      </p:sp>
      <p:sp>
        <p:nvSpPr>
          <p:cNvPr id="686" name="Google Shape;686;p39">
            <a:extLst>
              <a:ext uri="{FF2B5EF4-FFF2-40B4-BE49-F238E27FC236}">
                <a16:creationId xmlns:a16="http://schemas.microsoft.com/office/drawing/2014/main" id="{6A5E7DA2-4DFA-4C7D-0B04-92EF7472ED3D}"/>
              </a:ext>
            </a:extLst>
          </p:cNvPr>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VA – BVA – NVA  trên mô hình quy trình</a:t>
            </a:r>
            <a:endParaRPr/>
          </a:p>
        </p:txBody>
      </p:sp>
      <p:sp>
        <p:nvSpPr>
          <p:cNvPr id="2" name="Footer Placeholder 1">
            <a:extLst>
              <a:ext uri="{FF2B5EF4-FFF2-40B4-BE49-F238E27FC236}">
                <a16:creationId xmlns:a16="http://schemas.microsoft.com/office/drawing/2014/main" id="{41036207-DC74-2C2E-E06A-B32B5E235A52}"/>
              </a:ext>
            </a:extLst>
          </p:cNvPr>
          <p:cNvSpPr>
            <a:spLocks noGrp="1"/>
          </p:cNvSpPr>
          <p:nvPr>
            <p:ph type="ftr" idx="11"/>
          </p:nvPr>
        </p:nvSpPr>
        <p:spPr>
          <a:xfrm>
            <a:off x="475488" y="6356350"/>
            <a:ext cx="4869426"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F6C4979-BA92-0365-18FB-A02524C6B2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pic>
        <p:nvPicPr>
          <p:cNvPr id="5" name="Picture 4">
            <a:extLst>
              <a:ext uri="{FF2B5EF4-FFF2-40B4-BE49-F238E27FC236}">
                <a16:creationId xmlns:a16="http://schemas.microsoft.com/office/drawing/2014/main" id="{8D2410D7-EE8B-9779-3687-824C5D490BFE}"/>
              </a:ext>
            </a:extLst>
          </p:cNvPr>
          <p:cNvPicPr>
            <a:picLocks noChangeAspect="1"/>
          </p:cNvPicPr>
          <p:nvPr/>
        </p:nvPicPr>
        <p:blipFill>
          <a:blip r:embed="rId3"/>
          <a:stretch>
            <a:fillRect/>
          </a:stretch>
        </p:blipFill>
        <p:spPr>
          <a:xfrm>
            <a:off x="182880" y="1216060"/>
            <a:ext cx="10563778" cy="5641939"/>
          </a:xfrm>
          <a:prstGeom prst="rect">
            <a:avLst/>
          </a:prstGeom>
        </p:spPr>
      </p:pic>
      <p:sp>
        <p:nvSpPr>
          <p:cNvPr id="6" name="Google Shape;692;p39">
            <a:extLst>
              <a:ext uri="{FF2B5EF4-FFF2-40B4-BE49-F238E27FC236}">
                <a16:creationId xmlns:a16="http://schemas.microsoft.com/office/drawing/2014/main" id="{25FBBAEC-D89F-7154-30DC-D67263A0062A}"/>
              </a:ext>
            </a:extLst>
          </p:cNvPr>
          <p:cNvSpPr txBox="1"/>
          <p:nvPr/>
        </p:nvSpPr>
        <p:spPr>
          <a:xfrm>
            <a:off x="777535" y="941739"/>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Value-Adding </a:t>
            </a:r>
            <a:endParaRPr/>
          </a:p>
        </p:txBody>
      </p:sp>
      <p:sp>
        <p:nvSpPr>
          <p:cNvPr id="8" name="Google Shape;694;p39">
            <a:extLst>
              <a:ext uri="{FF2B5EF4-FFF2-40B4-BE49-F238E27FC236}">
                <a16:creationId xmlns:a16="http://schemas.microsoft.com/office/drawing/2014/main" id="{D028779E-64F5-7B92-E741-DEE9AD8BBEB2}"/>
              </a:ext>
            </a:extLst>
          </p:cNvPr>
          <p:cNvSpPr txBox="1"/>
          <p:nvPr/>
        </p:nvSpPr>
        <p:spPr>
          <a:xfrm>
            <a:off x="4818593" y="935986"/>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BVA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Business Value-Adding </a:t>
            </a:r>
            <a:endParaRPr/>
          </a:p>
        </p:txBody>
      </p:sp>
      <p:sp>
        <p:nvSpPr>
          <p:cNvPr id="10" name="Google Shape;696;p39">
            <a:extLst>
              <a:ext uri="{FF2B5EF4-FFF2-40B4-BE49-F238E27FC236}">
                <a16:creationId xmlns:a16="http://schemas.microsoft.com/office/drawing/2014/main" id="{45DE56F1-7EBA-B293-1A3A-275C83CD68C1}"/>
              </a:ext>
            </a:extLst>
          </p:cNvPr>
          <p:cNvSpPr txBox="1"/>
          <p:nvPr/>
        </p:nvSpPr>
        <p:spPr>
          <a:xfrm>
            <a:off x="9165385" y="935986"/>
            <a:ext cx="2446512" cy="197871"/>
          </a:xfrm>
          <a:prstGeom prst="rect">
            <a:avLst/>
          </a:prstGeom>
          <a:noFill/>
          <a:ln>
            <a:noFill/>
          </a:ln>
        </p:spPr>
        <p:txBody>
          <a:bodyPr spcFirstLastPara="1" wrap="square" lIns="0" tIns="0" rIns="0" bIns="0" anchor="t" anchorCtr="0">
            <a:noAutofit/>
          </a:bodyPr>
          <a:lstStyle/>
          <a:p>
            <a:r>
              <a:rPr lang="en-US" b="1">
                <a:solidFill>
                  <a:srgbClr val="0A2540"/>
                </a:solidFill>
                <a:latin typeface="Calibri"/>
                <a:ea typeface="Calibri"/>
                <a:cs typeface="Calibri"/>
                <a:sym typeface="Calibri"/>
              </a:rPr>
              <a:t>NVA — Non-Value-Adding</a:t>
            </a:r>
            <a:endParaRPr lang="en-US"/>
          </a:p>
        </p:txBody>
      </p:sp>
      <p:sp>
        <p:nvSpPr>
          <p:cNvPr id="12" name="Rectangle: Rounded Corners 11">
            <a:extLst>
              <a:ext uri="{FF2B5EF4-FFF2-40B4-BE49-F238E27FC236}">
                <a16:creationId xmlns:a16="http://schemas.microsoft.com/office/drawing/2014/main" id="{C14DDDC8-0E20-ED88-85E9-A96713B675A2}"/>
              </a:ext>
            </a:extLst>
          </p:cNvPr>
          <p:cNvSpPr/>
          <p:nvPr/>
        </p:nvSpPr>
        <p:spPr>
          <a:xfrm>
            <a:off x="407154" y="941739"/>
            <a:ext cx="235974" cy="197871"/>
          </a:xfrm>
          <a:prstGeom prst="roundRect">
            <a:avLst/>
          </a:prstGeom>
          <a:solidFill>
            <a:srgbClr val="F5C1C5"/>
          </a:solidFill>
          <a:ln>
            <a:solidFill>
              <a:srgbClr val="F5C1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3EB406A-BB0B-5C9A-D83E-521B0FC70D62}"/>
              </a:ext>
            </a:extLst>
          </p:cNvPr>
          <p:cNvSpPr/>
          <p:nvPr/>
        </p:nvSpPr>
        <p:spPr>
          <a:xfrm>
            <a:off x="8795004" y="956285"/>
            <a:ext cx="180388" cy="142727"/>
          </a:xfrm>
          <a:prstGeom prst="roundRect">
            <a:avLst/>
          </a:prstGeom>
          <a:solidFill>
            <a:srgbClr val="B487BE"/>
          </a:solidFill>
          <a:ln>
            <a:solidFill>
              <a:srgbClr val="B487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EA336A95-0363-2844-1D65-8BC244F27166}"/>
              </a:ext>
            </a:extLst>
          </p:cNvPr>
          <p:cNvSpPr/>
          <p:nvPr/>
        </p:nvSpPr>
        <p:spPr>
          <a:xfrm>
            <a:off x="4455586" y="935986"/>
            <a:ext cx="235974" cy="197871"/>
          </a:xfrm>
          <a:prstGeom prst="roundRect">
            <a:avLst/>
          </a:prstGeom>
          <a:solidFill>
            <a:srgbClr val="96BCDC"/>
          </a:solidFill>
          <a:ln>
            <a:solidFill>
              <a:srgbClr val="96B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8235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3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2228EB06-B71F-9BB8-2644-0055A59976FF}"/>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0F514923-F5E7-0E98-1E20-B20F09AACB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graphicFrame>
        <p:nvGraphicFramePr>
          <p:cNvPr id="5" name="Table 4">
            <a:extLst>
              <a:ext uri="{FF2B5EF4-FFF2-40B4-BE49-F238E27FC236}">
                <a16:creationId xmlns:a16="http://schemas.microsoft.com/office/drawing/2014/main" id="{1FF87D67-5AB2-5D4C-047B-253B1B0598CC}"/>
              </a:ext>
            </a:extLst>
          </p:cNvPr>
          <p:cNvGraphicFramePr>
            <a:graphicFrameLocks noGrp="1"/>
          </p:cNvGraphicFramePr>
          <p:nvPr>
            <p:extLst>
              <p:ext uri="{D42A27DB-BD31-4B8C-83A1-F6EECF244321}">
                <p14:modId xmlns:p14="http://schemas.microsoft.com/office/powerpoint/2010/main" val="2724658617"/>
              </p:ext>
            </p:extLst>
          </p:nvPr>
        </p:nvGraphicFramePr>
        <p:xfrm>
          <a:off x="658368" y="1499616"/>
          <a:ext cx="10874959" cy="4849677"/>
        </p:xfrm>
        <a:graphic>
          <a:graphicData uri="http://schemas.openxmlformats.org/drawingml/2006/table">
            <a:tbl>
              <a:tblPr firstRow="1" firstCol="1" bandRow="1">
                <a:tableStyleId>{65267F91-CA84-436A-A840-DCCC5366F6D9}</a:tableStyleId>
              </a:tblPr>
              <a:tblGrid>
                <a:gridCol w="501838">
                  <a:extLst>
                    <a:ext uri="{9D8B030D-6E8A-4147-A177-3AD203B41FA5}">
                      <a16:colId xmlns:a16="http://schemas.microsoft.com/office/drawing/2014/main" val="2538376788"/>
                    </a:ext>
                  </a:extLst>
                </a:gridCol>
                <a:gridCol w="2555827">
                  <a:extLst>
                    <a:ext uri="{9D8B030D-6E8A-4147-A177-3AD203B41FA5}">
                      <a16:colId xmlns:a16="http://schemas.microsoft.com/office/drawing/2014/main" val="2445514863"/>
                    </a:ext>
                  </a:extLst>
                </a:gridCol>
                <a:gridCol w="1584585">
                  <a:extLst>
                    <a:ext uri="{9D8B030D-6E8A-4147-A177-3AD203B41FA5}">
                      <a16:colId xmlns:a16="http://schemas.microsoft.com/office/drawing/2014/main" val="1273465220"/>
                    </a:ext>
                  </a:extLst>
                </a:gridCol>
                <a:gridCol w="6232709">
                  <a:extLst>
                    <a:ext uri="{9D8B030D-6E8A-4147-A177-3AD203B41FA5}">
                      <a16:colId xmlns:a16="http://schemas.microsoft.com/office/drawing/2014/main" val="130527061"/>
                    </a:ext>
                  </a:extLst>
                </a:gridCol>
              </a:tblGrid>
              <a:tr h="432670">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6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2122542061"/>
                  </a:ext>
                </a:extLst>
              </a:tr>
              <a:tr h="490819">
                <a:tc>
                  <a:txBody>
                    <a:bodyPr/>
                    <a:lstStyle/>
                    <a:p>
                      <a:pPr marL="0" marR="0" algn="ctr">
                        <a:lnSpc>
                          <a:spcPct val="115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Gửi yêu cầu dịch vụ qua Distributor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dịch vụ phải được chuyển qua Distributor trước khi đến Solventum, làm phát sinh một bước trung gian trong luồng tiếp nhận.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000246489"/>
                  </a:ext>
                </a:extLst>
              </a:tr>
              <a:tr h="490819">
                <a:tc>
                  <a:txBody>
                    <a:bodyPr/>
                    <a:lstStyle/>
                    <a:p>
                      <a:pPr marL="0" marR="0" algn="ctr">
                        <a:lnSpc>
                          <a:spcPct val="115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Chuyển yêu cầu cho Service Admin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Distributor thực hiện chuyển tiếp yêu cầu đến Service Admin, tạo thêm một điểm chuyển giao thông tin trước khi yêu cầu được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065652202"/>
                  </a:ext>
                </a:extLst>
              </a:tr>
              <a:tr h="366143">
                <a:tc>
                  <a:txBody>
                    <a:bodyPr/>
                    <a:lstStyle/>
                    <a:p>
                      <a:pPr marL="0" marR="0" algn="ctr">
                        <a:lnSpc>
                          <a:spcPct val="115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Distributor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Phát sinh thêm khi Service Admin xác định thông tin tiếp nhận chưa đầy đủ và phải yêu cầu Distributor cung cấp bổ sung.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785044925"/>
                  </a:ext>
                </a:extLst>
              </a:tr>
              <a:tr h="366143">
                <a:tc>
                  <a:txBody>
                    <a:bodyPr/>
                    <a:lstStyle/>
                    <a:p>
                      <a:pPr marL="0" marR="0" algn="ctr">
                        <a:lnSpc>
                          <a:spcPct val="115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Yêu cầu End-user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Distributor phải thực hiện thêm hoạt động yêu cầu Hospital/End-user cung cấp các thông tin còn thiếu.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573273004"/>
                  </a:ext>
                </a:extLst>
              </a:tr>
              <a:tr h="366143">
                <a:tc>
                  <a:txBody>
                    <a:bodyPr/>
                    <a:lstStyle/>
                    <a:p>
                      <a:pPr marL="0" marR="0" algn="ctr">
                        <a:lnSpc>
                          <a:spcPct val="115000"/>
                        </a:lnSpc>
                        <a:spcAft>
                          <a:spcPts val="800"/>
                        </a:spcAft>
                        <a:buNone/>
                      </a:pPr>
                      <a:r>
                        <a:rPr lang="en-US" sz="14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Bổ sung thông tin yêu cầu dịch vụ</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Hospital/End-user phải thực hiện thêm việc cung cấp thông tin do nội dung yêu cầu ban đầu chưa đầy đủ.</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68378627"/>
                  </a:ext>
                </a:extLst>
              </a:tr>
              <a:tr h="490819">
                <a:tc>
                  <a:txBody>
                    <a:bodyPr/>
                    <a:lstStyle/>
                    <a:p>
                      <a:pPr marL="0" marR="0" algn="ctr">
                        <a:lnSpc>
                          <a:spcPct val="115000"/>
                        </a:lnSpc>
                        <a:spcAft>
                          <a:spcPts val="800"/>
                        </a:spcAft>
                        <a:buNone/>
                      </a:pPr>
                      <a:r>
                        <a:rPr lang="en-US" sz="1400">
                          <a:effectLst/>
                        </a:rPr>
                        <a:t>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Điểm chờ Hospital/End-user bổ sung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Quá trình xử lý phải tạm dừng trong thời gian chờ Hospital/End-user cung cấp các thông tin còn thiếu.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795262505"/>
                  </a:ext>
                </a:extLst>
              </a:tr>
              <a:tr h="490819">
                <a:tc>
                  <a:txBody>
                    <a:bodyPr/>
                    <a:lstStyle/>
                    <a:p>
                      <a:pPr marL="0" marR="0" algn="ctr">
                        <a:lnSpc>
                          <a:spcPct val="115000"/>
                        </a:lnSpc>
                        <a:spcAft>
                          <a:spcPts val="800"/>
                        </a:spcAft>
                        <a:buNone/>
                      </a:pPr>
                      <a:r>
                        <a:rPr lang="en-US" sz="1400">
                          <a:effectLst/>
                        </a:rPr>
                        <a:t>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Chuyển thông tin bổ sung cho Service Admin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Sau khi End-user bổ sung thông tin, Distributor phải thực hiện thêm bước chuyển thông tin trở lại Service Admin để quy trình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734045657"/>
                  </a:ext>
                </a:extLst>
              </a:tr>
              <a:tr h="490819">
                <a:tc>
                  <a:txBody>
                    <a:bodyPr/>
                    <a:lstStyle/>
                    <a:p>
                      <a:pPr marL="0" marR="0" algn="ctr">
                        <a:lnSpc>
                          <a:spcPct val="115000"/>
                        </a:lnSpc>
                        <a:spcAft>
                          <a:spcPts val="800"/>
                        </a:spcAft>
                        <a:buNone/>
                      </a:pPr>
                      <a:r>
                        <a:rPr lang="en-US" sz="1400">
                          <a:effectLst/>
                        </a:rPr>
                        <a:t>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Điểm chờ phối hợp kiểm tra trực tiếp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Khi yêu cầu cần kiểm tra trực tiếp, quá trình xử lý có thể phải chờ việc thống nhất thời gian và điều kiện thực hiện giữa Service Engineer và Hospital/End-user.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3903517792"/>
                  </a:ext>
                </a:extLst>
              </a:tr>
              <a:tr h="366143">
                <a:tc>
                  <a:txBody>
                    <a:bodyPr/>
                    <a:lstStyle/>
                    <a:p>
                      <a:pPr marL="0" marR="0" algn="ctr">
                        <a:lnSpc>
                          <a:spcPct val="115000"/>
                        </a:lnSpc>
                        <a:spcAft>
                          <a:spcPts val="800"/>
                        </a:spcAft>
                        <a:buNone/>
                      </a:pPr>
                      <a:r>
                        <a:rPr lang="en-US" sz="1400">
                          <a:effectLst/>
                        </a:rPr>
                        <a:t>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Phối hợp kiểm tra trực tiếp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tc>
                  <a:txBody>
                    <a:bodyPr/>
                    <a:lstStyle/>
                    <a:p>
                      <a:pPr marL="0" marR="0">
                        <a:lnSpc>
                          <a:spcPct val="115000"/>
                        </a:lnSpc>
                        <a:spcAft>
                          <a:spcPts val="800"/>
                        </a:spcAft>
                        <a:buNone/>
                      </a:pPr>
                      <a:r>
                        <a:rPr lang="en-US" sz="1400">
                          <a:effectLst/>
                        </a:rPr>
                        <a:t>Việc kiểm tra trực tiếp làm phát sinh sự di chuyển của Service Engineer đến địa điểm đặt thiết bị để thực hiện đánh giá hiện trạng.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4351" marR="44351" marT="0" marB="0"/>
                </a:tc>
                <a:extLst>
                  <a:ext uri="{0D108BD9-81ED-4DB2-BD59-A6C34878D82A}">
                    <a16:rowId xmlns:a16="http://schemas.microsoft.com/office/drawing/2014/main" val="15045053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A84F240F-1BC2-728B-0ECA-5E2CB0CA8040}"/>
            </a:ext>
          </a:extLst>
        </p:cNvPr>
        <p:cNvGrpSpPr/>
        <p:nvPr/>
      </p:nvGrpSpPr>
      <p:grpSpPr>
        <a:xfrm>
          <a:off x="0" y="0"/>
          <a:ext cx="0" cy="0"/>
          <a:chOff x="0" y="0"/>
          <a:chExt cx="0" cy="0"/>
        </a:xfrm>
      </p:grpSpPr>
      <p:sp>
        <p:nvSpPr>
          <p:cNvPr id="654" name="Google Shape;654;p38">
            <a:extLst>
              <a:ext uri="{FF2B5EF4-FFF2-40B4-BE49-F238E27FC236}">
                <a16:creationId xmlns:a16="http://schemas.microsoft.com/office/drawing/2014/main" id="{43C6AB88-4FB7-5236-4C59-9096A618939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a:extLst>
              <a:ext uri="{FF2B5EF4-FFF2-40B4-BE49-F238E27FC236}">
                <a16:creationId xmlns:a16="http://schemas.microsoft.com/office/drawing/2014/main" id="{637F4B0D-B33C-F04B-A80A-210DEC0F8C11}"/>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a:extLst>
              <a:ext uri="{FF2B5EF4-FFF2-40B4-BE49-F238E27FC236}">
                <a16:creationId xmlns:a16="http://schemas.microsoft.com/office/drawing/2014/main" id="{40BF78E8-0015-11A3-90CE-EF1453CFFD1A}"/>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CE39EA05-F910-AA48-BB7F-493FD71D5606}"/>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07C4B150-128C-53A7-26E9-D0F83548AB90}"/>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37885193-51DC-F7FC-862E-995328161E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graphicFrame>
        <p:nvGraphicFramePr>
          <p:cNvPr id="4" name="Table 3">
            <a:extLst>
              <a:ext uri="{FF2B5EF4-FFF2-40B4-BE49-F238E27FC236}">
                <a16:creationId xmlns:a16="http://schemas.microsoft.com/office/drawing/2014/main" id="{DC3413BC-7D37-077F-F8F9-A313CFE16E06}"/>
              </a:ext>
            </a:extLst>
          </p:cNvPr>
          <p:cNvGraphicFramePr>
            <a:graphicFrameLocks noGrp="1"/>
          </p:cNvGraphicFramePr>
          <p:nvPr>
            <p:extLst>
              <p:ext uri="{D42A27DB-BD31-4B8C-83A1-F6EECF244321}">
                <p14:modId xmlns:p14="http://schemas.microsoft.com/office/powerpoint/2010/main" val="3473674003"/>
              </p:ext>
            </p:extLst>
          </p:nvPr>
        </p:nvGraphicFramePr>
        <p:xfrm>
          <a:off x="658367" y="1530161"/>
          <a:ext cx="10874959" cy="4752012"/>
        </p:xfrm>
        <a:graphic>
          <a:graphicData uri="http://schemas.openxmlformats.org/drawingml/2006/table">
            <a:tbl>
              <a:tblPr firstRow="1" firstCol="1" bandRow="1">
                <a:tableStyleId>{65267F91-CA84-436A-A840-DCCC5366F6D9}</a:tableStyleId>
              </a:tblPr>
              <a:tblGrid>
                <a:gridCol w="560833">
                  <a:extLst>
                    <a:ext uri="{9D8B030D-6E8A-4147-A177-3AD203B41FA5}">
                      <a16:colId xmlns:a16="http://schemas.microsoft.com/office/drawing/2014/main" val="400058377"/>
                    </a:ext>
                  </a:extLst>
                </a:gridCol>
                <a:gridCol w="2792360">
                  <a:extLst>
                    <a:ext uri="{9D8B030D-6E8A-4147-A177-3AD203B41FA5}">
                      <a16:colId xmlns:a16="http://schemas.microsoft.com/office/drawing/2014/main" val="3332876940"/>
                    </a:ext>
                  </a:extLst>
                </a:gridCol>
                <a:gridCol w="1289060">
                  <a:extLst>
                    <a:ext uri="{9D8B030D-6E8A-4147-A177-3AD203B41FA5}">
                      <a16:colId xmlns:a16="http://schemas.microsoft.com/office/drawing/2014/main" val="2522777493"/>
                    </a:ext>
                  </a:extLst>
                </a:gridCol>
                <a:gridCol w="6232706">
                  <a:extLst>
                    <a:ext uri="{9D8B030D-6E8A-4147-A177-3AD203B41FA5}">
                      <a16:colId xmlns:a16="http://schemas.microsoft.com/office/drawing/2014/main" val="1835188595"/>
                    </a:ext>
                  </a:extLst>
                </a:gridCol>
              </a:tblGrid>
              <a:tr h="388584">
                <a:tc>
                  <a:txBody>
                    <a:bodyPr/>
                    <a:lstStyle/>
                    <a:p>
                      <a:pPr marL="0" marR="0" algn="ctr">
                        <a:lnSpc>
                          <a:spcPct val="115000"/>
                        </a:lnSpc>
                        <a:spcAft>
                          <a:spcPts val="800"/>
                        </a:spcAft>
                        <a:buNone/>
                      </a:pPr>
                      <a:r>
                        <a:rPr lang="en-US" sz="16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6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1923374318"/>
                  </a:ext>
                </a:extLst>
              </a:tr>
              <a:tr h="489841">
                <a:tc>
                  <a:txBody>
                    <a:bodyPr/>
                    <a:lstStyle/>
                    <a:p>
                      <a:pPr marL="0" marR="0" algn="ctr">
                        <a:lnSpc>
                          <a:spcPct val="115000"/>
                        </a:lnSpc>
                        <a:spcAft>
                          <a:spcPts val="800"/>
                        </a:spcAft>
                        <a:buNone/>
                      </a:pPr>
                      <a:r>
                        <a:rPr lang="en-US" sz="1400">
                          <a:effectLst/>
                        </a:rPr>
                        <a:t>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Lập báo giá gửi Distributor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Báo giá được chuyển qua Distributor để thực hiện các bước trao đổi thương mại với Hospital/End-user, làm phát sinh một bước trung gian trong luồng thông tin.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303197740"/>
                  </a:ext>
                </a:extLst>
              </a:tr>
              <a:tr h="489841">
                <a:tc>
                  <a:txBody>
                    <a:bodyPr/>
                    <a:lstStyle/>
                    <a:p>
                      <a:pPr marL="0" marR="0" algn="ctr">
                        <a:lnSpc>
                          <a:spcPct val="115000"/>
                        </a:lnSpc>
                        <a:spcAft>
                          <a:spcPts val="800"/>
                        </a:spcAft>
                        <a:buNone/>
                      </a:pPr>
                      <a:r>
                        <a:rPr lang="en-US" sz="1400">
                          <a:effectLst/>
                        </a:rPr>
                        <a:t>11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Hospital/End-user phản hồi báo giá</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Đối với dịch vụ có phát sinh chi phí, quy trình phải chờ Hospital/End-user xem xét và quyết định đối với báo giá trước khi có thể tiếp tục hoặc kết thúc.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1877765072"/>
                  </a:ext>
                </a:extLst>
              </a:tr>
              <a:tr h="552781">
                <a:tc>
                  <a:txBody>
                    <a:bodyPr/>
                    <a:lstStyle/>
                    <a:p>
                      <a:pPr marL="0" marR="0" algn="ctr">
                        <a:lnSpc>
                          <a:spcPct val="115000"/>
                        </a:lnSpc>
                        <a:spcAft>
                          <a:spcPts val="800"/>
                        </a:spcAft>
                        <a:buNone/>
                      </a:pPr>
                      <a:r>
                        <a:rPr lang="en-US" sz="1400">
                          <a:effectLst/>
                        </a:rPr>
                        <a:t>12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Phản hồi End-User đồng ý báo giá của SOLVENTUM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Kết quả chấp nhận báo giá được chuyển qua Distributor về Solventum trước khi quy trình có thể tiếp tục thực hiện dịch vụ.</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3095107518"/>
                  </a:ext>
                </a:extLst>
              </a:tr>
              <a:tr h="552781">
                <a:tc>
                  <a:txBody>
                    <a:bodyPr/>
                    <a:lstStyle/>
                    <a:p>
                      <a:pPr marL="0" marR="0" algn="ctr">
                        <a:lnSpc>
                          <a:spcPct val="115000"/>
                        </a:lnSpc>
                        <a:spcAft>
                          <a:spcPts val="800"/>
                        </a:spcAft>
                        <a:buNone/>
                      </a:pPr>
                      <a:r>
                        <a:rPr lang="en-US" sz="1400">
                          <a:effectLst/>
                        </a:rPr>
                        <a:t>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Phản hồi End-User từ chối báo giá của SOLVENTUM</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Kết quả từ chối báo giá được chuyển qua Distributor về Solventum để kết thúc nhánh dịch vụ tương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238227876"/>
                  </a:ext>
                </a:extLst>
              </a:tr>
              <a:tr h="552781">
                <a:tc>
                  <a:txBody>
                    <a:bodyPr/>
                    <a:lstStyle/>
                    <a:p>
                      <a:pPr marL="0" marR="0" algn="ctr">
                        <a:lnSpc>
                          <a:spcPct val="115000"/>
                        </a:lnSpc>
                        <a:spcAft>
                          <a:spcPts val="800"/>
                        </a:spcAft>
                        <a:buNone/>
                      </a:pPr>
                      <a:r>
                        <a:rPr lang="en-US" sz="1400">
                          <a:effectLst/>
                        </a:rPr>
                        <a:t>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phân công Service Engineer phù hợp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Việc thực hiện dịch vụ phụ thuộc vào khả năng bố trí Service Engineer phù hợp với yêu cầu kỹ thuật và thời gian thực hiện.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103171224"/>
                  </a:ext>
                </a:extLst>
              </a:tr>
              <a:tr h="489841">
                <a:tc>
                  <a:txBody>
                    <a:bodyPr/>
                    <a:lstStyle/>
                    <a:p>
                      <a:pPr marL="0" marR="0" algn="ctr">
                        <a:lnSpc>
                          <a:spcPct val="115000"/>
                        </a:lnSpc>
                        <a:spcAft>
                          <a:spcPts val="800"/>
                        </a:spcAft>
                        <a:buNone/>
                      </a:pPr>
                      <a:r>
                        <a:rPr lang="en-US" sz="1400">
                          <a:effectLst/>
                        </a:rPr>
                        <a:t>15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thực hiện dịch vụ kỹ thuật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Sau khi Service Order được hoàn thiện và Engineer được phân công, yêu cầu có thể phải chờ đến thời điểm phù hợp để dịch vụ kỹ thuật được thực hiện.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67930814"/>
                  </a:ext>
                </a:extLst>
              </a:tr>
              <a:tr h="489841">
                <a:tc>
                  <a:txBody>
                    <a:bodyPr/>
                    <a:lstStyle/>
                    <a:p>
                      <a:pPr marL="0" marR="0" algn="ctr">
                        <a:lnSpc>
                          <a:spcPct val="115000"/>
                        </a:lnSpc>
                        <a:spcAft>
                          <a:spcPts val="800"/>
                        </a:spcAft>
                        <a:buNone/>
                      </a:pPr>
                      <a:r>
                        <a:rPr lang="en-US" sz="1400">
                          <a:effectLst/>
                        </a:rPr>
                        <a:t>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Điểm chờ Hospital/End-user xác nhận kết quả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Sau khi công việc kỹ thuật hoàn tất, quy trình có thể phải chờ Hospital/End-user xác nhận kết quả trước khi hoàn thiện các bước tiếp theo.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2523665838"/>
                  </a:ext>
                </a:extLst>
              </a:tr>
              <a:tr h="742173">
                <a:tc>
                  <a:txBody>
                    <a:bodyPr/>
                    <a:lstStyle/>
                    <a:p>
                      <a:pPr marL="0" marR="0" algn="ctr">
                        <a:lnSpc>
                          <a:spcPct val="115000"/>
                        </a:lnSpc>
                        <a:spcAft>
                          <a:spcPts val="800"/>
                        </a:spcAft>
                        <a:buNone/>
                      </a:pPr>
                      <a:r>
                        <a:rPr lang="en-US" sz="1400">
                          <a:effectLst/>
                        </a:rPr>
                        <a:t>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Kiểm tra và cập nhật thông tin xử lý (khi thông tin ghi nhận chưa đầy đủ)</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tc>
                  <a:txBody>
                    <a:bodyPr/>
                    <a:lstStyle/>
                    <a:p>
                      <a:pPr marL="0" marR="0">
                        <a:lnSpc>
                          <a:spcPct val="115000"/>
                        </a:lnSpc>
                        <a:spcAft>
                          <a:spcPts val="800"/>
                        </a:spcAft>
                        <a:buNone/>
                      </a:pPr>
                      <a:r>
                        <a:rPr lang="en-US" sz="1400">
                          <a:effectLst/>
                        </a:rPr>
                        <a:t>Khi thông tin xử lý được ghi nhận trước đó chưa đầy đủ hoặc chưa thống nhất, Service Admin phải thực hiện thêm việc kiểm tra và cập nhật trước khi hoàn tất yêu cầu.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38732" marR="38732" marT="0" marB="0"/>
                </a:tc>
                <a:extLst>
                  <a:ext uri="{0D108BD9-81ED-4DB2-BD59-A6C34878D82A}">
                    <a16:rowId xmlns:a16="http://schemas.microsoft.com/office/drawing/2014/main" val="485721558"/>
                  </a:ext>
                </a:extLst>
              </a:tr>
            </a:tbl>
          </a:graphicData>
        </a:graphic>
      </p:graphicFrame>
    </p:spTree>
    <p:extLst>
      <p:ext uri="{BB962C8B-B14F-4D97-AF65-F5344CB8AC3E}">
        <p14:creationId xmlns:p14="http://schemas.microsoft.com/office/powerpoint/2010/main" val="3048961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79A8DD84-563E-B009-A1E3-24E073808133}"/>
            </a:ext>
          </a:extLst>
        </p:cNvPr>
        <p:cNvGrpSpPr/>
        <p:nvPr/>
      </p:nvGrpSpPr>
      <p:grpSpPr>
        <a:xfrm>
          <a:off x="0" y="0"/>
          <a:ext cx="0" cy="0"/>
          <a:chOff x="0" y="0"/>
          <a:chExt cx="0" cy="0"/>
        </a:xfrm>
      </p:grpSpPr>
      <p:sp>
        <p:nvSpPr>
          <p:cNvPr id="654" name="Google Shape;654;p38">
            <a:extLst>
              <a:ext uri="{FF2B5EF4-FFF2-40B4-BE49-F238E27FC236}">
                <a16:creationId xmlns:a16="http://schemas.microsoft.com/office/drawing/2014/main" id="{5AAE2C57-1386-69BA-34D2-E92331E2278B}"/>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SỰ LÃNG PHÍ</a:t>
            </a:r>
            <a:endParaRPr/>
          </a:p>
        </p:txBody>
      </p:sp>
      <p:sp>
        <p:nvSpPr>
          <p:cNvPr id="655" name="Google Shape;655;p38">
            <a:extLst>
              <a:ext uri="{FF2B5EF4-FFF2-40B4-BE49-F238E27FC236}">
                <a16:creationId xmlns:a16="http://schemas.microsoft.com/office/drawing/2014/main" id="{4CA15B2D-0643-9054-163B-237A9872B378}"/>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SERVICE ORDER MANAGEMENT</a:t>
            </a:r>
            <a:endParaRPr/>
          </a:p>
        </p:txBody>
      </p:sp>
      <p:sp>
        <p:nvSpPr>
          <p:cNvPr id="656" name="Google Shape;656;p38">
            <a:extLst>
              <a:ext uri="{FF2B5EF4-FFF2-40B4-BE49-F238E27FC236}">
                <a16:creationId xmlns:a16="http://schemas.microsoft.com/office/drawing/2014/main" id="{E14091BD-354D-38E5-6FA6-B78DB15967A0}"/>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3096A6AE-8CE0-4B4A-2A38-3E8D98EAF1DB}"/>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5223FAF2-4581-69CB-B2DB-A37178389D36}"/>
              </a:ext>
            </a:extLst>
          </p:cNvPr>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4.2 — 17 điểm phát sinh lãng phí, gom theo loại</a:t>
            </a:r>
            <a:endParaRPr/>
          </a:p>
        </p:txBody>
      </p:sp>
      <p:sp>
        <p:nvSpPr>
          <p:cNvPr id="661" name="Google Shape;661;p38">
            <a:extLst>
              <a:ext uri="{FF2B5EF4-FFF2-40B4-BE49-F238E27FC236}">
                <a16:creationId xmlns:a16="http://schemas.microsoft.com/office/drawing/2014/main" id="{E856D389-E10E-F1F9-A778-223D44E26F0E}"/>
              </a:ext>
            </a:extLst>
          </p:cNvPr>
          <p:cNvSpPr/>
          <p:nvPr/>
        </p:nvSpPr>
        <p:spPr>
          <a:xfrm>
            <a:off x="658368"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2" name="Google Shape;662;p38">
            <a:extLst>
              <a:ext uri="{FF2B5EF4-FFF2-40B4-BE49-F238E27FC236}">
                <a16:creationId xmlns:a16="http://schemas.microsoft.com/office/drawing/2014/main" id="{7E757FF0-0803-0037-F696-A0A17AB13C2D}"/>
              </a:ext>
            </a:extLst>
          </p:cNvPr>
          <p:cNvSpPr/>
          <p:nvPr/>
        </p:nvSpPr>
        <p:spPr>
          <a:xfrm>
            <a:off x="658368" y="1737360"/>
            <a:ext cx="3472586" cy="50292"/>
          </a:xfrm>
          <a:prstGeom prst="rect">
            <a:avLst/>
          </a:prstGeom>
          <a:solidFill>
            <a:srgbClr val="2E9E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3" name="Google Shape;663;p38">
            <a:extLst>
              <a:ext uri="{FF2B5EF4-FFF2-40B4-BE49-F238E27FC236}">
                <a16:creationId xmlns:a16="http://schemas.microsoft.com/office/drawing/2014/main" id="{DA8BF096-C6F3-9E22-7CEB-0F81B81C1504}"/>
              </a:ext>
            </a:extLst>
          </p:cNvPr>
          <p:cNvSpPr txBox="1"/>
          <p:nvPr/>
        </p:nvSpPr>
        <p:spPr>
          <a:xfrm>
            <a:off x="864108"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2E9E5B"/>
                </a:solidFill>
                <a:latin typeface="Calibri"/>
                <a:ea typeface="Calibri"/>
                <a:cs typeface="Calibri"/>
                <a:sym typeface="Calibri"/>
              </a:rPr>
              <a:t>MOVE  ·  06 ĐIỂM</a:t>
            </a:r>
            <a:endParaRPr/>
          </a:p>
        </p:txBody>
      </p:sp>
      <p:sp>
        <p:nvSpPr>
          <p:cNvPr id="664" name="Google Shape;664;p38">
            <a:extLst>
              <a:ext uri="{FF2B5EF4-FFF2-40B4-BE49-F238E27FC236}">
                <a16:creationId xmlns:a16="http://schemas.microsoft.com/office/drawing/2014/main" id="{5FB4B678-12ED-B9D3-AF26-0549D4A11836}"/>
              </a:ext>
            </a:extLst>
          </p:cNvPr>
          <p:cNvSpPr txBox="1"/>
          <p:nvPr/>
        </p:nvSpPr>
        <p:spPr>
          <a:xfrm>
            <a:off x="864108"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Chuyển giao qua trung gian</a:t>
            </a:r>
            <a:endParaRPr/>
          </a:p>
        </p:txBody>
      </p:sp>
      <p:sp>
        <p:nvSpPr>
          <p:cNvPr id="665" name="Google Shape;665;p38">
            <a:extLst>
              <a:ext uri="{FF2B5EF4-FFF2-40B4-BE49-F238E27FC236}">
                <a16:creationId xmlns:a16="http://schemas.microsoft.com/office/drawing/2014/main" id="{346D316A-7932-BF40-4C0C-0ADCFD4881F0}"/>
              </a:ext>
            </a:extLst>
          </p:cNvPr>
          <p:cNvSpPr txBox="1"/>
          <p:nvPr/>
        </p:nvSpPr>
        <p:spPr>
          <a:xfrm>
            <a:off x="864108"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Gửi yêu cầu dịch vụ qua Distributor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Distributor chuyển yêu cầu cho Service Admin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Service Engineer di chuyển đến hiện trường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Lập báo giá gửi qua Distributor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Phản hồi End-user đồng ý báo giá</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Phản hồi End-user từ chối báo giá</a:t>
            </a:r>
            <a:endParaRPr/>
          </a:p>
        </p:txBody>
      </p:sp>
      <p:sp>
        <p:nvSpPr>
          <p:cNvPr id="666" name="Google Shape;666;p38">
            <a:extLst>
              <a:ext uri="{FF2B5EF4-FFF2-40B4-BE49-F238E27FC236}">
                <a16:creationId xmlns:a16="http://schemas.microsoft.com/office/drawing/2014/main" id="{F3F5A94B-8C4A-10BF-8A6C-54665F7B4074}"/>
              </a:ext>
            </a:extLst>
          </p:cNvPr>
          <p:cNvSpPr/>
          <p:nvPr/>
        </p:nvSpPr>
        <p:spPr>
          <a:xfrm>
            <a:off x="4359554"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38">
            <a:extLst>
              <a:ext uri="{FF2B5EF4-FFF2-40B4-BE49-F238E27FC236}">
                <a16:creationId xmlns:a16="http://schemas.microsoft.com/office/drawing/2014/main" id="{538FF51B-0843-ACC1-07D7-60BE1C52ACBF}"/>
              </a:ext>
            </a:extLst>
          </p:cNvPr>
          <p:cNvSpPr/>
          <p:nvPr/>
        </p:nvSpPr>
        <p:spPr>
          <a:xfrm>
            <a:off x="4359554" y="17373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8" name="Google Shape;668;p38">
            <a:extLst>
              <a:ext uri="{FF2B5EF4-FFF2-40B4-BE49-F238E27FC236}">
                <a16:creationId xmlns:a16="http://schemas.microsoft.com/office/drawing/2014/main" id="{83402C5A-424A-431D-8E3C-6E62EFEEC236}"/>
              </a:ext>
            </a:extLst>
          </p:cNvPr>
          <p:cNvSpPr txBox="1"/>
          <p:nvPr/>
        </p:nvSpPr>
        <p:spPr>
          <a:xfrm>
            <a:off x="4565294"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HOLD  ·  06 ĐIỂM</a:t>
            </a:r>
            <a:endParaRPr/>
          </a:p>
        </p:txBody>
      </p:sp>
      <p:sp>
        <p:nvSpPr>
          <p:cNvPr id="669" name="Google Shape;669;p38">
            <a:extLst>
              <a:ext uri="{FF2B5EF4-FFF2-40B4-BE49-F238E27FC236}">
                <a16:creationId xmlns:a16="http://schemas.microsoft.com/office/drawing/2014/main" id="{1CC6C73C-13B0-A182-F57D-693E90BB55F0}"/>
              </a:ext>
            </a:extLst>
          </p:cNvPr>
          <p:cNvSpPr txBox="1"/>
          <p:nvPr/>
        </p:nvSpPr>
        <p:spPr>
          <a:xfrm>
            <a:off x="4565294"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Chờ phản hồi và xác nhận</a:t>
            </a:r>
            <a:endParaRPr/>
          </a:p>
        </p:txBody>
      </p:sp>
      <p:sp>
        <p:nvSpPr>
          <p:cNvPr id="670" name="Google Shape;670;p38">
            <a:extLst>
              <a:ext uri="{FF2B5EF4-FFF2-40B4-BE49-F238E27FC236}">
                <a16:creationId xmlns:a16="http://schemas.microsoft.com/office/drawing/2014/main" id="{59597378-11F8-0BE7-EF12-421258C83722}"/>
              </a:ext>
            </a:extLst>
          </p:cNvPr>
          <p:cNvSpPr txBox="1"/>
          <p:nvPr/>
        </p:nvSpPr>
        <p:spPr>
          <a:xfrm>
            <a:off x="4565294"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Chờ End-user bổ sung thông tin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phối hợp kiểm tra onsite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End-user phản hồi báo giá — 16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phân công Service Engineer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đến lượt thực hiện dịch vụ</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End-user xác nhận kết quả — 8 giờ</a:t>
            </a:r>
            <a:endParaRPr/>
          </a:p>
        </p:txBody>
      </p:sp>
      <p:sp>
        <p:nvSpPr>
          <p:cNvPr id="671" name="Google Shape;671;p38">
            <a:extLst>
              <a:ext uri="{FF2B5EF4-FFF2-40B4-BE49-F238E27FC236}">
                <a16:creationId xmlns:a16="http://schemas.microsoft.com/office/drawing/2014/main" id="{877CCE39-1474-BC25-2C7D-AFE987E24158}"/>
              </a:ext>
            </a:extLst>
          </p:cNvPr>
          <p:cNvSpPr/>
          <p:nvPr/>
        </p:nvSpPr>
        <p:spPr>
          <a:xfrm>
            <a:off x="8060740"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2" name="Google Shape;672;p38">
            <a:extLst>
              <a:ext uri="{FF2B5EF4-FFF2-40B4-BE49-F238E27FC236}">
                <a16:creationId xmlns:a16="http://schemas.microsoft.com/office/drawing/2014/main" id="{5AF0B6FE-6C63-2DF5-ABFD-D5C62533192D}"/>
              </a:ext>
            </a:extLst>
          </p:cNvPr>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3" name="Google Shape;673;p38">
            <a:extLst>
              <a:ext uri="{FF2B5EF4-FFF2-40B4-BE49-F238E27FC236}">
                <a16:creationId xmlns:a16="http://schemas.microsoft.com/office/drawing/2014/main" id="{17C668E6-AB7C-EF9E-C604-54524F2E1455}"/>
              </a:ext>
            </a:extLst>
          </p:cNvPr>
          <p:cNvSpPr txBox="1"/>
          <p:nvPr/>
        </p:nvSpPr>
        <p:spPr>
          <a:xfrm>
            <a:off x="8266480"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OVERDO  ·  05 ĐIỂM</a:t>
            </a:r>
            <a:endParaRPr/>
          </a:p>
        </p:txBody>
      </p:sp>
      <p:sp>
        <p:nvSpPr>
          <p:cNvPr id="674" name="Google Shape;674;p38">
            <a:extLst>
              <a:ext uri="{FF2B5EF4-FFF2-40B4-BE49-F238E27FC236}">
                <a16:creationId xmlns:a16="http://schemas.microsoft.com/office/drawing/2014/main" id="{0BDCCD92-91D6-CCAD-974E-4095AAFDA1FF}"/>
              </a:ext>
            </a:extLst>
          </p:cNvPr>
          <p:cNvSpPr txBox="1"/>
          <p:nvPr/>
        </p:nvSpPr>
        <p:spPr>
          <a:xfrm>
            <a:off x="8266480"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Vòng lặp bổ sung thông tin</a:t>
            </a:r>
            <a:endParaRPr/>
          </a:p>
        </p:txBody>
      </p:sp>
      <p:sp>
        <p:nvSpPr>
          <p:cNvPr id="675" name="Google Shape;675;p38">
            <a:extLst>
              <a:ext uri="{FF2B5EF4-FFF2-40B4-BE49-F238E27FC236}">
                <a16:creationId xmlns:a16="http://schemas.microsoft.com/office/drawing/2014/main" id="{E7CCE4D6-700B-B273-2301-B10C831D9589}"/>
              </a:ext>
            </a:extLst>
          </p:cNvPr>
          <p:cNvSpPr txBox="1"/>
          <p:nvPr/>
        </p:nvSpPr>
        <p:spPr>
          <a:xfrm>
            <a:off x="8266480"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Yêu cầu Distributor bổ sung thông tin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Yêu cầu End-user bổ sung thông tin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End-user bổ sung thông tin yêu cầu</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bổ sung trở lại Admin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Kiểm tra, cập nhật lại thông tin xử lý</a:t>
            </a:r>
            <a:endParaRPr/>
          </a:p>
        </p:txBody>
      </p:sp>
      <p:sp>
        <p:nvSpPr>
          <p:cNvPr id="676" name="Google Shape;676;p38">
            <a:extLst>
              <a:ext uri="{FF2B5EF4-FFF2-40B4-BE49-F238E27FC236}">
                <a16:creationId xmlns:a16="http://schemas.microsoft.com/office/drawing/2014/main" id="{96F4EBC3-790B-D036-5FC3-E688557B2CDD}"/>
              </a:ext>
            </a:extLst>
          </p:cNvPr>
          <p:cNvSpPr/>
          <p:nvPr/>
        </p:nvSpPr>
        <p:spPr>
          <a:xfrm>
            <a:off x="658368" y="5074920"/>
            <a:ext cx="10874959" cy="100584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7" name="Google Shape;677;p38">
            <a:extLst>
              <a:ext uri="{FF2B5EF4-FFF2-40B4-BE49-F238E27FC236}">
                <a16:creationId xmlns:a16="http://schemas.microsoft.com/office/drawing/2014/main" id="{99EA6639-B0C6-538F-A86C-CFB0974537FC}"/>
              </a:ext>
            </a:extLst>
          </p:cNvPr>
          <p:cNvSpPr/>
          <p:nvPr/>
        </p:nvSpPr>
        <p:spPr>
          <a:xfrm>
            <a:off x="658368" y="5074920"/>
            <a:ext cx="50292" cy="100584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38">
            <a:extLst>
              <a:ext uri="{FF2B5EF4-FFF2-40B4-BE49-F238E27FC236}">
                <a16:creationId xmlns:a16="http://schemas.microsoft.com/office/drawing/2014/main" id="{00CB32F7-5CFA-7C80-E849-9C84F0365BF3}"/>
              </a:ext>
            </a:extLst>
          </p:cNvPr>
          <p:cNvSpPr txBox="1"/>
          <p:nvPr/>
        </p:nvSpPr>
        <p:spPr>
          <a:xfrm>
            <a:off x="864108" y="5189220"/>
            <a:ext cx="10463479" cy="7772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400" b="0" i="0">
                <a:solidFill>
                  <a:srgbClr val="0A2540"/>
                </a:solidFill>
                <a:latin typeface="Calibri"/>
                <a:ea typeface="Calibri"/>
                <a:cs typeface="Calibri"/>
                <a:sym typeface="Calibri"/>
              </a:rPr>
              <a:t>Move và Hold (mỗi loại 06 điểm) chiếm tỷ trọng lớn hơn Overdo — vấn đề nằm ở cấu trúc phối hợp giữa các bên, không phải ở khối lượng công việc kỹ thuật. Cả 05 điểm Overdo đều sinh ra từ một nguyên nhân duy nhất: thông tin yêu cầu dịch vụ ban đầu chưa đầy đủ.</a:t>
            </a:r>
            <a:endParaRPr/>
          </a:p>
        </p:txBody>
      </p:sp>
      <p:sp>
        <p:nvSpPr>
          <p:cNvPr id="2" name="Footer Placeholder 1">
            <a:extLst>
              <a:ext uri="{FF2B5EF4-FFF2-40B4-BE49-F238E27FC236}">
                <a16:creationId xmlns:a16="http://schemas.microsoft.com/office/drawing/2014/main" id="{9DA43B1F-BA46-336F-F346-B89B50A03206}"/>
              </a:ext>
            </a:extLst>
          </p:cNvPr>
          <p:cNvSpPr>
            <a:spLocks noGrp="1"/>
          </p:cNvSpPr>
          <p:nvPr>
            <p:ph type="ftr" idx="11"/>
          </p:nvPr>
        </p:nvSpPr>
        <p:spPr>
          <a:xfrm>
            <a:off x="658368" y="6356350"/>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6A1DC116-B102-0962-7B65-615124CBAD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extLst>
      <p:ext uri="{BB962C8B-B14F-4D97-AF65-F5344CB8AC3E}">
        <p14:creationId xmlns:p14="http://schemas.microsoft.com/office/powerpoint/2010/main" val="644611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9"/>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4" name="Google Shape;684;p39"/>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5" name="Google Shape;685;p39"/>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SỰ LÃNG PHÍ</a:t>
            </a:r>
            <a:endParaRPr/>
          </a:p>
        </p:txBody>
      </p:sp>
      <p:sp>
        <p:nvSpPr>
          <p:cNvPr id="686" name="Google Shape;686;p39"/>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Move / Hold / Overdo trên mô hình quy trình</a:t>
            </a:r>
            <a:endParaRPr/>
          </a:p>
        </p:txBody>
      </p:sp>
      <p:sp>
        <p:nvSpPr>
          <p:cNvPr id="692" name="Google Shape;692;p39"/>
          <p:cNvSpPr txBox="1"/>
          <p:nvPr/>
        </p:nvSpPr>
        <p:spPr>
          <a:xfrm>
            <a:off x="658368" y="941741"/>
            <a:ext cx="3200400" cy="274320"/>
          </a:xfrm>
          <a:prstGeom prst="rect">
            <a:avLst/>
          </a:prstGeom>
          <a:noFill/>
          <a:ln>
            <a:noFill/>
          </a:ln>
        </p:spPr>
        <p:txBody>
          <a:bodyPr spcFirstLastPara="1" wrap="square" lIns="0" tIns="0" rIns="0" bIns="0" anchor="t" anchorCtr="0">
            <a:noAutofit/>
          </a:bodyPr>
          <a:lstStyle/>
          <a:p>
            <a:r>
              <a:rPr lang="en-US" b="1"/>
              <a:t>Move</a:t>
            </a:r>
            <a:r>
              <a:rPr lang="en-US"/>
              <a:t> </a:t>
            </a:r>
            <a:r>
              <a:rPr lang="en-US" sz="1400" b="1" i="0">
                <a:solidFill>
                  <a:srgbClr val="0A2540"/>
                </a:solidFill>
                <a:latin typeface="Calibri"/>
                <a:ea typeface="Calibri"/>
                <a:cs typeface="Calibri"/>
                <a:sym typeface="Calibri"/>
              </a:rPr>
              <a:t>— Chuyển giao / di chuyển</a:t>
            </a:r>
            <a:endParaRPr/>
          </a:p>
        </p:txBody>
      </p:sp>
      <p:sp>
        <p:nvSpPr>
          <p:cNvPr id="694" name="Google Shape;694;p39"/>
          <p:cNvSpPr txBox="1"/>
          <p:nvPr/>
        </p:nvSpPr>
        <p:spPr>
          <a:xfrm>
            <a:off x="4315968" y="941741"/>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Hold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Chờ đợi</a:t>
            </a:r>
          </a:p>
        </p:txBody>
      </p:sp>
      <p:sp>
        <p:nvSpPr>
          <p:cNvPr id="696" name="Google Shape;696;p39"/>
          <p:cNvSpPr txBox="1"/>
          <p:nvPr/>
        </p:nvSpPr>
        <p:spPr>
          <a:xfrm>
            <a:off x="7973568" y="941741"/>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Overdo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Xử lý quá mức </a:t>
            </a:r>
          </a:p>
        </p:txBody>
      </p:sp>
      <p:sp>
        <p:nvSpPr>
          <p:cNvPr id="2" name="Footer Placeholder 1">
            <a:extLst>
              <a:ext uri="{FF2B5EF4-FFF2-40B4-BE49-F238E27FC236}">
                <a16:creationId xmlns:a16="http://schemas.microsoft.com/office/drawing/2014/main" id="{B5A8B840-5925-CBBA-F45F-114689A4DC7C}"/>
              </a:ext>
            </a:extLst>
          </p:cNvPr>
          <p:cNvSpPr>
            <a:spLocks noGrp="1"/>
          </p:cNvSpPr>
          <p:nvPr>
            <p:ph type="ftr" idx="11"/>
          </p:nvPr>
        </p:nvSpPr>
        <p:spPr>
          <a:xfrm>
            <a:off x="182880" y="6263957"/>
            <a:ext cx="468261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60C361A-87B6-D948-EEE9-AEF3ABAC3D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pic>
        <p:nvPicPr>
          <p:cNvPr id="5" name="Picture 4">
            <a:extLst>
              <a:ext uri="{FF2B5EF4-FFF2-40B4-BE49-F238E27FC236}">
                <a16:creationId xmlns:a16="http://schemas.microsoft.com/office/drawing/2014/main" id="{040DF6B4-7946-E035-C6DE-B74DA8DDD838}"/>
              </a:ext>
            </a:extLst>
          </p:cNvPr>
          <p:cNvPicPr>
            <a:picLocks noChangeAspect="1"/>
          </p:cNvPicPr>
          <p:nvPr/>
        </p:nvPicPr>
        <p:blipFill>
          <a:blip r:embed="rId3"/>
          <a:stretch>
            <a:fillRect/>
          </a:stretch>
        </p:blipFill>
        <p:spPr>
          <a:xfrm>
            <a:off x="182880" y="1238618"/>
            <a:ext cx="9865688" cy="5568581"/>
          </a:xfrm>
          <a:prstGeom prst="rect">
            <a:avLst/>
          </a:prstGeom>
        </p:spPr>
      </p:pic>
      <p:sp>
        <p:nvSpPr>
          <p:cNvPr id="12" name="Rectangle: Rounded Corners 11">
            <a:extLst>
              <a:ext uri="{FF2B5EF4-FFF2-40B4-BE49-F238E27FC236}">
                <a16:creationId xmlns:a16="http://schemas.microsoft.com/office/drawing/2014/main" id="{39DC5F65-1DE9-911F-006A-BF4E67177275}"/>
              </a:ext>
            </a:extLst>
          </p:cNvPr>
          <p:cNvSpPr/>
          <p:nvPr/>
        </p:nvSpPr>
        <p:spPr>
          <a:xfrm>
            <a:off x="311781" y="950141"/>
            <a:ext cx="235974" cy="197871"/>
          </a:xfrm>
          <a:prstGeom prst="roundRect">
            <a:avLst/>
          </a:prstGeom>
          <a:solidFill>
            <a:srgbClr val="CBE7CC"/>
          </a:solidFill>
          <a:ln>
            <a:solidFill>
              <a:srgbClr val="CBE7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A52BBC6-9A56-9CDD-C60D-A118ADA6FCE8}"/>
              </a:ext>
            </a:extLst>
          </p:cNvPr>
          <p:cNvSpPr/>
          <p:nvPr/>
        </p:nvSpPr>
        <p:spPr>
          <a:xfrm>
            <a:off x="3997829" y="961565"/>
            <a:ext cx="235974" cy="197871"/>
          </a:xfrm>
          <a:prstGeom prst="roundRect">
            <a:avLst/>
          </a:prstGeom>
          <a:solidFill>
            <a:srgbClr val="E3C1E8"/>
          </a:solidFill>
          <a:ln>
            <a:solidFill>
              <a:srgbClr val="E3C1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BFD9A6E-09D2-737C-D248-CE65AA48FADE}"/>
              </a:ext>
            </a:extLst>
          </p:cNvPr>
          <p:cNvSpPr/>
          <p:nvPr/>
        </p:nvSpPr>
        <p:spPr>
          <a:xfrm>
            <a:off x="7626981" y="972221"/>
            <a:ext cx="235974" cy="197871"/>
          </a:xfrm>
          <a:prstGeom prst="roundRect">
            <a:avLst/>
          </a:prstGeom>
          <a:solidFill>
            <a:srgbClr val="BEE0FB"/>
          </a:solidFill>
          <a:ln>
            <a:solidFill>
              <a:srgbClr val="BEE0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40"/>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CÁC BÊN LIÊN QUAN</a:t>
            </a:r>
            <a:endParaRPr/>
          </a:p>
        </p:txBody>
      </p:sp>
      <p:sp>
        <p:nvSpPr>
          <p:cNvPr id="703" name="Google Shape;703;p40"/>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BỐN NHÓM NGUYÊN NHÂN KÉO DÀI THỜI GIAN XỬ LÝ</a:t>
            </a:r>
            <a:endParaRPr/>
          </a:p>
        </p:txBody>
      </p:sp>
      <p:sp>
        <p:nvSpPr>
          <p:cNvPr id="704" name="Google Shape;704;p40"/>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5" name="Google Shape;705;p40"/>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6" name="Google Shape;706;p40"/>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4.3 — Vấn đề trung tâm: “Thời gian xử lý Service Order có thể bị kéo dài”</a:t>
            </a:r>
            <a:endParaRPr/>
          </a:p>
        </p:txBody>
      </p:sp>
      <p:sp>
        <p:nvSpPr>
          <p:cNvPr id="709" name="Google Shape;709;p40"/>
          <p:cNvSpPr/>
          <p:nvPr/>
        </p:nvSpPr>
        <p:spPr>
          <a:xfrm>
            <a:off x="658368"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0" name="Google Shape;710;p40"/>
          <p:cNvSpPr/>
          <p:nvPr/>
        </p:nvSpPr>
        <p:spPr>
          <a:xfrm>
            <a:off x="658368" y="1737360"/>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1" name="Google Shape;711;p40"/>
          <p:cNvSpPr txBox="1"/>
          <p:nvPr/>
        </p:nvSpPr>
        <p:spPr>
          <a:xfrm>
            <a:off x="864108"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PEOPLE</a:t>
            </a:r>
            <a:endParaRPr/>
          </a:p>
        </p:txBody>
      </p:sp>
      <p:sp>
        <p:nvSpPr>
          <p:cNvPr id="712" name="Google Shape;712;p40"/>
          <p:cNvSpPr txBox="1"/>
          <p:nvPr/>
        </p:nvSpPr>
        <p:spPr>
          <a:xfrm>
            <a:off x="864108"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Con người</a:t>
            </a:r>
            <a:endParaRPr/>
          </a:p>
        </p:txBody>
      </p:sp>
      <p:sp>
        <p:nvSpPr>
          <p:cNvPr id="713" name="Google Shape;713;p40"/>
          <p:cNvSpPr txBox="1"/>
          <p:nvPr/>
        </p:nvSpPr>
        <p:spPr>
          <a:xfrm>
            <a:off x="864108"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250" b="0" i="0">
                <a:solidFill>
                  <a:srgbClr val="6B7784"/>
                </a:solidFill>
                <a:latin typeface="Calibri"/>
                <a:ea typeface="Calibri"/>
                <a:cs typeface="Calibri"/>
                <a:sym typeface="Calibri"/>
              </a:rPr>
              <a:t>End-user có thể cung cấp thông tin ban đầu chưa đầy đủ.</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Bổ sung và xác nhận phụ thuộc phối hợp End-user – Distributor.</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Thực hiện dịch vụ phụ thuộc khả năng bố trí Service Engineer.</a:t>
            </a:r>
            <a:endParaRPr/>
          </a:p>
          <a:p>
            <a:pPr marL="0" marR="0" lvl="0" indent="0" algn="l" rtl="0">
              <a:lnSpc>
                <a:spcPct val="112000"/>
              </a:lnSpc>
              <a:spcBef>
                <a:spcPts val="200"/>
              </a:spcBef>
              <a:spcAft>
                <a:spcPts val="0"/>
              </a:spcAft>
              <a:buNone/>
            </a:pPr>
            <a:r>
              <a:rPr lang="en-US" sz="1250" b="0" i="0">
                <a:solidFill>
                  <a:srgbClr val="6B7784"/>
                </a:solidFill>
                <a:latin typeface="Calibri"/>
                <a:ea typeface="Calibri"/>
                <a:cs typeface="Calibri"/>
                <a:sym typeface="Calibri"/>
              </a:rPr>
              <a:t>Thời gian phản hồi giữa các bên khác nhau theo từng trường hợp.</a:t>
            </a:r>
            <a:endParaRPr/>
          </a:p>
        </p:txBody>
      </p:sp>
      <p:sp>
        <p:nvSpPr>
          <p:cNvPr id="714" name="Google Shape;714;p40"/>
          <p:cNvSpPr/>
          <p:nvPr/>
        </p:nvSpPr>
        <p:spPr>
          <a:xfrm>
            <a:off x="3422827"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5" name="Google Shape;715;p40"/>
          <p:cNvSpPr/>
          <p:nvPr/>
        </p:nvSpPr>
        <p:spPr>
          <a:xfrm>
            <a:off x="3422827" y="1737360"/>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6" name="Google Shape;716;p40"/>
          <p:cNvSpPr txBox="1"/>
          <p:nvPr/>
        </p:nvSpPr>
        <p:spPr>
          <a:xfrm>
            <a:off x="3628567"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INFORMATION</a:t>
            </a:r>
            <a:endParaRPr/>
          </a:p>
        </p:txBody>
      </p:sp>
      <p:sp>
        <p:nvSpPr>
          <p:cNvPr id="717" name="Google Shape;717;p40"/>
          <p:cNvSpPr txBox="1"/>
          <p:nvPr/>
        </p:nvSpPr>
        <p:spPr>
          <a:xfrm>
            <a:off x="3628567"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Thông tin</a:t>
            </a:r>
            <a:endParaRPr/>
          </a:p>
        </p:txBody>
      </p:sp>
      <p:sp>
        <p:nvSpPr>
          <p:cNvPr id="718" name="Google Shape;718;p40"/>
          <p:cNvSpPr txBox="1"/>
          <p:nvPr/>
        </p:nvSpPr>
        <p:spPr>
          <a:xfrm>
            <a:off x="3628567"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Thông tin thiết bị / yêu cầu dịch vụ ban đầu chưa đầy đủ.</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thiếu phải được yêu cầu và cung cấp bổ sung.</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đi qua nhiều đối tượng trước khi đến người xử lý.</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Kết quả đánh giá kỹ thuật cần ghi nhận đủ cho bước sau.</a:t>
            </a:r>
            <a:endParaRPr/>
          </a:p>
        </p:txBody>
      </p:sp>
      <p:sp>
        <p:nvSpPr>
          <p:cNvPr id="719" name="Google Shape;719;p40"/>
          <p:cNvSpPr/>
          <p:nvPr/>
        </p:nvSpPr>
        <p:spPr>
          <a:xfrm>
            <a:off x="6187286"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0" name="Google Shape;720;p40"/>
          <p:cNvSpPr/>
          <p:nvPr/>
        </p:nvSpPr>
        <p:spPr>
          <a:xfrm>
            <a:off x="6187286" y="1737360"/>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1" name="Google Shape;721;p40"/>
          <p:cNvSpPr txBox="1"/>
          <p:nvPr/>
        </p:nvSpPr>
        <p:spPr>
          <a:xfrm>
            <a:off x="6393026"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PROCESS</a:t>
            </a:r>
            <a:endParaRPr/>
          </a:p>
        </p:txBody>
      </p:sp>
      <p:sp>
        <p:nvSpPr>
          <p:cNvPr id="722" name="Google Shape;722;p40"/>
          <p:cNvSpPr txBox="1"/>
          <p:nvPr/>
        </p:nvSpPr>
        <p:spPr>
          <a:xfrm>
            <a:off x="6393026"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Quy trình</a:t>
            </a:r>
            <a:endParaRPr/>
          </a:p>
        </p:txBody>
      </p:sp>
      <p:sp>
        <p:nvSpPr>
          <p:cNvPr id="723" name="Google Shape;723;p40"/>
          <p:cNvSpPr txBox="1"/>
          <p:nvPr/>
        </p:nvSpPr>
        <p:spPr>
          <a:xfrm>
            <a:off x="6393026"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Yêu cầu phải qua Distributor trước khi đến Service Admin.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Thông tin chưa đủ làm phát sinh vòng lặp bổ sung.</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Dịch vụ có phí cần thêm bước báo giá và xác nhận.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Nhiều bước chỉ tiếp tục sau khi có phản hồi từ End-user.</a:t>
            </a:r>
            <a:endParaRPr/>
          </a:p>
        </p:txBody>
      </p:sp>
      <p:sp>
        <p:nvSpPr>
          <p:cNvPr id="724" name="Google Shape;724;p40"/>
          <p:cNvSpPr/>
          <p:nvPr/>
        </p:nvSpPr>
        <p:spPr>
          <a:xfrm>
            <a:off x="8951745"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5" name="Google Shape;725;p40"/>
          <p:cNvSpPr/>
          <p:nvPr/>
        </p:nvSpPr>
        <p:spPr>
          <a:xfrm>
            <a:off x="8951745" y="1737360"/>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6" name="Google Shape;726;p40"/>
          <p:cNvSpPr txBox="1"/>
          <p:nvPr/>
        </p:nvSpPr>
        <p:spPr>
          <a:xfrm>
            <a:off x="9157485"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TOOLS / SYSTEM</a:t>
            </a:r>
            <a:endParaRPr/>
          </a:p>
        </p:txBody>
      </p:sp>
      <p:sp>
        <p:nvSpPr>
          <p:cNvPr id="727" name="Google Shape;727;p40"/>
          <p:cNvSpPr txBox="1"/>
          <p:nvPr/>
        </p:nvSpPr>
        <p:spPr>
          <a:xfrm>
            <a:off x="9157485"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Công cụ – Hệ thống</a:t>
            </a:r>
            <a:endParaRPr/>
          </a:p>
        </p:txBody>
      </p:sp>
      <p:sp>
        <p:nvSpPr>
          <p:cNvPr id="728" name="Google Shape;728;p40"/>
          <p:cNvSpPr txBox="1"/>
          <p:nvPr/>
        </p:nvSpPr>
        <p:spPr>
          <a:xfrm>
            <a:off x="9157485"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Mức độ chuẩn hóa biểu mẫu và thông tin đầu vào.</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Khả năng dùng lại thông tin đã ghi nhận, giảm thao tác cập nhật.</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Khả năng theo dõi trạng thái xử lý giữa các bên.</a:t>
            </a:r>
            <a:endParaRPr/>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Dữ liệu chưa liên kết dẫn đến nhập lại nhiều lần.</a:t>
            </a:r>
            <a:endParaRPr/>
          </a:p>
        </p:txBody>
      </p:sp>
      <p:sp>
        <p:nvSpPr>
          <p:cNvPr id="729" name="Google Shape;729;p40"/>
          <p:cNvSpPr/>
          <p:nvPr/>
        </p:nvSpPr>
        <p:spPr>
          <a:xfrm>
            <a:off x="658368" y="5257800"/>
            <a:ext cx="10874959" cy="59436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0" name="Google Shape;730;p40"/>
          <p:cNvSpPr/>
          <p:nvPr/>
        </p:nvSpPr>
        <p:spPr>
          <a:xfrm>
            <a:off x="658368" y="5257800"/>
            <a:ext cx="50292" cy="59436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40"/>
          <p:cNvSpPr txBox="1"/>
          <p:nvPr/>
        </p:nvSpPr>
        <p:spPr>
          <a:xfrm>
            <a:off x="864108" y="53721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00" b="0" i="0">
                <a:solidFill>
                  <a:srgbClr val="0A2540"/>
                </a:solidFill>
                <a:latin typeface="Calibri"/>
                <a:ea typeface="Calibri"/>
                <a:cs typeface="Calibri"/>
                <a:sym typeface="Calibri"/>
              </a:rPr>
              <a:t>Các nguyên nhân không tập trung tại một hoạt động riêng lẻ mà liên hệ với nhau. Nhóm Thông tin và Quy trình có liên hệ rõ nhất với các dạng lãng phí đã xác định — đặc biệt là vòng lặp bổ sung thông tin và các điểm chờ. Hướng ưu tiên: nâng cao tính đầy đủ của thông tin đầu vào, giảm hoạt động bổ sung / xử lý lại và tăng hiệu quả phối hợp giữa các bên.</a:t>
            </a:r>
            <a:endParaRPr/>
          </a:p>
        </p:txBody>
      </p:sp>
      <p:sp>
        <p:nvSpPr>
          <p:cNvPr id="2" name="Footer Placeholder 1">
            <a:extLst>
              <a:ext uri="{FF2B5EF4-FFF2-40B4-BE49-F238E27FC236}">
                <a16:creationId xmlns:a16="http://schemas.microsoft.com/office/drawing/2014/main" id="{66C3CD1D-FB77-CBBB-9505-E896C3EBFD97}"/>
              </a:ext>
            </a:extLst>
          </p:cNvPr>
          <p:cNvSpPr>
            <a:spLocks noGrp="1"/>
          </p:cNvSpPr>
          <p:nvPr>
            <p:ph type="ftr" idx="11"/>
          </p:nvPr>
        </p:nvSpPr>
        <p:spPr>
          <a:xfrm>
            <a:off x="658368" y="6356350"/>
            <a:ext cx="483009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CE801EF-02B6-623E-9810-52EA8510CA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41"/>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7" name="Google Shape;737;p41"/>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8" name="Google Shape;738;p41"/>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CÁC BÊN LIÊN QUAN</a:t>
            </a:r>
            <a:endParaRPr/>
          </a:p>
        </p:txBody>
      </p:sp>
      <p:sp>
        <p:nvSpPr>
          <p:cNvPr id="739" name="Google Shape;739;p41"/>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Sơ đồ xương cá (Fishbone Diagram)</a:t>
            </a:r>
            <a:endParaRPr/>
          </a:p>
        </p:txBody>
      </p:sp>
      <p:sp>
        <p:nvSpPr>
          <p:cNvPr id="741" name="Google Shape;741;p41"/>
          <p:cNvSpPr txBox="1"/>
          <p:nvPr/>
        </p:nvSpPr>
        <p:spPr>
          <a:xfrm>
            <a:off x="475488" y="6208094"/>
            <a:ext cx="11091672" cy="233205"/>
          </a:xfrm>
          <a:prstGeom prst="rect">
            <a:avLst/>
          </a:prstGeom>
          <a:noFill/>
          <a:ln>
            <a:noFill/>
          </a:ln>
        </p:spPr>
        <p:txBody>
          <a:bodyPr spcFirstLastPara="1" wrap="square" lIns="0" tIns="0" rIns="0" bIns="0" anchor="ctr" anchorCtr="0">
            <a:spAutoFit/>
          </a:bodyPr>
          <a:lstStyle/>
          <a:p>
            <a:pPr marL="0" marR="0" lvl="0" indent="0" algn="ctr" rtl="0">
              <a:lnSpc>
                <a:spcPct val="115000"/>
              </a:lnSpc>
              <a:spcBef>
                <a:spcPts val="0"/>
              </a:spcBef>
              <a:spcAft>
                <a:spcPts val="0"/>
              </a:spcAft>
              <a:buNone/>
            </a:pPr>
            <a:r>
              <a:rPr lang="en-US" sz="1400" i="1">
                <a:solidFill>
                  <a:schemeClr val="dk1"/>
                </a:solidFill>
                <a:latin typeface="Calibri"/>
                <a:ea typeface="Calibri"/>
                <a:cs typeface="Calibri"/>
                <a:sym typeface="Calibri"/>
              </a:rPr>
              <a:t>Hình 4.3 — Mô hình xương cá phân tích nguyên nhân kéo dài thời gian xử lý Service Order</a:t>
            </a:r>
            <a:endParaRPr sz="1400" i="1">
              <a:solidFill>
                <a:schemeClr val="dk1"/>
              </a:solidFill>
              <a:latin typeface="Calibri"/>
              <a:ea typeface="Calibri"/>
              <a:cs typeface="Calibri"/>
              <a:sym typeface="Calibri"/>
            </a:endParaRPr>
          </a:p>
        </p:txBody>
      </p:sp>
      <p:pic>
        <p:nvPicPr>
          <p:cNvPr id="744" name="Google Shape;744;p41"/>
          <p:cNvPicPr preferRelativeResize="0"/>
          <p:nvPr/>
        </p:nvPicPr>
        <p:blipFill>
          <a:blip r:embed="rId3">
            <a:alphaModFix/>
          </a:blip>
          <a:srcRect/>
          <a:stretch/>
        </p:blipFill>
        <p:spPr>
          <a:xfrm>
            <a:off x="629265" y="877824"/>
            <a:ext cx="10215716" cy="5358384"/>
          </a:xfrm>
          <a:prstGeom prst="rect">
            <a:avLst/>
          </a:prstGeom>
          <a:noFill/>
          <a:ln>
            <a:noFill/>
          </a:ln>
        </p:spPr>
      </p:pic>
      <p:sp>
        <p:nvSpPr>
          <p:cNvPr id="2" name="Footer Placeholder 1">
            <a:extLst>
              <a:ext uri="{FF2B5EF4-FFF2-40B4-BE49-F238E27FC236}">
                <a16:creationId xmlns:a16="http://schemas.microsoft.com/office/drawing/2014/main" id="{3BD53A1C-6CAE-30E8-F758-C6A315CB6226}"/>
              </a:ext>
            </a:extLst>
          </p:cNvPr>
          <p:cNvSpPr>
            <a:spLocks noGrp="1"/>
          </p:cNvSpPr>
          <p:nvPr>
            <p:ph type="ftr" idx="11"/>
          </p:nvPr>
        </p:nvSpPr>
        <p:spPr>
          <a:xfrm>
            <a:off x="182880" y="6355080"/>
            <a:ext cx="5026742"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AB2800D-8991-874A-7DCF-6AEF4BE2AA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42"/>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
        <p:nvSpPr>
          <p:cNvPr id="750" name="Google Shape;750;p42"/>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CÁC ĐIỂM CHI PHỐI THỜI GIAN CỦA QUY TRÌNH</a:t>
            </a:r>
            <a:endParaRPr/>
          </a:p>
        </p:txBody>
      </p:sp>
      <p:sp>
        <p:nvSpPr>
          <p:cNvPr id="751" name="Google Shape;751;p4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2" name="Google Shape;752;p4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3" name="Google Shape;753;p42"/>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Trích từ Bảng 4.4 (22 hoạt động) — các bước có Waiting Time hoặc Processing Time lớn  ·  01 ngày = 08 giờ</a:t>
            </a:r>
            <a:endParaRPr/>
          </a:p>
        </p:txBody>
      </p:sp>
      <p:graphicFrame>
        <p:nvGraphicFramePr>
          <p:cNvPr id="756" name="Google Shape;756;p42"/>
          <p:cNvGraphicFramePr/>
          <p:nvPr>
            <p:extLst>
              <p:ext uri="{D42A27DB-BD31-4B8C-83A1-F6EECF244321}">
                <p14:modId xmlns:p14="http://schemas.microsoft.com/office/powerpoint/2010/main" val="855583371"/>
              </p:ext>
            </p:extLst>
          </p:nvPr>
        </p:nvGraphicFramePr>
        <p:xfrm>
          <a:off x="658368" y="1757089"/>
          <a:ext cx="10874925" cy="4155996"/>
        </p:xfrm>
        <a:graphic>
          <a:graphicData uri="http://schemas.openxmlformats.org/drawingml/2006/table">
            <a:tbl>
              <a:tblPr firstRow="1">
                <a:noFill/>
                <a:tableStyleId>{65267F91-CA84-436A-A840-DCCC5366F6D9}</a:tableStyleId>
              </a:tblPr>
              <a:tblGrid>
                <a:gridCol w="4937750">
                  <a:extLst>
                    <a:ext uri="{9D8B030D-6E8A-4147-A177-3AD203B41FA5}">
                      <a16:colId xmlns:a16="http://schemas.microsoft.com/office/drawing/2014/main" val="20000"/>
                    </a:ext>
                  </a:extLst>
                </a:gridCol>
                <a:gridCol w="3154675">
                  <a:extLst>
                    <a:ext uri="{9D8B030D-6E8A-4147-A177-3AD203B41FA5}">
                      <a16:colId xmlns:a16="http://schemas.microsoft.com/office/drawing/2014/main" val="20001"/>
                    </a:ext>
                  </a:extLst>
                </a:gridCol>
                <a:gridCol w="1391250">
                  <a:extLst>
                    <a:ext uri="{9D8B030D-6E8A-4147-A177-3AD203B41FA5}">
                      <a16:colId xmlns:a16="http://schemas.microsoft.com/office/drawing/2014/main" val="20002"/>
                    </a:ext>
                  </a:extLst>
                </a:gridCol>
                <a:gridCol w="1391250">
                  <a:extLst>
                    <a:ext uri="{9D8B030D-6E8A-4147-A177-3AD203B41FA5}">
                      <a16:colId xmlns:a16="http://schemas.microsoft.com/office/drawing/2014/main" val="20003"/>
                    </a:ext>
                  </a:extLst>
                </a:gridCol>
              </a:tblGrid>
              <a:tr h="411475">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HOẠT ĐỘNG / GIAI ĐOẠN</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ĐỐI TƯỢNG CHÍNH</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PT</a:t>
                      </a:r>
                      <a:endParaRPr sz="1800"/>
                    </a:p>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(giờ)</a:t>
                      </a:r>
                      <a:endParaRPr sz="18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WT</a:t>
                      </a:r>
                      <a:endParaRPr sz="1800"/>
                    </a:p>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(giờ)</a:t>
                      </a:r>
                      <a:endParaRPr sz="1800"/>
                    </a:p>
                  </a:txBody>
                  <a:tcPr marL="91450" marR="73150" marT="41150" marB="41150" anchor="ctr">
                    <a:solidFill>
                      <a:srgbClr val="0A2540"/>
                    </a:solidFill>
                  </a:tcPr>
                </a:tc>
                <a:extLst>
                  <a:ext uri="{0D108BD9-81ED-4DB2-BD59-A6C34878D82A}">
                    <a16:rowId xmlns:a16="http://schemas.microsoft.com/office/drawing/2014/main" val="10000"/>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Chuyển yêu cầu cho Service Admin</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Distributor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1"/>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thông tin yêu cầu (nếu phát sinh)</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 Distributor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800"/>
                    </a:p>
                  </a:txBody>
                  <a:tcPr marL="91450" marR="73150" marT="41150" marB="41150" anchor="ctr"/>
                </a:tc>
                <a:extLst>
                  <a:ext uri="{0D108BD9-81ED-4DB2-BD59-A6C34878D82A}">
                    <a16:rowId xmlns:a16="http://schemas.microsoft.com/office/drawing/2014/main" val="10002"/>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Phân công và tiếp nhận yêu cầu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 /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2,0</a:t>
                      </a:r>
                      <a:endParaRPr sz="1800"/>
                    </a:p>
                  </a:txBody>
                  <a:tcPr marL="91450" marR="73150" marT="41150" marB="41150" anchor="ctr"/>
                </a:tc>
                <a:extLst>
                  <a:ext uri="{0D108BD9-81ED-4DB2-BD59-A6C34878D82A}">
                    <a16:rowId xmlns:a16="http://schemas.microsoft.com/office/drawing/2014/main" val="10003"/>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Kiểm tra và xử lý kỹ thuật từ xa</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4"/>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Phối hợp kiểm tra trực tiếp (onsite)</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800"/>
                    </a:p>
                  </a:txBody>
                  <a:tcPr marL="91450" marR="73150" marT="41150" marB="41150" anchor="ctr"/>
                </a:tc>
                <a:extLst>
                  <a:ext uri="{0D108BD9-81ED-4DB2-BD59-A6C34878D82A}">
                    <a16:rowId xmlns:a16="http://schemas.microsoft.com/office/drawing/2014/main" val="10005"/>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Khảo sát và đánh giá hiện trạng thiết bị</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2,0</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800"/>
                    </a:p>
                  </a:txBody>
                  <a:tcPr marL="91450" marR="73150" marT="41150" marB="41150" anchor="ctr"/>
                </a:tc>
                <a:extLst>
                  <a:ext uri="{0D108BD9-81ED-4DB2-BD59-A6C34878D82A}">
                    <a16:rowId xmlns:a16="http://schemas.microsoft.com/office/drawing/2014/main" val="10006"/>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Tiếp nhận kết quả đánh giá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1,0</a:t>
                      </a:r>
                      <a:endParaRPr sz="1800"/>
                    </a:p>
                  </a:txBody>
                  <a:tcPr marL="91450" marR="73150" marT="41150" marB="41150" anchor="ctr"/>
                </a:tc>
                <a:extLst>
                  <a:ext uri="{0D108BD9-81ED-4DB2-BD59-A6C34878D82A}">
                    <a16:rowId xmlns:a16="http://schemas.microsoft.com/office/drawing/2014/main" val="10007"/>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Thủ tục thương mại &amp; chờ quyết định báo giá</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Distributor / End-user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16,0</a:t>
                      </a:r>
                      <a:endParaRPr sz="1800"/>
                    </a:p>
                  </a:txBody>
                  <a:tcPr marL="91450" marR="73150" marT="41150" marB="41150" anchor="ctr"/>
                </a:tc>
                <a:extLst>
                  <a:ext uri="{0D108BD9-81ED-4DB2-BD59-A6C34878D82A}">
                    <a16:rowId xmlns:a16="http://schemas.microsoft.com/office/drawing/2014/main" val="10008"/>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Phân công Service Engineer phù hợp</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Admin</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800"/>
                    </a:p>
                  </a:txBody>
                  <a:tcPr marL="91450" marR="73150" marT="41150" marB="41150" anchor="ctr"/>
                </a:tc>
                <a:extLst>
                  <a:ext uri="{0D108BD9-81ED-4DB2-BD59-A6C34878D82A}">
                    <a16:rowId xmlns:a16="http://schemas.microsoft.com/office/drawing/2014/main" val="10009"/>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Thực hiện dịch vụ kỹ thuật</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Service Engineer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0C2A8"/>
                          </a:solidFill>
                          <a:latin typeface="Calibri"/>
                          <a:ea typeface="Calibri"/>
                          <a:cs typeface="Calibri"/>
                          <a:sym typeface="Calibri"/>
                        </a:rPr>
                        <a:t>16,0</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800"/>
                    </a:p>
                  </a:txBody>
                  <a:tcPr marL="91450" marR="73150" marT="41150" marB="41150" anchor="ctr"/>
                </a:tc>
                <a:extLst>
                  <a:ext uri="{0D108BD9-81ED-4DB2-BD59-A6C34878D82A}">
                    <a16:rowId xmlns:a16="http://schemas.microsoft.com/office/drawing/2014/main" val="10010"/>
                  </a:ext>
                </a:extLst>
              </a:tr>
              <a:tr h="22860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End-user xác nhận kết quả xử lý</a:t>
                      </a:r>
                      <a:endParaRPr sz="18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Hospital / End-user</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0,25</a:t>
                      </a:r>
                      <a:endParaRPr sz="18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800"/>
                    </a:p>
                  </a:txBody>
                  <a:tcPr marL="91450" marR="73150" marT="41150" marB="41150" anchor="ctr"/>
                </a:tc>
                <a:extLst>
                  <a:ext uri="{0D108BD9-81ED-4DB2-BD59-A6C34878D82A}">
                    <a16:rowId xmlns:a16="http://schemas.microsoft.com/office/drawing/2014/main" val="10011"/>
                  </a:ext>
                </a:extLst>
              </a:tr>
            </a:tbl>
          </a:graphicData>
        </a:graphic>
      </p:graphicFrame>
      <p:sp>
        <p:nvSpPr>
          <p:cNvPr id="757" name="Google Shape;757;p42"/>
          <p:cNvSpPr/>
          <p:nvPr/>
        </p:nvSpPr>
        <p:spPr>
          <a:xfrm>
            <a:off x="658368" y="5947533"/>
            <a:ext cx="10874959" cy="45720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8" name="Google Shape;758;p42"/>
          <p:cNvSpPr/>
          <p:nvPr/>
        </p:nvSpPr>
        <p:spPr>
          <a:xfrm>
            <a:off x="658368" y="5947533"/>
            <a:ext cx="50292" cy="45720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9" name="Google Shape;759;p42"/>
          <p:cNvSpPr txBox="1"/>
          <p:nvPr/>
        </p:nvSpPr>
        <p:spPr>
          <a:xfrm>
            <a:off x="864108" y="6061833"/>
            <a:ext cx="10463479" cy="22860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950" b="0" i="0">
                <a:solidFill>
                  <a:srgbClr val="0A2540"/>
                </a:solidFill>
                <a:latin typeface="Calibri"/>
                <a:ea typeface="Calibri"/>
                <a:cs typeface="Calibri"/>
                <a:sym typeface="Calibri"/>
              </a:rPr>
              <a:t>PT lớn nhất là thực hiện dịch vụ kỹ thuật (16 giờ ≈ 02 ngày) — đây là công việc tạo giá trị. WT lớn nhất nằm ở chờ quyết định báo giá (16 giờ), phối hợp onsite (8 giờ) và xác nhận kết quả (8 giờ).</a:t>
            </a:r>
            <a:endParaRPr/>
          </a:p>
        </p:txBody>
      </p:sp>
      <p:sp>
        <p:nvSpPr>
          <p:cNvPr id="2" name="Footer Placeholder 1">
            <a:extLst>
              <a:ext uri="{FF2B5EF4-FFF2-40B4-BE49-F238E27FC236}">
                <a16:creationId xmlns:a16="http://schemas.microsoft.com/office/drawing/2014/main" id="{3BCB87F1-6530-3F33-91C3-E59A0CA4775C}"/>
              </a:ext>
            </a:extLst>
          </p:cNvPr>
          <p:cNvSpPr>
            <a:spLocks noGrp="1"/>
          </p:cNvSpPr>
          <p:nvPr>
            <p:ph type="ftr" idx="11"/>
          </p:nvPr>
        </p:nvSpPr>
        <p:spPr>
          <a:xfrm>
            <a:off x="658368" y="6410223"/>
            <a:ext cx="4790768"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EF84452-84F6-D002-A239-59923F9D91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45"/>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5" name="Google Shape;845;p45"/>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6" name="Google Shape;846;p45"/>
          <p:cNvSpPr txBox="1"/>
          <p:nvPr/>
        </p:nvSpPr>
        <p:spPr>
          <a:xfrm>
            <a:off x="475488" y="137160"/>
            <a:ext cx="7955279" cy="14619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vi-VN" sz="950" b="1" i="0">
                <a:solidFill>
                  <a:srgbClr val="00C2A8"/>
                </a:solidFill>
                <a:latin typeface="Calibri"/>
                <a:ea typeface="Calibri"/>
                <a:cs typeface="Calibri"/>
                <a:sym typeface="Calibri"/>
              </a:rPr>
              <a:t>CHƯƠNG 4 · PHÂN TÍCH ĐỊNH LUỌNG - PHÂN TÍCH THỜI GIAN (TIME</a:t>
            </a:r>
            <a:r>
              <a:rPr lang="en-US" sz="950" b="1" i="0">
                <a:solidFill>
                  <a:srgbClr val="00C2A8"/>
                </a:solidFill>
                <a:latin typeface="Calibri"/>
                <a:ea typeface="Calibri"/>
                <a:cs typeface="Calibri"/>
                <a:sym typeface="Calibri"/>
              </a:rPr>
              <a:t>)</a:t>
            </a:r>
            <a:endParaRPr/>
          </a:p>
        </p:txBody>
      </p:sp>
      <p:sp>
        <p:nvSpPr>
          <p:cNvPr id="847" name="Google Shape;847;p45"/>
          <p:cNvSpPr txBox="1"/>
          <p:nvPr/>
        </p:nvSpPr>
        <p:spPr>
          <a:xfrm>
            <a:off x="475488" y="411480"/>
            <a:ext cx="7955279" cy="3291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C03 — Phân tích thời gian trên mô hình quy trình</a:t>
            </a:r>
            <a:endParaRPr/>
          </a:p>
        </p:txBody>
      </p:sp>
      <p:pic>
        <p:nvPicPr>
          <p:cNvPr id="851" name="Google Shape;851;p45"/>
          <p:cNvPicPr preferRelativeResize="0"/>
          <p:nvPr/>
        </p:nvPicPr>
        <p:blipFill>
          <a:blip r:embed="rId3">
            <a:alphaModFix/>
          </a:blip>
          <a:srcRect/>
          <a:stretch/>
        </p:blipFill>
        <p:spPr>
          <a:xfrm>
            <a:off x="182880" y="906550"/>
            <a:ext cx="11826240" cy="5494250"/>
          </a:xfrm>
          <a:prstGeom prst="rect">
            <a:avLst/>
          </a:prstGeom>
          <a:noFill/>
          <a:ln>
            <a:noFill/>
          </a:ln>
        </p:spPr>
      </p:pic>
      <p:sp>
        <p:nvSpPr>
          <p:cNvPr id="2" name="Footer Placeholder 1">
            <a:extLst>
              <a:ext uri="{FF2B5EF4-FFF2-40B4-BE49-F238E27FC236}">
                <a16:creationId xmlns:a16="http://schemas.microsoft.com/office/drawing/2014/main" id="{B8EEF43D-05CD-73B0-0384-0C9D40B6217E}"/>
              </a:ext>
            </a:extLst>
          </p:cNvPr>
          <p:cNvSpPr>
            <a:spLocks noGrp="1"/>
          </p:cNvSpPr>
          <p:nvPr>
            <p:ph type="ftr" idx="11"/>
          </p:nvPr>
        </p:nvSpPr>
        <p:spPr>
          <a:xfrm>
            <a:off x="182880" y="6355080"/>
            <a:ext cx="497758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9930822-1E56-DF44-4B53-BD2CBE46C6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5" name="Google Shape;765;p43"/>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CYCLE TIME THEO TỪNG NHÁNH XỬ LÝ</a:t>
            </a:r>
            <a:endParaRPr/>
          </a:p>
        </p:txBody>
      </p:sp>
      <p:sp>
        <p:nvSpPr>
          <p:cNvPr id="766" name="Google Shape;766;p4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7" name="Google Shape;767;p4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8" name="Google Shape;768;p43"/>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4.5 — Tỷ lệ các nhánh  ·  CT = PT + WT tính theo cấu trúc luồng của mô hình BPMN</a:t>
            </a:r>
            <a:endParaRPr/>
          </a:p>
        </p:txBody>
      </p:sp>
      <p:sp>
        <p:nvSpPr>
          <p:cNvPr id="771" name="Google Shape;771;p43"/>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BẢNG 4.5 — TỶ LỆ CÁC NHÁNH XỬ LÝ</a:t>
            </a:r>
            <a:endParaRPr/>
          </a:p>
        </p:txBody>
      </p:sp>
      <p:graphicFrame>
        <p:nvGraphicFramePr>
          <p:cNvPr id="772" name="Google Shape;772;p43"/>
          <p:cNvGraphicFramePr/>
          <p:nvPr/>
        </p:nvGraphicFramePr>
        <p:xfrm>
          <a:off x="658368" y="2057400"/>
          <a:ext cx="5323475" cy="1828750"/>
        </p:xfrm>
        <a:graphic>
          <a:graphicData uri="http://schemas.openxmlformats.org/drawingml/2006/table">
            <a:tbl>
              <a:tblPr firstRow="1">
                <a:noFill/>
                <a:tableStyleId>{65267F91-CA84-436A-A840-DCCC5366F6D9}</a:tableStyleId>
              </a:tblPr>
              <a:tblGrid>
                <a:gridCol w="548650">
                  <a:extLst>
                    <a:ext uri="{9D8B030D-6E8A-4147-A177-3AD203B41FA5}">
                      <a16:colId xmlns:a16="http://schemas.microsoft.com/office/drawing/2014/main" val="20000"/>
                    </a:ext>
                  </a:extLst>
                </a:gridCol>
                <a:gridCol w="3474725">
                  <a:extLst>
                    <a:ext uri="{9D8B030D-6E8A-4147-A177-3AD203B41FA5}">
                      <a16:colId xmlns:a16="http://schemas.microsoft.com/office/drawing/2014/main" val="20001"/>
                    </a:ext>
                  </a:extLst>
                </a:gridCol>
                <a:gridCol w="1300100">
                  <a:extLst>
                    <a:ext uri="{9D8B030D-6E8A-4147-A177-3AD203B41FA5}">
                      <a16:colId xmlns:a16="http://schemas.microsoft.com/office/drawing/2014/main" val="20002"/>
                    </a:ext>
                  </a:extLst>
                </a:gridCol>
              </a:tblGrid>
              <a:tr h="365750">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STT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NHÁNH XỬ LÝ</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TỶ LỆ</a:t>
                      </a:r>
                      <a:endParaRPr/>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Xử lý thành công qua Remote Support</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20%</a:t>
                      </a:r>
                      <a:endParaRPr/>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Cần tiếp tục Onsite / Service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80%</a:t>
                      </a:r>
                      <a:endParaRPr/>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Warranty / No-charge trong nhóm Onsite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60%</a:t>
                      </a:r>
                      <a:endParaRPr/>
                    </a:p>
                  </a:txBody>
                  <a:tcPr marL="91450" marR="73150" marT="41150" marB="41150" anchor="ctr"/>
                </a:tc>
                <a:extLst>
                  <a:ext uri="{0D108BD9-81ED-4DB2-BD59-A6C34878D82A}">
                    <a16:rowId xmlns:a16="http://schemas.microsoft.com/office/drawing/2014/main" val="10003"/>
                  </a:ext>
                </a:extLst>
              </a:tr>
              <a:tr h="3657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Chargeable trong nhóm Onsite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40%</a:t>
                      </a:r>
                      <a:endParaRPr/>
                    </a:p>
                  </a:txBody>
                  <a:tcPr marL="91450" marR="73150" marT="41150" marB="41150" anchor="ctr"/>
                </a:tc>
                <a:extLst>
                  <a:ext uri="{0D108BD9-81ED-4DB2-BD59-A6C34878D82A}">
                    <a16:rowId xmlns:a16="http://schemas.microsoft.com/office/drawing/2014/main" val="10004"/>
                  </a:ext>
                </a:extLst>
              </a:tr>
            </a:tbl>
          </a:graphicData>
        </a:graphic>
      </p:graphicFrame>
      <p:sp>
        <p:nvSpPr>
          <p:cNvPr id="773" name="Google Shape;773;p43"/>
          <p:cNvSpPr/>
          <p:nvPr/>
        </p:nvSpPr>
        <p:spPr>
          <a:xfrm>
            <a:off x="658368" y="4167895"/>
            <a:ext cx="10874959" cy="45720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43"/>
          <p:cNvSpPr/>
          <p:nvPr/>
        </p:nvSpPr>
        <p:spPr>
          <a:xfrm>
            <a:off x="658368" y="4167895"/>
            <a:ext cx="50292" cy="45720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5" name="Google Shape;775;p43"/>
          <p:cNvSpPr txBox="1"/>
          <p:nvPr/>
        </p:nvSpPr>
        <p:spPr>
          <a:xfrm>
            <a:off x="864108" y="4282195"/>
            <a:ext cx="10463479" cy="22860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300" b="1" i="0">
                <a:solidFill>
                  <a:srgbClr val="0A2540"/>
                </a:solidFill>
                <a:latin typeface="Calibri"/>
                <a:ea typeface="Calibri"/>
                <a:cs typeface="Calibri"/>
                <a:sym typeface="Calibri"/>
              </a:rPr>
              <a:t>Tỷ lệ thực tế của ba nhánh:   Remote 20%   ·   No-charge  80% × 60% = 48%   ·   Chargeable  80% × 40% = 32%</a:t>
            </a:r>
            <a:endParaRPr/>
          </a:p>
        </p:txBody>
      </p:sp>
      <p:sp>
        <p:nvSpPr>
          <p:cNvPr id="776" name="Google Shape;776;p43"/>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CYCLE TIME CỦA TỪNG NHÁNH</a:t>
            </a:r>
            <a:endParaRPr/>
          </a:p>
        </p:txBody>
      </p:sp>
      <p:graphicFrame>
        <p:nvGraphicFramePr>
          <p:cNvPr id="777" name="Google Shape;777;p43"/>
          <p:cNvGraphicFramePr/>
          <p:nvPr/>
        </p:nvGraphicFramePr>
        <p:xfrm>
          <a:off x="6209868" y="2057400"/>
          <a:ext cx="5323525" cy="1463000"/>
        </p:xfrm>
        <a:graphic>
          <a:graphicData uri="http://schemas.openxmlformats.org/drawingml/2006/table">
            <a:tbl>
              <a:tblPr firstRow="1">
                <a:noFill/>
                <a:tableStyleId>{65267F91-CA84-436A-A840-DCCC5366F6D9}</a:tableStyleId>
              </a:tblPr>
              <a:tblGrid>
                <a:gridCol w="2103125">
                  <a:extLst>
                    <a:ext uri="{9D8B030D-6E8A-4147-A177-3AD203B41FA5}">
                      <a16:colId xmlns:a16="http://schemas.microsoft.com/office/drawing/2014/main" val="20000"/>
                    </a:ext>
                  </a:extLst>
                </a:gridCol>
                <a:gridCol w="1005850">
                  <a:extLst>
                    <a:ext uri="{9D8B030D-6E8A-4147-A177-3AD203B41FA5}">
                      <a16:colId xmlns:a16="http://schemas.microsoft.com/office/drawing/2014/main" val="20001"/>
                    </a:ext>
                  </a:extLst>
                </a:gridCol>
                <a:gridCol w="1005850">
                  <a:extLst>
                    <a:ext uri="{9D8B030D-6E8A-4147-A177-3AD203B41FA5}">
                      <a16:colId xmlns:a16="http://schemas.microsoft.com/office/drawing/2014/main" val="20002"/>
                    </a:ext>
                  </a:extLst>
                </a:gridCol>
                <a:gridCol w="1208700">
                  <a:extLst>
                    <a:ext uri="{9D8B030D-6E8A-4147-A177-3AD203B41FA5}">
                      <a16:colId xmlns:a16="http://schemas.microsoft.com/office/drawing/2014/main" val="20003"/>
                    </a:ext>
                  </a:extLst>
                </a:gridCol>
              </a:tblGrid>
              <a:tr h="365750">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NHÁNH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PT (giờ)</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WT (giờ)</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50" b="1" i="0" u="none" strike="noStrike" cap="none">
                          <a:solidFill>
                            <a:srgbClr val="FFFFFF"/>
                          </a:solidFill>
                          <a:latin typeface="Calibri"/>
                          <a:ea typeface="Calibri"/>
                          <a:cs typeface="Calibri"/>
                          <a:sym typeface="Calibri"/>
                        </a:rPr>
                        <a:t>CT (giờ)</a:t>
                      </a:r>
                      <a:endParaRPr/>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Remote Support</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5,5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17,5</a:t>
                      </a:r>
                      <a:endParaRPr/>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 No-charge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27,5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C87F0A"/>
                          </a:solidFill>
                          <a:latin typeface="Calibri"/>
                          <a:ea typeface="Calibri"/>
                          <a:cs typeface="Calibri"/>
                          <a:sym typeface="Calibri"/>
                        </a:rPr>
                        <a:t>52,5</a:t>
                      </a:r>
                      <a:endParaRPr/>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 Chargeable</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29</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C0392B"/>
                          </a:solidFill>
                          <a:latin typeface="Calibri"/>
                          <a:ea typeface="Calibri"/>
                          <a:cs typeface="Calibri"/>
                          <a:sym typeface="Calibri"/>
                        </a:rPr>
                        <a:t>70,0</a:t>
                      </a:r>
                      <a:endParaRPr/>
                    </a:p>
                  </a:txBody>
                  <a:tcPr marL="91450" marR="73150" marT="41150" marB="41150" anchor="ctr"/>
                </a:tc>
                <a:extLst>
                  <a:ext uri="{0D108BD9-81ED-4DB2-BD59-A6C34878D82A}">
                    <a16:rowId xmlns:a16="http://schemas.microsoft.com/office/drawing/2014/main" val="10003"/>
                  </a:ext>
                </a:extLst>
              </a:tr>
            </a:tbl>
          </a:graphicData>
        </a:graphic>
      </p:graphicFrame>
      <p:sp>
        <p:nvSpPr>
          <p:cNvPr id="778" name="Google Shape;778;p43"/>
          <p:cNvSpPr txBox="1"/>
          <p:nvPr/>
        </p:nvSpPr>
        <p:spPr>
          <a:xfrm>
            <a:off x="6209868" y="3611880"/>
            <a:ext cx="5323459" cy="54864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300" b="0" i="1">
                <a:solidFill>
                  <a:srgbClr val="6B7784"/>
                </a:solidFill>
                <a:latin typeface="Calibri"/>
                <a:ea typeface="Calibri"/>
                <a:cs typeface="Calibri"/>
                <a:sym typeface="Calibri"/>
              </a:rPr>
              <a:t>Chênh lệch 17,5 giờ giữa hai nhánh Onsite gần như hoàn toàn do thời gian chờ phản hồi báo giá.</a:t>
            </a:r>
            <a:endParaRPr/>
          </a:p>
        </p:txBody>
      </p:sp>
      <p:sp>
        <p:nvSpPr>
          <p:cNvPr id="779" name="Google Shape;779;p43"/>
          <p:cNvSpPr txBox="1"/>
          <p:nvPr/>
        </p:nvSpPr>
        <p:spPr>
          <a:xfrm>
            <a:off x="658368" y="47819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CYCLE TIME TRUNG BÌNH CÓ TRỌNG SỐ</a:t>
            </a:r>
            <a:endParaRPr/>
          </a:p>
        </p:txBody>
      </p:sp>
      <p:sp>
        <p:nvSpPr>
          <p:cNvPr id="780" name="Google Shape;780;p43"/>
          <p:cNvSpPr/>
          <p:nvPr/>
        </p:nvSpPr>
        <p:spPr>
          <a:xfrm>
            <a:off x="658368"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1" name="Google Shape;781;p43"/>
          <p:cNvSpPr/>
          <p:nvPr/>
        </p:nvSpPr>
        <p:spPr>
          <a:xfrm>
            <a:off x="658368" y="51019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2" name="Google Shape;782;p43"/>
          <p:cNvSpPr txBox="1"/>
          <p:nvPr/>
        </p:nvSpPr>
        <p:spPr>
          <a:xfrm>
            <a:off x="886968"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96D6"/>
                </a:solidFill>
                <a:latin typeface="Calibri"/>
                <a:ea typeface="Calibri"/>
                <a:cs typeface="Calibri"/>
                <a:sym typeface="Calibri"/>
              </a:rPr>
              <a:t>51,1 giờ</a:t>
            </a:r>
            <a:endParaRPr/>
          </a:p>
        </p:txBody>
      </p:sp>
      <p:sp>
        <p:nvSpPr>
          <p:cNvPr id="783" name="Google Shape;783;p43"/>
          <p:cNvSpPr txBox="1"/>
          <p:nvPr/>
        </p:nvSpPr>
        <p:spPr>
          <a:xfrm>
            <a:off x="886968"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TRUNG BÌNH</a:t>
            </a:r>
            <a:endParaRPr/>
          </a:p>
        </p:txBody>
      </p:sp>
      <p:sp>
        <p:nvSpPr>
          <p:cNvPr id="784" name="Google Shape;784;p43"/>
          <p:cNvSpPr txBox="1"/>
          <p:nvPr/>
        </p:nvSpPr>
        <p:spPr>
          <a:xfrm>
            <a:off x="886968"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(0,20×17,5) + (0,48×52,5) + (0,32×70) = 3,5 + 25,2 + 22,4</a:t>
            </a:r>
            <a:endParaRPr/>
          </a:p>
        </p:txBody>
      </p:sp>
      <p:sp>
        <p:nvSpPr>
          <p:cNvPr id="785" name="Google Shape;785;p43"/>
          <p:cNvSpPr/>
          <p:nvPr/>
        </p:nvSpPr>
        <p:spPr>
          <a:xfrm>
            <a:off x="4359554"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43"/>
          <p:cNvSpPr/>
          <p:nvPr/>
        </p:nvSpPr>
        <p:spPr>
          <a:xfrm>
            <a:off x="4359554" y="5101960"/>
            <a:ext cx="3472586" cy="50292"/>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7" name="Google Shape;787;p43"/>
          <p:cNvSpPr txBox="1"/>
          <p:nvPr/>
        </p:nvSpPr>
        <p:spPr>
          <a:xfrm>
            <a:off x="4588154"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A2540"/>
                </a:solidFill>
                <a:latin typeface="Calibri"/>
                <a:ea typeface="Calibri"/>
                <a:cs typeface="Calibri"/>
                <a:sym typeface="Calibri"/>
              </a:rPr>
              <a:t>6,39 ngày</a:t>
            </a:r>
            <a:endParaRPr/>
          </a:p>
        </p:txBody>
      </p:sp>
      <p:sp>
        <p:nvSpPr>
          <p:cNvPr id="788" name="Google Shape;788;p43"/>
          <p:cNvSpPr txBox="1"/>
          <p:nvPr/>
        </p:nvSpPr>
        <p:spPr>
          <a:xfrm>
            <a:off x="4588154"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QUY ĐỔI NGÀY LÀM VIỆC</a:t>
            </a:r>
            <a:endParaRPr/>
          </a:p>
        </p:txBody>
      </p:sp>
      <p:sp>
        <p:nvSpPr>
          <p:cNvPr id="789" name="Google Shape;789;p43"/>
          <p:cNvSpPr txBox="1"/>
          <p:nvPr/>
        </p:nvSpPr>
        <p:spPr>
          <a:xfrm>
            <a:off x="4588154"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51,1 ÷ 8 giờ — thời gian trung bình hoàn tất một Service Order</a:t>
            </a:r>
            <a:endParaRPr/>
          </a:p>
        </p:txBody>
      </p:sp>
      <p:sp>
        <p:nvSpPr>
          <p:cNvPr id="790" name="Google Shape;790;p43"/>
          <p:cNvSpPr/>
          <p:nvPr/>
        </p:nvSpPr>
        <p:spPr>
          <a:xfrm>
            <a:off x="8060740" y="5101960"/>
            <a:ext cx="3472586"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1" name="Google Shape;791;p43"/>
          <p:cNvSpPr/>
          <p:nvPr/>
        </p:nvSpPr>
        <p:spPr>
          <a:xfrm>
            <a:off x="8060740" y="51019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2" name="Google Shape;792;p43"/>
          <p:cNvSpPr txBox="1"/>
          <p:nvPr/>
        </p:nvSpPr>
        <p:spPr>
          <a:xfrm>
            <a:off x="8289340" y="52391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C0392B"/>
                </a:solidFill>
                <a:latin typeface="Calibri"/>
                <a:ea typeface="Calibri"/>
                <a:cs typeface="Calibri"/>
                <a:sym typeface="Calibri"/>
              </a:rPr>
              <a:t>+4,5 giờ</a:t>
            </a:r>
            <a:endParaRPr/>
          </a:p>
        </p:txBody>
      </p:sp>
      <p:sp>
        <p:nvSpPr>
          <p:cNvPr id="793" name="Google Shape;793;p43"/>
          <p:cNvSpPr txBox="1"/>
          <p:nvPr/>
        </p:nvSpPr>
        <p:spPr>
          <a:xfrm>
            <a:off x="8289340" y="56277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MỖI VÒNG BỔ SUNG</a:t>
            </a:r>
            <a:endParaRPr/>
          </a:p>
        </p:txBody>
      </p:sp>
      <p:sp>
        <p:nvSpPr>
          <p:cNvPr id="794" name="Google Shape;794;p43"/>
          <p:cNvSpPr txBox="1"/>
          <p:nvPr/>
        </p:nvSpPr>
        <p:spPr>
          <a:xfrm>
            <a:off x="8289340" y="5856340"/>
            <a:ext cx="3015386"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0,5 giờ PT + 4,0 giờ WT — chưa tính vào CT trung bình do thiếu dữ liệu tỷ lệ</a:t>
            </a:r>
            <a:endParaRPr/>
          </a:p>
        </p:txBody>
      </p:sp>
      <p:sp>
        <p:nvSpPr>
          <p:cNvPr id="2" name="Footer Placeholder 1">
            <a:extLst>
              <a:ext uri="{FF2B5EF4-FFF2-40B4-BE49-F238E27FC236}">
                <a16:creationId xmlns:a16="http://schemas.microsoft.com/office/drawing/2014/main" id="{899BCE82-70A6-598C-3600-3F289FAA70D8}"/>
              </a:ext>
            </a:extLst>
          </p:cNvPr>
          <p:cNvSpPr>
            <a:spLocks noGrp="1"/>
          </p:cNvSpPr>
          <p:nvPr>
            <p:ph type="ftr" idx="11"/>
          </p:nvPr>
        </p:nvSpPr>
        <p:spPr>
          <a:xfrm>
            <a:off x="708660" y="6356350"/>
            <a:ext cx="467278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B5E30EB-8B7D-75D3-8C3E-6FBB9DABCE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
        <p:nvSpPr>
          <p:cNvPr id="5" name="Google Shape;749;p42">
            <a:extLst>
              <a:ext uri="{FF2B5EF4-FFF2-40B4-BE49-F238E27FC236}">
                <a16:creationId xmlns:a16="http://schemas.microsoft.com/office/drawing/2014/main" id="{F3250B4C-5D37-FC92-6F2E-25F6A6A600B3}"/>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800" name="Google Shape;800;p44"/>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HIỆU SUẤT THỜI GIAN — CYCLE TIME EFFICIENCY (CTE)</a:t>
            </a:r>
            <a:endParaRPr/>
          </a:p>
        </p:txBody>
      </p:sp>
      <p:sp>
        <p:nvSpPr>
          <p:cNvPr id="801" name="Google Shape;801;p4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2" name="Google Shape;802;p4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3" name="Google Shape;803;p44"/>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CTE = PT trung bình ÷ CT trung bình × 100%</a:t>
            </a:r>
            <a:endParaRPr/>
          </a:p>
        </p:txBody>
      </p:sp>
      <p:sp>
        <p:nvSpPr>
          <p:cNvPr id="804" name="Google Shape;804;p44"/>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0" i="0">
                <a:solidFill>
                  <a:srgbClr val="6B7784"/>
                </a:solidFill>
                <a:latin typeface="Calibri"/>
                <a:ea typeface="Calibri"/>
                <a:cs typeface="Calibri"/>
                <a:sym typeface="Calibri"/>
              </a:rPr>
              <a:t>SOLVENTUM VIỆT NAM  ·  HỆ THỐNG QUẢN TRỊ QUY TRÌNH NGHIỆP VỤ</a:t>
            </a:r>
            <a:endParaRPr sz="1200"/>
          </a:p>
        </p:txBody>
      </p:sp>
      <p:sp>
        <p:nvSpPr>
          <p:cNvPr id="806" name="Google Shape;806;p44"/>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7" name="Google Shape;807;p44"/>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8" name="Google Shape;808;p44"/>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C2A8"/>
                </a:solidFill>
                <a:latin typeface="Calibri"/>
                <a:ea typeface="Calibri"/>
                <a:cs typeface="Calibri"/>
                <a:sym typeface="Calibri"/>
              </a:rPr>
              <a:t>23,58 giờ</a:t>
            </a:r>
            <a:endParaRPr/>
          </a:p>
        </p:txBody>
      </p:sp>
      <p:sp>
        <p:nvSpPr>
          <p:cNvPr id="809" name="Google Shape;809;p44"/>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PT TRUNG BÌNH</a:t>
            </a:r>
            <a:endParaRPr/>
          </a:p>
        </p:txBody>
      </p:sp>
      <p:sp>
        <p:nvSpPr>
          <p:cNvPr id="810" name="Google Shape;810;p44"/>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(0,20×5,5) + (0,48×27,5) + (0,32×29) = 1,10 + 13,20 + 9,28</a:t>
            </a:r>
            <a:endParaRPr/>
          </a:p>
        </p:txBody>
      </p:sp>
      <p:sp>
        <p:nvSpPr>
          <p:cNvPr id="811" name="Google Shape;811;p44"/>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2" name="Google Shape;812;p44"/>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44"/>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300" b="1" i="0">
                <a:solidFill>
                  <a:srgbClr val="0096D6"/>
                </a:solidFill>
                <a:latin typeface="Calibri"/>
                <a:ea typeface="Calibri"/>
                <a:cs typeface="Calibri"/>
                <a:sym typeface="Calibri"/>
              </a:rPr>
              <a:t>51,10 giờ</a:t>
            </a:r>
            <a:endParaRPr/>
          </a:p>
        </p:txBody>
      </p:sp>
      <p:sp>
        <p:nvSpPr>
          <p:cNvPr id="814" name="Google Shape;814;p44"/>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CT TRUNG BÌNH</a:t>
            </a:r>
            <a:endParaRPr/>
          </a:p>
        </p:txBody>
      </p:sp>
      <p:sp>
        <p:nvSpPr>
          <p:cNvPr id="815" name="Google Shape;815;p44"/>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Tổng thời gian chu kỳ trung bình của một Service Order</a:t>
            </a:r>
            <a:endParaRPr/>
          </a:p>
        </p:txBody>
      </p:sp>
      <p:sp>
        <p:nvSpPr>
          <p:cNvPr id="816" name="Google Shape;816;p44"/>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44"/>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8" name="Google Shape;818;p44"/>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46,14%</a:t>
            </a:r>
            <a:endParaRPr/>
          </a:p>
        </p:txBody>
      </p:sp>
      <p:sp>
        <p:nvSpPr>
          <p:cNvPr id="819" name="Google Shape;819;p44"/>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EFFICIENCY</a:t>
            </a:r>
            <a:endParaRPr/>
          </a:p>
        </p:txBody>
      </p:sp>
      <p:sp>
        <p:nvSpPr>
          <p:cNvPr id="820" name="Google Shape;820;p44"/>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23,58 ÷ 51,10 × 100% — chỉ chưa tới một nửa là thời gian làm việc thật</a:t>
            </a:r>
            <a:endParaRPr/>
          </a:p>
        </p:txBody>
      </p:sp>
      <p:sp>
        <p:nvSpPr>
          <p:cNvPr id="821" name="Google Shape;821;p44"/>
          <p:cNvSpPr txBox="1"/>
          <p:nvPr/>
        </p:nvSpPr>
        <p:spPr>
          <a:xfrm>
            <a:off x="658368" y="34747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Ý NGHĨA CỦA KẾT QUẢ</a:t>
            </a:r>
            <a:endParaRPr/>
          </a:p>
        </p:txBody>
      </p:sp>
      <p:sp>
        <p:nvSpPr>
          <p:cNvPr id="822" name="Google Shape;822;p44"/>
          <p:cNvSpPr/>
          <p:nvPr/>
        </p:nvSpPr>
        <p:spPr>
          <a:xfrm>
            <a:off x="658368"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3" name="Google Shape;823;p44"/>
          <p:cNvSpPr/>
          <p:nvPr/>
        </p:nvSpPr>
        <p:spPr>
          <a:xfrm>
            <a:off x="658368" y="37947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44"/>
          <p:cNvSpPr txBox="1"/>
          <p:nvPr/>
        </p:nvSpPr>
        <p:spPr>
          <a:xfrm>
            <a:off x="864108"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01</a:t>
            </a:r>
            <a:endParaRPr/>
          </a:p>
        </p:txBody>
      </p:sp>
      <p:sp>
        <p:nvSpPr>
          <p:cNvPr id="825" name="Google Shape;825;p44"/>
          <p:cNvSpPr txBox="1"/>
          <p:nvPr/>
        </p:nvSpPr>
        <p:spPr>
          <a:xfrm>
            <a:off x="864108"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Hơn 53% là thời gian chờ</a:t>
            </a:r>
            <a:endParaRPr/>
          </a:p>
        </p:txBody>
      </p:sp>
      <p:sp>
        <p:nvSpPr>
          <p:cNvPr id="826" name="Google Shape;826;p44"/>
          <p:cNvSpPr txBox="1"/>
          <p:nvPr/>
        </p:nvSpPr>
        <p:spPr>
          <a:xfrm>
            <a:off x="864108"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050" b="0" i="0">
                <a:solidFill>
                  <a:srgbClr val="6B7784"/>
                </a:solidFill>
                <a:latin typeface="Calibri"/>
                <a:ea typeface="Calibri"/>
                <a:cs typeface="Calibri"/>
                <a:sym typeface="Calibri"/>
              </a:rPr>
              <a:t>27,52 giờ trong mỗi chu kỳ không sinh ra công việc nào — chỉ là chờ và chuyển giao giữa các bên.</a:t>
            </a:r>
            <a:endParaRPr/>
          </a:p>
        </p:txBody>
      </p:sp>
      <p:sp>
        <p:nvSpPr>
          <p:cNvPr id="827" name="Google Shape;827;p44"/>
          <p:cNvSpPr/>
          <p:nvPr/>
        </p:nvSpPr>
        <p:spPr>
          <a:xfrm>
            <a:off x="4359554"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44"/>
          <p:cNvSpPr/>
          <p:nvPr/>
        </p:nvSpPr>
        <p:spPr>
          <a:xfrm>
            <a:off x="4359554" y="37947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9" name="Google Shape;829;p44"/>
          <p:cNvSpPr txBox="1"/>
          <p:nvPr/>
        </p:nvSpPr>
        <p:spPr>
          <a:xfrm>
            <a:off x="4565294"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02</a:t>
            </a:r>
            <a:endParaRPr/>
          </a:p>
        </p:txBody>
      </p:sp>
      <p:sp>
        <p:nvSpPr>
          <p:cNvPr id="830" name="Google Shape;830;p44"/>
          <p:cNvSpPr txBox="1"/>
          <p:nvPr/>
        </p:nvSpPr>
        <p:spPr>
          <a:xfrm>
            <a:off x="4565294"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Cơ hội không nằm ở kỹ thuật</a:t>
            </a:r>
            <a:endParaRPr/>
          </a:p>
        </p:txBody>
      </p:sp>
      <p:sp>
        <p:nvSpPr>
          <p:cNvPr id="831" name="Google Shape;831;p44"/>
          <p:cNvSpPr txBox="1"/>
          <p:nvPr/>
        </p:nvSpPr>
        <p:spPr>
          <a:xfrm>
            <a:off x="4565294"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050" b="0" i="0">
                <a:solidFill>
                  <a:srgbClr val="6B7784"/>
                </a:solidFill>
                <a:latin typeface="Calibri"/>
                <a:ea typeface="Calibri"/>
                <a:cs typeface="Calibri"/>
                <a:sym typeface="Calibri"/>
              </a:rPr>
              <a:t>16 giờ thực hiện dịch vụ kỹ thuật là công việc tạo giá trị — rút ngắn phải nhắm vào khâu phối hợp.</a:t>
            </a:r>
            <a:endParaRPr/>
          </a:p>
        </p:txBody>
      </p:sp>
      <p:sp>
        <p:nvSpPr>
          <p:cNvPr id="832" name="Google Shape;832;p44"/>
          <p:cNvSpPr/>
          <p:nvPr/>
        </p:nvSpPr>
        <p:spPr>
          <a:xfrm>
            <a:off x="8060740" y="37947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3" name="Google Shape;833;p44"/>
          <p:cNvSpPr/>
          <p:nvPr/>
        </p:nvSpPr>
        <p:spPr>
          <a:xfrm>
            <a:off x="8060740" y="37947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4" name="Google Shape;834;p44"/>
          <p:cNvSpPr txBox="1"/>
          <p:nvPr/>
        </p:nvSpPr>
        <p:spPr>
          <a:xfrm>
            <a:off x="8266480" y="39776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03</a:t>
            </a:r>
            <a:endParaRPr/>
          </a:p>
        </p:txBody>
      </p:sp>
      <p:sp>
        <p:nvSpPr>
          <p:cNvPr id="835" name="Google Shape;835;p44"/>
          <p:cNvSpPr txBox="1"/>
          <p:nvPr/>
        </p:nvSpPr>
        <p:spPr>
          <a:xfrm>
            <a:off x="8266480" y="42976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Bốn điểm chờ trọng yếu</a:t>
            </a:r>
            <a:endParaRPr/>
          </a:p>
        </p:txBody>
      </p:sp>
      <p:sp>
        <p:nvSpPr>
          <p:cNvPr id="836" name="Google Shape;836;p44"/>
          <p:cNvSpPr txBox="1"/>
          <p:nvPr/>
        </p:nvSpPr>
        <p:spPr>
          <a:xfrm>
            <a:off x="8266480" y="4663440"/>
            <a:ext cx="3061106" cy="5486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100" b="0" i="0">
                <a:solidFill>
                  <a:srgbClr val="6B7784"/>
                </a:solidFill>
                <a:latin typeface="Calibri"/>
                <a:ea typeface="Calibri"/>
                <a:cs typeface="Calibri"/>
                <a:sym typeface="Calibri"/>
              </a:rPr>
              <a:t>Phản hồi báo giá (16h), phối hợp onsite (8h), xác nhận kết quả (8h) và bố trí Engineer (4h).</a:t>
            </a:r>
            <a:endParaRPr/>
          </a:p>
        </p:txBody>
      </p:sp>
      <p:sp>
        <p:nvSpPr>
          <p:cNvPr id="837" name="Google Shape;837;p44"/>
          <p:cNvSpPr/>
          <p:nvPr/>
        </p:nvSpPr>
        <p:spPr>
          <a:xfrm>
            <a:off x="658368" y="5486400"/>
            <a:ext cx="10874959" cy="59436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8" name="Google Shape;838;p44"/>
          <p:cNvSpPr/>
          <p:nvPr/>
        </p:nvSpPr>
        <p:spPr>
          <a:xfrm>
            <a:off x="658368" y="5486400"/>
            <a:ext cx="50292" cy="59436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9" name="Google Shape;839;p44"/>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Kết quả định lượng xác nhận phân tích định tính: 06 điểm Hold đã nhận diện ở Bảng 4.2 chính là phần lớn khoảng 53,86% thời gian bị mất. Giảm thời gian chờ và tăng hiệu quả phối hợp là hướng cải tiến có tác động lớn nhất đến Cycle Time.</a:t>
            </a:r>
            <a:endParaRPr/>
          </a:p>
        </p:txBody>
      </p:sp>
      <p:sp>
        <p:nvSpPr>
          <p:cNvPr id="3" name="Slide Number Placeholder 2">
            <a:extLst>
              <a:ext uri="{FF2B5EF4-FFF2-40B4-BE49-F238E27FC236}">
                <a16:creationId xmlns:a16="http://schemas.microsoft.com/office/drawing/2014/main" id="{A871F1DB-0F3E-CA36-44CF-147D15B048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
        <p:nvSpPr>
          <p:cNvPr id="5" name="Google Shape;749;p42">
            <a:extLst>
              <a:ext uri="{FF2B5EF4-FFF2-40B4-BE49-F238E27FC236}">
                <a16:creationId xmlns:a16="http://schemas.microsoft.com/office/drawing/2014/main" id="{87E8BD8D-3F1B-E749-E18E-5D4EF554C818}"/>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LUỌNG - PHÂN TÍCH THỜI GIAN (TIME)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46"/>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 </a:t>
            </a:r>
            <a:r>
              <a:rPr lang="en-US" sz="1050" b="1">
                <a:solidFill>
                  <a:srgbClr val="0096D6"/>
                </a:solidFill>
                <a:latin typeface="Calibri"/>
                <a:ea typeface="Calibri"/>
                <a:cs typeface="Calibri"/>
                <a:sym typeface="Calibri"/>
              </a:rPr>
              <a:t>PHÂN TÍCH ĐỊNH LUỌNG – PHÂN TÍCH </a:t>
            </a:r>
            <a:r>
              <a:rPr lang="en-US" sz="1050" b="1" i="0">
                <a:solidFill>
                  <a:srgbClr val="0096D6"/>
                </a:solidFill>
                <a:latin typeface="Calibri"/>
                <a:ea typeface="Calibri"/>
                <a:cs typeface="Calibri"/>
                <a:sym typeface="Calibri"/>
              </a:rPr>
              <a:t>CHẤT LƯỢNG VÀ CHI PHÍ</a:t>
            </a:r>
            <a:endParaRPr/>
          </a:p>
        </p:txBody>
      </p:sp>
      <p:sp>
        <p:nvSpPr>
          <p:cNvPr id="857" name="Google Shape;857;p46"/>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CHỈ SỐ CHẤT LƯỢNG VÀ CHI PHÍ NGUỒN LỰC</a:t>
            </a:r>
            <a:endParaRPr/>
          </a:p>
        </p:txBody>
      </p:sp>
      <p:sp>
        <p:nvSpPr>
          <p:cNvPr id="858" name="Google Shape;858;p4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9" name="Google Shape;859;p4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0" name="Google Shape;860;p46"/>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4.6 — 05 chỉ số chất lượng   |   Bảng 4.7 — chi phí nguồn lực, giả định R = 150.000 đồng/giờ</a:t>
            </a:r>
            <a:endParaRPr/>
          </a:p>
        </p:txBody>
      </p:sp>
      <p:sp>
        <p:nvSpPr>
          <p:cNvPr id="863" name="Google Shape;863;p46"/>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96D6"/>
                </a:solidFill>
                <a:latin typeface="Calibri"/>
                <a:ea typeface="Calibri"/>
                <a:cs typeface="Calibri"/>
                <a:sym typeface="Calibri"/>
              </a:rPr>
              <a:t> 05 CHỈ SỐ ĐÁNH GIÁ CHẤT LƯỢNG</a:t>
            </a:r>
            <a:endParaRPr sz="2000"/>
          </a:p>
        </p:txBody>
      </p:sp>
      <p:sp>
        <p:nvSpPr>
          <p:cNvPr id="864" name="Google Shape;864;p46"/>
          <p:cNvSpPr txBox="1"/>
          <p:nvPr/>
        </p:nvSpPr>
        <p:spPr>
          <a:xfrm>
            <a:off x="658368" y="2103120"/>
            <a:ext cx="5323459" cy="237744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800" b="0" i="0">
                <a:solidFill>
                  <a:srgbClr val="6B7784"/>
                </a:solidFill>
                <a:latin typeface="Calibri"/>
                <a:ea typeface="Calibri"/>
                <a:cs typeface="Calibri"/>
                <a:sym typeface="Calibri"/>
              </a:rPr>
              <a:t>•  Tỷ lệ yêu cầu đầy đủ thông tin ngay lần đầu</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yêu cầu phải bổ sung thông tin</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xử lý thành công qua Remote Support</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yêu cầu phải xử lý lại  (Rework Rate)</a:t>
            </a:r>
            <a:endParaRPr sz="1800"/>
          </a:p>
          <a:p>
            <a:pPr marL="0" marR="0" lvl="0" indent="0" algn="l" rtl="0">
              <a:lnSpc>
                <a:spcPct val="115000"/>
              </a:lnSpc>
              <a:spcBef>
                <a:spcPts val="600"/>
              </a:spcBef>
              <a:spcAft>
                <a:spcPts val="0"/>
              </a:spcAft>
              <a:buNone/>
            </a:pPr>
            <a:r>
              <a:rPr lang="en-US" sz="1800" b="0" i="0">
                <a:solidFill>
                  <a:srgbClr val="6B7784"/>
                </a:solidFill>
                <a:latin typeface="Calibri"/>
                <a:ea typeface="Calibri"/>
                <a:cs typeface="Calibri"/>
                <a:sym typeface="Calibri"/>
              </a:rPr>
              <a:t>•  Tỷ lệ hoàn tất yêu cầu dịch vụ</a:t>
            </a:r>
            <a:endParaRPr sz="1800"/>
          </a:p>
        </p:txBody>
      </p:sp>
      <p:sp>
        <p:nvSpPr>
          <p:cNvPr id="865" name="Google Shape;865;p46"/>
          <p:cNvSpPr txBox="1"/>
          <p:nvPr/>
        </p:nvSpPr>
        <p:spPr>
          <a:xfrm>
            <a:off x="521111" y="4297680"/>
            <a:ext cx="4660490" cy="9144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600" b="0" i="1">
                <a:solidFill>
                  <a:srgbClr val="6B7784"/>
                </a:solidFill>
                <a:latin typeface="Calibri"/>
                <a:ea typeface="Calibri"/>
                <a:cs typeface="Calibri"/>
                <a:sym typeface="Calibri"/>
              </a:rPr>
              <a:t>Ví dụ: 50 yêu cầu trong kỳ, 8 yêu cầu phải bổ sung  →  16% phải bổ sung, 84% đầy đủ thông tin ngay lần đầu.</a:t>
            </a:r>
            <a:endParaRPr sz="1800"/>
          </a:p>
        </p:txBody>
      </p:sp>
      <p:sp>
        <p:nvSpPr>
          <p:cNvPr id="866" name="Google Shape;866;p46"/>
          <p:cNvSpPr txBox="1"/>
          <p:nvPr/>
        </p:nvSpPr>
        <p:spPr>
          <a:xfrm>
            <a:off x="5444785"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C2A8"/>
                </a:solidFill>
                <a:latin typeface="Calibri"/>
                <a:ea typeface="Calibri"/>
                <a:cs typeface="Calibri"/>
                <a:sym typeface="Calibri"/>
              </a:rPr>
              <a:t>CHI PHÍ NGUỒN LỰC THEO NHÁNH</a:t>
            </a:r>
            <a:endParaRPr sz="2000"/>
          </a:p>
        </p:txBody>
      </p:sp>
      <p:sp>
        <p:nvSpPr>
          <p:cNvPr id="868" name="Google Shape;868;p46"/>
          <p:cNvSpPr/>
          <p:nvPr/>
        </p:nvSpPr>
        <p:spPr>
          <a:xfrm>
            <a:off x="658368" y="5303520"/>
            <a:ext cx="10874959" cy="73152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69" name="Google Shape;869;p46"/>
          <p:cNvSpPr/>
          <p:nvPr/>
        </p:nvSpPr>
        <p:spPr>
          <a:xfrm>
            <a:off x="658368" y="5303520"/>
            <a:ext cx="50292" cy="73152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70" name="Google Shape;870;p46"/>
          <p:cNvSpPr txBox="1"/>
          <p:nvPr/>
        </p:nvSpPr>
        <p:spPr>
          <a:xfrm>
            <a:off x="864108" y="5417820"/>
            <a:ext cx="10463479" cy="50292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b="1" i="0">
                <a:solidFill>
                  <a:srgbClr val="0A2540"/>
                </a:solidFill>
                <a:latin typeface="Calibri"/>
                <a:ea typeface="Calibri"/>
                <a:cs typeface="Calibri"/>
                <a:sym typeface="Calibri"/>
              </a:rPr>
              <a:t>CHI PHÍ MỘT LẦN XỬ LÝ:   Remote Support 675.000 đồng   ·   Onsite No-charge 3.975.000 đồng   ·   Onsite Chargeable 4.125.000 đồng</a:t>
            </a:r>
            <a:endParaRPr sz="1600"/>
          </a:p>
          <a:p>
            <a:pPr marL="0" marR="0" lvl="0" indent="0" algn="l" rtl="0">
              <a:lnSpc>
                <a:spcPct val="112000"/>
              </a:lnSpc>
              <a:spcBef>
                <a:spcPts val="0"/>
              </a:spcBef>
              <a:spcAft>
                <a:spcPts val="0"/>
              </a:spcAft>
              <a:buNone/>
            </a:pPr>
            <a:r>
              <a:rPr lang="en-US" b="0" i="0">
                <a:solidFill>
                  <a:srgbClr val="0A2540"/>
                </a:solidFill>
                <a:latin typeface="Calibri"/>
                <a:ea typeface="Calibri"/>
                <a:cs typeface="Calibri"/>
                <a:sym typeface="Calibri"/>
              </a:rPr>
              <a:t>Onsite tốn nguồn lực gấp gần 06 lần Remote Support → ưu tiên xử lý từ xa khi điều kiện kỹ thuật cho phép là đòn bẩy giảm chi phí lớn nhất.</a:t>
            </a:r>
            <a:endParaRPr sz="1600"/>
          </a:p>
        </p:txBody>
      </p:sp>
      <p:sp>
        <p:nvSpPr>
          <p:cNvPr id="2" name="Footer Placeholder 1">
            <a:extLst>
              <a:ext uri="{FF2B5EF4-FFF2-40B4-BE49-F238E27FC236}">
                <a16:creationId xmlns:a16="http://schemas.microsoft.com/office/drawing/2014/main" id="{4A7A1983-A6C4-E894-B08E-4D68A9D469F5}"/>
              </a:ext>
            </a:extLst>
          </p:cNvPr>
          <p:cNvSpPr>
            <a:spLocks noGrp="1"/>
          </p:cNvSpPr>
          <p:nvPr>
            <p:ph type="ftr" idx="11"/>
          </p:nvPr>
        </p:nvSpPr>
        <p:spPr>
          <a:xfrm>
            <a:off x="683514" y="6356350"/>
            <a:ext cx="476127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A32A1155-6FB7-1CCB-F612-6C480088FF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graphicFrame>
        <p:nvGraphicFramePr>
          <p:cNvPr id="4" name="Table 3">
            <a:extLst>
              <a:ext uri="{FF2B5EF4-FFF2-40B4-BE49-F238E27FC236}">
                <a16:creationId xmlns:a16="http://schemas.microsoft.com/office/drawing/2014/main" id="{0EEACBEA-B577-8D5D-E659-B1ABBE041E93}"/>
              </a:ext>
            </a:extLst>
          </p:cNvPr>
          <p:cNvGraphicFramePr>
            <a:graphicFrameLocks noGrp="1"/>
          </p:cNvGraphicFramePr>
          <p:nvPr>
            <p:extLst>
              <p:ext uri="{D42A27DB-BD31-4B8C-83A1-F6EECF244321}">
                <p14:modId xmlns:p14="http://schemas.microsoft.com/office/powerpoint/2010/main" val="1073854979"/>
              </p:ext>
            </p:extLst>
          </p:nvPr>
        </p:nvGraphicFramePr>
        <p:xfrm>
          <a:off x="5444785" y="2178620"/>
          <a:ext cx="6088541" cy="2226232"/>
        </p:xfrm>
        <a:graphic>
          <a:graphicData uri="http://schemas.openxmlformats.org/drawingml/2006/table">
            <a:tbl>
              <a:tblPr firstRow="1" firstCol="1" bandRow="1">
                <a:tableStyleId>{65267F91-CA84-436A-A840-DCCC5366F6D9}</a:tableStyleId>
              </a:tblPr>
              <a:tblGrid>
                <a:gridCol w="456910">
                  <a:extLst>
                    <a:ext uri="{9D8B030D-6E8A-4147-A177-3AD203B41FA5}">
                      <a16:colId xmlns:a16="http://schemas.microsoft.com/office/drawing/2014/main" val="1951569209"/>
                    </a:ext>
                  </a:extLst>
                </a:gridCol>
                <a:gridCol w="1598848">
                  <a:extLst>
                    <a:ext uri="{9D8B030D-6E8A-4147-A177-3AD203B41FA5}">
                      <a16:colId xmlns:a16="http://schemas.microsoft.com/office/drawing/2014/main" val="2355582972"/>
                    </a:ext>
                  </a:extLst>
                </a:gridCol>
                <a:gridCol w="453754">
                  <a:extLst>
                    <a:ext uri="{9D8B030D-6E8A-4147-A177-3AD203B41FA5}">
                      <a16:colId xmlns:a16="http://schemas.microsoft.com/office/drawing/2014/main" val="574391656"/>
                    </a:ext>
                  </a:extLst>
                </a:gridCol>
                <a:gridCol w="1120877">
                  <a:extLst>
                    <a:ext uri="{9D8B030D-6E8A-4147-A177-3AD203B41FA5}">
                      <a16:colId xmlns:a16="http://schemas.microsoft.com/office/drawing/2014/main" val="313404828"/>
                    </a:ext>
                  </a:extLst>
                </a:gridCol>
                <a:gridCol w="1150677">
                  <a:extLst>
                    <a:ext uri="{9D8B030D-6E8A-4147-A177-3AD203B41FA5}">
                      <a16:colId xmlns:a16="http://schemas.microsoft.com/office/drawing/2014/main" val="1612231286"/>
                    </a:ext>
                  </a:extLst>
                </a:gridCol>
                <a:gridCol w="1307475">
                  <a:extLst>
                    <a:ext uri="{9D8B030D-6E8A-4147-A177-3AD203B41FA5}">
                      <a16:colId xmlns:a16="http://schemas.microsoft.com/office/drawing/2014/main" val="3814296136"/>
                    </a:ext>
                  </a:extLst>
                </a:gridCol>
              </a:tblGrid>
              <a:tr h="508134">
                <a:tc>
                  <a:txBody>
                    <a:bodyPr/>
                    <a:lstStyle/>
                    <a:p>
                      <a:pPr marL="0" marR="0" algn="ctr">
                        <a:lnSpc>
                          <a:spcPct val="115000"/>
                        </a:lnSpc>
                        <a:spcAft>
                          <a:spcPts val="800"/>
                        </a:spcAft>
                        <a:buNone/>
                      </a:pPr>
                      <a:r>
                        <a:rPr lang="en-US" sz="1300">
                          <a:effectLst/>
                        </a:rPr>
                        <a:t>STT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Nhánh xử lý</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Tỷ lệ</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PT nguồn lực Solventum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PT trung bình có trọng số</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300">
                          <a:effectLst/>
                        </a:rPr>
                        <a:t>Chi phí trung bình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6264404"/>
                  </a:ext>
                </a:extLst>
              </a:tr>
              <a:tr h="350915">
                <a:tc>
                  <a:txBody>
                    <a:bodyPr/>
                    <a:lstStyle/>
                    <a:p>
                      <a:pPr marL="0" marR="0" algn="ctr">
                        <a:lnSpc>
                          <a:spcPct val="115000"/>
                        </a:lnSpc>
                        <a:spcAft>
                          <a:spcPts val="800"/>
                        </a:spcAft>
                        <a:buNone/>
                      </a:pPr>
                      <a:r>
                        <a:rPr lang="en-US" sz="13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Remote Support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4,50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0,90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135.000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97783716"/>
                  </a:ext>
                </a:extLst>
              </a:tr>
              <a:tr h="508134">
                <a:tc>
                  <a:txBody>
                    <a:bodyPr/>
                    <a:lstStyle/>
                    <a:p>
                      <a:pPr marL="0" marR="0" algn="ctr">
                        <a:lnSpc>
                          <a:spcPct val="115000"/>
                        </a:lnSpc>
                        <a:spcAft>
                          <a:spcPts val="800"/>
                        </a:spcAft>
                        <a:buNone/>
                      </a:pPr>
                      <a:r>
                        <a:rPr lang="en-US" sz="13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Onsite/Service – Warranty/No-charge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48%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26,50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12,72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1.908.000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8716272"/>
                  </a:ext>
                </a:extLst>
              </a:tr>
              <a:tr h="508134">
                <a:tc>
                  <a:txBody>
                    <a:bodyPr/>
                    <a:lstStyle/>
                    <a:p>
                      <a:pPr marL="0" marR="0" algn="ctr">
                        <a:lnSpc>
                          <a:spcPct val="115000"/>
                        </a:lnSpc>
                        <a:spcAft>
                          <a:spcPts val="800"/>
                        </a:spcAft>
                        <a:buNone/>
                      </a:pPr>
                      <a:r>
                        <a:rPr lang="en-US" sz="13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300">
                          <a:effectLst/>
                        </a:rPr>
                        <a:t>Onsite/Service – Chargeable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32%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27,50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8,80 giờ</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a:effectLst/>
                        </a:rPr>
                        <a:t>1.320.000 đồng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51348728"/>
                  </a:ext>
                </a:extLst>
              </a:tr>
              <a:tr h="350915">
                <a:tc gridSpan="4">
                  <a:txBody>
                    <a:bodyPr/>
                    <a:lstStyle/>
                    <a:p>
                      <a:pPr marL="0" marR="0" algn="ctr">
                        <a:lnSpc>
                          <a:spcPct val="115000"/>
                        </a:lnSpc>
                        <a:spcAft>
                          <a:spcPts val="800"/>
                        </a:spcAft>
                        <a:buNone/>
                      </a:pPr>
                      <a:r>
                        <a:rPr lang="en-US" sz="1300">
                          <a:effectLst/>
                        </a:rPr>
                        <a:t>Tổng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lnSpc>
                          <a:spcPct val="115000"/>
                        </a:lnSpc>
                        <a:spcAft>
                          <a:spcPts val="800"/>
                        </a:spcAft>
                        <a:buNone/>
                      </a:pPr>
                      <a:r>
                        <a:rPr lang="en-US" sz="1300" b="1">
                          <a:effectLst/>
                        </a:rPr>
                        <a:t>22,42 giờ</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300" b="1">
                          <a:effectLst/>
                        </a:rPr>
                        <a:t>3.363.000 đồng</a:t>
                      </a:r>
                      <a:endParaRPr lang="en-US"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857542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47"/>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QUAN QUY TRÌNH PHÂN TÍCH</a:t>
            </a:r>
            <a:endParaRPr/>
          </a:p>
        </p:txBody>
      </p:sp>
      <p:sp>
        <p:nvSpPr>
          <p:cNvPr id="876" name="Google Shape;876;p4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S01 — PROCUREMENT MANAGEMENT</a:t>
            </a:r>
            <a:endParaRPr/>
          </a:p>
        </p:txBody>
      </p:sp>
      <p:sp>
        <p:nvSpPr>
          <p:cNvPr id="877" name="Google Shape;877;p4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8" name="Google Shape;878;p4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9" name="Google Shape;879;p4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Quản lý mua hàng và cung ứng  ·  Nhóm quy trình hỗ trợ  ·  Chu trình Source-to-Pay</a:t>
            </a:r>
            <a:endParaRPr/>
          </a:p>
        </p:txBody>
      </p:sp>
      <p:sp>
        <p:nvSpPr>
          <p:cNvPr id="882" name="Google Shape;882;p47"/>
          <p:cNvSpPr txBox="1"/>
          <p:nvPr/>
        </p:nvSpPr>
        <p:spPr>
          <a:xfrm>
            <a:off x="658365" y="166420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SÁU ĐỐI TƯỢNG THAM GIA CHU TRÌNH SOURCE-TO-PAY</a:t>
            </a:r>
            <a:endParaRPr sz="1600"/>
          </a:p>
        </p:txBody>
      </p:sp>
      <p:sp>
        <p:nvSpPr>
          <p:cNvPr id="883" name="Google Shape;883;p47"/>
          <p:cNvSpPr/>
          <p:nvPr/>
        </p:nvSpPr>
        <p:spPr>
          <a:xfrm>
            <a:off x="658368"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4" name="Google Shape;884;p47"/>
          <p:cNvSpPr/>
          <p:nvPr/>
        </p:nvSpPr>
        <p:spPr>
          <a:xfrm>
            <a:off x="658368" y="201168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5" name="Google Shape;885;p47"/>
          <p:cNvSpPr txBox="1"/>
          <p:nvPr/>
        </p:nvSpPr>
        <p:spPr>
          <a:xfrm>
            <a:off x="864108"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Requester</a:t>
            </a:r>
            <a:endParaRPr sz="1600"/>
          </a:p>
        </p:txBody>
      </p:sp>
      <p:sp>
        <p:nvSpPr>
          <p:cNvPr id="886" name="Google Shape;886;p47"/>
          <p:cNvSpPr txBox="1"/>
          <p:nvPr/>
        </p:nvSpPr>
        <p:spPr>
          <a:xfrm>
            <a:off x="864108"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Bộ phận có nhu cầu, tạo Purchase Requisition (PR) và bổ sung thông tin khi được yêu cầu.</a:t>
            </a:r>
            <a:endParaRPr sz="1600"/>
          </a:p>
        </p:txBody>
      </p:sp>
      <p:sp>
        <p:nvSpPr>
          <p:cNvPr id="887" name="Google Shape;887;p47"/>
          <p:cNvSpPr/>
          <p:nvPr/>
        </p:nvSpPr>
        <p:spPr>
          <a:xfrm>
            <a:off x="4359554"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8" name="Google Shape;888;p47"/>
          <p:cNvSpPr/>
          <p:nvPr/>
        </p:nvSpPr>
        <p:spPr>
          <a:xfrm>
            <a:off x="4359554" y="201168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89" name="Google Shape;889;p47"/>
          <p:cNvSpPr txBox="1"/>
          <p:nvPr/>
        </p:nvSpPr>
        <p:spPr>
          <a:xfrm>
            <a:off x="4565294"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Approver</a:t>
            </a:r>
            <a:endParaRPr sz="1600"/>
          </a:p>
        </p:txBody>
      </p:sp>
      <p:sp>
        <p:nvSpPr>
          <p:cNvPr id="890" name="Google Shape;890;p47"/>
          <p:cNvSpPr txBox="1"/>
          <p:nvPr/>
        </p:nvSpPr>
        <p:spPr>
          <a:xfrm>
            <a:off x="4565294"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Xem xét và phê duyệt PR, hoặc yêu cầu bổ sung / chỉnh sửa trước khi cho phép tiếp tục.</a:t>
            </a:r>
            <a:endParaRPr sz="1600"/>
          </a:p>
        </p:txBody>
      </p:sp>
      <p:sp>
        <p:nvSpPr>
          <p:cNvPr id="891" name="Google Shape;891;p47"/>
          <p:cNvSpPr/>
          <p:nvPr/>
        </p:nvSpPr>
        <p:spPr>
          <a:xfrm>
            <a:off x="8060740" y="201168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2" name="Google Shape;892;p47"/>
          <p:cNvSpPr/>
          <p:nvPr/>
        </p:nvSpPr>
        <p:spPr>
          <a:xfrm>
            <a:off x="8060740" y="201168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3" name="Google Shape;893;p47"/>
          <p:cNvSpPr txBox="1"/>
          <p:nvPr/>
        </p:nvSpPr>
        <p:spPr>
          <a:xfrm>
            <a:off x="8266480" y="219456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Procurement Specialist</a:t>
            </a:r>
            <a:endParaRPr sz="1600"/>
          </a:p>
        </p:txBody>
      </p:sp>
      <p:sp>
        <p:nvSpPr>
          <p:cNvPr id="894" name="Google Shape;894;p47"/>
          <p:cNvSpPr txBox="1"/>
          <p:nvPr/>
        </p:nvSpPr>
        <p:spPr>
          <a:xfrm>
            <a:off x="8266480" y="256032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Kiểm tra nguồn cung, tìm Supplier và chốt Quotation, phát hành PO, theo dõi cung ứng.</a:t>
            </a:r>
            <a:endParaRPr sz="1600"/>
          </a:p>
        </p:txBody>
      </p:sp>
      <p:sp>
        <p:nvSpPr>
          <p:cNvPr id="895" name="Google Shape;895;p47"/>
          <p:cNvSpPr/>
          <p:nvPr/>
        </p:nvSpPr>
        <p:spPr>
          <a:xfrm>
            <a:off x="658368"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6" name="Google Shape;896;p47"/>
          <p:cNvSpPr/>
          <p:nvPr/>
        </p:nvSpPr>
        <p:spPr>
          <a:xfrm>
            <a:off x="658368" y="347472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897" name="Google Shape;897;p47"/>
          <p:cNvSpPr txBox="1"/>
          <p:nvPr/>
        </p:nvSpPr>
        <p:spPr>
          <a:xfrm>
            <a:off x="864108"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Warehouse</a:t>
            </a:r>
            <a:endParaRPr sz="1600"/>
          </a:p>
        </p:txBody>
      </p:sp>
      <p:sp>
        <p:nvSpPr>
          <p:cNvPr id="898" name="Google Shape;898;p47"/>
          <p:cNvSpPr txBox="1"/>
          <p:nvPr/>
        </p:nvSpPr>
        <p:spPr>
          <a:xfrm>
            <a:off x="864108"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Tiếp nhận hàng, kiểm tra chất lượng – số lượng, đối chiếu PO và ghi nhận Goods Receipt.</a:t>
            </a:r>
            <a:endParaRPr sz="1600"/>
          </a:p>
        </p:txBody>
      </p:sp>
      <p:sp>
        <p:nvSpPr>
          <p:cNvPr id="899" name="Google Shape;899;p47"/>
          <p:cNvSpPr/>
          <p:nvPr/>
        </p:nvSpPr>
        <p:spPr>
          <a:xfrm>
            <a:off x="4359554"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0" name="Google Shape;900;p47"/>
          <p:cNvSpPr/>
          <p:nvPr/>
        </p:nvSpPr>
        <p:spPr>
          <a:xfrm>
            <a:off x="4359554" y="347472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1" name="Google Shape;901;p47"/>
          <p:cNvSpPr txBox="1"/>
          <p:nvPr/>
        </p:nvSpPr>
        <p:spPr>
          <a:xfrm>
            <a:off x="4565294"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Finance / Accounts Payable</a:t>
            </a:r>
            <a:endParaRPr sz="1600"/>
          </a:p>
        </p:txBody>
      </p:sp>
      <p:sp>
        <p:nvSpPr>
          <p:cNvPr id="902" name="Google Shape;902;p47"/>
          <p:cNvSpPr txBox="1"/>
          <p:nvPr/>
        </p:nvSpPr>
        <p:spPr>
          <a:xfrm>
            <a:off x="4565294"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Đối chiếu hóa đơn với PO và GR, yêu cầu chỉnh sửa nếu sai lệch, thanh toán và lưu hồ sơ.</a:t>
            </a:r>
            <a:endParaRPr sz="1600"/>
          </a:p>
        </p:txBody>
      </p:sp>
      <p:sp>
        <p:nvSpPr>
          <p:cNvPr id="903" name="Google Shape;903;p47"/>
          <p:cNvSpPr/>
          <p:nvPr/>
        </p:nvSpPr>
        <p:spPr>
          <a:xfrm>
            <a:off x="8060740" y="3474720"/>
            <a:ext cx="3472586" cy="13258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4" name="Google Shape;904;p47"/>
          <p:cNvSpPr/>
          <p:nvPr/>
        </p:nvSpPr>
        <p:spPr>
          <a:xfrm>
            <a:off x="8060740" y="347472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5" name="Google Shape;905;p47"/>
          <p:cNvSpPr txBox="1"/>
          <p:nvPr/>
        </p:nvSpPr>
        <p:spPr>
          <a:xfrm>
            <a:off x="8266480" y="365760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Supplier</a:t>
            </a:r>
            <a:endParaRPr sz="1600"/>
          </a:p>
        </p:txBody>
      </p:sp>
      <p:sp>
        <p:nvSpPr>
          <p:cNvPr id="906" name="Google Shape;906;p47"/>
          <p:cNvSpPr txBox="1"/>
          <p:nvPr/>
        </p:nvSpPr>
        <p:spPr>
          <a:xfrm>
            <a:off x="8266480" y="4023360"/>
            <a:ext cx="3061106" cy="64008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Cung cấp hàng hóa theo PO, điều chỉnh khi có sai lệch, phát hành và chỉnh sửa hóa đơn.</a:t>
            </a:r>
            <a:endParaRPr sz="1600"/>
          </a:p>
        </p:txBody>
      </p:sp>
      <p:sp>
        <p:nvSpPr>
          <p:cNvPr id="907" name="Google Shape;907;p47"/>
          <p:cNvSpPr txBox="1"/>
          <p:nvPr/>
        </p:nvSpPr>
        <p:spPr>
          <a:xfrm>
            <a:off x="658368" y="493776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BỐN VÒNG LẶP CÓ THỂ PHÁT SINH — ĐẶC ĐIỂM ĐỊNH HÌNH TOÀN BỘ PHÂN TÍCH</a:t>
            </a:r>
            <a:endParaRPr sz="1600"/>
          </a:p>
        </p:txBody>
      </p:sp>
      <p:sp>
        <p:nvSpPr>
          <p:cNvPr id="908" name="Google Shape;908;p47"/>
          <p:cNvSpPr/>
          <p:nvPr/>
        </p:nvSpPr>
        <p:spPr>
          <a:xfrm>
            <a:off x="658368"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09" name="Google Shape;909;p47"/>
          <p:cNvSpPr/>
          <p:nvPr/>
        </p:nvSpPr>
        <p:spPr>
          <a:xfrm>
            <a:off x="658368"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0" name="Google Shape;910;p47"/>
          <p:cNvSpPr txBox="1"/>
          <p:nvPr/>
        </p:nvSpPr>
        <p:spPr>
          <a:xfrm>
            <a:off x="864108"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PR cần bổ sung / chỉnh sửa</a:t>
            </a:r>
            <a:endParaRPr sz="1600"/>
          </a:p>
        </p:txBody>
      </p:sp>
      <p:sp>
        <p:nvSpPr>
          <p:cNvPr id="911" name="Google Shape;911;p47"/>
          <p:cNvSpPr txBox="1"/>
          <p:nvPr/>
        </p:nvSpPr>
        <p:spPr>
          <a:xfrm>
            <a:off x="864108"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15%</a:t>
            </a:r>
            <a:endParaRPr sz="1600"/>
          </a:p>
        </p:txBody>
      </p:sp>
      <p:sp>
        <p:nvSpPr>
          <p:cNvPr id="912" name="Google Shape;912;p47"/>
          <p:cNvSpPr/>
          <p:nvPr/>
        </p:nvSpPr>
        <p:spPr>
          <a:xfrm>
            <a:off x="3434257"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3" name="Google Shape;913;p47"/>
          <p:cNvSpPr/>
          <p:nvPr/>
        </p:nvSpPr>
        <p:spPr>
          <a:xfrm>
            <a:off x="3434257"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4" name="Google Shape;914;p47"/>
          <p:cNvSpPr txBox="1"/>
          <p:nvPr/>
        </p:nvSpPr>
        <p:spPr>
          <a:xfrm>
            <a:off x="3639997"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Phải tìm Supplier mới</a:t>
            </a:r>
            <a:endParaRPr sz="1600"/>
          </a:p>
        </p:txBody>
      </p:sp>
      <p:sp>
        <p:nvSpPr>
          <p:cNvPr id="915" name="Google Shape;915;p47"/>
          <p:cNvSpPr txBox="1"/>
          <p:nvPr/>
        </p:nvSpPr>
        <p:spPr>
          <a:xfrm>
            <a:off x="3639997"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20%</a:t>
            </a:r>
            <a:endParaRPr sz="1600"/>
          </a:p>
        </p:txBody>
      </p:sp>
      <p:sp>
        <p:nvSpPr>
          <p:cNvPr id="916" name="Google Shape;916;p47"/>
          <p:cNvSpPr/>
          <p:nvPr/>
        </p:nvSpPr>
        <p:spPr>
          <a:xfrm>
            <a:off x="6210146"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7" name="Google Shape;917;p47"/>
          <p:cNvSpPr/>
          <p:nvPr/>
        </p:nvSpPr>
        <p:spPr>
          <a:xfrm>
            <a:off x="6210146"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18" name="Google Shape;918;p47"/>
          <p:cNvSpPr txBox="1"/>
          <p:nvPr/>
        </p:nvSpPr>
        <p:spPr>
          <a:xfrm>
            <a:off x="6415886"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Hàng hóa sai lệch với PO</a:t>
            </a:r>
            <a:endParaRPr sz="1600"/>
          </a:p>
        </p:txBody>
      </p:sp>
      <p:sp>
        <p:nvSpPr>
          <p:cNvPr id="919" name="Google Shape;919;p47"/>
          <p:cNvSpPr txBox="1"/>
          <p:nvPr/>
        </p:nvSpPr>
        <p:spPr>
          <a:xfrm>
            <a:off x="6415886"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5%</a:t>
            </a:r>
            <a:endParaRPr sz="1600"/>
          </a:p>
        </p:txBody>
      </p:sp>
      <p:sp>
        <p:nvSpPr>
          <p:cNvPr id="920" name="Google Shape;920;p47"/>
          <p:cNvSpPr/>
          <p:nvPr/>
        </p:nvSpPr>
        <p:spPr>
          <a:xfrm>
            <a:off x="8986035" y="5257800"/>
            <a:ext cx="2547289" cy="7315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21" name="Google Shape;921;p47"/>
          <p:cNvSpPr/>
          <p:nvPr/>
        </p:nvSpPr>
        <p:spPr>
          <a:xfrm>
            <a:off x="8986035" y="525780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922" name="Google Shape;922;p47"/>
          <p:cNvSpPr txBox="1"/>
          <p:nvPr/>
        </p:nvSpPr>
        <p:spPr>
          <a:xfrm>
            <a:off x="9191775" y="54406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Hóa đơn cần chỉnh sửa</a:t>
            </a:r>
            <a:endParaRPr sz="1600"/>
          </a:p>
        </p:txBody>
      </p:sp>
      <p:sp>
        <p:nvSpPr>
          <p:cNvPr id="923" name="Google Shape;923;p47"/>
          <p:cNvSpPr txBox="1"/>
          <p:nvPr/>
        </p:nvSpPr>
        <p:spPr>
          <a:xfrm>
            <a:off x="9191775" y="5669280"/>
            <a:ext cx="213580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5%</a:t>
            </a:r>
            <a:endParaRPr sz="1600"/>
          </a:p>
        </p:txBody>
      </p:sp>
      <p:sp>
        <p:nvSpPr>
          <p:cNvPr id="2" name="Footer Placeholder 1">
            <a:extLst>
              <a:ext uri="{FF2B5EF4-FFF2-40B4-BE49-F238E27FC236}">
                <a16:creationId xmlns:a16="http://schemas.microsoft.com/office/drawing/2014/main" id="{A721BAFC-74EF-AD45-7168-9AAFD1618C24}"/>
              </a:ext>
            </a:extLst>
          </p:cNvPr>
          <p:cNvSpPr>
            <a:spLocks noGrp="1"/>
          </p:cNvSpPr>
          <p:nvPr>
            <p:ph type="ftr" idx="11"/>
          </p:nvPr>
        </p:nvSpPr>
        <p:spPr>
          <a:xfrm>
            <a:off x="658368" y="6364912"/>
            <a:ext cx="4839929"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C6329032-3BAB-20CD-FE55-6E18B2C04F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4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GIÁ TRỊ GIA TĂNG</a:t>
            </a:r>
            <a:endParaRPr/>
          </a:p>
        </p:txBody>
      </p:sp>
      <p:sp>
        <p:nvSpPr>
          <p:cNvPr id="929" name="Google Shape;929;p4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PROCUREMENT MANAGEMENT</a:t>
            </a:r>
            <a:endParaRPr/>
          </a:p>
        </p:txBody>
      </p:sp>
      <p:sp>
        <p:nvSpPr>
          <p:cNvPr id="930" name="Google Shape;930;p4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1" name="Google Shape;931;p4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6D8CD957-3D97-5695-EAC9-EAC4D1971C35}"/>
              </a:ext>
            </a:extLst>
          </p:cNvPr>
          <p:cNvSpPr>
            <a:spLocks noGrp="1"/>
          </p:cNvSpPr>
          <p:nvPr>
            <p:ph type="ftr" idx="11"/>
          </p:nvPr>
        </p:nvSpPr>
        <p:spPr>
          <a:xfrm>
            <a:off x="658368" y="6286817"/>
            <a:ext cx="488909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4B93913D-ACE8-20D6-B8F7-DC6A88265E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graphicFrame>
        <p:nvGraphicFramePr>
          <p:cNvPr id="4" name="Table 3">
            <a:extLst>
              <a:ext uri="{FF2B5EF4-FFF2-40B4-BE49-F238E27FC236}">
                <a16:creationId xmlns:a16="http://schemas.microsoft.com/office/drawing/2014/main" id="{98BE91C8-79ED-B345-8AA6-423657F6085D}"/>
              </a:ext>
            </a:extLst>
          </p:cNvPr>
          <p:cNvGraphicFramePr>
            <a:graphicFrameLocks noGrp="1"/>
          </p:cNvGraphicFramePr>
          <p:nvPr>
            <p:extLst>
              <p:ext uri="{D42A27DB-BD31-4B8C-83A1-F6EECF244321}">
                <p14:modId xmlns:p14="http://schemas.microsoft.com/office/powerpoint/2010/main" val="28106236"/>
              </p:ext>
            </p:extLst>
          </p:nvPr>
        </p:nvGraphicFramePr>
        <p:xfrm>
          <a:off x="658368" y="1391997"/>
          <a:ext cx="10343928" cy="5309668"/>
        </p:xfrm>
        <a:graphic>
          <a:graphicData uri="http://schemas.openxmlformats.org/drawingml/2006/table">
            <a:tbl>
              <a:tblPr firstRow="1" firstCol="1" bandRow="1">
                <a:tableStyleId>{65267F91-CA84-436A-A840-DCCC5366F6D9}</a:tableStyleId>
              </a:tblPr>
              <a:tblGrid>
                <a:gridCol w="775383">
                  <a:extLst>
                    <a:ext uri="{9D8B030D-6E8A-4147-A177-3AD203B41FA5}">
                      <a16:colId xmlns:a16="http://schemas.microsoft.com/office/drawing/2014/main" val="2042279896"/>
                    </a:ext>
                  </a:extLst>
                </a:gridCol>
                <a:gridCol w="5497991">
                  <a:extLst>
                    <a:ext uri="{9D8B030D-6E8A-4147-A177-3AD203B41FA5}">
                      <a16:colId xmlns:a16="http://schemas.microsoft.com/office/drawing/2014/main" val="3693662111"/>
                    </a:ext>
                  </a:extLst>
                </a:gridCol>
                <a:gridCol w="2296369">
                  <a:extLst>
                    <a:ext uri="{9D8B030D-6E8A-4147-A177-3AD203B41FA5}">
                      <a16:colId xmlns:a16="http://schemas.microsoft.com/office/drawing/2014/main" val="1651359346"/>
                    </a:ext>
                  </a:extLst>
                </a:gridCol>
                <a:gridCol w="1774185">
                  <a:extLst>
                    <a:ext uri="{9D8B030D-6E8A-4147-A177-3AD203B41FA5}">
                      <a16:colId xmlns:a16="http://schemas.microsoft.com/office/drawing/2014/main" val="2280125021"/>
                    </a:ext>
                  </a:extLst>
                </a:gridCol>
              </a:tblGrid>
              <a:tr h="290933">
                <a:tc>
                  <a:txBody>
                    <a:bodyPr/>
                    <a:lstStyle/>
                    <a:p>
                      <a:pPr marL="0" marR="0" algn="ctr">
                        <a:lnSpc>
                          <a:spcPct val="115000"/>
                        </a:lnSpc>
                        <a:spcAft>
                          <a:spcPts val="800"/>
                        </a:spcAft>
                        <a:buNone/>
                      </a:pPr>
                      <a:r>
                        <a:rPr lang="en-US" sz="1600">
                          <a:effectLst/>
                        </a:rPr>
                        <a:t>STT</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Hoạt động</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Đối tượng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600">
                          <a:effectLst/>
                        </a:rPr>
                        <a:t>Phân loại</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4174638075"/>
                  </a:ext>
                </a:extLst>
              </a:tr>
              <a:tr h="140717">
                <a:tc>
                  <a:txBody>
                    <a:bodyPr/>
                    <a:lstStyle/>
                    <a:p>
                      <a:pPr marL="0" marR="0" algn="ctr">
                        <a:lnSpc>
                          <a:spcPct val="115000"/>
                        </a:lnSpc>
                        <a:spcAft>
                          <a:spcPts val="800"/>
                        </a:spcAft>
                        <a:buNone/>
                      </a:pPr>
                      <a:r>
                        <a:rPr lang="en-US" sz="1300">
                          <a:effectLst/>
                        </a:rPr>
                        <a:t>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Tạo Purchase Requisition (PR)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Requester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398998972"/>
                  </a:ext>
                </a:extLst>
              </a:tr>
              <a:tr h="140717">
                <a:tc>
                  <a:txBody>
                    <a:bodyPr/>
                    <a:lstStyle/>
                    <a:p>
                      <a:pPr marL="0" marR="0" algn="ctr">
                        <a:lnSpc>
                          <a:spcPct val="115000"/>
                        </a:lnSpc>
                        <a:spcAft>
                          <a:spcPts val="800"/>
                        </a:spcAft>
                        <a:buNone/>
                      </a:pPr>
                      <a:r>
                        <a:rPr lang="en-US" sz="1300">
                          <a:effectLst/>
                        </a:rPr>
                        <a:t>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Bổ sung thông tin mua hàng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Requester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298120020"/>
                  </a:ext>
                </a:extLst>
              </a:tr>
              <a:tr h="214206">
                <a:tc>
                  <a:txBody>
                    <a:bodyPr/>
                    <a:lstStyle/>
                    <a:p>
                      <a:pPr marL="0" marR="0" algn="ctr">
                        <a:lnSpc>
                          <a:spcPct val="115000"/>
                        </a:lnSpc>
                        <a:spcAft>
                          <a:spcPts val="800"/>
                        </a:spcAft>
                        <a:buNone/>
                      </a:pPr>
                      <a:r>
                        <a:rPr lang="en-US" sz="1300">
                          <a:effectLst/>
                        </a:rPr>
                        <a:t>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Xem xét và phê duyệt PR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Approver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914103620"/>
                  </a:ext>
                </a:extLst>
              </a:tr>
              <a:tr h="290933">
                <a:tc>
                  <a:txBody>
                    <a:bodyPr/>
                    <a:lstStyle/>
                    <a:p>
                      <a:pPr marL="0" marR="0" algn="ctr">
                        <a:lnSpc>
                          <a:spcPct val="115000"/>
                        </a:lnSpc>
                        <a:spcAft>
                          <a:spcPts val="800"/>
                        </a:spcAft>
                        <a:buNone/>
                      </a:pPr>
                      <a:r>
                        <a:rPr lang="en-US" sz="1300">
                          <a:effectLst/>
                        </a:rPr>
                        <a:t>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Yêu cầu bổ sung/chỉnh sửa yêu cầu mua hàng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Approver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342897616"/>
                  </a:ext>
                </a:extLst>
              </a:tr>
              <a:tr h="264463">
                <a:tc>
                  <a:txBody>
                    <a:bodyPr/>
                    <a:lstStyle/>
                    <a:p>
                      <a:pPr marL="0" marR="0" algn="ctr">
                        <a:lnSpc>
                          <a:spcPct val="115000"/>
                        </a:lnSpc>
                        <a:spcAft>
                          <a:spcPts val="800"/>
                        </a:spcAft>
                        <a:buNone/>
                      </a:pPr>
                      <a:r>
                        <a:rPr lang="en-US" sz="1300">
                          <a:effectLst/>
                        </a:rPr>
                        <a:t>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nguồn cung phù hợp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3838810388"/>
                  </a:ext>
                </a:extLst>
              </a:tr>
              <a:tr h="264463">
                <a:tc>
                  <a:txBody>
                    <a:bodyPr/>
                    <a:lstStyle/>
                    <a:p>
                      <a:pPr marL="0" marR="0" algn="ctr">
                        <a:lnSpc>
                          <a:spcPct val="115000"/>
                        </a:lnSpc>
                        <a:spcAft>
                          <a:spcPts val="800"/>
                        </a:spcAft>
                        <a:buNone/>
                      </a:pPr>
                      <a:r>
                        <a:rPr lang="en-US" sz="1300">
                          <a:effectLst/>
                        </a:rPr>
                        <a:t>6</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Tìm Supplier mới và chốt Quotation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858125881"/>
                  </a:ext>
                </a:extLst>
              </a:tr>
              <a:tr h="264463">
                <a:tc>
                  <a:txBody>
                    <a:bodyPr/>
                    <a:lstStyle/>
                    <a:p>
                      <a:pPr marL="0" marR="0" algn="ctr">
                        <a:lnSpc>
                          <a:spcPct val="115000"/>
                        </a:lnSpc>
                        <a:spcAft>
                          <a:spcPts val="800"/>
                        </a:spcAft>
                        <a:buNone/>
                      </a:pPr>
                      <a:r>
                        <a:rPr lang="en-US" sz="1300">
                          <a:effectLst/>
                        </a:rPr>
                        <a:t>7</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Phát hành PO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758889358"/>
                  </a:ext>
                </a:extLst>
              </a:tr>
              <a:tr h="264463">
                <a:tc>
                  <a:txBody>
                    <a:bodyPr/>
                    <a:lstStyle/>
                    <a:p>
                      <a:pPr marL="0" marR="0" algn="ctr">
                        <a:lnSpc>
                          <a:spcPct val="115000"/>
                        </a:lnSpc>
                        <a:spcAft>
                          <a:spcPts val="800"/>
                        </a:spcAft>
                        <a:buNone/>
                      </a:pPr>
                      <a:r>
                        <a:rPr lang="en-US" sz="1300">
                          <a:effectLst/>
                        </a:rPr>
                        <a:t>8</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Theo dõi quá trình cung ứng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Procurement Specialist</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124962328"/>
                  </a:ext>
                </a:extLst>
              </a:tr>
              <a:tr h="290933">
                <a:tc>
                  <a:txBody>
                    <a:bodyPr/>
                    <a:lstStyle/>
                    <a:p>
                      <a:pPr marL="0" marR="0" algn="ctr">
                        <a:lnSpc>
                          <a:spcPct val="115000"/>
                        </a:lnSpc>
                        <a:spcAft>
                          <a:spcPts val="800"/>
                        </a:spcAft>
                        <a:buNone/>
                      </a:pPr>
                      <a:r>
                        <a:rPr lang="en-US" sz="1300">
                          <a:effectLst/>
                        </a:rPr>
                        <a:t>9</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Tiếp nhận hàng hóa và kiểm tra chất lượng, số lượng</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716015101"/>
                  </a:ext>
                </a:extLst>
              </a:tr>
              <a:tr h="290933">
                <a:tc>
                  <a:txBody>
                    <a:bodyPr/>
                    <a:lstStyle/>
                    <a:p>
                      <a:pPr marL="0" marR="0" algn="ctr">
                        <a:lnSpc>
                          <a:spcPct val="115000"/>
                        </a:lnSpc>
                        <a:spcAft>
                          <a:spcPts val="800"/>
                        </a:spcAft>
                        <a:buNone/>
                      </a:pPr>
                      <a:r>
                        <a:rPr lang="en-US" sz="1300">
                          <a:effectLst/>
                        </a:rPr>
                        <a:t>10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so với PO và chốt số lượng thực nhận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727913958"/>
                  </a:ext>
                </a:extLst>
              </a:tr>
              <a:tr h="290933">
                <a:tc>
                  <a:txBody>
                    <a:bodyPr/>
                    <a:lstStyle/>
                    <a:p>
                      <a:pPr marL="0" marR="0" algn="ctr">
                        <a:lnSpc>
                          <a:spcPct val="115000"/>
                        </a:lnSpc>
                        <a:spcAft>
                          <a:spcPts val="800"/>
                        </a:spcAft>
                        <a:buNone/>
                      </a:pPr>
                      <a:r>
                        <a:rPr lang="en-US" sz="1300">
                          <a:effectLst/>
                        </a:rPr>
                        <a:t>11</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Ghi nhận sai lệch và yêu cầu điều chỉnh hàng hóa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179854039"/>
                  </a:ext>
                </a:extLst>
              </a:tr>
              <a:tr h="140717">
                <a:tc>
                  <a:txBody>
                    <a:bodyPr/>
                    <a:lstStyle/>
                    <a:p>
                      <a:pPr marL="0" marR="0" algn="ctr">
                        <a:lnSpc>
                          <a:spcPct val="115000"/>
                        </a:lnSpc>
                        <a:spcAft>
                          <a:spcPts val="800"/>
                        </a:spcAft>
                        <a:buNone/>
                      </a:pPr>
                      <a:r>
                        <a:rPr lang="en-US" sz="1300">
                          <a:effectLst/>
                        </a:rPr>
                        <a:t>12</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Ghi nhận Goods Receipt (GR) và lưu kho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Warehouse</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692034515"/>
                  </a:ext>
                </a:extLst>
              </a:tr>
              <a:tr h="140717">
                <a:tc>
                  <a:txBody>
                    <a:bodyPr/>
                    <a:lstStyle/>
                    <a:p>
                      <a:pPr marL="0" marR="0" algn="ctr">
                        <a:lnSpc>
                          <a:spcPct val="115000"/>
                        </a:lnSpc>
                        <a:spcAft>
                          <a:spcPts val="800"/>
                        </a:spcAft>
                        <a:buNone/>
                      </a:pPr>
                      <a:r>
                        <a:rPr lang="en-US" sz="1300">
                          <a:effectLst/>
                        </a:rPr>
                        <a:t>13</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Đối chiếu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667250138"/>
                  </a:ext>
                </a:extLst>
              </a:tr>
              <a:tr h="140717">
                <a:tc>
                  <a:txBody>
                    <a:bodyPr/>
                    <a:lstStyle/>
                    <a:p>
                      <a:pPr marL="0" marR="0" algn="ctr">
                        <a:lnSpc>
                          <a:spcPct val="115000"/>
                        </a:lnSpc>
                        <a:spcAft>
                          <a:spcPts val="800"/>
                        </a:spcAft>
                        <a:buNone/>
                      </a:pPr>
                      <a:r>
                        <a:rPr lang="en-US" sz="1300">
                          <a:effectLst/>
                        </a:rPr>
                        <a:t>14</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Yêu cầu NCC chỉnh sửa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197247292"/>
                  </a:ext>
                </a:extLst>
              </a:tr>
              <a:tr h="290933">
                <a:tc>
                  <a:txBody>
                    <a:bodyPr/>
                    <a:lstStyle/>
                    <a:p>
                      <a:pPr marL="0" marR="0" algn="ctr">
                        <a:lnSpc>
                          <a:spcPct val="115000"/>
                        </a:lnSpc>
                        <a:spcAft>
                          <a:spcPts val="800"/>
                        </a:spcAft>
                        <a:buNone/>
                      </a:pPr>
                      <a:r>
                        <a:rPr lang="en-US" sz="1300">
                          <a:effectLst/>
                        </a:rPr>
                        <a:t>15</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Thanh toán và thông báo cho nhà cung cấp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34482036"/>
                  </a:ext>
                </a:extLst>
              </a:tr>
              <a:tr h="140717">
                <a:tc>
                  <a:txBody>
                    <a:bodyPr/>
                    <a:lstStyle/>
                    <a:p>
                      <a:pPr marL="0" marR="0" algn="ctr">
                        <a:lnSpc>
                          <a:spcPct val="115000"/>
                        </a:lnSpc>
                        <a:spcAft>
                          <a:spcPts val="800"/>
                        </a:spcAft>
                        <a:buNone/>
                      </a:pPr>
                      <a:r>
                        <a:rPr lang="en-US" sz="1300">
                          <a:effectLst/>
                        </a:rPr>
                        <a:t>16</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Lưu trữ hồ sơ giao dịch</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Finance / AP</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BVA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3965996155"/>
                  </a:ext>
                </a:extLst>
              </a:tr>
              <a:tr h="140717">
                <a:tc>
                  <a:txBody>
                    <a:bodyPr/>
                    <a:lstStyle/>
                    <a:p>
                      <a:pPr marL="0" marR="0" algn="ctr">
                        <a:lnSpc>
                          <a:spcPct val="115000"/>
                        </a:lnSpc>
                        <a:spcAft>
                          <a:spcPts val="800"/>
                        </a:spcAft>
                        <a:buNone/>
                      </a:pPr>
                      <a:r>
                        <a:rPr lang="en-US" sz="1300">
                          <a:effectLst/>
                        </a:rPr>
                        <a:t>17</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Kiểm tra &amp; điều chỉnh hàng hóa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397371829"/>
                  </a:ext>
                </a:extLst>
              </a:tr>
              <a:tr h="140717">
                <a:tc>
                  <a:txBody>
                    <a:bodyPr/>
                    <a:lstStyle/>
                    <a:p>
                      <a:pPr marL="0" marR="0" algn="ctr">
                        <a:lnSpc>
                          <a:spcPct val="115000"/>
                        </a:lnSpc>
                        <a:spcAft>
                          <a:spcPts val="800"/>
                        </a:spcAft>
                        <a:buNone/>
                      </a:pPr>
                      <a:r>
                        <a:rPr lang="en-US" sz="1300">
                          <a:effectLst/>
                        </a:rPr>
                        <a:t>18</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Cung cấp hàng hóa theo PO</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949652551"/>
                  </a:ext>
                </a:extLst>
              </a:tr>
              <a:tr h="140717">
                <a:tc>
                  <a:txBody>
                    <a:bodyPr/>
                    <a:lstStyle/>
                    <a:p>
                      <a:pPr marL="0" marR="0" algn="ctr">
                        <a:lnSpc>
                          <a:spcPct val="115000"/>
                        </a:lnSpc>
                        <a:spcAft>
                          <a:spcPts val="800"/>
                        </a:spcAft>
                        <a:buNone/>
                      </a:pPr>
                      <a:r>
                        <a:rPr lang="en-US" sz="1300">
                          <a:effectLst/>
                        </a:rPr>
                        <a:t>19</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Chỉnh sửa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NVA</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178156474"/>
                  </a:ext>
                </a:extLst>
              </a:tr>
              <a:tr h="140717">
                <a:tc>
                  <a:txBody>
                    <a:bodyPr/>
                    <a:lstStyle/>
                    <a:p>
                      <a:pPr marL="0" marR="0" algn="ctr">
                        <a:lnSpc>
                          <a:spcPct val="115000"/>
                        </a:lnSpc>
                        <a:spcAft>
                          <a:spcPts val="800"/>
                        </a:spcAft>
                        <a:buNone/>
                      </a:pPr>
                      <a:r>
                        <a:rPr lang="en-US" sz="1300">
                          <a:effectLst/>
                        </a:rPr>
                        <a:t>20</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nSpc>
                          <a:spcPct val="115000"/>
                        </a:lnSpc>
                        <a:spcAft>
                          <a:spcPts val="800"/>
                        </a:spcAft>
                        <a:buNone/>
                      </a:pPr>
                      <a:r>
                        <a:rPr lang="en-US" sz="1300">
                          <a:effectLst/>
                        </a:rPr>
                        <a:t>Phát hành hóa đơn</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a:effectLst/>
                        </a:rPr>
                        <a:t>Supplier</a:t>
                      </a:r>
                      <a:endParaRPr lang="en-US" sz="130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tc>
                  <a:txBody>
                    <a:bodyPr/>
                    <a:lstStyle/>
                    <a:p>
                      <a:pPr marL="0" marR="0" algn="ctr">
                        <a:lnSpc>
                          <a:spcPct val="115000"/>
                        </a:lnSpc>
                        <a:spcAft>
                          <a:spcPts val="800"/>
                        </a:spcAft>
                        <a:buNone/>
                      </a:pPr>
                      <a:r>
                        <a:rPr lang="en-US" sz="1300" dirty="0">
                          <a:effectLst/>
                        </a:rPr>
                        <a:t>BVA</a:t>
                      </a: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53437" marR="53437" marT="0" marB="0"/>
                </a:tc>
                <a:extLst>
                  <a:ext uri="{0D108BD9-81ED-4DB2-BD59-A6C34878D82A}">
                    <a16:rowId xmlns:a16="http://schemas.microsoft.com/office/drawing/2014/main" val="222042338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7">
          <a:extLst>
            <a:ext uri="{FF2B5EF4-FFF2-40B4-BE49-F238E27FC236}">
              <a16:creationId xmlns:a16="http://schemas.microsoft.com/office/drawing/2014/main" id="{07BFB6D6-93ED-705F-BF25-8C17250D4FAB}"/>
            </a:ext>
          </a:extLst>
        </p:cNvPr>
        <p:cNvGrpSpPr/>
        <p:nvPr/>
      </p:nvGrpSpPr>
      <p:grpSpPr>
        <a:xfrm>
          <a:off x="0" y="0"/>
          <a:ext cx="0" cy="0"/>
          <a:chOff x="0" y="0"/>
          <a:chExt cx="0" cy="0"/>
        </a:xfrm>
      </p:grpSpPr>
      <p:sp>
        <p:nvSpPr>
          <p:cNvPr id="928" name="Google Shape;928;p48">
            <a:extLst>
              <a:ext uri="{FF2B5EF4-FFF2-40B4-BE49-F238E27FC236}">
                <a16:creationId xmlns:a16="http://schemas.microsoft.com/office/drawing/2014/main" id="{D6C37EEE-D17D-C6BF-03A5-C77E19889EB5}"/>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GIÁ TRỊ GIA TĂNG</a:t>
            </a:r>
            <a:endParaRPr/>
          </a:p>
        </p:txBody>
      </p:sp>
      <p:sp>
        <p:nvSpPr>
          <p:cNvPr id="929" name="Google Shape;929;p48">
            <a:extLst>
              <a:ext uri="{FF2B5EF4-FFF2-40B4-BE49-F238E27FC236}">
                <a16:creationId xmlns:a16="http://schemas.microsoft.com/office/drawing/2014/main" id="{52F3DCC2-05D3-5F26-183B-4FAFB0351E54}"/>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PHÂN LOẠI VA – BVA – NVA CỦA PROCUREMENT MANAGEMENT</a:t>
            </a:r>
            <a:endParaRPr/>
          </a:p>
        </p:txBody>
      </p:sp>
      <p:sp>
        <p:nvSpPr>
          <p:cNvPr id="930" name="Google Shape;930;p48">
            <a:extLst>
              <a:ext uri="{FF2B5EF4-FFF2-40B4-BE49-F238E27FC236}">
                <a16:creationId xmlns:a16="http://schemas.microsoft.com/office/drawing/2014/main" id="{FE238FCD-2A88-78FC-40CF-AC0642EE00AC}"/>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1" name="Google Shape;931;p48">
            <a:extLst>
              <a:ext uri="{FF2B5EF4-FFF2-40B4-BE49-F238E27FC236}">
                <a16:creationId xmlns:a16="http://schemas.microsoft.com/office/drawing/2014/main" id="{4A85B000-5ED6-B4E7-8955-9F5B8DB690C9}"/>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2" name="Google Shape;932;p48">
            <a:extLst>
              <a:ext uri="{FF2B5EF4-FFF2-40B4-BE49-F238E27FC236}">
                <a16:creationId xmlns:a16="http://schemas.microsoft.com/office/drawing/2014/main" id="{EFF7F6A1-517F-1E01-8B50-701CD22E0268}"/>
              </a:ext>
            </a:extLst>
          </p:cNvPr>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4.8 — 20 hoạt động chính của 06 đối tượng tham gia</a:t>
            </a:r>
            <a:endParaRPr/>
          </a:p>
        </p:txBody>
      </p:sp>
      <p:sp>
        <p:nvSpPr>
          <p:cNvPr id="935" name="Google Shape;935;p48">
            <a:extLst>
              <a:ext uri="{FF2B5EF4-FFF2-40B4-BE49-F238E27FC236}">
                <a16:creationId xmlns:a16="http://schemas.microsoft.com/office/drawing/2014/main" id="{7067AC22-7B94-09DF-7ED4-BA503C3C3D03}"/>
              </a:ext>
            </a:extLst>
          </p:cNvPr>
          <p:cNvSpPr/>
          <p:nvPr/>
        </p:nvSpPr>
        <p:spPr>
          <a:xfrm>
            <a:off x="658368"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6" name="Google Shape;936;p48">
            <a:extLst>
              <a:ext uri="{FF2B5EF4-FFF2-40B4-BE49-F238E27FC236}">
                <a16:creationId xmlns:a16="http://schemas.microsoft.com/office/drawing/2014/main" id="{3E67499A-AE9C-9974-6DE4-30635CE2C6FE}"/>
              </a:ext>
            </a:extLst>
          </p:cNvPr>
          <p:cNvSpPr/>
          <p:nvPr/>
        </p:nvSpPr>
        <p:spPr>
          <a:xfrm>
            <a:off x="658368" y="1737360"/>
            <a:ext cx="3472586"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7" name="Google Shape;937;p48">
            <a:extLst>
              <a:ext uri="{FF2B5EF4-FFF2-40B4-BE49-F238E27FC236}">
                <a16:creationId xmlns:a16="http://schemas.microsoft.com/office/drawing/2014/main" id="{7C6702D9-CBFD-8A0C-8141-61105D622E95}"/>
              </a:ext>
            </a:extLst>
          </p:cNvPr>
          <p:cNvSpPr txBox="1"/>
          <p:nvPr/>
        </p:nvSpPr>
        <p:spPr>
          <a:xfrm>
            <a:off x="886968"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C2A8"/>
                </a:solidFill>
                <a:latin typeface="Calibri"/>
                <a:ea typeface="Calibri"/>
                <a:cs typeface="Calibri"/>
                <a:sym typeface="Calibri"/>
              </a:rPr>
              <a:t>02</a:t>
            </a:r>
            <a:endParaRPr/>
          </a:p>
        </p:txBody>
      </p:sp>
      <p:sp>
        <p:nvSpPr>
          <p:cNvPr id="938" name="Google Shape;938;p48">
            <a:extLst>
              <a:ext uri="{FF2B5EF4-FFF2-40B4-BE49-F238E27FC236}">
                <a16:creationId xmlns:a16="http://schemas.microsoft.com/office/drawing/2014/main" id="{B978DAF3-E8CF-66D0-0919-1642947D711B}"/>
              </a:ext>
            </a:extLst>
          </p:cNvPr>
          <p:cNvSpPr txBox="1"/>
          <p:nvPr/>
        </p:nvSpPr>
        <p:spPr>
          <a:xfrm>
            <a:off x="886968"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VA</a:t>
            </a:r>
            <a:endParaRPr/>
          </a:p>
        </p:txBody>
      </p:sp>
      <p:sp>
        <p:nvSpPr>
          <p:cNvPr id="939" name="Google Shape;939;p48">
            <a:extLst>
              <a:ext uri="{FF2B5EF4-FFF2-40B4-BE49-F238E27FC236}">
                <a16:creationId xmlns:a16="http://schemas.microsoft.com/office/drawing/2014/main" id="{17C2A104-9C25-AB6A-C808-3BCDB2AED893}"/>
              </a:ext>
            </a:extLst>
          </p:cNvPr>
          <p:cNvSpPr txBox="1"/>
          <p:nvPr/>
        </p:nvSpPr>
        <p:spPr>
          <a:xfrm>
            <a:off x="886968"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Chỉ 02 hoạt động trực tiếp tạo giá trị: Supplier cung cấp hàng theo PO và Warehouse tiếp nhận, kiểm tra hàng.</a:t>
            </a:r>
            <a:endParaRPr/>
          </a:p>
        </p:txBody>
      </p:sp>
      <p:sp>
        <p:nvSpPr>
          <p:cNvPr id="940" name="Google Shape;940;p48">
            <a:extLst>
              <a:ext uri="{FF2B5EF4-FFF2-40B4-BE49-F238E27FC236}">
                <a16:creationId xmlns:a16="http://schemas.microsoft.com/office/drawing/2014/main" id="{A877948B-6736-15C6-3A1F-6DFB9B865531}"/>
              </a:ext>
            </a:extLst>
          </p:cNvPr>
          <p:cNvSpPr/>
          <p:nvPr/>
        </p:nvSpPr>
        <p:spPr>
          <a:xfrm>
            <a:off x="4359554"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1" name="Google Shape;941;p48">
            <a:extLst>
              <a:ext uri="{FF2B5EF4-FFF2-40B4-BE49-F238E27FC236}">
                <a16:creationId xmlns:a16="http://schemas.microsoft.com/office/drawing/2014/main" id="{ED575176-EF63-AD32-009A-EA68970B7192}"/>
              </a:ext>
            </a:extLst>
          </p:cNvPr>
          <p:cNvSpPr/>
          <p:nvPr/>
        </p:nvSpPr>
        <p:spPr>
          <a:xfrm>
            <a:off x="4359554" y="1737360"/>
            <a:ext cx="3472586"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2" name="Google Shape;942;p48">
            <a:extLst>
              <a:ext uri="{FF2B5EF4-FFF2-40B4-BE49-F238E27FC236}">
                <a16:creationId xmlns:a16="http://schemas.microsoft.com/office/drawing/2014/main" id="{F454F0E8-8F9E-E08A-058C-D30E96E1629B}"/>
              </a:ext>
            </a:extLst>
          </p:cNvPr>
          <p:cNvSpPr txBox="1"/>
          <p:nvPr/>
        </p:nvSpPr>
        <p:spPr>
          <a:xfrm>
            <a:off x="4588154"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0096D6"/>
                </a:solidFill>
                <a:latin typeface="Calibri"/>
                <a:ea typeface="Calibri"/>
                <a:cs typeface="Calibri"/>
                <a:sym typeface="Calibri"/>
              </a:rPr>
              <a:t>12</a:t>
            </a:r>
            <a:endParaRPr/>
          </a:p>
        </p:txBody>
      </p:sp>
      <p:sp>
        <p:nvSpPr>
          <p:cNvPr id="943" name="Google Shape;943;p48">
            <a:extLst>
              <a:ext uri="{FF2B5EF4-FFF2-40B4-BE49-F238E27FC236}">
                <a16:creationId xmlns:a16="http://schemas.microsoft.com/office/drawing/2014/main" id="{B7EE9EC6-FBEF-7054-40C0-0A45637102B7}"/>
              </a:ext>
            </a:extLst>
          </p:cNvPr>
          <p:cNvSpPr txBox="1"/>
          <p:nvPr/>
        </p:nvSpPr>
        <p:spPr>
          <a:xfrm>
            <a:off x="4588154"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BVA</a:t>
            </a:r>
            <a:endParaRPr/>
          </a:p>
        </p:txBody>
      </p:sp>
      <p:sp>
        <p:nvSpPr>
          <p:cNvPr id="944" name="Google Shape;944;p48">
            <a:extLst>
              <a:ext uri="{FF2B5EF4-FFF2-40B4-BE49-F238E27FC236}">
                <a16:creationId xmlns:a16="http://schemas.microsoft.com/office/drawing/2014/main" id="{76666B57-BBFA-5FB2-D440-5E89A1A5CCD8}"/>
              </a:ext>
            </a:extLst>
          </p:cNvPr>
          <p:cNvSpPr txBox="1"/>
          <p:nvPr/>
        </p:nvSpPr>
        <p:spPr>
          <a:xfrm>
            <a:off x="4588154"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Phê duyệt, kiểm soát nguồn cung, quản lý PO, đối chiếu, ghi nhận GR, kiểm tra hóa đơn và thanh toán.</a:t>
            </a:r>
            <a:endParaRPr/>
          </a:p>
        </p:txBody>
      </p:sp>
      <p:sp>
        <p:nvSpPr>
          <p:cNvPr id="945" name="Google Shape;945;p48">
            <a:extLst>
              <a:ext uri="{FF2B5EF4-FFF2-40B4-BE49-F238E27FC236}">
                <a16:creationId xmlns:a16="http://schemas.microsoft.com/office/drawing/2014/main" id="{9D3FB814-EA5D-B2AD-DAD7-34605CE11DC6}"/>
              </a:ext>
            </a:extLst>
          </p:cNvPr>
          <p:cNvSpPr/>
          <p:nvPr/>
        </p:nvSpPr>
        <p:spPr>
          <a:xfrm>
            <a:off x="8060740" y="1737360"/>
            <a:ext cx="3472586" cy="15544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6" name="Google Shape;946;p48">
            <a:extLst>
              <a:ext uri="{FF2B5EF4-FFF2-40B4-BE49-F238E27FC236}">
                <a16:creationId xmlns:a16="http://schemas.microsoft.com/office/drawing/2014/main" id="{25728D74-2AA1-05FF-F61A-7A7930F83CD7}"/>
              </a:ext>
            </a:extLst>
          </p:cNvPr>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7" name="Google Shape;947;p48">
            <a:extLst>
              <a:ext uri="{FF2B5EF4-FFF2-40B4-BE49-F238E27FC236}">
                <a16:creationId xmlns:a16="http://schemas.microsoft.com/office/drawing/2014/main" id="{57093FA2-6482-F3AA-4776-BFB75533942B}"/>
              </a:ext>
            </a:extLst>
          </p:cNvPr>
          <p:cNvSpPr txBox="1"/>
          <p:nvPr/>
        </p:nvSpPr>
        <p:spPr>
          <a:xfrm>
            <a:off x="8289340" y="1874520"/>
            <a:ext cx="3015386"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06</a:t>
            </a:r>
            <a:endParaRPr/>
          </a:p>
        </p:txBody>
      </p:sp>
      <p:sp>
        <p:nvSpPr>
          <p:cNvPr id="948" name="Google Shape;948;p48">
            <a:extLst>
              <a:ext uri="{FF2B5EF4-FFF2-40B4-BE49-F238E27FC236}">
                <a16:creationId xmlns:a16="http://schemas.microsoft.com/office/drawing/2014/main" id="{144DADF9-DD68-D35A-4638-67AB9C6CD453}"/>
              </a:ext>
            </a:extLst>
          </p:cNvPr>
          <p:cNvSpPr txBox="1"/>
          <p:nvPr/>
        </p:nvSpPr>
        <p:spPr>
          <a:xfrm>
            <a:off x="8289340" y="2263140"/>
            <a:ext cx="3015386"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HOẠT ĐỘNG NVA</a:t>
            </a:r>
            <a:endParaRPr/>
          </a:p>
        </p:txBody>
      </p:sp>
      <p:sp>
        <p:nvSpPr>
          <p:cNvPr id="949" name="Google Shape;949;p48">
            <a:extLst>
              <a:ext uri="{FF2B5EF4-FFF2-40B4-BE49-F238E27FC236}">
                <a16:creationId xmlns:a16="http://schemas.microsoft.com/office/drawing/2014/main" id="{6A91BBC3-72B6-2371-6DFC-6ED764101B9E}"/>
              </a:ext>
            </a:extLst>
          </p:cNvPr>
          <p:cNvSpPr txBox="1"/>
          <p:nvPr/>
        </p:nvSpPr>
        <p:spPr>
          <a:xfrm>
            <a:off x="8289340" y="2491740"/>
            <a:ext cx="3015386" cy="7086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Tỷ trọng NVA cao gấp ba lần VA — toàn bộ đến từ các vòng bổ sung, điều chỉnh PR, hàng hóa và hóa đơn.</a:t>
            </a:r>
            <a:endParaRPr/>
          </a:p>
        </p:txBody>
      </p:sp>
      <p:sp>
        <p:nvSpPr>
          <p:cNvPr id="950" name="Google Shape;950;p48">
            <a:extLst>
              <a:ext uri="{FF2B5EF4-FFF2-40B4-BE49-F238E27FC236}">
                <a16:creationId xmlns:a16="http://schemas.microsoft.com/office/drawing/2014/main" id="{504EBDD2-8C23-B690-13CA-64BE0CFBE766}"/>
              </a:ext>
            </a:extLst>
          </p:cNvPr>
          <p:cNvSpPr txBox="1"/>
          <p:nvPr/>
        </p:nvSpPr>
        <p:spPr>
          <a:xfrm>
            <a:off x="6583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02 HOẠT ĐỘNG VA</a:t>
            </a:r>
            <a:endParaRPr/>
          </a:p>
        </p:txBody>
      </p:sp>
      <p:sp>
        <p:nvSpPr>
          <p:cNvPr id="951" name="Google Shape;951;p48">
            <a:extLst>
              <a:ext uri="{FF2B5EF4-FFF2-40B4-BE49-F238E27FC236}">
                <a16:creationId xmlns:a16="http://schemas.microsoft.com/office/drawing/2014/main" id="{F53DF294-AF6C-8D3F-BF15-CBC903901146}"/>
              </a:ext>
            </a:extLst>
          </p:cNvPr>
          <p:cNvSpPr txBox="1"/>
          <p:nvPr/>
        </p:nvSpPr>
        <p:spPr>
          <a:xfrm>
            <a:off x="658368" y="3776980"/>
            <a:ext cx="5323459" cy="155448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300" b="0" i="0">
                <a:solidFill>
                  <a:srgbClr val="6B7784"/>
                </a:solidFill>
                <a:latin typeface="Calibri"/>
                <a:ea typeface="Calibri"/>
                <a:cs typeface="Calibri"/>
                <a:sym typeface="Calibri"/>
              </a:rPr>
              <a:t>•  Cung cấp hàng hóa theo PO  (Supplier)</a:t>
            </a:r>
            <a:endParaRPr/>
          </a:p>
          <a:p>
            <a:pPr marL="0" marR="0" lvl="0" indent="0" algn="l" rtl="0">
              <a:lnSpc>
                <a:spcPct val="115000"/>
              </a:lnSpc>
              <a:spcBef>
                <a:spcPts val="400"/>
              </a:spcBef>
              <a:spcAft>
                <a:spcPts val="0"/>
              </a:spcAft>
              <a:buNone/>
            </a:pPr>
            <a:r>
              <a:rPr lang="en-US" sz="1300" b="0" i="0">
                <a:solidFill>
                  <a:srgbClr val="6B7784"/>
                </a:solidFill>
                <a:latin typeface="Calibri"/>
                <a:ea typeface="Calibri"/>
                <a:cs typeface="Calibri"/>
                <a:sym typeface="Calibri"/>
              </a:rPr>
              <a:t>•  Tiếp nhận hàng hóa và kiểm tra chất lượng, số lượng  (Warehouse)</a:t>
            </a:r>
            <a:endParaRPr/>
          </a:p>
        </p:txBody>
      </p:sp>
      <p:sp>
        <p:nvSpPr>
          <p:cNvPr id="952" name="Google Shape;952;p48">
            <a:extLst>
              <a:ext uri="{FF2B5EF4-FFF2-40B4-BE49-F238E27FC236}">
                <a16:creationId xmlns:a16="http://schemas.microsoft.com/office/drawing/2014/main" id="{7EFF0D24-0FCD-4283-5C8F-0AAA3DEB364F}"/>
              </a:ext>
            </a:extLst>
          </p:cNvPr>
          <p:cNvSpPr txBox="1"/>
          <p:nvPr/>
        </p:nvSpPr>
        <p:spPr>
          <a:xfrm>
            <a:off x="6209868" y="347472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C0392B"/>
                </a:solidFill>
                <a:latin typeface="Calibri"/>
                <a:ea typeface="Calibri"/>
                <a:cs typeface="Calibri"/>
                <a:sym typeface="Calibri"/>
              </a:rPr>
              <a:t>06 HOẠT ĐỘNG NVA</a:t>
            </a:r>
            <a:endParaRPr/>
          </a:p>
        </p:txBody>
      </p:sp>
      <p:sp>
        <p:nvSpPr>
          <p:cNvPr id="953" name="Google Shape;953;p48">
            <a:extLst>
              <a:ext uri="{FF2B5EF4-FFF2-40B4-BE49-F238E27FC236}">
                <a16:creationId xmlns:a16="http://schemas.microsoft.com/office/drawing/2014/main" id="{32607D8A-EA2C-391A-E0D8-2365A5312DFE}"/>
              </a:ext>
            </a:extLst>
          </p:cNvPr>
          <p:cNvSpPr txBox="1"/>
          <p:nvPr/>
        </p:nvSpPr>
        <p:spPr>
          <a:xfrm>
            <a:off x="6209868" y="3776980"/>
            <a:ext cx="5323459" cy="155448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250" b="0" i="0">
                <a:solidFill>
                  <a:srgbClr val="6B7784"/>
                </a:solidFill>
                <a:latin typeface="Calibri"/>
                <a:ea typeface="Calibri"/>
                <a:cs typeface="Calibri"/>
                <a:sym typeface="Calibri"/>
              </a:rPr>
              <a:t>•  Bổ sung thông tin mua hàng  (Requester)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Yêu cầu bổ sung / chỉnh sửa yêu cầu mua hàng  (Approver)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Ghi nhận sai lệch và yêu cầu điều chỉnh hàng hóa  (Warehouse)</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Kiểm tra &amp; điều chỉnh hàng hóa  (Supplier)</a:t>
            </a:r>
            <a:endParaRPr/>
          </a:p>
          <a:p>
            <a:pPr marL="0" marR="0" lvl="0" indent="0" algn="l" rtl="0">
              <a:lnSpc>
                <a:spcPct val="115000"/>
              </a:lnSpc>
              <a:spcBef>
                <a:spcPts val="400"/>
              </a:spcBef>
              <a:spcAft>
                <a:spcPts val="0"/>
              </a:spcAft>
              <a:buNone/>
            </a:pPr>
            <a:r>
              <a:rPr lang="en-US" sz="1250" b="0" i="0">
                <a:solidFill>
                  <a:srgbClr val="6B7784"/>
                </a:solidFill>
                <a:latin typeface="Calibri"/>
                <a:ea typeface="Calibri"/>
                <a:cs typeface="Calibri"/>
                <a:sym typeface="Calibri"/>
              </a:rPr>
              <a:t>•  Yêu cầu NCC chỉnh sửa hóa đơn  (Finance / AP)  ·  Chỉnh sửa hóa đơn  (Supplier)</a:t>
            </a:r>
            <a:endParaRPr/>
          </a:p>
        </p:txBody>
      </p:sp>
      <p:sp>
        <p:nvSpPr>
          <p:cNvPr id="954" name="Google Shape;954;p48">
            <a:extLst>
              <a:ext uri="{FF2B5EF4-FFF2-40B4-BE49-F238E27FC236}">
                <a16:creationId xmlns:a16="http://schemas.microsoft.com/office/drawing/2014/main" id="{4ACE500A-84BD-7C10-1D28-27F69C1FBDEC}"/>
              </a:ext>
            </a:extLst>
          </p:cNvPr>
          <p:cNvSpPr/>
          <p:nvPr/>
        </p:nvSpPr>
        <p:spPr>
          <a:xfrm>
            <a:off x="658368" y="5486400"/>
            <a:ext cx="10874959" cy="59436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5" name="Google Shape;955;p48">
            <a:extLst>
              <a:ext uri="{FF2B5EF4-FFF2-40B4-BE49-F238E27FC236}">
                <a16:creationId xmlns:a16="http://schemas.microsoft.com/office/drawing/2014/main" id="{7CF9A873-DE27-5D51-BFA6-FCA5E413498F}"/>
              </a:ext>
            </a:extLst>
          </p:cNvPr>
          <p:cNvSpPr/>
          <p:nvPr/>
        </p:nvSpPr>
        <p:spPr>
          <a:xfrm>
            <a:off x="658368" y="5486400"/>
            <a:ext cx="50292" cy="59436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6" name="Google Shape;956;p48">
            <a:extLst>
              <a:ext uri="{FF2B5EF4-FFF2-40B4-BE49-F238E27FC236}">
                <a16:creationId xmlns:a16="http://schemas.microsoft.com/office/drawing/2014/main" id="{8EC9F445-5F32-4B0A-951C-54B20947C9C8}"/>
              </a:ext>
            </a:extLst>
          </p:cNvPr>
          <p:cNvSpPr txBox="1"/>
          <p:nvPr/>
        </p:nvSpPr>
        <p:spPr>
          <a:xfrm>
            <a:off x="864108" y="56007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100" b="0" i="0">
                <a:solidFill>
                  <a:srgbClr val="0A2540"/>
                </a:solidFill>
                <a:latin typeface="Calibri"/>
                <a:ea typeface="Calibri"/>
                <a:cs typeface="Calibri"/>
                <a:sym typeface="Calibri"/>
              </a:rPr>
              <a:t>So sánh với Service Order Management (08 VA / 23 BVA / 04 NVA): Procurement có tỷ trọng VA thấp hơn nhiều vì bản chất là quy trình kiểm soát và đối chiếu chứng từ. Cải tiến vì vậy phải nhắm vào việc loại bỏ nguyên nhân gây ra 06 hoạt động NVA, không phải cắt bớt hoạt động BVA.</a:t>
            </a:r>
            <a:endParaRPr/>
          </a:p>
        </p:txBody>
      </p:sp>
      <p:sp>
        <p:nvSpPr>
          <p:cNvPr id="2" name="Footer Placeholder 1">
            <a:extLst>
              <a:ext uri="{FF2B5EF4-FFF2-40B4-BE49-F238E27FC236}">
                <a16:creationId xmlns:a16="http://schemas.microsoft.com/office/drawing/2014/main" id="{FF1A9A1C-BB25-D56B-787E-F2067758AF7B}"/>
              </a:ext>
            </a:extLst>
          </p:cNvPr>
          <p:cNvSpPr>
            <a:spLocks noGrp="1"/>
          </p:cNvSpPr>
          <p:nvPr>
            <p:ph type="ftr" idx="11"/>
          </p:nvPr>
        </p:nvSpPr>
        <p:spPr>
          <a:xfrm>
            <a:off x="658368" y="6286817"/>
            <a:ext cx="488909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0CE941A-A9F3-EA03-7EB9-9E2C0E2B2A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745078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89">
          <a:extLst>
            <a:ext uri="{FF2B5EF4-FFF2-40B4-BE49-F238E27FC236}">
              <a16:creationId xmlns:a16="http://schemas.microsoft.com/office/drawing/2014/main" id="{9EEBEB11-CECE-E1DC-8BD4-C338F51DB0F4}"/>
            </a:ext>
          </a:extLst>
        </p:cNvPr>
        <p:cNvGrpSpPr/>
        <p:nvPr/>
      </p:nvGrpSpPr>
      <p:grpSpPr>
        <a:xfrm>
          <a:off x="0" y="0"/>
          <a:ext cx="0" cy="0"/>
          <a:chOff x="0" y="0"/>
          <a:chExt cx="0" cy="0"/>
        </a:xfrm>
      </p:grpSpPr>
      <p:pic>
        <p:nvPicPr>
          <p:cNvPr id="990" name="Google Shape;990;p50">
            <a:extLst>
              <a:ext uri="{FF2B5EF4-FFF2-40B4-BE49-F238E27FC236}">
                <a16:creationId xmlns:a16="http://schemas.microsoft.com/office/drawing/2014/main" id="{B93BBE51-9213-FFFA-E8D1-69BC77A58992}"/>
              </a:ext>
            </a:extLst>
          </p:cNvPr>
          <p:cNvPicPr preferRelativeResize="0"/>
          <p:nvPr/>
        </p:nvPicPr>
        <p:blipFill>
          <a:blip r:embed="rId3">
            <a:alphaModFix/>
          </a:blip>
          <a:srcRect/>
          <a:stretch/>
        </p:blipFill>
        <p:spPr>
          <a:xfrm>
            <a:off x="182879" y="877824"/>
            <a:ext cx="8068449" cy="5843016"/>
          </a:xfrm>
          <a:prstGeom prst="rect">
            <a:avLst/>
          </a:prstGeom>
          <a:noFill/>
          <a:ln>
            <a:noFill/>
          </a:ln>
        </p:spPr>
      </p:pic>
      <p:sp>
        <p:nvSpPr>
          <p:cNvPr id="991" name="Google Shape;991;p50">
            <a:extLst>
              <a:ext uri="{FF2B5EF4-FFF2-40B4-BE49-F238E27FC236}">
                <a16:creationId xmlns:a16="http://schemas.microsoft.com/office/drawing/2014/main" id="{2EC2997B-DFE7-1171-C2AD-E326ADDDB152}"/>
              </a:ext>
            </a:extLst>
          </p:cNvPr>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50">
            <a:extLst>
              <a:ext uri="{FF2B5EF4-FFF2-40B4-BE49-F238E27FC236}">
                <a16:creationId xmlns:a16="http://schemas.microsoft.com/office/drawing/2014/main" id="{8E74191D-2406-E6A7-D150-809B67EBAD05}"/>
              </a:ext>
            </a:extLst>
          </p:cNvPr>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50">
            <a:extLst>
              <a:ext uri="{FF2B5EF4-FFF2-40B4-BE49-F238E27FC236}">
                <a16:creationId xmlns:a16="http://schemas.microsoft.com/office/drawing/2014/main" id="{C1F301EB-4A1A-E69F-880C-9FDBD2A21F77}"/>
              </a:ext>
            </a:extLst>
          </p:cNvPr>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a:t>
            </a:r>
            <a:r>
              <a:rPr lang="en-US" sz="950" b="1">
                <a:solidFill>
                  <a:srgbClr val="00C2A8"/>
                </a:solidFill>
                <a:latin typeface="Calibri"/>
                <a:ea typeface="Calibri"/>
                <a:cs typeface="Calibri"/>
                <a:sym typeface="Calibri"/>
              </a:rPr>
              <a:t>GIÁ TRỊ GIA TĂNG</a:t>
            </a:r>
            <a:endParaRPr/>
          </a:p>
        </p:txBody>
      </p:sp>
      <p:sp>
        <p:nvSpPr>
          <p:cNvPr id="994" name="Google Shape;994;p50">
            <a:extLst>
              <a:ext uri="{FF2B5EF4-FFF2-40B4-BE49-F238E27FC236}">
                <a16:creationId xmlns:a16="http://schemas.microsoft.com/office/drawing/2014/main" id="{675B1083-0F41-C1C9-386E-5FA489F8D3F0}"/>
              </a:ext>
            </a:extLst>
          </p:cNvPr>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VA – BVA – NVA trên mô hình quy trình</a:t>
            </a:r>
            <a:endParaRPr/>
          </a:p>
        </p:txBody>
      </p:sp>
      <p:sp>
        <p:nvSpPr>
          <p:cNvPr id="3" name="Slide Number Placeholder 2">
            <a:extLst>
              <a:ext uri="{FF2B5EF4-FFF2-40B4-BE49-F238E27FC236}">
                <a16:creationId xmlns:a16="http://schemas.microsoft.com/office/drawing/2014/main" id="{AB24A727-6DA6-58C7-6934-932FEDD42D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Google Shape;692;p39">
            <a:extLst>
              <a:ext uri="{FF2B5EF4-FFF2-40B4-BE49-F238E27FC236}">
                <a16:creationId xmlns:a16="http://schemas.microsoft.com/office/drawing/2014/main" id="{910765AC-54B0-445D-E9DF-1D4196DCE82D}"/>
              </a:ext>
            </a:extLst>
          </p:cNvPr>
          <p:cNvSpPr txBox="1"/>
          <p:nvPr/>
        </p:nvSpPr>
        <p:spPr>
          <a:xfrm>
            <a:off x="8862994" y="1520997"/>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Value-Adding </a:t>
            </a:r>
            <a:endParaRPr/>
          </a:p>
        </p:txBody>
      </p:sp>
      <p:sp>
        <p:nvSpPr>
          <p:cNvPr id="7" name="Google Shape;694;p39">
            <a:extLst>
              <a:ext uri="{FF2B5EF4-FFF2-40B4-BE49-F238E27FC236}">
                <a16:creationId xmlns:a16="http://schemas.microsoft.com/office/drawing/2014/main" id="{E4577367-8AB3-6DC1-54A6-9D5CF278C32C}"/>
              </a:ext>
            </a:extLst>
          </p:cNvPr>
          <p:cNvSpPr txBox="1"/>
          <p:nvPr/>
        </p:nvSpPr>
        <p:spPr>
          <a:xfrm>
            <a:off x="8862994" y="1984451"/>
            <a:ext cx="3200400" cy="274320"/>
          </a:xfrm>
          <a:prstGeom prst="rect">
            <a:avLst/>
          </a:prstGeom>
          <a:noFill/>
          <a:ln>
            <a:noFill/>
          </a:ln>
        </p:spPr>
        <p:txBody>
          <a:bodyPr spcFirstLastPara="1" wrap="square" lIns="0" tIns="0" rIns="0" bIns="0" anchor="t" anchorCtr="0">
            <a:noAutofit/>
          </a:bodyPr>
          <a:lstStyle/>
          <a:p>
            <a:pPr lvl="0"/>
            <a:r>
              <a:rPr lang="en-US" sz="1400" b="1" i="0">
                <a:solidFill>
                  <a:srgbClr val="0A2540"/>
                </a:solidFill>
                <a:latin typeface="Calibri"/>
                <a:ea typeface="Calibri"/>
                <a:cs typeface="Calibri"/>
                <a:sym typeface="Calibri"/>
              </a:rPr>
              <a:t>BVA </a:t>
            </a:r>
            <a:r>
              <a:rPr lang="en-US" b="1">
                <a:solidFill>
                  <a:srgbClr val="0A2540"/>
                </a:solidFill>
                <a:latin typeface="Calibri"/>
                <a:ea typeface="Calibri"/>
                <a:cs typeface="Calibri"/>
                <a:sym typeface="Calibri"/>
              </a:rPr>
              <a:t>—</a:t>
            </a:r>
            <a:r>
              <a:rPr lang="en-US" sz="1400" b="1" i="0">
                <a:solidFill>
                  <a:srgbClr val="0A2540"/>
                </a:solidFill>
                <a:latin typeface="Calibri"/>
                <a:ea typeface="Calibri"/>
                <a:cs typeface="Calibri"/>
                <a:sym typeface="Calibri"/>
              </a:rPr>
              <a:t> Business Value-Adding </a:t>
            </a:r>
            <a:endParaRPr/>
          </a:p>
        </p:txBody>
      </p:sp>
      <p:sp>
        <p:nvSpPr>
          <p:cNvPr id="9" name="Google Shape;696;p39">
            <a:extLst>
              <a:ext uri="{FF2B5EF4-FFF2-40B4-BE49-F238E27FC236}">
                <a16:creationId xmlns:a16="http://schemas.microsoft.com/office/drawing/2014/main" id="{54913A97-C07D-AAC8-E73F-1E1182A797B7}"/>
              </a:ext>
            </a:extLst>
          </p:cNvPr>
          <p:cNvSpPr txBox="1"/>
          <p:nvPr/>
        </p:nvSpPr>
        <p:spPr>
          <a:xfrm>
            <a:off x="8862994" y="2424979"/>
            <a:ext cx="3200400" cy="274320"/>
          </a:xfrm>
          <a:prstGeom prst="rect">
            <a:avLst/>
          </a:prstGeom>
          <a:noFill/>
          <a:ln>
            <a:noFill/>
          </a:ln>
        </p:spPr>
        <p:txBody>
          <a:bodyPr spcFirstLastPara="1" wrap="square" lIns="0" tIns="0" rIns="0" bIns="0" anchor="t" anchorCtr="0">
            <a:noAutofit/>
          </a:bodyPr>
          <a:lstStyle/>
          <a:p>
            <a:r>
              <a:rPr lang="en-US" b="1">
                <a:solidFill>
                  <a:srgbClr val="0A2540"/>
                </a:solidFill>
                <a:latin typeface="Calibri"/>
                <a:ea typeface="Calibri"/>
                <a:cs typeface="Calibri"/>
                <a:sym typeface="Calibri"/>
              </a:rPr>
              <a:t>NVA — Non-Value-Adding</a:t>
            </a:r>
            <a:endParaRPr lang="en-US"/>
          </a:p>
        </p:txBody>
      </p:sp>
      <p:sp>
        <p:nvSpPr>
          <p:cNvPr id="4" name="Rectangle: Rounded Corners 3">
            <a:extLst>
              <a:ext uri="{FF2B5EF4-FFF2-40B4-BE49-F238E27FC236}">
                <a16:creationId xmlns:a16="http://schemas.microsoft.com/office/drawing/2014/main" id="{E12C85AA-2119-E09C-CDA5-EF7B4619BA29}"/>
              </a:ext>
            </a:extLst>
          </p:cNvPr>
          <p:cNvSpPr/>
          <p:nvPr/>
        </p:nvSpPr>
        <p:spPr>
          <a:xfrm>
            <a:off x="8492613" y="1520997"/>
            <a:ext cx="235974" cy="197871"/>
          </a:xfrm>
          <a:prstGeom prst="roundRect">
            <a:avLst/>
          </a:prstGeom>
          <a:solidFill>
            <a:srgbClr val="F5C1C5"/>
          </a:solidFill>
          <a:ln>
            <a:solidFill>
              <a:srgbClr val="F5C1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6A1C334-70E0-8F15-4A26-E248FA17CC2E}"/>
              </a:ext>
            </a:extLst>
          </p:cNvPr>
          <p:cNvSpPr/>
          <p:nvPr/>
        </p:nvSpPr>
        <p:spPr>
          <a:xfrm>
            <a:off x="8492613" y="2445278"/>
            <a:ext cx="235974" cy="197871"/>
          </a:xfrm>
          <a:prstGeom prst="roundRect">
            <a:avLst/>
          </a:prstGeom>
          <a:solidFill>
            <a:srgbClr val="B487BE"/>
          </a:solidFill>
          <a:ln>
            <a:solidFill>
              <a:srgbClr val="B487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58DF11E-E146-F3AA-BF0A-55640C90FAAB}"/>
              </a:ext>
            </a:extLst>
          </p:cNvPr>
          <p:cNvSpPr/>
          <p:nvPr/>
        </p:nvSpPr>
        <p:spPr>
          <a:xfrm>
            <a:off x="8499987" y="1984451"/>
            <a:ext cx="235974" cy="197871"/>
          </a:xfrm>
          <a:prstGeom prst="roundRect">
            <a:avLst/>
          </a:prstGeom>
          <a:solidFill>
            <a:srgbClr val="96BCDC"/>
          </a:solidFill>
          <a:ln>
            <a:solidFill>
              <a:srgbClr val="96B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780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60">
          <a:extLst>
            <a:ext uri="{FF2B5EF4-FFF2-40B4-BE49-F238E27FC236}">
              <a16:creationId xmlns:a16="http://schemas.microsoft.com/office/drawing/2014/main" id="{4F501B4A-B0E2-81F0-D29B-861FD01B2E65}"/>
            </a:ext>
          </a:extLst>
        </p:cNvPr>
        <p:cNvGrpSpPr/>
        <p:nvPr/>
      </p:nvGrpSpPr>
      <p:grpSpPr>
        <a:xfrm>
          <a:off x="0" y="0"/>
          <a:ext cx="0" cy="0"/>
          <a:chOff x="0" y="0"/>
          <a:chExt cx="0" cy="0"/>
        </a:xfrm>
      </p:grpSpPr>
      <p:sp>
        <p:nvSpPr>
          <p:cNvPr id="961" name="Google Shape;961;p49">
            <a:extLst>
              <a:ext uri="{FF2B5EF4-FFF2-40B4-BE49-F238E27FC236}">
                <a16:creationId xmlns:a16="http://schemas.microsoft.com/office/drawing/2014/main" id="{360C4D66-1FF0-19B7-5B52-ED019D7A0DA0}"/>
              </a:ext>
            </a:extLst>
          </p:cNvPr>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a:t>
            </a:r>
            <a:r>
              <a:rPr lang="en-US" sz="1050" b="1">
                <a:solidFill>
                  <a:srgbClr val="0096D6"/>
                </a:solidFill>
                <a:latin typeface="Calibri"/>
                <a:ea typeface="Calibri"/>
                <a:cs typeface="Calibri"/>
                <a:sym typeface="Calibri"/>
              </a:rPr>
              <a:t> PHÂN TÍCH ĐỊNH TÍNH - </a:t>
            </a:r>
            <a:r>
              <a:rPr lang="en-US" sz="1050" b="1" i="0">
                <a:solidFill>
                  <a:srgbClr val="0096D6"/>
                </a:solidFill>
                <a:latin typeface="Calibri"/>
                <a:ea typeface="Calibri"/>
                <a:cs typeface="Calibri"/>
                <a:sym typeface="Calibri"/>
              </a:rPr>
              <a:t>PHÂN TÍCH SỰ LÃNG PHÍ</a:t>
            </a:r>
            <a:endParaRPr/>
          </a:p>
        </p:txBody>
      </p:sp>
      <p:sp>
        <p:nvSpPr>
          <p:cNvPr id="962" name="Google Shape;962;p49">
            <a:extLst>
              <a:ext uri="{FF2B5EF4-FFF2-40B4-BE49-F238E27FC236}">
                <a16:creationId xmlns:a16="http://schemas.microsoft.com/office/drawing/2014/main" id="{59B66937-F83C-9975-5BF4-C2D5F8AE9DF1}"/>
              </a:ext>
            </a:extLst>
          </p:cNvPr>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PROCUREMENT MANAGEMENT</a:t>
            </a:r>
            <a:endParaRPr/>
          </a:p>
        </p:txBody>
      </p:sp>
      <p:sp>
        <p:nvSpPr>
          <p:cNvPr id="963" name="Google Shape;963;p49">
            <a:extLst>
              <a:ext uri="{FF2B5EF4-FFF2-40B4-BE49-F238E27FC236}">
                <a16:creationId xmlns:a16="http://schemas.microsoft.com/office/drawing/2014/main" id="{586A1F5B-B01F-FC67-E19B-DBB264C67767}"/>
              </a:ext>
            </a:extLst>
          </p:cNvPr>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4" name="Google Shape;964;p49">
            <a:extLst>
              <a:ext uri="{FF2B5EF4-FFF2-40B4-BE49-F238E27FC236}">
                <a16:creationId xmlns:a16="http://schemas.microsoft.com/office/drawing/2014/main" id="{B366B86D-D9FA-3CB4-1689-1FD3235CD1CB}"/>
              </a:ext>
            </a:extLst>
          </p:cNvPr>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Footer Placeholder 1">
            <a:extLst>
              <a:ext uri="{FF2B5EF4-FFF2-40B4-BE49-F238E27FC236}">
                <a16:creationId xmlns:a16="http://schemas.microsoft.com/office/drawing/2014/main" id="{013360B3-F257-F53D-F938-6766CFA6018A}"/>
              </a:ext>
            </a:extLst>
          </p:cNvPr>
          <p:cNvSpPr>
            <a:spLocks noGrp="1"/>
          </p:cNvSpPr>
          <p:nvPr>
            <p:ph type="ftr" idx="11"/>
          </p:nvPr>
        </p:nvSpPr>
        <p:spPr>
          <a:xfrm>
            <a:off x="658368" y="6359791"/>
            <a:ext cx="4692445"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27C31EC-2EE9-191C-D4BC-CA43E46B62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graphicFrame>
        <p:nvGraphicFramePr>
          <p:cNvPr id="4" name="Table 3">
            <a:extLst>
              <a:ext uri="{FF2B5EF4-FFF2-40B4-BE49-F238E27FC236}">
                <a16:creationId xmlns:a16="http://schemas.microsoft.com/office/drawing/2014/main" id="{B844A7A3-EABD-88A6-3BE2-C36252141D8B}"/>
              </a:ext>
            </a:extLst>
          </p:cNvPr>
          <p:cNvGraphicFramePr>
            <a:graphicFrameLocks noGrp="1"/>
          </p:cNvGraphicFramePr>
          <p:nvPr>
            <p:extLst>
              <p:ext uri="{D42A27DB-BD31-4B8C-83A1-F6EECF244321}">
                <p14:modId xmlns:p14="http://schemas.microsoft.com/office/powerpoint/2010/main" val="313058140"/>
              </p:ext>
            </p:extLst>
          </p:nvPr>
        </p:nvGraphicFramePr>
        <p:xfrm>
          <a:off x="658368" y="1499616"/>
          <a:ext cx="10695430" cy="5391999"/>
        </p:xfrm>
        <a:graphic>
          <a:graphicData uri="http://schemas.openxmlformats.org/drawingml/2006/table">
            <a:tbl>
              <a:tblPr firstRow="1" firstCol="1" bandRow="1">
                <a:tableStyleId>{65267F91-CA84-436A-A840-DCCC5366F6D9}</a:tableStyleId>
              </a:tblPr>
              <a:tblGrid>
                <a:gridCol w="364187">
                  <a:extLst>
                    <a:ext uri="{9D8B030D-6E8A-4147-A177-3AD203B41FA5}">
                      <a16:colId xmlns:a16="http://schemas.microsoft.com/office/drawing/2014/main" val="3059515615"/>
                    </a:ext>
                  </a:extLst>
                </a:gridCol>
                <a:gridCol w="3706761">
                  <a:extLst>
                    <a:ext uri="{9D8B030D-6E8A-4147-A177-3AD203B41FA5}">
                      <a16:colId xmlns:a16="http://schemas.microsoft.com/office/drawing/2014/main" val="2120911984"/>
                    </a:ext>
                  </a:extLst>
                </a:gridCol>
                <a:gridCol w="904568">
                  <a:extLst>
                    <a:ext uri="{9D8B030D-6E8A-4147-A177-3AD203B41FA5}">
                      <a16:colId xmlns:a16="http://schemas.microsoft.com/office/drawing/2014/main" val="965976215"/>
                    </a:ext>
                  </a:extLst>
                </a:gridCol>
                <a:gridCol w="5719914">
                  <a:extLst>
                    <a:ext uri="{9D8B030D-6E8A-4147-A177-3AD203B41FA5}">
                      <a16:colId xmlns:a16="http://schemas.microsoft.com/office/drawing/2014/main" val="1167500894"/>
                    </a:ext>
                  </a:extLst>
                </a:gridCol>
              </a:tblGrid>
              <a:tr h="202877">
                <a:tc>
                  <a:txBody>
                    <a:bodyPr/>
                    <a:lstStyle/>
                    <a:p>
                      <a:pPr marL="0" marR="0" algn="ctr">
                        <a:lnSpc>
                          <a:spcPct val="115000"/>
                        </a:lnSpc>
                        <a:spcAft>
                          <a:spcPts val="800"/>
                        </a:spcAft>
                        <a:buNone/>
                      </a:pPr>
                      <a:r>
                        <a:rPr lang="en-US" sz="1400">
                          <a:effectLst/>
                        </a:rPr>
                        <a:t>STT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Hoạt động/Vị trí phát sinh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Loại lãng phí</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568646987"/>
                  </a:ext>
                </a:extLst>
              </a:tr>
              <a:tr h="271959">
                <a:tc>
                  <a:txBody>
                    <a:bodyPr/>
                    <a:lstStyle/>
                    <a:p>
                      <a:pPr marL="0" marR="0" algn="ctr">
                        <a:lnSpc>
                          <a:spcPct val="115000"/>
                        </a:lnSpc>
                        <a:spcAft>
                          <a:spcPts val="800"/>
                        </a:spcAft>
                        <a:buNone/>
                      </a:pPr>
                      <a:r>
                        <a:rPr lang="en-US" sz="1400">
                          <a:effectLst/>
                        </a:rPr>
                        <a:t>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xem xét và phê duyệt PR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PR phải chờ Approver xem xét trước khi quy trình có thể tiếp tục.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533667171"/>
                  </a:ext>
                </a:extLst>
              </a:tr>
              <a:tr h="271959">
                <a:tc>
                  <a:txBody>
                    <a:bodyPr/>
                    <a:lstStyle/>
                    <a:p>
                      <a:pPr marL="0" marR="0" algn="ctr">
                        <a:lnSpc>
                          <a:spcPct val="115000"/>
                        </a:lnSpc>
                        <a:spcAft>
                          <a:spcPts val="800"/>
                        </a:spcAft>
                        <a:buNone/>
                      </a:pPr>
                      <a:r>
                        <a:rPr lang="en-US" sz="1400">
                          <a:effectLst/>
                        </a:rPr>
                        <a:t>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Yêu cầu bổ sung/chỉnh sửa yêu cầu mua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thêm xử lý khi PR chưa đáp ứng yêu cầu phê duyệt.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276350969"/>
                  </a:ext>
                </a:extLst>
              </a:tr>
              <a:tr h="202877">
                <a:tc>
                  <a:txBody>
                    <a:bodyPr/>
                    <a:lstStyle/>
                    <a:p>
                      <a:pPr marL="0" marR="0" algn="ctr">
                        <a:lnSpc>
                          <a:spcPct val="115000"/>
                        </a:lnSpc>
                        <a:spcAft>
                          <a:spcPts val="800"/>
                        </a:spcAft>
                        <a:buNone/>
                      </a:pPr>
                      <a:r>
                        <a:rPr lang="en-US" sz="1400">
                          <a:effectLst/>
                        </a:rPr>
                        <a:t>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Bổ sung thông tin mua hàng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Requester phải bổ sung hoặc chỉnh sửa thông tin đã cung cấp.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1946755660"/>
                  </a:ext>
                </a:extLst>
              </a:tr>
              <a:tr h="271959">
                <a:tc>
                  <a:txBody>
                    <a:bodyPr/>
                    <a:lstStyle/>
                    <a:p>
                      <a:pPr marL="0" marR="0" algn="ctr">
                        <a:lnSpc>
                          <a:spcPct val="115000"/>
                        </a:lnSpc>
                        <a:spcAft>
                          <a:spcPts val="800"/>
                        </a:spcAft>
                        <a:buNone/>
                      </a:pPr>
                      <a:r>
                        <a:rPr lang="en-US" sz="1400">
                          <a:effectLst/>
                        </a:rPr>
                        <a:t>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tìm Supplier mới và chốt Quotation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Khi chưa có Supplier phù hợp, quy trình cần thêm thời gian để xác định nguồn cung.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1592303643"/>
                  </a:ext>
                </a:extLst>
              </a:tr>
              <a:tr h="410122">
                <a:tc>
                  <a:txBody>
                    <a:bodyPr/>
                    <a:lstStyle/>
                    <a:p>
                      <a:pPr marL="0" marR="0" algn="ctr">
                        <a:lnSpc>
                          <a:spcPct val="115000"/>
                        </a:lnSpc>
                        <a:spcAft>
                          <a:spcPts val="800"/>
                        </a:spcAft>
                        <a:buNone/>
                      </a:pPr>
                      <a:r>
                        <a:rPr lang="en-US" sz="1400">
                          <a:effectLst/>
                        </a:rPr>
                        <a:t>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hành PO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PO được chuyển từ Procurement Specialist đến Supplier để thực hiện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815476454"/>
                  </a:ext>
                </a:extLst>
              </a:tr>
              <a:tr h="271959">
                <a:tc>
                  <a:txBody>
                    <a:bodyPr/>
                    <a:lstStyle/>
                    <a:p>
                      <a:pPr marL="0" marR="0" algn="ctr">
                        <a:lnSpc>
                          <a:spcPct val="115000"/>
                        </a:lnSpc>
                        <a:spcAft>
                          <a:spcPts val="800"/>
                        </a:spcAft>
                        <a:buNone/>
                      </a:pPr>
                      <a:r>
                        <a:rPr lang="en-US" sz="1400">
                          <a:effectLst/>
                        </a:rPr>
                        <a:t>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quá trình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Sau khi PO được phát hành, quy trình phải chờ Supplier thực hiện cung ứng.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042505676"/>
                  </a:ext>
                </a:extLst>
              </a:tr>
              <a:tr h="271959">
                <a:tc>
                  <a:txBody>
                    <a:bodyPr/>
                    <a:lstStyle/>
                    <a:p>
                      <a:pPr marL="0" marR="0" algn="ctr">
                        <a:lnSpc>
                          <a:spcPct val="115000"/>
                        </a:lnSpc>
                        <a:spcAft>
                          <a:spcPts val="800"/>
                        </a:spcAft>
                        <a:buNone/>
                      </a:pPr>
                      <a:r>
                        <a:rPr lang="en-US" sz="1400">
                          <a:effectLst/>
                        </a:rPr>
                        <a:t>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Ghi nhận sai lệch và yêu cầu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khi hàng hóa/dịch vụ không phù hợp với PO.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118008478"/>
                  </a:ext>
                </a:extLst>
              </a:tr>
              <a:tr h="271959">
                <a:tc>
                  <a:txBody>
                    <a:bodyPr/>
                    <a:lstStyle/>
                    <a:p>
                      <a:pPr marL="0" marR="0" algn="ctr">
                        <a:lnSpc>
                          <a:spcPct val="115000"/>
                        </a:lnSpc>
                        <a:spcAft>
                          <a:spcPts val="800"/>
                        </a:spcAft>
                        <a:buNone/>
                      </a:pPr>
                      <a:r>
                        <a:rPr lang="en-US" sz="1400">
                          <a:effectLst/>
                        </a:rPr>
                        <a:t>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Kiểm tra &amp;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Supplier phải thực hiện lại việc kiểm tra và điều chỉnh hàng hóa do có sai lệch.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779561834"/>
                  </a:ext>
                </a:extLst>
              </a:tr>
              <a:tr h="271959">
                <a:tc>
                  <a:txBody>
                    <a:bodyPr/>
                    <a:lstStyle/>
                    <a:p>
                      <a:pPr marL="0" marR="0" algn="ctr">
                        <a:lnSpc>
                          <a:spcPct val="115000"/>
                        </a:lnSpc>
                        <a:spcAft>
                          <a:spcPts val="800"/>
                        </a:spcAft>
                        <a:buNone/>
                      </a:pPr>
                      <a:r>
                        <a:rPr lang="en-US" sz="1400">
                          <a:effectLst/>
                        </a:rPr>
                        <a:t>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Supplier điều chỉnh hàng hóa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Quy trình phải chờ Supplier xử lý sai lệch trước khi có thể tiếp tục ghi nhận GR.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3793027005"/>
                  </a:ext>
                </a:extLst>
              </a:tr>
              <a:tr h="341040">
                <a:tc>
                  <a:txBody>
                    <a:bodyPr/>
                    <a:lstStyle/>
                    <a:p>
                      <a:pPr marL="0" marR="0" algn="ctr">
                        <a:lnSpc>
                          <a:spcPct val="115000"/>
                        </a:lnSpc>
                        <a:spcAft>
                          <a:spcPts val="800"/>
                        </a:spcAft>
                        <a:buNone/>
                      </a:pPr>
                      <a:r>
                        <a:rPr lang="en-US" sz="1400">
                          <a:effectLst/>
                        </a:rPr>
                        <a:t>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Goods Receipt được chuyển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xác nhận nhận hàng được chuyển giữa Solventum và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3905438979"/>
                  </a:ext>
                </a:extLst>
              </a:tr>
              <a:tr h="271959">
                <a:tc>
                  <a:txBody>
                    <a:bodyPr/>
                    <a:lstStyle/>
                    <a:p>
                      <a:pPr marL="0" marR="0" algn="ctr">
                        <a:lnSpc>
                          <a:spcPct val="115000"/>
                        </a:lnSpc>
                        <a:spcAft>
                          <a:spcPts val="800"/>
                        </a:spcAft>
                        <a:buNone/>
                      </a:pPr>
                      <a:r>
                        <a:rPr lang="en-US" sz="1400">
                          <a:effectLst/>
                        </a:rPr>
                        <a:t>11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Hóa đơn được chuyển đến Finance/AP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Hóa đơn được chuyển từ Supplier đến Finance/AP để thực hiện đối chiếu.</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4264149076"/>
                  </a:ext>
                </a:extLst>
              </a:tr>
              <a:tr h="202877">
                <a:tc>
                  <a:txBody>
                    <a:bodyPr/>
                    <a:lstStyle/>
                    <a:p>
                      <a:pPr marL="0" marR="0" algn="ctr">
                        <a:lnSpc>
                          <a:spcPct val="115000"/>
                        </a:lnSpc>
                        <a:spcAft>
                          <a:spcPts val="800"/>
                        </a:spcAft>
                        <a:buNone/>
                      </a:pPr>
                      <a:r>
                        <a:rPr lang="en-US" sz="1400">
                          <a:effectLst/>
                        </a:rPr>
                        <a:t>12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Yêu cầu NCC 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Phát sinh khi hóa đơn không phù hợp với PO/GR.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4210462428"/>
                  </a:ext>
                </a:extLst>
              </a:tr>
              <a:tr h="271959">
                <a:tc>
                  <a:txBody>
                    <a:bodyPr/>
                    <a:lstStyle/>
                    <a:p>
                      <a:pPr marL="0" marR="0" algn="ctr">
                        <a:lnSpc>
                          <a:spcPct val="115000"/>
                        </a:lnSpc>
                        <a:spcAft>
                          <a:spcPts val="800"/>
                        </a:spcAft>
                        <a:buNone/>
                      </a:pPr>
                      <a:r>
                        <a:rPr lang="en-US" sz="1400">
                          <a:effectLst/>
                        </a:rPr>
                        <a:t>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Overdo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Supplier phải sửa lại hóa đơn trước khi Finance/AP có thể tiếp tục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919700276"/>
                  </a:ext>
                </a:extLst>
              </a:tr>
              <a:tr h="271959">
                <a:tc>
                  <a:txBody>
                    <a:bodyPr/>
                    <a:lstStyle/>
                    <a:p>
                      <a:pPr marL="0" marR="0" algn="ctr">
                        <a:lnSpc>
                          <a:spcPct val="115000"/>
                        </a:lnSpc>
                        <a:spcAft>
                          <a:spcPts val="800"/>
                        </a:spcAft>
                        <a:buNone/>
                      </a:pPr>
                      <a:r>
                        <a:rPr lang="en-US" sz="1400">
                          <a:effectLst/>
                        </a:rPr>
                        <a:t>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Điểm chờ Supplier chỉnh sửa hóa đơn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Hold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Quá trình đối chiếu và thanh toán phải chờ hóa đơn được chỉnh sửa.</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88117469"/>
                  </a:ext>
                </a:extLst>
              </a:tr>
              <a:tr h="271959">
                <a:tc>
                  <a:txBody>
                    <a:bodyPr/>
                    <a:lstStyle/>
                    <a:p>
                      <a:pPr marL="0" marR="0" algn="ctr">
                        <a:lnSpc>
                          <a:spcPct val="115000"/>
                        </a:lnSpc>
                        <a:spcAft>
                          <a:spcPts val="800"/>
                        </a:spcAft>
                        <a:buNone/>
                      </a:pPr>
                      <a:r>
                        <a:rPr lang="en-US" sz="1400">
                          <a:effectLst/>
                        </a:rPr>
                        <a:t>15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thanh toán được chuyển đến Supplier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gn="ctr">
                        <a:lnSpc>
                          <a:spcPct val="115000"/>
                        </a:lnSpc>
                        <a:spcAft>
                          <a:spcPts val="800"/>
                        </a:spcAft>
                        <a:buNone/>
                      </a:pPr>
                      <a:r>
                        <a:rPr lang="en-US" sz="1400">
                          <a:effectLst/>
                        </a:rPr>
                        <a:t>Move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tc>
                  <a:txBody>
                    <a:bodyPr/>
                    <a:lstStyle/>
                    <a:p>
                      <a:pPr marL="0" marR="0">
                        <a:lnSpc>
                          <a:spcPct val="115000"/>
                        </a:lnSpc>
                        <a:spcAft>
                          <a:spcPts val="800"/>
                        </a:spcAft>
                        <a:buNone/>
                      </a:pPr>
                      <a:r>
                        <a:rPr lang="en-US" sz="1400">
                          <a:effectLst/>
                        </a:rPr>
                        <a:t>Thông tin thanh toán được chuyển cho Supplier sau khi hoàn tất xử lý.</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4575" marR="24575" marT="0" marB="0"/>
                </a:tc>
                <a:extLst>
                  <a:ext uri="{0D108BD9-81ED-4DB2-BD59-A6C34878D82A}">
                    <a16:rowId xmlns:a16="http://schemas.microsoft.com/office/drawing/2014/main" val="2814891131"/>
                  </a:ext>
                </a:extLst>
              </a:tr>
            </a:tbl>
          </a:graphicData>
        </a:graphic>
      </p:graphicFrame>
      <p:sp>
        <p:nvSpPr>
          <p:cNvPr id="6" name="Google Shape;967;p49">
            <a:extLst>
              <a:ext uri="{FF2B5EF4-FFF2-40B4-BE49-F238E27FC236}">
                <a16:creationId xmlns:a16="http://schemas.microsoft.com/office/drawing/2014/main" id="{A64D5B86-16D1-D629-1B73-EF946EFD5E27}"/>
              </a:ext>
            </a:extLst>
          </p:cNvPr>
          <p:cNvSpPr txBox="1"/>
          <p:nvPr/>
        </p:nvSpPr>
        <p:spPr>
          <a:xfrm>
            <a:off x="11353798" y="6473952"/>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1200" i="0" dirty="0">
                <a:solidFill>
                  <a:schemeClr val="tx2">
                    <a:lumMod val="50000"/>
                  </a:schemeClr>
                </a:solidFill>
                <a:latin typeface="Calibri"/>
                <a:ea typeface="Calibri"/>
                <a:cs typeface="Calibri"/>
                <a:sym typeface="Calibri"/>
              </a:rPr>
              <a:t>49</a:t>
            </a:r>
            <a:endParaRPr sz="1200" dirty="0">
              <a:solidFill>
                <a:schemeClr val="tx2">
                  <a:lumMod val="50000"/>
                </a:schemeClr>
              </a:solidFill>
            </a:endParaRPr>
          </a:p>
        </p:txBody>
      </p:sp>
    </p:spTree>
    <p:extLst>
      <p:ext uri="{BB962C8B-B14F-4D97-AF65-F5344CB8AC3E}">
        <p14:creationId xmlns:p14="http://schemas.microsoft.com/office/powerpoint/2010/main" val="3852150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p49"/>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a:t>
            </a:r>
            <a:r>
              <a:rPr lang="en-US" sz="1050" b="1">
                <a:solidFill>
                  <a:srgbClr val="0096D6"/>
                </a:solidFill>
                <a:latin typeface="Calibri"/>
                <a:ea typeface="Calibri"/>
                <a:cs typeface="Calibri"/>
                <a:sym typeface="Calibri"/>
              </a:rPr>
              <a:t> PHÂN TÍCH ĐỊNH TÍNH - </a:t>
            </a:r>
            <a:r>
              <a:rPr lang="en-US" sz="1050" b="1" i="0">
                <a:solidFill>
                  <a:srgbClr val="0096D6"/>
                </a:solidFill>
                <a:latin typeface="Calibri"/>
                <a:ea typeface="Calibri"/>
                <a:cs typeface="Calibri"/>
                <a:sym typeface="Calibri"/>
              </a:rPr>
              <a:t>PHÂN TÍCH SỰ LÃNG PHÍ</a:t>
            </a:r>
            <a:endParaRPr/>
          </a:p>
        </p:txBody>
      </p:sp>
      <p:sp>
        <p:nvSpPr>
          <p:cNvPr id="962" name="Google Shape;962;p49"/>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LÃNG PHÍ MOVE – HOLD – OVERDO CỦA PROCUREMENT MANAGEMENT</a:t>
            </a:r>
            <a:endParaRPr/>
          </a:p>
        </p:txBody>
      </p:sp>
      <p:sp>
        <p:nvSpPr>
          <p:cNvPr id="963" name="Google Shape;963;p4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4" name="Google Shape;964;p4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5" name="Google Shape;965;p49"/>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4.9 — 15 điểm phát sinh lãng phí trên chu trình Source-to-Pay, gom theo loại</a:t>
            </a:r>
            <a:endParaRPr/>
          </a:p>
        </p:txBody>
      </p:sp>
      <p:sp>
        <p:nvSpPr>
          <p:cNvPr id="966" name="Google Shape;966;p49"/>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0" i="0" dirty="0">
                <a:solidFill>
                  <a:srgbClr val="6B7784"/>
                </a:solidFill>
                <a:latin typeface="Calibri"/>
                <a:ea typeface="Calibri"/>
                <a:cs typeface="Calibri"/>
                <a:sym typeface="Calibri"/>
              </a:rPr>
              <a:t>SOLVENTUM VIỆT NAM  ·  HỆ THỐNG QUẢN TRỊ QUY TRÌNH NGHIỆP VỤ</a:t>
            </a:r>
            <a:endParaRPr sz="1200" dirty="0"/>
          </a:p>
        </p:txBody>
      </p:sp>
      <p:sp>
        <p:nvSpPr>
          <p:cNvPr id="968" name="Google Shape;968;p49"/>
          <p:cNvSpPr/>
          <p:nvPr/>
        </p:nvSpPr>
        <p:spPr>
          <a:xfrm>
            <a:off x="658368"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49"/>
          <p:cNvSpPr/>
          <p:nvPr/>
        </p:nvSpPr>
        <p:spPr>
          <a:xfrm>
            <a:off x="658368" y="1737360"/>
            <a:ext cx="3472586" cy="50292"/>
          </a:xfrm>
          <a:prstGeom prst="rect">
            <a:avLst/>
          </a:prstGeom>
          <a:solidFill>
            <a:srgbClr val="2E9E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0" name="Google Shape;970;p49"/>
          <p:cNvSpPr txBox="1"/>
          <p:nvPr/>
        </p:nvSpPr>
        <p:spPr>
          <a:xfrm>
            <a:off x="864108"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2E9E5B"/>
                </a:solidFill>
                <a:latin typeface="Calibri"/>
                <a:ea typeface="Calibri"/>
                <a:cs typeface="Calibri"/>
                <a:sym typeface="Calibri"/>
              </a:rPr>
              <a:t>MOVE  ·  04 ĐIỂM</a:t>
            </a:r>
            <a:endParaRPr/>
          </a:p>
        </p:txBody>
      </p:sp>
      <p:sp>
        <p:nvSpPr>
          <p:cNvPr id="971" name="Google Shape;971;p49"/>
          <p:cNvSpPr txBox="1"/>
          <p:nvPr/>
        </p:nvSpPr>
        <p:spPr>
          <a:xfrm>
            <a:off x="864108"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Chuyển giao chứng từ với Supplier</a:t>
            </a:r>
            <a:endParaRPr/>
          </a:p>
        </p:txBody>
      </p:sp>
      <p:sp>
        <p:nvSpPr>
          <p:cNvPr id="972" name="Google Shape;972;p49"/>
          <p:cNvSpPr txBox="1"/>
          <p:nvPr/>
        </p:nvSpPr>
        <p:spPr>
          <a:xfrm>
            <a:off x="864108"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Phát hành PO đến Supplier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Goods Receipt cho Supplier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Hóa đơn chuyển đến Finance / AP</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Chuyển thông tin thanh toán cho Supplier</a:t>
            </a:r>
            <a:endParaRPr/>
          </a:p>
        </p:txBody>
      </p:sp>
      <p:sp>
        <p:nvSpPr>
          <p:cNvPr id="973" name="Google Shape;973;p49"/>
          <p:cNvSpPr/>
          <p:nvPr/>
        </p:nvSpPr>
        <p:spPr>
          <a:xfrm>
            <a:off x="4359554"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4" name="Google Shape;974;p49"/>
          <p:cNvSpPr/>
          <p:nvPr/>
        </p:nvSpPr>
        <p:spPr>
          <a:xfrm>
            <a:off x="4359554" y="1737360"/>
            <a:ext cx="3472586"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5" name="Google Shape;975;p49"/>
          <p:cNvSpPr txBox="1"/>
          <p:nvPr/>
        </p:nvSpPr>
        <p:spPr>
          <a:xfrm>
            <a:off x="4565294"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HOLD  ·  05 ĐIỂM</a:t>
            </a:r>
            <a:endParaRPr/>
          </a:p>
        </p:txBody>
      </p:sp>
      <p:sp>
        <p:nvSpPr>
          <p:cNvPr id="976" name="Google Shape;976;p49"/>
          <p:cNvSpPr txBox="1"/>
          <p:nvPr/>
        </p:nvSpPr>
        <p:spPr>
          <a:xfrm>
            <a:off x="4565294"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Chờ phê duyệt và chờ Supplier</a:t>
            </a:r>
            <a:endParaRPr/>
          </a:p>
        </p:txBody>
      </p:sp>
      <p:sp>
        <p:nvSpPr>
          <p:cNvPr id="977" name="Google Shape;977;p49"/>
          <p:cNvSpPr txBox="1"/>
          <p:nvPr/>
        </p:nvSpPr>
        <p:spPr>
          <a:xfrm>
            <a:off x="4565294"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Chờ xem xét và phê duyệt PR — 4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tìm Supplier mới, chốt Quotation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quá trình cung ứng — 80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Supplier điều chỉnh hàng hóa — 8 giờ</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Chờ Supplier chỉnh sửa hóa đơn — 8 giờ</a:t>
            </a:r>
            <a:endParaRPr/>
          </a:p>
        </p:txBody>
      </p:sp>
      <p:sp>
        <p:nvSpPr>
          <p:cNvPr id="978" name="Google Shape;978;p49"/>
          <p:cNvSpPr/>
          <p:nvPr/>
        </p:nvSpPr>
        <p:spPr>
          <a:xfrm>
            <a:off x="8060740" y="1737360"/>
            <a:ext cx="3472586" cy="320040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49"/>
          <p:cNvSpPr/>
          <p:nvPr/>
        </p:nvSpPr>
        <p:spPr>
          <a:xfrm>
            <a:off x="8060740" y="1737360"/>
            <a:ext cx="3472586"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49"/>
          <p:cNvSpPr txBox="1"/>
          <p:nvPr/>
        </p:nvSpPr>
        <p:spPr>
          <a:xfrm>
            <a:off x="8266480" y="1920240"/>
            <a:ext cx="3061106"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OVERDO  ·  06 ĐIỂM</a:t>
            </a:r>
            <a:endParaRPr/>
          </a:p>
        </p:txBody>
      </p:sp>
      <p:sp>
        <p:nvSpPr>
          <p:cNvPr id="981" name="Google Shape;981;p49"/>
          <p:cNvSpPr txBox="1"/>
          <p:nvPr/>
        </p:nvSpPr>
        <p:spPr>
          <a:xfrm>
            <a:off x="8266480" y="2240280"/>
            <a:ext cx="3061106"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400" b="1" i="0">
                <a:solidFill>
                  <a:srgbClr val="0A2540"/>
                </a:solidFill>
                <a:latin typeface="Calibri"/>
                <a:ea typeface="Calibri"/>
                <a:cs typeface="Calibri"/>
                <a:sym typeface="Calibri"/>
              </a:rPr>
              <a:t>Ba vòng lặp xử lý lại</a:t>
            </a:r>
            <a:endParaRPr/>
          </a:p>
        </p:txBody>
      </p:sp>
      <p:sp>
        <p:nvSpPr>
          <p:cNvPr id="982" name="Google Shape;982;p49"/>
          <p:cNvSpPr txBox="1"/>
          <p:nvPr/>
        </p:nvSpPr>
        <p:spPr>
          <a:xfrm>
            <a:off x="8266480" y="2606040"/>
            <a:ext cx="3061106" cy="21945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400" b="0" i="0">
                <a:solidFill>
                  <a:srgbClr val="6B7784"/>
                </a:solidFill>
                <a:latin typeface="Calibri"/>
                <a:ea typeface="Calibri"/>
                <a:cs typeface="Calibri"/>
                <a:sym typeface="Calibri"/>
              </a:rPr>
              <a:t>Yêu cầu bổ sung / chỉnh sửa PR</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Requester bổ sung thông tin mua hàng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Ghi nhận sai lệch, yêu cầu điều chỉnh hàng</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Supplier kiểm tra &amp; điều chỉnh hàng hóa</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Yêu cầu NCC chỉnh sửa hóa đơn</a:t>
            </a:r>
            <a:endParaRPr/>
          </a:p>
          <a:p>
            <a:pPr marL="0" marR="0" lvl="0" indent="0" algn="l" rtl="0">
              <a:lnSpc>
                <a:spcPct val="112000"/>
              </a:lnSpc>
              <a:spcBef>
                <a:spcPts val="200"/>
              </a:spcBef>
              <a:spcAft>
                <a:spcPts val="0"/>
              </a:spcAft>
              <a:buNone/>
            </a:pPr>
            <a:r>
              <a:rPr lang="en-US" sz="1400" b="0" i="0">
                <a:solidFill>
                  <a:srgbClr val="6B7784"/>
                </a:solidFill>
                <a:latin typeface="Calibri"/>
                <a:ea typeface="Calibri"/>
                <a:cs typeface="Calibri"/>
                <a:sym typeface="Calibri"/>
              </a:rPr>
              <a:t>Supplier chỉnh sửa lại hóa đơn</a:t>
            </a:r>
            <a:endParaRPr/>
          </a:p>
        </p:txBody>
      </p:sp>
      <p:sp>
        <p:nvSpPr>
          <p:cNvPr id="983" name="Google Shape;983;p49"/>
          <p:cNvSpPr/>
          <p:nvPr/>
        </p:nvSpPr>
        <p:spPr>
          <a:xfrm>
            <a:off x="658368" y="5074920"/>
            <a:ext cx="10874959" cy="1005840"/>
          </a:xfrm>
          <a:prstGeom prst="rect">
            <a:avLst/>
          </a:prstGeom>
          <a:solidFill>
            <a:srgbClr val="FBEDEC"/>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4" name="Google Shape;984;p49"/>
          <p:cNvSpPr/>
          <p:nvPr/>
        </p:nvSpPr>
        <p:spPr>
          <a:xfrm>
            <a:off x="658368" y="5074920"/>
            <a:ext cx="50292" cy="1005840"/>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5" name="Google Shape;985;p49"/>
          <p:cNvSpPr txBox="1"/>
          <p:nvPr/>
        </p:nvSpPr>
        <p:spPr>
          <a:xfrm>
            <a:off x="864108" y="5189220"/>
            <a:ext cx="10463479" cy="7772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400" b="0" i="0">
                <a:solidFill>
                  <a:srgbClr val="0A2540"/>
                </a:solidFill>
                <a:latin typeface="Calibri"/>
                <a:ea typeface="Calibri"/>
                <a:cs typeface="Calibri"/>
                <a:sym typeface="Calibri"/>
              </a:rPr>
              <a:t>Khác với Service Order Management: Overdo là nhóm lớn nhất (06/15 điểm) và Hold bị chi phối bởi một điểm duy nhất — chờ cung ứng 80 giờ. Vì vậy hướng cải tiến ưu tiên hạn chế ba vòng lặp xử lý lại và kiểm soát thời gian cung ứng, thay vì rút gọn các điểm chuyển giao.</a:t>
            </a:r>
            <a:endParaRPr/>
          </a:p>
        </p:txBody>
      </p:sp>
      <p:sp>
        <p:nvSpPr>
          <p:cNvPr id="3" name="Slide Number Placeholder 2">
            <a:extLst>
              <a:ext uri="{FF2B5EF4-FFF2-40B4-BE49-F238E27FC236}">
                <a16:creationId xmlns:a16="http://schemas.microsoft.com/office/drawing/2014/main" id="{C999E606-ABF5-E97C-1BEC-1C672F1486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pic>
        <p:nvPicPr>
          <p:cNvPr id="990" name="Google Shape;990;p50"/>
          <p:cNvPicPr preferRelativeResize="0"/>
          <p:nvPr/>
        </p:nvPicPr>
        <p:blipFill>
          <a:blip r:embed="rId3">
            <a:alphaModFix/>
          </a:blip>
          <a:srcRect/>
          <a:stretch/>
        </p:blipFill>
        <p:spPr>
          <a:xfrm>
            <a:off x="182879" y="1017894"/>
            <a:ext cx="6788191" cy="5702945"/>
          </a:xfrm>
          <a:prstGeom prst="rect">
            <a:avLst/>
          </a:prstGeom>
          <a:noFill/>
          <a:ln>
            <a:noFill/>
          </a:ln>
        </p:spPr>
      </p:pic>
      <p:sp>
        <p:nvSpPr>
          <p:cNvPr id="991" name="Google Shape;991;p50"/>
          <p:cNvSpPr/>
          <p:nvPr/>
        </p:nvSpPr>
        <p:spPr>
          <a:xfrm>
            <a:off x="0" y="-36576"/>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2" name="Google Shape;992;p50"/>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3" name="Google Shape;993;p50"/>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SỰ LÃNG PHÍ</a:t>
            </a:r>
            <a:endParaRPr/>
          </a:p>
        </p:txBody>
      </p:sp>
      <p:sp>
        <p:nvSpPr>
          <p:cNvPr id="994" name="Google Shape;994;p50"/>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Move / Hold / Overdo trên mô hình quy trình</a:t>
            </a:r>
            <a:endParaRPr/>
          </a:p>
        </p:txBody>
      </p:sp>
      <p:sp>
        <p:nvSpPr>
          <p:cNvPr id="3" name="Slide Number Placeholder 2">
            <a:extLst>
              <a:ext uri="{FF2B5EF4-FFF2-40B4-BE49-F238E27FC236}">
                <a16:creationId xmlns:a16="http://schemas.microsoft.com/office/drawing/2014/main" id="{CB99E1F7-2A5A-8054-EB7D-525E1097AD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
        <p:nvSpPr>
          <p:cNvPr id="5" name="Google Shape;692;p39">
            <a:extLst>
              <a:ext uri="{FF2B5EF4-FFF2-40B4-BE49-F238E27FC236}">
                <a16:creationId xmlns:a16="http://schemas.microsoft.com/office/drawing/2014/main" id="{89B20DC1-A61E-C8EB-A18C-ABF6C02B3B85}"/>
              </a:ext>
            </a:extLst>
          </p:cNvPr>
          <p:cNvSpPr txBox="1"/>
          <p:nvPr/>
        </p:nvSpPr>
        <p:spPr>
          <a:xfrm>
            <a:off x="7570446" y="1650594"/>
            <a:ext cx="3200400" cy="274320"/>
          </a:xfrm>
          <a:prstGeom prst="rect">
            <a:avLst/>
          </a:prstGeom>
          <a:noFill/>
          <a:ln>
            <a:noFill/>
          </a:ln>
        </p:spPr>
        <p:txBody>
          <a:bodyPr spcFirstLastPara="1" wrap="square" lIns="0" tIns="0" rIns="0" bIns="0" anchor="t" anchorCtr="0">
            <a:noAutofit/>
          </a:bodyPr>
          <a:lstStyle/>
          <a:p>
            <a:r>
              <a:rPr lang="en-US" b="1"/>
              <a:t>Move</a:t>
            </a:r>
            <a:r>
              <a:rPr lang="en-US"/>
              <a:t> </a:t>
            </a:r>
            <a:r>
              <a:rPr lang="en-US" sz="1400" b="1" i="0">
                <a:solidFill>
                  <a:srgbClr val="0A2540"/>
                </a:solidFill>
                <a:latin typeface="Calibri"/>
                <a:ea typeface="Calibri"/>
                <a:cs typeface="Calibri"/>
                <a:sym typeface="Calibri"/>
              </a:rPr>
              <a:t>— Chuyển giao / di chuyển</a:t>
            </a:r>
            <a:endParaRPr/>
          </a:p>
        </p:txBody>
      </p:sp>
      <p:sp>
        <p:nvSpPr>
          <p:cNvPr id="7" name="Google Shape;694;p39">
            <a:extLst>
              <a:ext uri="{FF2B5EF4-FFF2-40B4-BE49-F238E27FC236}">
                <a16:creationId xmlns:a16="http://schemas.microsoft.com/office/drawing/2014/main" id="{BF82E1D9-F6C6-318F-3CD2-3084660D4D80}"/>
              </a:ext>
            </a:extLst>
          </p:cNvPr>
          <p:cNvSpPr txBox="1"/>
          <p:nvPr/>
        </p:nvSpPr>
        <p:spPr>
          <a:xfrm>
            <a:off x="7570446" y="2200270"/>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Hold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Chờ đợi</a:t>
            </a:r>
          </a:p>
        </p:txBody>
      </p:sp>
      <p:sp>
        <p:nvSpPr>
          <p:cNvPr id="9" name="Google Shape;696;p39">
            <a:extLst>
              <a:ext uri="{FF2B5EF4-FFF2-40B4-BE49-F238E27FC236}">
                <a16:creationId xmlns:a16="http://schemas.microsoft.com/office/drawing/2014/main" id="{BCDD2E36-80C1-5BA7-3EFB-6CE6B2CC59D8}"/>
              </a:ext>
            </a:extLst>
          </p:cNvPr>
          <p:cNvSpPr txBox="1"/>
          <p:nvPr/>
        </p:nvSpPr>
        <p:spPr>
          <a:xfrm>
            <a:off x="7570446" y="2702584"/>
            <a:ext cx="3200400" cy="274320"/>
          </a:xfrm>
          <a:prstGeom prst="rect">
            <a:avLst/>
          </a:prstGeom>
          <a:noFill/>
          <a:ln>
            <a:noFill/>
          </a:ln>
        </p:spPr>
        <p:txBody>
          <a:bodyPr spcFirstLastPara="1" wrap="square" lIns="0" tIns="0" rIns="0" bIns="0" anchor="t" anchorCtr="0">
            <a:noAutofit/>
          </a:bodyPr>
          <a:lstStyle/>
          <a:p>
            <a:r>
              <a:rPr lang="en-US" b="1">
                <a:latin typeface="Calibri" panose="020F0502020204030204" pitchFamily="34" charset="0"/>
                <a:ea typeface="Calibri" panose="020F0502020204030204" pitchFamily="34" charset="0"/>
                <a:cs typeface="Calibri" panose="020F0502020204030204" pitchFamily="34" charset="0"/>
              </a:rPr>
              <a:t>Overdo </a:t>
            </a:r>
            <a:r>
              <a:rPr lang="en-US" b="1">
                <a:solidFill>
                  <a:srgbClr val="0A2540"/>
                </a:solidFill>
                <a:latin typeface="Calibri"/>
                <a:ea typeface="Calibri"/>
                <a:cs typeface="Calibri"/>
                <a:sym typeface="Calibri"/>
              </a:rPr>
              <a:t>—</a:t>
            </a:r>
            <a:r>
              <a:rPr lang="en-US" b="1">
                <a:latin typeface="Calibri" panose="020F0502020204030204" pitchFamily="34" charset="0"/>
                <a:ea typeface="Calibri" panose="020F0502020204030204" pitchFamily="34" charset="0"/>
                <a:cs typeface="Calibri" panose="020F0502020204030204" pitchFamily="34" charset="0"/>
              </a:rPr>
              <a:t> Xử lý quá mức </a:t>
            </a:r>
          </a:p>
        </p:txBody>
      </p:sp>
      <p:sp>
        <p:nvSpPr>
          <p:cNvPr id="11" name="Rectangle: Rounded Corners 10">
            <a:extLst>
              <a:ext uri="{FF2B5EF4-FFF2-40B4-BE49-F238E27FC236}">
                <a16:creationId xmlns:a16="http://schemas.microsoft.com/office/drawing/2014/main" id="{A49830E6-2F9E-E0E7-9386-CBD97A165C6F}"/>
              </a:ext>
            </a:extLst>
          </p:cNvPr>
          <p:cNvSpPr/>
          <p:nvPr/>
        </p:nvSpPr>
        <p:spPr>
          <a:xfrm>
            <a:off x="7152771" y="1663836"/>
            <a:ext cx="235974" cy="197871"/>
          </a:xfrm>
          <a:prstGeom prst="roundRect">
            <a:avLst/>
          </a:prstGeom>
          <a:solidFill>
            <a:srgbClr val="CBE7CC"/>
          </a:solidFill>
          <a:ln>
            <a:solidFill>
              <a:srgbClr val="CBE7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4A32475-5C90-E5BB-AA34-05C0363C38E2}"/>
              </a:ext>
            </a:extLst>
          </p:cNvPr>
          <p:cNvSpPr/>
          <p:nvPr/>
        </p:nvSpPr>
        <p:spPr>
          <a:xfrm>
            <a:off x="7152771" y="2238494"/>
            <a:ext cx="235974" cy="197871"/>
          </a:xfrm>
          <a:prstGeom prst="roundRect">
            <a:avLst/>
          </a:prstGeom>
          <a:solidFill>
            <a:srgbClr val="E3C1E8"/>
          </a:solidFill>
          <a:ln>
            <a:solidFill>
              <a:srgbClr val="E3C1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802125A4-8E8C-424E-A8A9-533B85774945}"/>
              </a:ext>
            </a:extLst>
          </p:cNvPr>
          <p:cNvSpPr/>
          <p:nvPr/>
        </p:nvSpPr>
        <p:spPr>
          <a:xfrm>
            <a:off x="7152771" y="2740808"/>
            <a:ext cx="235974" cy="197871"/>
          </a:xfrm>
          <a:prstGeom prst="roundRect">
            <a:avLst/>
          </a:prstGeom>
          <a:solidFill>
            <a:srgbClr val="BEE0FB"/>
          </a:solidFill>
          <a:ln>
            <a:solidFill>
              <a:srgbClr val="BEE0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p51"/>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TÍNH - PHÂN TÍCH CÁC BÊN LIÊN QUAN</a:t>
            </a:r>
            <a:endParaRPr/>
          </a:p>
        </p:txBody>
      </p:sp>
      <p:sp>
        <p:nvSpPr>
          <p:cNvPr id="1010" name="Google Shape;1010;p51"/>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BỐN NHÓM NGUYÊN NHÂN KÉO DÀI THỜI GIAN MUA HÀNG</a:t>
            </a:r>
            <a:endParaRPr/>
          </a:p>
        </p:txBody>
      </p:sp>
      <p:sp>
        <p:nvSpPr>
          <p:cNvPr id="1011" name="Google Shape;1011;p5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5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3" name="Google Shape;1013;p51"/>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4.10 — Vấn đề trung tâm: “Thời gian hoàn tất quy trình mua hàng có thể bị kéo dài”</a:t>
            </a:r>
            <a:endParaRPr/>
          </a:p>
        </p:txBody>
      </p:sp>
      <p:sp>
        <p:nvSpPr>
          <p:cNvPr id="1016" name="Google Shape;1016;p51"/>
          <p:cNvSpPr/>
          <p:nvPr/>
        </p:nvSpPr>
        <p:spPr>
          <a:xfrm>
            <a:off x="658368"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17" name="Google Shape;1017;p51"/>
          <p:cNvSpPr/>
          <p:nvPr/>
        </p:nvSpPr>
        <p:spPr>
          <a:xfrm>
            <a:off x="658368" y="1737360"/>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18" name="Google Shape;1018;p51"/>
          <p:cNvSpPr txBox="1"/>
          <p:nvPr/>
        </p:nvSpPr>
        <p:spPr>
          <a:xfrm>
            <a:off x="864108"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96D6"/>
                </a:solidFill>
                <a:latin typeface="Calibri"/>
                <a:ea typeface="Calibri"/>
                <a:cs typeface="Calibri"/>
                <a:sym typeface="Calibri"/>
              </a:rPr>
              <a:t>PEOPLE</a:t>
            </a:r>
            <a:endParaRPr sz="1600"/>
          </a:p>
        </p:txBody>
      </p:sp>
      <p:sp>
        <p:nvSpPr>
          <p:cNvPr id="1019" name="Google Shape;1019;p51"/>
          <p:cNvSpPr txBox="1"/>
          <p:nvPr/>
        </p:nvSpPr>
        <p:spPr>
          <a:xfrm>
            <a:off x="864108"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Con người</a:t>
            </a:r>
            <a:endParaRPr sz="1600"/>
          </a:p>
        </p:txBody>
      </p:sp>
      <p:sp>
        <p:nvSpPr>
          <p:cNvPr id="1020" name="Google Shape;1020;p51"/>
          <p:cNvSpPr txBox="1"/>
          <p:nvPr/>
        </p:nvSpPr>
        <p:spPr>
          <a:xfrm>
            <a:off x="864108"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Requester có thể cung cấp thông tin PR chưa đầy đủ.</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Quá trình phê duyệt phụ thuộc vào Approver.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Xử lý sai lệch cần phối hợp giữa Warehouse và Supplier.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Việc chỉnh sửa hóa đơn phụ thuộc phản hồi của Supplier.</a:t>
            </a:r>
            <a:endParaRPr sz="1600"/>
          </a:p>
        </p:txBody>
      </p:sp>
      <p:sp>
        <p:nvSpPr>
          <p:cNvPr id="1021" name="Google Shape;1021;p51"/>
          <p:cNvSpPr/>
          <p:nvPr/>
        </p:nvSpPr>
        <p:spPr>
          <a:xfrm>
            <a:off x="3422827"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2" name="Google Shape;1022;p51"/>
          <p:cNvSpPr/>
          <p:nvPr/>
        </p:nvSpPr>
        <p:spPr>
          <a:xfrm>
            <a:off x="3422827" y="1737360"/>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3" name="Google Shape;1023;p51"/>
          <p:cNvSpPr txBox="1"/>
          <p:nvPr/>
        </p:nvSpPr>
        <p:spPr>
          <a:xfrm>
            <a:off x="3628567"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0392B"/>
                </a:solidFill>
                <a:latin typeface="Calibri"/>
                <a:ea typeface="Calibri"/>
                <a:cs typeface="Calibri"/>
                <a:sym typeface="Calibri"/>
              </a:rPr>
              <a:t>INFORMATION</a:t>
            </a:r>
            <a:endParaRPr sz="1600"/>
          </a:p>
        </p:txBody>
      </p:sp>
      <p:sp>
        <p:nvSpPr>
          <p:cNvPr id="1024" name="Google Shape;1024;p51"/>
          <p:cNvSpPr txBox="1"/>
          <p:nvPr/>
        </p:nvSpPr>
        <p:spPr>
          <a:xfrm>
            <a:off x="3628567"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Thông tin</a:t>
            </a:r>
            <a:endParaRPr sz="1600"/>
          </a:p>
        </p:txBody>
      </p:sp>
      <p:sp>
        <p:nvSpPr>
          <p:cNvPr id="1025" name="Google Shape;1025;p51"/>
          <p:cNvSpPr txBox="1"/>
          <p:nvPr/>
        </p:nvSpPr>
        <p:spPr>
          <a:xfrm>
            <a:off x="3628567"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Thông tin PR có thể cần bổ sung hoặc chỉnh sửa.</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Hàng hóa thực nhận có thể không phù hợp với PO.</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Thông tin hóa đơn có thể không phù hợp với PO / GR.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Thông tin trao đổi giữa nhiều đối tượng trong quá trình.</a:t>
            </a:r>
            <a:endParaRPr sz="1600"/>
          </a:p>
        </p:txBody>
      </p:sp>
      <p:sp>
        <p:nvSpPr>
          <p:cNvPr id="1026" name="Google Shape;1026;p51"/>
          <p:cNvSpPr/>
          <p:nvPr/>
        </p:nvSpPr>
        <p:spPr>
          <a:xfrm>
            <a:off x="6187286"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7" name="Google Shape;1027;p51"/>
          <p:cNvSpPr/>
          <p:nvPr/>
        </p:nvSpPr>
        <p:spPr>
          <a:xfrm>
            <a:off x="6187286" y="1737360"/>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28" name="Google Shape;1028;p51"/>
          <p:cNvSpPr txBox="1"/>
          <p:nvPr/>
        </p:nvSpPr>
        <p:spPr>
          <a:xfrm>
            <a:off x="6393026"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87F0A"/>
                </a:solidFill>
                <a:latin typeface="Calibri"/>
                <a:ea typeface="Calibri"/>
                <a:cs typeface="Calibri"/>
                <a:sym typeface="Calibri"/>
              </a:rPr>
              <a:t>PROCESS</a:t>
            </a:r>
            <a:endParaRPr sz="1600"/>
          </a:p>
        </p:txBody>
      </p:sp>
      <p:sp>
        <p:nvSpPr>
          <p:cNvPr id="1029" name="Google Shape;1029;p51"/>
          <p:cNvSpPr txBox="1"/>
          <p:nvPr/>
        </p:nvSpPr>
        <p:spPr>
          <a:xfrm>
            <a:off x="6393026"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Quy trình</a:t>
            </a:r>
            <a:endParaRPr sz="1600"/>
          </a:p>
        </p:txBody>
      </p:sp>
      <p:sp>
        <p:nvSpPr>
          <p:cNvPr id="1030" name="Google Shape;1030;p51"/>
          <p:cNvSpPr txBox="1"/>
          <p:nvPr/>
        </p:nvSpPr>
        <p:spPr>
          <a:xfrm>
            <a:off x="6393026"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PR chưa đạt yêu cầu làm phát sinh vòng lặp bổ sung.</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Chưa có Supplier phù hợp làm phát sinh bước tìm mới.</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Sai lệch hàng hóa làm phát sinh vòng lặp điều chỉnh.</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Hóa đơn chưa phù hợp làm phát sinh vòng lặp chỉnh sửa.</a:t>
            </a:r>
            <a:endParaRPr sz="1600"/>
          </a:p>
        </p:txBody>
      </p:sp>
      <p:sp>
        <p:nvSpPr>
          <p:cNvPr id="1031" name="Google Shape;1031;p51"/>
          <p:cNvSpPr/>
          <p:nvPr/>
        </p:nvSpPr>
        <p:spPr>
          <a:xfrm>
            <a:off x="8951745" y="1737360"/>
            <a:ext cx="2581579" cy="338328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2" name="Google Shape;1032;p51"/>
          <p:cNvSpPr/>
          <p:nvPr/>
        </p:nvSpPr>
        <p:spPr>
          <a:xfrm>
            <a:off x="8951745" y="1737360"/>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3" name="Google Shape;1033;p51"/>
          <p:cNvSpPr txBox="1"/>
          <p:nvPr/>
        </p:nvSpPr>
        <p:spPr>
          <a:xfrm>
            <a:off x="9157485" y="1920240"/>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C2A8"/>
                </a:solidFill>
                <a:latin typeface="Calibri"/>
                <a:ea typeface="Calibri"/>
                <a:cs typeface="Calibri"/>
                <a:sym typeface="Calibri"/>
              </a:rPr>
              <a:t>TOOLS / SYSTEM</a:t>
            </a:r>
            <a:endParaRPr sz="1600"/>
          </a:p>
        </p:txBody>
      </p:sp>
      <p:sp>
        <p:nvSpPr>
          <p:cNvPr id="1034" name="Google Shape;1034;p51"/>
          <p:cNvSpPr txBox="1"/>
          <p:nvPr/>
        </p:nvSpPr>
        <p:spPr>
          <a:xfrm>
            <a:off x="9157485" y="2240280"/>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600" b="1" i="0">
                <a:solidFill>
                  <a:srgbClr val="0A2540"/>
                </a:solidFill>
                <a:latin typeface="Calibri"/>
                <a:ea typeface="Calibri"/>
                <a:cs typeface="Calibri"/>
                <a:sym typeface="Calibri"/>
              </a:rPr>
              <a:t>Công cụ – Hệ thống</a:t>
            </a:r>
            <a:endParaRPr sz="1600"/>
          </a:p>
        </p:txBody>
      </p:sp>
      <p:sp>
        <p:nvSpPr>
          <p:cNvPr id="1035" name="Google Shape;1035;p51"/>
          <p:cNvSpPr txBox="1"/>
          <p:nvPr/>
        </p:nvSpPr>
        <p:spPr>
          <a:xfrm>
            <a:off x="9157485" y="2606040"/>
            <a:ext cx="2170099" cy="237744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Mức độ chuẩn hóa thông tin khi tạo PR.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duy trì và sử dụng lại thông tin Supplier.</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đối chiếu tự động PR / PO / GR / hóa đơn.</a:t>
            </a:r>
            <a:endParaRPr sz="1600"/>
          </a:p>
          <a:p>
            <a:pPr marL="0" marR="0" lvl="0" indent="0" algn="l" rtl="0">
              <a:lnSpc>
                <a:spcPct val="112000"/>
              </a:lnSpc>
              <a:spcBef>
                <a:spcPts val="200"/>
              </a:spcBef>
              <a:spcAft>
                <a:spcPts val="0"/>
              </a:spcAft>
              <a:buNone/>
            </a:pPr>
            <a:r>
              <a:rPr lang="en-US" b="0" i="0">
                <a:solidFill>
                  <a:srgbClr val="6B7784"/>
                </a:solidFill>
                <a:latin typeface="Calibri"/>
                <a:ea typeface="Calibri"/>
                <a:cs typeface="Calibri"/>
                <a:sym typeface="Calibri"/>
              </a:rPr>
              <a:t>Khả năng theo dõi trạng thái xử lý của giao dịch.</a:t>
            </a:r>
            <a:endParaRPr sz="1600"/>
          </a:p>
        </p:txBody>
      </p:sp>
      <p:sp>
        <p:nvSpPr>
          <p:cNvPr id="1036" name="Google Shape;1036;p51"/>
          <p:cNvSpPr/>
          <p:nvPr/>
        </p:nvSpPr>
        <p:spPr>
          <a:xfrm>
            <a:off x="658368" y="5257800"/>
            <a:ext cx="10874959" cy="59436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7" name="Google Shape;1037;p51"/>
          <p:cNvSpPr/>
          <p:nvPr/>
        </p:nvSpPr>
        <p:spPr>
          <a:xfrm>
            <a:off x="658368" y="5257800"/>
            <a:ext cx="50292" cy="59436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038" name="Google Shape;1038;p51"/>
          <p:cNvSpPr txBox="1"/>
          <p:nvPr/>
        </p:nvSpPr>
        <p:spPr>
          <a:xfrm>
            <a:off x="864108" y="5372100"/>
            <a:ext cx="10463479" cy="36576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00" b="0" i="0">
                <a:solidFill>
                  <a:srgbClr val="0A2540"/>
                </a:solidFill>
                <a:latin typeface="Calibri"/>
                <a:ea typeface="Calibri"/>
                <a:cs typeface="Calibri"/>
                <a:sym typeface="Calibri"/>
              </a:rPr>
              <a:t>Giống Service Order Management, nguyên nhân không tập trung tại một đối tượng hay hoạt động riêng lẻ. Nhóm Thông tin và Quy trình có liên hệ rõ nhất với kết quả Waste Analysis — đặc biệt là ba vòng lặp bổ sung PR, điều chỉnh hàng hóa và chỉnh sửa hóa đơn. Hướng ưu tiên: nâng cao độ chính xác thông tin từ đầu, hạn chế sai lệch chứng từ và kiểm soát thời gian cung ứng.</a:t>
            </a:r>
            <a:endParaRPr sz="1600"/>
          </a:p>
        </p:txBody>
      </p:sp>
      <p:sp>
        <p:nvSpPr>
          <p:cNvPr id="2" name="Footer Placeholder 1">
            <a:extLst>
              <a:ext uri="{FF2B5EF4-FFF2-40B4-BE49-F238E27FC236}">
                <a16:creationId xmlns:a16="http://schemas.microsoft.com/office/drawing/2014/main" id="{56E4A83E-2833-9BE7-DB29-C94ABAD51D4F}"/>
              </a:ext>
            </a:extLst>
          </p:cNvPr>
          <p:cNvSpPr>
            <a:spLocks noGrp="1"/>
          </p:cNvSpPr>
          <p:nvPr>
            <p:ph type="ftr" idx="11"/>
          </p:nvPr>
        </p:nvSpPr>
        <p:spPr>
          <a:xfrm>
            <a:off x="658368" y="6355080"/>
            <a:ext cx="4730573"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5802CD7B-3FA5-C077-C9F4-585D8C4D85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52"/>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4" name="Google Shape;1044;p52"/>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5" name="Google Shape;1045;p52"/>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PHÂN TÍCH ĐỊNH TÍNH - PHÂN TÍCH CÁC BÊN LIÊN QUAN</a:t>
            </a:r>
            <a:endParaRPr/>
          </a:p>
        </p:txBody>
      </p:sp>
      <p:sp>
        <p:nvSpPr>
          <p:cNvPr id="1046" name="Google Shape;1046;p52"/>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Sơ đồ xương cá (Fishbone Diagram)</a:t>
            </a:r>
            <a:endParaRPr/>
          </a:p>
        </p:txBody>
      </p:sp>
      <p:pic>
        <p:nvPicPr>
          <p:cNvPr id="1051" name="Google Shape;1051;p52"/>
          <p:cNvPicPr preferRelativeResize="0"/>
          <p:nvPr/>
        </p:nvPicPr>
        <p:blipFill>
          <a:blip r:embed="rId3">
            <a:alphaModFix/>
          </a:blip>
          <a:srcRect/>
          <a:stretch/>
        </p:blipFill>
        <p:spPr>
          <a:xfrm>
            <a:off x="334296" y="996696"/>
            <a:ext cx="10019071" cy="5358384"/>
          </a:xfrm>
          <a:prstGeom prst="rect">
            <a:avLst/>
          </a:prstGeom>
          <a:noFill/>
          <a:ln>
            <a:noFill/>
          </a:ln>
        </p:spPr>
      </p:pic>
      <p:sp>
        <p:nvSpPr>
          <p:cNvPr id="2" name="Footer Placeholder 1">
            <a:extLst>
              <a:ext uri="{FF2B5EF4-FFF2-40B4-BE49-F238E27FC236}">
                <a16:creationId xmlns:a16="http://schemas.microsoft.com/office/drawing/2014/main" id="{8414C04E-C51B-3DD7-E4E0-440A1FB4557F}"/>
              </a:ext>
            </a:extLst>
          </p:cNvPr>
          <p:cNvSpPr>
            <a:spLocks noGrp="1"/>
          </p:cNvSpPr>
          <p:nvPr>
            <p:ph type="ftr" idx="11"/>
          </p:nvPr>
        </p:nvSpPr>
        <p:spPr>
          <a:xfrm>
            <a:off x="182880" y="6263326"/>
            <a:ext cx="506607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819DA008-5AA4-44E0-17C9-5C2735BA8E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53"/>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PHÂN TÍCH ĐỊNH LƯỢNG - PHÂN TÍCH THỜI GIAN (TIME)</a:t>
            </a:r>
            <a:endParaRPr/>
          </a:p>
        </p:txBody>
      </p:sp>
      <p:sp>
        <p:nvSpPr>
          <p:cNvPr id="1057" name="Google Shape;1057;p53"/>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CÁC ĐIỂM CHI PHỐI THỜI GIAN CỦA QUY TRÌNH</a:t>
            </a:r>
            <a:endParaRPr/>
          </a:p>
        </p:txBody>
      </p:sp>
      <p:sp>
        <p:nvSpPr>
          <p:cNvPr id="1058" name="Google Shape;1058;p53"/>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53"/>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0" name="Google Shape;1060;p53"/>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Trích từ Bảng 4.11 (17 hoạt động) — các bước có Waiting Time hoặc Processing Time lớn  ·  01 ngày = 08 giờ</a:t>
            </a:r>
            <a:endParaRPr/>
          </a:p>
        </p:txBody>
      </p:sp>
      <p:graphicFrame>
        <p:nvGraphicFramePr>
          <p:cNvPr id="1063" name="Google Shape;1063;p53"/>
          <p:cNvGraphicFramePr/>
          <p:nvPr>
            <p:extLst>
              <p:ext uri="{D42A27DB-BD31-4B8C-83A1-F6EECF244321}">
                <p14:modId xmlns:p14="http://schemas.microsoft.com/office/powerpoint/2010/main" val="1261589002"/>
              </p:ext>
            </p:extLst>
          </p:nvPr>
        </p:nvGraphicFramePr>
        <p:xfrm>
          <a:off x="658368" y="1701251"/>
          <a:ext cx="10874925" cy="3849668"/>
        </p:xfrm>
        <a:graphic>
          <a:graphicData uri="http://schemas.openxmlformats.org/drawingml/2006/table">
            <a:tbl>
              <a:tblPr firstRow="1">
                <a:noFill/>
                <a:tableStyleId>{65267F91-CA84-436A-A840-DCCC5366F6D9}</a:tableStyleId>
              </a:tblPr>
              <a:tblGrid>
                <a:gridCol w="4937750">
                  <a:extLst>
                    <a:ext uri="{9D8B030D-6E8A-4147-A177-3AD203B41FA5}">
                      <a16:colId xmlns:a16="http://schemas.microsoft.com/office/drawing/2014/main" val="20000"/>
                    </a:ext>
                  </a:extLst>
                </a:gridCol>
                <a:gridCol w="3154675">
                  <a:extLst>
                    <a:ext uri="{9D8B030D-6E8A-4147-A177-3AD203B41FA5}">
                      <a16:colId xmlns:a16="http://schemas.microsoft.com/office/drawing/2014/main" val="20001"/>
                    </a:ext>
                  </a:extLst>
                </a:gridCol>
                <a:gridCol w="1391250">
                  <a:extLst>
                    <a:ext uri="{9D8B030D-6E8A-4147-A177-3AD203B41FA5}">
                      <a16:colId xmlns:a16="http://schemas.microsoft.com/office/drawing/2014/main" val="20002"/>
                    </a:ext>
                  </a:extLst>
                </a:gridCol>
                <a:gridCol w="1391250">
                  <a:extLst>
                    <a:ext uri="{9D8B030D-6E8A-4147-A177-3AD203B41FA5}">
                      <a16:colId xmlns:a16="http://schemas.microsoft.com/office/drawing/2014/main" val="20003"/>
                    </a:ext>
                  </a:extLst>
                </a:gridCol>
              </a:tblGrid>
              <a:tr h="411475">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HOẠT ĐỘNG / GIAI ĐOẠN</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ĐỐI TƯỢNG CHÍNH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PT</a:t>
                      </a:r>
                      <a:endParaRPr sz="1600"/>
                    </a:p>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(giờ)</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WT</a:t>
                      </a:r>
                      <a:endParaRPr sz="1600"/>
                    </a:p>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(giờ)</a:t>
                      </a:r>
                      <a:endParaRPr sz="1600"/>
                    </a:p>
                  </a:txBody>
                  <a:tcPr marL="91450" marR="73150" marT="41150" marB="41150" anchor="ctr">
                    <a:solidFill>
                      <a:srgbClr val="0A2540"/>
                    </a:solidFill>
                  </a:tcPr>
                </a:tc>
                <a:extLst>
                  <a:ext uri="{0D108BD9-81ED-4DB2-BD59-A6C34878D82A}">
                    <a16:rowId xmlns:a16="http://schemas.microsoft.com/office/drawing/2014/main" val="10000"/>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Tạo Purchase Requisition (PR)</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Requester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600"/>
                    </a:p>
                  </a:txBody>
                  <a:tcPr marL="91450" marR="73150" marT="41150" marB="41150" anchor="ctr"/>
                </a:tc>
                <a:extLst>
                  <a:ext uri="{0D108BD9-81ED-4DB2-BD59-A6C34878D82A}">
                    <a16:rowId xmlns:a16="http://schemas.microsoft.com/office/drawing/2014/main" val="10001"/>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Xem xét và phê duyệt PR</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Approver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2"/>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thông tin mua hàng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Requester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3"/>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Tìm Supplier mới và chốt Quotation</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Procurement Specialist</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4,0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4"/>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Theo dõi quá trình cung ứng</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Procurement Specialist</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80,0</a:t>
                      </a:r>
                      <a:endParaRPr sz="1600"/>
                    </a:p>
                  </a:txBody>
                  <a:tcPr marL="91450" marR="73150" marT="41150" marB="41150" anchor="ctr"/>
                </a:tc>
                <a:extLst>
                  <a:ext uri="{0D108BD9-81ED-4DB2-BD59-A6C34878D82A}">
                    <a16:rowId xmlns:a16="http://schemas.microsoft.com/office/drawing/2014/main" val="10005"/>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Cung cấp hàng hóa theo PO</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00C2A8"/>
                          </a:solidFill>
                          <a:latin typeface="Calibri"/>
                          <a:ea typeface="Calibri"/>
                          <a:cs typeface="Calibri"/>
                          <a:sym typeface="Calibri"/>
                        </a:rPr>
                        <a:t>3,0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6B7784"/>
                          </a:solidFill>
                          <a:latin typeface="Calibri"/>
                          <a:ea typeface="Calibri"/>
                          <a:cs typeface="Calibri"/>
                          <a:sym typeface="Calibri"/>
                        </a:rPr>
                        <a:t>–</a:t>
                      </a:r>
                      <a:endParaRPr sz="1600"/>
                    </a:p>
                  </a:txBody>
                  <a:tcPr marL="91450" marR="73150" marT="41150" marB="41150" anchor="ctr"/>
                </a:tc>
                <a:extLst>
                  <a:ext uri="{0D108BD9-81ED-4DB2-BD59-A6C34878D82A}">
                    <a16:rowId xmlns:a16="http://schemas.microsoft.com/office/drawing/2014/main" val="10006"/>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Kiểm tra &amp; điều chỉnh hàng hóa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7"/>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Phát hành hóa đơn</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87F0A"/>
                          </a:solidFill>
                          <a:latin typeface="Calibri"/>
                          <a:ea typeface="Calibri"/>
                          <a:cs typeface="Calibri"/>
                          <a:sym typeface="Calibri"/>
                        </a:rPr>
                        <a:t>4,0</a:t>
                      </a:r>
                      <a:endParaRPr sz="1600"/>
                    </a:p>
                  </a:txBody>
                  <a:tcPr marL="91450" marR="73150" marT="41150" marB="41150" anchor="ctr"/>
                </a:tc>
                <a:extLst>
                  <a:ext uri="{0D108BD9-81ED-4DB2-BD59-A6C34878D82A}">
                    <a16:rowId xmlns:a16="http://schemas.microsoft.com/office/drawing/2014/main" val="10008"/>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Chỉnh sửa hóa đơn (nếu phát sinh)</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Supplier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09"/>
                  </a:ext>
                </a:extLst>
              </a:tr>
              <a:tr h="3200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Thanh toán và thông báo cho nhà cung cấp</a:t>
                      </a:r>
                      <a:endParaRPr sz="1600"/>
                    </a:p>
                  </a:txBody>
                  <a:tcPr marL="91450" marR="73150" marT="41150" marB="41150" anchor="ctr"/>
                </a:tc>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Finance / Accounts Payable</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8,0</a:t>
                      </a:r>
                      <a:endParaRPr sz="1600"/>
                    </a:p>
                  </a:txBody>
                  <a:tcPr marL="91450" marR="73150" marT="41150" marB="41150" anchor="ctr"/>
                </a:tc>
                <a:extLst>
                  <a:ext uri="{0D108BD9-81ED-4DB2-BD59-A6C34878D82A}">
                    <a16:rowId xmlns:a16="http://schemas.microsoft.com/office/drawing/2014/main" val="10010"/>
                  </a:ext>
                </a:extLst>
              </a:tr>
            </a:tbl>
          </a:graphicData>
        </a:graphic>
      </p:graphicFrame>
      <p:sp>
        <p:nvSpPr>
          <p:cNvPr id="1064" name="Google Shape;1064;p53"/>
          <p:cNvSpPr/>
          <p:nvPr/>
        </p:nvSpPr>
        <p:spPr>
          <a:xfrm>
            <a:off x="658368" y="5669280"/>
            <a:ext cx="10874959" cy="548640"/>
          </a:xfrm>
          <a:prstGeom prst="rect">
            <a:avLst/>
          </a:prstGeom>
          <a:solidFill>
            <a:srgbClr val="FBF4E8"/>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5" name="Google Shape;1065;p53"/>
          <p:cNvSpPr/>
          <p:nvPr/>
        </p:nvSpPr>
        <p:spPr>
          <a:xfrm>
            <a:off x="658368" y="5669280"/>
            <a:ext cx="50292" cy="548640"/>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6" name="Google Shape;1066;p53"/>
          <p:cNvSpPr txBox="1"/>
          <p:nvPr/>
        </p:nvSpPr>
        <p:spPr>
          <a:xfrm>
            <a:off x="864108" y="5783580"/>
            <a:ext cx="10463479" cy="320040"/>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050" b="0" i="0">
                <a:solidFill>
                  <a:srgbClr val="0A2540"/>
                </a:solidFill>
                <a:latin typeface="Calibri"/>
                <a:ea typeface="Calibri"/>
                <a:cs typeface="Calibri"/>
                <a:sym typeface="Calibri"/>
              </a:rPr>
              <a:t>80 giờ chờ cung ứng ≈ 10 ngày làm việc, chiếm phần lớn toàn bộ Cycle Time của quy trình — giá trị đại diện cho lead time thường gặp 1–3 tuần. Đây là điểm nghẽn chi phối, nhưng phần lớn phụ thuộc vào Supplier.</a:t>
            </a:r>
            <a:endParaRPr sz="1800"/>
          </a:p>
        </p:txBody>
      </p:sp>
      <p:sp>
        <p:nvSpPr>
          <p:cNvPr id="2" name="Footer Placeholder 1">
            <a:extLst>
              <a:ext uri="{FF2B5EF4-FFF2-40B4-BE49-F238E27FC236}">
                <a16:creationId xmlns:a16="http://schemas.microsoft.com/office/drawing/2014/main" id="{D00F1563-6306-D688-793B-B98F4CD7F9F4}"/>
              </a:ext>
            </a:extLst>
          </p:cNvPr>
          <p:cNvSpPr>
            <a:spLocks noGrp="1"/>
          </p:cNvSpPr>
          <p:nvPr>
            <p:ph type="ftr" idx="11"/>
          </p:nvPr>
        </p:nvSpPr>
        <p:spPr>
          <a:xfrm>
            <a:off x="683514" y="6401117"/>
            <a:ext cx="5262716"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1A0BC547-D08C-53E7-DC5F-D68D3C814A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p55"/>
          <p:cNvSpPr/>
          <p:nvPr/>
        </p:nvSpPr>
        <p:spPr>
          <a:xfrm>
            <a:off x="0" y="0"/>
            <a:ext cx="12191695" cy="859536"/>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5" name="Google Shape;1105;p55"/>
          <p:cNvSpPr/>
          <p:nvPr/>
        </p:nvSpPr>
        <p:spPr>
          <a:xfrm>
            <a:off x="0" y="0"/>
            <a:ext cx="182880" cy="859536"/>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6" name="Google Shape;1106;p55"/>
          <p:cNvSpPr txBox="1"/>
          <p:nvPr/>
        </p:nvSpPr>
        <p:spPr>
          <a:xfrm>
            <a:off x="475488" y="137160"/>
            <a:ext cx="795527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50" b="1" i="0">
                <a:solidFill>
                  <a:srgbClr val="00C2A8"/>
                </a:solidFill>
                <a:latin typeface="Calibri"/>
                <a:ea typeface="Calibri"/>
                <a:cs typeface="Calibri"/>
                <a:sym typeface="Calibri"/>
              </a:rPr>
              <a:t>CHƯƠNG 4 · </a:t>
            </a:r>
            <a:r>
              <a:rPr lang="vi-VN" sz="950" b="1" i="0">
                <a:solidFill>
                  <a:srgbClr val="00C2A8"/>
                </a:solidFill>
                <a:latin typeface="Calibri"/>
                <a:ea typeface="Calibri"/>
                <a:cs typeface="Calibri"/>
                <a:sym typeface="Calibri"/>
              </a:rPr>
              <a:t>PHÂN TÍCH ĐỊNH LƯỢNG - </a:t>
            </a:r>
            <a:r>
              <a:rPr lang="en-US" sz="950" b="1" i="0">
                <a:solidFill>
                  <a:srgbClr val="00C2A8"/>
                </a:solidFill>
                <a:latin typeface="Calibri"/>
                <a:ea typeface="Calibri"/>
                <a:cs typeface="Calibri"/>
                <a:sym typeface="Calibri"/>
              </a:rPr>
              <a:t>PHÂN TÍCH THỜI GIAN (TIME)</a:t>
            </a:r>
            <a:endParaRPr/>
          </a:p>
        </p:txBody>
      </p:sp>
      <p:sp>
        <p:nvSpPr>
          <p:cNvPr id="1107" name="Google Shape;1107;p55"/>
          <p:cNvSpPr txBox="1"/>
          <p:nvPr/>
        </p:nvSpPr>
        <p:spPr>
          <a:xfrm>
            <a:off x="475488" y="411480"/>
            <a:ext cx="7955279"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FFFFFF"/>
                </a:solidFill>
                <a:latin typeface="Calibri"/>
                <a:ea typeface="Calibri"/>
                <a:cs typeface="Calibri"/>
                <a:sym typeface="Calibri"/>
              </a:rPr>
              <a:t>S01 — Phân tích thời gian trên mô hình quy trình</a:t>
            </a:r>
            <a:endParaRPr/>
          </a:p>
        </p:txBody>
      </p:sp>
      <p:sp>
        <p:nvSpPr>
          <p:cNvPr id="1108" name="Google Shape;1108;p55"/>
          <p:cNvSpPr txBox="1"/>
          <p:nvPr/>
        </p:nvSpPr>
        <p:spPr>
          <a:xfrm>
            <a:off x="8595360" y="265176"/>
            <a:ext cx="3154680" cy="329184"/>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1400" b="1" i="0">
                <a:solidFill>
                  <a:srgbClr val="00C2A8"/>
                </a:solidFill>
                <a:latin typeface="Calibri"/>
                <a:ea typeface="Calibri"/>
                <a:cs typeface="Calibri"/>
                <a:sym typeface="Calibri"/>
              </a:rPr>
              <a:t>Hình 4.8</a:t>
            </a:r>
            <a:endParaRPr/>
          </a:p>
        </p:txBody>
      </p:sp>
      <p:pic>
        <p:nvPicPr>
          <p:cNvPr id="1112" name="Google Shape;1112;p55"/>
          <p:cNvPicPr preferRelativeResize="0"/>
          <p:nvPr/>
        </p:nvPicPr>
        <p:blipFill>
          <a:blip r:embed="rId3">
            <a:alphaModFix/>
          </a:blip>
          <a:srcRect/>
          <a:stretch/>
        </p:blipFill>
        <p:spPr>
          <a:xfrm>
            <a:off x="296938" y="996696"/>
            <a:ext cx="7696688" cy="5724144"/>
          </a:xfrm>
          <a:prstGeom prst="rect">
            <a:avLst/>
          </a:prstGeom>
          <a:noFill/>
          <a:ln>
            <a:noFill/>
          </a:ln>
        </p:spPr>
      </p:pic>
      <p:sp>
        <p:nvSpPr>
          <p:cNvPr id="3" name="Slide Number Placeholder 2">
            <a:extLst>
              <a:ext uri="{FF2B5EF4-FFF2-40B4-BE49-F238E27FC236}">
                <a16:creationId xmlns:a16="http://schemas.microsoft.com/office/drawing/2014/main" id="{334310FD-5A27-A64B-B93B-4A5A64DF88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54"/>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lvl="0"/>
            <a:r>
              <a:rPr lang="en-US" sz="1050" b="1" i="0">
                <a:solidFill>
                  <a:srgbClr val="0096D6"/>
                </a:solidFill>
                <a:latin typeface="Calibri"/>
                <a:ea typeface="Calibri"/>
                <a:cs typeface="Calibri"/>
                <a:sym typeface="Calibri"/>
              </a:rPr>
              <a:t>CHƯƠNG 4 · </a:t>
            </a:r>
            <a:r>
              <a:rPr lang="en-US" sz="1050" b="1">
                <a:solidFill>
                  <a:srgbClr val="0096D6"/>
                </a:solidFill>
                <a:latin typeface="Calibri"/>
                <a:ea typeface="Calibri"/>
                <a:cs typeface="Calibri"/>
                <a:sym typeface="Calibri"/>
              </a:rPr>
              <a:t>PHÂN TÍCH ĐỊNH LƯỢNG - </a:t>
            </a:r>
            <a:r>
              <a:rPr lang="en-US" sz="1050" b="1" i="0">
                <a:solidFill>
                  <a:srgbClr val="0096D6"/>
                </a:solidFill>
                <a:latin typeface="Calibri"/>
                <a:ea typeface="Calibri"/>
                <a:cs typeface="Calibri"/>
                <a:sym typeface="Calibri"/>
              </a:rPr>
              <a:t>PHÂN TÍCH THỜI GIAN (TIME)</a:t>
            </a:r>
            <a:endParaRPr/>
          </a:p>
        </p:txBody>
      </p:sp>
      <p:sp>
        <p:nvSpPr>
          <p:cNvPr id="1072" name="Google Shape;1072;p54"/>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CYCLE TIME VÀ HIỆU SUẤT THỜI GIAN</a:t>
            </a:r>
            <a:endParaRPr/>
          </a:p>
        </p:txBody>
      </p:sp>
      <p:sp>
        <p:nvSpPr>
          <p:cNvPr id="1073" name="Google Shape;1073;p54"/>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4" name="Google Shape;1074;p54"/>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5" name="Google Shape;1075;p54"/>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Luồng cơ sở (không phát sinh vòng lặp):  PT 9,75 giờ  +  WT 96 giờ  =  CT 105,75 giờ  ≈  13,22 ngày làm việc</a:t>
            </a:r>
            <a:endParaRPr/>
          </a:p>
        </p:txBody>
      </p:sp>
      <p:sp>
        <p:nvSpPr>
          <p:cNvPr id="1078" name="Google Shape;1078;p54"/>
          <p:cNvSpPr txBox="1"/>
          <p:nvPr/>
        </p:nvSpPr>
        <p:spPr>
          <a:xfrm>
            <a:off x="658368" y="169164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96D6"/>
                </a:solidFill>
                <a:latin typeface="Calibri"/>
                <a:ea typeface="Calibri"/>
                <a:cs typeface="Calibri"/>
                <a:sym typeface="Calibri"/>
              </a:rPr>
              <a:t>THỜI GIAN VÀ CHI PHÍ TĂNG THÊM TỪ 04 NHÁNH PHÁT SINH</a:t>
            </a:r>
            <a:endParaRPr sz="1800"/>
          </a:p>
        </p:txBody>
      </p:sp>
      <p:graphicFrame>
        <p:nvGraphicFramePr>
          <p:cNvPr id="1079" name="Google Shape;1079;p54"/>
          <p:cNvGraphicFramePr/>
          <p:nvPr>
            <p:extLst>
              <p:ext uri="{D42A27DB-BD31-4B8C-83A1-F6EECF244321}">
                <p14:modId xmlns:p14="http://schemas.microsoft.com/office/powerpoint/2010/main" val="1004537965"/>
              </p:ext>
            </p:extLst>
          </p:nvPr>
        </p:nvGraphicFramePr>
        <p:xfrm>
          <a:off x="658368" y="2011680"/>
          <a:ext cx="10874950" cy="2231090"/>
        </p:xfrm>
        <a:graphic>
          <a:graphicData uri="http://schemas.openxmlformats.org/drawingml/2006/table">
            <a:tbl>
              <a:tblPr firstRow="1">
                <a:noFill/>
                <a:tableStyleId>{65267F91-CA84-436A-A840-DCCC5366F6D9}</a:tableStyleId>
              </a:tblPr>
              <a:tblGrid>
                <a:gridCol w="3474725">
                  <a:extLst>
                    <a:ext uri="{9D8B030D-6E8A-4147-A177-3AD203B41FA5}">
                      <a16:colId xmlns:a16="http://schemas.microsoft.com/office/drawing/2014/main" val="20000"/>
                    </a:ext>
                  </a:extLst>
                </a:gridCol>
                <a:gridCol w="1188725">
                  <a:extLst>
                    <a:ext uri="{9D8B030D-6E8A-4147-A177-3AD203B41FA5}">
                      <a16:colId xmlns:a16="http://schemas.microsoft.com/office/drawing/2014/main" val="20001"/>
                    </a:ext>
                  </a:extLst>
                </a:gridCol>
                <a:gridCol w="1737350">
                  <a:extLst>
                    <a:ext uri="{9D8B030D-6E8A-4147-A177-3AD203B41FA5}">
                      <a16:colId xmlns:a16="http://schemas.microsoft.com/office/drawing/2014/main" val="20002"/>
                    </a:ext>
                  </a:extLst>
                </a:gridCol>
                <a:gridCol w="1737350">
                  <a:extLst>
                    <a:ext uri="{9D8B030D-6E8A-4147-A177-3AD203B41FA5}">
                      <a16:colId xmlns:a16="http://schemas.microsoft.com/office/drawing/2014/main" val="20003"/>
                    </a:ext>
                  </a:extLst>
                </a:gridCol>
                <a:gridCol w="2736800">
                  <a:extLst>
                    <a:ext uri="{9D8B030D-6E8A-4147-A177-3AD203B41FA5}">
                      <a16:colId xmlns:a16="http://schemas.microsoft.com/office/drawing/2014/main" val="20004"/>
                    </a:ext>
                  </a:extLst>
                </a:gridCol>
              </a:tblGrid>
              <a:tr h="365750">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TRƯỜNG HỢP PHÁT SINH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TỶ LỆ</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THỜI GIAN PHÁT SINH</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TÍNH VÀO CT</a:t>
                      </a:r>
                      <a:endParaRPr sz="1600"/>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CHI PHÍ TĂNG THÊM</a:t>
                      </a:r>
                      <a:endParaRPr sz="1600"/>
                    </a:p>
                  </a:txBody>
                  <a:tcPr marL="91450" marR="73150" marT="41150" marB="41150" anchor="ctr">
                    <a:solidFill>
                      <a:srgbClr val="0A2540"/>
                    </a:solidFill>
                  </a:tcPr>
                </a:tc>
                <a:extLst>
                  <a:ext uri="{0D108BD9-81ED-4DB2-BD59-A6C34878D82A}">
                    <a16:rowId xmlns:a16="http://schemas.microsoft.com/office/drawing/2014/main" val="10000"/>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Bổ sung / chỉnh sửa PR</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 + 4 = 4,5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0,675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11.250 đồng</a:t>
                      </a:r>
                      <a:endParaRPr sz="1600"/>
                    </a:p>
                  </a:txBody>
                  <a:tcPr marL="91450" marR="73150" marT="41150" marB="41150" anchor="ctr"/>
                </a:tc>
                <a:extLst>
                  <a:ext uri="{0D108BD9-81ED-4DB2-BD59-A6C34878D82A}">
                    <a16:rowId xmlns:a16="http://schemas.microsoft.com/office/drawing/2014/main" val="10001"/>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Tìm Supplier mới và chốt Quotation</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20%</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4 + 8 = 12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2,400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1" i="0" u="none" strike="noStrike" cap="none">
                          <a:solidFill>
                            <a:srgbClr val="C0392B"/>
                          </a:solidFill>
                          <a:latin typeface="Calibri"/>
                          <a:ea typeface="Calibri"/>
                          <a:cs typeface="Calibri"/>
                          <a:sym typeface="Calibri"/>
                        </a:rPr>
                        <a:t>120.000 đồng</a:t>
                      </a:r>
                      <a:endParaRPr sz="1600"/>
                    </a:p>
                  </a:txBody>
                  <a:tcPr marL="91450" marR="73150" marT="41150" marB="41150" anchor="ctr"/>
                </a:tc>
                <a:extLst>
                  <a:ext uri="{0D108BD9-81ED-4DB2-BD59-A6C34878D82A}">
                    <a16:rowId xmlns:a16="http://schemas.microsoft.com/office/drawing/2014/main" val="10002"/>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Điều chỉnh hàng hóa</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1 + 8 = 9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0,450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7.500 đồng</a:t>
                      </a:r>
                      <a:endParaRPr sz="1600"/>
                    </a:p>
                  </a:txBody>
                  <a:tcPr marL="91450" marR="73150" marT="41150" marB="41150" anchor="ctr"/>
                </a:tc>
                <a:extLst>
                  <a:ext uri="{0D108BD9-81ED-4DB2-BD59-A6C34878D82A}">
                    <a16:rowId xmlns:a16="http://schemas.microsoft.com/office/drawing/2014/main" val="10003"/>
                  </a:ext>
                </a:extLst>
              </a:tr>
              <a:tr h="365750">
                <a:tc>
                  <a:txBody>
                    <a:bodyPr/>
                    <a:lstStyle/>
                    <a:p>
                      <a:pPr marL="0" marR="0" lvl="0" indent="0" algn="l"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Chỉnh sửa hóa đơn</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5%</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0,5 + 8 = 8,5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0,425 giờ</a:t>
                      </a:r>
                      <a:endParaRPr sz="1600"/>
                    </a:p>
                  </a:txBody>
                  <a:tcPr marL="91450" marR="73150" marT="41150" marB="41150" anchor="ctr"/>
                </a:tc>
                <a:tc>
                  <a:txBody>
                    <a:bodyPr/>
                    <a:lstStyle/>
                    <a:p>
                      <a:pPr marL="0" marR="0" lvl="0" indent="0" algn="ctr" rtl="0">
                        <a:lnSpc>
                          <a:spcPct val="105000"/>
                        </a:lnSpc>
                        <a:spcBef>
                          <a:spcPts val="0"/>
                        </a:spcBef>
                        <a:spcAft>
                          <a:spcPts val="0"/>
                        </a:spcAft>
                        <a:buNone/>
                      </a:pPr>
                      <a:r>
                        <a:rPr lang="en-US" sz="1600" b="0" i="0" u="none" strike="noStrike" cap="none">
                          <a:solidFill>
                            <a:srgbClr val="0A2540"/>
                          </a:solidFill>
                          <a:latin typeface="Calibri"/>
                          <a:ea typeface="Calibri"/>
                          <a:cs typeface="Calibri"/>
                          <a:sym typeface="Calibri"/>
                        </a:rPr>
                        <a:t>3.750 đồng</a:t>
                      </a:r>
                      <a:endParaRPr sz="1600"/>
                    </a:p>
                  </a:txBody>
                  <a:tcPr marL="91450" marR="73150" marT="41150" marB="41150" anchor="ctr"/>
                </a:tc>
                <a:extLst>
                  <a:ext uri="{0D108BD9-81ED-4DB2-BD59-A6C34878D82A}">
                    <a16:rowId xmlns:a16="http://schemas.microsoft.com/office/drawing/2014/main" val="10004"/>
                  </a:ext>
                </a:extLst>
              </a:tr>
              <a:tr h="365750">
                <a:tc>
                  <a:txBody>
                    <a:bodyPr/>
                    <a:lstStyle/>
                    <a:p>
                      <a:pPr marL="0" marR="0" lvl="0" indent="0" algn="l"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TỔNG CỘNG</a:t>
                      </a:r>
                      <a:endParaRPr sz="1600"/>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endParaRPr sz="2000" u="none" strike="noStrike" cap="none">
                        <a:solidFill>
                          <a:schemeClr val="dk1"/>
                        </a:solidFill>
                        <a:latin typeface="Calibri"/>
                        <a:ea typeface="Calibri"/>
                        <a:cs typeface="Calibri"/>
                        <a:sym typeface="Calibri"/>
                      </a:endParaRPr>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endParaRPr sz="2000" u="none" strike="noStrike" cap="none">
                        <a:solidFill>
                          <a:schemeClr val="dk1"/>
                        </a:solidFill>
                        <a:latin typeface="Calibri"/>
                        <a:ea typeface="Calibri"/>
                        <a:cs typeface="Calibri"/>
                        <a:sym typeface="Calibri"/>
                      </a:endParaRPr>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3,950 giờ</a:t>
                      </a:r>
                      <a:endParaRPr sz="1600"/>
                    </a:p>
                  </a:txBody>
                  <a:tcPr marL="91450" marR="73150" marT="41150" marB="41150" anchor="ctr">
                    <a:solidFill>
                      <a:srgbClr val="EDF6FB"/>
                    </a:solidFill>
                  </a:tcPr>
                </a:tc>
                <a:tc>
                  <a:txBody>
                    <a:bodyPr/>
                    <a:lstStyle/>
                    <a:p>
                      <a:pPr marL="0" marR="0" lvl="0" indent="0" algn="ctr" rtl="0">
                        <a:lnSpc>
                          <a:spcPct val="105000"/>
                        </a:lnSpc>
                        <a:spcBef>
                          <a:spcPts val="0"/>
                        </a:spcBef>
                        <a:spcAft>
                          <a:spcPts val="0"/>
                        </a:spcAft>
                        <a:buNone/>
                      </a:pPr>
                      <a:r>
                        <a:rPr lang="en-US" sz="1600" b="1" i="0" u="none" strike="noStrike" cap="none">
                          <a:solidFill>
                            <a:srgbClr val="0A2540"/>
                          </a:solidFill>
                          <a:latin typeface="Calibri"/>
                          <a:ea typeface="Calibri"/>
                          <a:cs typeface="Calibri"/>
                          <a:sym typeface="Calibri"/>
                        </a:rPr>
                        <a:t>142.500 đồng</a:t>
                      </a:r>
                      <a:endParaRPr sz="1600"/>
                    </a:p>
                  </a:txBody>
                  <a:tcPr marL="91450" marR="73150" marT="41150" marB="41150" anchor="ctr">
                    <a:solidFill>
                      <a:srgbClr val="EDF6FB"/>
                    </a:solidFill>
                  </a:tcPr>
                </a:tc>
                <a:extLst>
                  <a:ext uri="{0D108BD9-81ED-4DB2-BD59-A6C34878D82A}">
                    <a16:rowId xmlns:a16="http://schemas.microsoft.com/office/drawing/2014/main" val="10005"/>
                  </a:ext>
                </a:extLst>
              </a:tr>
            </a:tbl>
          </a:graphicData>
        </a:graphic>
      </p:graphicFrame>
      <p:sp>
        <p:nvSpPr>
          <p:cNvPr id="1080" name="Google Shape;1080;p54"/>
          <p:cNvSpPr/>
          <p:nvPr/>
        </p:nvSpPr>
        <p:spPr>
          <a:xfrm>
            <a:off x="658368"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1" name="Google Shape;1081;p54"/>
          <p:cNvSpPr/>
          <p:nvPr/>
        </p:nvSpPr>
        <p:spPr>
          <a:xfrm>
            <a:off x="658368" y="4754880"/>
            <a:ext cx="254728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2" name="Google Shape;1082;p54"/>
          <p:cNvSpPr txBox="1"/>
          <p:nvPr/>
        </p:nvSpPr>
        <p:spPr>
          <a:xfrm>
            <a:off x="886968"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96D6"/>
                </a:solidFill>
                <a:latin typeface="Calibri"/>
                <a:ea typeface="Calibri"/>
                <a:cs typeface="Calibri"/>
                <a:sym typeface="Calibri"/>
              </a:rPr>
              <a:t>109,70 giờ</a:t>
            </a:r>
            <a:endParaRPr/>
          </a:p>
        </p:txBody>
      </p:sp>
      <p:sp>
        <p:nvSpPr>
          <p:cNvPr id="1083" name="Google Shape;1083;p54"/>
          <p:cNvSpPr txBox="1"/>
          <p:nvPr/>
        </p:nvSpPr>
        <p:spPr>
          <a:xfrm>
            <a:off x="886968"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CT TRUNG BÌNH</a:t>
            </a:r>
            <a:endParaRPr/>
          </a:p>
        </p:txBody>
      </p:sp>
      <p:sp>
        <p:nvSpPr>
          <p:cNvPr id="1084" name="Google Shape;1084;p54"/>
          <p:cNvSpPr txBox="1"/>
          <p:nvPr/>
        </p:nvSpPr>
        <p:spPr>
          <a:xfrm>
            <a:off x="886968"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105,75 + 3,95 giờ phát sinh có trọng số</a:t>
            </a:r>
            <a:endParaRPr/>
          </a:p>
        </p:txBody>
      </p:sp>
      <p:sp>
        <p:nvSpPr>
          <p:cNvPr id="1085" name="Google Shape;1085;p54"/>
          <p:cNvSpPr/>
          <p:nvPr/>
        </p:nvSpPr>
        <p:spPr>
          <a:xfrm>
            <a:off x="3434257"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6" name="Google Shape;1086;p54"/>
          <p:cNvSpPr/>
          <p:nvPr/>
        </p:nvSpPr>
        <p:spPr>
          <a:xfrm>
            <a:off x="3434257" y="4754880"/>
            <a:ext cx="2547289" cy="50292"/>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7" name="Google Shape;1087;p54"/>
          <p:cNvSpPr txBox="1"/>
          <p:nvPr/>
        </p:nvSpPr>
        <p:spPr>
          <a:xfrm>
            <a:off x="3662857"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A2540"/>
                </a:solidFill>
                <a:latin typeface="Calibri"/>
                <a:ea typeface="Calibri"/>
                <a:cs typeface="Calibri"/>
                <a:sym typeface="Calibri"/>
              </a:rPr>
              <a:t>13,71 ngày</a:t>
            </a:r>
            <a:endParaRPr/>
          </a:p>
        </p:txBody>
      </p:sp>
      <p:sp>
        <p:nvSpPr>
          <p:cNvPr id="1088" name="Google Shape;1088;p54"/>
          <p:cNvSpPr txBox="1"/>
          <p:nvPr/>
        </p:nvSpPr>
        <p:spPr>
          <a:xfrm>
            <a:off x="3662857"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QUY ĐỔI NGÀY LÀM VIỆC</a:t>
            </a:r>
            <a:endParaRPr/>
          </a:p>
        </p:txBody>
      </p:sp>
      <p:sp>
        <p:nvSpPr>
          <p:cNvPr id="1089" name="Google Shape;1089;p54"/>
          <p:cNvSpPr txBox="1"/>
          <p:nvPr/>
        </p:nvSpPr>
        <p:spPr>
          <a:xfrm>
            <a:off x="3662857"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109,70 ÷ 8 giờ</a:t>
            </a:r>
            <a:endParaRPr/>
          </a:p>
        </p:txBody>
      </p:sp>
      <p:sp>
        <p:nvSpPr>
          <p:cNvPr id="1090" name="Google Shape;1090;p54"/>
          <p:cNvSpPr/>
          <p:nvPr/>
        </p:nvSpPr>
        <p:spPr>
          <a:xfrm>
            <a:off x="6210146"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1" name="Google Shape;1091;p54"/>
          <p:cNvSpPr/>
          <p:nvPr/>
        </p:nvSpPr>
        <p:spPr>
          <a:xfrm>
            <a:off x="6210146" y="4754880"/>
            <a:ext cx="254728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2" name="Google Shape;1092;p54"/>
          <p:cNvSpPr txBox="1"/>
          <p:nvPr/>
        </p:nvSpPr>
        <p:spPr>
          <a:xfrm>
            <a:off x="6438746"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C2A8"/>
                </a:solidFill>
                <a:latin typeface="Calibri"/>
                <a:ea typeface="Calibri"/>
                <a:cs typeface="Calibri"/>
                <a:sym typeface="Calibri"/>
              </a:rPr>
              <a:t>10,70 giờ</a:t>
            </a:r>
            <a:endParaRPr/>
          </a:p>
        </p:txBody>
      </p:sp>
      <p:sp>
        <p:nvSpPr>
          <p:cNvPr id="1093" name="Google Shape;1093;p54"/>
          <p:cNvSpPr txBox="1"/>
          <p:nvPr/>
        </p:nvSpPr>
        <p:spPr>
          <a:xfrm>
            <a:off x="6438746"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PT TRUNG BÌNH</a:t>
            </a:r>
            <a:endParaRPr/>
          </a:p>
        </p:txBody>
      </p:sp>
      <p:sp>
        <p:nvSpPr>
          <p:cNvPr id="1094" name="Google Shape;1094;p54"/>
          <p:cNvSpPr txBox="1"/>
          <p:nvPr/>
        </p:nvSpPr>
        <p:spPr>
          <a:xfrm>
            <a:off x="6438746"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9,75 + 0,95 giờ phát sinh</a:t>
            </a:r>
            <a:endParaRPr/>
          </a:p>
        </p:txBody>
      </p:sp>
      <p:sp>
        <p:nvSpPr>
          <p:cNvPr id="1095" name="Google Shape;1095;p54"/>
          <p:cNvSpPr/>
          <p:nvPr/>
        </p:nvSpPr>
        <p:spPr>
          <a:xfrm>
            <a:off x="8986035" y="4754880"/>
            <a:ext cx="254728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6" name="Google Shape;1096;p54"/>
          <p:cNvSpPr/>
          <p:nvPr/>
        </p:nvSpPr>
        <p:spPr>
          <a:xfrm>
            <a:off x="8986035" y="475488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7" name="Google Shape;1097;p54"/>
          <p:cNvSpPr txBox="1"/>
          <p:nvPr/>
        </p:nvSpPr>
        <p:spPr>
          <a:xfrm>
            <a:off x="9214635" y="4892040"/>
            <a:ext cx="209008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00" b="1" i="0">
                <a:solidFill>
                  <a:srgbClr val="C0392B"/>
                </a:solidFill>
                <a:latin typeface="Calibri"/>
                <a:ea typeface="Calibri"/>
                <a:cs typeface="Calibri"/>
                <a:sym typeface="Calibri"/>
              </a:rPr>
              <a:t>9,75%</a:t>
            </a:r>
            <a:endParaRPr/>
          </a:p>
        </p:txBody>
      </p:sp>
      <p:sp>
        <p:nvSpPr>
          <p:cNvPr id="1098" name="Google Shape;1098;p54"/>
          <p:cNvSpPr txBox="1"/>
          <p:nvPr/>
        </p:nvSpPr>
        <p:spPr>
          <a:xfrm>
            <a:off x="9214635" y="5280660"/>
            <a:ext cx="209008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CYCLE TIME EFFICIENCY</a:t>
            </a:r>
            <a:endParaRPr/>
          </a:p>
        </p:txBody>
      </p:sp>
      <p:sp>
        <p:nvSpPr>
          <p:cNvPr id="1099" name="Google Shape;1099;p54"/>
          <p:cNvSpPr txBox="1"/>
          <p:nvPr/>
        </p:nvSpPr>
        <p:spPr>
          <a:xfrm>
            <a:off x="9214635" y="5509260"/>
            <a:ext cx="209008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10,70 ÷ 109,70 — hơn 90% là chờ đợi</a:t>
            </a:r>
            <a:endParaRPr/>
          </a:p>
        </p:txBody>
      </p:sp>
      <p:sp>
        <p:nvSpPr>
          <p:cNvPr id="2" name="Footer Placeholder 1">
            <a:extLst>
              <a:ext uri="{FF2B5EF4-FFF2-40B4-BE49-F238E27FC236}">
                <a16:creationId xmlns:a16="http://schemas.microsoft.com/office/drawing/2014/main" id="{F47F3AF8-1BB9-D489-578F-93FD00F6C86D}"/>
              </a:ext>
            </a:extLst>
          </p:cNvPr>
          <p:cNvSpPr>
            <a:spLocks noGrp="1"/>
          </p:cNvSpPr>
          <p:nvPr>
            <p:ph type="ftr" idx="11"/>
          </p:nvPr>
        </p:nvSpPr>
        <p:spPr>
          <a:xfrm>
            <a:off x="658368" y="6286101"/>
            <a:ext cx="4849761"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9C6DF17F-299A-21C2-B2DB-47DA79CA17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56"/>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a:t>
            </a:r>
            <a:r>
              <a:rPr lang="vi-VN" sz="1050" b="1" i="0">
                <a:solidFill>
                  <a:srgbClr val="0096D6"/>
                </a:solidFill>
                <a:latin typeface="Calibri"/>
                <a:ea typeface="Calibri"/>
                <a:cs typeface="Calibri"/>
                <a:sym typeface="Calibri"/>
              </a:rPr>
              <a:t>PHÂN TÍCH ĐỊNH LƯỢNG - </a:t>
            </a:r>
            <a:r>
              <a:rPr lang="en-US" sz="1050" b="1" i="0">
                <a:solidFill>
                  <a:srgbClr val="0096D6"/>
                </a:solidFill>
                <a:latin typeface="Calibri"/>
                <a:ea typeface="Calibri"/>
                <a:cs typeface="Calibri"/>
                <a:sym typeface="Calibri"/>
              </a:rPr>
              <a:t>CHẤT LƯỢNG VÀ CHI PHÍ</a:t>
            </a:r>
            <a:endParaRPr/>
          </a:p>
        </p:txBody>
      </p:sp>
      <p:sp>
        <p:nvSpPr>
          <p:cNvPr id="1118" name="Google Shape;1118;p56"/>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CHỈ SỐ CHẤT LƯỢNG VÀ CHI PHÍ NGUỒN LỰC</a:t>
            </a:r>
            <a:endParaRPr/>
          </a:p>
        </p:txBody>
      </p:sp>
      <p:sp>
        <p:nvSpPr>
          <p:cNvPr id="1119" name="Google Shape;1119;p56"/>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0" name="Google Shape;1120;p56"/>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1" name="Google Shape;1121;p56"/>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Bảng 4.13 — 05 chỉ số chất lượng   |   Bảng 4.14 — chi phí nguồn lực, giả định R = 150.000 đồng/giờ</a:t>
            </a:r>
            <a:endParaRPr/>
          </a:p>
        </p:txBody>
      </p:sp>
      <p:sp>
        <p:nvSpPr>
          <p:cNvPr id="1124" name="Google Shape;1124;p56"/>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0">
                <a:solidFill>
                  <a:srgbClr val="0096D6"/>
                </a:solidFill>
                <a:latin typeface="Calibri"/>
                <a:ea typeface="Calibri"/>
                <a:cs typeface="Calibri"/>
                <a:sym typeface="Calibri"/>
              </a:rPr>
              <a:t>05 CHỈ SỐ ĐÁNH GIÁ CHẤT LƯỢNG</a:t>
            </a:r>
            <a:endParaRPr sz="2000"/>
          </a:p>
        </p:txBody>
      </p:sp>
      <p:sp>
        <p:nvSpPr>
          <p:cNvPr id="1125" name="Google Shape;1125;p56"/>
          <p:cNvSpPr txBox="1"/>
          <p:nvPr/>
        </p:nvSpPr>
        <p:spPr>
          <a:xfrm>
            <a:off x="658368" y="2103120"/>
            <a:ext cx="5323459" cy="237744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None/>
            </a:pPr>
            <a:r>
              <a:rPr lang="en-US" sz="1600" b="0" i="0">
                <a:solidFill>
                  <a:srgbClr val="6B7784"/>
                </a:solidFill>
                <a:latin typeface="Calibri"/>
                <a:ea typeface="Calibri"/>
                <a:cs typeface="Calibri"/>
                <a:sym typeface="Calibri"/>
              </a:rPr>
              <a:t>•  Tỷ lệ PR được phê duyệt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PR phải bổ sung / chỉnh sửa</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hàng hóa phù hợp với PO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hóa đơn phù hợp ngay lần đầu</a:t>
            </a:r>
            <a:endParaRPr sz="1600"/>
          </a:p>
          <a:p>
            <a:pPr marL="0" marR="0" lvl="0" indent="0" algn="l" rtl="0">
              <a:lnSpc>
                <a:spcPct val="115000"/>
              </a:lnSpc>
              <a:spcBef>
                <a:spcPts val="600"/>
              </a:spcBef>
              <a:spcAft>
                <a:spcPts val="0"/>
              </a:spcAft>
              <a:buNone/>
            </a:pPr>
            <a:r>
              <a:rPr lang="en-US" sz="1600" b="0" i="0">
                <a:solidFill>
                  <a:srgbClr val="6B7784"/>
                </a:solidFill>
                <a:latin typeface="Calibri"/>
                <a:ea typeface="Calibri"/>
                <a:cs typeface="Calibri"/>
                <a:sym typeface="Calibri"/>
              </a:rPr>
              <a:t>•  Tỷ lệ giao dịch phát sinh xử lý lại</a:t>
            </a:r>
            <a:endParaRPr sz="1600"/>
          </a:p>
        </p:txBody>
      </p:sp>
      <p:sp>
        <p:nvSpPr>
          <p:cNvPr id="1126" name="Google Shape;1126;p56"/>
          <p:cNvSpPr txBox="1"/>
          <p:nvPr/>
        </p:nvSpPr>
        <p:spPr>
          <a:xfrm>
            <a:off x="658368" y="4480560"/>
            <a:ext cx="5323459" cy="7315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1">
                <a:solidFill>
                  <a:srgbClr val="6B7784"/>
                </a:solidFill>
                <a:latin typeface="Calibri"/>
                <a:ea typeface="Calibri"/>
                <a:cs typeface="Calibri"/>
                <a:sym typeface="Calibri"/>
              </a:rPr>
              <a:t>Ví dụ: 100 PR trong kỳ, 15 PR phải bổ sung / chỉnh sửa  →  15% phải xử lý lại, 85% được phê duyệt ngay lần đầu.</a:t>
            </a:r>
            <a:endParaRPr sz="1600"/>
          </a:p>
        </p:txBody>
      </p:sp>
      <p:sp>
        <p:nvSpPr>
          <p:cNvPr id="1127" name="Google Shape;1127;p56"/>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a:solidFill>
                  <a:srgbClr val="00C2A8"/>
                </a:solidFill>
                <a:latin typeface="Calibri"/>
                <a:ea typeface="Calibri"/>
                <a:cs typeface="Calibri"/>
                <a:sym typeface="Calibri"/>
              </a:rPr>
              <a:t>CHI PHÍ NGUỒN LỰC MỘT GIAO DỊCH MUA HÀNG</a:t>
            </a:r>
            <a:endParaRPr sz="2400"/>
          </a:p>
        </p:txBody>
      </p:sp>
      <p:sp>
        <p:nvSpPr>
          <p:cNvPr id="1128" name="Google Shape;1128;p56"/>
          <p:cNvSpPr/>
          <p:nvPr/>
        </p:nvSpPr>
        <p:spPr>
          <a:xfrm>
            <a:off x="6209868" y="21031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9" name="Google Shape;1129;p56"/>
          <p:cNvSpPr/>
          <p:nvPr/>
        </p:nvSpPr>
        <p:spPr>
          <a:xfrm>
            <a:off x="6209868" y="2103120"/>
            <a:ext cx="254742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0" name="Google Shape;1130;p56"/>
          <p:cNvSpPr txBox="1"/>
          <p:nvPr/>
        </p:nvSpPr>
        <p:spPr>
          <a:xfrm>
            <a:off x="6438468" y="22402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00C2A8"/>
                </a:solidFill>
                <a:latin typeface="Calibri"/>
                <a:ea typeface="Calibri"/>
                <a:cs typeface="Calibri"/>
                <a:sym typeface="Calibri"/>
              </a:rPr>
              <a:t>1.462.500 đ</a:t>
            </a:r>
            <a:endParaRPr/>
          </a:p>
        </p:txBody>
      </p:sp>
      <p:sp>
        <p:nvSpPr>
          <p:cNvPr id="1131" name="Google Shape;1131;p56"/>
          <p:cNvSpPr txBox="1"/>
          <p:nvPr/>
        </p:nvSpPr>
        <p:spPr>
          <a:xfrm>
            <a:off x="6438468" y="26289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LUỒNG CƠ SỞ</a:t>
            </a:r>
            <a:endParaRPr/>
          </a:p>
        </p:txBody>
      </p:sp>
      <p:sp>
        <p:nvSpPr>
          <p:cNvPr id="1132" name="Google Shape;1132;p56"/>
          <p:cNvSpPr txBox="1"/>
          <p:nvPr/>
        </p:nvSpPr>
        <p:spPr>
          <a:xfrm>
            <a:off x="6438468" y="28575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9,75 giờ × 150.000 đồng</a:t>
            </a:r>
            <a:endParaRPr/>
          </a:p>
        </p:txBody>
      </p:sp>
      <p:sp>
        <p:nvSpPr>
          <p:cNvPr id="1133" name="Google Shape;1133;p56"/>
          <p:cNvSpPr/>
          <p:nvPr/>
        </p:nvSpPr>
        <p:spPr>
          <a:xfrm>
            <a:off x="8985897" y="21031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4" name="Google Shape;1134;p56"/>
          <p:cNvSpPr/>
          <p:nvPr/>
        </p:nvSpPr>
        <p:spPr>
          <a:xfrm>
            <a:off x="8985897" y="2103120"/>
            <a:ext cx="254742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5" name="Google Shape;1135;p56"/>
          <p:cNvSpPr txBox="1"/>
          <p:nvPr/>
        </p:nvSpPr>
        <p:spPr>
          <a:xfrm>
            <a:off x="9214497" y="22402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0096D6"/>
                </a:solidFill>
                <a:latin typeface="Calibri"/>
                <a:ea typeface="Calibri"/>
                <a:cs typeface="Calibri"/>
                <a:sym typeface="Calibri"/>
              </a:rPr>
              <a:t>1.605.000 đ</a:t>
            </a:r>
            <a:endParaRPr/>
          </a:p>
        </p:txBody>
      </p:sp>
      <p:sp>
        <p:nvSpPr>
          <p:cNvPr id="1136" name="Google Shape;1136;p56"/>
          <p:cNvSpPr txBox="1"/>
          <p:nvPr/>
        </p:nvSpPr>
        <p:spPr>
          <a:xfrm>
            <a:off x="9214497" y="26289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TRUNG BÌNH</a:t>
            </a:r>
            <a:endParaRPr/>
          </a:p>
        </p:txBody>
      </p:sp>
      <p:sp>
        <p:nvSpPr>
          <p:cNvPr id="1137" name="Google Shape;1137;p56"/>
          <p:cNvSpPr txBox="1"/>
          <p:nvPr/>
        </p:nvSpPr>
        <p:spPr>
          <a:xfrm>
            <a:off x="9214497" y="28575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200" b="0" i="0">
                <a:solidFill>
                  <a:srgbClr val="6B7784"/>
                </a:solidFill>
                <a:latin typeface="Calibri"/>
                <a:ea typeface="Calibri"/>
                <a:cs typeface="Calibri"/>
                <a:sym typeface="Calibri"/>
              </a:rPr>
              <a:t>10,70 giờ × 150.000 đồng</a:t>
            </a:r>
            <a:endParaRPr/>
          </a:p>
        </p:txBody>
      </p:sp>
      <p:sp>
        <p:nvSpPr>
          <p:cNvPr id="1138" name="Google Shape;1138;p56"/>
          <p:cNvSpPr/>
          <p:nvPr/>
        </p:nvSpPr>
        <p:spPr>
          <a:xfrm>
            <a:off x="6209868" y="34747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9" name="Google Shape;1139;p56"/>
          <p:cNvSpPr/>
          <p:nvPr/>
        </p:nvSpPr>
        <p:spPr>
          <a:xfrm>
            <a:off x="6209868" y="3474720"/>
            <a:ext cx="254742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0" name="Google Shape;1140;p56"/>
          <p:cNvSpPr txBox="1"/>
          <p:nvPr/>
        </p:nvSpPr>
        <p:spPr>
          <a:xfrm>
            <a:off x="6438468" y="36118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C0392B"/>
                </a:solidFill>
                <a:latin typeface="Calibri"/>
                <a:ea typeface="Calibri"/>
                <a:cs typeface="Calibri"/>
                <a:sym typeface="Calibri"/>
              </a:rPr>
              <a:t>+142.500 đ</a:t>
            </a:r>
            <a:endParaRPr/>
          </a:p>
        </p:txBody>
      </p:sp>
      <p:sp>
        <p:nvSpPr>
          <p:cNvPr id="1141" name="Google Shape;1141;p56"/>
          <p:cNvSpPr txBox="1"/>
          <p:nvPr/>
        </p:nvSpPr>
        <p:spPr>
          <a:xfrm>
            <a:off x="6438468" y="40005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DO XỬ LÝ LẠI</a:t>
            </a:r>
            <a:endParaRPr/>
          </a:p>
        </p:txBody>
      </p:sp>
      <p:sp>
        <p:nvSpPr>
          <p:cNvPr id="1142" name="Google Shape;1142;p56"/>
          <p:cNvSpPr txBox="1"/>
          <p:nvPr/>
        </p:nvSpPr>
        <p:spPr>
          <a:xfrm>
            <a:off x="6438468" y="42291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100" b="0" i="0">
                <a:solidFill>
                  <a:srgbClr val="6B7784"/>
                </a:solidFill>
                <a:latin typeface="Calibri"/>
                <a:ea typeface="Calibri"/>
                <a:cs typeface="Calibri"/>
                <a:sym typeface="Calibri"/>
              </a:rPr>
              <a:t>tương ứng 0,95 giờ công phát sinh</a:t>
            </a:r>
            <a:endParaRPr/>
          </a:p>
        </p:txBody>
      </p:sp>
      <p:sp>
        <p:nvSpPr>
          <p:cNvPr id="1143" name="Google Shape;1143;p56"/>
          <p:cNvSpPr/>
          <p:nvPr/>
        </p:nvSpPr>
        <p:spPr>
          <a:xfrm>
            <a:off x="8985897" y="3474720"/>
            <a:ext cx="2547429" cy="11887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4" name="Google Shape;1144;p56"/>
          <p:cNvSpPr/>
          <p:nvPr/>
        </p:nvSpPr>
        <p:spPr>
          <a:xfrm>
            <a:off x="8985897" y="3474720"/>
            <a:ext cx="254742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5" name="Google Shape;1145;p56"/>
          <p:cNvSpPr txBox="1"/>
          <p:nvPr/>
        </p:nvSpPr>
        <p:spPr>
          <a:xfrm>
            <a:off x="9214497" y="3611880"/>
            <a:ext cx="2090229" cy="3886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700" b="1" i="0">
                <a:solidFill>
                  <a:srgbClr val="C0392B"/>
                </a:solidFill>
                <a:latin typeface="Calibri"/>
                <a:ea typeface="Calibri"/>
                <a:cs typeface="Calibri"/>
                <a:sym typeface="Calibri"/>
              </a:rPr>
              <a:t>84%</a:t>
            </a:r>
            <a:endParaRPr/>
          </a:p>
        </p:txBody>
      </p:sp>
      <p:sp>
        <p:nvSpPr>
          <p:cNvPr id="1146" name="Google Shape;1146;p56"/>
          <p:cNvSpPr txBox="1"/>
          <p:nvPr/>
        </p:nvSpPr>
        <p:spPr>
          <a:xfrm>
            <a:off x="9214497" y="4000500"/>
            <a:ext cx="2090229" cy="2057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A2540"/>
                </a:solidFill>
                <a:latin typeface="Calibri"/>
                <a:ea typeface="Calibri"/>
                <a:cs typeface="Calibri"/>
                <a:sym typeface="Calibri"/>
              </a:rPr>
              <a:t>DO TÌM SUPPLIER MỚI</a:t>
            </a:r>
            <a:endParaRPr/>
          </a:p>
        </p:txBody>
      </p:sp>
      <p:sp>
        <p:nvSpPr>
          <p:cNvPr id="1147" name="Google Shape;1147;p56"/>
          <p:cNvSpPr txBox="1"/>
          <p:nvPr/>
        </p:nvSpPr>
        <p:spPr>
          <a:xfrm>
            <a:off x="9214497" y="4229100"/>
            <a:ext cx="2090229" cy="342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None/>
            </a:pPr>
            <a:r>
              <a:rPr lang="en-US" sz="1050" b="0" i="0">
                <a:solidFill>
                  <a:srgbClr val="6B7784"/>
                </a:solidFill>
                <a:latin typeface="Calibri"/>
                <a:ea typeface="Calibri"/>
                <a:cs typeface="Calibri"/>
                <a:sym typeface="Calibri"/>
              </a:rPr>
              <a:t>120.000 / 142.500 đồng chi phí phát sinh</a:t>
            </a:r>
            <a:endParaRPr/>
          </a:p>
        </p:txBody>
      </p:sp>
      <p:sp>
        <p:nvSpPr>
          <p:cNvPr id="1148" name="Google Shape;1148;p56"/>
          <p:cNvSpPr/>
          <p:nvPr/>
        </p:nvSpPr>
        <p:spPr>
          <a:xfrm>
            <a:off x="658368" y="5303520"/>
            <a:ext cx="10874959" cy="868680"/>
          </a:xfrm>
          <a:prstGeom prst="rect">
            <a:avLst/>
          </a:prstGeom>
          <a:solidFill>
            <a:srgbClr val="EDF6FB"/>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9" name="Google Shape;1149;p56"/>
          <p:cNvSpPr/>
          <p:nvPr/>
        </p:nvSpPr>
        <p:spPr>
          <a:xfrm>
            <a:off x="658368" y="5303520"/>
            <a:ext cx="45719" cy="849630"/>
          </a:xfrm>
          <a:prstGeom prst="rect">
            <a:avLst/>
          </a:prstGeom>
          <a:solidFill>
            <a:srgbClr val="0A25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0" name="Google Shape;1150;p56"/>
          <p:cNvSpPr txBox="1"/>
          <p:nvPr/>
        </p:nvSpPr>
        <p:spPr>
          <a:xfrm>
            <a:off x="864108" y="5417820"/>
            <a:ext cx="10463479" cy="726948"/>
          </a:xfrm>
          <a:prstGeom prst="rect">
            <a:avLst/>
          </a:prstGeom>
          <a:noFill/>
          <a:ln>
            <a:noFill/>
          </a:ln>
        </p:spPr>
        <p:txBody>
          <a:bodyPr spcFirstLastPara="1" wrap="square" lIns="0" tIns="0" rIns="0" bIns="0" anchor="ctr" anchorCtr="0">
            <a:noAutofit/>
          </a:bodyPr>
          <a:lstStyle/>
          <a:p>
            <a:pPr marL="0" marR="0" lvl="0" indent="0" algn="l" rtl="0">
              <a:lnSpc>
                <a:spcPct val="112000"/>
              </a:lnSpc>
              <a:spcBef>
                <a:spcPts val="0"/>
              </a:spcBef>
              <a:spcAft>
                <a:spcPts val="0"/>
              </a:spcAft>
              <a:buNone/>
            </a:pPr>
            <a:r>
              <a:rPr lang="en-US" sz="1600" b="0" i="0">
                <a:solidFill>
                  <a:srgbClr val="0A2540"/>
                </a:solidFill>
                <a:latin typeface="Calibri"/>
                <a:ea typeface="Calibri"/>
                <a:cs typeface="Calibri"/>
                <a:sym typeface="Calibri"/>
              </a:rPr>
              <a:t>Duy trì và cập nhật danh mục Supplier phù hợp là đòn bẩy cải tiến chi phí lớn nhất của quy trình mua hàng: riêng nhánh tìm Supplier mới chiếm 84% toàn bộ chi phí phát sinh do xử lý lại. Lưu ý: mức 150.000 đồng/giờ chỉ dùng minh họa phương pháp tính.</a:t>
            </a:r>
            <a:endParaRPr sz="1800"/>
          </a:p>
        </p:txBody>
      </p:sp>
      <p:sp>
        <p:nvSpPr>
          <p:cNvPr id="2" name="Footer Placeholder 1">
            <a:extLst>
              <a:ext uri="{FF2B5EF4-FFF2-40B4-BE49-F238E27FC236}">
                <a16:creationId xmlns:a16="http://schemas.microsoft.com/office/drawing/2014/main" id="{7A2EE425-D1C8-01FB-247A-A629A6751112}"/>
              </a:ext>
            </a:extLst>
          </p:cNvPr>
          <p:cNvSpPr>
            <a:spLocks noGrp="1"/>
          </p:cNvSpPr>
          <p:nvPr>
            <p:ph type="ftr" idx="11"/>
          </p:nvPr>
        </p:nvSpPr>
        <p:spPr>
          <a:xfrm>
            <a:off x="658368" y="6356350"/>
            <a:ext cx="5006340"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DD34C9AF-AA79-026B-DC20-F584504953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57"/>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HỢP VẤN ĐỀ VÀ ĐỀ XUẤT CẢI TIẾN</a:t>
            </a:r>
            <a:endParaRPr/>
          </a:p>
        </p:txBody>
      </p:sp>
      <p:sp>
        <p:nvSpPr>
          <p:cNvPr id="1156" name="Google Shape;1156;p57"/>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BẢNG 4.15 — 12 VẤN ĐỀ VÀ ĐỀ XUẤT CẢI TIẾN</a:t>
            </a:r>
            <a:endParaRPr/>
          </a:p>
        </p:txBody>
      </p:sp>
      <p:sp>
        <p:nvSpPr>
          <p:cNvPr id="1157" name="Google Shape;1157;p57"/>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8" name="Google Shape;1158;p57"/>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9" name="Google Shape;1159;p57"/>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C03 Service Order Management: 06 vấn đề   |   S01 Procurement Management: 06 vấn đề</a:t>
            </a:r>
            <a:endParaRPr/>
          </a:p>
        </p:txBody>
      </p:sp>
      <p:sp>
        <p:nvSpPr>
          <p:cNvPr id="1160" name="Google Shape;1160;p57"/>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1161" name="Google Shape;1161;p57"/>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45</a:t>
            </a:r>
            <a:endParaRPr/>
          </a:p>
        </p:txBody>
      </p:sp>
      <p:graphicFrame>
        <p:nvGraphicFramePr>
          <p:cNvPr id="1162" name="Google Shape;1162;p57"/>
          <p:cNvGraphicFramePr/>
          <p:nvPr/>
        </p:nvGraphicFramePr>
        <p:xfrm>
          <a:off x="658368" y="1810512"/>
          <a:ext cx="10874950" cy="4160650"/>
        </p:xfrm>
        <a:graphic>
          <a:graphicData uri="http://schemas.openxmlformats.org/drawingml/2006/table">
            <a:tbl>
              <a:tblPr firstRow="1">
                <a:noFill/>
                <a:tableStyleId>{65267F91-CA84-436A-A840-DCCC5366F6D9}</a:tableStyleId>
              </a:tblPr>
              <a:tblGrid>
                <a:gridCol w="457200">
                  <a:extLst>
                    <a:ext uri="{9D8B030D-6E8A-4147-A177-3AD203B41FA5}">
                      <a16:colId xmlns:a16="http://schemas.microsoft.com/office/drawing/2014/main" val="20000"/>
                    </a:ext>
                  </a:extLst>
                </a:gridCol>
                <a:gridCol w="1188725">
                  <a:extLst>
                    <a:ext uri="{9D8B030D-6E8A-4147-A177-3AD203B41FA5}">
                      <a16:colId xmlns:a16="http://schemas.microsoft.com/office/drawing/2014/main" val="20001"/>
                    </a:ext>
                  </a:extLst>
                </a:gridCol>
                <a:gridCol w="4297675">
                  <a:extLst>
                    <a:ext uri="{9D8B030D-6E8A-4147-A177-3AD203B41FA5}">
                      <a16:colId xmlns:a16="http://schemas.microsoft.com/office/drawing/2014/main" val="20002"/>
                    </a:ext>
                  </a:extLst>
                </a:gridCol>
                <a:gridCol w="4931350">
                  <a:extLst>
                    <a:ext uri="{9D8B030D-6E8A-4147-A177-3AD203B41FA5}">
                      <a16:colId xmlns:a16="http://schemas.microsoft.com/office/drawing/2014/main" val="20003"/>
                    </a:ext>
                  </a:extLst>
                </a:gridCol>
              </a:tblGrid>
              <a:tr h="320050">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STT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QUY TRÌNH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VẤN ĐỀ NHẬN DIỆN</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ĐỀ XUẤT CẢI TIẾN</a:t>
                      </a:r>
                      <a:endParaRPr/>
                    </a:p>
                  </a:txBody>
                  <a:tcPr marL="91450" marR="73150" marT="41150" marB="41150" anchor="ctr">
                    <a:solidFill>
                      <a:srgbClr val="0A2540"/>
                    </a:solidFill>
                  </a:tcPr>
                </a:tc>
                <a:extLst>
                  <a:ext uri="{0D108BD9-81ED-4DB2-BD59-A6C34878D82A}">
                    <a16:rowId xmlns:a16="http://schemas.microsoft.com/office/drawing/2014/main" val="10000"/>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Thông tin yêu cầu dịch vụ ban đầu chưa đầy đủ</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thông tin bắt buộc khi tiếp nhận yêu cầu</a:t>
                      </a:r>
                      <a:endParaRPr/>
                    </a:p>
                  </a:txBody>
                  <a:tcPr marL="91450" marR="73150" marT="41150" marB="41150" anchor="ctr"/>
                </a:tc>
                <a:extLst>
                  <a:ext uri="{0D108BD9-81ED-4DB2-BD59-A6C34878D82A}">
                    <a16:rowId xmlns:a16="http://schemas.microsoft.com/office/drawing/2014/main" val="10001"/>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Yêu cầu phải đi vòng qua Distributor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nội dung, phương thức chuyển giao 3 bên</a:t>
                      </a:r>
                      <a:endParaRPr/>
                    </a:p>
                  </a:txBody>
                  <a:tcPr marL="91450" marR="73150" marT="41150" marB="41150" anchor="ctr"/>
                </a:tc>
                <a:extLst>
                  <a:ext uri="{0D108BD9-81ED-4DB2-BD59-A6C34878D82A}">
                    <a16:rowId xmlns:a16="http://schemas.microsoft.com/office/drawing/2014/main" val="10002"/>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Phát sinh chờ khi phối hợp onsite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Phối hợp lịch onsite ngay khi xác định nhu cầu</a:t>
                      </a:r>
                      <a:endParaRPr/>
                    </a:p>
                  </a:txBody>
                  <a:tcPr marL="91450" marR="73150" marT="41150" marB="41150" anchor="ctr"/>
                </a:tc>
                <a:extLst>
                  <a:ext uri="{0D108BD9-81ED-4DB2-BD59-A6C34878D82A}">
                    <a16:rowId xmlns:a16="http://schemas.microsoft.com/office/drawing/2014/main" val="10003"/>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4</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End-user phản hồi báo giá — 16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Trạng thái Pending kèm thời hạn phản hồi báo giá</a:t>
                      </a:r>
                      <a:endParaRPr/>
                    </a:p>
                  </a:txBody>
                  <a:tcPr marL="91450" marR="73150" marT="41150" marB="41150" anchor="ctr"/>
                </a:tc>
                <a:extLst>
                  <a:ext uri="{0D108BD9-81ED-4DB2-BD59-A6C34878D82A}">
                    <a16:rowId xmlns:a16="http://schemas.microsoft.com/office/drawing/2014/main" val="10004"/>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5</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bố trí Service Engineer — 4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Phân công theo yêu cầu kỹ thuật và khả năng đáp ứng</a:t>
                      </a:r>
                      <a:endParaRPr/>
                    </a:p>
                  </a:txBody>
                  <a:tcPr marL="91450" marR="73150" marT="41150" marB="41150" anchor="ctr"/>
                </a:tc>
                <a:extLst>
                  <a:ext uri="{0D108BD9-81ED-4DB2-BD59-A6C34878D82A}">
                    <a16:rowId xmlns:a16="http://schemas.microsoft.com/office/drawing/2014/main" val="10005"/>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6</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96D6"/>
                          </a:solidFill>
                          <a:latin typeface="Calibri"/>
                          <a:ea typeface="Calibri"/>
                          <a:cs typeface="Calibri"/>
                          <a:sym typeface="Calibri"/>
                        </a:rPr>
                        <a:t>C03</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Onsite tốn nguồn lực gấp gần 6 lần Remote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Ưu tiên Remote Support khi kỹ thuật cho phép</a:t>
                      </a:r>
                      <a:endParaRPr/>
                    </a:p>
                  </a:txBody>
                  <a:tcPr marL="91450" marR="73150" marT="41150" marB="41150" anchor="ctr"/>
                </a:tc>
                <a:extLst>
                  <a:ext uri="{0D108BD9-81ED-4DB2-BD59-A6C34878D82A}">
                    <a16:rowId xmlns:a16="http://schemas.microsoft.com/office/drawing/2014/main" val="10006"/>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7</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PR thiếu hoặc chưa phù hợp yêu cầu duyệt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trường dữ liệu bắt buộc khi tạo PR</a:t>
                      </a:r>
                      <a:endParaRPr/>
                    </a:p>
                  </a:txBody>
                  <a:tcPr marL="91450" marR="73150" marT="41150" marB="41150" anchor="ctr"/>
                </a:tc>
                <a:extLst>
                  <a:ext uri="{0D108BD9-81ED-4DB2-BD59-A6C34878D82A}">
                    <a16:rowId xmlns:a16="http://schemas.microsoft.com/office/drawing/2014/main" val="10007"/>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8</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Phải tìm Supplier mới — 20% giao dịch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Duy trì, cập nhật danh mục Supplier phù hợp</a:t>
                      </a:r>
                      <a:endParaRPr/>
                    </a:p>
                  </a:txBody>
                  <a:tcPr marL="91450" marR="73150" marT="41150" marB="41150" anchor="ctr"/>
                </a:tc>
                <a:extLst>
                  <a:ext uri="{0D108BD9-81ED-4DB2-BD59-A6C34878D82A}">
                    <a16:rowId xmlns:a16="http://schemas.microsoft.com/office/drawing/2014/main" val="10008"/>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9</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Hàng hóa không phù hợp với PO</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Xác nhận yêu cầu với Supplier trước khi cung ứng</a:t>
                      </a:r>
                      <a:endParaRPr/>
                    </a:p>
                  </a:txBody>
                  <a:tcPr marL="91450" marR="73150" marT="41150" marB="41150" anchor="ctr"/>
                </a:tc>
                <a:extLst>
                  <a:ext uri="{0D108BD9-81ED-4DB2-BD59-A6C34878D82A}">
                    <a16:rowId xmlns:a16="http://schemas.microsoft.com/office/drawing/2014/main" val="10009"/>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10</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Hóa đơn không phù hợp PO / GR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Tăng tính nhất quán giữa PO, GR và Invoice</a:t>
                      </a:r>
                      <a:endParaRPr/>
                    </a:p>
                  </a:txBody>
                  <a:tcPr marL="91450" marR="73150" marT="41150" marB="41150" anchor="ctr"/>
                </a:tc>
                <a:extLst>
                  <a:ext uri="{0D108BD9-81ED-4DB2-BD59-A6C34878D82A}">
                    <a16:rowId xmlns:a16="http://schemas.microsoft.com/office/drawing/2014/main" val="10010"/>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11</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Cung ứng chiếm 80 giờ Waiting Time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Theo dõi tiến độ và các mốc thực hiện của PO</a:t>
                      </a:r>
                      <a:endParaRPr/>
                    </a:p>
                  </a:txBody>
                  <a:tcPr marL="91450" marR="73150" marT="41150" marB="41150" anchor="ctr"/>
                </a:tc>
                <a:extLst>
                  <a:ext uri="{0D108BD9-81ED-4DB2-BD59-A6C34878D82A}">
                    <a16:rowId xmlns:a16="http://schemas.microsoft.com/office/drawing/2014/main" val="10011"/>
                  </a:ext>
                </a:extLst>
              </a:tr>
              <a:tr h="320050">
                <a:tc>
                  <a:txBody>
                    <a:bodyPr/>
                    <a:lstStyle/>
                    <a:p>
                      <a:pPr marL="0" marR="0" lvl="0" indent="0" algn="ctr"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12</a:t>
                      </a:r>
                      <a:endParaRPr/>
                    </a:p>
                  </a:txBody>
                  <a:tcPr marL="91450" marR="73150" marT="41150" marB="41150" anchor="ctr"/>
                </a:tc>
                <a:tc>
                  <a:txBody>
                    <a:bodyPr/>
                    <a:lstStyle/>
                    <a:p>
                      <a:pPr marL="0" marR="0" lvl="0" indent="0" algn="ctr" rtl="0">
                        <a:lnSpc>
                          <a:spcPct val="105000"/>
                        </a:lnSpc>
                        <a:spcBef>
                          <a:spcPts val="0"/>
                        </a:spcBef>
                        <a:spcAft>
                          <a:spcPts val="0"/>
                        </a:spcAft>
                        <a:buNone/>
                      </a:pPr>
                      <a:r>
                        <a:rPr lang="en-US" sz="1400" b="1" i="0" u="none" strike="noStrike" cap="none">
                          <a:solidFill>
                            <a:srgbClr val="00C2A8"/>
                          </a:solidFill>
                          <a:latin typeface="Calibri"/>
                          <a:ea typeface="Calibri"/>
                          <a:cs typeface="Calibri"/>
                          <a:sym typeface="Calibri"/>
                        </a:rPr>
                        <a:t>S01</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Nhiều điểm chuyển giao giữa các bên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Chuẩn hóa trạng thái xử lý và thông tin bàn giao</a:t>
                      </a:r>
                      <a:endParaRPr/>
                    </a:p>
                  </a:txBody>
                  <a:tcPr marL="91450" marR="73150" marT="41150" marB="41150" anchor="ctr"/>
                </a:tc>
                <a:extLst>
                  <a:ext uri="{0D108BD9-81ED-4DB2-BD59-A6C34878D82A}">
                    <a16:rowId xmlns:a16="http://schemas.microsoft.com/office/drawing/2014/main" val="10012"/>
                  </a:ext>
                </a:extLst>
              </a:tr>
            </a:tbl>
          </a:graphicData>
        </a:graphic>
      </p:graphicFrame>
      <p:sp>
        <p:nvSpPr>
          <p:cNvPr id="2" name="Footer Placeholder 1">
            <a:extLst>
              <a:ext uri="{FF2B5EF4-FFF2-40B4-BE49-F238E27FC236}">
                <a16:creationId xmlns:a16="http://schemas.microsoft.com/office/drawing/2014/main" id="{34FD7953-ECBE-2182-F5FA-29A24CCB4E32}"/>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EA3C7474-39A7-7EEA-3704-489C56F368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58"/>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TỔNG HỢP VẤN ĐỀ VÀ ĐỀ XUẤT CẢI TIẾN</a:t>
            </a:r>
            <a:endParaRPr/>
          </a:p>
        </p:txBody>
      </p:sp>
      <p:sp>
        <p:nvSpPr>
          <p:cNvPr id="1168" name="Google Shape;1168;p58"/>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TRỌNG TÂM CẢI TIẾN VÀ CHỈ SỐ THEO DÕI SAU CẢI TIẾN</a:t>
            </a:r>
            <a:endParaRPr/>
          </a:p>
        </p:txBody>
      </p:sp>
      <p:sp>
        <p:nvSpPr>
          <p:cNvPr id="1169" name="Google Shape;1169;p58"/>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0" name="Google Shape;1170;p58"/>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1" name="Google Shape;1171;p58"/>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Cải tiến không nhằm loại bỏ hoạt động BVA, mà giảm nguyên nhân sinh ra NVA và hạn chế Waiting Time</a:t>
            </a:r>
            <a:endParaRPr/>
          </a:p>
        </p:txBody>
      </p:sp>
      <p:sp>
        <p:nvSpPr>
          <p:cNvPr id="1172" name="Google Shape;1172;p58"/>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850" b="0" i="0">
                <a:solidFill>
                  <a:srgbClr val="6B7784"/>
                </a:solidFill>
                <a:latin typeface="Calibri"/>
                <a:ea typeface="Calibri"/>
                <a:cs typeface="Calibri"/>
                <a:sym typeface="Calibri"/>
              </a:rPr>
              <a:t>SOLVENTUM VIỆT NAM  ·  HỆ THỐNG QUẢN TRỊ QUY TRÌNH NGHIỆP VỤ</a:t>
            </a:r>
            <a:endParaRPr/>
          </a:p>
        </p:txBody>
      </p:sp>
      <p:sp>
        <p:nvSpPr>
          <p:cNvPr id="1173" name="Google Shape;1173;p58"/>
          <p:cNvSpPr txBox="1"/>
          <p:nvPr/>
        </p:nvSpPr>
        <p:spPr>
          <a:xfrm>
            <a:off x="10984687" y="6355080"/>
            <a:ext cx="548640" cy="228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950" b="1" i="0">
                <a:solidFill>
                  <a:srgbClr val="0096D6"/>
                </a:solidFill>
                <a:latin typeface="Calibri"/>
                <a:ea typeface="Calibri"/>
                <a:cs typeface="Calibri"/>
                <a:sym typeface="Calibri"/>
              </a:rPr>
              <a:t>46</a:t>
            </a:r>
            <a:endParaRPr/>
          </a:p>
        </p:txBody>
      </p:sp>
      <p:sp>
        <p:nvSpPr>
          <p:cNvPr id="1174" name="Google Shape;1174;p58"/>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TRỌNG TÂM CẢI TIẾN — C03 SERVICE ORDER MANAGEMENT</a:t>
            </a:r>
            <a:endParaRPr/>
          </a:p>
        </p:txBody>
      </p:sp>
      <p:sp>
        <p:nvSpPr>
          <p:cNvPr id="1175" name="Google Shape;1175;p58"/>
          <p:cNvSpPr/>
          <p:nvPr/>
        </p:nvSpPr>
        <p:spPr>
          <a:xfrm>
            <a:off x="658368" y="2057400"/>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6" name="Google Shape;1176;p58"/>
          <p:cNvSpPr/>
          <p:nvPr/>
        </p:nvSpPr>
        <p:spPr>
          <a:xfrm>
            <a:off x="658368" y="2057400"/>
            <a:ext cx="532345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7" name="Google Shape;1177;p58"/>
          <p:cNvSpPr txBox="1"/>
          <p:nvPr/>
        </p:nvSpPr>
        <p:spPr>
          <a:xfrm>
            <a:off x="864108" y="22402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96D6"/>
                </a:solidFill>
                <a:latin typeface="Calibri"/>
                <a:ea typeface="Calibri"/>
                <a:cs typeface="Calibri"/>
                <a:sym typeface="Calibri"/>
              </a:rPr>
              <a:t>ƯU TIÊN 01</a:t>
            </a:r>
            <a:endParaRPr/>
          </a:p>
        </p:txBody>
      </p:sp>
      <p:sp>
        <p:nvSpPr>
          <p:cNvPr id="1178" name="Google Shape;1178;p58"/>
          <p:cNvSpPr txBox="1"/>
          <p:nvPr/>
        </p:nvSpPr>
        <p:spPr>
          <a:xfrm>
            <a:off x="864108" y="2560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Nâng cao chất lượng thông tin ngay khi tiếp nhận yêu cầu</a:t>
            </a:r>
            <a:endParaRPr/>
          </a:p>
        </p:txBody>
      </p:sp>
      <p:sp>
        <p:nvSpPr>
          <p:cNvPr id="1179" name="Google Shape;1179;p58"/>
          <p:cNvSpPr/>
          <p:nvPr/>
        </p:nvSpPr>
        <p:spPr>
          <a:xfrm>
            <a:off x="658368" y="3008376"/>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0" name="Google Shape;1180;p58"/>
          <p:cNvSpPr/>
          <p:nvPr/>
        </p:nvSpPr>
        <p:spPr>
          <a:xfrm>
            <a:off x="658368" y="3008376"/>
            <a:ext cx="532345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1" name="Google Shape;1181;p58"/>
          <p:cNvSpPr txBox="1"/>
          <p:nvPr/>
        </p:nvSpPr>
        <p:spPr>
          <a:xfrm>
            <a:off x="864108" y="3191256"/>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87F0A"/>
                </a:solidFill>
                <a:latin typeface="Calibri"/>
                <a:ea typeface="Calibri"/>
                <a:cs typeface="Calibri"/>
                <a:sym typeface="Calibri"/>
              </a:rPr>
              <a:t>ƯU TIÊN 02</a:t>
            </a:r>
            <a:endParaRPr/>
          </a:p>
        </p:txBody>
      </p:sp>
      <p:sp>
        <p:nvSpPr>
          <p:cNvPr id="1182" name="Google Shape;1182;p58"/>
          <p:cNvSpPr txBox="1"/>
          <p:nvPr/>
        </p:nvSpPr>
        <p:spPr>
          <a:xfrm>
            <a:off x="864108" y="3511296"/>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Tăng hiệu quả phối hợp giữa các bên, giảm 06 điểm Hold</a:t>
            </a:r>
            <a:endParaRPr/>
          </a:p>
        </p:txBody>
      </p:sp>
      <p:sp>
        <p:nvSpPr>
          <p:cNvPr id="1183" name="Google Shape;1183;p58"/>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C2A8"/>
                </a:solidFill>
                <a:latin typeface="Calibri"/>
                <a:ea typeface="Calibri"/>
                <a:cs typeface="Calibri"/>
                <a:sym typeface="Calibri"/>
              </a:rPr>
              <a:t>TRỌNG TÂM CẢI TIẾN — S01 PROCUREMENT MANAGEMENT</a:t>
            </a:r>
            <a:endParaRPr/>
          </a:p>
        </p:txBody>
      </p:sp>
      <p:sp>
        <p:nvSpPr>
          <p:cNvPr id="1184" name="Google Shape;1184;p58"/>
          <p:cNvSpPr/>
          <p:nvPr/>
        </p:nvSpPr>
        <p:spPr>
          <a:xfrm>
            <a:off x="6209868" y="2057400"/>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5" name="Google Shape;1185;p58"/>
          <p:cNvSpPr/>
          <p:nvPr/>
        </p:nvSpPr>
        <p:spPr>
          <a:xfrm>
            <a:off x="6209868" y="2057400"/>
            <a:ext cx="532345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6" name="Google Shape;1186;p58"/>
          <p:cNvSpPr txBox="1"/>
          <p:nvPr/>
        </p:nvSpPr>
        <p:spPr>
          <a:xfrm>
            <a:off x="6415608" y="22402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00C2A8"/>
                </a:solidFill>
                <a:latin typeface="Calibri"/>
                <a:ea typeface="Calibri"/>
                <a:cs typeface="Calibri"/>
                <a:sym typeface="Calibri"/>
              </a:rPr>
              <a:t>ƯU TIÊN 01</a:t>
            </a:r>
            <a:endParaRPr/>
          </a:p>
        </p:txBody>
      </p:sp>
      <p:sp>
        <p:nvSpPr>
          <p:cNvPr id="1187" name="Google Shape;1187;p58"/>
          <p:cNvSpPr txBox="1"/>
          <p:nvPr/>
        </p:nvSpPr>
        <p:spPr>
          <a:xfrm>
            <a:off x="6415608" y="2560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Nâng cao chất lượng PR, duy trì nguồn Supplier phù hợp</a:t>
            </a:r>
            <a:endParaRPr/>
          </a:p>
        </p:txBody>
      </p:sp>
      <p:sp>
        <p:nvSpPr>
          <p:cNvPr id="1188" name="Google Shape;1188;p58"/>
          <p:cNvSpPr/>
          <p:nvPr/>
        </p:nvSpPr>
        <p:spPr>
          <a:xfrm>
            <a:off x="6209868" y="3008376"/>
            <a:ext cx="5323459" cy="786384"/>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9" name="Google Shape;1189;p58"/>
          <p:cNvSpPr/>
          <p:nvPr/>
        </p:nvSpPr>
        <p:spPr>
          <a:xfrm>
            <a:off x="6209868" y="3008376"/>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0" name="Google Shape;1190;p58"/>
          <p:cNvSpPr txBox="1"/>
          <p:nvPr/>
        </p:nvSpPr>
        <p:spPr>
          <a:xfrm>
            <a:off x="6415608" y="3191256"/>
            <a:ext cx="491197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400" b="1" i="0">
                <a:solidFill>
                  <a:srgbClr val="C0392B"/>
                </a:solidFill>
                <a:latin typeface="Calibri"/>
                <a:ea typeface="Calibri"/>
                <a:cs typeface="Calibri"/>
                <a:sym typeface="Calibri"/>
              </a:rPr>
              <a:t>ƯU TIÊN 02</a:t>
            </a:r>
            <a:endParaRPr/>
          </a:p>
        </p:txBody>
      </p:sp>
      <p:sp>
        <p:nvSpPr>
          <p:cNvPr id="1191" name="Google Shape;1191;p58"/>
          <p:cNvSpPr txBox="1"/>
          <p:nvPr/>
        </p:nvSpPr>
        <p:spPr>
          <a:xfrm>
            <a:off x="6415608" y="3511296"/>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300" b="1" i="0">
                <a:solidFill>
                  <a:srgbClr val="0A2540"/>
                </a:solidFill>
                <a:latin typeface="Calibri"/>
                <a:ea typeface="Calibri"/>
                <a:cs typeface="Calibri"/>
                <a:sym typeface="Calibri"/>
              </a:rPr>
              <a:t>Tăng độ chính xác chứng từ, theo dõi tiến độ PO</a:t>
            </a:r>
            <a:endParaRPr/>
          </a:p>
        </p:txBody>
      </p:sp>
      <p:sp>
        <p:nvSpPr>
          <p:cNvPr id="1192" name="Google Shape;1192;p58"/>
          <p:cNvSpPr txBox="1"/>
          <p:nvPr/>
        </p:nvSpPr>
        <p:spPr>
          <a:xfrm>
            <a:off x="658368" y="39319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CHỈ SỐ THEO DÕI HIỆU QUẢ SAU CẢI TIẾN  —  ĐO LẠI KHI CÓ DỮ LIỆU VẬN HÀNH THỰC TẾ</a:t>
            </a:r>
            <a:endParaRPr/>
          </a:p>
        </p:txBody>
      </p:sp>
      <p:graphicFrame>
        <p:nvGraphicFramePr>
          <p:cNvPr id="1193" name="Google Shape;1193;p58"/>
          <p:cNvGraphicFramePr/>
          <p:nvPr/>
        </p:nvGraphicFramePr>
        <p:xfrm>
          <a:off x="658368" y="4251960"/>
          <a:ext cx="10874950" cy="1691650"/>
        </p:xfrm>
        <a:graphic>
          <a:graphicData uri="http://schemas.openxmlformats.org/drawingml/2006/table">
            <a:tbl>
              <a:tblPr firstRow="1">
                <a:noFill/>
                <a:tableStyleId>{65267F91-CA84-436A-A840-DCCC5366F6D9}</a:tableStyleId>
              </a:tblPr>
              <a:tblGrid>
                <a:gridCol w="2926075">
                  <a:extLst>
                    <a:ext uri="{9D8B030D-6E8A-4147-A177-3AD203B41FA5}">
                      <a16:colId xmlns:a16="http://schemas.microsoft.com/office/drawing/2014/main" val="20000"/>
                    </a:ext>
                  </a:extLst>
                </a:gridCol>
                <a:gridCol w="3931925">
                  <a:extLst>
                    <a:ext uri="{9D8B030D-6E8A-4147-A177-3AD203B41FA5}">
                      <a16:colId xmlns:a16="http://schemas.microsoft.com/office/drawing/2014/main" val="20001"/>
                    </a:ext>
                  </a:extLst>
                </a:gridCol>
                <a:gridCol w="4016950">
                  <a:extLst>
                    <a:ext uri="{9D8B030D-6E8A-4147-A177-3AD203B41FA5}">
                      <a16:colId xmlns:a16="http://schemas.microsoft.com/office/drawing/2014/main" val="20002"/>
                    </a:ext>
                  </a:extLst>
                </a:gridCol>
              </a:tblGrid>
              <a:tr h="457200">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QUY TRÌNH</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CHỈ SỐ THỜI GIAN</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100" b="1" i="0" u="none" strike="noStrike" cap="none">
                          <a:solidFill>
                            <a:srgbClr val="FFFFFF"/>
                          </a:solidFill>
                          <a:latin typeface="Calibri"/>
                          <a:ea typeface="Calibri"/>
                          <a:cs typeface="Calibri"/>
                          <a:sym typeface="Calibri"/>
                        </a:rPr>
                        <a:t>CHỈ SỐ CHẤT LƯỢNG</a:t>
                      </a:r>
                      <a:endParaRPr/>
                    </a:p>
                  </a:txBody>
                  <a:tcPr marL="91450" marR="73150" marT="41150" marB="41150" anchor="ctr">
                    <a:solidFill>
                      <a:srgbClr val="0A2540"/>
                    </a:solidFill>
                  </a:tcPr>
                </a:tc>
                <a:extLst>
                  <a:ext uri="{0D108BD9-81ED-4DB2-BD59-A6C34878D82A}">
                    <a16:rowId xmlns:a16="http://schemas.microsoft.com/office/drawing/2014/main" val="10000"/>
                  </a:ext>
                </a:extLst>
              </a:tr>
              <a:tr h="617225">
                <a:tc>
                  <a:txBody>
                    <a:bodyPr/>
                    <a:lstStyle/>
                    <a:p>
                      <a:pPr marL="0" marR="0" lvl="0" indent="0" algn="l" rtl="0">
                        <a:lnSpc>
                          <a:spcPct val="105000"/>
                        </a:lnSpc>
                        <a:spcBef>
                          <a:spcPts val="0"/>
                        </a:spcBef>
                        <a:spcAft>
                          <a:spcPts val="0"/>
                        </a:spcAft>
                        <a:buNone/>
                      </a:pPr>
                      <a:r>
                        <a:rPr lang="en-US" sz="1350" b="1" i="0" u="none" strike="noStrike" cap="none">
                          <a:solidFill>
                            <a:srgbClr val="0A2540"/>
                          </a:solidFill>
                          <a:latin typeface="Calibri"/>
                          <a:ea typeface="Calibri"/>
                          <a:cs typeface="Calibri"/>
                          <a:sym typeface="Calibri"/>
                        </a:rPr>
                        <a:t>C03  Service Order Management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Cycle Time · Waiting Time · CTE</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đủ thông tin ngay lần đầu</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Remote Support thành công · Tỷ lệ xử lý lại</a:t>
                      </a:r>
                      <a:endParaRPr/>
                    </a:p>
                  </a:txBody>
                  <a:tcPr marL="91450" marR="73150" marT="41150" marB="41150" anchor="ctr"/>
                </a:tc>
                <a:extLst>
                  <a:ext uri="{0D108BD9-81ED-4DB2-BD59-A6C34878D82A}">
                    <a16:rowId xmlns:a16="http://schemas.microsoft.com/office/drawing/2014/main" val="10001"/>
                  </a:ext>
                </a:extLst>
              </a:tr>
              <a:tr h="617225">
                <a:tc>
                  <a:txBody>
                    <a:bodyPr/>
                    <a:lstStyle/>
                    <a:p>
                      <a:pPr marL="0" marR="0" lvl="0" indent="0" algn="l" rtl="0">
                        <a:lnSpc>
                          <a:spcPct val="105000"/>
                        </a:lnSpc>
                        <a:spcBef>
                          <a:spcPts val="0"/>
                        </a:spcBef>
                        <a:spcAft>
                          <a:spcPts val="0"/>
                        </a:spcAft>
                        <a:buNone/>
                      </a:pPr>
                      <a:r>
                        <a:rPr lang="en-US" sz="1350" b="1" i="0" u="none" strike="noStrike" cap="none">
                          <a:solidFill>
                            <a:srgbClr val="0A2540"/>
                          </a:solidFill>
                          <a:latin typeface="Calibri"/>
                          <a:ea typeface="Calibri"/>
                          <a:cs typeface="Calibri"/>
                          <a:sym typeface="Calibri"/>
                        </a:rPr>
                        <a:t>S01  Procurement Management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Cycle Time · Thời gian cung ứng</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Thời gian chờ phê duyệt PR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PR duyệt ngay lần đầu · Tỷ lệ hàng đúng PO</a:t>
                      </a:r>
                      <a:endParaRPr/>
                    </a:p>
                    <a:p>
                      <a:pPr marL="0" marR="0" lvl="0" indent="0" algn="l" rtl="0">
                        <a:lnSpc>
                          <a:spcPct val="105000"/>
                        </a:lnSpc>
                        <a:spcBef>
                          <a:spcPts val="0"/>
                        </a:spcBef>
                        <a:spcAft>
                          <a:spcPts val="0"/>
                        </a:spcAft>
                        <a:buNone/>
                      </a:pPr>
                      <a:r>
                        <a:rPr lang="en-US" sz="1350" b="0" i="0" u="none" strike="noStrike" cap="none">
                          <a:solidFill>
                            <a:srgbClr val="0A2540"/>
                          </a:solidFill>
                          <a:latin typeface="Calibri"/>
                          <a:ea typeface="Calibri"/>
                          <a:cs typeface="Calibri"/>
                          <a:sym typeface="Calibri"/>
                        </a:rPr>
                        <a:t>Tỷ lệ hóa đơn đúng lần đầu · Tỷ lệ rework</a:t>
                      </a:r>
                      <a:endParaRPr/>
                    </a:p>
                  </a:txBody>
                  <a:tcPr marL="91450" marR="73150" marT="41150" marB="41150" anchor="ctr"/>
                </a:tc>
                <a:extLst>
                  <a:ext uri="{0D108BD9-81ED-4DB2-BD59-A6C34878D82A}">
                    <a16:rowId xmlns:a16="http://schemas.microsoft.com/office/drawing/2014/main" val="10002"/>
                  </a:ext>
                </a:extLst>
              </a:tr>
            </a:tbl>
          </a:graphicData>
        </a:graphic>
      </p:graphicFrame>
      <p:sp>
        <p:nvSpPr>
          <p:cNvPr id="2" name="Footer Placeholder 1">
            <a:extLst>
              <a:ext uri="{FF2B5EF4-FFF2-40B4-BE49-F238E27FC236}">
                <a16:creationId xmlns:a16="http://schemas.microsoft.com/office/drawing/2014/main" id="{B4559F76-CDFA-6AFA-16DE-F148A7EEEDBC}"/>
              </a:ext>
            </a:extLst>
          </p:cNvPr>
          <p:cNvSpPr>
            <a:spLocks noGrp="1"/>
          </p:cNvSpPr>
          <p:nvPr>
            <p:ph type="ftr" idx="11"/>
          </p:nvPr>
        </p:nvSpPr>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31E0744-6F4F-9FA1-453C-0462E513C3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59"/>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4 · KẾT LUẬN CHƯƠNG</a:t>
            </a:r>
            <a:endParaRPr/>
          </a:p>
        </p:txBody>
      </p:sp>
      <p:sp>
        <p:nvSpPr>
          <p:cNvPr id="1199" name="Google Shape;1199;p59"/>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KẾT QUẢ PHÂN TÍCH HAI QUY TRÌNH TRỌNG TÂM</a:t>
            </a:r>
            <a:endParaRPr/>
          </a:p>
        </p:txBody>
      </p:sp>
      <p:sp>
        <p:nvSpPr>
          <p:cNvPr id="1200" name="Google Shape;1200;p59"/>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1" name="Google Shape;1201;p59"/>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2" name="Google Shape;1202;p59"/>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100" b="0" i="1">
                <a:solidFill>
                  <a:srgbClr val="6B7784"/>
                </a:solidFill>
                <a:latin typeface="Calibri"/>
                <a:ea typeface="Calibri"/>
                <a:cs typeface="Calibri"/>
                <a:sym typeface="Calibri"/>
              </a:rPr>
              <a:t>So sánh trực tiếp kết quả định lượng của C03 Service Order Management và S01 Procurement Management</a:t>
            </a:r>
            <a:endParaRPr/>
          </a:p>
        </p:txBody>
      </p:sp>
      <p:sp>
        <p:nvSpPr>
          <p:cNvPr id="1203" name="Google Shape;1203;p59"/>
          <p:cNvSpPr txBox="1"/>
          <p:nvPr/>
        </p:nvSpPr>
        <p:spPr>
          <a:xfrm>
            <a:off x="658368" y="6355080"/>
            <a:ext cx="10326319"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0" i="0" dirty="0">
                <a:solidFill>
                  <a:srgbClr val="6B7784"/>
                </a:solidFill>
                <a:latin typeface="Calibri"/>
                <a:ea typeface="Calibri"/>
                <a:cs typeface="Calibri"/>
                <a:sym typeface="Calibri"/>
              </a:rPr>
              <a:t>SOLVENTUM VIỆT NAM  ·  HỆ THỐNG QUẢN TRỊ QUY TRÌNH NGHIỆP VỤ</a:t>
            </a:r>
            <a:endParaRPr sz="1200" dirty="0"/>
          </a:p>
        </p:txBody>
      </p:sp>
      <p:graphicFrame>
        <p:nvGraphicFramePr>
          <p:cNvPr id="1205" name="Google Shape;1205;p59"/>
          <p:cNvGraphicFramePr/>
          <p:nvPr/>
        </p:nvGraphicFramePr>
        <p:xfrm>
          <a:off x="658368" y="1810512"/>
          <a:ext cx="10874975" cy="3291800"/>
        </p:xfrm>
        <a:graphic>
          <a:graphicData uri="http://schemas.openxmlformats.org/drawingml/2006/table">
            <a:tbl>
              <a:tblPr firstRow="1">
                <a:noFill/>
                <a:tableStyleId>{65267F91-CA84-436A-A840-DCCC5366F6D9}</a:tableStyleId>
              </a:tblPr>
              <a:tblGrid>
                <a:gridCol w="3474725">
                  <a:extLst>
                    <a:ext uri="{9D8B030D-6E8A-4147-A177-3AD203B41FA5}">
                      <a16:colId xmlns:a16="http://schemas.microsoft.com/office/drawing/2014/main" val="20000"/>
                    </a:ext>
                  </a:extLst>
                </a:gridCol>
                <a:gridCol w="3700250">
                  <a:extLst>
                    <a:ext uri="{9D8B030D-6E8A-4147-A177-3AD203B41FA5}">
                      <a16:colId xmlns:a16="http://schemas.microsoft.com/office/drawing/2014/main" val="20001"/>
                    </a:ext>
                  </a:extLst>
                </a:gridCol>
                <a:gridCol w="3700000">
                  <a:extLst>
                    <a:ext uri="{9D8B030D-6E8A-4147-A177-3AD203B41FA5}">
                      <a16:colId xmlns:a16="http://schemas.microsoft.com/office/drawing/2014/main" val="20002"/>
                    </a:ext>
                  </a:extLst>
                </a:gridCol>
              </a:tblGrid>
              <a:tr h="411475">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CHỈ TIÊU</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C03 SERVICE ORDER MANAGEMENT</a:t>
                      </a:r>
                      <a:endParaRPr/>
                    </a:p>
                  </a:txBody>
                  <a:tcPr marL="91450" marR="73150" marT="41150" marB="41150" anchor="ctr">
                    <a:solidFill>
                      <a:srgbClr val="0A2540"/>
                    </a:solidFill>
                  </a:tcPr>
                </a:tc>
                <a:tc>
                  <a:txBody>
                    <a:bodyPr/>
                    <a:lstStyle/>
                    <a:p>
                      <a:pPr marL="0" marR="0" lvl="0" indent="0" algn="ctr" rtl="0">
                        <a:lnSpc>
                          <a:spcPct val="105000"/>
                        </a:lnSpc>
                        <a:spcBef>
                          <a:spcPts val="0"/>
                        </a:spcBef>
                        <a:spcAft>
                          <a:spcPts val="0"/>
                        </a:spcAft>
                        <a:buNone/>
                      </a:pPr>
                      <a:r>
                        <a:rPr lang="en-US" sz="1200" b="1" i="0" u="none" strike="noStrike" cap="none">
                          <a:solidFill>
                            <a:srgbClr val="FFFFFF"/>
                          </a:solidFill>
                          <a:latin typeface="Calibri"/>
                          <a:ea typeface="Calibri"/>
                          <a:cs typeface="Calibri"/>
                          <a:sym typeface="Calibri"/>
                        </a:rPr>
                        <a:t>S01 PROCUREMENT MANAGEMENT</a:t>
                      </a:r>
                      <a:endParaRPr/>
                    </a:p>
                  </a:txBody>
                  <a:tcPr marL="91450" marR="73150" marT="41150" marB="41150" anchor="ctr">
                    <a:solidFill>
                      <a:srgbClr val="0A2540"/>
                    </a:solidFill>
                  </a:tcPr>
                </a:tc>
                <a:extLst>
                  <a:ext uri="{0D108BD9-81ED-4DB2-BD59-A6C34878D82A}">
                    <a16:rowId xmlns:a16="http://schemas.microsoft.com/office/drawing/2014/main" val="10000"/>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Số hoạt động phân tích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35 hoạt động  ·  04 tác nhân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20 hoạt động  ·  06 đối tượng</a:t>
                      </a:r>
                      <a:endParaRPr/>
                    </a:p>
                  </a:txBody>
                  <a:tcPr marL="91450" marR="73150" marT="41150" marB="41150" anchor="ctr"/>
                </a:tc>
                <a:extLst>
                  <a:ext uri="{0D108BD9-81ED-4DB2-BD59-A6C34878D82A}">
                    <a16:rowId xmlns:a16="http://schemas.microsoft.com/office/drawing/2014/main" val="10001"/>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Phân loại giá trị gia tăng</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08 VA  ·  23 BVA  ·  04 NVA</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02 VA  ·  12 BVA  ·  06 NVA</a:t>
                      </a:r>
                      <a:endParaRPr/>
                    </a:p>
                  </a:txBody>
                  <a:tcPr marL="91450" marR="73150" marT="41150" marB="41150" anchor="ctr"/>
                </a:tc>
                <a:extLst>
                  <a:ext uri="{0D108BD9-81ED-4DB2-BD59-A6C34878D82A}">
                    <a16:rowId xmlns:a16="http://schemas.microsoft.com/office/drawing/2014/main" val="10002"/>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Điểm lãng phí nhận diện</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17 điểm  ·  Move 6 – Hold 6 – Overdo 5</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15 điểm  ·  Move 4 – Hold 5 – Overdo 6</a:t>
                      </a:r>
                      <a:endParaRPr/>
                    </a:p>
                  </a:txBody>
                  <a:tcPr marL="91450" marR="73150" marT="41150" marB="41150" anchor="ctr"/>
                </a:tc>
                <a:extLst>
                  <a:ext uri="{0D108BD9-81ED-4DB2-BD59-A6C34878D82A}">
                    <a16:rowId xmlns:a16="http://schemas.microsoft.com/office/drawing/2014/main" val="10003"/>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Cycle Time trung bình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51,10 giờ  ≈  6,39 ngày làm việc</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1" i="0" u="none" strike="noStrike" cap="none">
                          <a:solidFill>
                            <a:srgbClr val="0A2540"/>
                          </a:solidFill>
                          <a:latin typeface="Calibri"/>
                          <a:ea typeface="Calibri"/>
                          <a:cs typeface="Calibri"/>
                          <a:sym typeface="Calibri"/>
                        </a:rPr>
                        <a:t>109,70 giờ  ≈  13,71 ngày làm việc</a:t>
                      </a:r>
                      <a:endParaRPr/>
                    </a:p>
                  </a:txBody>
                  <a:tcPr marL="91450" marR="73150" marT="41150" marB="41150" anchor="ctr"/>
                </a:tc>
                <a:extLst>
                  <a:ext uri="{0D108BD9-81ED-4DB2-BD59-A6C34878D82A}">
                    <a16:rowId xmlns:a16="http://schemas.microsoft.com/office/drawing/2014/main" val="10004"/>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Cycle Time Efficiency</a:t>
                      </a:r>
                      <a:endParaRPr/>
                    </a:p>
                  </a:txBody>
                  <a:tcPr marL="91450" marR="73150" marT="41150" marB="41150" anchor="ctr">
                    <a:solidFill>
                      <a:srgbClr val="EDF6FB"/>
                    </a:solidFill>
                  </a:tcPr>
                </a:tc>
                <a:tc>
                  <a:txBody>
                    <a:bodyPr/>
                    <a:lstStyle/>
                    <a:p>
                      <a:pPr marL="0" marR="0" lvl="0" indent="0" algn="l" rtl="0">
                        <a:lnSpc>
                          <a:spcPct val="105000"/>
                        </a:lnSpc>
                        <a:spcBef>
                          <a:spcPts val="0"/>
                        </a:spcBef>
                        <a:spcAft>
                          <a:spcPts val="0"/>
                        </a:spcAft>
                        <a:buNone/>
                      </a:pPr>
                      <a:r>
                        <a:rPr lang="en-US" sz="1400" b="1" i="0" u="none" strike="noStrike" cap="none">
                          <a:solidFill>
                            <a:srgbClr val="C87F0A"/>
                          </a:solidFill>
                          <a:latin typeface="Calibri"/>
                          <a:ea typeface="Calibri"/>
                          <a:cs typeface="Calibri"/>
                          <a:sym typeface="Calibri"/>
                        </a:rPr>
                        <a:t>46,14%</a:t>
                      </a:r>
                      <a:endParaRPr/>
                    </a:p>
                  </a:txBody>
                  <a:tcPr marL="91450" marR="73150" marT="41150" marB="41150" anchor="ctr">
                    <a:solidFill>
                      <a:srgbClr val="EDF6FB"/>
                    </a:solidFill>
                  </a:tcPr>
                </a:tc>
                <a:tc>
                  <a:txBody>
                    <a:bodyPr/>
                    <a:lstStyle/>
                    <a:p>
                      <a:pPr marL="0" marR="0" lvl="0" indent="0" algn="l" rtl="0">
                        <a:lnSpc>
                          <a:spcPct val="105000"/>
                        </a:lnSpc>
                        <a:spcBef>
                          <a:spcPts val="0"/>
                        </a:spcBef>
                        <a:spcAft>
                          <a:spcPts val="0"/>
                        </a:spcAft>
                        <a:buNone/>
                      </a:pPr>
                      <a:r>
                        <a:rPr lang="en-US" sz="1400" b="1" i="0" u="none" strike="noStrike" cap="none">
                          <a:solidFill>
                            <a:srgbClr val="C0392B"/>
                          </a:solidFill>
                          <a:latin typeface="Calibri"/>
                          <a:ea typeface="Calibri"/>
                          <a:cs typeface="Calibri"/>
                          <a:sym typeface="Calibri"/>
                        </a:rPr>
                        <a:t>9,75%</a:t>
                      </a:r>
                      <a:endParaRPr/>
                    </a:p>
                  </a:txBody>
                  <a:tcPr marL="91450" marR="73150" marT="41150" marB="41150" anchor="ctr">
                    <a:solidFill>
                      <a:srgbClr val="EDF6FB"/>
                    </a:solidFill>
                  </a:tcPr>
                </a:tc>
                <a:extLst>
                  <a:ext uri="{0D108BD9-81ED-4DB2-BD59-A6C34878D82A}">
                    <a16:rowId xmlns:a16="http://schemas.microsoft.com/office/drawing/2014/main" val="10005"/>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Chi phí nguồn lực trung bình</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3.363.000 đồng / Service Order</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1.605.000 đồng / giao dịch mua hàng</a:t>
                      </a:r>
                      <a:endParaRPr/>
                    </a:p>
                  </a:txBody>
                  <a:tcPr marL="91450" marR="73150" marT="41150" marB="41150" anchor="ctr"/>
                </a:tc>
                <a:extLst>
                  <a:ext uri="{0D108BD9-81ED-4DB2-BD59-A6C34878D82A}">
                    <a16:rowId xmlns:a16="http://schemas.microsoft.com/office/drawing/2014/main" val="10006"/>
                  </a:ext>
                </a:extLst>
              </a:tr>
              <a:tr h="411475">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Điểm nghẽn lớn nhất</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phản hồi báo giá  —  16 giờ</a:t>
                      </a:r>
                      <a:endParaRPr/>
                    </a:p>
                  </a:txBody>
                  <a:tcPr marL="91450" marR="73150" marT="41150" marB="41150" anchor="ctr"/>
                </a:tc>
                <a:tc>
                  <a:txBody>
                    <a:bodyPr/>
                    <a:lstStyle/>
                    <a:p>
                      <a:pPr marL="0" marR="0" lvl="0" indent="0" algn="l" rtl="0">
                        <a:lnSpc>
                          <a:spcPct val="105000"/>
                        </a:lnSpc>
                        <a:spcBef>
                          <a:spcPts val="0"/>
                        </a:spcBef>
                        <a:spcAft>
                          <a:spcPts val="0"/>
                        </a:spcAft>
                        <a:buNone/>
                      </a:pPr>
                      <a:r>
                        <a:rPr lang="en-US" sz="1400" b="0" i="0" u="none" strike="noStrike" cap="none">
                          <a:solidFill>
                            <a:srgbClr val="0A2540"/>
                          </a:solidFill>
                          <a:latin typeface="Calibri"/>
                          <a:ea typeface="Calibri"/>
                          <a:cs typeface="Calibri"/>
                          <a:sym typeface="Calibri"/>
                        </a:rPr>
                        <a:t>Chờ quá trình cung ứng  —  80 giờ</a:t>
                      </a:r>
                      <a:endParaRPr/>
                    </a:p>
                  </a:txBody>
                  <a:tcPr marL="91450" marR="73150" marT="41150" marB="41150" anchor="ctr"/>
                </a:tc>
                <a:extLst>
                  <a:ext uri="{0D108BD9-81ED-4DB2-BD59-A6C34878D82A}">
                    <a16:rowId xmlns:a16="http://schemas.microsoft.com/office/drawing/2014/main" val="10007"/>
                  </a:ext>
                </a:extLst>
              </a:tr>
            </a:tbl>
          </a:graphicData>
        </a:graphic>
      </p:graphicFrame>
      <p:sp>
        <p:nvSpPr>
          <p:cNvPr id="1206" name="Google Shape;1206;p59"/>
          <p:cNvSpPr txBox="1"/>
          <p:nvPr/>
        </p:nvSpPr>
        <p:spPr>
          <a:xfrm>
            <a:off x="658368" y="5303520"/>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200" b="1" i="0">
                <a:solidFill>
                  <a:srgbClr val="0096D6"/>
                </a:solidFill>
                <a:latin typeface="Calibri"/>
                <a:ea typeface="Calibri"/>
                <a:cs typeface="Calibri"/>
                <a:sym typeface="Calibri"/>
              </a:rPr>
              <a:t>BỐN KẾT LUẬN CHUNG CỦA CHƯƠNG 4</a:t>
            </a:r>
            <a:endParaRPr/>
          </a:p>
        </p:txBody>
      </p:sp>
      <p:sp>
        <p:nvSpPr>
          <p:cNvPr id="1207" name="Google Shape;1207;p59"/>
          <p:cNvSpPr/>
          <p:nvPr/>
        </p:nvSpPr>
        <p:spPr>
          <a:xfrm>
            <a:off x="658368"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8" name="Google Shape;1208;p59"/>
          <p:cNvSpPr/>
          <p:nvPr/>
        </p:nvSpPr>
        <p:spPr>
          <a:xfrm>
            <a:off x="658368" y="5623560"/>
            <a:ext cx="254728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9" name="Google Shape;1209;p59"/>
          <p:cNvSpPr txBox="1"/>
          <p:nvPr/>
        </p:nvSpPr>
        <p:spPr>
          <a:xfrm>
            <a:off x="864108"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Vấn đề nằm ở phối hợp, không ở khối lượng công việc</a:t>
            </a:r>
            <a:endParaRPr/>
          </a:p>
        </p:txBody>
      </p:sp>
      <p:sp>
        <p:nvSpPr>
          <p:cNvPr id="1210" name="Google Shape;1210;p59"/>
          <p:cNvSpPr/>
          <p:nvPr/>
        </p:nvSpPr>
        <p:spPr>
          <a:xfrm>
            <a:off x="3434257"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1" name="Google Shape;1211;p59"/>
          <p:cNvSpPr/>
          <p:nvPr/>
        </p:nvSpPr>
        <p:spPr>
          <a:xfrm>
            <a:off x="3434257" y="5623560"/>
            <a:ext cx="254728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2" name="Google Shape;1212;p59"/>
          <p:cNvSpPr txBox="1"/>
          <p:nvPr/>
        </p:nvSpPr>
        <p:spPr>
          <a:xfrm>
            <a:off x="3639997"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Chất lượng thông tin đầu vào là nguyên nhân gốc</a:t>
            </a:r>
            <a:endParaRPr/>
          </a:p>
        </p:txBody>
      </p:sp>
      <p:sp>
        <p:nvSpPr>
          <p:cNvPr id="1213" name="Google Shape;1213;p59"/>
          <p:cNvSpPr/>
          <p:nvPr/>
        </p:nvSpPr>
        <p:spPr>
          <a:xfrm>
            <a:off x="6210146"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4" name="Google Shape;1214;p59"/>
          <p:cNvSpPr/>
          <p:nvPr/>
        </p:nvSpPr>
        <p:spPr>
          <a:xfrm>
            <a:off x="6210146" y="5623560"/>
            <a:ext cx="254728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5" name="Google Shape;1215;p59"/>
          <p:cNvSpPr txBox="1"/>
          <p:nvPr/>
        </p:nvSpPr>
        <p:spPr>
          <a:xfrm>
            <a:off x="6415886"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Waiting Time chi phối Cycle Time ở cả hai quy trình</a:t>
            </a:r>
            <a:endParaRPr/>
          </a:p>
        </p:txBody>
      </p:sp>
      <p:sp>
        <p:nvSpPr>
          <p:cNvPr id="1216" name="Google Shape;1216;p59"/>
          <p:cNvSpPr/>
          <p:nvPr/>
        </p:nvSpPr>
        <p:spPr>
          <a:xfrm>
            <a:off x="8986035" y="5623560"/>
            <a:ext cx="2547289" cy="5943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7" name="Google Shape;1217;p59"/>
          <p:cNvSpPr/>
          <p:nvPr/>
        </p:nvSpPr>
        <p:spPr>
          <a:xfrm>
            <a:off x="8986035" y="5623560"/>
            <a:ext cx="254728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8" name="Google Shape;1218;p59"/>
          <p:cNvSpPr txBox="1"/>
          <p:nvPr/>
        </p:nvSpPr>
        <p:spPr>
          <a:xfrm>
            <a:off x="9191775" y="5806440"/>
            <a:ext cx="2135809" cy="304766"/>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1000" b="1" i="0">
                <a:solidFill>
                  <a:srgbClr val="0A2540"/>
                </a:solidFill>
                <a:latin typeface="Calibri"/>
                <a:ea typeface="Calibri"/>
                <a:cs typeface="Calibri"/>
                <a:sym typeface="Calibri"/>
              </a:rPr>
              <a:t>BPMN + phân tích định tính, định lượng bổ trợ nhau</a:t>
            </a:r>
            <a:endParaRPr/>
          </a:p>
        </p:txBody>
      </p:sp>
      <p:sp>
        <p:nvSpPr>
          <p:cNvPr id="3" name="Slide Number Placeholder 2">
            <a:extLst>
              <a:ext uri="{FF2B5EF4-FFF2-40B4-BE49-F238E27FC236}">
                <a16:creationId xmlns:a16="http://schemas.microsoft.com/office/drawing/2014/main" id="{996D619A-47ED-0220-60A7-5668F373ED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Shape 276">
          <a:extLst>
            <a:ext uri="{FF2B5EF4-FFF2-40B4-BE49-F238E27FC236}">
              <a16:creationId xmlns:a16="http://schemas.microsoft.com/office/drawing/2014/main" id="{EF58D898-91D9-6D4C-8B8C-A19DF510E944}"/>
            </a:ext>
          </a:extLst>
        </p:cNvPr>
        <p:cNvGrpSpPr/>
        <p:nvPr/>
      </p:nvGrpSpPr>
      <p:grpSpPr>
        <a:xfrm>
          <a:off x="0" y="0"/>
          <a:ext cx="0" cy="0"/>
          <a:chOff x="0" y="0"/>
          <a:chExt cx="0" cy="0"/>
        </a:xfrm>
      </p:grpSpPr>
      <p:sp>
        <p:nvSpPr>
          <p:cNvPr id="277" name="Google Shape;277;p20">
            <a:extLst>
              <a:ext uri="{FF2B5EF4-FFF2-40B4-BE49-F238E27FC236}">
                <a16:creationId xmlns:a16="http://schemas.microsoft.com/office/drawing/2014/main" id="{022A3FBB-4531-0909-4F63-489F4F5C00CD}"/>
              </a:ext>
            </a:extLst>
          </p:cNvPr>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8" name="Google Shape;278;p20">
            <a:extLst>
              <a:ext uri="{FF2B5EF4-FFF2-40B4-BE49-F238E27FC236}">
                <a16:creationId xmlns:a16="http://schemas.microsoft.com/office/drawing/2014/main" id="{551461D7-6C98-2961-61CF-59F847FC4C99}"/>
              </a:ext>
            </a:extLst>
          </p:cNvPr>
          <p:cNvSpPr/>
          <p:nvPr/>
        </p:nvSpPr>
        <p:spPr>
          <a:xfrm>
            <a:off x="7863840" y="0"/>
            <a:ext cx="4325112" cy="6858000"/>
          </a:xfrm>
          <a:prstGeom prst="rect">
            <a:avLst/>
          </a:prstGeom>
          <a:solidFill>
            <a:srgbClr val="143A5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79" name="Google Shape;279;p20">
            <a:extLst>
              <a:ext uri="{FF2B5EF4-FFF2-40B4-BE49-F238E27FC236}">
                <a16:creationId xmlns:a16="http://schemas.microsoft.com/office/drawing/2014/main" id="{E0925E2B-FEAC-F6EC-A1A9-C58601FA1775}"/>
              </a:ext>
            </a:extLst>
          </p:cNvPr>
          <p:cNvSpPr txBox="1"/>
          <p:nvPr/>
        </p:nvSpPr>
        <p:spPr>
          <a:xfrm>
            <a:off x="8229600" y="1874519"/>
            <a:ext cx="3657600" cy="20781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a:buNone/>
              <a:tabLst/>
              <a:defRPr/>
            </a:pPr>
            <a:r>
              <a:rPr kumimoji="0" lang="en-US" sz="15000" b="1" i="0" u="none" strike="noStrike" kern="0" cap="none" spc="0" normalizeH="0" baseline="0" noProof="0">
                <a:ln>
                  <a:noFill/>
                </a:ln>
                <a:solidFill>
                  <a:srgbClr val="E7F7F3"/>
                </a:solidFill>
                <a:effectLst/>
                <a:uLnTx/>
                <a:uFillTx/>
                <a:latin typeface="Calibri"/>
                <a:ea typeface="Calibri"/>
                <a:cs typeface="Calibri"/>
                <a:sym typeface="Calibri"/>
              </a:rPr>
              <a:t>05</a:t>
            </a:r>
            <a:endParaRPr kumimoji="0" lang="en-US" sz="9600" b="0" i="0" u="none" strike="noStrike" kern="0" cap="none" spc="0" normalizeH="0" baseline="0" noProof="0">
              <a:ln>
                <a:noFill/>
              </a:ln>
              <a:solidFill>
                <a:srgbClr val="E7F7F3"/>
              </a:solidFill>
              <a:effectLst/>
              <a:uLnTx/>
              <a:uFillTx/>
              <a:latin typeface="Arial"/>
              <a:cs typeface="Arial"/>
              <a:sym typeface="Arial"/>
            </a:endParaRPr>
          </a:p>
        </p:txBody>
      </p:sp>
      <p:sp>
        <p:nvSpPr>
          <p:cNvPr id="280" name="Google Shape;280;p20">
            <a:extLst>
              <a:ext uri="{FF2B5EF4-FFF2-40B4-BE49-F238E27FC236}">
                <a16:creationId xmlns:a16="http://schemas.microsoft.com/office/drawing/2014/main" id="{9CF2E70A-0F04-9E36-9B02-A285868833BE}"/>
              </a:ext>
            </a:extLst>
          </p:cNvPr>
          <p:cNvSpPr txBox="1"/>
          <p:nvPr/>
        </p:nvSpPr>
        <p:spPr>
          <a:xfrm>
            <a:off x="421897" y="562963"/>
            <a:ext cx="658368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C2A8"/>
                </a:solidFill>
                <a:effectLst/>
                <a:uLnTx/>
                <a:uFillTx/>
                <a:latin typeface="Calibri"/>
                <a:ea typeface="Calibri"/>
                <a:cs typeface="Calibri"/>
                <a:sym typeface="Calibri"/>
              </a:rPr>
              <a:t>PHẦN 4 · WRAP-UP</a:t>
            </a:r>
          </a:p>
        </p:txBody>
      </p:sp>
      <p:sp>
        <p:nvSpPr>
          <p:cNvPr id="281" name="Google Shape;281;p20">
            <a:extLst>
              <a:ext uri="{FF2B5EF4-FFF2-40B4-BE49-F238E27FC236}">
                <a16:creationId xmlns:a16="http://schemas.microsoft.com/office/drawing/2014/main" id="{A1B4D1A4-729C-15B1-A5A3-70558FF65462}"/>
              </a:ext>
            </a:extLst>
          </p:cNvPr>
          <p:cNvSpPr txBox="1"/>
          <p:nvPr/>
        </p:nvSpPr>
        <p:spPr>
          <a:xfrm>
            <a:off x="502920" y="1370554"/>
            <a:ext cx="6583680" cy="143552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6000"/>
              </a:lnSpc>
              <a:spcBef>
                <a:spcPts val="0"/>
              </a:spcBef>
              <a:spcAft>
                <a:spcPts val="0"/>
              </a:spcAft>
              <a:buClr>
                <a:srgbClr val="000000"/>
              </a:buClr>
              <a:buSzTx/>
              <a:buFont typeface="Arial"/>
              <a:buNone/>
              <a:tabLst/>
              <a:defRPr/>
            </a:pPr>
            <a:r>
              <a:rPr kumimoji="0" lang="vi-VN" sz="4400" b="1" i="0" u="none" strike="noStrike" kern="0" cap="none" spc="0" normalizeH="0" baseline="0" noProof="0">
                <a:ln>
                  <a:noFill/>
                </a:ln>
                <a:solidFill>
                  <a:srgbClr val="FFFFFF"/>
                </a:solidFill>
                <a:effectLst/>
                <a:uLnTx/>
                <a:uFillTx/>
                <a:latin typeface="Calibri"/>
                <a:ea typeface="Calibri"/>
                <a:cs typeface="Calibri"/>
                <a:sym typeface="Calibri"/>
              </a:rPr>
              <a:t>Kết luận và hướng phát triển</a:t>
            </a:r>
          </a:p>
        </p:txBody>
      </p:sp>
      <p:sp>
        <p:nvSpPr>
          <p:cNvPr id="282" name="Google Shape;282;p20">
            <a:extLst>
              <a:ext uri="{FF2B5EF4-FFF2-40B4-BE49-F238E27FC236}">
                <a16:creationId xmlns:a16="http://schemas.microsoft.com/office/drawing/2014/main" id="{5EE965C1-86C6-998B-5FDB-86A4799648B7}"/>
              </a:ext>
            </a:extLst>
          </p:cNvPr>
          <p:cNvSpPr/>
          <p:nvPr/>
        </p:nvSpPr>
        <p:spPr>
          <a:xfrm>
            <a:off x="502920" y="3191256"/>
            <a:ext cx="1005840" cy="4572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83" name="Google Shape;283;p20">
            <a:extLst>
              <a:ext uri="{FF2B5EF4-FFF2-40B4-BE49-F238E27FC236}">
                <a16:creationId xmlns:a16="http://schemas.microsoft.com/office/drawing/2014/main" id="{905334DD-C25D-7C8D-B6DE-C388F622920A}"/>
              </a:ext>
            </a:extLst>
          </p:cNvPr>
          <p:cNvSpPr txBox="1"/>
          <p:nvPr/>
        </p:nvSpPr>
        <p:spPr>
          <a:xfrm>
            <a:off x="502920" y="3429000"/>
            <a:ext cx="6885432" cy="96026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0000"/>
              </a:lnSpc>
              <a:spcBef>
                <a:spcPts val="0"/>
              </a:spcBef>
              <a:spcAft>
                <a:spcPts val="0"/>
              </a:spcAft>
              <a:buClr>
                <a:srgbClr val="000000"/>
              </a:buClr>
              <a:buSzTx/>
              <a:buFont typeface="Arial"/>
              <a:buNone/>
              <a:tabLst/>
              <a:defRPr/>
            </a:pPr>
            <a:r>
              <a:rPr kumimoji="0" lang="vi-VN" sz="2400" b="0" i="0" u="none" strike="noStrike" kern="0" cap="none" spc="0" normalizeH="0" baseline="0" noProof="0">
                <a:ln>
                  <a:noFill/>
                </a:ln>
                <a:solidFill>
                  <a:srgbClr val="B6C9D8"/>
                </a:solidFill>
                <a:effectLst/>
                <a:uLnTx/>
                <a:uFillTx/>
                <a:latin typeface="Calibri"/>
                <a:ea typeface="Calibri"/>
                <a:cs typeface="Calibri"/>
                <a:sym typeface="Calibri"/>
              </a:rPr>
              <a:t>Kết quả đạt được qua Chương 1 – 2 – 3 – 4  ·  Hạn chế của đề tài  ·  Hướng phát triển tiếp theo</a:t>
            </a:r>
          </a:p>
        </p:txBody>
      </p:sp>
      <p:sp>
        <p:nvSpPr>
          <p:cNvPr id="2" name="Footer Placeholder 1">
            <a:extLst>
              <a:ext uri="{FF2B5EF4-FFF2-40B4-BE49-F238E27FC236}">
                <a16:creationId xmlns:a16="http://schemas.microsoft.com/office/drawing/2014/main" id="{B7CF1DF6-E351-EC6F-35C3-D9934460EF01}"/>
              </a:ext>
            </a:extLst>
          </p:cNvPr>
          <p:cNvSpPr>
            <a:spLocks noGrp="1"/>
          </p:cNvSpPr>
          <p:nvPr>
            <p:ph type="ftr" idx="11"/>
          </p:nvPr>
        </p:nvSpPr>
        <p:spPr>
          <a:xfrm>
            <a:off x="502920" y="6330597"/>
            <a:ext cx="4849673" cy="365125"/>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t>HỆ THỐNG QUẢN TRỊ QUY TRÌNH NGHIỆP VỤ  ·  SOLVENTUM VIỆT NAM</a:t>
            </a:r>
          </a:p>
        </p:txBody>
      </p:sp>
      <p:sp>
        <p:nvSpPr>
          <p:cNvPr id="3" name="Slide Number Placeholder 2">
            <a:extLst>
              <a:ext uri="{FF2B5EF4-FFF2-40B4-BE49-F238E27FC236}">
                <a16:creationId xmlns:a16="http://schemas.microsoft.com/office/drawing/2014/main" id="{4F2E39EC-B4CC-DF24-D2D2-7842382FE61A}"/>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lang="en-US"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796111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sp>
        <p:nvSpPr>
          <p:cNvPr id="1236" name="Google Shape;1236;p61"/>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5 · KẾT LUẬN</a:t>
            </a:r>
            <a:endParaRPr/>
          </a:p>
        </p:txBody>
      </p:sp>
      <p:sp>
        <p:nvSpPr>
          <p:cNvPr id="1237" name="Google Shape;1237;p61"/>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KẾT QUẢ ĐẠT ĐƯỢC QUA CHƯƠNG 1 – 2 – 3 – 4</a:t>
            </a:r>
            <a:endParaRPr/>
          </a:p>
        </p:txBody>
      </p:sp>
      <p:sp>
        <p:nvSpPr>
          <p:cNvPr id="1238" name="Google Shape;1238;p61"/>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39" name="Google Shape;1239;p61"/>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0" name="Google Shape;1240;p61"/>
          <p:cNvSpPr txBox="1"/>
          <p:nvPr/>
        </p:nvSpPr>
        <p:spPr>
          <a:xfrm>
            <a:off x="658369" y="1371600"/>
            <a:ext cx="10874956" cy="2880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i="1">
                <a:solidFill>
                  <a:srgbClr val="6B7784"/>
                </a:solidFill>
                <a:latin typeface="Calibri"/>
                <a:ea typeface="Calibri"/>
                <a:cs typeface="Calibri"/>
                <a:sym typeface="Calibri"/>
              </a:rPr>
              <a:t>Tám kết quả chính của đồ án  ·  Process Discovery + mô hình hóa BPMN + phân tích quy trình đã chuyển hoạt động nghiệp vụ thực tế thành mô hình có cấu trúc</a:t>
            </a:r>
            <a:endParaRPr sz="1600"/>
          </a:p>
        </p:txBody>
      </p:sp>
      <p:sp>
        <p:nvSpPr>
          <p:cNvPr id="1243" name="Google Shape;1243;p61"/>
          <p:cNvSpPr/>
          <p:nvPr/>
        </p:nvSpPr>
        <p:spPr>
          <a:xfrm>
            <a:off x="658368"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4" name="Google Shape;1244;p61"/>
          <p:cNvSpPr/>
          <p:nvPr/>
        </p:nvSpPr>
        <p:spPr>
          <a:xfrm>
            <a:off x="658368"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5" name="Google Shape;1245;p61"/>
          <p:cNvSpPr txBox="1"/>
          <p:nvPr/>
        </p:nvSpPr>
        <p:spPr>
          <a:xfrm>
            <a:off x="864108"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01</a:t>
            </a:r>
            <a:endParaRPr/>
          </a:p>
        </p:txBody>
      </p:sp>
      <p:sp>
        <p:nvSpPr>
          <p:cNvPr id="1246" name="Google Shape;1246;p61"/>
          <p:cNvSpPr txBox="1"/>
          <p:nvPr/>
        </p:nvSpPr>
        <p:spPr>
          <a:xfrm>
            <a:off x="864108" y="245659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Khảo sát tổng quan doanh nghiệp</a:t>
            </a:r>
            <a:endParaRPr/>
          </a:p>
        </p:txBody>
      </p:sp>
      <p:sp>
        <p:nvSpPr>
          <p:cNvPr id="1247" name="Google Shape;1247;p61"/>
          <p:cNvSpPr txBox="1"/>
          <p:nvPr/>
        </p:nvSpPr>
        <p:spPr>
          <a:xfrm>
            <a:off x="864108" y="294422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Quá trình hình thành, 03 nhóm sản phẩm – giải pháp và mô hình tổ chức theo chiều dọc của Solventum Việt Nam.</a:t>
            </a:r>
            <a:endParaRPr sz="1300"/>
          </a:p>
        </p:txBody>
      </p:sp>
      <p:sp>
        <p:nvSpPr>
          <p:cNvPr id="1248" name="Google Shape;1248;p61"/>
          <p:cNvSpPr/>
          <p:nvPr/>
        </p:nvSpPr>
        <p:spPr>
          <a:xfrm>
            <a:off x="3422827"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49" name="Google Shape;1249;p61"/>
          <p:cNvSpPr/>
          <p:nvPr/>
        </p:nvSpPr>
        <p:spPr>
          <a:xfrm>
            <a:off x="3422827"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0" name="Google Shape;1250;p61"/>
          <p:cNvSpPr txBox="1"/>
          <p:nvPr/>
        </p:nvSpPr>
        <p:spPr>
          <a:xfrm>
            <a:off x="3628567"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02</a:t>
            </a:r>
            <a:endParaRPr/>
          </a:p>
        </p:txBody>
      </p:sp>
      <p:sp>
        <p:nvSpPr>
          <p:cNvPr id="1251" name="Google Shape;1251;p61"/>
          <p:cNvSpPr txBox="1"/>
          <p:nvPr/>
        </p:nvSpPr>
        <p:spPr>
          <a:xfrm>
            <a:off x="3628567" y="245659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Xây dựng kiến trúc quy trình</a:t>
            </a:r>
            <a:endParaRPr/>
          </a:p>
        </p:txBody>
      </p:sp>
      <p:sp>
        <p:nvSpPr>
          <p:cNvPr id="1252" name="Google Shape;1252;p61"/>
          <p:cNvSpPr txBox="1"/>
          <p:nvPr/>
        </p:nvSpPr>
        <p:spPr>
          <a:xfrm>
            <a:off x="3628567" y="282235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Business Process Landscape gồm ba nhóm Quản lý – Cốt lõi – Hỗ trợ và mối quan hệ giữa chúng.</a:t>
            </a:r>
            <a:endParaRPr sz="1300"/>
          </a:p>
        </p:txBody>
      </p:sp>
      <p:sp>
        <p:nvSpPr>
          <p:cNvPr id="1253" name="Google Shape;1253;p61"/>
          <p:cNvSpPr/>
          <p:nvPr/>
        </p:nvSpPr>
        <p:spPr>
          <a:xfrm>
            <a:off x="6187286"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4" name="Google Shape;1254;p61"/>
          <p:cNvSpPr/>
          <p:nvPr/>
        </p:nvSpPr>
        <p:spPr>
          <a:xfrm>
            <a:off x="6187286" y="1953671"/>
            <a:ext cx="258157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5" name="Google Shape;1255;p61"/>
          <p:cNvSpPr txBox="1"/>
          <p:nvPr/>
        </p:nvSpPr>
        <p:spPr>
          <a:xfrm>
            <a:off x="6393026"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96D6"/>
                </a:solidFill>
                <a:latin typeface="Calibri"/>
                <a:ea typeface="Calibri"/>
                <a:cs typeface="Calibri"/>
                <a:sym typeface="Calibri"/>
              </a:rPr>
              <a:t>03</a:t>
            </a:r>
            <a:endParaRPr/>
          </a:p>
        </p:txBody>
      </p:sp>
      <p:sp>
        <p:nvSpPr>
          <p:cNvPr id="1256" name="Google Shape;1256;p61"/>
          <p:cNvSpPr txBox="1"/>
          <p:nvPr/>
        </p:nvSpPr>
        <p:spPr>
          <a:xfrm>
            <a:off x="6393026" y="245659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tả 10 quy trình tiêu biểu</a:t>
            </a:r>
            <a:endParaRPr/>
          </a:p>
        </p:txBody>
      </p:sp>
      <p:sp>
        <p:nvSpPr>
          <p:cNvPr id="1257" name="Google Shape;1257;p61"/>
          <p:cNvSpPr txBox="1"/>
          <p:nvPr/>
        </p:nvSpPr>
        <p:spPr>
          <a:xfrm>
            <a:off x="6393026" y="282235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Theo khung thống nhất 05 thành phần: Mục tiêu – Tác nhân – Khách hàng – Các bước – Kết quả.</a:t>
            </a:r>
            <a:endParaRPr sz="1300"/>
          </a:p>
        </p:txBody>
      </p:sp>
      <p:sp>
        <p:nvSpPr>
          <p:cNvPr id="1258" name="Google Shape;1258;p61"/>
          <p:cNvSpPr/>
          <p:nvPr/>
        </p:nvSpPr>
        <p:spPr>
          <a:xfrm>
            <a:off x="8951745" y="195367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59" name="Google Shape;1259;p61"/>
          <p:cNvSpPr/>
          <p:nvPr/>
        </p:nvSpPr>
        <p:spPr>
          <a:xfrm>
            <a:off x="8951745" y="195367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0" name="Google Shape;1260;p61"/>
          <p:cNvSpPr txBox="1"/>
          <p:nvPr/>
        </p:nvSpPr>
        <p:spPr>
          <a:xfrm>
            <a:off x="9157485" y="213655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04</a:t>
            </a:r>
            <a:endParaRPr/>
          </a:p>
        </p:txBody>
      </p:sp>
      <p:sp>
        <p:nvSpPr>
          <p:cNvPr id="1261" name="Google Shape;1261;p61"/>
          <p:cNvSpPr txBox="1"/>
          <p:nvPr/>
        </p:nvSpPr>
        <p:spPr>
          <a:xfrm>
            <a:off x="9157485" y="245659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hình hóa 06 quy trình bằng BPMN</a:t>
            </a:r>
            <a:endParaRPr/>
          </a:p>
        </p:txBody>
      </p:sp>
      <p:sp>
        <p:nvSpPr>
          <p:cNvPr id="1262" name="Google Shape;1262;p61"/>
          <p:cNvSpPr txBox="1"/>
          <p:nvPr/>
        </p:nvSpPr>
        <p:spPr>
          <a:xfrm>
            <a:off x="9157485" y="294422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Hiện trạng As-Is của 02 quy trình quản lý, 02 cốt lõi và 02 hỗ trợ, dựa trên bằng chứng SOP và tài liệu hệ thống.</a:t>
            </a:r>
            <a:endParaRPr sz="1300"/>
          </a:p>
        </p:txBody>
      </p:sp>
      <p:sp>
        <p:nvSpPr>
          <p:cNvPr id="1263" name="Google Shape;1263;p61"/>
          <p:cNvSpPr/>
          <p:nvPr/>
        </p:nvSpPr>
        <p:spPr>
          <a:xfrm>
            <a:off x="658368"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4" name="Google Shape;1264;p61"/>
          <p:cNvSpPr/>
          <p:nvPr/>
        </p:nvSpPr>
        <p:spPr>
          <a:xfrm>
            <a:off x="658368" y="428539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5" name="Google Shape;1265;p61"/>
          <p:cNvSpPr txBox="1"/>
          <p:nvPr/>
        </p:nvSpPr>
        <p:spPr>
          <a:xfrm>
            <a:off x="864108"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05</a:t>
            </a:r>
            <a:endParaRPr/>
          </a:p>
        </p:txBody>
      </p:sp>
      <p:sp>
        <p:nvSpPr>
          <p:cNvPr id="1266" name="Google Shape;1266;p61"/>
          <p:cNvSpPr txBox="1"/>
          <p:nvPr/>
        </p:nvSpPr>
        <p:spPr>
          <a:xfrm>
            <a:off x="864108"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Chuẩn hóa Process Discovery</a:t>
            </a:r>
            <a:endParaRPr/>
          </a:p>
        </p:txBody>
      </p:sp>
      <p:sp>
        <p:nvSpPr>
          <p:cNvPr id="1267" name="Google Shape;1267;p61"/>
          <p:cNvSpPr txBox="1"/>
          <p:nvPr/>
        </p:nvSpPr>
        <p:spPr>
          <a:xfrm>
            <a:off x="864108"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Kết hợp Evidence-based và Interview-based với bộ 20 câu hỏi (10 định tính + 10 định lượng).</a:t>
            </a:r>
            <a:endParaRPr sz="1300"/>
          </a:p>
        </p:txBody>
      </p:sp>
      <p:sp>
        <p:nvSpPr>
          <p:cNvPr id="1268" name="Google Shape;1268;p61"/>
          <p:cNvSpPr/>
          <p:nvPr/>
        </p:nvSpPr>
        <p:spPr>
          <a:xfrm>
            <a:off x="3422827"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69" name="Google Shape;1269;p61"/>
          <p:cNvSpPr/>
          <p:nvPr/>
        </p:nvSpPr>
        <p:spPr>
          <a:xfrm>
            <a:off x="3422827" y="4285391"/>
            <a:ext cx="258157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0" name="Google Shape;1270;p61"/>
          <p:cNvSpPr txBox="1"/>
          <p:nvPr/>
        </p:nvSpPr>
        <p:spPr>
          <a:xfrm>
            <a:off x="3628567"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00C2A8"/>
                </a:solidFill>
                <a:latin typeface="Calibri"/>
                <a:ea typeface="Calibri"/>
                <a:cs typeface="Calibri"/>
                <a:sym typeface="Calibri"/>
              </a:rPr>
              <a:t>06</a:t>
            </a:r>
            <a:endParaRPr/>
          </a:p>
        </p:txBody>
      </p:sp>
      <p:sp>
        <p:nvSpPr>
          <p:cNvPr id="1271" name="Google Shape;1271;p61"/>
          <p:cNvSpPr txBox="1"/>
          <p:nvPr/>
        </p:nvSpPr>
        <p:spPr>
          <a:xfrm>
            <a:off x="3628567" y="4788311"/>
            <a:ext cx="2170099" cy="396195"/>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Sàng lọc khách quan theo 05 tiêu chí</a:t>
            </a:r>
            <a:endParaRPr/>
          </a:p>
        </p:txBody>
      </p:sp>
      <p:sp>
        <p:nvSpPr>
          <p:cNvPr id="1272" name="Google Shape;1272;p61"/>
          <p:cNvSpPr txBox="1"/>
          <p:nvPr/>
        </p:nvSpPr>
        <p:spPr>
          <a:xfrm>
            <a:off x="3628567" y="5275946"/>
            <a:ext cx="2170099" cy="1021125"/>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Chọn được 02 quy trình trọng tâm: Service Order Management và Procurement Management.</a:t>
            </a:r>
            <a:endParaRPr sz="1300"/>
          </a:p>
        </p:txBody>
      </p:sp>
      <p:sp>
        <p:nvSpPr>
          <p:cNvPr id="1273" name="Google Shape;1273;p61"/>
          <p:cNvSpPr/>
          <p:nvPr/>
        </p:nvSpPr>
        <p:spPr>
          <a:xfrm>
            <a:off x="6187286"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4" name="Google Shape;1274;p61"/>
          <p:cNvSpPr/>
          <p:nvPr/>
        </p:nvSpPr>
        <p:spPr>
          <a:xfrm>
            <a:off x="6187286" y="4285391"/>
            <a:ext cx="258157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5" name="Google Shape;1275;p61"/>
          <p:cNvSpPr txBox="1"/>
          <p:nvPr/>
        </p:nvSpPr>
        <p:spPr>
          <a:xfrm>
            <a:off x="6393026"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87F0A"/>
                </a:solidFill>
                <a:latin typeface="Calibri"/>
                <a:ea typeface="Calibri"/>
                <a:cs typeface="Calibri"/>
                <a:sym typeface="Calibri"/>
              </a:rPr>
              <a:t>07</a:t>
            </a:r>
            <a:endParaRPr/>
          </a:p>
        </p:txBody>
      </p:sp>
      <p:sp>
        <p:nvSpPr>
          <p:cNvPr id="1276" name="Google Shape;1276;p61"/>
          <p:cNvSpPr txBox="1"/>
          <p:nvPr/>
        </p:nvSpPr>
        <p:spPr>
          <a:xfrm>
            <a:off x="6393026"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Phân tích định tính</a:t>
            </a:r>
            <a:endParaRPr/>
          </a:p>
        </p:txBody>
      </p:sp>
      <p:sp>
        <p:nvSpPr>
          <p:cNvPr id="1277" name="Google Shape;1277;p61"/>
          <p:cNvSpPr txBox="1"/>
          <p:nvPr/>
        </p:nvSpPr>
        <p:spPr>
          <a:xfrm>
            <a:off x="6393026"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C03: 08 VA – 23 BVA – 04 NVA · 17 điểm lãng phí.</a:t>
            </a:r>
            <a:endParaRPr sz="1300"/>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S01: 02 VA – 12 BVA – 06 NVA · 15 điểm lãng phí.</a:t>
            </a:r>
            <a:endParaRPr sz="1300"/>
          </a:p>
        </p:txBody>
      </p:sp>
      <p:sp>
        <p:nvSpPr>
          <p:cNvPr id="1278" name="Google Shape;1278;p61"/>
          <p:cNvSpPr/>
          <p:nvPr/>
        </p:nvSpPr>
        <p:spPr>
          <a:xfrm>
            <a:off x="8951745" y="4285391"/>
            <a:ext cx="2581579" cy="214884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79" name="Google Shape;1279;p61"/>
          <p:cNvSpPr/>
          <p:nvPr/>
        </p:nvSpPr>
        <p:spPr>
          <a:xfrm>
            <a:off x="8951745" y="4285391"/>
            <a:ext cx="258157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00">
              <a:solidFill>
                <a:schemeClr val="lt1"/>
              </a:solidFill>
              <a:latin typeface="Calibri"/>
              <a:ea typeface="Calibri"/>
              <a:cs typeface="Calibri"/>
              <a:sym typeface="Calibri"/>
            </a:endParaRPr>
          </a:p>
        </p:txBody>
      </p:sp>
      <p:sp>
        <p:nvSpPr>
          <p:cNvPr id="1280" name="Google Shape;1280;p61"/>
          <p:cNvSpPr txBox="1"/>
          <p:nvPr/>
        </p:nvSpPr>
        <p:spPr>
          <a:xfrm>
            <a:off x="9157485" y="4468271"/>
            <a:ext cx="217009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a:solidFill>
                  <a:srgbClr val="C0392B"/>
                </a:solidFill>
                <a:latin typeface="Calibri"/>
                <a:ea typeface="Calibri"/>
                <a:cs typeface="Calibri"/>
                <a:sym typeface="Calibri"/>
              </a:rPr>
              <a:t>08</a:t>
            </a:r>
            <a:endParaRPr/>
          </a:p>
        </p:txBody>
      </p:sp>
      <p:sp>
        <p:nvSpPr>
          <p:cNvPr id="1281" name="Google Shape;1281;p61"/>
          <p:cNvSpPr txBox="1"/>
          <p:nvPr/>
        </p:nvSpPr>
        <p:spPr>
          <a:xfrm>
            <a:off x="9157485" y="4788311"/>
            <a:ext cx="217009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Phân tích định lượng</a:t>
            </a:r>
            <a:endParaRPr/>
          </a:p>
        </p:txBody>
      </p:sp>
      <p:sp>
        <p:nvSpPr>
          <p:cNvPr id="1282" name="Google Shape;1282;p61"/>
          <p:cNvSpPr txBox="1"/>
          <p:nvPr/>
        </p:nvSpPr>
        <p:spPr>
          <a:xfrm>
            <a:off x="9157485" y="5154071"/>
            <a:ext cx="2170099" cy="1143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1300" b="0" i="0">
                <a:solidFill>
                  <a:srgbClr val="6B7784"/>
                </a:solidFill>
                <a:latin typeface="Calibri"/>
                <a:ea typeface="Calibri"/>
                <a:cs typeface="Calibri"/>
                <a:sym typeface="Calibri"/>
              </a:rPr>
              <a:t>C03: CT ≈ 6,39 ngày · CTE ≈ 46,14%.</a:t>
            </a:r>
            <a:endParaRPr sz="1300"/>
          </a:p>
          <a:p>
            <a:pPr marL="0" marR="0" lvl="0" indent="0" algn="l" rtl="0">
              <a:lnSpc>
                <a:spcPct val="112000"/>
              </a:lnSpc>
              <a:spcBef>
                <a:spcPts val="200"/>
              </a:spcBef>
              <a:spcAft>
                <a:spcPts val="0"/>
              </a:spcAft>
              <a:buNone/>
            </a:pPr>
            <a:r>
              <a:rPr lang="en-US" sz="1300" b="0" i="0">
                <a:solidFill>
                  <a:srgbClr val="6B7784"/>
                </a:solidFill>
                <a:latin typeface="Calibri"/>
                <a:ea typeface="Calibri"/>
                <a:cs typeface="Calibri"/>
                <a:sym typeface="Calibri"/>
              </a:rPr>
              <a:t>S01: CT ≈ 13,71 ngày · CTE ≈ 9,75%.</a:t>
            </a:r>
            <a:endParaRPr sz="1300"/>
          </a:p>
        </p:txBody>
      </p:sp>
      <p:sp>
        <p:nvSpPr>
          <p:cNvPr id="2" name="Footer Placeholder 1">
            <a:extLst>
              <a:ext uri="{FF2B5EF4-FFF2-40B4-BE49-F238E27FC236}">
                <a16:creationId xmlns:a16="http://schemas.microsoft.com/office/drawing/2014/main" id="{03E8A3B9-86E3-31A3-3F94-54F2EC470E39}"/>
              </a:ext>
            </a:extLst>
          </p:cNvPr>
          <p:cNvSpPr>
            <a:spLocks noGrp="1"/>
          </p:cNvSpPr>
          <p:nvPr>
            <p:ph type="ftr" idx="11"/>
          </p:nvPr>
        </p:nvSpPr>
        <p:spPr>
          <a:xfrm>
            <a:off x="658368" y="6428328"/>
            <a:ext cx="4730573"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951218E9-FF01-1E2B-6E22-63AA0955C2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62"/>
          <p:cNvSpPr txBox="1"/>
          <p:nvPr/>
        </p:nvSpPr>
        <p:spPr>
          <a:xfrm>
            <a:off x="658368" y="384048"/>
            <a:ext cx="108749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050" b="1" i="0">
                <a:solidFill>
                  <a:srgbClr val="0096D6"/>
                </a:solidFill>
                <a:latin typeface="Calibri"/>
                <a:ea typeface="Calibri"/>
                <a:cs typeface="Calibri"/>
                <a:sym typeface="Calibri"/>
              </a:rPr>
              <a:t>CHƯƠNG 5 · HẠN CHẾ VÀ HƯỚNG PHÁT TRIỂN</a:t>
            </a:r>
            <a:endParaRPr/>
          </a:p>
        </p:txBody>
      </p:sp>
      <p:sp>
        <p:nvSpPr>
          <p:cNvPr id="1288" name="Google Shape;1288;p62"/>
          <p:cNvSpPr txBox="1"/>
          <p:nvPr/>
        </p:nvSpPr>
        <p:spPr>
          <a:xfrm>
            <a:off x="658368" y="640080"/>
            <a:ext cx="10874959" cy="603504"/>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sz="2500" b="1" i="0">
                <a:solidFill>
                  <a:srgbClr val="0A2540"/>
                </a:solidFill>
                <a:latin typeface="Calibri"/>
                <a:ea typeface="Calibri"/>
                <a:cs typeface="Calibri"/>
                <a:sym typeface="Calibri"/>
              </a:rPr>
              <a:t>HẠN CHẾ CỦA ĐỒ ÁN VÀ HƯỚNG PHÁT TRIỂN</a:t>
            </a:r>
            <a:endParaRPr/>
          </a:p>
        </p:txBody>
      </p:sp>
      <p:sp>
        <p:nvSpPr>
          <p:cNvPr id="1289" name="Google Shape;1289;p62"/>
          <p:cNvSpPr/>
          <p:nvPr/>
        </p:nvSpPr>
        <p:spPr>
          <a:xfrm>
            <a:off x="658368" y="1280160"/>
            <a:ext cx="566928" cy="41148"/>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0" name="Google Shape;1290;p62"/>
          <p:cNvSpPr/>
          <p:nvPr/>
        </p:nvSpPr>
        <p:spPr>
          <a:xfrm>
            <a:off x="1298448" y="1280160"/>
            <a:ext cx="10234879" cy="41148"/>
          </a:xfrm>
          <a:prstGeom prst="rect">
            <a:avLst/>
          </a:prstGeom>
          <a:solidFill>
            <a:srgbClr val="DFE4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1" name="Google Shape;1291;p62"/>
          <p:cNvSpPr txBox="1"/>
          <p:nvPr/>
        </p:nvSpPr>
        <p:spPr>
          <a:xfrm>
            <a:off x="658368" y="1371600"/>
            <a:ext cx="10874959"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0" i="1">
                <a:solidFill>
                  <a:srgbClr val="6B7784"/>
                </a:solidFill>
                <a:latin typeface="Calibri"/>
                <a:ea typeface="Calibri"/>
                <a:cs typeface="Calibri"/>
                <a:sym typeface="Calibri"/>
              </a:rPr>
              <a:t>Ba hạn chế cần lưu ý khi diễn giải kết quả định lượng   |   Bốn hướng phát triển tiếp theo</a:t>
            </a:r>
            <a:endParaRPr sz="1800"/>
          </a:p>
        </p:txBody>
      </p:sp>
      <p:sp>
        <p:nvSpPr>
          <p:cNvPr id="1294" name="Google Shape;1294;p62"/>
          <p:cNvSpPr txBox="1"/>
          <p:nvPr/>
        </p:nvSpPr>
        <p:spPr>
          <a:xfrm>
            <a:off x="6583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C0392B"/>
                </a:solidFill>
                <a:latin typeface="Calibri"/>
                <a:ea typeface="Calibri"/>
                <a:cs typeface="Calibri"/>
                <a:sym typeface="Calibri"/>
              </a:rPr>
              <a:t>BA HẠN CHẾ CỦA PHẠM VI NGHIÊN CỨU</a:t>
            </a:r>
            <a:endParaRPr sz="1800"/>
          </a:p>
        </p:txBody>
      </p:sp>
      <p:sp>
        <p:nvSpPr>
          <p:cNvPr id="1295" name="Google Shape;1295;p62"/>
          <p:cNvSpPr/>
          <p:nvPr/>
        </p:nvSpPr>
        <p:spPr>
          <a:xfrm>
            <a:off x="658368" y="210312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296" name="Google Shape;1296;p62"/>
          <p:cNvSpPr/>
          <p:nvPr/>
        </p:nvSpPr>
        <p:spPr>
          <a:xfrm>
            <a:off x="658368" y="210312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297" name="Google Shape;1297;p62"/>
          <p:cNvSpPr txBox="1"/>
          <p:nvPr/>
        </p:nvSpPr>
        <p:spPr>
          <a:xfrm>
            <a:off x="864108" y="228600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Phạm vi mô hình hóa còn giới hạn</a:t>
            </a:r>
            <a:endParaRPr sz="1600"/>
          </a:p>
        </p:txBody>
      </p:sp>
      <p:sp>
        <p:nvSpPr>
          <p:cNvPr id="1298" name="Google Shape;1298;p62"/>
          <p:cNvSpPr txBox="1"/>
          <p:nvPr/>
        </p:nvSpPr>
        <p:spPr>
          <a:xfrm>
            <a:off x="864108" y="265176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Chỉ 06/10 quy trình được mô hình hóa chi tiết, 02 quy trình được phân tích chuyên sâu.</a:t>
            </a:r>
            <a:endParaRPr sz="1600"/>
          </a:p>
        </p:txBody>
      </p:sp>
      <p:sp>
        <p:nvSpPr>
          <p:cNvPr id="1299" name="Google Shape;1299;p62"/>
          <p:cNvSpPr/>
          <p:nvPr/>
        </p:nvSpPr>
        <p:spPr>
          <a:xfrm>
            <a:off x="658368" y="352044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0" name="Google Shape;1300;p62"/>
          <p:cNvSpPr/>
          <p:nvPr/>
        </p:nvSpPr>
        <p:spPr>
          <a:xfrm>
            <a:off x="658368" y="352044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1" name="Google Shape;1301;p62"/>
          <p:cNvSpPr txBox="1"/>
          <p:nvPr/>
        </p:nvSpPr>
        <p:spPr>
          <a:xfrm>
            <a:off x="864108" y="3703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Dữ liệu định lượng mang tính giả định</a:t>
            </a:r>
            <a:endParaRPr sz="1600"/>
          </a:p>
        </p:txBody>
      </p:sp>
      <p:sp>
        <p:nvSpPr>
          <p:cNvPr id="1302" name="Google Shape;1302;p62"/>
          <p:cNvSpPr txBox="1"/>
          <p:nvPr/>
        </p:nvSpPr>
        <p:spPr>
          <a:xfrm>
            <a:off x="864108" y="406908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Thời gian, tỷ lệ nhánh và mức 150.000 đồng/giờ là giả định phục vụ phân tích, không phải số liệu thống kê.</a:t>
            </a:r>
            <a:endParaRPr sz="1600"/>
          </a:p>
        </p:txBody>
      </p:sp>
      <p:sp>
        <p:nvSpPr>
          <p:cNvPr id="1303" name="Google Shape;1303;p62"/>
          <p:cNvSpPr/>
          <p:nvPr/>
        </p:nvSpPr>
        <p:spPr>
          <a:xfrm>
            <a:off x="658368" y="4937760"/>
            <a:ext cx="5323459" cy="128016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4" name="Google Shape;1304;p62"/>
          <p:cNvSpPr/>
          <p:nvPr/>
        </p:nvSpPr>
        <p:spPr>
          <a:xfrm>
            <a:off x="658368" y="493776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5" name="Google Shape;1305;p62"/>
          <p:cNvSpPr txBox="1"/>
          <p:nvPr/>
        </p:nvSpPr>
        <p:spPr>
          <a:xfrm>
            <a:off x="864108" y="512064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Mô hình chưa bao quát mọi ngoại lệ</a:t>
            </a:r>
            <a:endParaRPr sz="1600"/>
          </a:p>
        </p:txBody>
      </p:sp>
      <p:sp>
        <p:nvSpPr>
          <p:cNvPr id="1306" name="Google Shape;1306;p62"/>
          <p:cNvSpPr txBox="1"/>
          <p:nvPr/>
        </p:nvSpPr>
        <p:spPr>
          <a:xfrm>
            <a:off x="864108" y="5486400"/>
            <a:ext cx="4911979" cy="59436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BPMN tập trung các luồng nghiệp vụ chính, không bao gồm mọi tình huống phát sinh trong thực tế.</a:t>
            </a:r>
            <a:endParaRPr sz="1600"/>
          </a:p>
        </p:txBody>
      </p:sp>
      <p:sp>
        <p:nvSpPr>
          <p:cNvPr id="1307" name="Google Shape;1307;p62"/>
          <p:cNvSpPr txBox="1"/>
          <p:nvPr/>
        </p:nvSpPr>
        <p:spPr>
          <a:xfrm>
            <a:off x="6209868" y="1737360"/>
            <a:ext cx="5323459" cy="2560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1" i="0">
                <a:solidFill>
                  <a:srgbClr val="00C2A8"/>
                </a:solidFill>
                <a:latin typeface="Calibri"/>
                <a:ea typeface="Calibri"/>
                <a:cs typeface="Calibri"/>
                <a:sym typeface="Calibri"/>
              </a:rPr>
              <a:t>BỐN HƯỚNG PHÁT TRIỂN TIẾP THEO</a:t>
            </a:r>
            <a:endParaRPr sz="1800"/>
          </a:p>
        </p:txBody>
      </p:sp>
      <p:sp>
        <p:nvSpPr>
          <p:cNvPr id="1308" name="Google Shape;1308;p62"/>
          <p:cNvSpPr/>
          <p:nvPr/>
        </p:nvSpPr>
        <p:spPr>
          <a:xfrm>
            <a:off x="6209868" y="210312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09" name="Google Shape;1309;p62"/>
          <p:cNvSpPr/>
          <p:nvPr/>
        </p:nvSpPr>
        <p:spPr>
          <a:xfrm>
            <a:off x="6209868" y="2103120"/>
            <a:ext cx="5323459" cy="50292"/>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0" name="Google Shape;1310;p62"/>
          <p:cNvSpPr txBox="1"/>
          <p:nvPr/>
        </p:nvSpPr>
        <p:spPr>
          <a:xfrm>
            <a:off x="6415608" y="228600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01   Mở rộng phạm vi mô hình hóa</a:t>
            </a:r>
            <a:endParaRPr sz="1600"/>
          </a:p>
        </p:txBody>
      </p:sp>
      <p:sp>
        <p:nvSpPr>
          <p:cNvPr id="1311" name="Google Shape;1311;p62"/>
          <p:cNvSpPr txBox="1"/>
          <p:nvPr/>
        </p:nvSpPr>
        <p:spPr>
          <a:xfrm>
            <a:off x="6415608" y="265176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Mô hình hóa các quy trình còn lại trong kiến trúc.</a:t>
            </a:r>
            <a:endParaRPr sz="1600"/>
          </a:p>
        </p:txBody>
      </p:sp>
      <p:sp>
        <p:nvSpPr>
          <p:cNvPr id="1312" name="Google Shape;1312;p62"/>
          <p:cNvSpPr/>
          <p:nvPr/>
        </p:nvSpPr>
        <p:spPr>
          <a:xfrm>
            <a:off x="6209868" y="315468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3" name="Google Shape;1313;p62"/>
          <p:cNvSpPr/>
          <p:nvPr/>
        </p:nvSpPr>
        <p:spPr>
          <a:xfrm>
            <a:off x="6209868" y="3154680"/>
            <a:ext cx="5323459" cy="50292"/>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4" name="Google Shape;1314;p62"/>
          <p:cNvSpPr txBox="1"/>
          <p:nvPr/>
        </p:nvSpPr>
        <p:spPr>
          <a:xfrm>
            <a:off x="6415608" y="333756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02   Thu thập dữ liệu vận hành thực tế</a:t>
            </a:r>
            <a:endParaRPr sz="1600"/>
          </a:p>
        </p:txBody>
      </p:sp>
      <p:sp>
        <p:nvSpPr>
          <p:cNvPr id="1315" name="Google Shape;1315;p62"/>
          <p:cNvSpPr txBox="1"/>
          <p:nvPr/>
        </p:nvSpPr>
        <p:spPr>
          <a:xfrm>
            <a:off x="6415608" y="370332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Đo lại PT, WT, Cycle Time và chi phí thực tế.</a:t>
            </a:r>
            <a:endParaRPr sz="1600"/>
          </a:p>
        </p:txBody>
      </p:sp>
      <p:sp>
        <p:nvSpPr>
          <p:cNvPr id="1316" name="Google Shape;1316;p62"/>
          <p:cNvSpPr/>
          <p:nvPr/>
        </p:nvSpPr>
        <p:spPr>
          <a:xfrm>
            <a:off x="6209868" y="420624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7" name="Google Shape;1317;p62"/>
          <p:cNvSpPr/>
          <p:nvPr/>
        </p:nvSpPr>
        <p:spPr>
          <a:xfrm>
            <a:off x="6209868" y="4206240"/>
            <a:ext cx="5323459" cy="50292"/>
          </a:xfrm>
          <a:prstGeom prst="rect">
            <a:avLst/>
          </a:prstGeom>
          <a:solidFill>
            <a:srgbClr val="C87F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18" name="Google Shape;1318;p62"/>
          <p:cNvSpPr txBox="1"/>
          <p:nvPr/>
        </p:nvSpPr>
        <p:spPr>
          <a:xfrm>
            <a:off x="6415608" y="438912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03   Chuẩn hóa dữ liệu và trạng thái xử lý</a:t>
            </a:r>
            <a:endParaRPr sz="1600"/>
          </a:p>
        </p:txBody>
      </p:sp>
      <p:sp>
        <p:nvSpPr>
          <p:cNvPr id="1319" name="Google Shape;1319;p62"/>
          <p:cNvSpPr txBox="1"/>
          <p:nvPr/>
        </p:nvSpPr>
        <p:spPr>
          <a:xfrm>
            <a:off x="6415608" y="475488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Giảm vòng bổ sung, theo dõi tiến độ xử lý.</a:t>
            </a:r>
            <a:endParaRPr sz="1600"/>
          </a:p>
        </p:txBody>
      </p:sp>
      <p:sp>
        <p:nvSpPr>
          <p:cNvPr id="1320" name="Google Shape;1320;p62"/>
          <p:cNvSpPr/>
          <p:nvPr/>
        </p:nvSpPr>
        <p:spPr>
          <a:xfrm>
            <a:off x="6209868" y="5257800"/>
            <a:ext cx="5323459" cy="960120"/>
          </a:xfrm>
          <a:prstGeom prst="rect">
            <a:avLst/>
          </a:prstGeom>
          <a:solidFill>
            <a:srgbClr val="F4F7FA"/>
          </a:solidFill>
          <a:ln w="9525" cap="flat" cmpd="sng">
            <a:solidFill>
              <a:srgbClr val="DFE4E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1" name="Google Shape;1321;p62"/>
          <p:cNvSpPr/>
          <p:nvPr/>
        </p:nvSpPr>
        <p:spPr>
          <a:xfrm>
            <a:off x="6209868" y="5257800"/>
            <a:ext cx="5323459" cy="50292"/>
          </a:xfrm>
          <a:prstGeom prst="rect">
            <a:avLst/>
          </a:prstGeom>
          <a:solidFill>
            <a:srgbClr val="C039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1322" name="Google Shape;1322;p62"/>
          <p:cNvSpPr txBox="1"/>
          <p:nvPr/>
        </p:nvSpPr>
        <p:spPr>
          <a:xfrm>
            <a:off x="6415608" y="5440680"/>
            <a:ext cx="4911979" cy="27432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None/>
            </a:pPr>
            <a:r>
              <a:rPr lang="en-US" b="1" i="0">
                <a:solidFill>
                  <a:srgbClr val="0A2540"/>
                </a:solidFill>
                <a:latin typeface="Calibri"/>
                <a:ea typeface="Calibri"/>
                <a:cs typeface="Calibri"/>
                <a:sym typeface="Calibri"/>
              </a:rPr>
              <a:t>04   Khai thác Process Mining</a:t>
            </a:r>
            <a:endParaRPr sz="1600"/>
          </a:p>
        </p:txBody>
      </p:sp>
      <p:sp>
        <p:nvSpPr>
          <p:cNvPr id="1323" name="Google Shape;1323;p62"/>
          <p:cNvSpPr txBox="1"/>
          <p:nvPr/>
        </p:nvSpPr>
        <p:spPr>
          <a:xfrm>
            <a:off x="6415608" y="5806440"/>
            <a:ext cx="4911979" cy="27432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b="0" i="0">
                <a:solidFill>
                  <a:srgbClr val="6B7784"/>
                </a:solidFill>
                <a:latin typeface="Calibri"/>
                <a:ea typeface="Calibri"/>
                <a:cs typeface="Calibri"/>
                <a:sym typeface="Calibri"/>
              </a:rPr>
              <a:t>Đối chiếu Event Log với mô hình BPMN.</a:t>
            </a:r>
            <a:endParaRPr sz="1600"/>
          </a:p>
        </p:txBody>
      </p:sp>
      <p:sp>
        <p:nvSpPr>
          <p:cNvPr id="2" name="Footer Placeholder 1">
            <a:extLst>
              <a:ext uri="{FF2B5EF4-FFF2-40B4-BE49-F238E27FC236}">
                <a16:creationId xmlns:a16="http://schemas.microsoft.com/office/drawing/2014/main" id="{A4EBAF75-21EA-3CB5-72AA-909A2E7E9771}"/>
              </a:ext>
            </a:extLst>
          </p:cNvPr>
          <p:cNvSpPr>
            <a:spLocks noGrp="1"/>
          </p:cNvSpPr>
          <p:nvPr>
            <p:ph type="ftr" idx="11"/>
          </p:nvPr>
        </p:nvSpPr>
        <p:spPr>
          <a:xfrm>
            <a:off x="658368" y="6350508"/>
            <a:ext cx="4918587" cy="365125"/>
          </a:xfrm>
        </p:spPr>
        <p:txBody>
          <a:bodyPr/>
          <a:lstStyle/>
          <a:p>
            <a:pPr algn="l"/>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5597A8B-CAF9-E447-90F7-738ED92AF8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1243E"/>
        </a:solidFill>
        <a:effectLst/>
      </p:bgPr>
    </p:bg>
    <p:spTree>
      <p:nvGrpSpPr>
        <p:cNvPr id="1" name="Shape 1327"/>
        <p:cNvGrpSpPr/>
        <p:nvPr/>
      </p:nvGrpSpPr>
      <p:grpSpPr>
        <a:xfrm>
          <a:off x="0" y="0"/>
          <a:ext cx="0" cy="0"/>
          <a:chOff x="0" y="0"/>
          <a:chExt cx="0" cy="0"/>
        </a:xfrm>
      </p:grpSpPr>
      <p:sp>
        <p:nvSpPr>
          <p:cNvPr id="1328" name="Google Shape;1328;p63"/>
          <p:cNvSpPr/>
          <p:nvPr/>
        </p:nvSpPr>
        <p:spPr>
          <a:xfrm>
            <a:off x="0" y="0"/>
            <a:ext cx="182880" cy="6858000"/>
          </a:xfrm>
          <a:prstGeom prst="rect">
            <a:avLst/>
          </a:prstGeom>
          <a:solidFill>
            <a:srgbClr val="0096D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9" name="Google Shape;1329;p63"/>
          <p:cNvSpPr txBox="1"/>
          <p:nvPr/>
        </p:nvSpPr>
        <p:spPr>
          <a:xfrm>
            <a:off x="1051560" y="824924"/>
            <a:ext cx="10058400" cy="3077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000" b="1" i="0">
                <a:solidFill>
                  <a:srgbClr val="00C2A8"/>
                </a:solidFill>
                <a:latin typeface="Calibri"/>
                <a:ea typeface="Calibri"/>
                <a:cs typeface="Calibri"/>
                <a:sym typeface="Calibri"/>
              </a:rPr>
              <a:t>HỆ THỐNG QUẢN TRỊ QUY TRÌNH NGHIỆP VỤ  ·  ĐỒ ÁN CUỐI KỲ</a:t>
            </a:r>
            <a:endParaRPr/>
          </a:p>
        </p:txBody>
      </p:sp>
      <p:sp>
        <p:nvSpPr>
          <p:cNvPr id="1330" name="Google Shape;1330;p63"/>
          <p:cNvSpPr txBox="1"/>
          <p:nvPr/>
        </p:nvSpPr>
        <p:spPr>
          <a:xfrm>
            <a:off x="1051560" y="1282124"/>
            <a:ext cx="10058400" cy="914400"/>
          </a:xfrm>
          <a:prstGeom prst="rect">
            <a:avLst/>
          </a:prstGeom>
          <a:noFill/>
          <a:ln>
            <a:noFill/>
          </a:ln>
        </p:spPr>
        <p:txBody>
          <a:bodyPr spcFirstLastPara="1" wrap="square" lIns="0" tIns="0" rIns="0" bIns="0" anchor="t" anchorCtr="0">
            <a:spAutoFit/>
          </a:bodyPr>
          <a:lstStyle/>
          <a:p>
            <a:pPr marL="0" marR="0" lvl="0" indent="0" algn="ctr" rtl="0">
              <a:lnSpc>
                <a:spcPct val="105000"/>
              </a:lnSpc>
              <a:spcBef>
                <a:spcPts val="0"/>
              </a:spcBef>
              <a:spcAft>
                <a:spcPts val="0"/>
              </a:spcAft>
              <a:buNone/>
            </a:pPr>
            <a:r>
              <a:rPr lang="en-US" sz="3200" b="1" i="0">
                <a:solidFill>
                  <a:srgbClr val="FFFFFF"/>
                </a:solidFill>
                <a:latin typeface="Calibri"/>
                <a:ea typeface="Calibri"/>
                <a:cs typeface="Calibri"/>
                <a:sym typeface="Calibri"/>
              </a:rPr>
              <a:t>CẢM ƠN THẦY VÀ CÁC BẠN ĐÃ LẮNG NGHE</a:t>
            </a:r>
            <a:endParaRPr/>
          </a:p>
        </p:txBody>
      </p:sp>
      <p:sp>
        <p:nvSpPr>
          <p:cNvPr id="1331" name="Google Shape;1331;p63"/>
          <p:cNvSpPr/>
          <p:nvPr/>
        </p:nvSpPr>
        <p:spPr>
          <a:xfrm>
            <a:off x="5596128" y="2397691"/>
            <a:ext cx="1005840" cy="45720"/>
          </a:xfrm>
          <a:prstGeom prst="rect">
            <a:avLst/>
          </a:prstGeom>
          <a:solidFill>
            <a:srgbClr val="00C2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2" name="Google Shape;1332;p63"/>
          <p:cNvSpPr txBox="1"/>
          <p:nvPr/>
        </p:nvSpPr>
        <p:spPr>
          <a:xfrm>
            <a:off x="1051560" y="2690300"/>
            <a:ext cx="10058400" cy="29546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00" b="0" i="0">
                <a:solidFill>
                  <a:srgbClr val="B6C9D8"/>
                </a:solidFill>
                <a:latin typeface="Calibri"/>
                <a:ea typeface="Calibri"/>
                <a:cs typeface="Calibri"/>
                <a:sym typeface="Calibri"/>
              </a:rPr>
              <a:t>Rất mong nhận được câu hỏi và góp ý từ Thầy và các bạn</a:t>
            </a:r>
            <a:endParaRPr sz="1600" b="0" i="0">
              <a:solidFill>
                <a:srgbClr val="B6C9D8"/>
              </a:solidFill>
              <a:latin typeface="Calibri"/>
              <a:ea typeface="Calibri"/>
              <a:cs typeface="Calibri"/>
              <a:sym typeface="Calibri"/>
            </a:endParaRPr>
          </a:p>
        </p:txBody>
      </p:sp>
      <p:sp>
        <p:nvSpPr>
          <p:cNvPr id="1333" name="Google Shape;1333;p63"/>
          <p:cNvSpPr txBox="1"/>
          <p:nvPr/>
        </p:nvSpPr>
        <p:spPr>
          <a:xfrm>
            <a:off x="1051560" y="3568124"/>
            <a:ext cx="10058400" cy="69352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00" b="1" i="0">
                <a:solidFill>
                  <a:srgbClr val="FFFFFF"/>
                </a:solidFill>
                <a:latin typeface="Calibri"/>
                <a:ea typeface="Calibri"/>
                <a:cs typeface="Calibri"/>
                <a:sym typeface="Calibri"/>
              </a:rPr>
              <a:t>Nguyễn Chí Thanh · 25210195      |      Trần Xuân Trứ · 25210227      |      Tăng Thuận Phát · 25210163</a:t>
            </a:r>
            <a:endParaRPr/>
          </a:p>
          <a:p>
            <a:pPr marL="0" marR="0" lvl="0" indent="0" algn="ctr" rtl="0">
              <a:lnSpc>
                <a:spcPct val="120000"/>
              </a:lnSpc>
              <a:spcBef>
                <a:spcPts val="800"/>
              </a:spcBef>
              <a:spcAft>
                <a:spcPts val="0"/>
              </a:spcAft>
              <a:buNone/>
            </a:pPr>
            <a:r>
              <a:rPr lang="en-US" sz="1600" b="0" i="0">
                <a:solidFill>
                  <a:srgbClr val="8FA6BC"/>
                </a:solidFill>
                <a:latin typeface="Calibri"/>
                <a:ea typeface="Calibri"/>
                <a:cs typeface="Calibri"/>
                <a:sym typeface="Calibri"/>
              </a:rPr>
              <a:t>GVHD: ThS. Hà Lê Hoài Trung  ·  TP. Hồ Chí Minh, 08/2026</a:t>
            </a:r>
            <a:endParaRPr/>
          </a:p>
        </p:txBody>
      </p:sp>
      <p:sp>
        <p:nvSpPr>
          <p:cNvPr id="2" name="Footer Placeholder 1">
            <a:extLst>
              <a:ext uri="{FF2B5EF4-FFF2-40B4-BE49-F238E27FC236}">
                <a16:creationId xmlns:a16="http://schemas.microsoft.com/office/drawing/2014/main" id="{422E42DC-B65B-ADA3-11BB-CD6EC692B996}"/>
              </a:ext>
            </a:extLst>
          </p:cNvPr>
          <p:cNvSpPr>
            <a:spLocks noGrp="1"/>
          </p:cNvSpPr>
          <p:nvPr>
            <p:ph type="ftr" idx="11"/>
          </p:nvPr>
        </p:nvSpPr>
        <p:spPr>
          <a:xfrm>
            <a:off x="3067665" y="6356350"/>
            <a:ext cx="5879690" cy="365125"/>
          </a:xfrm>
        </p:spPr>
        <p:txBody>
          <a:bodyPr/>
          <a:lstStyle/>
          <a:p>
            <a:r>
              <a:rPr lang="en-US"/>
              <a:t>HỆ THỐNG QUẢN TRỊ QUY TRÌNH NGHIỆP VỤ  ·  SOLVENTUM VIỆT NAM</a:t>
            </a:r>
          </a:p>
        </p:txBody>
      </p:sp>
      <p:sp>
        <p:nvSpPr>
          <p:cNvPr id="3" name="Slide Number Placeholder 2">
            <a:extLst>
              <a:ext uri="{FF2B5EF4-FFF2-40B4-BE49-F238E27FC236}">
                <a16:creationId xmlns:a16="http://schemas.microsoft.com/office/drawing/2014/main" id="{FDBAB6EE-C29C-F3E2-B643-583229B3CA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1288</TotalTime>
  <Words>12305</Words>
  <Application>Microsoft Office PowerPoint</Application>
  <PresentationFormat>Widescreen</PresentationFormat>
  <Paragraphs>1693</Paragraphs>
  <Slides>64</Slides>
  <Notes>64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Windows User</cp:lastModifiedBy>
  <cp:revision>11</cp:revision>
  <dcterms:modified xsi:type="dcterms:W3CDTF">2026-09-02T16:11:06Z</dcterms:modified>
</cp:coreProperties>
</file>