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A25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3" d="100"/>
          <a:sy n="103" d="100"/>
        </p:scale>
        <p:origin x="138"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606DD44-F81A-4435-BB6F-3969890203EE}"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025E2C-5E94-443F-82A6-238CB302A78C}" type="slidenum">
              <a:rPr lang="en-US" smtClean="0"/>
              <a:t>‹#›</a:t>
            </a:fld>
            <a:endParaRPr lang="en-US"/>
          </a:p>
        </p:txBody>
      </p:sp>
    </p:spTree>
    <p:extLst>
      <p:ext uri="{BB962C8B-B14F-4D97-AF65-F5344CB8AC3E}">
        <p14:creationId xmlns:p14="http://schemas.microsoft.com/office/powerpoint/2010/main" val="3040855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606DD44-F81A-4435-BB6F-3969890203EE}"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025E2C-5E94-443F-82A6-238CB302A78C}" type="slidenum">
              <a:rPr lang="en-US" smtClean="0"/>
              <a:t>‹#›</a:t>
            </a:fld>
            <a:endParaRPr lang="en-US"/>
          </a:p>
        </p:txBody>
      </p:sp>
    </p:spTree>
    <p:extLst>
      <p:ext uri="{BB962C8B-B14F-4D97-AF65-F5344CB8AC3E}">
        <p14:creationId xmlns:p14="http://schemas.microsoft.com/office/powerpoint/2010/main" val="434288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606DD44-F81A-4435-BB6F-3969890203EE}"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025E2C-5E94-443F-82A6-238CB302A78C}" type="slidenum">
              <a:rPr lang="en-US" smtClean="0"/>
              <a:t>‹#›</a:t>
            </a:fld>
            <a:endParaRPr lang="en-US"/>
          </a:p>
        </p:txBody>
      </p:sp>
    </p:spTree>
    <p:extLst>
      <p:ext uri="{BB962C8B-B14F-4D97-AF65-F5344CB8AC3E}">
        <p14:creationId xmlns:p14="http://schemas.microsoft.com/office/powerpoint/2010/main" val="23580276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606DD44-F81A-4435-BB6F-3969890203EE}" type="datetimeFigureOut">
              <a:rPr lang="en-US" smtClean="0"/>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025E2C-5E94-443F-82A6-238CB302A78C}" type="slidenum">
              <a:rPr lang="en-US" smtClean="0"/>
              <a:t>‹#›</a:t>
            </a:fld>
            <a:endParaRPr lang="en-US"/>
          </a:p>
        </p:txBody>
      </p:sp>
    </p:spTree>
    <p:extLst>
      <p:ext uri="{BB962C8B-B14F-4D97-AF65-F5344CB8AC3E}">
        <p14:creationId xmlns:p14="http://schemas.microsoft.com/office/powerpoint/2010/main" val="37097275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606DD44-F81A-4435-BB6F-3969890203EE}" type="datetimeFigureOut">
              <a:rPr lang="en-US" smtClean="0"/>
              <a:t>8/30/2026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C025E2C-5E94-443F-82A6-238CB302A78C}" type="slidenum">
              <a:rPr lang="en-US" smtClean="0"/>
              <a:t>‹#›</a:t>
            </a:fld>
            <a:endParaRPr lang="en-US"/>
          </a:p>
        </p:txBody>
      </p:sp>
    </p:spTree>
    <p:extLst>
      <p:ext uri="{BB962C8B-B14F-4D97-AF65-F5344CB8AC3E}">
        <p14:creationId xmlns:p14="http://schemas.microsoft.com/office/powerpoint/2010/main" val="438387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606DD44-F81A-4435-BB6F-3969890203EE}" type="datetimeFigureOut">
              <a:rPr lang="en-US" smtClean="0"/>
              <a:t>8/30/2026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C025E2C-5E94-443F-82A6-238CB302A78C}" type="slidenum">
              <a:rPr lang="en-US" smtClean="0"/>
              <a:t>‹#›</a:t>
            </a:fld>
            <a:endParaRPr lang="en-US"/>
          </a:p>
        </p:txBody>
      </p:sp>
    </p:spTree>
    <p:extLst>
      <p:ext uri="{BB962C8B-B14F-4D97-AF65-F5344CB8AC3E}">
        <p14:creationId xmlns:p14="http://schemas.microsoft.com/office/powerpoint/2010/main" val="26244619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06DD44-F81A-4435-BB6F-3969890203EE}" type="datetimeFigureOut">
              <a:rPr lang="en-US" smtClean="0"/>
              <a:t>8/30/2026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C025E2C-5E94-443F-82A6-238CB302A78C}" type="slidenum">
              <a:rPr lang="en-US" smtClean="0"/>
              <a:t>‹#›</a:t>
            </a:fld>
            <a:endParaRPr lang="en-US"/>
          </a:p>
        </p:txBody>
      </p:sp>
    </p:spTree>
    <p:extLst>
      <p:ext uri="{BB962C8B-B14F-4D97-AF65-F5344CB8AC3E}">
        <p14:creationId xmlns:p14="http://schemas.microsoft.com/office/powerpoint/2010/main" val="3231607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606DD44-F81A-4435-BB6F-3969890203EE}" type="datetimeFigureOut">
              <a:rPr lang="en-US" smtClean="0"/>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025E2C-5E94-443F-82A6-238CB302A78C}" type="slidenum">
              <a:rPr lang="en-US" smtClean="0"/>
              <a:t>‹#›</a:t>
            </a:fld>
            <a:endParaRPr lang="en-US"/>
          </a:p>
        </p:txBody>
      </p:sp>
    </p:spTree>
    <p:extLst>
      <p:ext uri="{BB962C8B-B14F-4D97-AF65-F5344CB8AC3E}">
        <p14:creationId xmlns:p14="http://schemas.microsoft.com/office/powerpoint/2010/main" val="1597622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606DD44-F81A-4435-BB6F-3969890203EE}" type="datetimeFigureOut">
              <a:rPr lang="en-US" smtClean="0"/>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025E2C-5E94-443F-82A6-238CB302A78C}" type="slidenum">
              <a:rPr lang="en-US" smtClean="0"/>
              <a:t>‹#›</a:t>
            </a:fld>
            <a:endParaRPr lang="en-US"/>
          </a:p>
        </p:txBody>
      </p:sp>
    </p:spTree>
    <p:extLst>
      <p:ext uri="{BB962C8B-B14F-4D97-AF65-F5344CB8AC3E}">
        <p14:creationId xmlns:p14="http://schemas.microsoft.com/office/powerpoint/2010/main" val="8505533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606DD44-F81A-4435-BB6F-3969890203EE}"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025E2C-5E94-443F-82A6-238CB302A78C}" type="slidenum">
              <a:rPr lang="en-US" smtClean="0"/>
              <a:t>‹#›</a:t>
            </a:fld>
            <a:endParaRPr lang="en-US"/>
          </a:p>
        </p:txBody>
      </p:sp>
    </p:spTree>
    <p:extLst>
      <p:ext uri="{BB962C8B-B14F-4D97-AF65-F5344CB8AC3E}">
        <p14:creationId xmlns:p14="http://schemas.microsoft.com/office/powerpoint/2010/main" val="4608865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606DD44-F81A-4435-BB6F-3969890203EE}"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025E2C-5E94-443F-82A6-238CB302A78C}" type="slidenum">
              <a:rPr lang="en-US" smtClean="0"/>
              <a:t>‹#›</a:t>
            </a:fld>
            <a:endParaRPr lang="en-US"/>
          </a:p>
        </p:txBody>
      </p:sp>
    </p:spTree>
    <p:extLst>
      <p:ext uri="{BB962C8B-B14F-4D97-AF65-F5344CB8AC3E}">
        <p14:creationId xmlns:p14="http://schemas.microsoft.com/office/powerpoint/2010/main" val="1293404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06DD44-F81A-4435-BB6F-3969890203EE}" type="datetimeFigureOut">
              <a:rPr lang="en-US" smtClean="0"/>
              <a:t>8/30/2026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025E2C-5E94-443F-82A6-238CB302A78C}" type="slidenum">
              <a:rPr lang="en-US" smtClean="0"/>
              <a:t>‹#›</a:t>
            </a:fld>
            <a:endParaRPr lang="en-US"/>
          </a:p>
        </p:txBody>
      </p:sp>
    </p:spTree>
    <p:extLst>
      <p:ext uri="{BB962C8B-B14F-4D97-AF65-F5344CB8AC3E}">
        <p14:creationId xmlns:p14="http://schemas.microsoft.com/office/powerpoint/2010/main" val="18487730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Rectangle 1"/>
          <p:cNvSpPr/>
          <p:nvPr/>
        </p:nvSpPr>
        <p:spPr>
          <a:xfrm>
            <a:off x="0" y="0"/>
            <a:ext cx="182880" cy="6858000"/>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138160" y="0"/>
            <a:ext cx="4059936" cy="6858000"/>
          </a:xfrm>
          <a:prstGeom prst="rect">
            <a:avLst/>
          </a:prstGeom>
          <a:solidFill>
            <a:srgbClr val="1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0120" y="1051560"/>
            <a:ext cx="6858000" cy="215444"/>
          </a:xfrm>
          <a:prstGeom prst="rect">
            <a:avLst/>
          </a:prstGeom>
          <a:noFill/>
        </p:spPr>
        <p:txBody>
          <a:bodyPr wrap="square" lIns="0" tIns="0" rIns="0" bIns="0" anchor="t">
            <a:spAutoFit/>
          </a:bodyPr>
          <a:lstStyle/>
          <a:p>
            <a:pPr algn="l">
              <a:lnSpc>
                <a:spcPct val="100000"/>
              </a:lnSpc>
            </a:pPr>
            <a:r>
              <a:rPr sz="1400" b="1" i="0" dirty="0">
                <a:solidFill>
                  <a:srgbClr val="00C2A8"/>
                </a:solidFill>
                <a:latin typeface="Calibri"/>
              </a:rPr>
              <a:t>ĐỒ ÁN CUỐI KỲ  ·  HỆ THỐNG QUẢN TRỊ QUY TRÌNH NGHIỆP VỤ</a:t>
            </a:r>
          </a:p>
        </p:txBody>
      </p:sp>
      <p:sp>
        <p:nvSpPr>
          <p:cNvPr id="5" name="TextBox 4"/>
          <p:cNvSpPr txBox="1"/>
          <p:nvPr/>
        </p:nvSpPr>
        <p:spPr>
          <a:xfrm>
            <a:off x="960120" y="1481328"/>
            <a:ext cx="6766560" cy="2286000"/>
          </a:xfrm>
          <a:prstGeom prst="rect">
            <a:avLst/>
          </a:prstGeom>
          <a:noFill/>
        </p:spPr>
        <p:txBody>
          <a:bodyPr wrap="square" lIns="0" tIns="0" rIns="0" bIns="0" anchor="t">
            <a:spAutoFit/>
          </a:bodyPr>
          <a:lstStyle/>
          <a:p>
            <a:pPr algn="l">
              <a:lnSpc>
                <a:spcPct val="106000"/>
              </a:lnSpc>
            </a:pPr>
            <a:r>
              <a:rPr sz="3400" b="1" i="0">
                <a:solidFill>
                  <a:srgbClr val="FFFFFF"/>
                </a:solidFill>
                <a:latin typeface="Calibri"/>
              </a:rPr>
              <a:t>TÌM HIỂU QUY TRÌNH NGHIỆP VỤ</a:t>
            </a:r>
          </a:p>
          <a:p>
            <a:pPr algn="l">
              <a:lnSpc>
                <a:spcPct val="106000"/>
              </a:lnSpc>
            </a:pPr>
            <a:r>
              <a:rPr sz="3400" b="1" i="0">
                <a:solidFill>
                  <a:srgbClr val="0096D6"/>
                </a:solidFill>
                <a:latin typeface="Calibri"/>
              </a:rPr>
              <a:t>CÔNG TY TNHH SOLVENTUM VIỆT NAM</a:t>
            </a:r>
          </a:p>
        </p:txBody>
      </p:sp>
      <p:sp>
        <p:nvSpPr>
          <p:cNvPr id="6" name="Rectangle 5"/>
          <p:cNvSpPr/>
          <p:nvPr/>
        </p:nvSpPr>
        <p:spPr>
          <a:xfrm>
            <a:off x="960120" y="3675887"/>
            <a:ext cx="1005840" cy="45720"/>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3913632"/>
            <a:ext cx="6675120" cy="921278"/>
          </a:xfrm>
          <a:prstGeom prst="rect">
            <a:avLst/>
          </a:prstGeom>
          <a:noFill/>
        </p:spPr>
        <p:txBody>
          <a:bodyPr wrap="square" lIns="0" tIns="0" rIns="0" bIns="0" anchor="t">
            <a:spAutoFit/>
          </a:bodyPr>
          <a:lstStyle/>
          <a:p>
            <a:pPr algn="l">
              <a:lnSpc>
                <a:spcPct val="130000"/>
              </a:lnSpc>
            </a:pPr>
            <a:r>
              <a:rPr sz="1400" b="0" i="0">
                <a:solidFill>
                  <a:srgbClr val="C8D8E6"/>
                </a:solidFill>
                <a:latin typeface="Calibri"/>
              </a:rPr>
              <a:t>Khảo sát kiến trúc quy trình  ·  Mô hình hóa BPMN (As-Is)  ·  Phân tích chuyên sâu 02 quy trình trọng tâm</a:t>
            </a:r>
          </a:p>
          <a:p>
            <a:pPr algn="l">
              <a:lnSpc>
                <a:spcPct val="120000"/>
              </a:lnSpc>
              <a:spcBef>
                <a:spcPts val="800"/>
              </a:spcBef>
            </a:pPr>
            <a:r>
              <a:rPr sz="1400" b="1" i="0">
                <a:solidFill>
                  <a:srgbClr val="00C2A8"/>
                </a:solidFill>
                <a:latin typeface="Calibri"/>
              </a:rPr>
              <a:t>CHƯƠNG 1  —  CHƯƠNG 2  —  CHƯƠNG 3  —  CHƯƠNG 4</a:t>
            </a:r>
          </a:p>
        </p:txBody>
      </p:sp>
      <p:sp>
        <p:nvSpPr>
          <p:cNvPr id="8" name="TextBox 7"/>
          <p:cNvSpPr txBox="1"/>
          <p:nvPr/>
        </p:nvSpPr>
        <p:spPr>
          <a:xfrm>
            <a:off x="960120" y="5230368"/>
            <a:ext cx="6675120" cy="579133"/>
          </a:xfrm>
          <a:prstGeom prst="rect">
            <a:avLst/>
          </a:prstGeom>
          <a:noFill/>
        </p:spPr>
        <p:txBody>
          <a:bodyPr wrap="square" lIns="0" tIns="0" rIns="0" bIns="0" anchor="t">
            <a:spAutoFit/>
          </a:bodyPr>
          <a:lstStyle/>
          <a:p>
            <a:pPr algn="l">
              <a:lnSpc>
                <a:spcPct val="125000"/>
              </a:lnSpc>
            </a:pPr>
            <a:r>
              <a:rPr sz="1400" b="1" i="0" dirty="0">
                <a:solidFill>
                  <a:srgbClr val="FFFFFF"/>
                </a:solidFill>
                <a:latin typeface="Calibri"/>
              </a:rPr>
              <a:t>GVHD:  </a:t>
            </a:r>
            <a:r>
              <a:rPr sz="1400" b="1" i="0" dirty="0" err="1">
                <a:solidFill>
                  <a:srgbClr val="FFFFFF"/>
                </a:solidFill>
                <a:latin typeface="Calibri"/>
              </a:rPr>
              <a:t>ThS</a:t>
            </a:r>
            <a:r>
              <a:rPr sz="1400" b="1" i="0" dirty="0">
                <a:solidFill>
                  <a:srgbClr val="FFFFFF"/>
                </a:solidFill>
                <a:latin typeface="Calibri"/>
              </a:rPr>
              <a:t>. </a:t>
            </a:r>
            <a:r>
              <a:rPr sz="1400" b="1" i="0" dirty="0" err="1">
                <a:solidFill>
                  <a:srgbClr val="FFFFFF"/>
                </a:solidFill>
                <a:latin typeface="Calibri"/>
              </a:rPr>
              <a:t>Hà</a:t>
            </a:r>
            <a:r>
              <a:rPr sz="1400" b="1" i="0" dirty="0">
                <a:solidFill>
                  <a:srgbClr val="FFFFFF"/>
                </a:solidFill>
                <a:latin typeface="Calibri"/>
              </a:rPr>
              <a:t> </a:t>
            </a:r>
            <a:r>
              <a:rPr sz="1400" b="1" i="0" dirty="0" err="1">
                <a:solidFill>
                  <a:srgbClr val="FFFFFF"/>
                </a:solidFill>
                <a:latin typeface="Calibri"/>
              </a:rPr>
              <a:t>Lê</a:t>
            </a:r>
            <a:r>
              <a:rPr sz="1400" b="1" i="0" dirty="0">
                <a:solidFill>
                  <a:srgbClr val="FFFFFF"/>
                </a:solidFill>
                <a:latin typeface="Calibri"/>
              </a:rPr>
              <a:t> </a:t>
            </a:r>
            <a:r>
              <a:rPr sz="1400" b="1" i="0" dirty="0" err="1">
                <a:solidFill>
                  <a:srgbClr val="FFFFFF"/>
                </a:solidFill>
                <a:latin typeface="Calibri"/>
              </a:rPr>
              <a:t>Hoài</a:t>
            </a:r>
            <a:r>
              <a:rPr sz="1400" b="1" i="0" dirty="0">
                <a:solidFill>
                  <a:srgbClr val="FFFFFF"/>
                </a:solidFill>
                <a:latin typeface="Calibri"/>
              </a:rPr>
              <a:t> </a:t>
            </a:r>
            <a:r>
              <a:rPr sz="1400" b="1" i="0" dirty="0" err="1">
                <a:solidFill>
                  <a:srgbClr val="FFFFFF"/>
                </a:solidFill>
                <a:latin typeface="Calibri"/>
              </a:rPr>
              <a:t>Trung</a:t>
            </a:r>
            <a:endParaRPr sz="1400" b="1" i="0" dirty="0">
              <a:solidFill>
                <a:srgbClr val="FFFFFF"/>
              </a:solidFill>
              <a:latin typeface="Calibri"/>
            </a:endParaRPr>
          </a:p>
          <a:p>
            <a:pPr algn="l">
              <a:lnSpc>
                <a:spcPct val="120000"/>
              </a:lnSpc>
              <a:spcBef>
                <a:spcPts val="400"/>
              </a:spcBef>
            </a:pPr>
            <a:r>
              <a:rPr sz="1400" b="0" i="1" dirty="0">
                <a:solidFill>
                  <a:srgbClr val="9FB4C6"/>
                </a:solidFill>
                <a:latin typeface="Calibri"/>
              </a:rPr>
              <a:t>TP. </a:t>
            </a:r>
            <a:r>
              <a:rPr sz="1400" b="0" i="1" dirty="0" err="1">
                <a:solidFill>
                  <a:srgbClr val="9FB4C6"/>
                </a:solidFill>
                <a:latin typeface="Calibri"/>
              </a:rPr>
              <a:t>Hồ</a:t>
            </a:r>
            <a:r>
              <a:rPr sz="1400" b="0" i="1" dirty="0">
                <a:solidFill>
                  <a:srgbClr val="9FB4C6"/>
                </a:solidFill>
                <a:latin typeface="Calibri"/>
              </a:rPr>
              <a:t> </a:t>
            </a:r>
            <a:r>
              <a:rPr sz="1400" b="0" i="1" dirty="0" err="1">
                <a:solidFill>
                  <a:srgbClr val="9FB4C6"/>
                </a:solidFill>
                <a:latin typeface="Calibri"/>
              </a:rPr>
              <a:t>Chí</a:t>
            </a:r>
            <a:r>
              <a:rPr sz="1400" b="0" i="1" dirty="0">
                <a:solidFill>
                  <a:srgbClr val="9FB4C6"/>
                </a:solidFill>
                <a:latin typeface="Calibri"/>
              </a:rPr>
              <a:t> Minh, </a:t>
            </a:r>
            <a:r>
              <a:rPr sz="1400" b="0" i="1" dirty="0" err="1">
                <a:solidFill>
                  <a:srgbClr val="9FB4C6"/>
                </a:solidFill>
                <a:latin typeface="Calibri"/>
              </a:rPr>
              <a:t>tháng</a:t>
            </a:r>
            <a:r>
              <a:rPr sz="1400" b="0" i="1" dirty="0">
                <a:solidFill>
                  <a:srgbClr val="9FB4C6"/>
                </a:solidFill>
                <a:latin typeface="Calibri"/>
              </a:rPr>
              <a:t> </a:t>
            </a:r>
            <a:r>
              <a:rPr sz="1400" b="0" i="1" dirty="0" smtClean="0">
                <a:solidFill>
                  <a:srgbClr val="9FB4C6"/>
                </a:solidFill>
                <a:latin typeface="Calibri"/>
              </a:rPr>
              <a:t>08/2026</a:t>
            </a:r>
            <a:endParaRPr sz="1400" b="0" i="1" dirty="0">
              <a:solidFill>
                <a:srgbClr val="9FB4C6"/>
              </a:solidFill>
              <a:latin typeface="Calibri"/>
            </a:endParaRPr>
          </a:p>
        </p:txBody>
      </p:sp>
      <p:sp>
        <p:nvSpPr>
          <p:cNvPr id="9" name="TextBox 8"/>
          <p:cNvSpPr txBox="1"/>
          <p:nvPr/>
        </p:nvSpPr>
        <p:spPr>
          <a:xfrm>
            <a:off x="8549640" y="1783080"/>
            <a:ext cx="3200400" cy="215444"/>
          </a:xfrm>
          <a:prstGeom prst="rect">
            <a:avLst/>
          </a:prstGeom>
          <a:noFill/>
        </p:spPr>
        <p:txBody>
          <a:bodyPr wrap="square" lIns="0" tIns="0" rIns="0" bIns="0" anchor="t">
            <a:spAutoFit/>
          </a:bodyPr>
          <a:lstStyle/>
          <a:p>
            <a:pPr algn="l">
              <a:lnSpc>
                <a:spcPct val="100000"/>
              </a:lnSpc>
            </a:pPr>
            <a:r>
              <a:rPr sz="1400" b="1" i="0">
                <a:solidFill>
                  <a:srgbClr val="00C2A8"/>
                </a:solidFill>
                <a:latin typeface="Calibri"/>
              </a:rPr>
              <a:t>NHÓM THỰC HIỆN</a:t>
            </a:r>
          </a:p>
        </p:txBody>
      </p:sp>
      <p:sp>
        <p:nvSpPr>
          <p:cNvPr id="10" name="Rectangle 9"/>
          <p:cNvSpPr/>
          <p:nvPr/>
        </p:nvSpPr>
        <p:spPr>
          <a:xfrm>
            <a:off x="8549640" y="2103120"/>
            <a:ext cx="640080" cy="36576"/>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49640" y="2331720"/>
            <a:ext cx="3291840" cy="1768176"/>
          </a:xfrm>
          <a:prstGeom prst="rect">
            <a:avLst/>
          </a:prstGeom>
          <a:noFill/>
        </p:spPr>
        <p:txBody>
          <a:bodyPr wrap="square" lIns="0" tIns="0" rIns="0" bIns="0" anchor="t">
            <a:spAutoFit/>
          </a:bodyPr>
          <a:lstStyle/>
          <a:p>
            <a:pPr algn="l">
              <a:lnSpc>
                <a:spcPct val="110000"/>
              </a:lnSpc>
            </a:pPr>
            <a:r>
              <a:rPr sz="1400" b="1" i="0" dirty="0" err="1">
                <a:solidFill>
                  <a:srgbClr val="FFFFFF"/>
                </a:solidFill>
                <a:latin typeface="Calibri"/>
              </a:rPr>
              <a:t>Nguyễn</a:t>
            </a:r>
            <a:r>
              <a:rPr sz="1400" b="1" i="0" dirty="0">
                <a:solidFill>
                  <a:srgbClr val="FFFFFF"/>
                </a:solidFill>
                <a:latin typeface="Calibri"/>
              </a:rPr>
              <a:t> </a:t>
            </a:r>
            <a:r>
              <a:rPr sz="1400" b="1" i="0" dirty="0" err="1">
                <a:solidFill>
                  <a:srgbClr val="FFFFFF"/>
                </a:solidFill>
                <a:latin typeface="Calibri"/>
              </a:rPr>
              <a:t>Chí</a:t>
            </a:r>
            <a:r>
              <a:rPr sz="1400" b="1" i="0" dirty="0">
                <a:solidFill>
                  <a:srgbClr val="FFFFFF"/>
                </a:solidFill>
                <a:latin typeface="Calibri"/>
              </a:rPr>
              <a:t> </a:t>
            </a:r>
            <a:r>
              <a:rPr sz="1400" b="1" i="0" dirty="0" err="1">
                <a:solidFill>
                  <a:srgbClr val="FFFFFF"/>
                </a:solidFill>
                <a:latin typeface="Calibri"/>
              </a:rPr>
              <a:t>Thanh</a:t>
            </a:r>
            <a:endParaRPr sz="1400" b="1" i="0" dirty="0">
              <a:solidFill>
                <a:srgbClr val="FFFFFF"/>
              </a:solidFill>
              <a:latin typeface="Calibri"/>
            </a:endParaRPr>
          </a:p>
          <a:p>
            <a:pPr algn="l">
              <a:lnSpc>
                <a:spcPct val="110000"/>
              </a:lnSpc>
              <a:spcBef>
                <a:spcPts val="100"/>
              </a:spcBef>
              <a:spcAft>
                <a:spcPts val="1200"/>
              </a:spcAft>
            </a:pPr>
            <a:r>
              <a:rPr sz="1400" b="0" i="0" dirty="0">
                <a:solidFill>
                  <a:srgbClr val="9FB4C6"/>
                </a:solidFill>
                <a:latin typeface="Calibri"/>
              </a:rPr>
              <a:t>MSSV: 25210195</a:t>
            </a:r>
          </a:p>
          <a:p>
            <a:pPr algn="l">
              <a:lnSpc>
                <a:spcPct val="110000"/>
              </a:lnSpc>
            </a:pPr>
            <a:r>
              <a:rPr sz="1400" b="1" i="0" dirty="0" err="1">
                <a:solidFill>
                  <a:srgbClr val="FFFFFF"/>
                </a:solidFill>
                <a:latin typeface="Calibri"/>
              </a:rPr>
              <a:t>Trần</a:t>
            </a:r>
            <a:r>
              <a:rPr sz="1400" b="1" i="0" dirty="0">
                <a:solidFill>
                  <a:srgbClr val="FFFFFF"/>
                </a:solidFill>
                <a:latin typeface="Calibri"/>
              </a:rPr>
              <a:t> </a:t>
            </a:r>
            <a:r>
              <a:rPr sz="1400" b="1" i="0" dirty="0" err="1">
                <a:solidFill>
                  <a:srgbClr val="FFFFFF"/>
                </a:solidFill>
                <a:latin typeface="Calibri"/>
              </a:rPr>
              <a:t>Xuân</a:t>
            </a:r>
            <a:r>
              <a:rPr sz="1400" b="1" i="0" dirty="0">
                <a:solidFill>
                  <a:srgbClr val="FFFFFF"/>
                </a:solidFill>
                <a:latin typeface="Calibri"/>
              </a:rPr>
              <a:t> </a:t>
            </a:r>
            <a:r>
              <a:rPr sz="1400" b="1" i="0" dirty="0" err="1">
                <a:solidFill>
                  <a:srgbClr val="FFFFFF"/>
                </a:solidFill>
                <a:latin typeface="Calibri"/>
              </a:rPr>
              <a:t>Trứ</a:t>
            </a:r>
            <a:endParaRPr sz="1400" b="1" i="0" dirty="0">
              <a:solidFill>
                <a:srgbClr val="FFFFFF"/>
              </a:solidFill>
              <a:latin typeface="Calibri"/>
            </a:endParaRPr>
          </a:p>
          <a:p>
            <a:pPr algn="l">
              <a:lnSpc>
                <a:spcPct val="110000"/>
              </a:lnSpc>
              <a:spcBef>
                <a:spcPts val="100"/>
              </a:spcBef>
              <a:spcAft>
                <a:spcPts val="1200"/>
              </a:spcAft>
            </a:pPr>
            <a:r>
              <a:rPr sz="1400" b="0" i="0" dirty="0">
                <a:solidFill>
                  <a:srgbClr val="9FB4C6"/>
                </a:solidFill>
                <a:latin typeface="Calibri"/>
              </a:rPr>
              <a:t>MSSV: 25210227</a:t>
            </a:r>
          </a:p>
          <a:p>
            <a:pPr algn="l">
              <a:lnSpc>
                <a:spcPct val="110000"/>
              </a:lnSpc>
            </a:pPr>
            <a:r>
              <a:rPr sz="1400" b="1" i="0" dirty="0" err="1">
                <a:solidFill>
                  <a:srgbClr val="FFFFFF"/>
                </a:solidFill>
                <a:latin typeface="Calibri"/>
              </a:rPr>
              <a:t>Tăng</a:t>
            </a:r>
            <a:r>
              <a:rPr sz="1400" b="1" i="0" dirty="0">
                <a:solidFill>
                  <a:srgbClr val="FFFFFF"/>
                </a:solidFill>
                <a:latin typeface="Calibri"/>
              </a:rPr>
              <a:t> </a:t>
            </a:r>
            <a:r>
              <a:rPr sz="1400" b="1" i="0" dirty="0" err="1">
                <a:solidFill>
                  <a:srgbClr val="FFFFFF"/>
                </a:solidFill>
                <a:latin typeface="Calibri"/>
              </a:rPr>
              <a:t>Thuận</a:t>
            </a:r>
            <a:r>
              <a:rPr sz="1400" b="1" i="0" dirty="0">
                <a:solidFill>
                  <a:srgbClr val="FFFFFF"/>
                </a:solidFill>
                <a:latin typeface="Calibri"/>
              </a:rPr>
              <a:t> </a:t>
            </a:r>
            <a:r>
              <a:rPr sz="1400" b="1" i="0" dirty="0" err="1">
                <a:solidFill>
                  <a:srgbClr val="FFFFFF"/>
                </a:solidFill>
                <a:latin typeface="Calibri"/>
              </a:rPr>
              <a:t>Phát</a:t>
            </a:r>
            <a:endParaRPr sz="1400" b="1" i="0" dirty="0">
              <a:solidFill>
                <a:srgbClr val="FFFFFF"/>
              </a:solidFill>
              <a:latin typeface="Calibri"/>
            </a:endParaRPr>
          </a:p>
          <a:p>
            <a:pPr algn="l">
              <a:lnSpc>
                <a:spcPct val="110000"/>
              </a:lnSpc>
              <a:spcBef>
                <a:spcPts val="100"/>
              </a:spcBef>
              <a:spcAft>
                <a:spcPts val="1200"/>
              </a:spcAft>
            </a:pPr>
            <a:r>
              <a:rPr sz="1400" b="0" i="0" dirty="0">
                <a:solidFill>
                  <a:srgbClr val="9FB4C6"/>
                </a:solidFill>
                <a:latin typeface="Calibri"/>
              </a:rPr>
              <a:t>MSSV: 25210163</a:t>
            </a:r>
          </a:p>
        </p:txBody>
      </p:sp>
    </p:spTree>
    <p:extLst>
      <p:ext uri="{BB962C8B-B14F-4D97-AF65-F5344CB8AC3E}">
        <p14:creationId xmlns:p14="http://schemas.microsoft.com/office/powerpoint/2010/main" val="16624826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AGENDA</a:t>
            </a:r>
          </a:p>
        </p:txBody>
      </p:sp>
      <p:sp>
        <p:nvSpPr>
          <p:cNvPr id="3" name="TextBox 2"/>
          <p:cNvSpPr txBox="1"/>
          <p:nvPr/>
        </p:nvSpPr>
        <p:spPr>
          <a:xfrm>
            <a:off x="658368" y="640080"/>
            <a:ext cx="10874959" cy="603504"/>
          </a:xfrm>
          <a:prstGeom prst="rect">
            <a:avLst/>
          </a:prstGeom>
          <a:noFill/>
        </p:spPr>
        <p:txBody>
          <a:bodyPr wrap="square" lIns="0" tIns="0" rIns="0" bIns="0" anchor="t">
            <a:spAutoFit/>
          </a:bodyPr>
          <a:lstStyle/>
          <a:p>
            <a:pPr algn="l">
              <a:lnSpc>
                <a:spcPct val="105000"/>
              </a:lnSpc>
            </a:pPr>
            <a:r>
              <a:rPr sz="2500" b="1" i="0">
                <a:solidFill>
                  <a:srgbClr val="0A2540"/>
                </a:solidFill>
                <a:latin typeface="Calibri"/>
              </a:rPr>
              <a:t>NỘI DUNG TRÌNH BÀY</a:t>
            </a: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371600"/>
            <a:ext cx="10874959" cy="254237"/>
          </a:xfrm>
          <a:prstGeom prst="rect">
            <a:avLst/>
          </a:prstGeom>
          <a:noFill/>
        </p:spPr>
        <p:txBody>
          <a:bodyPr wrap="square" lIns="0" tIns="0" rIns="0" bIns="0" anchor="t">
            <a:spAutoFit/>
          </a:bodyPr>
          <a:lstStyle/>
          <a:p>
            <a:pPr algn="l">
              <a:lnSpc>
                <a:spcPct val="118000"/>
              </a:lnSpc>
            </a:pPr>
            <a:r>
              <a:rPr sz="1400" b="0" i="1">
                <a:solidFill>
                  <a:srgbClr val="6B7784"/>
                </a:solidFill>
                <a:latin typeface="Calibri"/>
              </a:rPr>
              <a:t>Bốn phần tương ứng với Chương 1 – 2 – 3 – 4 của đồ án</a:t>
            </a:r>
          </a:p>
        </p:txBody>
      </p:sp>
      <p:sp>
        <p:nvSpPr>
          <p:cNvPr id="7" name="TextBox 6"/>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8" name="TextBox 7"/>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2</a:t>
            </a:r>
          </a:p>
        </p:txBody>
      </p:sp>
      <p:sp>
        <p:nvSpPr>
          <p:cNvPr id="9" name="Rectangle 8"/>
          <p:cNvSpPr/>
          <p:nvPr/>
        </p:nvSpPr>
        <p:spPr>
          <a:xfrm>
            <a:off x="658368" y="1737360"/>
            <a:ext cx="10874959" cy="969264"/>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58368" y="1737360"/>
            <a:ext cx="50292" cy="969264"/>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1956815"/>
            <a:ext cx="777240" cy="548640"/>
          </a:xfrm>
          <a:prstGeom prst="rect">
            <a:avLst/>
          </a:prstGeom>
          <a:noFill/>
        </p:spPr>
        <p:txBody>
          <a:bodyPr wrap="square" lIns="0" tIns="0" rIns="0" bIns="0" anchor="t">
            <a:spAutoFit/>
          </a:bodyPr>
          <a:lstStyle/>
          <a:p>
            <a:pPr algn="l">
              <a:lnSpc>
                <a:spcPct val="100000"/>
              </a:lnSpc>
            </a:pPr>
            <a:r>
              <a:rPr sz="2600" b="1" i="0">
                <a:solidFill>
                  <a:srgbClr val="0096D6"/>
                </a:solidFill>
                <a:latin typeface="Calibri"/>
              </a:rPr>
              <a:t>01</a:t>
            </a:r>
          </a:p>
        </p:txBody>
      </p:sp>
      <p:sp>
        <p:nvSpPr>
          <p:cNvPr id="12" name="TextBox 11"/>
          <p:cNvSpPr txBox="1"/>
          <p:nvPr/>
        </p:nvSpPr>
        <p:spPr>
          <a:xfrm>
            <a:off x="1755648" y="1892807"/>
            <a:ext cx="4572000" cy="320040"/>
          </a:xfrm>
          <a:prstGeom prst="rect">
            <a:avLst/>
          </a:prstGeom>
          <a:noFill/>
        </p:spPr>
        <p:txBody>
          <a:bodyPr wrap="square" lIns="0" tIns="0" rIns="0" bIns="0" anchor="t">
            <a:spAutoFit/>
          </a:bodyPr>
          <a:lstStyle/>
          <a:p>
            <a:pPr algn="l">
              <a:lnSpc>
                <a:spcPct val="100000"/>
              </a:lnSpc>
            </a:pPr>
            <a:r>
              <a:rPr sz="1450" b="1" i="0">
                <a:solidFill>
                  <a:srgbClr val="0A2540"/>
                </a:solidFill>
                <a:latin typeface="Calibri"/>
              </a:rPr>
              <a:t>GIỚI THIỆU DOANH NGHIỆP</a:t>
            </a:r>
          </a:p>
        </p:txBody>
      </p:sp>
      <p:sp>
        <p:nvSpPr>
          <p:cNvPr id="13" name="TextBox 12"/>
          <p:cNvSpPr txBox="1"/>
          <p:nvPr/>
        </p:nvSpPr>
        <p:spPr>
          <a:xfrm>
            <a:off x="1755648" y="2221991"/>
            <a:ext cx="6583680" cy="508344"/>
          </a:xfrm>
          <a:prstGeom prst="rect">
            <a:avLst/>
          </a:prstGeom>
          <a:noFill/>
        </p:spPr>
        <p:txBody>
          <a:bodyPr wrap="square" lIns="0" tIns="0" rIns="0" bIns="0" anchor="t">
            <a:spAutoFit/>
          </a:bodyPr>
          <a:lstStyle/>
          <a:p>
            <a:pPr algn="l">
              <a:lnSpc>
                <a:spcPct val="115000"/>
              </a:lnSpc>
            </a:pPr>
            <a:r>
              <a:rPr sz="1400" b="0" i="0" dirty="0" err="1">
                <a:solidFill>
                  <a:srgbClr val="6B7784"/>
                </a:solidFill>
                <a:latin typeface="Calibri"/>
              </a:rPr>
              <a:t>Tổng</a:t>
            </a:r>
            <a:r>
              <a:rPr sz="1400" b="0" i="0" dirty="0">
                <a:solidFill>
                  <a:srgbClr val="6B7784"/>
                </a:solidFill>
                <a:latin typeface="Calibri"/>
              </a:rPr>
              <a:t> </a:t>
            </a:r>
            <a:r>
              <a:rPr sz="1400" b="0" i="0" dirty="0" err="1">
                <a:solidFill>
                  <a:srgbClr val="6B7784"/>
                </a:solidFill>
                <a:latin typeface="Calibri"/>
              </a:rPr>
              <a:t>quan</a:t>
            </a:r>
            <a:r>
              <a:rPr sz="1400" b="0" i="0" dirty="0">
                <a:solidFill>
                  <a:srgbClr val="6B7784"/>
                </a:solidFill>
                <a:latin typeface="Calibri"/>
              </a:rPr>
              <a:t> </a:t>
            </a:r>
            <a:r>
              <a:rPr sz="1400" b="0" i="0" dirty="0" err="1">
                <a:solidFill>
                  <a:srgbClr val="6B7784"/>
                </a:solidFill>
                <a:latin typeface="Calibri"/>
              </a:rPr>
              <a:t>Solventum</a:t>
            </a:r>
            <a:r>
              <a:rPr sz="1400" b="0" i="0" dirty="0">
                <a:solidFill>
                  <a:srgbClr val="6B7784"/>
                </a:solidFill>
                <a:latin typeface="Calibri"/>
              </a:rPr>
              <a:t> </a:t>
            </a:r>
            <a:r>
              <a:rPr sz="1400" b="0" i="0" dirty="0" err="1">
                <a:solidFill>
                  <a:srgbClr val="6B7784"/>
                </a:solidFill>
                <a:latin typeface="Calibri"/>
              </a:rPr>
              <a:t>Việt</a:t>
            </a:r>
            <a:r>
              <a:rPr sz="1400" b="0" i="0" dirty="0">
                <a:solidFill>
                  <a:srgbClr val="6B7784"/>
                </a:solidFill>
                <a:latin typeface="Calibri"/>
              </a:rPr>
              <a:t> Nam, </a:t>
            </a:r>
            <a:r>
              <a:rPr sz="1400" b="0" i="0" dirty="0" err="1">
                <a:solidFill>
                  <a:srgbClr val="6B7784"/>
                </a:solidFill>
                <a:latin typeface="Calibri"/>
              </a:rPr>
              <a:t>sản</a:t>
            </a:r>
            <a:r>
              <a:rPr sz="1400" b="0" i="0" dirty="0">
                <a:solidFill>
                  <a:srgbClr val="6B7784"/>
                </a:solidFill>
                <a:latin typeface="Calibri"/>
              </a:rPr>
              <a:t> </a:t>
            </a:r>
            <a:r>
              <a:rPr sz="1400" b="0" i="0" dirty="0" err="1">
                <a:solidFill>
                  <a:srgbClr val="6B7784"/>
                </a:solidFill>
                <a:latin typeface="Calibri"/>
              </a:rPr>
              <a:t>phẩm</a:t>
            </a:r>
            <a:r>
              <a:rPr sz="1400" b="0" i="0" dirty="0">
                <a:solidFill>
                  <a:srgbClr val="6B7784"/>
                </a:solidFill>
                <a:latin typeface="Calibri"/>
              </a:rPr>
              <a:t> – </a:t>
            </a:r>
            <a:r>
              <a:rPr sz="1400" b="0" i="0" dirty="0" err="1">
                <a:solidFill>
                  <a:srgbClr val="6B7784"/>
                </a:solidFill>
                <a:latin typeface="Calibri"/>
              </a:rPr>
              <a:t>dịch</a:t>
            </a:r>
            <a:r>
              <a:rPr sz="1400" b="0" i="0" dirty="0">
                <a:solidFill>
                  <a:srgbClr val="6B7784"/>
                </a:solidFill>
                <a:latin typeface="Calibri"/>
              </a:rPr>
              <a:t> </a:t>
            </a:r>
            <a:r>
              <a:rPr sz="1400" b="0" i="0" dirty="0" err="1">
                <a:solidFill>
                  <a:srgbClr val="6B7784"/>
                </a:solidFill>
                <a:latin typeface="Calibri"/>
              </a:rPr>
              <a:t>vụ</a:t>
            </a:r>
            <a:r>
              <a:rPr sz="1400" b="0" i="0" dirty="0">
                <a:solidFill>
                  <a:srgbClr val="6B7784"/>
                </a:solidFill>
                <a:latin typeface="Calibri"/>
              </a:rPr>
              <a:t>,</a:t>
            </a:r>
          </a:p>
          <a:p>
            <a:pPr algn="l">
              <a:lnSpc>
                <a:spcPct val="115000"/>
              </a:lnSpc>
              <a:spcBef>
                <a:spcPts val="100"/>
              </a:spcBef>
            </a:pPr>
            <a:r>
              <a:rPr sz="1400" b="0" i="0" dirty="0" err="1">
                <a:solidFill>
                  <a:srgbClr val="6B7784"/>
                </a:solidFill>
                <a:latin typeface="Calibri"/>
              </a:rPr>
              <a:t>cơ</a:t>
            </a:r>
            <a:r>
              <a:rPr sz="1400" b="0" i="0" dirty="0">
                <a:solidFill>
                  <a:srgbClr val="6B7784"/>
                </a:solidFill>
                <a:latin typeface="Calibri"/>
              </a:rPr>
              <a:t> </a:t>
            </a:r>
            <a:r>
              <a:rPr sz="1400" b="0" i="0" dirty="0" err="1">
                <a:solidFill>
                  <a:srgbClr val="6B7784"/>
                </a:solidFill>
                <a:latin typeface="Calibri"/>
              </a:rPr>
              <a:t>cấu</a:t>
            </a:r>
            <a:r>
              <a:rPr sz="1400" b="0" i="0" dirty="0">
                <a:solidFill>
                  <a:srgbClr val="6B7784"/>
                </a:solidFill>
                <a:latin typeface="Calibri"/>
              </a:rPr>
              <a:t> </a:t>
            </a:r>
            <a:r>
              <a:rPr sz="1400" b="0" i="0" dirty="0" err="1">
                <a:solidFill>
                  <a:srgbClr val="6B7784"/>
                </a:solidFill>
                <a:latin typeface="Calibri"/>
              </a:rPr>
              <a:t>tổ</a:t>
            </a:r>
            <a:r>
              <a:rPr sz="1400" b="0" i="0" dirty="0">
                <a:solidFill>
                  <a:srgbClr val="6B7784"/>
                </a:solidFill>
                <a:latin typeface="Calibri"/>
              </a:rPr>
              <a:t> </a:t>
            </a:r>
            <a:r>
              <a:rPr sz="1400" b="0" i="0" dirty="0" err="1">
                <a:solidFill>
                  <a:srgbClr val="6B7784"/>
                </a:solidFill>
                <a:latin typeface="Calibri"/>
              </a:rPr>
              <a:t>chức</a:t>
            </a:r>
            <a:r>
              <a:rPr sz="1400" b="0" i="0" dirty="0">
                <a:solidFill>
                  <a:srgbClr val="6B7784"/>
                </a:solidFill>
                <a:latin typeface="Calibri"/>
              </a:rPr>
              <a:t> </a:t>
            </a:r>
            <a:r>
              <a:rPr sz="1400" b="0" i="0" dirty="0" err="1">
                <a:solidFill>
                  <a:srgbClr val="6B7784"/>
                </a:solidFill>
                <a:latin typeface="Calibri"/>
              </a:rPr>
              <a:t>và</a:t>
            </a:r>
            <a:r>
              <a:rPr sz="1400" b="0" i="0" dirty="0">
                <a:solidFill>
                  <a:srgbClr val="6B7784"/>
                </a:solidFill>
                <a:latin typeface="Calibri"/>
              </a:rPr>
              <a:t> </a:t>
            </a:r>
            <a:r>
              <a:rPr sz="1400" b="0" i="0" dirty="0" err="1">
                <a:solidFill>
                  <a:srgbClr val="6B7784"/>
                </a:solidFill>
                <a:latin typeface="Calibri"/>
              </a:rPr>
              <a:t>phạm</a:t>
            </a:r>
            <a:r>
              <a:rPr sz="1400" b="0" i="0" dirty="0">
                <a:solidFill>
                  <a:srgbClr val="6B7784"/>
                </a:solidFill>
                <a:latin typeface="Calibri"/>
              </a:rPr>
              <a:t> vi </a:t>
            </a:r>
            <a:r>
              <a:rPr sz="1400" b="0" i="0" dirty="0" err="1">
                <a:solidFill>
                  <a:srgbClr val="6B7784"/>
                </a:solidFill>
                <a:latin typeface="Calibri"/>
              </a:rPr>
              <a:t>nghiên</a:t>
            </a:r>
            <a:r>
              <a:rPr sz="1400" b="0" i="0" dirty="0">
                <a:solidFill>
                  <a:srgbClr val="6B7784"/>
                </a:solidFill>
                <a:latin typeface="Calibri"/>
              </a:rPr>
              <a:t> </a:t>
            </a:r>
            <a:r>
              <a:rPr sz="1400" b="0" i="0" dirty="0" err="1">
                <a:solidFill>
                  <a:srgbClr val="6B7784"/>
                </a:solidFill>
                <a:latin typeface="Calibri"/>
              </a:rPr>
              <a:t>cứu</a:t>
            </a:r>
            <a:r>
              <a:rPr sz="1400" b="0" i="0" dirty="0">
                <a:solidFill>
                  <a:srgbClr val="6B7784"/>
                </a:solidFill>
                <a:latin typeface="Calibri"/>
              </a:rPr>
              <a:t>.</a:t>
            </a:r>
          </a:p>
        </p:txBody>
      </p:sp>
      <p:sp>
        <p:nvSpPr>
          <p:cNvPr id="14" name="Rectangle 13"/>
          <p:cNvSpPr/>
          <p:nvPr/>
        </p:nvSpPr>
        <p:spPr>
          <a:xfrm>
            <a:off x="10298887" y="2048255"/>
            <a:ext cx="1051560" cy="347472"/>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298887" y="2114269"/>
            <a:ext cx="1051560" cy="215444"/>
          </a:xfrm>
          <a:prstGeom prst="rect">
            <a:avLst/>
          </a:prstGeom>
          <a:noFill/>
        </p:spPr>
        <p:txBody>
          <a:bodyPr wrap="square" lIns="0" tIns="0" rIns="0" bIns="0" anchor="ctr">
            <a:spAutoFit/>
          </a:bodyPr>
          <a:lstStyle/>
          <a:p>
            <a:pPr algn="ctr">
              <a:lnSpc>
                <a:spcPct val="100000"/>
              </a:lnSpc>
            </a:pPr>
            <a:r>
              <a:rPr sz="1400" b="1" i="0">
                <a:solidFill>
                  <a:srgbClr val="FFFFFF"/>
                </a:solidFill>
                <a:latin typeface="Calibri"/>
              </a:rPr>
              <a:t>Chương 1</a:t>
            </a:r>
          </a:p>
        </p:txBody>
      </p:sp>
      <p:sp>
        <p:nvSpPr>
          <p:cNvPr id="16" name="Rectangle 15"/>
          <p:cNvSpPr/>
          <p:nvPr/>
        </p:nvSpPr>
        <p:spPr>
          <a:xfrm>
            <a:off x="658368" y="2825496"/>
            <a:ext cx="10874959" cy="969264"/>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58368" y="2825496"/>
            <a:ext cx="50292" cy="969264"/>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3044952"/>
            <a:ext cx="777240" cy="548640"/>
          </a:xfrm>
          <a:prstGeom prst="rect">
            <a:avLst/>
          </a:prstGeom>
          <a:noFill/>
        </p:spPr>
        <p:txBody>
          <a:bodyPr wrap="square" lIns="0" tIns="0" rIns="0" bIns="0" anchor="t">
            <a:spAutoFit/>
          </a:bodyPr>
          <a:lstStyle/>
          <a:p>
            <a:pPr algn="l">
              <a:lnSpc>
                <a:spcPct val="100000"/>
              </a:lnSpc>
            </a:pPr>
            <a:r>
              <a:rPr sz="2600" b="1" i="0">
                <a:solidFill>
                  <a:srgbClr val="0096D6"/>
                </a:solidFill>
                <a:latin typeface="Calibri"/>
              </a:rPr>
              <a:t>02</a:t>
            </a:r>
          </a:p>
        </p:txBody>
      </p:sp>
      <p:sp>
        <p:nvSpPr>
          <p:cNvPr id="19" name="TextBox 18"/>
          <p:cNvSpPr txBox="1"/>
          <p:nvPr/>
        </p:nvSpPr>
        <p:spPr>
          <a:xfrm>
            <a:off x="1755648" y="2980944"/>
            <a:ext cx="4572000" cy="320040"/>
          </a:xfrm>
          <a:prstGeom prst="rect">
            <a:avLst/>
          </a:prstGeom>
          <a:noFill/>
        </p:spPr>
        <p:txBody>
          <a:bodyPr wrap="square" lIns="0" tIns="0" rIns="0" bIns="0" anchor="t">
            <a:spAutoFit/>
          </a:bodyPr>
          <a:lstStyle/>
          <a:p>
            <a:pPr algn="l">
              <a:lnSpc>
                <a:spcPct val="100000"/>
              </a:lnSpc>
            </a:pPr>
            <a:r>
              <a:rPr sz="1450" b="1" i="0">
                <a:solidFill>
                  <a:srgbClr val="0A2540"/>
                </a:solidFill>
                <a:latin typeface="Calibri"/>
              </a:rPr>
              <a:t>KHẢO SÁT HỆ THỐNG QUY TRÌNH</a:t>
            </a:r>
          </a:p>
        </p:txBody>
      </p:sp>
      <p:sp>
        <p:nvSpPr>
          <p:cNvPr id="20" name="TextBox 19"/>
          <p:cNvSpPr txBox="1"/>
          <p:nvPr/>
        </p:nvSpPr>
        <p:spPr>
          <a:xfrm>
            <a:off x="1755648" y="3310128"/>
            <a:ext cx="6583680" cy="508344"/>
          </a:xfrm>
          <a:prstGeom prst="rect">
            <a:avLst/>
          </a:prstGeom>
          <a:noFill/>
        </p:spPr>
        <p:txBody>
          <a:bodyPr wrap="square" lIns="0" tIns="0" rIns="0" bIns="0" anchor="t">
            <a:spAutoFit/>
          </a:bodyPr>
          <a:lstStyle/>
          <a:p>
            <a:pPr algn="l">
              <a:lnSpc>
                <a:spcPct val="115000"/>
              </a:lnSpc>
            </a:pPr>
            <a:r>
              <a:rPr sz="1400" b="0" i="0">
                <a:solidFill>
                  <a:srgbClr val="6B7784"/>
                </a:solidFill>
                <a:latin typeface="Calibri"/>
              </a:rPr>
              <a:t>Kiến trúc quy trình nghiệp vụ (Process Landscape)</a:t>
            </a:r>
          </a:p>
          <a:p>
            <a:pPr algn="l">
              <a:lnSpc>
                <a:spcPct val="115000"/>
              </a:lnSpc>
              <a:spcBef>
                <a:spcPts val="100"/>
              </a:spcBef>
            </a:pPr>
            <a:r>
              <a:rPr sz="1400" b="0" i="0">
                <a:solidFill>
                  <a:srgbClr val="6B7784"/>
                </a:solidFill>
                <a:latin typeface="Calibri"/>
              </a:rPr>
              <a:t>và danh mục 10 quy trình tiêu biểu.</a:t>
            </a:r>
          </a:p>
        </p:txBody>
      </p:sp>
      <p:sp>
        <p:nvSpPr>
          <p:cNvPr id="21" name="Rectangle 20"/>
          <p:cNvSpPr/>
          <p:nvPr/>
        </p:nvSpPr>
        <p:spPr>
          <a:xfrm>
            <a:off x="10298887" y="3136391"/>
            <a:ext cx="1051560" cy="347472"/>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298887" y="3202405"/>
            <a:ext cx="1051560" cy="215444"/>
          </a:xfrm>
          <a:prstGeom prst="rect">
            <a:avLst/>
          </a:prstGeom>
          <a:noFill/>
        </p:spPr>
        <p:txBody>
          <a:bodyPr wrap="square" lIns="0" tIns="0" rIns="0" bIns="0" anchor="ctr">
            <a:spAutoFit/>
          </a:bodyPr>
          <a:lstStyle/>
          <a:p>
            <a:pPr algn="ctr">
              <a:lnSpc>
                <a:spcPct val="100000"/>
              </a:lnSpc>
            </a:pPr>
            <a:r>
              <a:rPr sz="1400" b="1" i="0">
                <a:solidFill>
                  <a:srgbClr val="FFFFFF"/>
                </a:solidFill>
                <a:latin typeface="Calibri"/>
              </a:rPr>
              <a:t>Chương 2</a:t>
            </a:r>
          </a:p>
        </p:txBody>
      </p:sp>
      <p:sp>
        <p:nvSpPr>
          <p:cNvPr id="23" name="Rectangle 22"/>
          <p:cNvSpPr/>
          <p:nvPr/>
        </p:nvSpPr>
        <p:spPr>
          <a:xfrm>
            <a:off x="658368" y="3913631"/>
            <a:ext cx="10874959" cy="969264"/>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58368" y="3913631"/>
            <a:ext cx="50292" cy="969264"/>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4133087"/>
            <a:ext cx="777240" cy="548640"/>
          </a:xfrm>
          <a:prstGeom prst="rect">
            <a:avLst/>
          </a:prstGeom>
          <a:noFill/>
        </p:spPr>
        <p:txBody>
          <a:bodyPr wrap="square" lIns="0" tIns="0" rIns="0" bIns="0" anchor="t">
            <a:spAutoFit/>
          </a:bodyPr>
          <a:lstStyle/>
          <a:p>
            <a:pPr algn="l">
              <a:lnSpc>
                <a:spcPct val="100000"/>
              </a:lnSpc>
            </a:pPr>
            <a:r>
              <a:rPr sz="2600" b="1" i="0">
                <a:solidFill>
                  <a:srgbClr val="0096D6"/>
                </a:solidFill>
                <a:latin typeface="Calibri"/>
              </a:rPr>
              <a:t>03</a:t>
            </a:r>
          </a:p>
        </p:txBody>
      </p:sp>
      <p:sp>
        <p:nvSpPr>
          <p:cNvPr id="26" name="TextBox 25"/>
          <p:cNvSpPr txBox="1"/>
          <p:nvPr/>
        </p:nvSpPr>
        <p:spPr>
          <a:xfrm>
            <a:off x="1755648" y="4069079"/>
            <a:ext cx="4572000" cy="320040"/>
          </a:xfrm>
          <a:prstGeom prst="rect">
            <a:avLst/>
          </a:prstGeom>
          <a:noFill/>
        </p:spPr>
        <p:txBody>
          <a:bodyPr wrap="square" lIns="0" tIns="0" rIns="0" bIns="0" anchor="t">
            <a:spAutoFit/>
          </a:bodyPr>
          <a:lstStyle/>
          <a:p>
            <a:pPr algn="l">
              <a:lnSpc>
                <a:spcPct val="100000"/>
              </a:lnSpc>
            </a:pPr>
            <a:r>
              <a:rPr sz="1450" b="1" i="0">
                <a:solidFill>
                  <a:srgbClr val="0A2540"/>
                </a:solidFill>
                <a:latin typeface="Calibri"/>
              </a:rPr>
              <a:t>MÔ HÌNH HÓA &amp; LỰA CHỌN</a:t>
            </a:r>
          </a:p>
        </p:txBody>
      </p:sp>
      <p:sp>
        <p:nvSpPr>
          <p:cNvPr id="27" name="TextBox 26"/>
          <p:cNvSpPr txBox="1"/>
          <p:nvPr/>
        </p:nvSpPr>
        <p:spPr>
          <a:xfrm>
            <a:off x="1755648" y="4398264"/>
            <a:ext cx="6583680" cy="508344"/>
          </a:xfrm>
          <a:prstGeom prst="rect">
            <a:avLst/>
          </a:prstGeom>
          <a:noFill/>
        </p:spPr>
        <p:txBody>
          <a:bodyPr wrap="square" lIns="0" tIns="0" rIns="0" bIns="0" anchor="t">
            <a:spAutoFit/>
          </a:bodyPr>
          <a:lstStyle/>
          <a:p>
            <a:pPr algn="l">
              <a:lnSpc>
                <a:spcPct val="115000"/>
              </a:lnSpc>
            </a:pPr>
            <a:r>
              <a:rPr sz="1400" b="0" i="0">
                <a:solidFill>
                  <a:srgbClr val="6B7784"/>
                </a:solidFill>
                <a:latin typeface="Calibri"/>
              </a:rPr>
              <a:t>Mô hình BPMN As-Is cho 06 quy trình, phương pháp</a:t>
            </a:r>
          </a:p>
          <a:p>
            <a:pPr algn="l">
              <a:lnSpc>
                <a:spcPct val="115000"/>
              </a:lnSpc>
              <a:spcBef>
                <a:spcPts val="100"/>
              </a:spcBef>
            </a:pPr>
            <a:r>
              <a:rPr sz="1400" b="0" i="0">
                <a:solidFill>
                  <a:srgbClr val="6B7784"/>
                </a:solidFill>
                <a:latin typeface="Calibri"/>
              </a:rPr>
              <a:t>Process Discovery và sàng lọc theo 05 tiêu chí.</a:t>
            </a:r>
          </a:p>
        </p:txBody>
      </p:sp>
      <p:sp>
        <p:nvSpPr>
          <p:cNvPr id="28" name="Rectangle 27"/>
          <p:cNvSpPr/>
          <p:nvPr/>
        </p:nvSpPr>
        <p:spPr>
          <a:xfrm>
            <a:off x="10298887" y="4224527"/>
            <a:ext cx="1051560" cy="347472"/>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298887" y="4290541"/>
            <a:ext cx="1051560" cy="215444"/>
          </a:xfrm>
          <a:prstGeom prst="rect">
            <a:avLst/>
          </a:prstGeom>
          <a:noFill/>
        </p:spPr>
        <p:txBody>
          <a:bodyPr wrap="square" lIns="0" tIns="0" rIns="0" bIns="0" anchor="ctr">
            <a:spAutoFit/>
          </a:bodyPr>
          <a:lstStyle/>
          <a:p>
            <a:pPr algn="ctr">
              <a:lnSpc>
                <a:spcPct val="100000"/>
              </a:lnSpc>
            </a:pPr>
            <a:r>
              <a:rPr sz="1400" b="1" i="0">
                <a:solidFill>
                  <a:srgbClr val="FFFFFF"/>
                </a:solidFill>
                <a:latin typeface="Calibri"/>
              </a:rPr>
              <a:t>Chương 3</a:t>
            </a:r>
          </a:p>
        </p:txBody>
      </p:sp>
      <p:sp>
        <p:nvSpPr>
          <p:cNvPr id="30" name="Rectangle 29"/>
          <p:cNvSpPr/>
          <p:nvPr/>
        </p:nvSpPr>
        <p:spPr>
          <a:xfrm>
            <a:off x="658368" y="5001767"/>
            <a:ext cx="10874959" cy="969264"/>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58368" y="5001767"/>
            <a:ext cx="50292" cy="969264"/>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14400" y="5221223"/>
            <a:ext cx="777240" cy="548640"/>
          </a:xfrm>
          <a:prstGeom prst="rect">
            <a:avLst/>
          </a:prstGeom>
          <a:noFill/>
        </p:spPr>
        <p:txBody>
          <a:bodyPr wrap="square" lIns="0" tIns="0" rIns="0" bIns="0" anchor="t">
            <a:spAutoFit/>
          </a:bodyPr>
          <a:lstStyle/>
          <a:p>
            <a:pPr algn="l">
              <a:lnSpc>
                <a:spcPct val="100000"/>
              </a:lnSpc>
            </a:pPr>
            <a:r>
              <a:rPr sz="2600" b="1" i="0">
                <a:solidFill>
                  <a:srgbClr val="0096D6"/>
                </a:solidFill>
                <a:latin typeface="Calibri"/>
              </a:rPr>
              <a:t>04</a:t>
            </a:r>
          </a:p>
        </p:txBody>
      </p:sp>
      <p:sp>
        <p:nvSpPr>
          <p:cNvPr id="33" name="TextBox 32"/>
          <p:cNvSpPr txBox="1"/>
          <p:nvPr/>
        </p:nvSpPr>
        <p:spPr>
          <a:xfrm>
            <a:off x="1755648" y="5157215"/>
            <a:ext cx="4572000" cy="320040"/>
          </a:xfrm>
          <a:prstGeom prst="rect">
            <a:avLst/>
          </a:prstGeom>
          <a:noFill/>
        </p:spPr>
        <p:txBody>
          <a:bodyPr wrap="square" lIns="0" tIns="0" rIns="0" bIns="0" anchor="t">
            <a:spAutoFit/>
          </a:bodyPr>
          <a:lstStyle/>
          <a:p>
            <a:pPr algn="l">
              <a:lnSpc>
                <a:spcPct val="100000"/>
              </a:lnSpc>
            </a:pPr>
            <a:r>
              <a:rPr sz="1450" b="1" i="0">
                <a:solidFill>
                  <a:srgbClr val="0A2540"/>
                </a:solidFill>
                <a:latin typeface="Calibri"/>
              </a:rPr>
              <a:t>PHÂN TÍCH &amp; KẾT LUẬN</a:t>
            </a:r>
          </a:p>
        </p:txBody>
      </p:sp>
      <p:sp>
        <p:nvSpPr>
          <p:cNvPr id="34" name="TextBox 33"/>
          <p:cNvSpPr txBox="1"/>
          <p:nvPr/>
        </p:nvSpPr>
        <p:spPr>
          <a:xfrm>
            <a:off x="1755648" y="5486399"/>
            <a:ext cx="6583680" cy="508344"/>
          </a:xfrm>
          <a:prstGeom prst="rect">
            <a:avLst/>
          </a:prstGeom>
          <a:noFill/>
        </p:spPr>
        <p:txBody>
          <a:bodyPr wrap="square" lIns="0" tIns="0" rIns="0" bIns="0" anchor="t">
            <a:spAutoFit/>
          </a:bodyPr>
          <a:lstStyle/>
          <a:p>
            <a:pPr algn="l">
              <a:lnSpc>
                <a:spcPct val="115000"/>
              </a:lnSpc>
            </a:pPr>
            <a:r>
              <a:rPr sz="1400" b="0" i="0">
                <a:solidFill>
                  <a:srgbClr val="6B7784"/>
                </a:solidFill>
                <a:latin typeface="Calibri"/>
              </a:rPr>
              <a:t>Phân tích định tính và định lượng 02 quy trình</a:t>
            </a:r>
          </a:p>
          <a:p>
            <a:pPr algn="l">
              <a:lnSpc>
                <a:spcPct val="115000"/>
              </a:lnSpc>
              <a:spcBef>
                <a:spcPts val="100"/>
              </a:spcBef>
            </a:pPr>
            <a:r>
              <a:rPr sz="1400" b="0" i="0">
                <a:solidFill>
                  <a:srgbClr val="6B7784"/>
                </a:solidFill>
                <a:latin typeface="Calibri"/>
              </a:rPr>
              <a:t>trọng tâm, tổng hợp vấn đề và đề xuất cải tiến.</a:t>
            </a:r>
          </a:p>
        </p:txBody>
      </p:sp>
      <p:sp>
        <p:nvSpPr>
          <p:cNvPr id="35" name="Rectangle 34"/>
          <p:cNvSpPr/>
          <p:nvPr/>
        </p:nvSpPr>
        <p:spPr>
          <a:xfrm>
            <a:off x="10298887" y="5312663"/>
            <a:ext cx="1051560" cy="347472"/>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298887" y="5378677"/>
            <a:ext cx="1051560" cy="215444"/>
          </a:xfrm>
          <a:prstGeom prst="rect">
            <a:avLst/>
          </a:prstGeom>
          <a:noFill/>
        </p:spPr>
        <p:txBody>
          <a:bodyPr wrap="square" lIns="0" tIns="0" rIns="0" bIns="0" anchor="ctr">
            <a:spAutoFit/>
          </a:bodyPr>
          <a:lstStyle/>
          <a:p>
            <a:pPr algn="ctr">
              <a:lnSpc>
                <a:spcPct val="100000"/>
              </a:lnSpc>
            </a:pPr>
            <a:r>
              <a:rPr sz="1400" b="1" i="0">
                <a:solidFill>
                  <a:srgbClr val="FFFFFF"/>
                </a:solidFill>
                <a:latin typeface="Calibri"/>
              </a:rPr>
              <a:t>Chương 4</a:t>
            </a:r>
          </a:p>
        </p:txBody>
      </p:sp>
    </p:spTree>
    <p:extLst>
      <p:ext uri="{BB962C8B-B14F-4D97-AF65-F5344CB8AC3E}">
        <p14:creationId xmlns:p14="http://schemas.microsoft.com/office/powerpoint/2010/main" val="3996063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Rectangle 1"/>
          <p:cNvSpPr/>
          <p:nvPr/>
        </p:nvSpPr>
        <p:spPr>
          <a:xfrm>
            <a:off x="0" y="0"/>
            <a:ext cx="182880" cy="6858000"/>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863840" y="0"/>
            <a:ext cx="4325112" cy="6858000"/>
          </a:xfrm>
          <a:prstGeom prst="rect">
            <a:avLst/>
          </a:prstGeom>
          <a:solidFill>
            <a:srgbClr val="1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0" y="1874519"/>
            <a:ext cx="3657600" cy="2926080"/>
          </a:xfrm>
          <a:prstGeom prst="rect">
            <a:avLst/>
          </a:prstGeom>
          <a:noFill/>
        </p:spPr>
        <p:txBody>
          <a:bodyPr wrap="square" lIns="0" tIns="0" rIns="0" bIns="0" anchor="t">
            <a:spAutoFit/>
          </a:bodyPr>
          <a:lstStyle/>
          <a:p>
            <a:pPr algn="ctr">
              <a:lnSpc>
                <a:spcPct val="90000"/>
              </a:lnSpc>
            </a:pPr>
            <a:r>
              <a:rPr sz="15000" b="1" i="0">
                <a:solidFill>
                  <a:srgbClr val="1E4E77"/>
                </a:solidFill>
                <a:latin typeface="Calibri"/>
              </a:rPr>
              <a:t>01</a:t>
            </a:r>
          </a:p>
        </p:txBody>
      </p:sp>
      <p:sp>
        <p:nvSpPr>
          <p:cNvPr id="5" name="TextBox 4"/>
          <p:cNvSpPr txBox="1"/>
          <p:nvPr/>
        </p:nvSpPr>
        <p:spPr>
          <a:xfrm>
            <a:off x="1051560" y="2331720"/>
            <a:ext cx="6583680" cy="215444"/>
          </a:xfrm>
          <a:prstGeom prst="rect">
            <a:avLst/>
          </a:prstGeom>
          <a:noFill/>
        </p:spPr>
        <p:txBody>
          <a:bodyPr wrap="square" lIns="0" tIns="0" rIns="0" bIns="0" anchor="t">
            <a:spAutoFit/>
          </a:bodyPr>
          <a:lstStyle/>
          <a:p>
            <a:pPr algn="l">
              <a:lnSpc>
                <a:spcPct val="100000"/>
              </a:lnSpc>
            </a:pPr>
            <a:r>
              <a:rPr sz="1400" b="1" i="0">
                <a:solidFill>
                  <a:srgbClr val="00C2A8"/>
                </a:solidFill>
                <a:latin typeface="Calibri"/>
              </a:rPr>
              <a:t>PHẦN 1 · COMPANY OVERVIEW</a:t>
            </a:r>
          </a:p>
        </p:txBody>
      </p:sp>
      <p:sp>
        <p:nvSpPr>
          <p:cNvPr id="6" name="TextBox 5"/>
          <p:cNvSpPr txBox="1"/>
          <p:nvPr/>
        </p:nvSpPr>
        <p:spPr>
          <a:xfrm>
            <a:off x="1051560" y="2724912"/>
            <a:ext cx="6583680" cy="1005840"/>
          </a:xfrm>
          <a:prstGeom prst="rect">
            <a:avLst/>
          </a:prstGeom>
          <a:noFill/>
        </p:spPr>
        <p:txBody>
          <a:bodyPr wrap="square" lIns="0" tIns="0" rIns="0" bIns="0" anchor="t">
            <a:spAutoFit/>
          </a:bodyPr>
          <a:lstStyle/>
          <a:p>
            <a:pPr algn="l">
              <a:lnSpc>
                <a:spcPct val="106000"/>
              </a:lnSpc>
            </a:pPr>
            <a:r>
              <a:rPr sz="3200" b="1" i="0">
                <a:solidFill>
                  <a:srgbClr val="FFFFFF"/>
                </a:solidFill>
                <a:latin typeface="Calibri"/>
              </a:rPr>
              <a:t>Giới thiệu Solventum Việt Nam</a:t>
            </a:r>
          </a:p>
        </p:txBody>
      </p:sp>
      <p:sp>
        <p:nvSpPr>
          <p:cNvPr id="7" name="Rectangle 6"/>
          <p:cNvSpPr/>
          <p:nvPr/>
        </p:nvSpPr>
        <p:spPr>
          <a:xfrm>
            <a:off x="1051560" y="3858768"/>
            <a:ext cx="1005840" cy="45720"/>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4096512"/>
            <a:ext cx="6492240" cy="560153"/>
          </a:xfrm>
          <a:prstGeom prst="rect">
            <a:avLst/>
          </a:prstGeom>
          <a:noFill/>
        </p:spPr>
        <p:txBody>
          <a:bodyPr wrap="square" lIns="0" tIns="0" rIns="0" bIns="0" anchor="t">
            <a:spAutoFit/>
          </a:bodyPr>
          <a:lstStyle/>
          <a:p>
            <a:pPr algn="l">
              <a:lnSpc>
                <a:spcPct val="130000"/>
              </a:lnSpc>
            </a:pPr>
            <a:r>
              <a:rPr sz="1400" b="0" i="0" dirty="0" err="1">
                <a:solidFill>
                  <a:srgbClr val="B6C9D8"/>
                </a:solidFill>
                <a:latin typeface="Calibri"/>
              </a:rPr>
              <a:t>Quá</a:t>
            </a:r>
            <a:r>
              <a:rPr sz="1400" b="0" i="0" dirty="0">
                <a:solidFill>
                  <a:srgbClr val="B6C9D8"/>
                </a:solidFill>
                <a:latin typeface="Calibri"/>
              </a:rPr>
              <a:t> </a:t>
            </a:r>
            <a:r>
              <a:rPr sz="1400" b="0" i="0" dirty="0" err="1">
                <a:solidFill>
                  <a:srgbClr val="B6C9D8"/>
                </a:solidFill>
                <a:latin typeface="Calibri"/>
              </a:rPr>
              <a:t>trình</a:t>
            </a:r>
            <a:r>
              <a:rPr sz="1400" b="0" i="0" dirty="0">
                <a:solidFill>
                  <a:srgbClr val="B6C9D8"/>
                </a:solidFill>
                <a:latin typeface="Calibri"/>
              </a:rPr>
              <a:t> </a:t>
            </a:r>
            <a:r>
              <a:rPr sz="1400" b="0" i="0" dirty="0" err="1">
                <a:solidFill>
                  <a:srgbClr val="B6C9D8"/>
                </a:solidFill>
                <a:latin typeface="Calibri"/>
              </a:rPr>
              <a:t>hình</a:t>
            </a:r>
            <a:r>
              <a:rPr sz="1400" b="0" i="0" dirty="0">
                <a:solidFill>
                  <a:srgbClr val="B6C9D8"/>
                </a:solidFill>
                <a:latin typeface="Calibri"/>
              </a:rPr>
              <a:t> </a:t>
            </a:r>
            <a:r>
              <a:rPr sz="1400" b="0" i="0" dirty="0" err="1">
                <a:solidFill>
                  <a:srgbClr val="B6C9D8"/>
                </a:solidFill>
                <a:latin typeface="Calibri"/>
              </a:rPr>
              <a:t>thành</a:t>
            </a:r>
            <a:r>
              <a:rPr sz="1400" b="0" i="0" dirty="0">
                <a:solidFill>
                  <a:srgbClr val="B6C9D8"/>
                </a:solidFill>
                <a:latin typeface="Calibri"/>
              </a:rPr>
              <a:t>  ·  </a:t>
            </a:r>
            <a:r>
              <a:rPr sz="1400" b="0" i="0" dirty="0" err="1">
                <a:solidFill>
                  <a:srgbClr val="B6C9D8"/>
                </a:solidFill>
                <a:latin typeface="Calibri"/>
              </a:rPr>
              <a:t>Sản</a:t>
            </a:r>
            <a:r>
              <a:rPr sz="1400" b="0" i="0" dirty="0">
                <a:solidFill>
                  <a:srgbClr val="B6C9D8"/>
                </a:solidFill>
                <a:latin typeface="Calibri"/>
              </a:rPr>
              <a:t> </a:t>
            </a:r>
            <a:r>
              <a:rPr sz="1400" b="0" i="0" dirty="0" err="1">
                <a:solidFill>
                  <a:srgbClr val="B6C9D8"/>
                </a:solidFill>
                <a:latin typeface="Calibri"/>
              </a:rPr>
              <a:t>phẩm</a:t>
            </a:r>
            <a:r>
              <a:rPr sz="1400" b="0" i="0" dirty="0">
                <a:solidFill>
                  <a:srgbClr val="B6C9D8"/>
                </a:solidFill>
                <a:latin typeface="Calibri"/>
              </a:rPr>
              <a:t> </a:t>
            </a:r>
            <a:r>
              <a:rPr sz="1400" b="0" i="0" dirty="0" err="1">
                <a:solidFill>
                  <a:srgbClr val="B6C9D8"/>
                </a:solidFill>
                <a:latin typeface="Calibri"/>
              </a:rPr>
              <a:t>và</a:t>
            </a:r>
            <a:r>
              <a:rPr sz="1400" b="0" i="0" dirty="0">
                <a:solidFill>
                  <a:srgbClr val="B6C9D8"/>
                </a:solidFill>
                <a:latin typeface="Calibri"/>
              </a:rPr>
              <a:t> </a:t>
            </a:r>
            <a:r>
              <a:rPr sz="1400" b="0" i="0" dirty="0" err="1">
                <a:solidFill>
                  <a:srgbClr val="B6C9D8"/>
                </a:solidFill>
                <a:latin typeface="Calibri"/>
              </a:rPr>
              <a:t>dịch</a:t>
            </a:r>
            <a:r>
              <a:rPr sz="1400" b="0" i="0" dirty="0">
                <a:solidFill>
                  <a:srgbClr val="B6C9D8"/>
                </a:solidFill>
                <a:latin typeface="Calibri"/>
              </a:rPr>
              <a:t> </a:t>
            </a:r>
            <a:r>
              <a:rPr sz="1400" b="0" i="0" dirty="0" err="1">
                <a:solidFill>
                  <a:srgbClr val="B6C9D8"/>
                </a:solidFill>
                <a:latin typeface="Calibri"/>
              </a:rPr>
              <a:t>vụ</a:t>
            </a:r>
            <a:r>
              <a:rPr sz="1400" b="0" i="0" dirty="0">
                <a:solidFill>
                  <a:srgbClr val="B6C9D8"/>
                </a:solidFill>
                <a:latin typeface="Calibri"/>
              </a:rPr>
              <a:t>  ·  </a:t>
            </a:r>
            <a:r>
              <a:rPr sz="1400" b="0" i="0" dirty="0" err="1">
                <a:solidFill>
                  <a:srgbClr val="B6C9D8"/>
                </a:solidFill>
                <a:latin typeface="Calibri"/>
              </a:rPr>
              <a:t>Cơ</a:t>
            </a:r>
            <a:r>
              <a:rPr sz="1400" b="0" i="0" dirty="0">
                <a:solidFill>
                  <a:srgbClr val="B6C9D8"/>
                </a:solidFill>
                <a:latin typeface="Calibri"/>
              </a:rPr>
              <a:t> </a:t>
            </a:r>
            <a:r>
              <a:rPr sz="1400" b="0" i="0" dirty="0" err="1">
                <a:solidFill>
                  <a:srgbClr val="B6C9D8"/>
                </a:solidFill>
                <a:latin typeface="Calibri"/>
              </a:rPr>
              <a:t>cấu</a:t>
            </a:r>
            <a:r>
              <a:rPr sz="1400" b="0" i="0" dirty="0">
                <a:solidFill>
                  <a:srgbClr val="B6C9D8"/>
                </a:solidFill>
                <a:latin typeface="Calibri"/>
              </a:rPr>
              <a:t> </a:t>
            </a:r>
            <a:r>
              <a:rPr sz="1400" b="0" i="0" dirty="0" err="1">
                <a:solidFill>
                  <a:srgbClr val="B6C9D8"/>
                </a:solidFill>
                <a:latin typeface="Calibri"/>
              </a:rPr>
              <a:t>tổ</a:t>
            </a:r>
            <a:r>
              <a:rPr sz="1400" b="0" i="0" dirty="0">
                <a:solidFill>
                  <a:srgbClr val="B6C9D8"/>
                </a:solidFill>
                <a:latin typeface="Calibri"/>
              </a:rPr>
              <a:t> </a:t>
            </a:r>
            <a:r>
              <a:rPr sz="1400" b="0" i="0" dirty="0" err="1">
                <a:solidFill>
                  <a:srgbClr val="B6C9D8"/>
                </a:solidFill>
                <a:latin typeface="Calibri"/>
              </a:rPr>
              <a:t>chức</a:t>
            </a:r>
            <a:r>
              <a:rPr sz="1400" b="0" i="0" dirty="0">
                <a:solidFill>
                  <a:srgbClr val="B6C9D8"/>
                </a:solidFill>
                <a:latin typeface="Calibri"/>
              </a:rPr>
              <a:t>  ·  </a:t>
            </a:r>
            <a:r>
              <a:rPr sz="1400" b="0" i="0" dirty="0" err="1">
                <a:solidFill>
                  <a:srgbClr val="B6C9D8"/>
                </a:solidFill>
                <a:latin typeface="Calibri"/>
              </a:rPr>
              <a:t>Mục</a:t>
            </a:r>
            <a:r>
              <a:rPr sz="1400" b="0" i="0" dirty="0">
                <a:solidFill>
                  <a:srgbClr val="B6C9D8"/>
                </a:solidFill>
                <a:latin typeface="Calibri"/>
              </a:rPr>
              <a:t> </a:t>
            </a:r>
            <a:r>
              <a:rPr sz="1400" b="0" i="0" dirty="0" err="1">
                <a:solidFill>
                  <a:srgbClr val="B6C9D8"/>
                </a:solidFill>
                <a:latin typeface="Calibri"/>
              </a:rPr>
              <a:t>tiêu</a:t>
            </a:r>
            <a:r>
              <a:rPr sz="1400" b="0" i="0" dirty="0">
                <a:solidFill>
                  <a:srgbClr val="B6C9D8"/>
                </a:solidFill>
                <a:latin typeface="Calibri"/>
              </a:rPr>
              <a:t> </a:t>
            </a:r>
            <a:r>
              <a:rPr sz="1400" b="0" i="0" dirty="0" err="1">
                <a:solidFill>
                  <a:srgbClr val="B6C9D8"/>
                </a:solidFill>
                <a:latin typeface="Calibri"/>
              </a:rPr>
              <a:t>và</a:t>
            </a:r>
            <a:r>
              <a:rPr sz="1400" b="0" i="0" dirty="0">
                <a:solidFill>
                  <a:srgbClr val="B6C9D8"/>
                </a:solidFill>
                <a:latin typeface="Calibri"/>
              </a:rPr>
              <a:t> </a:t>
            </a:r>
            <a:r>
              <a:rPr sz="1400" b="0" i="0" dirty="0" err="1">
                <a:solidFill>
                  <a:srgbClr val="B6C9D8"/>
                </a:solidFill>
                <a:latin typeface="Calibri"/>
              </a:rPr>
              <a:t>phạm</a:t>
            </a:r>
            <a:r>
              <a:rPr sz="1400" b="0" i="0" dirty="0">
                <a:solidFill>
                  <a:srgbClr val="B6C9D8"/>
                </a:solidFill>
                <a:latin typeface="Calibri"/>
              </a:rPr>
              <a:t> vi </a:t>
            </a:r>
            <a:r>
              <a:rPr sz="1400" b="0" i="0" dirty="0" err="1">
                <a:solidFill>
                  <a:srgbClr val="B6C9D8"/>
                </a:solidFill>
                <a:latin typeface="Calibri"/>
              </a:rPr>
              <a:t>nghiên</a:t>
            </a:r>
            <a:r>
              <a:rPr sz="1400" b="0" i="0" dirty="0">
                <a:solidFill>
                  <a:srgbClr val="B6C9D8"/>
                </a:solidFill>
                <a:latin typeface="Calibri"/>
              </a:rPr>
              <a:t> </a:t>
            </a:r>
            <a:r>
              <a:rPr sz="1400" b="0" i="0" dirty="0" err="1">
                <a:solidFill>
                  <a:srgbClr val="B6C9D8"/>
                </a:solidFill>
                <a:latin typeface="Calibri"/>
              </a:rPr>
              <a:t>cứu</a:t>
            </a:r>
            <a:endParaRPr sz="1400" b="0" i="0" dirty="0">
              <a:solidFill>
                <a:srgbClr val="B6C9D8"/>
              </a:solidFill>
              <a:latin typeface="Calibri"/>
            </a:endParaRPr>
          </a:p>
        </p:txBody>
      </p:sp>
      <p:sp>
        <p:nvSpPr>
          <p:cNvPr id="9" name="TextBox 8"/>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8FA6BC"/>
                </a:solidFill>
                <a:latin typeface="Calibri"/>
              </a:rPr>
              <a:t>SOLVENTUM VIỆT NAM  ·  HỆ THỐNG QUẢN TRỊ QUY TRÌNH NGHIỆP VỤ</a:t>
            </a:r>
          </a:p>
        </p:txBody>
      </p:sp>
      <p:sp>
        <p:nvSpPr>
          <p:cNvPr id="10" name="TextBox 9"/>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C2A8"/>
                </a:solidFill>
                <a:latin typeface="Calibri"/>
              </a:rPr>
              <a:t>3</a:t>
            </a:r>
          </a:p>
        </p:txBody>
      </p:sp>
    </p:spTree>
    <p:extLst>
      <p:ext uri="{BB962C8B-B14F-4D97-AF65-F5344CB8AC3E}">
        <p14:creationId xmlns:p14="http://schemas.microsoft.com/office/powerpoint/2010/main" val="39528301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CHƯƠNG 1 · 1.1 TỔNG QUAN</a:t>
            </a:r>
          </a:p>
        </p:txBody>
      </p:sp>
      <p:sp>
        <p:nvSpPr>
          <p:cNvPr id="3" name="TextBox 2"/>
          <p:cNvSpPr txBox="1"/>
          <p:nvPr/>
        </p:nvSpPr>
        <p:spPr>
          <a:xfrm>
            <a:off x="658368" y="640080"/>
            <a:ext cx="10874959" cy="403957"/>
          </a:xfrm>
          <a:prstGeom prst="rect">
            <a:avLst/>
          </a:prstGeom>
          <a:noFill/>
        </p:spPr>
        <p:txBody>
          <a:bodyPr wrap="square" lIns="0" tIns="0" rIns="0" bIns="0" anchor="t">
            <a:spAutoFit/>
          </a:bodyPr>
          <a:lstStyle/>
          <a:p>
            <a:pPr algn="l">
              <a:lnSpc>
                <a:spcPct val="105000"/>
              </a:lnSpc>
            </a:pPr>
            <a:r>
              <a:rPr sz="2500" b="1" i="0" dirty="0">
                <a:solidFill>
                  <a:srgbClr val="0A2540"/>
                </a:solidFill>
                <a:latin typeface="Calibri"/>
              </a:rPr>
              <a:t>SOLVENTUM VIỆT </a:t>
            </a:r>
            <a:r>
              <a:rPr sz="2500" b="1" i="0" dirty="0" smtClean="0">
                <a:solidFill>
                  <a:srgbClr val="0A2540"/>
                </a:solidFill>
                <a:latin typeface="Calibri"/>
              </a:rPr>
              <a:t>NAM</a:t>
            </a:r>
            <a:endParaRPr sz="2500" b="1" i="0" dirty="0">
              <a:solidFill>
                <a:srgbClr val="0A2540"/>
              </a:solidFill>
              <a:latin typeface="Calibri"/>
            </a:endParaRP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7" name="TextBox 6"/>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4</a:t>
            </a:r>
          </a:p>
        </p:txBody>
      </p:sp>
      <p:sp>
        <p:nvSpPr>
          <p:cNvPr id="8" name="TextBox 7"/>
          <p:cNvSpPr txBox="1"/>
          <p:nvPr/>
        </p:nvSpPr>
        <p:spPr>
          <a:xfrm>
            <a:off x="658368" y="1536192"/>
            <a:ext cx="10874959" cy="847220"/>
          </a:xfrm>
          <a:prstGeom prst="rect">
            <a:avLst/>
          </a:prstGeom>
          <a:noFill/>
        </p:spPr>
        <p:txBody>
          <a:bodyPr wrap="square" lIns="0" tIns="0" rIns="0" bIns="0" anchor="t">
            <a:spAutoFit/>
          </a:bodyPr>
          <a:lstStyle/>
          <a:p>
            <a:pPr algn="l">
              <a:lnSpc>
                <a:spcPct val="135000"/>
              </a:lnSpc>
            </a:pPr>
            <a:r>
              <a:rPr sz="1400" b="0" i="0" dirty="0" err="1">
                <a:solidFill>
                  <a:srgbClr val="2B3440"/>
                </a:solidFill>
                <a:latin typeface="Calibri"/>
              </a:rPr>
              <a:t>Solventum</a:t>
            </a:r>
            <a:r>
              <a:rPr sz="1400" b="0" i="0" dirty="0">
                <a:solidFill>
                  <a:srgbClr val="2B3440"/>
                </a:solidFill>
                <a:latin typeface="Calibri"/>
              </a:rPr>
              <a:t> </a:t>
            </a:r>
            <a:r>
              <a:rPr sz="1400" b="0" i="0" dirty="0" err="1">
                <a:solidFill>
                  <a:srgbClr val="2B3440"/>
                </a:solidFill>
                <a:latin typeface="Calibri"/>
              </a:rPr>
              <a:t>Việt</a:t>
            </a:r>
            <a:r>
              <a:rPr sz="1400" b="0" i="0" dirty="0">
                <a:solidFill>
                  <a:srgbClr val="2B3440"/>
                </a:solidFill>
                <a:latin typeface="Calibri"/>
              </a:rPr>
              <a:t> Nam </a:t>
            </a:r>
            <a:r>
              <a:rPr sz="1400" b="0" i="0" dirty="0" err="1">
                <a:solidFill>
                  <a:srgbClr val="2B3440"/>
                </a:solidFill>
                <a:latin typeface="Calibri"/>
              </a:rPr>
              <a:t>là</a:t>
            </a:r>
            <a:r>
              <a:rPr sz="1400" b="0" i="0" dirty="0">
                <a:solidFill>
                  <a:srgbClr val="2B3440"/>
                </a:solidFill>
                <a:latin typeface="Calibri"/>
              </a:rPr>
              <a:t> </a:t>
            </a:r>
            <a:r>
              <a:rPr sz="1400" b="0" i="0" dirty="0" err="1">
                <a:solidFill>
                  <a:srgbClr val="2B3440"/>
                </a:solidFill>
                <a:latin typeface="Calibri"/>
              </a:rPr>
              <a:t>thành</a:t>
            </a:r>
            <a:r>
              <a:rPr sz="1400" b="0" i="0" dirty="0">
                <a:solidFill>
                  <a:srgbClr val="2B3440"/>
                </a:solidFill>
                <a:latin typeface="Calibri"/>
              </a:rPr>
              <a:t> </a:t>
            </a:r>
            <a:r>
              <a:rPr sz="1400" b="0" i="0" dirty="0" err="1">
                <a:solidFill>
                  <a:srgbClr val="2B3440"/>
                </a:solidFill>
                <a:latin typeface="Calibri"/>
              </a:rPr>
              <a:t>viên</a:t>
            </a:r>
            <a:r>
              <a:rPr sz="1400" b="0" i="0" dirty="0">
                <a:solidFill>
                  <a:srgbClr val="2B3440"/>
                </a:solidFill>
                <a:latin typeface="Calibri"/>
              </a:rPr>
              <a:t> </a:t>
            </a:r>
            <a:r>
              <a:rPr sz="1400" b="0" i="0" dirty="0" err="1">
                <a:solidFill>
                  <a:srgbClr val="2B3440"/>
                </a:solidFill>
                <a:latin typeface="Calibri"/>
              </a:rPr>
              <a:t>của</a:t>
            </a:r>
            <a:r>
              <a:rPr sz="1400" b="0" i="0" dirty="0">
                <a:solidFill>
                  <a:srgbClr val="2B3440"/>
                </a:solidFill>
                <a:latin typeface="Calibri"/>
              </a:rPr>
              <a:t> </a:t>
            </a:r>
            <a:r>
              <a:rPr sz="1400" b="0" i="0" dirty="0" err="1">
                <a:solidFill>
                  <a:srgbClr val="2B3440"/>
                </a:solidFill>
                <a:latin typeface="Calibri"/>
              </a:rPr>
              <a:t>Solventum</a:t>
            </a:r>
            <a:r>
              <a:rPr sz="1400" b="0" i="0" dirty="0">
                <a:solidFill>
                  <a:srgbClr val="2B3440"/>
                </a:solidFill>
                <a:latin typeface="Calibri"/>
              </a:rPr>
              <a:t> Corporation — </a:t>
            </a:r>
            <a:r>
              <a:rPr sz="1400" b="0" i="0" dirty="0" err="1">
                <a:solidFill>
                  <a:srgbClr val="2B3440"/>
                </a:solidFill>
                <a:latin typeface="Calibri"/>
              </a:rPr>
              <a:t>tập</a:t>
            </a:r>
            <a:r>
              <a:rPr sz="1400" b="0" i="0" dirty="0">
                <a:solidFill>
                  <a:srgbClr val="2B3440"/>
                </a:solidFill>
                <a:latin typeface="Calibri"/>
              </a:rPr>
              <a:t> </a:t>
            </a:r>
            <a:r>
              <a:rPr sz="1400" b="0" i="0" dirty="0" err="1">
                <a:solidFill>
                  <a:srgbClr val="2B3440"/>
                </a:solidFill>
                <a:latin typeface="Calibri"/>
              </a:rPr>
              <a:t>đoàn</a:t>
            </a:r>
            <a:r>
              <a:rPr sz="1400" b="0" i="0" dirty="0">
                <a:solidFill>
                  <a:srgbClr val="2B3440"/>
                </a:solidFill>
                <a:latin typeface="Calibri"/>
              </a:rPr>
              <a:t> </a:t>
            </a:r>
            <a:r>
              <a:rPr sz="1400" b="0" i="0" dirty="0" err="1">
                <a:solidFill>
                  <a:srgbClr val="2B3440"/>
                </a:solidFill>
                <a:latin typeface="Calibri"/>
              </a:rPr>
              <a:t>công</a:t>
            </a:r>
            <a:r>
              <a:rPr sz="1400" b="0" i="0" dirty="0">
                <a:solidFill>
                  <a:srgbClr val="2B3440"/>
                </a:solidFill>
                <a:latin typeface="Calibri"/>
              </a:rPr>
              <a:t> </a:t>
            </a:r>
            <a:r>
              <a:rPr sz="1400" b="0" i="0" dirty="0" err="1">
                <a:solidFill>
                  <a:srgbClr val="2B3440"/>
                </a:solidFill>
                <a:latin typeface="Calibri"/>
              </a:rPr>
              <a:t>nghệ</a:t>
            </a:r>
            <a:r>
              <a:rPr sz="1400" b="0" i="0" dirty="0">
                <a:solidFill>
                  <a:srgbClr val="2B3440"/>
                </a:solidFill>
                <a:latin typeface="Calibri"/>
              </a:rPr>
              <a:t> </a:t>
            </a:r>
            <a:r>
              <a:rPr sz="1400" b="0" i="0" dirty="0" err="1">
                <a:solidFill>
                  <a:srgbClr val="2B3440"/>
                </a:solidFill>
                <a:latin typeface="Calibri"/>
              </a:rPr>
              <a:t>chăm</a:t>
            </a:r>
            <a:r>
              <a:rPr sz="1400" b="0" i="0" dirty="0">
                <a:solidFill>
                  <a:srgbClr val="2B3440"/>
                </a:solidFill>
                <a:latin typeface="Calibri"/>
              </a:rPr>
              <a:t> </a:t>
            </a:r>
            <a:r>
              <a:rPr sz="1400" b="0" i="0" dirty="0" err="1">
                <a:solidFill>
                  <a:srgbClr val="2B3440"/>
                </a:solidFill>
                <a:latin typeface="Calibri"/>
              </a:rPr>
              <a:t>sóc</a:t>
            </a:r>
            <a:r>
              <a:rPr sz="1400" b="0" i="0" dirty="0">
                <a:solidFill>
                  <a:srgbClr val="2B3440"/>
                </a:solidFill>
                <a:latin typeface="Calibri"/>
              </a:rPr>
              <a:t> </a:t>
            </a:r>
            <a:r>
              <a:rPr sz="1400" b="0" i="0" dirty="0" err="1">
                <a:solidFill>
                  <a:srgbClr val="2B3440"/>
                </a:solidFill>
                <a:latin typeface="Calibri"/>
              </a:rPr>
              <a:t>sức</a:t>
            </a:r>
            <a:r>
              <a:rPr sz="1400" b="0" i="0" dirty="0">
                <a:solidFill>
                  <a:srgbClr val="2B3440"/>
                </a:solidFill>
                <a:latin typeface="Calibri"/>
              </a:rPr>
              <a:t> </a:t>
            </a:r>
            <a:r>
              <a:rPr sz="1400" b="0" i="0" dirty="0" err="1">
                <a:solidFill>
                  <a:srgbClr val="2B3440"/>
                </a:solidFill>
                <a:latin typeface="Calibri"/>
              </a:rPr>
              <a:t>khỏe</a:t>
            </a:r>
            <a:r>
              <a:rPr sz="1400" b="0" i="0" dirty="0">
                <a:solidFill>
                  <a:srgbClr val="2B3440"/>
                </a:solidFill>
                <a:latin typeface="Calibri"/>
              </a:rPr>
              <a:t> </a:t>
            </a:r>
            <a:r>
              <a:rPr sz="1400" b="0" i="0" dirty="0" err="1">
                <a:solidFill>
                  <a:srgbClr val="2B3440"/>
                </a:solidFill>
                <a:latin typeface="Calibri"/>
              </a:rPr>
              <a:t>có</a:t>
            </a:r>
            <a:r>
              <a:rPr sz="1400" b="0" i="0" dirty="0">
                <a:solidFill>
                  <a:srgbClr val="2B3440"/>
                </a:solidFill>
                <a:latin typeface="Calibri"/>
              </a:rPr>
              <a:t> </a:t>
            </a:r>
            <a:r>
              <a:rPr sz="1400" b="0" i="0" dirty="0" err="1">
                <a:solidFill>
                  <a:srgbClr val="2B3440"/>
                </a:solidFill>
                <a:latin typeface="Calibri"/>
              </a:rPr>
              <a:t>trụ</a:t>
            </a:r>
            <a:r>
              <a:rPr sz="1400" b="0" i="0" dirty="0">
                <a:solidFill>
                  <a:srgbClr val="2B3440"/>
                </a:solidFill>
                <a:latin typeface="Calibri"/>
              </a:rPr>
              <a:t> </a:t>
            </a:r>
            <a:r>
              <a:rPr sz="1400" b="0" i="0" dirty="0" err="1">
                <a:solidFill>
                  <a:srgbClr val="2B3440"/>
                </a:solidFill>
                <a:latin typeface="Calibri"/>
              </a:rPr>
              <a:t>sở</a:t>
            </a:r>
            <a:r>
              <a:rPr sz="1400" b="0" i="0" dirty="0">
                <a:solidFill>
                  <a:srgbClr val="2B3440"/>
                </a:solidFill>
                <a:latin typeface="Calibri"/>
              </a:rPr>
              <a:t> </a:t>
            </a:r>
            <a:r>
              <a:rPr sz="1400" b="0" i="0" dirty="0" err="1">
                <a:solidFill>
                  <a:srgbClr val="2B3440"/>
                </a:solidFill>
                <a:latin typeface="Calibri"/>
              </a:rPr>
              <a:t>tại</a:t>
            </a:r>
            <a:r>
              <a:rPr sz="1400" b="0" i="0" dirty="0">
                <a:solidFill>
                  <a:srgbClr val="2B3440"/>
                </a:solidFill>
                <a:latin typeface="Calibri"/>
              </a:rPr>
              <a:t> </a:t>
            </a:r>
            <a:r>
              <a:rPr sz="1400" b="0" i="0" dirty="0" err="1">
                <a:solidFill>
                  <a:srgbClr val="2B3440"/>
                </a:solidFill>
                <a:latin typeface="Calibri"/>
              </a:rPr>
              <a:t>Hoa</a:t>
            </a:r>
            <a:r>
              <a:rPr sz="1400" b="0" i="0" dirty="0">
                <a:solidFill>
                  <a:srgbClr val="2B3440"/>
                </a:solidFill>
                <a:latin typeface="Calibri"/>
              </a:rPr>
              <a:t> </a:t>
            </a:r>
            <a:r>
              <a:rPr sz="1400" b="0" i="0" dirty="0" err="1">
                <a:solidFill>
                  <a:srgbClr val="2B3440"/>
                </a:solidFill>
                <a:latin typeface="Calibri"/>
              </a:rPr>
              <a:t>Kỳ</a:t>
            </a:r>
            <a:r>
              <a:rPr sz="1400" b="0" i="0" dirty="0">
                <a:solidFill>
                  <a:srgbClr val="2B3440"/>
                </a:solidFill>
                <a:latin typeface="Calibri"/>
              </a:rPr>
              <a:t>. </a:t>
            </a:r>
            <a:r>
              <a:rPr sz="1400" b="0" i="0" dirty="0" err="1">
                <a:solidFill>
                  <a:srgbClr val="2B3440"/>
                </a:solidFill>
                <a:latin typeface="Calibri"/>
              </a:rPr>
              <a:t>Doanh</a:t>
            </a:r>
            <a:r>
              <a:rPr sz="1400" b="0" i="0" dirty="0">
                <a:solidFill>
                  <a:srgbClr val="2B3440"/>
                </a:solidFill>
                <a:latin typeface="Calibri"/>
              </a:rPr>
              <a:t> </a:t>
            </a:r>
            <a:r>
              <a:rPr sz="1400" b="0" i="0" dirty="0" err="1">
                <a:solidFill>
                  <a:srgbClr val="2B3440"/>
                </a:solidFill>
                <a:latin typeface="Calibri"/>
              </a:rPr>
              <a:t>nghiệp</a:t>
            </a:r>
            <a:r>
              <a:rPr sz="1400" b="0" i="0" dirty="0">
                <a:solidFill>
                  <a:srgbClr val="2B3440"/>
                </a:solidFill>
                <a:latin typeface="Calibri"/>
              </a:rPr>
              <a:t> </a:t>
            </a:r>
            <a:r>
              <a:rPr sz="1400" b="0" i="0" dirty="0" err="1">
                <a:solidFill>
                  <a:srgbClr val="2B3440"/>
                </a:solidFill>
                <a:latin typeface="Calibri"/>
              </a:rPr>
              <a:t>được</a:t>
            </a:r>
            <a:r>
              <a:rPr sz="1400" b="0" i="0" dirty="0">
                <a:solidFill>
                  <a:srgbClr val="2B3440"/>
                </a:solidFill>
                <a:latin typeface="Calibri"/>
              </a:rPr>
              <a:t> </a:t>
            </a:r>
            <a:r>
              <a:rPr sz="1400" b="0" i="0" dirty="0" err="1">
                <a:solidFill>
                  <a:srgbClr val="2B3440"/>
                </a:solidFill>
                <a:latin typeface="Calibri"/>
              </a:rPr>
              <a:t>hình</a:t>
            </a:r>
            <a:r>
              <a:rPr sz="1400" b="0" i="0" dirty="0">
                <a:solidFill>
                  <a:srgbClr val="2B3440"/>
                </a:solidFill>
                <a:latin typeface="Calibri"/>
              </a:rPr>
              <a:t> </a:t>
            </a:r>
            <a:r>
              <a:rPr sz="1400" b="0" i="0" dirty="0" err="1">
                <a:solidFill>
                  <a:srgbClr val="2B3440"/>
                </a:solidFill>
                <a:latin typeface="Calibri"/>
              </a:rPr>
              <a:t>thành</a:t>
            </a:r>
            <a:r>
              <a:rPr sz="1400" b="0" i="0" dirty="0">
                <a:solidFill>
                  <a:srgbClr val="2B3440"/>
                </a:solidFill>
                <a:latin typeface="Calibri"/>
              </a:rPr>
              <a:t> </a:t>
            </a:r>
            <a:r>
              <a:rPr sz="1400" b="0" i="0" dirty="0" err="1">
                <a:solidFill>
                  <a:srgbClr val="2B3440"/>
                </a:solidFill>
                <a:latin typeface="Calibri"/>
              </a:rPr>
              <a:t>trên</a:t>
            </a:r>
            <a:r>
              <a:rPr sz="1400" b="0" i="0" dirty="0">
                <a:solidFill>
                  <a:srgbClr val="2B3440"/>
                </a:solidFill>
                <a:latin typeface="Calibri"/>
              </a:rPr>
              <a:t> </a:t>
            </a:r>
            <a:r>
              <a:rPr sz="1400" b="0" i="0" dirty="0" err="1">
                <a:solidFill>
                  <a:srgbClr val="2B3440"/>
                </a:solidFill>
                <a:latin typeface="Calibri"/>
              </a:rPr>
              <a:t>nền</a:t>
            </a:r>
            <a:r>
              <a:rPr sz="1400" b="0" i="0" dirty="0">
                <a:solidFill>
                  <a:srgbClr val="2B3440"/>
                </a:solidFill>
                <a:latin typeface="Calibri"/>
              </a:rPr>
              <a:t> </a:t>
            </a:r>
            <a:r>
              <a:rPr sz="1400" b="0" i="0" dirty="0" err="1">
                <a:solidFill>
                  <a:srgbClr val="2B3440"/>
                </a:solidFill>
                <a:latin typeface="Calibri"/>
              </a:rPr>
              <a:t>tảng</a:t>
            </a:r>
            <a:r>
              <a:rPr sz="1400" b="0" i="0" dirty="0">
                <a:solidFill>
                  <a:srgbClr val="2B3440"/>
                </a:solidFill>
                <a:latin typeface="Calibri"/>
              </a:rPr>
              <a:t> </a:t>
            </a:r>
            <a:r>
              <a:rPr sz="1400" b="0" i="0" dirty="0" err="1">
                <a:solidFill>
                  <a:srgbClr val="2B3440"/>
                </a:solidFill>
                <a:latin typeface="Calibri"/>
              </a:rPr>
              <a:t>khối</a:t>
            </a:r>
            <a:r>
              <a:rPr sz="1400" b="0" i="0" dirty="0">
                <a:solidFill>
                  <a:srgbClr val="2B3440"/>
                </a:solidFill>
                <a:latin typeface="Calibri"/>
              </a:rPr>
              <a:t> </a:t>
            </a:r>
            <a:r>
              <a:rPr sz="1400" b="0" i="0" dirty="0" err="1">
                <a:solidFill>
                  <a:srgbClr val="2B3440"/>
                </a:solidFill>
                <a:latin typeface="Calibri"/>
              </a:rPr>
              <a:t>Chăm</a:t>
            </a:r>
            <a:r>
              <a:rPr sz="1400" b="0" i="0" dirty="0">
                <a:solidFill>
                  <a:srgbClr val="2B3440"/>
                </a:solidFill>
                <a:latin typeface="Calibri"/>
              </a:rPr>
              <a:t> </a:t>
            </a:r>
            <a:r>
              <a:rPr sz="1400" b="0" i="0" dirty="0" err="1">
                <a:solidFill>
                  <a:srgbClr val="2B3440"/>
                </a:solidFill>
                <a:latin typeface="Calibri"/>
              </a:rPr>
              <a:t>sóc</a:t>
            </a:r>
            <a:r>
              <a:rPr sz="1400" b="0" i="0" dirty="0">
                <a:solidFill>
                  <a:srgbClr val="2B3440"/>
                </a:solidFill>
                <a:latin typeface="Calibri"/>
              </a:rPr>
              <a:t> </a:t>
            </a:r>
            <a:r>
              <a:rPr sz="1400" b="0" i="0" dirty="0" err="1">
                <a:solidFill>
                  <a:srgbClr val="2B3440"/>
                </a:solidFill>
                <a:latin typeface="Calibri"/>
              </a:rPr>
              <a:t>sức</a:t>
            </a:r>
            <a:r>
              <a:rPr sz="1400" b="0" i="0" dirty="0">
                <a:solidFill>
                  <a:srgbClr val="2B3440"/>
                </a:solidFill>
                <a:latin typeface="Calibri"/>
              </a:rPr>
              <a:t> </a:t>
            </a:r>
            <a:r>
              <a:rPr sz="1400" b="0" i="0" dirty="0" err="1">
                <a:solidFill>
                  <a:srgbClr val="2B3440"/>
                </a:solidFill>
                <a:latin typeface="Calibri"/>
              </a:rPr>
              <a:t>khỏe</a:t>
            </a:r>
            <a:r>
              <a:rPr sz="1400" b="0" i="0" dirty="0">
                <a:solidFill>
                  <a:srgbClr val="2B3440"/>
                </a:solidFill>
                <a:latin typeface="Calibri"/>
              </a:rPr>
              <a:t> </a:t>
            </a:r>
            <a:r>
              <a:rPr sz="1400" b="0" i="0" dirty="0" err="1">
                <a:solidFill>
                  <a:srgbClr val="2B3440"/>
                </a:solidFill>
                <a:latin typeface="Calibri"/>
              </a:rPr>
              <a:t>của</a:t>
            </a:r>
            <a:r>
              <a:rPr sz="1400" b="0" i="0" dirty="0">
                <a:solidFill>
                  <a:srgbClr val="2B3440"/>
                </a:solidFill>
                <a:latin typeface="Calibri"/>
              </a:rPr>
              <a:t> </a:t>
            </a:r>
            <a:r>
              <a:rPr sz="1400" b="0" i="0" dirty="0" err="1">
                <a:solidFill>
                  <a:srgbClr val="2B3440"/>
                </a:solidFill>
                <a:latin typeface="Calibri"/>
              </a:rPr>
              <a:t>Tập</a:t>
            </a:r>
            <a:r>
              <a:rPr sz="1400" b="0" i="0" dirty="0">
                <a:solidFill>
                  <a:srgbClr val="2B3440"/>
                </a:solidFill>
                <a:latin typeface="Calibri"/>
              </a:rPr>
              <a:t> </a:t>
            </a:r>
            <a:r>
              <a:rPr sz="1400" b="0" i="0" dirty="0" err="1">
                <a:solidFill>
                  <a:srgbClr val="2B3440"/>
                </a:solidFill>
                <a:latin typeface="Calibri"/>
              </a:rPr>
              <a:t>đoàn</a:t>
            </a:r>
            <a:r>
              <a:rPr sz="1400" b="0" i="0" dirty="0">
                <a:solidFill>
                  <a:srgbClr val="2B3440"/>
                </a:solidFill>
                <a:latin typeface="Calibri"/>
              </a:rPr>
              <a:t> 3M </a:t>
            </a:r>
            <a:r>
              <a:rPr sz="1400" b="0" i="0" dirty="0" err="1">
                <a:solidFill>
                  <a:srgbClr val="2B3440"/>
                </a:solidFill>
                <a:latin typeface="Calibri"/>
              </a:rPr>
              <a:t>và</a:t>
            </a:r>
            <a:r>
              <a:rPr sz="1400" b="0" i="0" dirty="0">
                <a:solidFill>
                  <a:srgbClr val="2B3440"/>
                </a:solidFill>
                <a:latin typeface="Calibri"/>
              </a:rPr>
              <a:t> </a:t>
            </a:r>
            <a:r>
              <a:rPr sz="1400" b="0" i="0" dirty="0" err="1">
                <a:solidFill>
                  <a:srgbClr val="2B3440"/>
                </a:solidFill>
                <a:latin typeface="Calibri"/>
              </a:rPr>
              <a:t>chính</a:t>
            </a:r>
            <a:r>
              <a:rPr sz="1400" b="0" i="0" dirty="0">
                <a:solidFill>
                  <a:srgbClr val="2B3440"/>
                </a:solidFill>
                <a:latin typeface="Calibri"/>
              </a:rPr>
              <a:t> </a:t>
            </a:r>
            <a:r>
              <a:rPr sz="1400" b="0" i="0" dirty="0" err="1">
                <a:solidFill>
                  <a:srgbClr val="2B3440"/>
                </a:solidFill>
                <a:latin typeface="Calibri"/>
              </a:rPr>
              <a:t>thức</a:t>
            </a:r>
            <a:r>
              <a:rPr sz="1400" b="0" i="0" dirty="0">
                <a:solidFill>
                  <a:srgbClr val="2B3440"/>
                </a:solidFill>
                <a:latin typeface="Calibri"/>
              </a:rPr>
              <a:t> </a:t>
            </a:r>
            <a:r>
              <a:rPr sz="1400" b="0" i="0" dirty="0" err="1">
                <a:solidFill>
                  <a:srgbClr val="2B3440"/>
                </a:solidFill>
                <a:latin typeface="Calibri"/>
              </a:rPr>
              <a:t>hoạt</a:t>
            </a:r>
            <a:r>
              <a:rPr sz="1400" b="0" i="0" dirty="0">
                <a:solidFill>
                  <a:srgbClr val="2B3440"/>
                </a:solidFill>
                <a:latin typeface="Calibri"/>
              </a:rPr>
              <a:t> </a:t>
            </a:r>
            <a:r>
              <a:rPr sz="1400" b="0" i="0" dirty="0" err="1">
                <a:solidFill>
                  <a:srgbClr val="2B3440"/>
                </a:solidFill>
                <a:latin typeface="Calibri"/>
              </a:rPr>
              <a:t>động</a:t>
            </a:r>
            <a:r>
              <a:rPr sz="1400" b="0" i="0" dirty="0">
                <a:solidFill>
                  <a:srgbClr val="2B3440"/>
                </a:solidFill>
                <a:latin typeface="Calibri"/>
              </a:rPr>
              <a:t> </a:t>
            </a:r>
            <a:r>
              <a:rPr sz="1400" b="0" i="0" dirty="0" err="1">
                <a:solidFill>
                  <a:srgbClr val="2B3440"/>
                </a:solidFill>
                <a:latin typeface="Calibri"/>
              </a:rPr>
              <a:t>độc</a:t>
            </a:r>
            <a:r>
              <a:rPr sz="1400" b="0" i="0" dirty="0">
                <a:solidFill>
                  <a:srgbClr val="2B3440"/>
                </a:solidFill>
                <a:latin typeface="Calibri"/>
              </a:rPr>
              <a:t> </a:t>
            </a:r>
            <a:r>
              <a:rPr sz="1400" b="0" i="0" dirty="0" err="1">
                <a:solidFill>
                  <a:srgbClr val="2B3440"/>
                </a:solidFill>
                <a:latin typeface="Calibri"/>
              </a:rPr>
              <a:t>lập</a:t>
            </a:r>
            <a:r>
              <a:rPr sz="1400" b="0" i="0" dirty="0">
                <a:solidFill>
                  <a:srgbClr val="2B3440"/>
                </a:solidFill>
                <a:latin typeface="Calibri"/>
              </a:rPr>
              <a:t> </a:t>
            </a:r>
            <a:r>
              <a:rPr sz="1400" b="0" i="0" dirty="0" err="1">
                <a:solidFill>
                  <a:srgbClr val="2B3440"/>
                </a:solidFill>
                <a:latin typeface="Calibri"/>
              </a:rPr>
              <a:t>từ</a:t>
            </a:r>
            <a:r>
              <a:rPr sz="1400" b="0" i="0" dirty="0">
                <a:solidFill>
                  <a:srgbClr val="2B3440"/>
                </a:solidFill>
                <a:latin typeface="Calibri"/>
              </a:rPr>
              <a:t> 01/04/2024. </a:t>
            </a:r>
            <a:r>
              <a:rPr sz="1400" b="0" i="0" dirty="0" err="1">
                <a:solidFill>
                  <a:srgbClr val="2B3440"/>
                </a:solidFill>
                <a:latin typeface="Calibri"/>
              </a:rPr>
              <a:t>Tại</a:t>
            </a:r>
            <a:r>
              <a:rPr sz="1400" b="0" i="0" dirty="0">
                <a:solidFill>
                  <a:srgbClr val="2B3440"/>
                </a:solidFill>
                <a:latin typeface="Calibri"/>
              </a:rPr>
              <a:t> </a:t>
            </a:r>
            <a:r>
              <a:rPr sz="1400" b="0" i="0" dirty="0" err="1">
                <a:solidFill>
                  <a:srgbClr val="2B3440"/>
                </a:solidFill>
                <a:latin typeface="Calibri"/>
              </a:rPr>
              <a:t>Việt</a:t>
            </a:r>
            <a:r>
              <a:rPr sz="1400" b="0" i="0" dirty="0">
                <a:solidFill>
                  <a:srgbClr val="2B3440"/>
                </a:solidFill>
                <a:latin typeface="Calibri"/>
              </a:rPr>
              <a:t> Nam, </a:t>
            </a:r>
            <a:r>
              <a:rPr sz="1400" b="0" i="0" dirty="0" err="1">
                <a:solidFill>
                  <a:srgbClr val="2B3440"/>
                </a:solidFill>
                <a:latin typeface="Calibri"/>
              </a:rPr>
              <a:t>công</a:t>
            </a:r>
            <a:r>
              <a:rPr sz="1400" b="0" i="0" dirty="0">
                <a:solidFill>
                  <a:srgbClr val="2B3440"/>
                </a:solidFill>
                <a:latin typeface="Calibri"/>
              </a:rPr>
              <a:t> ty </a:t>
            </a:r>
            <a:r>
              <a:rPr sz="1400" b="0" i="0" dirty="0" err="1">
                <a:solidFill>
                  <a:srgbClr val="2B3440"/>
                </a:solidFill>
                <a:latin typeface="Calibri"/>
              </a:rPr>
              <a:t>kế</a:t>
            </a:r>
            <a:r>
              <a:rPr sz="1400" b="0" i="0" dirty="0">
                <a:solidFill>
                  <a:srgbClr val="2B3440"/>
                </a:solidFill>
                <a:latin typeface="Calibri"/>
              </a:rPr>
              <a:t> </a:t>
            </a:r>
            <a:r>
              <a:rPr sz="1400" b="0" i="0" dirty="0" err="1">
                <a:solidFill>
                  <a:srgbClr val="2B3440"/>
                </a:solidFill>
                <a:latin typeface="Calibri"/>
              </a:rPr>
              <a:t>thừa</a:t>
            </a:r>
            <a:r>
              <a:rPr sz="1400" b="0" i="0" dirty="0">
                <a:solidFill>
                  <a:srgbClr val="2B3440"/>
                </a:solidFill>
                <a:latin typeface="Calibri"/>
              </a:rPr>
              <a:t> </a:t>
            </a:r>
            <a:r>
              <a:rPr sz="1400" b="0" i="0" dirty="0" err="1">
                <a:solidFill>
                  <a:srgbClr val="2B3440"/>
                </a:solidFill>
                <a:latin typeface="Calibri"/>
              </a:rPr>
              <a:t>toàn</a:t>
            </a:r>
            <a:r>
              <a:rPr sz="1400" b="0" i="0" dirty="0">
                <a:solidFill>
                  <a:srgbClr val="2B3440"/>
                </a:solidFill>
                <a:latin typeface="Calibri"/>
              </a:rPr>
              <a:t> </a:t>
            </a:r>
            <a:r>
              <a:rPr sz="1400" b="0" i="0" dirty="0" err="1">
                <a:solidFill>
                  <a:srgbClr val="2B3440"/>
                </a:solidFill>
                <a:latin typeface="Calibri"/>
              </a:rPr>
              <a:t>bộ</a:t>
            </a:r>
            <a:r>
              <a:rPr sz="1400" b="0" i="0" dirty="0">
                <a:solidFill>
                  <a:srgbClr val="2B3440"/>
                </a:solidFill>
                <a:latin typeface="Calibri"/>
              </a:rPr>
              <a:t> </a:t>
            </a:r>
            <a:r>
              <a:rPr sz="1400" b="0" i="0" dirty="0" err="1">
                <a:solidFill>
                  <a:srgbClr val="2B3440"/>
                </a:solidFill>
                <a:latin typeface="Calibri"/>
              </a:rPr>
              <a:t>hoạt</a:t>
            </a:r>
            <a:r>
              <a:rPr sz="1400" b="0" i="0" dirty="0">
                <a:solidFill>
                  <a:srgbClr val="2B3440"/>
                </a:solidFill>
                <a:latin typeface="Calibri"/>
              </a:rPr>
              <a:t> </a:t>
            </a:r>
            <a:r>
              <a:rPr sz="1400" b="0" i="0" dirty="0" err="1">
                <a:solidFill>
                  <a:srgbClr val="2B3440"/>
                </a:solidFill>
                <a:latin typeface="Calibri"/>
              </a:rPr>
              <a:t>động</a:t>
            </a:r>
            <a:r>
              <a:rPr sz="1400" b="0" i="0" dirty="0">
                <a:solidFill>
                  <a:srgbClr val="2B3440"/>
                </a:solidFill>
                <a:latin typeface="Calibri"/>
              </a:rPr>
              <a:t> </a:t>
            </a:r>
            <a:r>
              <a:rPr sz="1400" b="0" i="0" dirty="0" err="1">
                <a:solidFill>
                  <a:srgbClr val="2B3440"/>
                </a:solidFill>
                <a:latin typeface="Calibri"/>
              </a:rPr>
              <a:t>kinh</a:t>
            </a:r>
            <a:r>
              <a:rPr sz="1400" b="0" i="0" dirty="0">
                <a:solidFill>
                  <a:srgbClr val="2B3440"/>
                </a:solidFill>
                <a:latin typeface="Calibri"/>
              </a:rPr>
              <a:t> </a:t>
            </a:r>
            <a:r>
              <a:rPr sz="1400" b="0" i="0" dirty="0" err="1">
                <a:solidFill>
                  <a:srgbClr val="2B3440"/>
                </a:solidFill>
                <a:latin typeface="Calibri"/>
              </a:rPr>
              <a:t>doanh</a:t>
            </a:r>
            <a:r>
              <a:rPr sz="1400" b="0" i="0" dirty="0">
                <a:solidFill>
                  <a:srgbClr val="2B3440"/>
                </a:solidFill>
                <a:latin typeface="Calibri"/>
              </a:rPr>
              <a:t> </a:t>
            </a:r>
            <a:r>
              <a:rPr sz="1400" b="0" i="0" dirty="0" err="1">
                <a:solidFill>
                  <a:srgbClr val="2B3440"/>
                </a:solidFill>
                <a:latin typeface="Calibri"/>
              </a:rPr>
              <a:t>chăm</a:t>
            </a:r>
            <a:r>
              <a:rPr sz="1400" b="0" i="0" dirty="0">
                <a:solidFill>
                  <a:srgbClr val="2B3440"/>
                </a:solidFill>
                <a:latin typeface="Calibri"/>
              </a:rPr>
              <a:t> </a:t>
            </a:r>
            <a:r>
              <a:rPr sz="1400" b="0" i="0" dirty="0" err="1">
                <a:solidFill>
                  <a:srgbClr val="2B3440"/>
                </a:solidFill>
                <a:latin typeface="Calibri"/>
              </a:rPr>
              <a:t>sóc</a:t>
            </a:r>
            <a:r>
              <a:rPr sz="1400" b="0" i="0" dirty="0">
                <a:solidFill>
                  <a:srgbClr val="2B3440"/>
                </a:solidFill>
                <a:latin typeface="Calibri"/>
              </a:rPr>
              <a:t> </a:t>
            </a:r>
            <a:r>
              <a:rPr sz="1400" b="0" i="0" dirty="0" err="1">
                <a:solidFill>
                  <a:srgbClr val="2B3440"/>
                </a:solidFill>
                <a:latin typeface="Calibri"/>
              </a:rPr>
              <a:t>sức</a:t>
            </a:r>
            <a:r>
              <a:rPr sz="1400" b="0" i="0" dirty="0">
                <a:solidFill>
                  <a:srgbClr val="2B3440"/>
                </a:solidFill>
                <a:latin typeface="Calibri"/>
              </a:rPr>
              <a:t> </a:t>
            </a:r>
            <a:r>
              <a:rPr sz="1400" b="0" i="0" dirty="0" err="1">
                <a:solidFill>
                  <a:srgbClr val="2B3440"/>
                </a:solidFill>
                <a:latin typeface="Calibri"/>
              </a:rPr>
              <a:t>khỏe</a:t>
            </a:r>
            <a:r>
              <a:rPr sz="1400" b="0" i="0" dirty="0">
                <a:solidFill>
                  <a:srgbClr val="2B3440"/>
                </a:solidFill>
                <a:latin typeface="Calibri"/>
              </a:rPr>
              <a:t> </a:t>
            </a:r>
            <a:r>
              <a:rPr sz="1400" b="0" i="0" dirty="0" err="1">
                <a:solidFill>
                  <a:srgbClr val="2B3440"/>
                </a:solidFill>
                <a:latin typeface="Calibri"/>
              </a:rPr>
              <a:t>trước</a:t>
            </a:r>
            <a:r>
              <a:rPr sz="1400" b="0" i="0" dirty="0">
                <a:solidFill>
                  <a:srgbClr val="2B3440"/>
                </a:solidFill>
                <a:latin typeface="Calibri"/>
              </a:rPr>
              <a:t> </a:t>
            </a:r>
            <a:r>
              <a:rPr sz="1400" b="0" i="0" dirty="0" err="1">
                <a:solidFill>
                  <a:srgbClr val="2B3440"/>
                </a:solidFill>
                <a:latin typeface="Calibri"/>
              </a:rPr>
              <a:t>đây</a:t>
            </a:r>
            <a:r>
              <a:rPr sz="1400" b="0" i="0" dirty="0">
                <a:solidFill>
                  <a:srgbClr val="2B3440"/>
                </a:solidFill>
                <a:latin typeface="Calibri"/>
              </a:rPr>
              <a:t> </a:t>
            </a:r>
            <a:r>
              <a:rPr sz="1400" b="0" i="0" dirty="0" err="1">
                <a:solidFill>
                  <a:srgbClr val="2B3440"/>
                </a:solidFill>
                <a:latin typeface="Calibri"/>
              </a:rPr>
              <a:t>của</a:t>
            </a:r>
            <a:r>
              <a:rPr sz="1400" b="0" i="0" dirty="0">
                <a:solidFill>
                  <a:srgbClr val="2B3440"/>
                </a:solidFill>
                <a:latin typeface="Calibri"/>
              </a:rPr>
              <a:t> 3M.</a:t>
            </a:r>
          </a:p>
        </p:txBody>
      </p:sp>
      <p:sp>
        <p:nvSpPr>
          <p:cNvPr id="9" name="Rectangle 8"/>
          <p:cNvSpPr/>
          <p:nvPr/>
        </p:nvSpPr>
        <p:spPr>
          <a:xfrm>
            <a:off x="658368" y="2487168"/>
            <a:ext cx="2554147" cy="1481328"/>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58368" y="2487168"/>
            <a:ext cx="2554147" cy="50292"/>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2697480"/>
            <a:ext cx="2188387" cy="457200"/>
          </a:xfrm>
          <a:prstGeom prst="rect">
            <a:avLst/>
          </a:prstGeom>
          <a:noFill/>
        </p:spPr>
        <p:txBody>
          <a:bodyPr wrap="square" lIns="0" tIns="0" rIns="0" bIns="0" anchor="t">
            <a:spAutoFit/>
          </a:bodyPr>
          <a:lstStyle/>
          <a:p>
            <a:pPr algn="l">
              <a:lnSpc>
                <a:spcPct val="100000"/>
              </a:lnSpc>
            </a:pPr>
            <a:r>
              <a:rPr sz="2300" b="1" i="0">
                <a:solidFill>
                  <a:srgbClr val="0A2540"/>
                </a:solidFill>
                <a:latin typeface="Calibri"/>
              </a:rPr>
              <a:t>01/04/2024</a:t>
            </a:r>
          </a:p>
        </p:txBody>
      </p:sp>
      <p:sp>
        <p:nvSpPr>
          <p:cNvPr id="12" name="TextBox 11"/>
          <p:cNvSpPr txBox="1"/>
          <p:nvPr/>
        </p:nvSpPr>
        <p:spPr>
          <a:xfrm>
            <a:off x="859536" y="3218688"/>
            <a:ext cx="2188387" cy="444609"/>
          </a:xfrm>
          <a:prstGeom prst="rect">
            <a:avLst/>
          </a:prstGeom>
          <a:noFill/>
        </p:spPr>
        <p:txBody>
          <a:bodyPr wrap="square" lIns="0" tIns="0" rIns="0" bIns="0" anchor="t">
            <a:spAutoFit/>
          </a:bodyPr>
          <a:lstStyle/>
          <a:p>
            <a:pPr algn="l">
              <a:lnSpc>
                <a:spcPct val="125000"/>
              </a:lnSpc>
            </a:pPr>
            <a:r>
              <a:rPr sz="1200" b="0" i="0" dirty="0" err="1">
                <a:solidFill>
                  <a:srgbClr val="6B7784"/>
                </a:solidFill>
                <a:latin typeface="Calibri"/>
              </a:rPr>
              <a:t>Chính</a:t>
            </a:r>
            <a:r>
              <a:rPr sz="1200" b="0" i="0" dirty="0">
                <a:solidFill>
                  <a:srgbClr val="6B7784"/>
                </a:solidFill>
                <a:latin typeface="Calibri"/>
              </a:rPr>
              <a:t> </a:t>
            </a:r>
            <a:r>
              <a:rPr sz="1200" b="0" i="0" dirty="0" err="1">
                <a:solidFill>
                  <a:srgbClr val="6B7784"/>
                </a:solidFill>
                <a:latin typeface="Calibri"/>
              </a:rPr>
              <a:t>thức</a:t>
            </a:r>
            <a:r>
              <a:rPr sz="1200" b="0" i="0" dirty="0">
                <a:solidFill>
                  <a:srgbClr val="6B7784"/>
                </a:solidFill>
                <a:latin typeface="Calibri"/>
              </a:rPr>
              <a:t> </a:t>
            </a:r>
            <a:r>
              <a:rPr sz="1200" b="0" i="0" dirty="0" err="1">
                <a:solidFill>
                  <a:srgbClr val="6B7784"/>
                </a:solidFill>
                <a:latin typeface="Calibri"/>
              </a:rPr>
              <a:t>hoạt</a:t>
            </a:r>
            <a:r>
              <a:rPr sz="1200" b="0" i="0" dirty="0">
                <a:solidFill>
                  <a:srgbClr val="6B7784"/>
                </a:solidFill>
                <a:latin typeface="Calibri"/>
              </a:rPr>
              <a:t> </a:t>
            </a:r>
            <a:r>
              <a:rPr sz="1200" b="0" i="0" dirty="0" err="1">
                <a:solidFill>
                  <a:srgbClr val="6B7784"/>
                </a:solidFill>
                <a:latin typeface="Calibri"/>
              </a:rPr>
              <a:t>động</a:t>
            </a:r>
            <a:r>
              <a:rPr sz="1200" b="0" i="0" dirty="0">
                <a:solidFill>
                  <a:srgbClr val="6B7784"/>
                </a:solidFill>
                <a:latin typeface="Calibri"/>
              </a:rPr>
              <a:t> </a:t>
            </a:r>
            <a:r>
              <a:rPr sz="1200" b="0" i="0" dirty="0" err="1">
                <a:solidFill>
                  <a:srgbClr val="6B7784"/>
                </a:solidFill>
                <a:latin typeface="Calibri"/>
              </a:rPr>
              <a:t>độc</a:t>
            </a:r>
            <a:r>
              <a:rPr sz="1200" b="0" i="0" dirty="0">
                <a:solidFill>
                  <a:srgbClr val="6B7784"/>
                </a:solidFill>
                <a:latin typeface="Calibri"/>
              </a:rPr>
              <a:t> </a:t>
            </a:r>
            <a:r>
              <a:rPr sz="1200" b="0" i="0" dirty="0" err="1">
                <a:solidFill>
                  <a:srgbClr val="6B7784"/>
                </a:solidFill>
                <a:latin typeface="Calibri"/>
              </a:rPr>
              <a:t>lập</a:t>
            </a:r>
            <a:r>
              <a:rPr sz="1200" b="0" i="0" dirty="0">
                <a:solidFill>
                  <a:srgbClr val="6B7784"/>
                </a:solidFill>
                <a:latin typeface="Calibri"/>
              </a:rPr>
              <a:t> </a:t>
            </a:r>
            <a:r>
              <a:rPr sz="1200" b="0" i="0" dirty="0" err="1">
                <a:solidFill>
                  <a:srgbClr val="6B7784"/>
                </a:solidFill>
                <a:latin typeface="Calibri"/>
              </a:rPr>
              <a:t>sau</a:t>
            </a:r>
            <a:r>
              <a:rPr sz="1200" b="0" i="0" dirty="0">
                <a:solidFill>
                  <a:srgbClr val="6B7784"/>
                </a:solidFill>
                <a:latin typeface="Calibri"/>
              </a:rPr>
              <a:t> </a:t>
            </a:r>
            <a:r>
              <a:rPr sz="1200" b="0" i="0" dirty="0" err="1">
                <a:solidFill>
                  <a:srgbClr val="6B7784"/>
                </a:solidFill>
                <a:latin typeface="Calibri"/>
              </a:rPr>
              <a:t>khi</a:t>
            </a:r>
            <a:r>
              <a:rPr sz="1200" b="0" i="0" dirty="0">
                <a:solidFill>
                  <a:srgbClr val="6B7784"/>
                </a:solidFill>
                <a:latin typeface="Calibri"/>
              </a:rPr>
              <a:t> </a:t>
            </a:r>
            <a:r>
              <a:rPr sz="1200" b="0" i="0" dirty="0" err="1">
                <a:solidFill>
                  <a:srgbClr val="6B7784"/>
                </a:solidFill>
                <a:latin typeface="Calibri"/>
              </a:rPr>
              <a:t>hoàn</a:t>
            </a:r>
            <a:r>
              <a:rPr sz="1200" b="0" i="0" dirty="0">
                <a:solidFill>
                  <a:srgbClr val="6B7784"/>
                </a:solidFill>
                <a:latin typeface="Calibri"/>
              </a:rPr>
              <a:t> </a:t>
            </a:r>
            <a:r>
              <a:rPr sz="1200" b="0" i="0" dirty="0" err="1">
                <a:solidFill>
                  <a:srgbClr val="6B7784"/>
                </a:solidFill>
                <a:latin typeface="Calibri"/>
              </a:rPr>
              <a:t>tất</a:t>
            </a:r>
            <a:r>
              <a:rPr sz="1200" b="0" i="0" dirty="0">
                <a:solidFill>
                  <a:srgbClr val="6B7784"/>
                </a:solidFill>
                <a:latin typeface="Calibri"/>
              </a:rPr>
              <a:t> </a:t>
            </a:r>
            <a:r>
              <a:rPr sz="1200" b="0" i="0" dirty="0" err="1">
                <a:solidFill>
                  <a:srgbClr val="6B7784"/>
                </a:solidFill>
                <a:latin typeface="Calibri"/>
              </a:rPr>
              <a:t>tách</a:t>
            </a:r>
            <a:r>
              <a:rPr sz="1200" b="0" i="0" dirty="0">
                <a:solidFill>
                  <a:srgbClr val="6B7784"/>
                </a:solidFill>
                <a:latin typeface="Calibri"/>
              </a:rPr>
              <a:t> </a:t>
            </a:r>
            <a:r>
              <a:rPr sz="1200" b="0" i="0" dirty="0" err="1">
                <a:solidFill>
                  <a:srgbClr val="6B7784"/>
                </a:solidFill>
                <a:latin typeface="Calibri"/>
              </a:rPr>
              <a:t>khỏi</a:t>
            </a:r>
            <a:r>
              <a:rPr sz="1200" b="0" i="0" dirty="0">
                <a:solidFill>
                  <a:srgbClr val="6B7784"/>
                </a:solidFill>
                <a:latin typeface="Calibri"/>
              </a:rPr>
              <a:t> </a:t>
            </a:r>
            <a:r>
              <a:rPr sz="1200" b="0" i="0" dirty="0" err="1">
                <a:solidFill>
                  <a:srgbClr val="6B7784"/>
                </a:solidFill>
                <a:latin typeface="Calibri"/>
              </a:rPr>
              <a:t>Tập</a:t>
            </a:r>
            <a:r>
              <a:rPr sz="1200" b="0" i="0" dirty="0">
                <a:solidFill>
                  <a:srgbClr val="6B7784"/>
                </a:solidFill>
                <a:latin typeface="Calibri"/>
              </a:rPr>
              <a:t> </a:t>
            </a:r>
            <a:r>
              <a:rPr sz="1200" b="0" i="0" dirty="0" err="1">
                <a:solidFill>
                  <a:srgbClr val="6B7784"/>
                </a:solidFill>
                <a:latin typeface="Calibri"/>
              </a:rPr>
              <a:t>đoàn</a:t>
            </a:r>
            <a:r>
              <a:rPr sz="1200" b="0" i="0" dirty="0">
                <a:solidFill>
                  <a:srgbClr val="6B7784"/>
                </a:solidFill>
                <a:latin typeface="Calibri"/>
              </a:rPr>
              <a:t> 3M</a:t>
            </a:r>
          </a:p>
        </p:txBody>
      </p:sp>
      <p:sp>
        <p:nvSpPr>
          <p:cNvPr id="13" name="Rectangle 12"/>
          <p:cNvSpPr/>
          <p:nvPr/>
        </p:nvSpPr>
        <p:spPr>
          <a:xfrm>
            <a:off x="3431971" y="2487168"/>
            <a:ext cx="2554147" cy="1481328"/>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431971" y="2487168"/>
            <a:ext cx="2554147" cy="50292"/>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33139" y="2697480"/>
            <a:ext cx="2188387" cy="457200"/>
          </a:xfrm>
          <a:prstGeom prst="rect">
            <a:avLst/>
          </a:prstGeom>
          <a:noFill/>
        </p:spPr>
        <p:txBody>
          <a:bodyPr wrap="square" lIns="0" tIns="0" rIns="0" bIns="0" anchor="t">
            <a:spAutoFit/>
          </a:bodyPr>
          <a:lstStyle/>
          <a:p>
            <a:pPr algn="l">
              <a:lnSpc>
                <a:spcPct val="100000"/>
              </a:lnSpc>
            </a:pPr>
            <a:r>
              <a:rPr sz="2300" b="1" i="0">
                <a:solidFill>
                  <a:srgbClr val="0A2540"/>
                </a:solidFill>
                <a:latin typeface="Calibri"/>
              </a:rPr>
              <a:t>70+ năm</a:t>
            </a:r>
          </a:p>
        </p:txBody>
      </p:sp>
      <p:sp>
        <p:nvSpPr>
          <p:cNvPr id="16" name="TextBox 15"/>
          <p:cNvSpPr txBox="1"/>
          <p:nvPr/>
        </p:nvSpPr>
        <p:spPr>
          <a:xfrm>
            <a:off x="3633139" y="3218688"/>
            <a:ext cx="2188387" cy="685800"/>
          </a:xfrm>
          <a:prstGeom prst="rect">
            <a:avLst/>
          </a:prstGeom>
          <a:noFill/>
        </p:spPr>
        <p:txBody>
          <a:bodyPr wrap="square" lIns="0" tIns="0" rIns="0" bIns="0" anchor="t">
            <a:spAutoFit/>
          </a:bodyPr>
          <a:lstStyle/>
          <a:p>
            <a:pPr algn="l">
              <a:lnSpc>
                <a:spcPct val="125000"/>
              </a:lnSpc>
            </a:pPr>
            <a:r>
              <a:rPr sz="1200" b="0" i="0" dirty="0" err="1">
                <a:solidFill>
                  <a:srgbClr val="6B7784"/>
                </a:solidFill>
                <a:latin typeface="Calibri"/>
              </a:rPr>
              <a:t>Kinh</a:t>
            </a:r>
            <a:r>
              <a:rPr sz="1200" b="0" i="0" dirty="0">
                <a:solidFill>
                  <a:srgbClr val="6B7784"/>
                </a:solidFill>
                <a:latin typeface="Calibri"/>
              </a:rPr>
              <a:t> </a:t>
            </a:r>
            <a:r>
              <a:rPr sz="1200" b="0" i="0" dirty="0" err="1">
                <a:solidFill>
                  <a:srgbClr val="6B7784"/>
                </a:solidFill>
                <a:latin typeface="Calibri"/>
              </a:rPr>
              <a:t>nghiệm</a:t>
            </a:r>
            <a:r>
              <a:rPr sz="1200" b="0" i="0" dirty="0">
                <a:solidFill>
                  <a:srgbClr val="6B7784"/>
                </a:solidFill>
                <a:latin typeface="Calibri"/>
              </a:rPr>
              <a:t> y </a:t>
            </a:r>
            <a:r>
              <a:rPr sz="1200" b="0" i="0" dirty="0" err="1">
                <a:solidFill>
                  <a:srgbClr val="6B7784"/>
                </a:solidFill>
                <a:latin typeface="Calibri"/>
              </a:rPr>
              <a:t>khoa</a:t>
            </a:r>
            <a:r>
              <a:rPr sz="1200" b="0" i="0" dirty="0">
                <a:solidFill>
                  <a:srgbClr val="6B7784"/>
                </a:solidFill>
                <a:latin typeface="Calibri"/>
              </a:rPr>
              <a:t> </a:t>
            </a:r>
            <a:r>
              <a:rPr sz="1200" b="0" i="0" dirty="0" err="1">
                <a:solidFill>
                  <a:srgbClr val="6B7784"/>
                </a:solidFill>
                <a:latin typeface="Calibri"/>
              </a:rPr>
              <a:t>toàn</a:t>
            </a:r>
            <a:r>
              <a:rPr sz="1200" b="0" i="0" dirty="0">
                <a:solidFill>
                  <a:srgbClr val="6B7784"/>
                </a:solidFill>
                <a:latin typeface="Calibri"/>
              </a:rPr>
              <a:t> </a:t>
            </a:r>
            <a:r>
              <a:rPr sz="1200" b="0" i="0" dirty="0" err="1">
                <a:solidFill>
                  <a:srgbClr val="6B7784"/>
                </a:solidFill>
                <a:latin typeface="Calibri"/>
              </a:rPr>
              <a:t>cầu</a:t>
            </a:r>
            <a:r>
              <a:rPr sz="1200" b="0" i="0" dirty="0">
                <a:solidFill>
                  <a:srgbClr val="6B7784"/>
                </a:solidFill>
                <a:latin typeface="Calibri"/>
              </a:rPr>
              <a:t> </a:t>
            </a:r>
            <a:r>
              <a:rPr sz="1200" b="0" i="0" dirty="0" err="1">
                <a:solidFill>
                  <a:srgbClr val="6B7784"/>
                </a:solidFill>
                <a:latin typeface="Calibri"/>
              </a:rPr>
              <a:t>được</a:t>
            </a:r>
            <a:r>
              <a:rPr sz="1200" b="0" i="0" dirty="0">
                <a:solidFill>
                  <a:srgbClr val="6B7784"/>
                </a:solidFill>
                <a:latin typeface="Calibri"/>
              </a:rPr>
              <a:t> </a:t>
            </a:r>
            <a:r>
              <a:rPr sz="1200" b="0" i="0" dirty="0" err="1">
                <a:solidFill>
                  <a:srgbClr val="6B7784"/>
                </a:solidFill>
                <a:latin typeface="Calibri"/>
              </a:rPr>
              <a:t>kế</a:t>
            </a:r>
            <a:r>
              <a:rPr sz="1200" b="0" i="0" dirty="0">
                <a:solidFill>
                  <a:srgbClr val="6B7784"/>
                </a:solidFill>
                <a:latin typeface="Calibri"/>
              </a:rPr>
              <a:t> </a:t>
            </a:r>
            <a:r>
              <a:rPr sz="1200" b="0" i="0" dirty="0" err="1">
                <a:solidFill>
                  <a:srgbClr val="6B7784"/>
                </a:solidFill>
                <a:latin typeface="Calibri"/>
              </a:rPr>
              <a:t>thừa</a:t>
            </a:r>
            <a:r>
              <a:rPr sz="1200" b="0" i="0" dirty="0">
                <a:solidFill>
                  <a:srgbClr val="6B7784"/>
                </a:solidFill>
                <a:latin typeface="Calibri"/>
              </a:rPr>
              <a:t> </a:t>
            </a:r>
            <a:r>
              <a:rPr sz="1200" b="0" i="0" dirty="0" err="1">
                <a:solidFill>
                  <a:srgbClr val="6B7784"/>
                </a:solidFill>
                <a:latin typeface="Calibri"/>
              </a:rPr>
              <a:t>từ</a:t>
            </a:r>
            <a:r>
              <a:rPr sz="1200" b="0" i="0" dirty="0">
                <a:solidFill>
                  <a:srgbClr val="6B7784"/>
                </a:solidFill>
                <a:latin typeface="Calibri"/>
              </a:rPr>
              <a:t> </a:t>
            </a:r>
            <a:r>
              <a:rPr sz="1200" b="0" i="0" dirty="0" err="1">
                <a:solidFill>
                  <a:srgbClr val="6B7784"/>
                </a:solidFill>
                <a:latin typeface="Calibri"/>
              </a:rPr>
              <a:t>nền</a:t>
            </a:r>
            <a:r>
              <a:rPr sz="1200" b="0" i="0" dirty="0">
                <a:solidFill>
                  <a:srgbClr val="6B7784"/>
                </a:solidFill>
                <a:latin typeface="Calibri"/>
              </a:rPr>
              <a:t> </a:t>
            </a:r>
            <a:r>
              <a:rPr sz="1200" b="0" i="0" dirty="0" err="1">
                <a:solidFill>
                  <a:srgbClr val="6B7784"/>
                </a:solidFill>
                <a:latin typeface="Calibri"/>
              </a:rPr>
              <a:t>tảng</a:t>
            </a:r>
            <a:r>
              <a:rPr sz="1200" b="0" i="0" dirty="0">
                <a:solidFill>
                  <a:srgbClr val="6B7784"/>
                </a:solidFill>
                <a:latin typeface="Calibri"/>
              </a:rPr>
              <a:t> 3M Health Care</a:t>
            </a:r>
          </a:p>
        </p:txBody>
      </p:sp>
      <p:sp>
        <p:nvSpPr>
          <p:cNvPr id="17" name="Rectangle 16"/>
          <p:cNvSpPr/>
          <p:nvPr/>
        </p:nvSpPr>
        <p:spPr>
          <a:xfrm>
            <a:off x="6205575" y="2487168"/>
            <a:ext cx="2554147" cy="1481328"/>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05575" y="2487168"/>
            <a:ext cx="2554147" cy="50292"/>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6743" y="2697480"/>
            <a:ext cx="2188387" cy="457200"/>
          </a:xfrm>
          <a:prstGeom prst="rect">
            <a:avLst/>
          </a:prstGeom>
          <a:noFill/>
        </p:spPr>
        <p:txBody>
          <a:bodyPr wrap="square" lIns="0" tIns="0" rIns="0" bIns="0" anchor="t">
            <a:spAutoFit/>
          </a:bodyPr>
          <a:lstStyle/>
          <a:p>
            <a:pPr algn="l">
              <a:lnSpc>
                <a:spcPct val="100000"/>
              </a:lnSpc>
            </a:pPr>
            <a:r>
              <a:rPr sz="2300" b="1" i="0">
                <a:solidFill>
                  <a:srgbClr val="0A2540"/>
                </a:solidFill>
                <a:latin typeface="Calibri"/>
              </a:rPr>
              <a:t>03 nhóm</a:t>
            </a:r>
          </a:p>
        </p:txBody>
      </p:sp>
      <p:sp>
        <p:nvSpPr>
          <p:cNvPr id="20" name="TextBox 19"/>
          <p:cNvSpPr txBox="1"/>
          <p:nvPr/>
        </p:nvSpPr>
        <p:spPr>
          <a:xfrm>
            <a:off x="6406743" y="3218688"/>
            <a:ext cx="2188387" cy="444609"/>
          </a:xfrm>
          <a:prstGeom prst="rect">
            <a:avLst/>
          </a:prstGeom>
          <a:noFill/>
        </p:spPr>
        <p:txBody>
          <a:bodyPr wrap="square" lIns="0" tIns="0" rIns="0" bIns="0" anchor="t">
            <a:spAutoFit/>
          </a:bodyPr>
          <a:lstStyle/>
          <a:p>
            <a:pPr algn="l">
              <a:lnSpc>
                <a:spcPct val="125000"/>
              </a:lnSpc>
            </a:pPr>
            <a:r>
              <a:rPr sz="1200" b="0" i="0" dirty="0" err="1">
                <a:solidFill>
                  <a:srgbClr val="6B7784"/>
                </a:solidFill>
                <a:latin typeface="Calibri"/>
              </a:rPr>
              <a:t>Giải</a:t>
            </a:r>
            <a:r>
              <a:rPr sz="1200" b="0" i="0" dirty="0">
                <a:solidFill>
                  <a:srgbClr val="6B7784"/>
                </a:solidFill>
                <a:latin typeface="Calibri"/>
              </a:rPr>
              <a:t> </a:t>
            </a:r>
            <a:r>
              <a:rPr sz="1200" b="0" i="0" dirty="0" err="1">
                <a:solidFill>
                  <a:srgbClr val="6B7784"/>
                </a:solidFill>
                <a:latin typeface="Calibri"/>
              </a:rPr>
              <a:t>pháp</a:t>
            </a:r>
            <a:r>
              <a:rPr sz="1200" b="0" i="0" dirty="0">
                <a:solidFill>
                  <a:srgbClr val="6B7784"/>
                </a:solidFill>
                <a:latin typeface="Calibri"/>
              </a:rPr>
              <a:t> </a:t>
            </a:r>
            <a:r>
              <a:rPr sz="1200" b="0" i="0" dirty="0" err="1">
                <a:solidFill>
                  <a:srgbClr val="6B7784"/>
                </a:solidFill>
                <a:latin typeface="Calibri"/>
              </a:rPr>
              <a:t>chủ</a:t>
            </a:r>
            <a:r>
              <a:rPr sz="1200" b="0" i="0" dirty="0">
                <a:solidFill>
                  <a:srgbClr val="6B7784"/>
                </a:solidFill>
                <a:latin typeface="Calibri"/>
              </a:rPr>
              <a:t> </a:t>
            </a:r>
            <a:r>
              <a:rPr sz="1200" b="0" i="0" dirty="0" err="1">
                <a:solidFill>
                  <a:srgbClr val="6B7784"/>
                </a:solidFill>
                <a:latin typeface="Calibri"/>
              </a:rPr>
              <a:t>lực</a:t>
            </a:r>
            <a:r>
              <a:rPr sz="1200" b="0" i="0" dirty="0">
                <a:solidFill>
                  <a:srgbClr val="6B7784"/>
                </a:solidFill>
                <a:latin typeface="Calibri"/>
              </a:rPr>
              <a:t>: Y </a:t>
            </a:r>
            <a:r>
              <a:rPr sz="1200" b="0" i="0" dirty="0" err="1">
                <a:solidFill>
                  <a:srgbClr val="6B7784"/>
                </a:solidFill>
                <a:latin typeface="Calibri"/>
              </a:rPr>
              <a:t>tế</a:t>
            </a:r>
            <a:r>
              <a:rPr sz="1200" b="0" i="0" dirty="0">
                <a:solidFill>
                  <a:srgbClr val="6B7784"/>
                </a:solidFill>
                <a:latin typeface="Calibri"/>
              </a:rPr>
              <a:t> (</a:t>
            </a:r>
            <a:r>
              <a:rPr sz="1200" b="0" i="0" dirty="0" err="1">
                <a:solidFill>
                  <a:srgbClr val="6B7784"/>
                </a:solidFill>
                <a:latin typeface="Calibri"/>
              </a:rPr>
              <a:t>MedSurg</a:t>
            </a:r>
            <a:r>
              <a:rPr sz="1200" b="0" i="0" dirty="0">
                <a:solidFill>
                  <a:srgbClr val="6B7784"/>
                </a:solidFill>
                <a:latin typeface="Calibri"/>
              </a:rPr>
              <a:t>) · </a:t>
            </a:r>
            <a:r>
              <a:rPr sz="1200" b="0" i="0" dirty="0" err="1">
                <a:solidFill>
                  <a:srgbClr val="6B7784"/>
                </a:solidFill>
                <a:latin typeface="Calibri"/>
              </a:rPr>
              <a:t>Nha</a:t>
            </a:r>
            <a:r>
              <a:rPr sz="1200" b="0" i="0" dirty="0">
                <a:solidFill>
                  <a:srgbClr val="6B7784"/>
                </a:solidFill>
                <a:latin typeface="Calibri"/>
              </a:rPr>
              <a:t> </a:t>
            </a:r>
            <a:r>
              <a:rPr sz="1200" b="0" i="0" dirty="0" err="1">
                <a:solidFill>
                  <a:srgbClr val="6B7784"/>
                </a:solidFill>
                <a:latin typeface="Calibri"/>
              </a:rPr>
              <a:t>khoa</a:t>
            </a:r>
            <a:r>
              <a:rPr sz="1200" b="0" i="0" dirty="0">
                <a:solidFill>
                  <a:srgbClr val="6B7784"/>
                </a:solidFill>
                <a:latin typeface="Calibri"/>
              </a:rPr>
              <a:t> · </a:t>
            </a:r>
            <a:r>
              <a:rPr sz="1200" b="0" i="0" dirty="0" err="1">
                <a:solidFill>
                  <a:srgbClr val="6B7784"/>
                </a:solidFill>
                <a:latin typeface="Calibri"/>
              </a:rPr>
              <a:t>Lọc</a:t>
            </a:r>
            <a:r>
              <a:rPr sz="1200" b="0" i="0" dirty="0">
                <a:solidFill>
                  <a:srgbClr val="6B7784"/>
                </a:solidFill>
                <a:latin typeface="Calibri"/>
              </a:rPr>
              <a:t> </a:t>
            </a:r>
            <a:r>
              <a:rPr sz="1200" b="0" i="0" dirty="0" err="1">
                <a:solidFill>
                  <a:srgbClr val="6B7784"/>
                </a:solidFill>
                <a:latin typeface="Calibri"/>
              </a:rPr>
              <a:t>nước</a:t>
            </a:r>
            <a:r>
              <a:rPr sz="1200" b="0" i="0" dirty="0">
                <a:solidFill>
                  <a:srgbClr val="6B7784"/>
                </a:solidFill>
                <a:latin typeface="Calibri"/>
              </a:rPr>
              <a:t> </a:t>
            </a:r>
            <a:r>
              <a:rPr sz="1200" b="0" i="0" dirty="0" err="1">
                <a:solidFill>
                  <a:srgbClr val="6B7784"/>
                </a:solidFill>
                <a:latin typeface="Calibri"/>
              </a:rPr>
              <a:t>chuyên</a:t>
            </a:r>
            <a:r>
              <a:rPr sz="1200" b="0" i="0" dirty="0">
                <a:solidFill>
                  <a:srgbClr val="6B7784"/>
                </a:solidFill>
                <a:latin typeface="Calibri"/>
              </a:rPr>
              <a:t> </a:t>
            </a:r>
            <a:r>
              <a:rPr sz="1200" b="0" i="0" dirty="0" err="1">
                <a:solidFill>
                  <a:srgbClr val="6B7784"/>
                </a:solidFill>
                <a:latin typeface="Calibri"/>
              </a:rPr>
              <a:t>dụng</a:t>
            </a:r>
            <a:endParaRPr sz="1200" b="0" i="0" dirty="0">
              <a:solidFill>
                <a:srgbClr val="6B7784"/>
              </a:solidFill>
              <a:latin typeface="Calibri"/>
            </a:endParaRPr>
          </a:p>
        </p:txBody>
      </p:sp>
      <p:sp>
        <p:nvSpPr>
          <p:cNvPr id="21" name="Rectangle 20"/>
          <p:cNvSpPr/>
          <p:nvPr/>
        </p:nvSpPr>
        <p:spPr>
          <a:xfrm>
            <a:off x="8979179" y="2487168"/>
            <a:ext cx="2554147" cy="1481328"/>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979179" y="2487168"/>
            <a:ext cx="2554147" cy="50292"/>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80347" y="2697480"/>
            <a:ext cx="2188387" cy="457200"/>
          </a:xfrm>
          <a:prstGeom prst="rect">
            <a:avLst/>
          </a:prstGeom>
          <a:noFill/>
        </p:spPr>
        <p:txBody>
          <a:bodyPr wrap="square" lIns="0" tIns="0" rIns="0" bIns="0" anchor="t">
            <a:spAutoFit/>
          </a:bodyPr>
          <a:lstStyle/>
          <a:p>
            <a:pPr algn="l">
              <a:lnSpc>
                <a:spcPct val="100000"/>
              </a:lnSpc>
            </a:pPr>
            <a:r>
              <a:rPr sz="2300" b="1" i="0">
                <a:solidFill>
                  <a:srgbClr val="0A2540"/>
                </a:solidFill>
                <a:latin typeface="Calibri"/>
              </a:rPr>
              <a:t>B2B</a:t>
            </a:r>
          </a:p>
        </p:txBody>
      </p:sp>
      <p:sp>
        <p:nvSpPr>
          <p:cNvPr id="24" name="TextBox 23"/>
          <p:cNvSpPr txBox="1"/>
          <p:nvPr/>
        </p:nvSpPr>
        <p:spPr>
          <a:xfrm>
            <a:off x="9180347" y="3218688"/>
            <a:ext cx="2188387" cy="685800"/>
          </a:xfrm>
          <a:prstGeom prst="rect">
            <a:avLst/>
          </a:prstGeom>
          <a:noFill/>
        </p:spPr>
        <p:txBody>
          <a:bodyPr wrap="square" lIns="0" tIns="0" rIns="0" bIns="0" anchor="t">
            <a:spAutoFit/>
          </a:bodyPr>
          <a:lstStyle/>
          <a:p>
            <a:pPr algn="l">
              <a:lnSpc>
                <a:spcPct val="125000"/>
              </a:lnSpc>
            </a:pPr>
            <a:r>
              <a:rPr sz="1200" b="0" i="0" dirty="0" err="1">
                <a:solidFill>
                  <a:srgbClr val="6B7784"/>
                </a:solidFill>
                <a:latin typeface="Calibri"/>
              </a:rPr>
              <a:t>Khách</a:t>
            </a:r>
            <a:r>
              <a:rPr sz="1200" b="0" i="0" dirty="0">
                <a:solidFill>
                  <a:srgbClr val="6B7784"/>
                </a:solidFill>
                <a:latin typeface="Calibri"/>
              </a:rPr>
              <a:t> </a:t>
            </a:r>
            <a:r>
              <a:rPr sz="1200" b="0" i="0" dirty="0" err="1">
                <a:solidFill>
                  <a:srgbClr val="6B7784"/>
                </a:solidFill>
                <a:latin typeface="Calibri"/>
              </a:rPr>
              <a:t>hàng</a:t>
            </a:r>
            <a:r>
              <a:rPr sz="1200" b="0" i="0" dirty="0">
                <a:solidFill>
                  <a:srgbClr val="6B7784"/>
                </a:solidFill>
                <a:latin typeface="Calibri"/>
              </a:rPr>
              <a:t> </a:t>
            </a:r>
            <a:r>
              <a:rPr sz="1200" b="0" i="0" dirty="0" err="1">
                <a:solidFill>
                  <a:srgbClr val="6B7784"/>
                </a:solidFill>
                <a:latin typeface="Calibri"/>
              </a:rPr>
              <a:t>là</a:t>
            </a:r>
            <a:r>
              <a:rPr sz="1200" b="0" i="0" dirty="0">
                <a:solidFill>
                  <a:srgbClr val="6B7784"/>
                </a:solidFill>
                <a:latin typeface="Calibri"/>
              </a:rPr>
              <a:t> </a:t>
            </a:r>
            <a:r>
              <a:rPr sz="1200" b="0" i="0" dirty="0" err="1">
                <a:solidFill>
                  <a:srgbClr val="6B7784"/>
                </a:solidFill>
                <a:latin typeface="Calibri"/>
              </a:rPr>
              <a:t>bệnh</a:t>
            </a:r>
            <a:r>
              <a:rPr sz="1200" b="0" i="0" dirty="0">
                <a:solidFill>
                  <a:srgbClr val="6B7784"/>
                </a:solidFill>
                <a:latin typeface="Calibri"/>
              </a:rPr>
              <a:t> </a:t>
            </a:r>
            <a:r>
              <a:rPr sz="1200" b="0" i="0" dirty="0" err="1">
                <a:solidFill>
                  <a:srgbClr val="6B7784"/>
                </a:solidFill>
                <a:latin typeface="Calibri"/>
              </a:rPr>
              <a:t>viện</a:t>
            </a:r>
            <a:r>
              <a:rPr sz="1200" b="0" i="0" dirty="0">
                <a:solidFill>
                  <a:srgbClr val="6B7784"/>
                </a:solidFill>
                <a:latin typeface="Calibri"/>
              </a:rPr>
              <a:t>, </a:t>
            </a:r>
            <a:r>
              <a:rPr sz="1200" b="0" i="0" dirty="0" err="1">
                <a:solidFill>
                  <a:srgbClr val="6B7784"/>
                </a:solidFill>
                <a:latin typeface="Calibri"/>
              </a:rPr>
              <a:t>phòng</a:t>
            </a:r>
            <a:r>
              <a:rPr sz="1200" b="0" i="0" dirty="0">
                <a:solidFill>
                  <a:srgbClr val="6B7784"/>
                </a:solidFill>
                <a:latin typeface="Calibri"/>
              </a:rPr>
              <a:t> </a:t>
            </a:r>
            <a:r>
              <a:rPr sz="1200" b="0" i="0" dirty="0" err="1">
                <a:solidFill>
                  <a:srgbClr val="6B7784"/>
                </a:solidFill>
                <a:latin typeface="Calibri"/>
              </a:rPr>
              <a:t>khám</a:t>
            </a:r>
            <a:r>
              <a:rPr sz="1200" b="0" i="0" dirty="0">
                <a:solidFill>
                  <a:srgbClr val="6B7784"/>
                </a:solidFill>
                <a:latin typeface="Calibri"/>
              </a:rPr>
              <a:t>, </a:t>
            </a:r>
            <a:r>
              <a:rPr sz="1200" b="0" i="0" dirty="0" err="1">
                <a:solidFill>
                  <a:srgbClr val="6B7784"/>
                </a:solidFill>
                <a:latin typeface="Calibri"/>
              </a:rPr>
              <a:t>cơ</a:t>
            </a:r>
            <a:r>
              <a:rPr sz="1200" b="0" i="0" dirty="0">
                <a:solidFill>
                  <a:srgbClr val="6B7784"/>
                </a:solidFill>
                <a:latin typeface="Calibri"/>
              </a:rPr>
              <a:t> </a:t>
            </a:r>
            <a:r>
              <a:rPr sz="1200" b="0" i="0" dirty="0" err="1">
                <a:solidFill>
                  <a:srgbClr val="6B7784"/>
                </a:solidFill>
                <a:latin typeface="Calibri"/>
              </a:rPr>
              <a:t>sở</a:t>
            </a:r>
            <a:r>
              <a:rPr sz="1200" b="0" i="0" dirty="0">
                <a:solidFill>
                  <a:srgbClr val="6B7784"/>
                </a:solidFill>
                <a:latin typeface="Calibri"/>
              </a:rPr>
              <a:t> </a:t>
            </a:r>
            <a:r>
              <a:rPr sz="1200" b="0" i="0" dirty="0" err="1">
                <a:solidFill>
                  <a:srgbClr val="6B7784"/>
                </a:solidFill>
                <a:latin typeface="Calibri"/>
              </a:rPr>
              <a:t>nha</a:t>
            </a:r>
            <a:r>
              <a:rPr sz="1200" b="0" i="0" dirty="0">
                <a:solidFill>
                  <a:srgbClr val="6B7784"/>
                </a:solidFill>
                <a:latin typeface="Calibri"/>
              </a:rPr>
              <a:t> </a:t>
            </a:r>
            <a:r>
              <a:rPr sz="1200" b="0" i="0" dirty="0" err="1">
                <a:solidFill>
                  <a:srgbClr val="6B7784"/>
                </a:solidFill>
                <a:latin typeface="Calibri"/>
              </a:rPr>
              <a:t>khoa</a:t>
            </a:r>
            <a:r>
              <a:rPr sz="1200" b="0" i="0" dirty="0">
                <a:solidFill>
                  <a:srgbClr val="6B7784"/>
                </a:solidFill>
                <a:latin typeface="Calibri"/>
              </a:rPr>
              <a:t> </a:t>
            </a:r>
            <a:r>
              <a:rPr sz="1200" b="0" i="0" dirty="0" err="1">
                <a:solidFill>
                  <a:srgbClr val="6B7784"/>
                </a:solidFill>
                <a:latin typeface="Calibri"/>
              </a:rPr>
              <a:t>và</a:t>
            </a:r>
            <a:r>
              <a:rPr sz="1200" b="0" i="0" dirty="0">
                <a:solidFill>
                  <a:srgbClr val="6B7784"/>
                </a:solidFill>
                <a:latin typeface="Calibri"/>
              </a:rPr>
              <a:t> </a:t>
            </a:r>
            <a:r>
              <a:rPr sz="1200" b="0" i="0" dirty="0" err="1">
                <a:solidFill>
                  <a:srgbClr val="6B7784"/>
                </a:solidFill>
                <a:latin typeface="Calibri"/>
              </a:rPr>
              <a:t>doanh</a:t>
            </a:r>
            <a:r>
              <a:rPr sz="1200" b="0" i="0" dirty="0">
                <a:solidFill>
                  <a:srgbClr val="6B7784"/>
                </a:solidFill>
                <a:latin typeface="Calibri"/>
              </a:rPr>
              <a:t> </a:t>
            </a:r>
            <a:r>
              <a:rPr sz="1200" b="0" i="0" dirty="0" err="1">
                <a:solidFill>
                  <a:srgbClr val="6B7784"/>
                </a:solidFill>
                <a:latin typeface="Calibri"/>
              </a:rPr>
              <a:t>nghiệp</a:t>
            </a:r>
            <a:endParaRPr sz="1200" b="0" i="0" dirty="0">
              <a:solidFill>
                <a:srgbClr val="6B7784"/>
              </a:solidFill>
              <a:latin typeface="Calibri"/>
            </a:endParaRPr>
          </a:p>
        </p:txBody>
      </p:sp>
      <p:sp>
        <p:nvSpPr>
          <p:cNvPr id="25" name="Rectangle 24"/>
          <p:cNvSpPr/>
          <p:nvPr/>
        </p:nvSpPr>
        <p:spPr>
          <a:xfrm>
            <a:off x="658368" y="4242816"/>
            <a:ext cx="10874959" cy="932688"/>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58368" y="4242816"/>
            <a:ext cx="50292" cy="932688"/>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50976" y="4412412"/>
            <a:ext cx="10326319" cy="593496"/>
          </a:xfrm>
          <a:prstGeom prst="rect">
            <a:avLst/>
          </a:prstGeom>
          <a:noFill/>
        </p:spPr>
        <p:txBody>
          <a:bodyPr wrap="square" lIns="0" tIns="0" rIns="0" bIns="0" anchor="ctr">
            <a:spAutoFit/>
          </a:bodyPr>
          <a:lstStyle/>
          <a:p>
            <a:pPr algn="l">
              <a:lnSpc>
                <a:spcPct val="110000"/>
              </a:lnSpc>
            </a:pPr>
            <a:r>
              <a:rPr sz="1600" b="1" i="0" dirty="0">
                <a:solidFill>
                  <a:srgbClr val="FFFFFF"/>
                </a:solidFill>
                <a:latin typeface="Calibri"/>
              </a:rPr>
              <a:t>SỨ MỆNH  ·  “Enabling Better, Smarter, Safer Healthcare”</a:t>
            </a:r>
          </a:p>
          <a:p>
            <a:pPr algn="l">
              <a:lnSpc>
                <a:spcPct val="120000"/>
              </a:lnSpc>
              <a:spcBef>
                <a:spcPts val="500"/>
              </a:spcBef>
            </a:pPr>
            <a:r>
              <a:rPr sz="1400" b="0" i="0" dirty="0" err="1">
                <a:solidFill>
                  <a:srgbClr val="B6C9D8"/>
                </a:solidFill>
                <a:latin typeface="Calibri"/>
              </a:rPr>
              <a:t>Kết</a:t>
            </a:r>
            <a:r>
              <a:rPr sz="1400" b="0" i="0" dirty="0">
                <a:solidFill>
                  <a:srgbClr val="B6C9D8"/>
                </a:solidFill>
                <a:latin typeface="Calibri"/>
              </a:rPr>
              <a:t> </a:t>
            </a:r>
            <a:r>
              <a:rPr sz="1400" b="0" i="0" dirty="0" err="1">
                <a:solidFill>
                  <a:srgbClr val="B6C9D8"/>
                </a:solidFill>
                <a:latin typeface="Calibri"/>
              </a:rPr>
              <a:t>hợp</a:t>
            </a:r>
            <a:r>
              <a:rPr sz="1400" b="0" i="0" dirty="0">
                <a:solidFill>
                  <a:srgbClr val="B6C9D8"/>
                </a:solidFill>
                <a:latin typeface="Calibri"/>
              </a:rPr>
              <a:t> </a:t>
            </a:r>
            <a:r>
              <a:rPr sz="1400" b="0" i="0" dirty="0" err="1">
                <a:solidFill>
                  <a:srgbClr val="B6C9D8"/>
                </a:solidFill>
                <a:latin typeface="Calibri"/>
              </a:rPr>
              <a:t>Khoa</a:t>
            </a:r>
            <a:r>
              <a:rPr sz="1400" b="0" i="0" dirty="0">
                <a:solidFill>
                  <a:srgbClr val="B6C9D8"/>
                </a:solidFill>
                <a:latin typeface="Calibri"/>
              </a:rPr>
              <a:t> </a:t>
            </a:r>
            <a:r>
              <a:rPr sz="1400" b="0" i="0" dirty="0" err="1">
                <a:solidFill>
                  <a:srgbClr val="B6C9D8"/>
                </a:solidFill>
                <a:latin typeface="Calibri"/>
              </a:rPr>
              <a:t>học</a:t>
            </a:r>
            <a:r>
              <a:rPr sz="1400" b="0" i="0" dirty="0">
                <a:solidFill>
                  <a:srgbClr val="B6C9D8"/>
                </a:solidFill>
                <a:latin typeface="Calibri"/>
              </a:rPr>
              <a:t> </a:t>
            </a:r>
            <a:r>
              <a:rPr sz="1400" b="0" i="0" dirty="0" err="1">
                <a:solidFill>
                  <a:srgbClr val="B6C9D8"/>
                </a:solidFill>
                <a:latin typeface="Calibri"/>
              </a:rPr>
              <a:t>sức</a:t>
            </a:r>
            <a:r>
              <a:rPr sz="1400" b="0" i="0" dirty="0">
                <a:solidFill>
                  <a:srgbClr val="B6C9D8"/>
                </a:solidFill>
                <a:latin typeface="Calibri"/>
              </a:rPr>
              <a:t> </a:t>
            </a:r>
            <a:r>
              <a:rPr sz="1400" b="0" i="0" dirty="0" err="1">
                <a:solidFill>
                  <a:srgbClr val="B6C9D8"/>
                </a:solidFill>
                <a:latin typeface="Calibri"/>
              </a:rPr>
              <a:t>khỏe</a:t>
            </a:r>
            <a:r>
              <a:rPr sz="1400" b="0" i="0" dirty="0">
                <a:solidFill>
                  <a:srgbClr val="B6C9D8"/>
                </a:solidFill>
                <a:latin typeface="Calibri"/>
              </a:rPr>
              <a:t>  +  </a:t>
            </a:r>
            <a:r>
              <a:rPr sz="1400" b="0" i="0" dirty="0" err="1">
                <a:solidFill>
                  <a:srgbClr val="B6C9D8"/>
                </a:solidFill>
                <a:latin typeface="Calibri"/>
              </a:rPr>
              <a:t>Khoa</a:t>
            </a:r>
            <a:r>
              <a:rPr sz="1400" b="0" i="0" dirty="0">
                <a:solidFill>
                  <a:srgbClr val="B6C9D8"/>
                </a:solidFill>
                <a:latin typeface="Calibri"/>
              </a:rPr>
              <a:t> </a:t>
            </a:r>
            <a:r>
              <a:rPr sz="1400" b="0" i="0" dirty="0" err="1">
                <a:solidFill>
                  <a:srgbClr val="B6C9D8"/>
                </a:solidFill>
                <a:latin typeface="Calibri"/>
              </a:rPr>
              <a:t>học</a:t>
            </a:r>
            <a:r>
              <a:rPr sz="1400" b="0" i="0" dirty="0">
                <a:solidFill>
                  <a:srgbClr val="B6C9D8"/>
                </a:solidFill>
                <a:latin typeface="Calibri"/>
              </a:rPr>
              <a:t> </a:t>
            </a:r>
            <a:r>
              <a:rPr sz="1400" b="0" i="0" dirty="0" err="1">
                <a:solidFill>
                  <a:srgbClr val="B6C9D8"/>
                </a:solidFill>
                <a:latin typeface="Calibri"/>
              </a:rPr>
              <a:t>vật</a:t>
            </a:r>
            <a:r>
              <a:rPr sz="1400" b="0" i="0" dirty="0">
                <a:solidFill>
                  <a:srgbClr val="B6C9D8"/>
                </a:solidFill>
                <a:latin typeface="Calibri"/>
              </a:rPr>
              <a:t> </a:t>
            </a:r>
            <a:r>
              <a:rPr sz="1400" b="0" i="0" dirty="0" err="1">
                <a:solidFill>
                  <a:srgbClr val="B6C9D8"/>
                </a:solidFill>
                <a:latin typeface="Calibri"/>
              </a:rPr>
              <a:t>liệu</a:t>
            </a:r>
            <a:r>
              <a:rPr sz="1400" b="0" i="0" dirty="0">
                <a:solidFill>
                  <a:srgbClr val="B6C9D8"/>
                </a:solidFill>
                <a:latin typeface="Calibri"/>
              </a:rPr>
              <a:t>  +  </a:t>
            </a:r>
            <a:r>
              <a:rPr sz="1400" b="0" i="0" dirty="0" err="1">
                <a:solidFill>
                  <a:srgbClr val="B6C9D8"/>
                </a:solidFill>
                <a:latin typeface="Calibri"/>
              </a:rPr>
              <a:t>Khoa</a:t>
            </a:r>
            <a:r>
              <a:rPr sz="1400" b="0" i="0" dirty="0">
                <a:solidFill>
                  <a:srgbClr val="B6C9D8"/>
                </a:solidFill>
                <a:latin typeface="Calibri"/>
              </a:rPr>
              <a:t> </a:t>
            </a:r>
            <a:r>
              <a:rPr sz="1400" b="0" i="0" dirty="0" err="1">
                <a:solidFill>
                  <a:srgbClr val="B6C9D8"/>
                </a:solidFill>
                <a:latin typeface="Calibri"/>
              </a:rPr>
              <a:t>học</a:t>
            </a:r>
            <a:r>
              <a:rPr sz="1400" b="0" i="0" dirty="0">
                <a:solidFill>
                  <a:srgbClr val="B6C9D8"/>
                </a:solidFill>
                <a:latin typeface="Calibri"/>
              </a:rPr>
              <a:t> </a:t>
            </a:r>
            <a:r>
              <a:rPr sz="1400" b="0" i="0" dirty="0" err="1">
                <a:solidFill>
                  <a:srgbClr val="B6C9D8"/>
                </a:solidFill>
                <a:latin typeface="Calibri"/>
              </a:rPr>
              <a:t>dữ</a:t>
            </a:r>
            <a:r>
              <a:rPr sz="1400" b="0" i="0" dirty="0">
                <a:solidFill>
                  <a:srgbClr val="B6C9D8"/>
                </a:solidFill>
                <a:latin typeface="Calibri"/>
              </a:rPr>
              <a:t> </a:t>
            </a:r>
            <a:r>
              <a:rPr sz="1400" b="0" i="0" dirty="0" err="1">
                <a:solidFill>
                  <a:srgbClr val="B6C9D8"/>
                </a:solidFill>
                <a:latin typeface="Calibri"/>
              </a:rPr>
              <a:t>liệu</a:t>
            </a:r>
            <a:r>
              <a:rPr sz="1400" b="0" i="0" dirty="0">
                <a:solidFill>
                  <a:srgbClr val="B6C9D8"/>
                </a:solidFill>
                <a:latin typeface="Calibri"/>
              </a:rPr>
              <a:t> </a:t>
            </a:r>
            <a:r>
              <a:rPr sz="1400" b="0" i="0" dirty="0" err="1">
                <a:solidFill>
                  <a:srgbClr val="B6C9D8"/>
                </a:solidFill>
                <a:latin typeface="Calibri"/>
              </a:rPr>
              <a:t>để</a:t>
            </a:r>
            <a:r>
              <a:rPr sz="1400" b="0" i="0" dirty="0">
                <a:solidFill>
                  <a:srgbClr val="B6C9D8"/>
                </a:solidFill>
                <a:latin typeface="Calibri"/>
              </a:rPr>
              <a:t> </a:t>
            </a:r>
            <a:r>
              <a:rPr sz="1400" b="0" i="0" dirty="0" err="1">
                <a:solidFill>
                  <a:srgbClr val="B6C9D8"/>
                </a:solidFill>
                <a:latin typeface="Calibri"/>
              </a:rPr>
              <a:t>nâng</a:t>
            </a:r>
            <a:r>
              <a:rPr sz="1400" b="0" i="0" dirty="0">
                <a:solidFill>
                  <a:srgbClr val="B6C9D8"/>
                </a:solidFill>
                <a:latin typeface="Calibri"/>
              </a:rPr>
              <a:t> </a:t>
            </a:r>
            <a:r>
              <a:rPr sz="1400" b="0" i="0" dirty="0" err="1">
                <a:solidFill>
                  <a:srgbClr val="B6C9D8"/>
                </a:solidFill>
                <a:latin typeface="Calibri"/>
              </a:rPr>
              <a:t>cao</a:t>
            </a:r>
            <a:r>
              <a:rPr sz="1400" b="0" i="0" dirty="0">
                <a:solidFill>
                  <a:srgbClr val="B6C9D8"/>
                </a:solidFill>
                <a:latin typeface="Calibri"/>
              </a:rPr>
              <a:t> </a:t>
            </a:r>
            <a:r>
              <a:rPr sz="1400" b="0" i="0" dirty="0" err="1">
                <a:solidFill>
                  <a:srgbClr val="B6C9D8"/>
                </a:solidFill>
                <a:latin typeface="Calibri"/>
              </a:rPr>
              <a:t>chất</a:t>
            </a:r>
            <a:r>
              <a:rPr sz="1400" b="0" i="0" dirty="0">
                <a:solidFill>
                  <a:srgbClr val="B6C9D8"/>
                </a:solidFill>
                <a:latin typeface="Calibri"/>
              </a:rPr>
              <a:t> </a:t>
            </a:r>
            <a:r>
              <a:rPr sz="1400" b="0" i="0" dirty="0" err="1">
                <a:solidFill>
                  <a:srgbClr val="B6C9D8"/>
                </a:solidFill>
                <a:latin typeface="Calibri"/>
              </a:rPr>
              <a:t>lượng</a:t>
            </a:r>
            <a:r>
              <a:rPr sz="1400" b="0" i="0" dirty="0">
                <a:solidFill>
                  <a:srgbClr val="B6C9D8"/>
                </a:solidFill>
                <a:latin typeface="Calibri"/>
              </a:rPr>
              <a:t> </a:t>
            </a:r>
            <a:r>
              <a:rPr sz="1400" b="0" i="0" dirty="0" err="1">
                <a:solidFill>
                  <a:srgbClr val="B6C9D8"/>
                </a:solidFill>
                <a:latin typeface="Calibri"/>
              </a:rPr>
              <a:t>chăm</a:t>
            </a:r>
            <a:r>
              <a:rPr sz="1400" b="0" i="0" dirty="0">
                <a:solidFill>
                  <a:srgbClr val="B6C9D8"/>
                </a:solidFill>
                <a:latin typeface="Calibri"/>
              </a:rPr>
              <a:t> </a:t>
            </a:r>
            <a:r>
              <a:rPr sz="1400" b="0" i="0" dirty="0" err="1">
                <a:solidFill>
                  <a:srgbClr val="B6C9D8"/>
                </a:solidFill>
                <a:latin typeface="Calibri"/>
              </a:rPr>
              <a:t>sóc</a:t>
            </a:r>
            <a:r>
              <a:rPr sz="1400" b="0" i="0" dirty="0">
                <a:solidFill>
                  <a:srgbClr val="B6C9D8"/>
                </a:solidFill>
                <a:latin typeface="Calibri"/>
              </a:rPr>
              <a:t> </a:t>
            </a:r>
            <a:r>
              <a:rPr sz="1400" b="0" i="0" dirty="0" err="1">
                <a:solidFill>
                  <a:srgbClr val="B6C9D8"/>
                </a:solidFill>
                <a:latin typeface="Calibri"/>
              </a:rPr>
              <a:t>sức</a:t>
            </a:r>
            <a:r>
              <a:rPr sz="1400" b="0" i="0" dirty="0">
                <a:solidFill>
                  <a:srgbClr val="B6C9D8"/>
                </a:solidFill>
                <a:latin typeface="Calibri"/>
              </a:rPr>
              <a:t> </a:t>
            </a:r>
            <a:r>
              <a:rPr sz="1400" b="0" i="0" dirty="0" err="1">
                <a:solidFill>
                  <a:srgbClr val="B6C9D8"/>
                </a:solidFill>
                <a:latin typeface="Calibri"/>
              </a:rPr>
              <a:t>khỏe</a:t>
            </a:r>
            <a:r>
              <a:rPr sz="1400" b="0" i="0" dirty="0">
                <a:solidFill>
                  <a:srgbClr val="B6C9D8"/>
                </a:solidFill>
                <a:latin typeface="Calibri"/>
              </a:rPr>
              <a:t>.</a:t>
            </a:r>
          </a:p>
        </p:txBody>
      </p:sp>
      <p:sp>
        <p:nvSpPr>
          <p:cNvPr id="28" name="TextBox 27"/>
          <p:cNvSpPr txBox="1"/>
          <p:nvPr/>
        </p:nvSpPr>
        <p:spPr>
          <a:xfrm>
            <a:off x="658368" y="5394960"/>
            <a:ext cx="10874959" cy="461665"/>
          </a:xfrm>
          <a:prstGeom prst="rect">
            <a:avLst/>
          </a:prstGeom>
          <a:noFill/>
        </p:spPr>
        <p:txBody>
          <a:bodyPr wrap="square" lIns="0" tIns="0" rIns="0" bIns="0" anchor="t">
            <a:spAutoFit/>
          </a:bodyPr>
          <a:lstStyle/>
          <a:p>
            <a:pPr algn="l">
              <a:lnSpc>
                <a:spcPct val="125000"/>
              </a:lnSpc>
            </a:pPr>
            <a:r>
              <a:rPr sz="1200" b="1" i="0" dirty="0">
                <a:solidFill>
                  <a:srgbClr val="0A2540"/>
                </a:solidFill>
                <a:latin typeface="Calibri"/>
              </a:rPr>
              <a:t>→  </a:t>
            </a:r>
            <a:r>
              <a:rPr sz="1200" b="1" i="0" dirty="0" err="1">
                <a:solidFill>
                  <a:srgbClr val="0A2540"/>
                </a:solidFill>
                <a:latin typeface="Calibri"/>
              </a:rPr>
              <a:t>Đặc</a:t>
            </a:r>
            <a:r>
              <a:rPr sz="1200" b="1" i="0" dirty="0">
                <a:solidFill>
                  <a:srgbClr val="0A2540"/>
                </a:solidFill>
                <a:latin typeface="Calibri"/>
              </a:rPr>
              <a:t> </a:t>
            </a:r>
            <a:r>
              <a:rPr sz="1200" b="1" i="0" dirty="0" err="1">
                <a:solidFill>
                  <a:srgbClr val="0A2540"/>
                </a:solidFill>
                <a:latin typeface="Calibri"/>
              </a:rPr>
              <a:t>thù</a:t>
            </a:r>
            <a:r>
              <a:rPr sz="1200" b="1" i="0" dirty="0">
                <a:solidFill>
                  <a:srgbClr val="0A2540"/>
                </a:solidFill>
                <a:latin typeface="Calibri"/>
              </a:rPr>
              <a:t> </a:t>
            </a:r>
            <a:r>
              <a:rPr sz="1200" b="1" i="0" dirty="0" err="1">
                <a:solidFill>
                  <a:srgbClr val="0A2540"/>
                </a:solidFill>
                <a:latin typeface="Calibri"/>
              </a:rPr>
              <a:t>ngành</a:t>
            </a:r>
            <a:r>
              <a:rPr sz="1200" b="1" i="0" dirty="0">
                <a:solidFill>
                  <a:srgbClr val="0A2540"/>
                </a:solidFill>
                <a:latin typeface="Calibri"/>
              </a:rPr>
              <a:t> </a:t>
            </a:r>
            <a:r>
              <a:rPr sz="1200" b="1" i="0" dirty="0" err="1">
                <a:solidFill>
                  <a:srgbClr val="0A2540"/>
                </a:solidFill>
                <a:latin typeface="Calibri"/>
              </a:rPr>
              <a:t>thiết</a:t>
            </a:r>
            <a:r>
              <a:rPr sz="1200" b="1" i="0" dirty="0">
                <a:solidFill>
                  <a:srgbClr val="0A2540"/>
                </a:solidFill>
                <a:latin typeface="Calibri"/>
              </a:rPr>
              <a:t> </a:t>
            </a:r>
            <a:r>
              <a:rPr sz="1200" b="1" i="0" dirty="0" err="1">
                <a:solidFill>
                  <a:srgbClr val="0A2540"/>
                </a:solidFill>
                <a:latin typeface="Calibri"/>
              </a:rPr>
              <a:t>bị</a:t>
            </a:r>
            <a:r>
              <a:rPr sz="1200" b="1" i="0" dirty="0">
                <a:solidFill>
                  <a:srgbClr val="0A2540"/>
                </a:solidFill>
                <a:latin typeface="Calibri"/>
              </a:rPr>
              <a:t> y </a:t>
            </a:r>
            <a:r>
              <a:rPr sz="1200" b="1" i="0" dirty="0" err="1">
                <a:solidFill>
                  <a:srgbClr val="0A2540"/>
                </a:solidFill>
                <a:latin typeface="Calibri"/>
              </a:rPr>
              <a:t>tế</a:t>
            </a:r>
            <a:r>
              <a:rPr sz="1200" b="1" i="0" dirty="0">
                <a:solidFill>
                  <a:srgbClr val="0A2540"/>
                </a:solidFill>
                <a:latin typeface="Calibri"/>
              </a:rPr>
              <a:t> </a:t>
            </a:r>
            <a:r>
              <a:rPr sz="1200" b="1" i="0" dirty="0" err="1">
                <a:solidFill>
                  <a:srgbClr val="0A2540"/>
                </a:solidFill>
                <a:latin typeface="Calibri"/>
              </a:rPr>
              <a:t>đòi</a:t>
            </a:r>
            <a:r>
              <a:rPr sz="1200" b="1" i="0" dirty="0">
                <a:solidFill>
                  <a:srgbClr val="0A2540"/>
                </a:solidFill>
                <a:latin typeface="Calibri"/>
              </a:rPr>
              <a:t> </a:t>
            </a:r>
            <a:r>
              <a:rPr sz="1200" b="1" i="0" dirty="0" err="1">
                <a:solidFill>
                  <a:srgbClr val="0A2540"/>
                </a:solidFill>
                <a:latin typeface="Calibri"/>
              </a:rPr>
              <a:t>hỏi</a:t>
            </a:r>
            <a:r>
              <a:rPr sz="1200" b="1" i="0" dirty="0">
                <a:solidFill>
                  <a:srgbClr val="0A2540"/>
                </a:solidFill>
                <a:latin typeface="Calibri"/>
              </a:rPr>
              <a:t> </a:t>
            </a:r>
            <a:r>
              <a:rPr sz="1200" b="1" i="0" dirty="0" err="1">
                <a:solidFill>
                  <a:srgbClr val="0A2540"/>
                </a:solidFill>
                <a:latin typeface="Calibri"/>
              </a:rPr>
              <a:t>Solventum</a:t>
            </a:r>
            <a:r>
              <a:rPr sz="1200" b="1" i="0" dirty="0">
                <a:solidFill>
                  <a:srgbClr val="0A2540"/>
                </a:solidFill>
                <a:latin typeface="Calibri"/>
              </a:rPr>
              <a:t> </a:t>
            </a:r>
            <a:r>
              <a:rPr sz="1200" b="1" i="0" dirty="0" err="1">
                <a:solidFill>
                  <a:srgbClr val="0A2540"/>
                </a:solidFill>
                <a:latin typeface="Calibri"/>
              </a:rPr>
              <a:t>vận</a:t>
            </a:r>
            <a:r>
              <a:rPr sz="1200" b="1" i="0" dirty="0">
                <a:solidFill>
                  <a:srgbClr val="0A2540"/>
                </a:solidFill>
                <a:latin typeface="Calibri"/>
              </a:rPr>
              <a:t> </a:t>
            </a:r>
            <a:r>
              <a:rPr sz="1200" b="1" i="0" dirty="0" err="1">
                <a:solidFill>
                  <a:srgbClr val="0A2540"/>
                </a:solidFill>
                <a:latin typeface="Calibri"/>
              </a:rPr>
              <a:t>hành</a:t>
            </a:r>
            <a:r>
              <a:rPr sz="1200" b="1" i="0" dirty="0">
                <a:solidFill>
                  <a:srgbClr val="0A2540"/>
                </a:solidFill>
                <a:latin typeface="Calibri"/>
              </a:rPr>
              <a:t> </a:t>
            </a:r>
            <a:r>
              <a:rPr sz="1200" b="1" i="0" dirty="0" err="1">
                <a:solidFill>
                  <a:srgbClr val="0A2540"/>
                </a:solidFill>
                <a:latin typeface="Calibri"/>
              </a:rPr>
              <a:t>nhiều</a:t>
            </a:r>
            <a:r>
              <a:rPr sz="1200" b="1" i="0" dirty="0">
                <a:solidFill>
                  <a:srgbClr val="0A2540"/>
                </a:solidFill>
                <a:latin typeface="Calibri"/>
              </a:rPr>
              <a:t> </a:t>
            </a:r>
            <a:r>
              <a:rPr sz="1200" b="1" i="0" dirty="0" err="1">
                <a:solidFill>
                  <a:srgbClr val="0A2540"/>
                </a:solidFill>
                <a:latin typeface="Calibri"/>
              </a:rPr>
              <a:t>quy</a:t>
            </a:r>
            <a:r>
              <a:rPr sz="1200" b="1" i="0" dirty="0">
                <a:solidFill>
                  <a:srgbClr val="0A2540"/>
                </a:solidFill>
                <a:latin typeface="Calibri"/>
              </a:rPr>
              <a:t> </a:t>
            </a:r>
            <a:r>
              <a:rPr sz="1200" b="1" i="0" dirty="0" err="1">
                <a:solidFill>
                  <a:srgbClr val="0A2540"/>
                </a:solidFill>
                <a:latin typeface="Calibri"/>
              </a:rPr>
              <a:t>trình</a:t>
            </a:r>
            <a:r>
              <a:rPr sz="1200" b="1" i="0" dirty="0">
                <a:solidFill>
                  <a:srgbClr val="0A2540"/>
                </a:solidFill>
                <a:latin typeface="Calibri"/>
              </a:rPr>
              <a:t> </a:t>
            </a:r>
            <a:r>
              <a:rPr sz="1200" b="1" i="0" dirty="0" err="1">
                <a:solidFill>
                  <a:srgbClr val="0A2540"/>
                </a:solidFill>
                <a:latin typeface="Calibri"/>
              </a:rPr>
              <a:t>liên</a:t>
            </a:r>
            <a:r>
              <a:rPr sz="1200" b="1" i="0" dirty="0">
                <a:solidFill>
                  <a:srgbClr val="0A2540"/>
                </a:solidFill>
                <a:latin typeface="Calibri"/>
              </a:rPr>
              <a:t> </a:t>
            </a:r>
            <a:r>
              <a:rPr sz="1200" b="1" i="0" dirty="0" err="1">
                <a:solidFill>
                  <a:srgbClr val="0A2540"/>
                </a:solidFill>
                <a:latin typeface="Calibri"/>
              </a:rPr>
              <a:t>kết</a:t>
            </a:r>
            <a:r>
              <a:rPr sz="1200" b="1" i="0" dirty="0">
                <a:solidFill>
                  <a:srgbClr val="0A2540"/>
                </a:solidFill>
                <a:latin typeface="Calibri"/>
              </a:rPr>
              <a:t> </a:t>
            </a:r>
            <a:r>
              <a:rPr sz="1200" b="1" i="0" dirty="0" err="1">
                <a:solidFill>
                  <a:srgbClr val="0A2540"/>
                </a:solidFill>
                <a:latin typeface="Calibri"/>
              </a:rPr>
              <a:t>chặt</a:t>
            </a:r>
            <a:r>
              <a:rPr sz="1200" b="1" i="0" dirty="0">
                <a:solidFill>
                  <a:srgbClr val="0A2540"/>
                </a:solidFill>
                <a:latin typeface="Calibri"/>
              </a:rPr>
              <a:t> </a:t>
            </a:r>
            <a:r>
              <a:rPr sz="1200" b="1" i="0" dirty="0" err="1">
                <a:solidFill>
                  <a:srgbClr val="0A2540"/>
                </a:solidFill>
                <a:latin typeface="Calibri"/>
              </a:rPr>
              <a:t>giữa</a:t>
            </a:r>
            <a:r>
              <a:rPr sz="1200" b="1" i="0" dirty="0">
                <a:solidFill>
                  <a:srgbClr val="0A2540"/>
                </a:solidFill>
                <a:latin typeface="Calibri"/>
              </a:rPr>
              <a:t> </a:t>
            </a:r>
            <a:r>
              <a:rPr sz="1200" b="1" i="0" dirty="0" err="1">
                <a:solidFill>
                  <a:srgbClr val="0A2540"/>
                </a:solidFill>
                <a:latin typeface="Calibri"/>
              </a:rPr>
              <a:t>kinh</a:t>
            </a:r>
            <a:r>
              <a:rPr sz="1200" b="1" i="0" dirty="0">
                <a:solidFill>
                  <a:srgbClr val="0A2540"/>
                </a:solidFill>
                <a:latin typeface="Calibri"/>
              </a:rPr>
              <a:t> </a:t>
            </a:r>
            <a:r>
              <a:rPr sz="1200" b="1" i="0" dirty="0" err="1">
                <a:solidFill>
                  <a:srgbClr val="0A2540"/>
                </a:solidFill>
                <a:latin typeface="Calibri"/>
              </a:rPr>
              <a:t>doanh</a:t>
            </a:r>
            <a:r>
              <a:rPr sz="1200" b="1" i="0" dirty="0">
                <a:solidFill>
                  <a:srgbClr val="0A2540"/>
                </a:solidFill>
                <a:latin typeface="Calibri"/>
              </a:rPr>
              <a:t>, </a:t>
            </a:r>
            <a:r>
              <a:rPr sz="1200" b="1" i="0" dirty="0" err="1">
                <a:solidFill>
                  <a:srgbClr val="0A2540"/>
                </a:solidFill>
                <a:latin typeface="Calibri"/>
              </a:rPr>
              <a:t>chuỗi</a:t>
            </a:r>
            <a:r>
              <a:rPr sz="1200" b="1" i="0" dirty="0">
                <a:solidFill>
                  <a:srgbClr val="0A2540"/>
                </a:solidFill>
                <a:latin typeface="Calibri"/>
              </a:rPr>
              <a:t> </a:t>
            </a:r>
            <a:r>
              <a:rPr sz="1200" b="1" i="0" dirty="0" err="1">
                <a:solidFill>
                  <a:srgbClr val="0A2540"/>
                </a:solidFill>
                <a:latin typeface="Calibri"/>
              </a:rPr>
              <a:t>cung</a:t>
            </a:r>
            <a:r>
              <a:rPr sz="1200" b="1" i="0" dirty="0">
                <a:solidFill>
                  <a:srgbClr val="0A2540"/>
                </a:solidFill>
                <a:latin typeface="Calibri"/>
              </a:rPr>
              <a:t> </a:t>
            </a:r>
            <a:r>
              <a:rPr sz="1200" b="1" i="0" dirty="0" err="1">
                <a:solidFill>
                  <a:srgbClr val="0A2540"/>
                </a:solidFill>
                <a:latin typeface="Calibri"/>
              </a:rPr>
              <a:t>ứng</a:t>
            </a:r>
            <a:r>
              <a:rPr sz="1200" b="1" i="0" dirty="0">
                <a:solidFill>
                  <a:srgbClr val="0A2540"/>
                </a:solidFill>
                <a:latin typeface="Calibri"/>
              </a:rPr>
              <a:t>, </a:t>
            </a:r>
            <a:r>
              <a:rPr sz="1200" b="1" i="0" dirty="0" err="1">
                <a:solidFill>
                  <a:srgbClr val="0A2540"/>
                </a:solidFill>
                <a:latin typeface="Calibri"/>
              </a:rPr>
              <a:t>kho</a:t>
            </a:r>
            <a:r>
              <a:rPr sz="1200" b="1" i="0" dirty="0">
                <a:solidFill>
                  <a:srgbClr val="0A2540"/>
                </a:solidFill>
                <a:latin typeface="Calibri"/>
              </a:rPr>
              <a:t> </a:t>
            </a:r>
            <a:r>
              <a:rPr sz="1200" b="1" i="0" dirty="0" err="1">
                <a:solidFill>
                  <a:srgbClr val="0A2540"/>
                </a:solidFill>
                <a:latin typeface="Calibri"/>
              </a:rPr>
              <a:t>và</a:t>
            </a:r>
            <a:r>
              <a:rPr sz="1200" b="1" i="0" dirty="0">
                <a:solidFill>
                  <a:srgbClr val="0A2540"/>
                </a:solidFill>
                <a:latin typeface="Calibri"/>
              </a:rPr>
              <a:t> </a:t>
            </a:r>
            <a:r>
              <a:rPr sz="1200" b="1" i="0" dirty="0" err="1">
                <a:solidFill>
                  <a:srgbClr val="0A2540"/>
                </a:solidFill>
                <a:latin typeface="Calibri"/>
              </a:rPr>
              <a:t>dịch</a:t>
            </a:r>
            <a:r>
              <a:rPr sz="1200" b="1" i="0" dirty="0">
                <a:solidFill>
                  <a:srgbClr val="0A2540"/>
                </a:solidFill>
                <a:latin typeface="Calibri"/>
              </a:rPr>
              <a:t> </a:t>
            </a:r>
            <a:r>
              <a:rPr sz="1200" b="1" i="0" dirty="0" err="1">
                <a:solidFill>
                  <a:srgbClr val="0A2540"/>
                </a:solidFill>
                <a:latin typeface="Calibri"/>
              </a:rPr>
              <a:t>vụ</a:t>
            </a:r>
            <a:r>
              <a:rPr sz="1200" b="1" i="0" dirty="0">
                <a:solidFill>
                  <a:srgbClr val="0A2540"/>
                </a:solidFill>
                <a:latin typeface="Calibri"/>
              </a:rPr>
              <a:t> </a:t>
            </a:r>
            <a:r>
              <a:rPr sz="1200" b="1" i="0" dirty="0" err="1">
                <a:solidFill>
                  <a:srgbClr val="0A2540"/>
                </a:solidFill>
                <a:latin typeface="Calibri"/>
              </a:rPr>
              <a:t>kỹ</a:t>
            </a:r>
            <a:r>
              <a:rPr sz="1200" b="1" i="0" dirty="0">
                <a:solidFill>
                  <a:srgbClr val="0A2540"/>
                </a:solidFill>
                <a:latin typeface="Calibri"/>
              </a:rPr>
              <a:t> </a:t>
            </a:r>
            <a:r>
              <a:rPr sz="1200" b="1" i="0" dirty="0" err="1">
                <a:solidFill>
                  <a:srgbClr val="0A2540"/>
                </a:solidFill>
                <a:latin typeface="Calibri"/>
              </a:rPr>
              <a:t>thuật</a:t>
            </a:r>
            <a:r>
              <a:rPr sz="1200" b="1" i="0" dirty="0">
                <a:solidFill>
                  <a:srgbClr val="0A2540"/>
                </a:solidFill>
                <a:latin typeface="Calibri"/>
              </a:rPr>
              <a:t> — </a:t>
            </a:r>
            <a:r>
              <a:rPr sz="1200" b="1" i="0" dirty="0" err="1">
                <a:solidFill>
                  <a:srgbClr val="0A2540"/>
                </a:solidFill>
                <a:latin typeface="Calibri"/>
              </a:rPr>
              <a:t>đây</a:t>
            </a:r>
            <a:r>
              <a:rPr sz="1200" b="1" i="0" dirty="0">
                <a:solidFill>
                  <a:srgbClr val="0A2540"/>
                </a:solidFill>
                <a:latin typeface="Calibri"/>
              </a:rPr>
              <a:t> </a:t>
            </a:r>
            <a:r>
              <a:rPr sz="1200" b="1" i="0" dirty="0" err="1">
                <a:solidFill>
                  <a:srgbClr val="0A2540"/>
                </a:solidFill>
                <a:latin typeface="Calibri"/>
              </a:rPr>
              <a:t>chính</a:t>
            </a:r>
            <a:r>
              <a:rPr sz="1200" b="1" i="0" dirty="0">
                <a:solidFill>
                  <a:srgbClr val="0A2540"/>
                </a:solidFill>
                <a:latin typeface="Calibri"/>
              </a:rPr>
              <a:t> </a:t>
            </a:r>
            <a:r>
              <a:rPr sz="1200" b="1" i="0" dirty="0" err="1">
                <a:solidFill>
                  <a:srgbClr val="0A2540"/>
                </a:solidFill>
                <a:latin typeface="Calibri"/>
              </a:rPr>
              <a:t>là</a:t>
            </a:r>
            <a:r>
              <a:rPr sz="1200" b="1" i="0" dirty="0">
                <a:solidFill>
                  <a:srgbClr val="0A2540"/>
                </a:solidFill>
                <a:latin typeface="Calibri"/>
              </a:rPr>
              <a:t> </a:t>
            </a:r>
            <a:r>
              <a:rPr sz="1200" b="1" i="0" dirty="0" err="1">
                <a:solidFill>
                  <a:srgbClr val="0A2540"/>
                </a:solidFill>
                <a:latin typeface="Calibri"/>
              </a:rPr>
              <a:t>đối</a:t>
            </a:r>
            <a:r>
              <a:rPr sz="1200" b="1" i="0" dirty="0">
                <a:solidFill>
                  <a:srgbClr val="0A2540"/>
                </a:solidFill>
                <a:latin typeface="Calibri"/>
              </a:rPr>
              <a:t> </a:t>
            </a:r>
            <a:r>
              <a:rPr sz="1200" b="1" i="0" dirty="0" err="1">
                <a:solidFill>
                  <a:srgbClr val="0A2540"/>
                </a:solidFill>
                <a:latin typeface="Calibri"/>
              </a:rPr>
              <a:t>tượng</a:t>
            </a:r>
            <a:r>
              <a:rPr sz="1200" b="1" i="0" dirty="0">
                <a:solidFill>
                  <a:srgbClr val="0A2540"/>
                </a:solidFill>
                <a:latin typeface="Calibri"/>
              </a:rPr>
              <a:t> </a:t>
            </a:r>
            <a:r>
              <a:rPr sz="1200" b="1" i="0" dirty="0" err="1">
                <a:solidFill>
                  <a:srgbClr val="0A2540"/>
                </a:solidFill>
                <a:latin typeface="Calibri"/>
              </a:rPr>
              <a:t>nghiên</a:t>
            </a:r>
            <a:r>
              <a:rPr sz="1200" b="1" i="0" dirty="0">
                <a:solidFill>
                  <a:srgbClr val="0A2540"/>
                </a:solidFill>
                <a:latin typeface="Calibri"/>
              </a:rPr>
              <a:t> </a:t>
            </a:r>
            <a:r>
              <a:rPr sz="1200" b="1" i="0" dirty="0" err="1">
                <a:solidFill>
                  <a:srgbClr val="0A2540"/>
                </a:solidFill>
                <a:latin typeface="Calibri"/>
              </a:rPr>
              <a:t>cứu</a:t>
            </a:r>
            <a:r>
              <a:rPr sz="1200" b="1" i="0" dirty="0">
                <a:solidFill>
                  <a:srgbClr val="0A2540"/>
                </a:solidFill>
                <a:latin typeface="Calibri"/>
              </a:rPr>
              <a:t> </a:t>
            </a:r>
            <a:r>
              <a:rPr sz="1200" b="1" i="0" dirty="0" err="1">
                <a:solidFill>
                  <a:srgbClr val="0A2540"/>
                </a:solidFill>
                <a:latin typeface="Calibri"/>
              </a:rPr>
              <a:t>của</a:t>
            </a:r>
            <a:r>
              <a:rPr sz="1200" b="1" i="0" dirty="0">
                <a:solidFill>
                  <a:srgbClr val="0A2540"/>
                </a:solidFill>
                <a:latin typeface="Calibri"/>
              </a:rPr>
              <a:t> </a:t>
            </a:r>
            <a:r>
              <a:rPr sz="1200" b="1" i="0" dirty="0" err="1">
                <a:solidFill>
                  <a:srgbClr val="0A2540"/>
                </a:solidFill>
                <a:latin typeface="Calibri"/>
              </a:rPr>
              <a:t>đồ</a:t>
            </a:r>
            <a:r>
              <a:rPr sz="1200" b="1" i="0" dirty="0">
                <a:solidFill>
                  <a:srgbClr val="0A2540"/>
                </a:solidFill>
                <a:latin typeface="Calibri"/>
              </a:rPr>
              <a:t> </a:t>
            </a:r>
            <a:r>
              <a:rPr sz="1200" b="1" i="0" dirty="0" err="1">
                <a:solidFill>
                  <a:srgbClr val="0A2540"/>
                </a:solidFill>
                <a:latin typeface="Calibri"/>
              </a:rPr>
              <a:t>án</a:t>
            </a:r>
            <a:r>
              <a:rPr sz="1200" b="1" i="0" dirty="0">
                <a:solidFill>
                  <a:srgbClr val="0A2540"/>
                </a:solidFill>
                <a:latin typeface="Calibri"/>
              </a:rPr>
              <a:t>.</a:t>
            </a:r>
          </a:p>
        </p:txBody>
      </p:sp>
    </p:spTree>
    <p:extLst>
      <p:ext uri="{BB962C8B-B14F-4D97-AF65-F5344CB8AC3E}">
        <p14:creationId xmlns:p14="http://schemas.microsoft.com/office/powerpoint/2010/main" val="2055816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CHƯƠNG 1 · 1.1 TỔNG QUAN</a:t>
            </a:r>
          </a:p>
        </p:txBody>
      </p:sp>
      <p:sp>
        <p:nvSpPr>
          <p:cNvPr id="3" name="TextBox 2"/>
          <p:cNvSpPr txBox="1"/>
          <p:nvPr/>
        </p:nvSpPr>
        <p:spPr>
          <a:xfrm>
            <a:off x="658368" y="640080"/>
            <a:ext cx="10874959" cy="603504"/>
          </a:xfrm>
          <a:prstGeom prst="rect">
            <a:avLst/>
          </a:prstGeom>
          <a:noFill/>
        </p:spPr>
        <p:txBody>
          <a:bodyPr wrap="square" lIns="0" tIns="0" rIns="0" bIns="0" anchor="t">
            <a:spAutoFit/>
          </a:bodyPr>
          <a:lstStyle/>
          <a:p>
            <a:pPr algn="l">
              <a:lnSpc>
                <a:spcPct val="105000"/>
              </a:lnSpc>
            </a:pPr>
            <a:r>
              <a:rPr sz="2500" b="1" i="0">
                <a:solidFill>
                  <a:srgbClr val="0A2540"/>
                </a:solidFill>
                <a:latin typeface="Calibri"/>
              </a:rPr>
              <a:t>Ý NGHĨA THƯƠNG HIỆU “SOLVENTUM”</a:t>
            </a: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7" name="TextBox 6"/>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5</a:t>
            </a:r>
          </a:p>
        </p:txBody>
      </p:sp>
      <p:sp>
        <p:nvSpPr>
          <p:cNvPr id="8" name="Rectangle 7"/>
          <p:cNvSpPr/>
          <p:nvPr/>
        </p:nvSpPr>
        <p:spPr>
          <a:xfrm>
            <a:off x="658368" y="1572768"/>
            <a:ext cx="5074920" cy="1417320"/>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58368" y="1572768"/>
            <a:ext cx="50292" cy="1417320"/>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728216"/>
            <a:ext cx="4718303" cy="548640"/>
          </a:xfrm>
          <a:prstGeom prst="rect">
            <a:avLst/>
          </a:prstGeom>
          <a:noFill/>
        </p:spPr>
        <p:txBody>
          <a:bodyPr wrap="square" lIns="0" tIns="0" rIns="0" bIns="0" anchor="t">
            <a:spAutoFit/>
          </a:bodyPr>
          <a:lstStyle/>
          <a:p>
            <a:pPr algn="l">
              <a:lnSpc>
                <a:spcPct val="108000"/>
              </a:lnSpc>
            </a:pPr>
            <a:r>
              <a:rPr sz="1500" b="1" i="0" dirty="0">
                <a:solidFill>
                  <a:srgbClr val="0A2540"/>
                </a:solidFill>
                <a:latin typeface="Calibri"/>
              </a:rPr>
              <a:t>SOLVING  —  </a:t>
            </a:r>
            <a:r>
              <a:rPr sz="1500" b="1" i="0" dirty="0" err="1">
                <a:solidFill>
                  <a:srgbClr val="0A2540"/>
                </a:solidFill>
                <a:latin typeface="Calibri"/>
              </a:rPr>
              <a:t>Giải</a:t>
            </a:r>
            <a:r>
              <a:rPr sz="1500" b="1" i="0" dirty="0">
                <a:solidFill>
                  <a:srgbClr val="0A2540"/>
                </a:solidFill>
                <a:latin typeface="Calibri"/>
              </a:rPr>
              <a:t> </a:t>
            </a:r>
            <a:r>
              <a:rPr sz="1500" b="1" i="0" dirty="0" err="1">
                <a:solidFill>
                  <a:srgbClr val="0A2540"/>
                </a:solidFill>
                <a:latin typeface="Calibri"/>
              </a:rPr>
              <a:t>quyết</a:t>
            </a:r>
            <a:r>
              <a:rPr sz="1500" b="1" i="0" dirty="0">
                <a:solidFill>
                  <a:srgbClr val="0A2540"/>
                </a:solidFill>
                <a:latin typeface="Calibri"/>
              </a:rPr>
              <a:t> </a:t>
            </a:r>
            <a:r>
              <a:rPr sz="1500" b="1" i="0" dirty="0" err="1">
                <a:solidFill>
                  <a:srgbClr val="0A2540"/>
                </a:solidFill>
                <a:latin typeface="Calibri"/>
              </a:rPr>
              <a:t>vấn</a:t>
            </a:r>
            <a:r>
              <a:rPr sz="1500" b="1" i="0" dirty="0">
                <a:solidFill>
                  <a:srgbClr val="0A2540"/>
                </a:solidFill>
                <a:latin typeface="Calibri"/>
              </a:rPr>
              <a:t> </a:t>
            </a:r>
            <a:r>
              <a:rPr sz="1500" b="1" i="0" dirty="0" err="1">
                <a:solidFill>
                  <a:srgbClr val="0A2540"/>
                </a:solidFill>
                <a:latin typeface="Calibri"/>
              </a:rPr>
              <a:t>đề</a:t>
            </a:r>
            <a:endParaRPr sz="1500" b="1" i="0" dirty="0">
              <a:solidFill>
                <a:srgbClr val="0A2540"/>
              </a:solidFill>
              <a:latin typeface="Calibri"/>
            </a:endParaRPr>
          </a:p>
        </p:txBody>
      </p:sp>
      <p:sp>
        <p:nvSpPr>
          <p:cNvPr id="11" name="TextBox 10"/>
          <p:cNvSpPr txBox="1"/>
          <p:nvPr/>
        </p:nvSpPr>
        <p:spPr>
          <a:xfrm>
            <a:off x="877824" y="2057400"/>
            <a:ext cx="4690872" cy="579839"/>
          </a:xfrm>
          <a:prstGeom prst="rect">
            <a:avLst/>
          </a:prstGeom>
          <a:noFill/>
        </p:spPr>
        <p:txBody>
          <a:bodyPr wrap="square" lIns="0" tIns="0" rIns="0" bIns="0" anchor="t">
            <a:spAutoFit/>
          </a:bodyPr>
          <a:lstStyle/>
          <a:p>
            <a:pPr algn="l">
              <a:lnSpc>
                <a:spcPct val="122000"/>
              </a:lnSpc>
            </a:pPr>
            <a:r>
              <a:rPr sz="1600" b="0" i="0" dirty="0" err="1">
                <a:solidFill>
                  <a:srgbClr val="2B3440"/>
                </a:solidFill>
                <a:latin typeface="Calibri"/>
              </a:rPr>
              <a:t>Ứng</a:t>
            </a:r>
            <a:r>
              <a:rPr sz="1600" b="0" i="0" dirty="0">
                <a:solidFill>
                  <a:srgbClr val="2B3440"/>
                </a:solidFill>
                <a:latin typeface="Calibri"/>
              </a:rPr>
              <a:t> </a:t>
            </a:r>
            <a:r>
              <a:rPr sz="1600" b="0" i="0" dirty="0" err="1">
                <a:solidFill>
                  <a:srgbClr val="2B3440"/>
                </a:solidFill>
                <a:latin typeface="Calibri"/>
              </a:rPr>
              <a:t>dụng</a:t>
            </a:r>
            <a:r>
              <a:rPr sz="1600" b="0" i="0" dirty="0">
                <a:solidFill>
                  <a:srgbClr val="2B3440"/>
                </a:solidFill>
                <a:latin typeface="Calibri"/>
              </a:rPr>
              <a:t> </a:t>
            </a:r>
            <a:r>
              <a:rPr sz="1600" b="0" i="0" dirty="0" err="1">
                <a:solidFill>
                  <a:srgbClr val="2B3440"/>
                </a:solidFill>
                <a:latin typeface="Calibri"/>
              </a:rPr>
              <a:t>khoa</a:t>
            </a:r>
            <a:r>
              <a:rPr sz="1600" b="0" i="0" dirty="0">
                <a:solidFill>
                  <a:srgbClr val="2B3440"/>
                </a:solidFill>
                <a:latin typeface="Calibri"/>
              </a:rPr>
              <a:t> </a:t>
            </a:r>
            <a:r>
              <a:rPr sz="1600" b="0" i="0" dirty="0" err="1">
                <a:solidFill>
                  <a:srgbClr val="2B3440"/>
                </a:solidFill>
                <a:latin typeface="Calibri"/>
              </a:rPr>
              <a:t>học</a:t>
            </a:r>
            <a:r>
              <a:rPr sz="1600" b="0" i="0" dirty="0">
                <a:solidFill>
                  <a:srgbClr val="2B3440"/>
                </a:solidFill>
                <a:latin typeface="Calibri"/>
              </a:rPr>
              <a:t> </a:t>
            </a:r>
            <a:r>
              <a:rPr sz="1600" b="0" i="0" dirty="0" err="1">
                <a:solidFill>
                  <a:srgbClr val="2B3440"/>
                </a:solidFill>
                <a:latin typeface="Calibri"/>
              </a:rPr>
              <a:t>và</a:t>
            </a:r>
            <a:r>
              <a:rPr sz="1600" b="0" i="0" dirty="0">
                <a:solidFill>
                  <a:srgbClr val="2B3440"/>
                </a:solidFill>
                <a:latin typeface="Calibri"/>
              </a:rPr>
              <a:t> </a:t>
            </a:r>
            <a:r>
              <a:rPr sz="1600" b="0" i="0" dirty="0" err="1">
                <a:solidFill>
                  <a:srgbClr val="2B3440"/>
                </a:solidFill>
                <a:latin typeface="Calibri"/>
              </a:rPr>
              <a:t>công</a:t>
            </a:r>
            <a:r>
              <a:rPr sz="1600" b="0" i="0" dirty="0">
                <a:solidFill>
                  <a:srgbClr val="2B3440"/>
                </a:solidFill>
                <a:latin typeface="Calibri"/>
              </a:rPr>
              <a:t> </a:t>
            </a:r>
            <a:r>
              <a:rPr sz="1600" b="0" i="0" dirty="0" err="1">
                <a:solidFill>
                  <a:srgbClr val="2B3440"/>
                </a:solidFill>
                <a:latin typeface="Calibri"/>
              </a:rPr>
              <a:t>nghệ</a:t>
            </a:r>
            <a:r>
              <a:rPr sz="1600" b="0" i="0" dirty="0">
                <a:solidFill>
                  <a:srgbClr val="2B3440"/>
                </a:solidFill>
                <a:latin typeface="Calibri"/>
              </a:rPr>
              <a:t> </a:t>
            </a:r>
            <a:r>
              <a:rPr sz="1600" b="0" i="0" dirty="0" err="1">
                <a:solidFill>
                  <a:srgbClr val="2B3440"/>
                </a:solidFill>
                <a:latin typeface="Calibri"/>
              </a:rPr>
              <a:t>để</a:t>
            </a:r>
            <a:r>
              <a:rPr sz="1600" b="0" i="0" dirty="0">
                <a:solidFill>
                  <a:srgbClr val="2B3440"/>
                </a:solidFill>
                <a:latin typeface="Calibri"/>
              </a:rPr>
              <a:t> </a:t>
            </a:r>
            <a:r>
              <a:rPr sz="1600" b="0" i="0" dirty="0" err="1">
                <a:solidFill>
                  <a:srgbClr val="2B3440"/>
                </a:solidFill>
                <a:latin typeface="Calibri"/>
              </a:rPr>
              <a:t>giải</a:t>
            </a:r>
            <a:r>
              <a:rPr sz="1600" b="0" i="0" dirty="0">
                <a:solidFill>
                  <a:srgbClr val="2B3440"/>
                </a:solidFill>
                <a:latin typeface="Calibri"/>
              </a:rPr>
              <a:t> </a:t>
            </a:r>
            <a:r>
              <a:rPr sz="1600" b="0" i="0" dirty="0" err="1">
                <a:solidFill>
                  <a:srgbClr val="2B3440"/>
                </a:solidFill>
                <a:latin typeface="Calibri"/>
              </a:rPr>
              <a:t>quyết</a:t>
            </a:r>
            <a:r>
              <a:rPr sz="1600" b="0" i="0" dirty="0">
                <a:solidFill>
                  <a:srgbClr val="2B3440"/>
                </a:solidFill>
                <a:latin typeface="Calibri"/>
              </a:rPr>
              <a:t> </a:t>
            </a:r>
            <a:r>
              <a:rPr sz="1600" b="0" i="0" dirty="0" err="1">
                <a:solidFill>
                  <a:srgbClr val="2B3440"/>
                </a:solidFill>
                <a:latin typeface="Calibri"/>
              </a:rPr>
              <a:t>những</a:t>
            </a:r>
            <a:r>
              <a:rPr sz="1600" b="0" i="0" dirty="0">
                <a:solidFill>
                  <a:srgbClr val="2B3440"/>
                </a:solidFill>
                <a:latin typeface="Calibri"/>
              </a:rPr>
              <a:t> </a:t>
            </a:r>
            <a:r>
              <a:rPr sz="1600" b="0" i="0" dirty="0" err="1">
                <a:solidFill>
                  <a:srgbClr val="2B3440"/>
                </a:solidFill>
                <a:latin typeface="Calibri"/>
              </a:rPr>
              <a:t>thách</a:t>
            </a:r>
            <a:r>
              <a:rPr sz="1600" b="0" i="0" dirty="0">
                <a:solidFill>
                  <a:srgbClr val="2B3440"/>
                </a:solidFill>
                <a:latin typeface="Calibri"/>
              </a:rPr>
              <a:t> </a:t>
            </a:r>
            <a:r>
              <a:rPr sz="1600" b="0" i="0" dirty="0" err="1">
                <a:solidFill>
                  <a:srgbClr val="2B3440"/>
                </a:solidFill>
                <a:latin typeface="Calibri"/>
              </a:rPr>
              <a:t>thức</a:t>
            </a:r>
            <a:r>
              <a:rPr sz="1600" b="0" i="0" dirty="0">
                <a:solidFill>
                  <a:srgbClr val="2B3440"/>
                </a:solidFill>
                <a:latin typeface="Calibri"/>
              </a:rPr>
              <a:t> </a:t>
            </a:r>
            <a:r>
              <a:rPr sz="1600" b="0" i="0" dirty="0" err="1">
                <a:solidFill>
                  <a:srgbClr val="2B3440"/>
                </a:solidFill>
                <a:latin typeface="Calibri"/>
              </a:rPr>
              <a:t>lớn</a:t>
            </a:r>
            <a:r>
              <a:rPr sz="1600" b="0" i="0" dirty="0">
                <a:solidFill>
                  <a:srgbClr val="2B3440"/>
                </a:solidFill>
                <a:latin typeface="Calibri"/>
              </a:rPr>
              <a:t> </a:t>
            </a:r>
            <a:r>
              <a:rPr sz="1600" b="0" i="0" dirty="0" err="1">
                <a:solidFill>
                  <a:srgbClr val="2B3440"/>
                </a:solidFill>
                <a:latin typeface="Calibri"/>
              </a:rPr>
              <a:t>trong</a:t>
            </a:r>
            <a:r>
              <a:rPr sz="1600" b="0" i="0" dirty="0">
                <a:solidFill>
                  <a:srgbClr val="2B3440"/>
                </a:solidFill>
                <a:latin typeface="Calibri"/>
              </a:rPr>
              <a:t> </a:t>
            </a:r>
            <a:r>
              <a:rPr sz="1600" b="0" i="0" dirty="0" err="1">
                <a:solidFill>
                  <a:srgbClr val="2B3440"/>
                </a:solidFill>
                <a:latin typeface="Calibri"/>
              </a:rPr>
              <a:t>lĩnh</a:t>
            </a:r>
            <a:r>
              <a:rPr sz="1600" b="0" i="0" dirty="0">
                <a:solidFill>
                  <a:srgbClr val="2B3440"/>
                </a:solidFill>
                <a:latin typeface="Calibri"/>
              </a:rPr>
              <a:t> </a:t>
            </a:r>
            <a:r>
              <a:rPr sz="1600" b="0" i="0" dirty="0" err="1">
                <a:solidFill>
                  <a:srgbClr val="2B3440"/>
                </a:solidFill>
                <a:latin typeface="Calibri"/>
              </a:rPr>
              <a:t>vực</a:t>
            </a:r>
            <a:r>
              <a:rPr sz="1600" b="0" i="0" dirty="0">
                <a:solidFill>
                  <a:srgbClr val="2B3440"/>
                </a:solidFill>
                <a:latin typeface="Calibri"/>
              </a:rPr>
              <a:t> </a:t>
            </a:r>
            <a:r>
              <a:rPr sz="1600" b="0" i="0" dirty="0" err="1">
                <a:solidFill>
                  <a:srgbClr val="2B3440"/>
                </a:solidFill>
                <a:latin typeface="Calibri"/>
              </a:rPr>
              <a:t>chăm</a:t>
            </a:r>
            <a:r>
              <a:rPr sz="1600" b="0" i="0" dirty="0">
                <a:solidFill>
                  <a:srgbClr val="2B3440"/>
                </a:solidFill>
                <a:latin typeface="Calibri"/>
              </a:rPr>
              <a:t> </a:t>
            </a:r>
            <a:r>
              <a:rPr sz="1600" b="0" i="0" dirty="0" err="1">
                <a:solidFill>
                  <a:srgbClr val="2B3440"/>
                </a:solidFill>
                <a:latin typeface="Calibri"/>
              </a:rPr>
              <a:t>sóc</a:t>
            </a:r>
            <a:r>
              <a:rPr sz="1600" b="0" i="0" dirty="0">
                <a:solidFill>
                  <a:srgbClr val="2B3440"/>
                </a:solidFill>
                <a:latin typeface="Calibri"/>
              </a:rPr>
              <a:t> </a:t>
            </a:r>
            <a:r>
              <a:rPr sz="1600" b="0" i="0" dirty="0" err="1">
                <a:solidFill>
                  <a:srgbClr val="2B3440"/>
                </a:solidFill>
                <a:latin typeface="Calibri"/>
              </a:rPr>
              <a:t>sức</a:t>
            </a:r>
            <a:r>
              <a:rPr sz="1600" b="0" i="0" dirty="0">
                <a:solidFill>
                  <a:srgbClr val="2B3440"/>
                </a:solidFill>
                <a:latin typeface="Calibri"/>
              </a:rPr>
              <a:t> </a:t>
            </a:r>
            <a:r>
              <a:rPr sz="1600" b="0" i="0" dirty="0" err="1">
                <a:solidFill>
                  <a:srgbClr val="2B3440"/>
                </a:solidFill>
                <a:latin typeface="Calibri"/>
              </a:rPr>
              <a:t>khỏe</a:t>
            </a:r>
            <a:r>
              <a:rPr sz="1600" b="0" i="0" dirty="0">
                <a:solidFill>
                  <a:srgbClr val="2B3440"/>
                </a:solidFill>
                <a:latin typeface="Calibri"/>
              </a:rPr>
              <a:t>.</a:t>
            </a:r>
          </a:p>
        </p:txBody>
      </p:sp>
      <p:sp>
        <p:nvSpPr>
          <p:cNvPr id="12" name="Rectangle 11"/>
          <p:cNvSpPr/>
          <p:nvPr/>
        </p:nvSpPr>
        <p:spPr>
          <a:xfrm>
            <a:off x="658368" y="3145536"/>
            <a:ext cx="5074920" cy="1417320"/>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58368" y="3145536"/>
            <a:ext cx="50292" cy="1417320"/>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77824" y="3300984"/>
            <a:ext cx="4718303" cy="548640"/>
          </a:xfrm>
          <a:prstGeom prst="rect">
            <a:avLst/>
          </a:prstGeom>
          <a:noFill/>
        </p:spPr>
        <p:txBody>
          <a:bodyPr wrap="square" lIns="0" tIns="0" rIns="0" bIns="0" anchor="t">
            <a:spAutoFit/>
          </a:bodyPr>
          <a:lstStyle/>
          <a:p>
            <a:pPr algn="l">
              <a:lnSpc>
                <a:spcPct val="108000"/>
              </a:lnSpc>
            </a:pPr>
            <a:r>
              <a:rPr sz="1500" b="1" i="0">
                <a:solidFill>
                  <a:srgbClr val="0A2540"/>
                </a:solidFill>
                <a:latin typeface="Calibri"/>
              </a:rPr>
              <a:t>MOMENTUM  —  Động lực phát triển</a:t>
            </a:r>
          </a:p>
        </p:txBody>
      </p:sp>
      <p:sp>
        <p:nvSpPr>
          <p:cNvPr id="15" name="TextBox 14"/>
          <p:cNvSpPr txBox="1"/>
          <p:nvPr/>
        </p:nvSpPr>
        <p:spPr>
          <a:xfrm>
            <a:off x="877824" y="3630168"/>
            <a:ext cx="4690872" cy="507383"/>
          </a:xfrm>
          <a:prstGeom prst="rect">
            <a:avLst/>
          </a:prstGeom>
          <a:noFill/>
        </p:spPr>
        <p:txBody>
          <a:bodyPr wrap="square" lIns="0" tIns="0" rIns="0" bIns="0" anchor="t">
            <a:spAutoFit/>
          </a:bodyPr>
          <a:lstStyle/>
          <a:p>
            <a:pPr algn="l">
              <a:lnSpc>
                <a:spcPct val="122000"/>
              </a:lnSpc>
            </a:pPr>
            <a:r>
              <a:rPr sz="1400" b="0" i="0" dirty="0" err="1">
                <a:solidFill>
                  <a:srgbClr val="2B3440"/>
                </a:solidFill>
                <a:latin typeface="Calibri"/>
              </a:rPr>
              <a:t>Không</a:t>
            </a:r>
            <a:r>
              <a:rPr sz="1400" b="0" i="0" dirty="0">
                <a:solidFill>
                  <a:srgbClr val="2B3440"/>
                </a:solidFill>
                <a:latin typeface="Calibri"/>
              </a:rPr>
              <a:t> </a:t>
            </a:r>
            <a:r>
              <a:rPr sz="1400" b="0" i="0" dirty="0" err="1">
                <a:solidFill>
                  <a:srgbClr val="2B3440"/>
                </a:solidFill>
                <a:latin typeface="Calibri"/>
              </a:rPr>
              <a:t>ngừng</a:t>
            </a:r>
            <a:r>
              <a:rPr sz="1400" b="0" i="0" dirty="0">
                <a:solidFill>
                  <a:srgbClr val="2B3440"/>
                </a:solidFill>
                <a:latin typeface="Calibri"/>
              </a:rPr>
              <a:t> </a:t>
            </a:r>
            <a:r>
              <a:rPr sz="1400" b="0" i="0" dirty="0" err="1">
                <a:solidFill>
                  <a:srgbClr val="2B3440"/>
                </a:solidFill>
                <a:latin typeface="Calibri"/>
              </a:rPr>
              <a:t>đổi</a:t>
            </a:r>
            <a:r>
              <a:rPr sz="1400" b="0" i="0" dirty="0">
                <a:solidFill>
                  <a:srgbClr val="2B3440"/>
                </a:solidFill>
                <a:latin typeface="Calibri"/>
              </a:rPr>
              <a:t> </a:t>
            </a:r>
            <a:r>
              <a:rPr sz="1400" b="0" i="0" dirty="0" err="1">
                <a:solidFill>
                  <a:srgbClr val="2B3440"/>
                </a:solidFill>
                <a:latin typeface="Calibri"/>
              </a:rPr>
              <a:t>mới</a:t>
            </a:r>
            <a:r>
              <a:rPr sz="1400" b="0" i="0" dirty="0">
                <a:solidFill>
                  <a:srgbClr val="2B3440"/>
                </a:solidFill>
                <a:latin typeface="Calibri"/>
              </a:rPr>
              <a:t>, </a:t>
            </a:r>
            <a:r>
              <a:rPr sz="1400" b="0" i="0" dirty="0" err="1">
                <a:solidFill>
                  <a:srgbClr val="2B3440"/>
                </a:solidFill>
                <a:latin typeface="Calibri"/>
              </a:rPr>
              <a:t>tạo</a:t>
            </a:r>
            <a:r>
              <a:rPr sz="1400" b="0" i="0" dirty="0">
                <a:solidFill>
                  <a:srgbClr val="2B3440"/>
                </a:solidFill>
                <a:latin typeface="Calibri"/>
              </a:rPr>
              <a:t> </a:t>
            </a:r>
            <a:r>
              <a:rPr sz="1400" b="0" i="0" dirty="0" err="1">
                <a:solidFill>
                  <a:srgbClr val="2B3440"/>
                </a:solidFill>
                <a:latin typeface="Calibri"/>
              </a:rPr>
              <a:t>đà</a:t>
            </a:r>
            <a:r>
              <a:rPr sz="1400" b="0" i="0" dirty="0">
                <a:solidFill>
                  <a:srgbClr val="2B3440"/>
                </a:solidFill>
                <a:latin typeface="Calibri"/>
              </a:rPr>
              <a:t> </a:t>
            </a:r>
            <a:r>
              <a:rPr sz="1400" b="0" i="0" dirty="0" err="1">
                <a:solidFill>
                  <a:srgbClr val="2B3440"/>
                </a:solidFill>
                <a:latin typeface="Calibri"/>
              </a:rPr>
              <a:t>phát</a:t>
            </a:r>
            <a:r>
              <a:rPr sz="1400" b="0" i="0" dirty="0">
                <a:solidFill>
                  <a:srgbClr val="2B3440"/>
                </a:solidFill>
                <a:latin typeface="Calibri"/>
              </a:rPr>
              <a:t> </a:t>
            </a:r>
            <a:r>
              <a:rPr sz="1400" b="0" i="0" dirty="0" err="1">
                <a:solidFill>
                  <a:srgbClr val="2B3440"/>
                </a:solidFill>
                <a:latin typeface="Calibri"/>
              </a:rPr>
              <a:t>triển</a:t>
            </a:r>
            <a:r>
              <a:rPr sz="1400" b="0" i="0" dirty="0">
                <a:solidFill>
                  <a:srgbClr val="2B3440"/>
                </a:solidFill>
                <a:latin typeface="Calibri"/>
              </a:rPr>
              <a:t> </a:t>
            </a:r>
            <a:r>
              <a:rPr sz="1400" b="0" i="0" dirty="0" err="1">
                <a:solidFill>
                  <a:srgbClr val="2B3440"/>
                </a:solidFill>
                <a:latin typeface="Calibri"/>
              </a:rPr>
              <a:t>bền</a:t>
            </a:r>
            <a:r>
              <a:rPr sz="1400" b="0" i="0" dirty="0">
                <a:solidFill>
                  <a:srgbClr val="2B3440"/>
                </a:solidFill>
                <a:latin typeface="Calibri"/>
              </a:rPr>
              <a:t> </a:t>
            </a:r>
            <a:r>
              <a:rPr sz="1400" b="0" i="0" dirty="0" err="1">
                <a:solidFill>
                  <a:srgbClr val="2B3440"/>
                </a:solidFill>
                <a:latin typeface="Calibri"/>
              </a:rPr>
              <a:t>vững</a:t>
            </a:r>
            <a:r>
              <a:rPr sz="1400" b="0" i="0" dirty="0">
                <a:solidFill>
                  <a:srgbClr val="2B3440"/>
                </a:solidFill>
                <a:latin typeface="Calibri"/>
              </a:rPr>
              <a:t> </a:t>
            </a:r>
            <a:r>
              <a:rPr sz="1400" b="0" i="0" dirty="0" err="1">
                <a:solidFill>
                  <a:srgbClr val="2B3440"/>
                </a:solidFill>
                <a:latin typeface="Calibri"/>
              </a:rPr>
              <a:t>cho</a:t>
            </a:r>
            <a:r>
              <a:rPr sz="1400" b="0" i="0" dirty="0">
                <a:solidFill>
                  <a:srgbClr val="2B3440"/>
                </a:solidFill>
                <a:latin typeface="Calibri"/>
              </a:rPr>
              <a:t> </a:t>
            </a:r>
            <a:r>
              <a:rPr sz="1400" b="0" i="0" dirty="0" err="1">
                <a:solidFill>
                  <a:srgbClr val="2B3440"/>
                </a:solidFill>
                <a:latin typeface="Calibri"/>
              </a:rPr>
              <a:t>hệ</a:t>
            </a:r>
            <a:r>
              <a:rPr sz="1400" b="0" i="0" dirty="0">
                <a:solidFill>
                  <a:srgbClr val="2B3440"/>
                </a:solidFill>
                <a:latin typeface="Calibri"/>
              </a:rPr>
              <a:t> </a:t>
            </a:r>
            <a:r>
              <a:rPr sz="1400" b="0" i="0" dirty="0" err="1">
                <a:solidFill>
                  <a:srgbClr val="2B3440"/>
                </a:solidFill>
                <a:latin typeface="Calibri"/>
              </a:rPr>
              <a:t>thống</a:t>
            </a:r>
            <a:r>
              <a:rPr sz="1400" b="0" i="0" dirty="0">
                <a:solidFill>
                  <a:srgbClr val="2B3440"/>
                </a:solidFill>
                <a:latin typeface="Calibri"/>
              </a:rPr>
              <a:t> y </a:t>
            </a:r>
            <a:r>
              <a:rPr sz="1400" b="0" i="0" dirty="0" err="1">
                <a:solidFill>
                  <a:srgbClr val="2B3440"/>
                </a:solidFill>
                <a:latin typeface="Calibri"/>
              </a:rPr>
              <a:t>tế</a:t>
            </a:r>
            <a:r>
              <a:rPr sz="1400" b="0" i="0" dirty="0">
                <a:solidFill>
                  <a:srgbClr val="2B3440"/>
                </a:solidFill>
                <a:latin typeface="Calibri"/>
              </a:rPr>
              <a:t> </a:t>
            </a:r>
            <a:r>
              <a:rPr sz="1400" b="0" i="0" dirty="0" err="1">
                <a:solidFill>
                  <a:srgbClr val="2B3440"/>
                </a:solidFill>
                <a:latin typeface="Calibri"/>
              </a:rPr>
              <a:t>toàn</a:t>
            </a:r>
            <a:r>
              <a:rPr sz="1400" b="0" i="0" dirty="0">
                <a:solidFill>
                  <a:srgbClr val="2B3440"/>
                </a:solidFill>
                <a:latin typeface="Calibri"/>
              </a:rPr>
              <a:t> </a:t>
            </a:r>
            <a:r>
              <a:rPr sz="1400" b="0" i="0" dirty="0" err="1">
                <a:solidFill>
                  <a:srgbClr val="2B3440"/>
                </a:solidFill>
                <a:latin typeface="Calibri"/>
              </a:rPr>
              <a:t>cầu</a:t>
            </a:r>
            <a:r>
              <a:rPr sz="1400" b="0" i="0" dirty="0">
                <a:solidFill>
                  <a:srgbClr val="2B3440"/>
                </a:solidFill>
                <a:latin typeface="Calibri"/>
              </a:rPr>
              <a:t> </a:t>
            </a:r>
            <a:r>
              <a:rPr sz="1400" b="0" i="0" dirty="0" err="1">
                <a:solidFill>
                  <a:srgbClr val="2B3440"/>
                </a:solidFill>
                <a:latin typeface="Calibri"/>
              </a:rPr>
              <a:t>và</a:t>
            </a:r>
            <a:r>
              <a:rPr sz="1400" b="0" i="0" dirty="0">
                <a:solidFill>
                  <a:srgbClr val="2B3440"/>
                </a:solidFill>
                <a:latin typeface="Calibri"/>
              </a:rPr>
              <a:t> </a:t>
            </a:r>
            <a:r>
              <a:rPr sz="1400" b="0" i="0" dirty="0" err="1">
                <a:solidFill>
                  <a:srgbClr val="2B3440"/>
                </a:solidFill>
                <a:latin typeface="Calibri"/>
              </a:rPr>
              <a:t>thị</a:t>
            </a:r>
            <a:r>
              <a:rPr sz="1400" b="0" i="0" dirty="0">
                <a:solidFill>
                  <a:srgbClr val="2B3440"/>
                </a:solidFill>
                <a:latin typeface="Calibri"/>
              </a:rPr>
              <a:t> </a:t>
            </a:r>
            <a:r>
              <a:rPr sz="1400" b="0" i="0" dirty="0" err="1">
                <a:solidFill>
                  <a:srgbClr val="2B3440"/>
                </a:solidFill>
                <a:latin typeface="Calibri"/>
              </a:rPr>
              <a:t>trường</a:t>
            </a:r>
            <a:r>
              <a:rPr sz="1400" b="0" i="0" dirty="0">
                <a:solidFill>
                  <a:srgbClr val="2B3440"/>
                </a:solidFill>
                <a:latin typeface="Calibri"/>
              </a:rPr>
              <a:t> </a:t>
            </a:r>
            <a:r>
              <a:rPr sz="1400" b="0" i="0" dirty="0" err="1">
                <a:solidFill>
                  <a:srgbClr val="2B3440"/>
                </a:solidFill>
                <a:latin typeface="Calibri"/>
              </a:rPr>
              <a:t>Việt</a:t>
            </a:r>
            <a:r>
              <a:rPr sz="1400" b="0" i="0" dirty="0">
                <a:solidFill>
                  <a:srgbClr val="2B3440"/>
                </a:solidFill>
                <a:latin typeface="Calibri"/>
              </a:rPr>
              <a:t> Nam.</a:t>
            </a:r>
          </a:p>
        </p:txBody>
      </p:sp>
      <p:sp>
        <p:nvSpPr>
          <p:cNvPr id="16" name="Rectangle 15"/>
          <p:cNvSpPr/>
          <p:nvPr/>
        </p:nvSpPr>
        <p:spPr>
          <a:xfrm>
            <a:off x="658368" y="4718304"/>
            <a:ext cx="5074920" cy="1042415"/>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4813498"/>
            <a:ext cx="4572000" cy="852028"/>
          </a:xfrm>
          <a:prstGeom prst="rect">
            <a:avLst/>
          </a:prstGeom>
          <a:noFill/>
        </p:spPr>
        <p:txBody>
          <a:bodyPr wrap="square" lIns="0" tIns="0" rIns="0" bIns="0" anchor="ctr">
            <a:spAutoFit/>
          </a:bodyPr>
          <a:lstStyle/>
          <a:p>
            <a:pPr algn="l">
              <a:lnSpc>
                <a:spcPct val="110000"/>
              </a:lnSpc>
            </a:pPr>
            <a:r>
              <a:rPr sz="1600" b="1" i="0" dirty="0">
                <a:solidFill>
                  <a:srgbClr val="00C2A8"/>
                </a:solidFill>
                <a:latin typeface="Calibri"/>
              </a:rPr>
              <a:t>SOLVING  +  MOMENTUM  =  SOLVENTUM</a:t>
            </a:r>
          </a:p>
          <a:p>
            <a:pPr algn="l">
              <a:lnSpc>
                <a:spcPct val="120000"/>
              </a:lnSpc>
              <a:spcBef>
                <a:spcPts val="500"/>
              </a:spcBef>
            </a:pPr>
            <a:r>
              <a:rPr sz="1400" b="0" i="0" dirty="0" err="1">
                <a:solidFill>
                  <a:srgbClr val="B6C9D8"/>
                </a:solidFill>
                <a:latin typeface="Calibri"/>
              </a:rPr>
              <a:t>Tên</a:t>
            </a:r>
            <a:r>
              <a:rPr sz="1400" b="0" i="0" dirty="0">
                <a:solidFill>
                  <a:srgbClr val="B6C9D8"/>
                </a:solidFill>
                <a:latin typeface="Calibri"/>
              </a:rPr>
              <a:t> </a:t>
            </a:r>
            <a:r>
              <a:rPr sz="1400" b="0" i="0" dirty="0" err="1">
                <a:solidFill>
                  <a:srgbClr val="B6C9D8"/>
                </a:solidFill>
                <a:latin typeface="Calibri"/>
              </a:rPr>
              <a:t>gọi</a:t>
            </a:r>
            <a:r>
              <a:rPr sz="1400" b="0" i="0" dirty="0">
                <a:solidFill>
                  <a:srgbClr val="B6C9D8"/>
                </a:solidFill>
                <a:latin typeface="Calibri"/>
              </a:rPr>
              <a:t> </a:t>
            </a:r>
            <a:r>
              <a:rPr sz="1400" b="0" i="0" dirty="0" err="1">
                <a:solidFill>
                  <a:srgbClr val="B6C9D8"/>
                </a:solidFill>
                <a:latin typeface="Calibri"/>
              </a:rPr>
              <a:t>thể</a:t>
            </a:r>
            <a:r>
              <a:rPr sz="1400" b="0" i="0" dirty="0">
                <a:solidFill>
                  <a:srgbClr val="B6C9D8"/>
                </a:solidFill>
                <a:latin typeface="Calibri"/>
              </a:rPr>
              <a:t> </a:t>
            </a:r>
            <a:r>
              <a:rPr sz="1400" b="0" i="0" dirty="0" err="1">
                <a:solidFill>
                  <a:srgbClr val="B6C9D8"/>
                </a:solidFill>
                <a:latin typeface="Calibri"/>
              </a:rPr>
              <a:t>hiện</a:t>
            </a:r>
            <a:r>
              <a:rPr sz="1400" b="0" i="0" dirty="0">
                <a:solidFill>
                  <a:srgbClr val="B6C9D8"/>
                </a:solidFill>
                <a:latin typeface="Calibri"/>
              </a:rPr>
              <a:t> </a:t>
            </a:r>
            <a:r>
              <a:rPr sz="1400" b="0" i="0" dirty="0" err="1">
                <a:solidFill>
                  <a:srgbClr val="B6C9D8"/>
                </a:solidFill>
                <a:latin typeface="Calibri"/>
              </a:rPr>
              <a:t>định</a:t>
            </a:r>
            <a:r>
              <a:rPr sz="1400" b="0" i="0" dirty="0">
                <a:solidFill>
                  <a:srgbClr val="B6C9D8"/>
                </a:solidFill>
                <a:latin typeface="Calibri"/>
              </a:rPr>
              <a:t> </a:t>
            </a:r>
            <a:r>
              <a:rPr sz="1400" b="0" i="0" dirty="0" err="1">
                <a:solidFill>
                  <a:srgbClr val="B6C9D8"/>
                </a:solidFill>
                <a:latin typeface="Calibri"/>
              </a:rPr>
              <a:t>hướng</a:t>
            </a:r>
            <a:r>
              <a:rPr sz="1400" b="0" i="0" dirty="0">
                <a:solidFill>
                  <a:srgbClr val="B6C9D8"/>
                </a:solidFill>
                <a:latin typeface="Calibri"/>
              </a:rPr>
              <a:t> </a:t>
            </a:r>
            <a:r>
              <a:rPr sz="1400" b="0" i="0" dirty="0" err="1">
                <a:solidFill>
                  <a:srgbClr val="B6C9D8"/>
                </a:solidFill>
                <a:latin typeface="Calibri"/>
              </a:rPr>
              <a:t>đổi</a:t>
            </a:r>
            <a:r>
              <a:rPr sz="1400" b="0" i="0" dirty="0">
                <a:solidFill>
                  <a:srgbClr val="B6C9D8"/>
                </a:solidFill>
                <a:latin typeface="Calibri"/>
              </a:rPr>
              <a:t> </a:t>
            </a:r>
            <a:r>
              <a:rPr sz="1400" b="0" i="0" dirty="0" err="1">
                <a:solidFill>
                  <a:srgbClr val="B6C9D8"/>
                </a:solidFill>
                <a:latin typeface="Calibri"/>
              </a:rPr>
              <a:t>mới</a:t>
            </a:r>
            <a:r>
              <a:rPr sz="1400" b="0" i="0" dirty="0">
                <a:solidFill>
                  <a:srgbClr val="B6C9D8"/>
                </a:solidFill>
                <a:latin typeface="Calibri"/>
              </a:rPr>
              <a:t> </a:t>
            </a:r>
            <a:r>
              <a:rPr sz="1400" b="0" i="0" dirty="0" err="1">
                <a:solidFill>
                  <a:srgbClr val="B6C9D8"/>
                </a:solidFill>
                <a:latin typeface="Calibri"/>
              </a:rPr>
              <a:t>liên</a:t>
            </a:r>
            <a:r>
              <a:rPr sz="1400" b="0" i="0" dirty="0">
                <a:solidFill>
                  <a:srgbClr val="B6C9D8"/>
                </a:solidFill>
                <a:latin typeface="Calibri"/>
              </a:rPr>
              <a:t> </a:t>
            </a:r>
            <a:r>
              <a:rPr sz="1400" b="0" i="0" dirty="0" err="1">
                <a:solidFill>
                  <a:srgbClr val="B6C9D8"/>
                </a:solidFill>
                <a:latin typeface="Calibri"/>
              </a:rPr>
              <a:t>tục</a:t>
            </a:r>
            <a:r>
              <a:rPr sz="1400" b="0" i="0" dirty="0">
                <a:solidFill>
                  <a:srgbClr val="B6C9D8"/>
                </a:solidFill>
                <a:latin typeface="Calibri"/>
              </a:rPr>
              <a:t> </a:t>
            </a:r>
            <a:r>
              <a:rPr sz="1400" b="0" i="0" dirty="0" err="1">
                <a:solidFill>
                  <a:srgbClr val="B6C9D8"/>
                </a:solidFill>
                <a:latin typeface="Calibri"/>
              </a:rPr>
              <a:t>của</a:t>
            </a:r>
            <a:r>
              <a:rPr sz="1400" b="0" i="0" dirty="0">
                <a:solidFill>
                  <a:srgbClr val="B6C9D8"/>
                </a:solidFill>
                <a:latin typeface="Calibri"/>
              </a:rPr>
              <a:t> </a:t>
            </a:r>
            <a:r>
              <a:rPr sz="1400" b="0" i="0" dirty="0" err="1">
                <a:solidFill>
                  <a:srgbClr val="B6C9D8"/>
                </a:solidFill>
                <a:latin typeface="Calibri"/>
              </a:rPr>
              <a:t>doanh</a:t>
            </a:r>
            <a:r>
              <a:rPr sz="1400" b="0" i="0" dirty="0">
                <a:solidFill>
                  <a:srgbClr val="B6C9D8"/>
                </a:solidFill>
                <a:latin typeface="Calibri"/>
              </a:rPr>
              <a:t> </a:t>
            </a:r>
            <a:r>
              <a:rPr sz="1400" b="0" i="0" dirty="0" err="1">
                <a:solidFill>
                  <a:srgbClr val="B6C9D8"/>
                </a:solidFill>
                <a:latin typeface="Calibri"/>
              </a:rPr>
              <a:t>nghiệp</a:t>
            </a:r>
            <a:r>
              <a:rPr sz="1400" b="0" i="0" dirty="0">
                <a:solidFill>
                  <a:srgbClr val="B6C9D8"/>
                </a:solidFill>
                <a:latin typeface="Calibri"/>
              </a:rPr>
              <a:t>.</a:t>
            </a:r>
          </a:p>
        </p:txBody>
      </p:sp>
      <p:pic>
        <p:nvPicPr>
          <p:cNvPr id="20" name="Picture 19"/>
          <p:cNvPicPr/>
          <p:nvPr/>
        </p:nvPicPr>
        <p:blipFill>
          <a:blip r:embed="rId2" cstate="print">
            <a:extLst>
              <a:ext uri="{28A0092B-C50C-407E-A947-70E740481C1C}">
                <a14:useLocalDpi xmlns:a14="http://schemas.microsoft.com/office/drawing/2010/main" val="0"/>
              </a:ext>
            </a:extLst>
          </a:blip>
          <a:stretch>
            <a:fillRect/>
          </a:stretch>
        </p:blipFill>
        <p:spPr>
          <a:xfrm>
            <a:off x="5733288" y="1728216"/>
            <a:ext cx="5758815" cy="3839210"/>
          </a:xfrm>
          <a:prstGeom prst="rect">
            <a:avLst/>
          </a:prstGeom>
        </p:spPr>
      </p:pic>
      <p:pic>
        <p:nvPicPr>
          <p:cNvPr id="21" name="Picture 20"/>
          <p:cNvPicPr/>
          <p:nvPr/>
        </p:nvPicPr>
        <p:blipFill>
          <a:blip r:embed="rId2" cstate="print">
            <a:extLst>
              <a:ext uri="{28A0092B-C50C-407E-A947-70E740481C1C}">
                <a14:useLocalDpi xmlns:a14="http://schemas.microsoft.com/office/drawing/2010/main" val="0"/>
              </a:ext>
            </a:extLst>
          </a:blip>
          <a:stretch>
            <a:fillRect/>
          </a:stretch>
        </p:blipFill>
        <p:spPr>
          <a:xfrm>
            <a:off x="5897880" y="1728216"/>
            <a:ext cx="5758815" cy="3839210"/>
          </a:xfrm>
          <a:prstGeom prst="rect">
            <a:avLst/>
          </a:prstGeom>
        </p:spPr>
      </p:pic>
    </p:spTree>
    <p:extLst>
      <p:ext uri="{BB962C8B-B14F-4D97-AF65-F5344CB8AC3E}">
        <p14:creationId xmlns:p14="http://schemas.microsoft.com/office/powerpoint/2010/main" val="9248217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CHƯƠNG 1 · 1.2 SẢN PHẨM VÀ DỊCH VỤ</a:t>
            </a:r>
          </a:p>
        </p:txBody>
      </p:sp>
      <p:sp>
        <p:nvSpPr>
          <p:cNvPr id="3" name="TextBox 2"/>
          <p:cNvSpPr txBox="1"/>
          <p:nvPr/>
        </p:nvSpPr>
        <p:spPr>
          <a:xfrm>
            <a:off x="658368" y="640080"/>
            <a:ext cx="10874959" cy="603504"/>
          </a:xfrm>
          <a:prstGeom prst="rect">
            <a:avLst/>
          </a:prstGeom>
          <a:noFill/>
        </p:spPr>
        <p:txBody>
          <a:bodyPr wrap="square" lIns="0" tIns="0" rIns="0" bIns="0" anchor="t">
            <a:spAutoFit/>
          </a:bodyPr>
          <a:lstStyle/>
          <a:p>
            <a:pPr algn="l">
              <a:lnSpc>
                <a:spcPct val="105000"/>
              </a:lnSpc>
            </a:pPr>
            <a:r>
              <a:rPr sz="2500" b="1" i="0">
                <a:solidFill>
                  <a:srgbClr val="0A2540"/>
                </a:solidFill>
                <a:latin typeface="Calibri"/>
              </a:rPr>
              <a:t>BA NHÓM SẢN PHẨM &amp; GIẢI PHÁP CHỦ LỰC</a:t>
            </a: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371600"/>
            <a:ext cx="10874959" cy="274320"/>
          </a:xfrm>
          <a:prstGeom prst="rect">
            <a:avLst/>
          </a:prstGeom>
          <a:noFill/>
        </p:spPr>
        <p:txBody>
          <a:bodyPr wrap="square" lIns="0" tIns="0" rIns="0" bIns="0" anchor="t">
            <a:spAutoFit/>
          </a:bodyPr>
          <a:lstStyle/>
          <a:p>
            <a:pPr algn="l">
              <a:lnSpc>
                <a:spcPct val="118000"/>
              </a:lnSpc>
            </a:pPr>
            <a:r>
              <a:rPr sz="1100" b="0" i="1">
                <a:solidFill>
                  <a:srgbClr val="6B7784"/>
                </a:solidFill>
                <a:latin typeface="Calibri"/>
              </a:rPr>
              <a:t>Bảng 1.1 — Các nhóm sản phẩm và giải pháp của Solventum Việt Nam</a:t>
            </a:r>
          </a:p>
        </p:txBody>
      </p:sp>
      <p:sp>
        <p:nvSpPr>
          <p:cNvPr id="7" name="TextBox 6"/>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8" name="TextBox 7"/>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6</a:t>
            </a:r>
          </a:p>
        </p:txBody>
      </p:sp>
      <p:sp>
        <p:nvSpPr>
          <p:cNvPr id="9" name="Rectangle 8"/>
          <p:cNvSpPr/>
          <p:nvPr/>
        </p:nvSpPr>
        <p:spPr>
          <a:xfrm>
            <a:off x="658368" y="1755648"/>
            <a:ext cx="3442106" cy="2606040"/>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58368" y="1755648"/>
            <a:ext cx="3442106" cy="50292"/>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6112" y="1938528"/>
            <a:ext cx="2984906" cy="310896"/>
          </a:xfrm>
          <a:prstGeom prst="rect">
            <a:avLst/>
          </a:prstGeom>
          <a:noFill/>
        </p:spPr>
        <p:txBody>
          <a:bodyPr wrap="square" lIns="0" tIns="0" rIns="0" bIns="0" anchor="t">
            <a:spAutoFit/>
          </a:bodyPr>
          <a:lstStyle/>
          <a:p>
            <a:pPr algn="l">
              <a:lnSpc>
                <a:spcPct val="100000"/>
              </a:lnSpc>
            </a:pPr>
            <a:r>
              <a:rPr sz="1700" b="1" i="0">
                <a:solidFill>
                  <a:srgbClr val="0096D6"/>
                </a:solidFill>
                <a:latin typeface="Calibri"/>
              </a:rPr>
              <a:t>01</a:t>
            </a:r>
          </a:p>
        </p:txBody>
      </p:sp>
      <p:sp>
        <p:nvSpPr>
          <p:cNvPr id="12" name="TextBox 11"/>
          <p:cNvSpPr txBox="1"/>
          <p:nvPr/>
        </p:nvSpPr>
        <p:spPr>
          <a:xfrm>
            <a:off x="896112" y="2304288"/>
            <a:ext cx="2984906" cy="548640"/>
          </a:xfrm>
          <a:prstGeom prst="rect">
            <a:avLst/>
          </a:prstGeom>
          <a:noFill/>
        </p:spPr>
        <p:txBody>
          <a:bodyPr wrap="square" lIns="0" tIns="0" rIns="0" bIns="0" anchor="t">
            <a:spAutoFit/>
          </a:bodyPr>
          <a:lstStyle/>
          <a:p>
            <a:pPr algn="l">
              <a:lnSpc>
                <a:spcPct val="105000"/>
              </a:lnSpc>
            </a:pPr>
            <a:r>
              <a:rPr sz="1400" b="1" i="0" dirty="0">
                <a:solidFill>
                  <a:srgbClr val="0A2540"/>
                </a:solidFill>
                <a:latin typeface="Calibri"/>
              </a:rPr>
              <a:t>GIẢI PHÁP Y TẾ</a:t>
            </a:r>
          </a:p>
          <a:p>
            <a:pPr algn="l">
              <a:lnSpc>
                <a:spcPct val="110000"/>
              </a:lnSpc>
              <a:spcBef>
                <a:spcPts val="200"/>
              </a:spcBef>
            </a:pPr>
            <a:r>
              <a:rPr sz="1050" b="0" i="1" dirty="0" err="1">
                <a:solidFill>
                  <a:srgbClr val="6B7784"/>
                </a:solidFill>
                <a:latin typeface="Calibri"/>
              </a:rPr>
              <a:t>MedSurg</a:t>
            </a:r>
            <a:endParaRPr sz="1050" b="0" i="1" dirty="0">
              <a:solidFill>
                <a:srgbClr val="6B7784"/>
              </a:solidFill>
              <a:latin typeface="Calibri"/>
            </a:endParaRPr>
          </a:p>
        </p:txBody>
      </p:sp>
      <p:sp>
        <p:nvSpPr>
          <p:cNvPr id="13" name="TextBox 12"/>
          <p:cNvSpPr txBox="1"/>
          <p:nvPr/>
        </p:nvSpPr>
        <p:spPr>
          <a:xfrm>
            <a:off x="896112" y="2962656"/>
            <a:ext cx="2984906" cy="1130374"/>
          </a:xfrm>
          <a:prstGeom prst="rect">
            <a:avLst/>
          </a:prstGeom>
          <a:noFill/>
        </p:spPr>
        <p:txBody>
          <a:bodyPr wrap="square" lIns="0" tIns="0" rIns="0" bIns="0" anchor="t">
            <a:spAutoFit/>
          </a:bodyPr>
          <a:lstStyle/>
          <a:p>
            <a:pPr algn="l">
              <a:lnSpc>
                <a:spcPct val="115000"/>
              </a:lnSpc>
              <a:spcAft>
                <a:spcPts val="400"/>
              </a:spcAft>
            </a:pPr>
            <a:r>
              <a:rPr sz="1400" b="0" i="0" dirty="0">
                <a:solidFill>
                  <a:srgbClr val="2B3440"/>
                </a:solidFill>
                <a:latin typeface="Calibri"/>
              </a:rPr>
              <a:t>•  </a:t>
            </a:r>
            <a:r>
              <a:rPr sz="1400" b="0" i="0" dirty="0" err="1">
                <a:solidFill>
                  <a:srgbClr val="2B3440"/>
                </a:solidFill>
                <a:latin typeface="Calibri"/>
              </a:rPr>
              <a:t>Chăm</a:t>
            </a:r>
            <a:r>
              <a:rPr sz="1400" b="0" i="0" dirty="0">
                <a:solidFill>
                  <a:srgbClr val="2B3440"/>
                </a:solidFill>
                <a:latin typeface="Calibri"/>
              </a:rPr>
              <a:t> </a:t>
            </a:r>
            <a:r>
              <a:rPr sz="1400" b="0" i="0" dirty="0" err="1">
                <a:solidFill>
                  <a:srgbClr val="2B3440"/>
                </a:solidFill>
                <a:latin typeface="Calibri"/>
              </a:rPr>
              <a:t>sóc</a:t>
            </a:r>
            <a:r>
              <a:rPr sz="1400" b="0" i="0" dirty="0">
                <a:solidFill>
                  <a:srgbClr val="2B3440"/>
                </a:solidFill>
                <a:latin typeface="Calibri"/>
              </a:rPr>
              <a:t> </a:t>
            </a:r>
            <a:r>
              <a:rPr sz="1400" b="0" i="0" dirty="0" err="1">
                <a:solidFill>
                  <a:srgbClr val="2B3440"/>
                </a:solidFill>
                <a:latin typeface="Calibri"/>
              </a:rPr>
              <a:t>vết</a:t>
            </a:r>
            <a:r>
              <a:rPr sz="1400" b="0" i="0" dirty="0">
                <a:solidFill>
                  <a:srgbClr val="2B3440"/>
                </a:solidFill>
                <a:latin typeface="Calibri"/>
              </a:rPr>
              <a:t> </a:t>
            </a:r>
            <a:r>
              <a:rPr sz="1400" b="0" i="0" dirty="0" err="1">
                <a:solidFill>
                  <a:srgbClr val="2B3440"/>
                </a:solidFill>
                <a:latin typeface="Calibri"/>
              </a:rPr>
              <a:t>thương</a:t>
            </a:r>
            <a:endParaRPr sz="1400" b="0" i="0" dirty="0">
              <a:solidFill>
                <a:srgbClr val="2B3440"/>
              </a:solidFill>
              <a:latin typeface="Calibri"/>
            </a:endParaRPr>
          </a:p>
          <a:p>
            <a:pPr algn="l">
              <a:lnSpc>
                <a:spcPct val="115000"/>
              </a:lnSpc>
              <a:spcAft>
                <a:spcPts val="400"/>
              </a:spcAft>
            </a:pPr>
            <a:r>
              <a:rPr sz="1400" b="0" i="0" dirty="0">
                <a:solidFill>
                  <a:srgbClr val="2B3440"/>
                </a:solidFill>
                <a:latin typeface="Calibri"/>
              </a:rPr>
              <a:t>•  </a:t>
            </a:r>
            <a:r>
              <a:rPr sz="1400" b="0" i="0" dirty="0" err="1">
                <a:solidFill>
                  <a:srgbClr val="2B3440"/>
                </a:solidFill>
                <a:latin typeface="Calibri"/>
              </a:rPr>
              <a:t>Kiểm</a:t>
            </a:r>
            <a:r>
              <a:rPr sz="1400" b="0" i="0" dirty="0">
                <a:solidFill>
                  <a:srgbClr val="2B3440"/>
                </a:solidFill>
                <a:latin typeface="Calibri"/>
              </a:rPr>
              <a:t> </a:t>
            </a:r>
            <a:r>
              <a:rPr sz="1400" b="0" i="0" dirty="0" err="1">
                <a:solidFill>
                  <a:srgbClr val="2B3440"/>
                </a:solidFill>
                <a:latin typeface="Calibri"/>
              </a:rPr>
              <a:t>soát</a:t>
            </a:r>
            <a:r>
              <a:rPr sz="1400" b="0" i="0" dirty="0">
                <a:solidFill>
                  <a:srgbClr val="2B3440"/>
                </a:solidFill>
                <a:latin typeface="Calibri"/>
              </a:rPr>
              <a:t> </a:t>
            </a:r>
            <a:r>
              <a:rPr sz="1400" b="0" i="0" dirty="0" err="1">
                <a:solidFill>
                  <a:srgbClr val="2B3440"/>
                </a:solidFill>
                <a:latin typeface="Calibri"/>
              </a:rPr>
              <a:t>nhiễm</a:t>
            </a:r>
            <a:r>
              <a:rPr sz="1400" b="0" i="0" dirty="0">
                <a:solidFill>
                  <a:srgbClr val="2B3440"/>
                </a:solidFill>
                <a:latin typeface="Calibri"/>
              </a:rPr>
              <a:t> </a:t>
            </a:r>
            <a:r>
              <a:rPr sz="1400" b="0" i="0" dirty="0" err="1">
                <a:solidFill>
                  <a:srgbClr val="2B3440"/>
                </a:solidFill>
                <a:latin typeface="Calibri"/>
              </a:rPr>
              <a:t>khuẩn</a:t>
            </a:r>
            <a:endParaRPr sz="1400" b="0" i="0" dirty="0">
              <a:solidFill>
                <a:srgbClr val="2B3440"/>
              </a:solidFill>
              <a:latin typeface="Calibri"/>
            </a:endParaRPr>
          </a:p>
          <a:p>
            <a:pPr algn="l">
              <a:lnSpc>
                <a:spcPct val="115000"/>
              </a:lnSpc>
              <a:spcAft>
                <a:spcPts val="400"/>
              </a:spcAft>
            </a:pPr>
            <a:r>
              <a:rPr sz="1400" b="0" i="0" dirty="0">
                <a:solidFill>
                  <a:srgbClr val="2B3440"/>
                </a:solidFill>
                <a:latin typeface="Calibri"/>
              </a:rPr>
              <a:t>•  </a:t>
            </a:r>
            <a:r>
              <a:rPr sz="1400" b="0" i="0" dirty="0" err="1">
                <a:solidFill>
                  <a:srgbClr val="2B3440"/>
                </a:solidFill>
                <a:latin typeface="Calibri"/>
              </a:rPr>
              <a:t>Kiểm</a:t>
            </a:r>
            <a:r>
              <a:rPr sz="1400" b="0" i="0" dirty="0">
                <a:solidFill>
                  <a:srgbClr val="2B3440"/>
                </a:solidFill>
                <a:latin typeface="Calibri"/>
              </a:rPr>
              <a:t> </a:t>
            </a:r>
            <a:r>
              <a:rPr sz="1400" b="0" i="0" dirty="0" err="1">
                <a:solidFill>
                  <a:srgbClr val="2B3440"/>
                </a:solidFill>
                <a:latin typeface="Calibri"/>
              </a:rPr>
              <a:t>soát</a:t>
            </a:r>
            <a:r>
              <a:rPr sz="1400" b="0" i="0" dirty="0">
                <a:solidFill>
                  <a:srgbClr val="2B3440"/>
                </a:solidFill>
                <a:latin typeface="Calibri"/>
              </a:rPr>
              <a:t> </a:t>
            </a:r>
            <a:r>
              <a:rPr sz="1400" b="0" i="0" dirty="0" err="1">
                <a:solidFill>
                  <a:srgbClr val="2B3440"/>
                </a:solidFill>
                <a:latin typeface="Calibri"/>
              </a:rPr>
              <a:t>thân</a:t>
            </a:r>
            <a:r>
              <a:rPr sz="1400" b="0" i="0" dirty="0">
                <a:solidFill>
                  <a:srgbClr val="2B3440"/>
                </a:solidFill>
                <a:latin typeface="Calibri"/>
              </a:rPr>
              <a:t> </a:t>
            </a:r>
            <a:r>
              <a:rPr sz="1400" b="0" i="0" dirty="0" err="1">
                <a:solidFill>
                  <a:srgbClr val="2B3440"/>
                </a:solidFill>
                <a:latin typeface="Calibri"/>
              </a:rPr>
              <a:t>nhiệt</a:t>
            </a:r>
            <a:r>
              <a:rPr sz="1400" b="0" i="0" dirty="0">
                <a:solidFill>
                  <a:srgbClr val="2B3440"/>
                </a:solidFill>
                <a:latin typeface="Calibri"/>
              </a:rPr>
              <a:t> </a:t>
            </a:r>
            <a:r>
              <a:rPr sz="1400" b="0" i="0" dirty="0" err="1">
                <a:solidFill>
                  <a:srgbClr val="2B3440"/>
                </a:solidFill>
                <a:latin typeface="Calibri"/>
              </a:rPr>
              <a:t>bệnh</a:t>
            </a:r>
            <a:r>
              <a:rPr sz="1400" b="0" i="0" dirty="0">
                <a:solidFill>
                  <a:srgbClr val="2B3440"/>
                </a:solidFill>
                <a:latin typeface="Calibri"/>
              </a:rPr>
              <a:t> </a:t>
            </a:r>
            <a:r>
              <a:rPr sz="1400" b="0" i="0" dirty="0" err="1">
                <a:solidFill>
                  <a:srgbClr val="2B3440"/>
                </a:solidFill>
                <a:latin typeface="Calibri"/>
              </a:rPr>
              <a:t>nhân</a:t>
            </a:r>
            <a:endParaRPr sz="1400" b="0" i="0" dirty="0">
              <a:solidFill>
                <a:srgbClr val="2B3440"/>
              </a:solidFill>
              <a:latin typeface="Calibri"/>
            </a:endParaRPr>
          </a:p>
          <a:p>
            <a:pPr algn="l">
              <a:lnSpc>
                <a:spcPct val="115000"/>
              </a:lnSpc>
              <a:spcAft>
                <a:spcPts val="400"/>
              </a:spcAft>
            </a:pPr>
            <a:r>
              <a:rPr sz="1400" b="0" i="0" dirty="0">
                <a:solidFill>
                  <a:srgbClr val="2B3440"/>
                </a:solidFill>
                <a:latin typeface="Calibri"/>
              </a:rPr>
              <a:t>•  </a:t>
            </a:r>
            <a:r>
              <a:rPr sz="1400" b="0" i="0" dirty="0" err="1">
                <a:solidFill>
                  <a:srgbClr val="2B3440"/>
                </a:solidFill>
                <a:latin typeface="Calibri"/>
              </a:rPr>
              <a:t>Thiết</a:t>
            </a:r>
            <a:r>
              <a:rPr sz="1400" b="0" i="0" dirty="0">
                <a:solidFill>
                  <a:srgbClr val="2B3440"/>
                </a:solidFill>
                <a:latin typeface="Calibri"/>
              </a:rPr>
              <a:t> </a:t>
            </a:r>
            <a:r>
              <a:rPr sz="1400" b="0" i="0" dirty="0" err="1">
                <a:solidFill>
                  <a:srgbClr val="2B3440"/>
                </a:solidFill>
                <a:latin typeface="Calibri"/>
              </a:rPr>
              <a:t>bị</a:t>
            </a:r>
            <a:r>
              <a:rPr sz="1400" b="0" i="0" dirty="0">
                <a:solidFill>
                  <a:srgbClr val="2B3440"/>
                </a:solidFill>
                <a:latin typeface="Calibri"/>
              </a:rPr>
              <a:t> </a:t>
            </a:r>
            <a:r>
              <a:rPr sz="1400" b="0" i="0" dirty="0" err="1">
                <a:solidFill>
                  <a:srgbClr val="2B3440"/>
                </a:solidFill>
                <a:latin typeface="Calibri"/>
              </a:rPr>
              <a:t>hỗ</a:t>
            </a:r>
            <a:r>
              <a:rPr sz="1400" b="0" i="0" dirty="0">
                <a:solidFill>
                  <a:srgbClr val="2B3440"/>
                </a:solidFill>
                <a:latin typeface="Calibri"/>
              </a:rPr>
              <a:t> </a:t>
            </a:r>
            <a:r>
              <a:rPr sz="1400" b="0" i="0" dirty="0" err="1">
                <a:solidFill>
                  <a:srgbClr val="2B3440"/>
                </a:solidFill>
                <a:latin typeface="Calibri"/>
              </a:rPr>
              <a:t>trợ</a:t>
            </a:r>
            <a:r>
              <a:rPr sz="1400" b="0" i="0" dirty="0">
                <a:solidFill>
                  <a:srgbClr val="2B3440"/>
                </a:solidFill>
                <a:latin typeface="Calibri"/>
              </a:rPr>
              <a:t> </a:t>
            </a:r>
            <a:r>
              <a:rPr sz="1400" b="0" i="0" dirty="0" err="1">
                <a:solidFill>
                  <a:srgbClr val="2B3440"/>
                </a:solidFill>
                <a:latin typeface="Calibri"/>
              </a:rPr>
              <a:t>phẫu</a:t>
            </a:r>
            <a:r>
              <a:rPr sz="1400" b="0" i="0" dirty="0">
                <a:solidFill>
                  <a:srgbClr val="2B3440"/>
                </a:solidFill>
                <a:latin typeface="Calibri"/>
              </a:rPr>
              <a:t> </a:t>
            </a:r>
            <a:r>
              <a:rPr sz="1400" b="0" i="0" dirty="0" err="1">
                <a:solidFill>
                  <a:srgbClr val="2B3440"/>
                </a:solidFill>
                <a:latin typeface="Calibri"/>
              </a:rPr>
              <a:t>thuật</a:t>
            </a:r>
            <a:endParaRPr sz="1400" b="0" i="0" dirty="0">
              <a:solidFill>
                <a:srgbClr val="2B3440"/>
              </a:solidFill>
              <a:latin typeface="Calibri"/>
            </a:endParaRPr>
          </a:p>
        </p:txBody>
      </p:sp>
      <p:sp>
        <p:nvSpPr>
          <p:cNvPr id="14" name="Rectangle 13"/>
          <p:cNvSpPr/>
          <p:nvPr/>
        </p:nvSpPr>
        <p:spPr>
          <a:xfrm>
            <a:off x="4374794" y="1755648"/>
            <a:ext cx="3442106" cy="2606040"/>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374794" y="1755648"/>
            <a:ext cx="3442106" cy="50292"/>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612538" y="1938528"/>
            <a:ext cx="2984906" cy="310896"/>
          </a:xfrm>
          <a:prstGeom prst="rect">
            <a:avLst/>
          </a:prstGeom>
          <a:noFill/>
        </p:spPr>
        <p:txBody>
          <a:bodyPr wrap="square" lIns="0" tIns="0" rIns="0" bIns="0" anchor="t">
            <a:spAutoFit/>
          </a:bodyPr>
          <a:lstStyle/>
          <a:p>
            <a:pPr algn="l">
              <a:lnSpc>
                <a:spcPct val="100000"/>
              </a:lnSpc>
            </a:pPr>
            <a:r>
              <a:rPr sz="1700" b="1" i="0">
                <a:solidFill>
                  <a:srgbClr val="00C2A8"/>
                </a:solidFill>
                <a:latin typeface="Calibri"/>
              </a:rPr>
              <a:t>02</a:t>
            </a:r>
          </a:p>
        </p:txBody>
      </p:sp>
      <p:sp>
        <p:nvSpPr>
          <p:cNvPr id="17" name="TextBox 16"/>
          <p:cNvSpPr txBox="1"/>
          <p:nvPr/>
        </p:nvSpPr>
        <p:spPr>
          <a:xfrm>
            <a:off x="4612538" y="2304288"/>
            <a:ext cx="2984906" cy="548640"/>
          </a:xfrm>
          <a:prstGeom prst="rect">
            <a:avLst/>
          </a:prstGeom>
          <a:noFill/>
        </p:spPr>
        <p:txBody>
          <a:bodyPr wrap="square" lIns="0" tIns="0" rIns="0" bIns="0" anchor="t">
            <a:spAutoFit/>
          </a:bodyPr>
          <a:lstStyle/>
          <a:p>
            <a:pPr algn="l">
              <a:lnSpc>
                <a:spcPct val="105000"/>
              </a:lnSpc>
            </a:pPr>
            <a:r>
              <a:rPr sz="1400" b="1" i="0">
                <a:solidFill>
                  <a:srgbClr val="0A2540"/>
                </a:solidFill>
                <a:latin typeface="Calibri"/>
              </a:rPr>
              <a:t>GIẢI PHÁP NHA KHOA</a:t>
            </a:r>
          </a:p>
          <a:p>
            <a:pPr algn="l">
              <a:lnSpc>
                <a:spcPct val="110000"/>
              </a:lnSpc>
              <a:spcBef>
                <a:spcPts val="200"/>
              </a:spcBef>
            </a:pPr>
            <a:r>
              <a:rPr sz="1050" b="0" i="1">
                <a:solidFill>
                  <a:srgbClr val="6B7784"/>
                </a:solidFill>
                <a:latin typeface="Calibri"/>
              </a:rPr>
              <a:t>Dental Solutions</a:t>
            </a:r>
          </a:p>
        </p:txBody>
      </p:sp>
      <p:sp>
        <p:nvSpPr>
          <p:cNvPr id="18" name="TextBox 17"/>
          <p:cNvSpPr txBox="1"/>
          <p:nvPr/>
        </p:nvSpPr>
        <p:spPr>
          <a:xfrm>
            <a:off x="4612538" y="2962656"/>
            <a:ext cx="2984906" cy="1130374"/>
          </a:xfrm>
          <a:prstGeom prst="rect">
            <a:avLst/>
          </a:prstGeom>
          <a:noFill/>
        </p:spPr>
        <p:txBody>
          <a:bodyPr wrap="square" lIns="0" tIns="0" rIns="0" bIns="0" anchor="t">
            <a:spAutoFit/>
          </a:bodyPr>
          <a:lstStyle/>
          <a:p>
            <a:pPr algn="l">
              <a:lnSpc>
                <a:spcPct val="115000"/>
              </a:lnSpc>
              <a:spcAft>
                <a:spcPts val="400"/>
              </a:spcAft>
            </a:pPr>
            <a:r>
              <a:rPr sz="1400" b="0" i="0" dirty="0">
                <a:solidFill>
                  <a:srgbClr val="2B3440"/>
                </a:solidFill>
                <a:latin typeface="Calibri"/>
              </a:rPr>
              <a:t>•  </a:t>
            </a:r>
            <a:r>
              <a:rPr sz="1400" b="0" i="0" dirty="0" err="1">
                <a:solidFill>
                  <a:srgbClr val="2B3440"/>
                </a:solidFill>
                <a:latin typeface="Calibri"/>
              </a:rPr>
              <a:t>Vật</a:t>
            </a:r>
            <a:r>
              <a:rPr sz="1400" b="0" i="0" dirty="0">
                <a:solidFill>
                  <a:srgbClr val="2B3440"/>
                </a:solidFill>
                <a:latin typeface="Calibri"/>
              </a:rPr>
              <a:t> </a:t>
            </a:r>
            <a:r>
              <a:rPr sz="1400" b="0" i="0" dirty="0" err="1">
                <a:solidFill>
                  <a:srgbClr val="2B3440"/>
                </a:solidFill>
                <a:latin typeface="Calibri"/>
              </a:rPr>
              <a:t>liệu</a:t>
            </a:r>
            <a:r>
              <a:rPr sz="1400" b="0" i="0" dirty="0">
                <a:solidFill>
                  <a:srgbClr val="2B3440"/>
                </a:solidFill>
                <a:latin typeface="Calibri"/>
              </a:rPr>
              <a:t> </a:t>
            </a:r>
            <a:r>
              <a:rPr sz="1400" b="0" i="0" dirty="0" err="1">
                <a:solidFill>
                  <a:srgbClr val="2B3440"/>
                </a:solidFill>
                <a:latin typeface="Calibri"/>
              </a:rPr>
              <a:t>phục</a:t>
            </a:r>
            <a:r>
              <a:rPr sz="1400" b="0" i="0" dirty="0">
                <a:solidFill>
                  <a:srgbClr val="2B3440"/>
                </a:solidFill>
                <a:latin typeface="Calibri"/>
              </a:rPr>
              <a:t> </a:t>
            </a:r>
            <a:r>
              <a:rPr sz="1400" b="0" i="0" dirty="0" err="1">
                <a:solidFill>
                  <a:srgbClr val="2B3440"/>
                </a:solidFill>
                <a:latin typeface="Calibri"/>
              </a:rPr>
              <a:t>hồi</a:t>
            </a:r>
            <a:r>
              <a:rPr sz="1400" b="0" i="0" dirty="0">
                <a:solidFill>
                  <a:srgbClr val="2B3440"/>
                </a:solidFill>
                <a:latin typeface="Calibri"/>
              </a:rPr>
              <a:t> </a:t>
            </a:r>
            <a:r>
              <a:rPr sz="1400" b="0" i="0" dirty="0" err="1">
                <a:solidFill>
                  <a:srgbClr val="2B3440"/>
                </a:solidFill>
                <a:latin typeface="Calibri"/>
              </a:rPr>
              <a:t>răng</a:t>
            </a:r>
            <a:endParaRPr sz="1400" b="0" i="0" dirty="0">
              <a:solidFill>
                <a:srgbClr val="2B3440"/>
              </a:solidFill>
              <a:latin typeface="Calibri"/>
            </a:endParaRPr>
          </a:p>
          <a:p>
            <a:pPr algn="l">
              <a:lnSpc>
                <a:spcPct val="115000"/>
              </a:lnSpc>
              <a:spcAft>
                <a:spcPts val="400"/>
              </a:spcAft>
            </a:pPr>
            <a:r>
              <a:rPr sz="1400" b="0" i="0" dirty="0">
                <a:solidFill>
                  <a:srgbClr val="2B3440"/>
                </a:solidFill>
                <a:latin typeface="Calibri"/>
              </a:rPr>
              <a:t>•  </a:t>
            </a:r>
            <a:r>
              <a:rPr sz="1400" b="0" i="0" dirty="0" err="1">
                <a:solidFill>
                  <a:srgbClr val="2B3440"/>
                </a:solidFill>
                <a:latin typeface="Calibri"/>
              </a:rPr>
              <a:t>Sản</a:t>
            </a:r>
            <a:r>
              <a:rPr sz="1400" b="0" i="0" dirty="0">
                <a:solidFill>
                  <a:srgbClr val="2B3440"/>
                </a:solidFill>
                <a:latin typeface="Calibri"/>
              </a:rPr>
              <a:t> </a:t>
            </a:r>
            <a:r>
              <a:rPr sz="1400" b="0" i="0" dirty="0" err="1">
                <a:solidFill>
                  <a:srgbClr val="2B3440"/>
                </a:solidFill>
                <a:latin typeface="Calibri"/>
              </a:rPr>
              <a:t>phẩm</a:t>
            </a:r>
            <a:r>
              <a:rPr sz="1400" b="0" i="0" dirty="0">
                <a:solidFill>
                  <a:srgbClr val="2B3440"/>
                </a:solidFill>
                <a:latin typeface="Calibri"/>
              </a:rPr>
              <a:t> </a:t>
            </a:r>
            <a:r>
              <a:rPr sz="1400" b="0" i="0" dirty="0" err="1">
                <a:solidFill>
                  <a:srgbClr val="2B3440"/>
                </a:solidFill>
                <a:latin typeface="Calibri"/>
              </a:rPr>
              <a:t>chỉnh</a:t>
            </a:r>
            <a:r>
              <a:rPr sz="1400" b="0" i="0" dirty="0">
                <a:solidFill>
                  <a:srgbClr val="2B3440"/>
                </a:solidFill>
                <a:latin typeface="Calibri"/>
              </a:rPr>
              <a:t> </a:t>
            </a:r>
            <a:r>
              <a:rPr sz="1400" b="0" i="0" dirty="0" err="1">
                <a:solidFill>
                  <a:srgbClr val="2B3440"/>
                </a:solidFill>
                <a:latin typeface="Calibri"/>
              </a:rPr>
              <a:t>nha</a:t>
            </a:r>
            <a:endParaRPr sz="1400" b="0" i="0" dirty="0">
              <a:solidFill>
                <a:srgbClr val="2B3440"/>
              </a:solidFill>
              <a:latin typeface="Calibri"/>
            </a:endParaRPr>
          </a:p>
          <a:p>
            <a:pPr algn="l">
              <a:lnSpc>
                <a:spcPct val="115000"/>
              </a:lnSpc>
              <a:spcAft>
                <a:spcPts val="400"/>
              </a:spcAft>
            </a:pPr>
            <a:r>
              <a:rPr sz="1400" b="0" i="0" dirty="0">
                <a:solidFill>
                  <a:srgbClr val="2B3440"/>
                </a:solidFill>
                <a:latin typeface="Calibri"/>
              </a:rPr>
              <a:t>•  </a:t>
            </a:r>
            <a:r>
              <a:rPr sz="1400" b="0" i="0" dirty="0" err="1">
                <a:solidFill>
                  <a:srgbClr val="2B3440"/>
                </a:solidFill>
                <a:latin typeface="Calibri"/>
              </a:rPr>
              <a:t>Keo</a:t>
            </a:r>
            <a:r>
              <a:rPr sz="1400" b="0" i="0" dirty="0">
                <a:solidFill>
                  <a:srgbClr val="2B3440"/>
                </a:solidFill>
                <a:latin typeface="Calibri"/>
              </a:rPr>
              <a:t> </a:t>
            </a:r>
            <a:r>
              <a:rPr sz="1400" b="0" i="0" dirty="0" err="1">
                <a:solidFill>
                  <a:srgbClr val="2B3440"/>
                </a:solidFill>
                <a:latin typeface="Calibri"/>
              </a:rPr>
              <a:t>dán</a:t>
            </a:r>
            <a:r>
              <a:rPr sz="1400" b="0" i="0" dirty="0">
                <a:solidFill>
                  <a:srgbClr val="2B3440"/>
                </a:solidFill>
                <a:latin typeface="Calibri"/>
              </a:rPr>
              <a:t> &amp; xi </a:t>
            </a:r>
            <a:r>
              <a:rPr sz="1400" b="0" i="0" dirty="0" err="1">
                <a:solidFill>
                  <a:srgbClr val="2B3440"/>
                </a:solidFill>
                <a:latin typeface="Calibri"/>
              </a:rPr>
              <a:t>măng</a:t>
            </a:r>
            <a:r>
              <a:rPr sz="1400" b="0" i="0" dirty="0">
                <a:solidFill>
                  <a:srgbClr val="2B3440"/>
                </a:solidFill>
                <a:latin typeface="Calibri"/>
              </a:rPr>
              <a:t> </a:t>
            </a:r>
            <a:r>
              <a:rPr sz="1400" b="0" i="0" dirty="0" err="1">
                <a:solidFill>
                  <a:srgbClr val="2B3440"/>
                </a:solidFill>
                <a:latin typeface="Calibri"/>
              </a:rPr>
              <a:t>nha</a:t>
            </a:r>
            <a:r>
              <a:rPr sz="1400" b="0" i="0" dirty="0">
                <a:solidFill>
                  <a:srgbClr val="2B3440"/>
                </a:solidFill>
                <a:latin typeface="Calibri"/>
              </a:rPr>
              <a:t> </a:t>
            </a:r>
            <a:r>
              <a:rPr sz="1400" b="0" i="0" dirty="0" err="1">
                <a:solidFill>
                  <a:srgbClr val="2B3440"/>
                </a:solidFill>
                <a:latin typeface="Calibri"/>
              </a:rPr>
              <a:t>khoa</a:t>
            </a:r>
            <a:endParaRPr sz="1400" b="0" i="0" dirty="0">
              <a:solidFill>
                <a:srgbClr val="2B3440"/>
              </a:solidFill>
              <a:latin typeface="Calibri"/>
            </a:endParaRPr>
          </a:p>
          <a:p>
            <a:pPr algn="l">
              <a:lnSpc>
                <a:spcPct val="115000"/>
              </a:lnSpc>
              <a:spcAft>
                <a:spcPts val="400"/>
              </a:spcAft>
            </a:pPr>
            <a:r>
              <a:rPr sz="1400" b="0" i="0" dirty="0">
                <a:solidFill>
                  <a:srgbClr val="2B3440"/>
                </a:solidFill>
                <a:latin typeface="Calibri"/>
              </a:rPr>
              <a:t>•  </a:t>
            </a:r>
            <a:r>
              <a:rPr sz="1400" b="0" i="0" dirty="0" err="1">
                <a:solidFill>
                  <a:srgbClr val="2B3440"/>
                </a:solidFill>
                <a:latin typeface="Calibri"/>
              </a:rPr>
              <a:t>Vật</a:t>
            </a:r>
            <a:r>
              <a:rPr sz="1400" b="0" i="0" dirty="0">
                <a:solidFill>
                  <a:srgbClr val="2B3440"/>
                </a:solidFill>
                <a:latin typeface="Calibri"/>
              </a:rPr>
              <a:t> </a:t>
            </a:r>
            <a:r>
              <a:rPr sz="1400" b="0" i="0" dirty="0" err="1">
                <a:solidFill>
                  <a:srgbClr val="2B3440"/>
                </a:solidFill>
                <a:latin typeface="Calibri"/>
              </a:rPr>
              <a:t>tư</a:t>
            </a:r>
            <a:r>
              <a:rPr sz="1400" b="0" i="0" dirty="0">
                <a:solidFill>
                  <a:srgbClr val="2B3440"/>
                </a:solidFill>
                <a:latin typeface="Calibri"/>
              </a:rPr>
              <a:t> </a:t>
            </a:r>
            <a:r>
              <a:rPr sz="1400" b="0" i="0" dirty="0" err="1">
                <a:solidFill>
                  <a:srgbClr val="2B3440"/>
                </a:solidFill>
                <a:latin typeface="Calibri"/>
              </a:rPr>
              <a:t>hỗ</a:t>
            </a:r>
            <a:r>
              <a:rPr sz="1400" b="0" i="0" dirty="0">
                <a:solidFill>
                  <a:srgbClr val="2B3440"/>
                </a:solidFill>
                <a:latin typeface="Calibri"/>
              </a:rPr>
              <a:t> </a:t>
            </a:r>
            <a:r>
              <a:rPr sz="1400" b="0" i="0" dirty="0" err="1">
                <a:solidFill>
                  <a:srgbClr val="2B3440"/>
                </a:solidFill>
                <a:latin typeface="Calibri"/>
              </a:rPr>
              <a:t>trợ</a:t>
            </a:r>
            <a:r>
              <a:rPr sz="1400" b="0" i="0" dirty="0">
                <a:solidFill>
                  <a:srgbClr val="2B3440"/>
                </a:solidFill>
                <a:latin typeface="Calibri"/>
              </a:rPr>
              <a:t> </a:t>
            </a:r>
            <a:r>
              <a:rPr sz="1400" b="0" i="0" dirty="0" err="1">
                <a:solidFill>
                  <a:srgbClr val="2B3440"/>
                </a:solidFill>
                <a:latin typeface="Calibri"/>
              </a:rPr>
              <a:t>điều</a:t>
            </a:r>
            <a:r>
              <a:rPr sz="1400" b="0" i="0" dirty="0">
                <a:solidFill>
                  <a:srgbClr val="2B3440"/>
                </a:solidFill>
                <a:latin typeface="Calibri"/>
              </a:rPr>
              <a:t> </a:t>
            </a:r>
            <a:r>
              <a:rPr sz="1400" b="0" i="0" dirty="0" err="1">
                <a:solidFill>
                  <a:srgbClr val="2B3440"/>
                </a:solidFill>
                <a:latin typeface="Calibri"/>
              </a:rPr>
              <a:t>trị</a:t>
            </a:r>
            <a:endParaRPr sz="1400" b="0" i="0" dirty="0">
              <a:solidFill>
                <a:srgbClr val="2B3440"/>
              </a:solidFill>
              <a:latin typeface="Calibri"/>
            </a:endParaRPr>
          </a:p>
        </p:txBody>
      </p:sp>
      <p:sp>
        <p:nvSpPr>
          <p:cNvPr id="19" name="Rectangle 18"/>
          <p:cNvSpPr/>
          <p:nvPr/>
        </p:nvSpPr>
        <p:spPr>
          <a:xfrm>
            <a:off x="8091220" y="1755648"/>
            <a:ext cx="3442106" cy="2606040"/>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091220" y="1755648"/>
            <a:ext cx="3442106" cy="50292"/>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28964" y="1938528"/>
            <a:ext cx="2984906" cy="310896"/>
          </a:xfrm>
          <a:prstGeom prst="rect">
            <a:avLst/>
          </a:prstGeom>
          <a:noFill/>
        </p:spPr>
        <p:txBody>
          <a:bodyPr wrap="square" lIns="0" tIns="0" rIns="0" bIns="0" anchor="t">
            <a:spAutoFit/>
          </a:bodyPr>
          <a:lstStyle/>
          <a:p>
            <a:pPr algn="l">
              <a:lnSpc>
                <a:spcPct val="100000"/>
              </a:lnSpc>
            </a:pPr>
            <a:r>
              <a:rPr sz="1700" b="1" i="0">
                <a:solidFill>
                  <a:srgbClr val="0096D6"/>
                </a:solidFill>
                <a:latin typeface="Calibri"/>
              </a:rPr>
              <a:t>03</a:t>
            </a:r>
          </a:p>
        </p:txBody>
      </p:sp>
      <p:sp>
        <p:nvSpPr>
          <p:cNvPr id="22" name="TextBox 21"/>
          <p:cNvSpPr txBox="1"/>
          <p:nvPr/>
        </p:nvSpPr>
        <p:spPr>
          <a:xfrm>
            <a:off x="8328964" y="2304288"/>
            <a:ext cx="2984906" cy="548640"/>
          </a:xfrm>
          <a:prstGeom prst="rect">
            <a:avLst/>
          </a:prstGeom>
          <a:noFill/>
        </p:spPr>
        <p:txBody>
          <a:bodyPr wrap="square" lIns="0" tIns="0" rIns="0" bIns="0" anchor="t">
            <a:spAutoFit/>
          </a:bodyPr>
          <a:lstStyle/>
          <a:p>
            <a:pPr algn="l">
              <a:lnSpc>
                <a:spcPct val="105000"/>
              </a:lnSpc>
            </a:pPr>
            <a:r>
              <a:rPr sz="1400" b="1" i="0">
                <a:solidFill>
                  <a:srgbClr val="0A2540"/>
                </a:solidFill>
                <a:latin typeface="Calibri"/>
              </a:rPr>
              <a:t>GIẢI PHÁP LỌC NƯỚC</a:t>
            </a:r>
          </a:p>
          <a:p>
            <a:pPr algn="l">
              <a:lnSpc>
                <a:spcPct val="110000"/>
              </a:lnSpc>
              <a:spcBef>
                <a:spcPts val="200"/>
              </a:spcBef>
            </a:pPr>
            <a:r>
              <a:rPr sz="1050" b="0" i="1">
                <a:solidFill>
                  <a:srgbClr val="6B7784"/>
                </a:solidFill>
                <a:latin typeface="Calibri"/>
              </a:rPr>
              <a:t>Water Filtration</a:t>
            </a:r>
          </a:p>
        </p:txBody>
      </p:sp>
      <p:sp>
        <p:nvSpPr>
          <p:cNvPr id="23" name="TextBox 22"/>
          <p:cNvSpPr txBox="1"/>
          <p:nvPr/>
        </p:nvSpPr>
        <p:spPr>
          <a:xfrm>
            <a:off x="8328964" y="2962656"/>
            <a:ext cx="2984906" cy="1130374"/>
          </a:xfrm>
          <a:prstGeom prst="rect">
            <a:avLst/>
          </a:prstGeom>
          <a:noFill/>
        </p:spPr>
        <p:txBody>
          <a:bodyPr wrap="square" lIns="0" tIns="0" rIns="0" bIns="0" anchor="t">
            <a:spAutoFit/>
          </a:bodyPr>
          <a:lstStyle/>
          <a:p>
            <a:pPr algn="l">
              <a:lnSpc>
                <a:spcPct val="115000"/>
              </a:lnSpc>
              <a:spcAft>
                <a:spcPts val="400"/>
              </a:spcAft>
            </a:pPr>
            <a:r>
              <a:rPr sz="1400" b="0" i="0" dirty="0">
                <a:solidFill>
                  <a:srgbClr val="2B3440"/>
                </a:solidFill>
                <a:latin typeface="Calibri"/>
              </a:rPr>
              <a:t>•  </a:t>
            </a:r>
            <a:r>
              <a:rPr sz="1400" b="0" i="0" dirty="0" err="1">
                <a:solidFill>
                  <a:srgbClr val="2B3440"/>
                </a:solidFill>
                <a:latin typeface="Calibri"/>
              </a:rPr>
              <a:t>Hệ</a:t>
            </a:r>
            <a:r>
              <a:rPr sz="1400" b="0" i="0" dirty="0">
                <a:solidFill>
                  <a:srgbClr val="2B3440"/>
                </a:solidFill>
                <a:latin typeface="Calibri"/>
              </a:rPr>
              <a:t> </a:t>
            </a:r>
            <a:r>
              <a:rPr sz="1400" b="0" i="0" dirty="0" err="1">
                <a:solidFill>
                  <a:srgbClr val="2B3440"/>
                </a:solidFill>
                <a:latin typeface="Calibri"/>
              </a:rPr>
              <a:t>thống</a:t>
            </a:r>
            <a:r>
              <a:rPr sz="1400" b="0" i="0" dirty="0">
                <a:solidFill>
                  <a:srgbClr val="2B3440"/>
                </a:solidFill>
                <a:latin typeface="Calibri"/>
              </a:rPr>
              <a:t> </a:t>
            </a:r>
            <a:r>
              <a:rPr sz="1400" b="0" i="0" dirty="0" err="1">
                <a:solidFill>
                  <a:srgbClr val="2B3440"/>
                </a:solidFill>
                <a:latin typeface="Calibri"/>
              </a:rPr>
              <a:t>lọc</a:t>
            </a:r>
            <a:r>
              <a:rPr sz="1400" b="0" i="0" dirty="0">
                <a:solidFill>
                  <a:srgbClr val="2B3440"/>
                </a:solidFill>
                <a:latin typeface="Calibri"/>
              </a:rPr>
              <a:t> </a:t>
            </a:r>
            <a:r>
              <a:rPr sz="1400" b="0" i="0" dirty="0" err="1">
                <a:solidFill>
                  <a:srgbClr val="2B3440"/>
                </a:solidFill>
                <a:latin typeface="Calibri"/>
              </a:rPr>
              <a:t>thương</a:t>
            </a:r>
            <a:r>
              <a:rPr sz="1400" b="0" i="0" dirty="0">
                <a:solidFill>
                  <a:srgbClr val="2B3440"/>
                </a:solidFill>
                <a:latin typeface="Calibri"/>
              </a:rPr>
              <a:t> </a:t>
            </a:r>
            <a:r>
              <a:rPr sz="1400" b="0" i="0" dirty="0" err="1">
                <a:solidFill>
                  <a:srgbClr val="2B3440"/>
                </a:solidFill>
                <a:latin typeface="Calibri"/>
              </a:rPr>
              <a:t>mại</a:t>
            </a:r>
            <a:endParaRPr sz="1400" b="0" i="0" dirty="0">
              <a:solidFill>
                <a:srgbClr val="2B3440"/>
              </a:solidFill>
              <a:latin typeface="Calibri"/>
            </a:endParaRPr>
          </a:p>
          <a:p>
            <a:pPr algn="l">
              <a:lnSpc>
                <a:spcPct val="115000"/>
              </a:lnSpc>
              <a:spcAft>
                <a:spcPts val="400"/>
              </a:spcAft>
            </a:pPr>
            <a:r>
              <a:rPr sz="1400" b="0" i="0" dirty="0">
                <a:solidFill>
                  <a:srgbClr val="2B3440"/>
                </a:solidFill>
                <a:latin typeface="Calibri"/>
              </a:rPr>
              <a:t>•  </a:t>
            </a:r>
            <a:r>
              <a:rPr sz="1400" b="0" i="0" dirty="0" err="1">
                <a:solidFill>
                  <a:srgbClr val="2B3440"/>
                </a:solidFill>
                <a:latin typeface="Calibri"/>
              </a:rPr>
              <a:t>Hệ</a:t>
            </a:r>
            <a:r>
              <a:rPr sz="1400" b="0" i="0" dirty="0">
                <a:solidFill>
                  <a:srgbClr val="2B3440"/>
                </a:solidFill>
                <a:latin typeface="Calibri"/>
              </a:rPr>
              <a:t> </a:t>
            </a:r>
            <a:r>
              <a:rPr sz="1400" b="0" i="0" dirty="0" err="1">
                <a:solidFill>
                  <a:srgbClr val="2B3440"/>
                </a:solidFill>
                <a:latin typeface="Calibri"/>
              </a:rPr>
              <a:t>thống</a:t>
            </a:r>
            <a:r>
              <a:rPr sz="1400" b="0" i="0" dirty="0">
                <a:solidFill>
                  <a:srgbClr val="2B3440"/>
                </a:solidFill>
                <a:latin typeface="Calibri"/>
              </a:rPr>
              <a:t> </a:t>
            </a:r>
            <a:r>
              <a:rPr sz="1400" b="0" i="0" dirty="0" err="1">
                <a:solidFill>
                  <a:srgbClr val="2B3440"/>
                </a:solidFill>
                <a:latin typeface="Calibri"/>
              </a:rPr>
              <a:t>lọc</a:t>
            </a:r>
            <a:r>
              <a:rPr sz="1400" b="0" i="0" dirty="0">
                <a:solidFill>
                  <a:srgbClr val="2B3440"/>
                </a:solidFill>
                <a:latin typeface="Calibri"/>
              </a:rPr>
              <a:t> </a:t>
            </a:r>
            <a:r>
              <a:rPr sz="1400" b="0" i="0" dirty="0" err="1">
                <a:solidFill>
                  <a:srgbClr val="2B3440"/>
                </a:solidFill>
                <a:latin typeface="Calibri"/>
              </a:rPr>
              <a:t>công</a:t>
            </a:r>
            <a:r>
              <a:rPr sz="1400" b="0" i="0" dirty="0">
                <a:solidFill>
                  <a:srgbClr val="2B3440"/>
                </a:solidFill>
                <a:latin typeface="Calibri"/>
              </a:rPr>
              <a:t> </a:t>
            </a:r>
            <a:r>
              <a:rPr sz="1400" b="0" i="0" dirty="0" err="1">
                <a:solidFill>
                  <a:srgbClr val="2B3440"/>
                </a:solidFill>
                <a:latin typeface="Calibri"/>
              </a:rPr>
              <a:t>nghiệp</a:t>
            </a:r>
            <a:endParaRPr sz="1400" b="0" i="0" dirty="0">
              <a:solidFill>
                <a:srgbClr val="2B3440"/>
              </a:solidFill>
              <a:latin typeface="Calibri"/>
            </a:endParaRPr>
          </a:p>
          <a:p>
            <a:pPr algn="l">
              <a:lnSpc>
                <a:spcPct val="115000"/>
              </a:lnSpc>
              <a:spcAft>
                <a:spcPts val="400"/>
              </a:spcAft>
            </a:pPr>
            <a:r>
              <a:rPr sz="1400" b="0" i="0" dirty="0">
                <a:solidFill>
                  <a:srgbClr val="2B3440"/>
                </a:solidFill>
                <a:latin typeface="Calibri"/>
              </a:rPr>
              <a:t>•  </a:t>
            </a:r>
            <a:r>
              <a:rPr sz="1400" b="0" i="0" dirty="0" err="1">
                <a:solidFill>
                  <a:srgbClr val="2B3440"/>
                </a:solidFill>
                <a:latin typeface="Calibri"/>
              </a:rPr>
              <a:t>Giải</a:t>
            </a:r>
            <a:r>
              <a:rPr sz="1400" b="0" i="0" dirty="0">
                <a:solidFill>
                  <a:srgbClr val="2B3440"/>
                </a:solidFill>
                <a:latin typeface="Calibri"/>
              </a:rPr>
              <a:t> </a:t>
            </a:r>
            <a:r>
              <a:rPr sz="1400" b="0" i="0" dirty="0" err="1">
                <a:solidFill>
                  <a:srgbClr val="2B3440"/>
                </a:solidFill>
                <a:latin typeface="Calibri"/>
              </a:rPr>
              <a:t>pháp</a:t>
            </a:r>
            <a:r>
              <a:rPr sz="1400" b="0" i="0" dirty="0">
                <a:solidFill>
                  <a:srgbClr val="2B3440"/>
                </a:solidFill>
                <a:latin typeface="Calibri"/>
              </a:rPr>
              <a:t> </a:t>
            </a:r>
            <a:r>
              <a:rPr sz="1400" b="0" i="0" dirty="0" err="1">
                <a:solidFill>
                  <a:srgbClr val="2B3440"/>
                </a:solidFill>
                <a:latin typeface="Calibri"/>
              </a:rPr>
              <a:t>lọc</a:t>
            </a:r>
            <a:r>
              <a:rPr sz="1400" b="0" i="0" dirty="0">
                <a:solidFill>
                  <a:srgbClr val="2B3440"/>
                </a:solidFill>
                <a:latin typeface="Calibri"/>
              </a:rPr>
              <a:t> </a:t>
            </a:r>
            <a:r>
              <a:rPr sz="1400" b="0" i="0" dirty="0" err="1">
                <a:solidFill>
                  <a:srgbClr val="2B3440"/>
                </a:solidFill>
                <a:latin typeface="Calibri"/>
              </a:rPr>
              <a:t>dân</a:t>
            </a:r>
            <a:r>
              <a:rPr sz="1400" b="0" i="0" dirty="0">
                <a:solidFill>
                  <a:srgbClr val="2B3440"/>
                </a:solidFill>
                <a:latin typeface="Calibri"/>
              </a:rPr>
              <a:t> </a:t>
            </a:r>
            <a:r>
              <a:rPr sz="1400" b="0" i="0" dirty="0" err="1">
                <a:solidFill>
                  <a:srgbClr val="2B3440"/>
                </a:solidFill>
                <a:latin typeface="Calibri"/>
              </a:rPr>
              <a:t>dụng</a:t>
            </a:r>
            <a:endParaRPr sz="1400" b="0" i="0" dirty="0">
              <a:solidFill>
                <a:srgbClr val="2B3440"/>
              </a:solidFill>
              <a:latin typeface="Calibri"/>
            </a:endParaRPr>
          </a:p>
          <a:p>
            <a:pPr algn="l">
              <a:lnSpc>
                <a:spcPct val="115000"/>
              </a:lnSpc>
              <a:spcAft>
                <a:spcPts val="400"/>
              </a:spcAft>
            </a:pPr>
            <a:r>
              <a:rPr sz="1400" b="0" i="0" dirty="0">
                <a:solidFill>
                  <a:srgbClr val="2B3440"/>
                </a:solidFill>
                <a:latin typeface="Calibri"/>
              </a:rPr>
              <a:t>•  </a:t>
            </a:r>
            <a:r>
              <a:rPr sz="1400" b="0" i="0" dirty="0" err="1">
                <a:solidFill>
                  <a:srgbClr val="2B3440"/>
                </a:solidFill>
                <a:latin typeface="Calibri"/>
              </a:rPr>
              <a:t>Vật</a:t>
            </a:r>
            <a:r>
              <a:rPr sz="1400" b="0" i="0" dirty="0">
                <a:solidFill>
                  <a:srgbClr val="2B3440"/>
                </a:solidFill>
                <a:latin typeface="Calibri"/>
              </a:rPr>
              <a:t> </a:t>
            </a:r>
            <a:r>
              <a:rPr sz="1400" b="0" i="0" dirty="0" err="1">
                <a:solidFill>
                  <a:srgbClr val="2B3440"/>
                </a:solidFill>
                <a:latin typeface="Calibri"/>
              </a:rPr>
              <a:t>liệu</a:t>
            </a:r>
            <a:r>
              <a:rPr sz="1400" b="0" i="0" dirty="0">
                <a:solidFill>
                  <a:srgbClr val="2B3440"/>
                </a:solidFill>
                <a:latin typeface="Calibri"/>
              </a:rPr>
              <a:t> </a:t>
            </a:r>
            <a:r>
              <a:rPr sz="1400" b="0" i="0" dirty="0" err="1">
                <a:solidFill>
                  <a:srgbClr val="2B3440"/>
                </a:solidFill>
                <a:latin typeface="Calibri"/>
              </a:rPr>
              <a:t>lọc</a:t>
            </a:r>
            <a:r>
              <a:rPr sz="1400" b="0" i="0" dirty="0">
                <a:solidFill>
                  <a:srgbClr val="2B3440"/>
                </a:solidFill>
                <a:latin typeface="Calibri"/>
              </a:rPr>
              <a:t> </a:t>
            </a:r>
            <a:r>
              <a:rPr sz="1400" b="0" i="0" dirty="0" err="1">
                <a:solidFill>
                  <a:srgbClr val="2B3440"/>
                </a:solidFill>
                <a:latin typeface="Calibri"/>
              </a:rPr>
              <a:t>chuyên</a:t>
            </a:r>
            <a:r>
              <a:rPr sz="1400" b="0" i="0" dirty="0">
                <a:solidFill>
                  <a:srgbClr val="2B3440"/>
                </a:solidFill>
                <a:latin typeface="Calibri"/>
              </a:rPr>
              <a:t> </a:t>
            </a:r>
            <a:r>
              <a:rPr sz="1400" b="0" i="0" dirty="0" err="1">
                <a:solidFill>
                  <a:srgbClr val="2B3440"/>
                </a:solidFill>
                <a:latin typeface="Calibri"/>
              </a:rPr>
              <a:t>dụng</a:t>
            </a:r>
            <a:endParaRPr sz="1400" b="0" i="0" dirty="0">
              <a:solidFill>
                <a:srgbClr val="2B3440"/>
              </a:solidFill>
              <a:latin typeface="Calibri"/>
            </a:endParaRPr>
          </a:p>
        </p:txBody>
      </p:sp>
      <p:sp>
        <p:nvSpPr>
          <p:cNvPr id="24" name="Rectangle 23"/>
          <p:cNvSpPr/>
          <p:nvPr/>
        </p:nvSpPr>
        <p:spPr>
          <a:xfrm>
            <a:off x="658368" y="4608576"/>
            <a:ext cx="10874959" cy="1097280"/>
          </a:xfrm>
          <a:prstGeom prst="rect">
            <a:avLst/>
          </a:prstGeom>
          <a:solidFill>
            <a:srgbClr val="E9F3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58368" y="4608576"/>
            <a:ext cx="50292" cy="109728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32688" y="4730946"/>
            <a:ext cx="10326319" cy="852541"/>
          </a:xfrm>
          <a:prstGeom prst="rect">
            <a:avLst/>
          </a:prstGeom>
          <a:noFill/>
        </p:spPr>
        <p:txBody>
          <a:bodyPr wrap="square" lIns="0" tIns="0" rIns="0" bIns="0" anchor="ctr">
            <a:spAutoFit/>
          </a:bodyPr>
          <a:lstStyle/>
          <a:p>
            <a:pPr algn="l">
              <a:lnSpc>
                <a:spcPct val="110000"/>
              </a:lnSpc>
            </a:pPr>
            <a:r>
              <a:rPr sz="1400" b="1" i="0" dirty="0">
                <a:solidFill>
                  <a:srgbClr val="0A2540"/>
                </a:solidFill>
                <a:latin typeface="Calibri"/>
              </a:rPr>
              <a:t>DỊCH VỤ SAU BÁN HÀNG  —  </a:t>
            </a:r>
            <a:r>
              <a:rPr sz="1400" b="1" i="0" dirty="0" err="1">
                <a:solidFill>
                  <a:srgbClr val="0A2540"/>
                </a:solidFill>
                <a:latin typeface="Calibri"/>
              </a:rPr>
              <a:t>Yếu</a:t>
            </a:r>
            <a:r>
              <a:rPr sz="1400" b="1" i="0" dirty="0">
                <a:solidFill>
                  <a:srgbClr val="0A2540"/>
                </a:solidFill>
                <a:latin typeface="Calibri"/>
              </a:rPr>
              <a:t> </a:t>
            </a:r>
            <a:r>
              <a:rPr sz="1400" b="1" i="0" dirty="0" err="1">
                <a:solidFill>
                  <a:srgbClr val="0A2540"/>
                </a:solidFill>
                <a:latin typeface="Calibri"/>
              </a:rPr>
              <a:t>tố</a:t>
            </a:r>
            <a:r>
              <a:rPr sz="1400" b="1" i="0" dirty="0">
                <a:solidFill>
                  <a:srgbClr val="0A2540"/>
                </a:solidFill>
                <a:latin typeface="Calibri"/>
              </a:rPr>
              <a:t> </a:t>
            </a:r>
            <a:r>
              <a:rPr sz="1400" b="1" i="0" dirty="0" err="1">
                <a:solidFill>
                  <a:srgbClr val="0A2540"/>
                </a:solidFill>
                <a:latin typeface="Calibri"/>
              </a:rPr>
              <a:t>quan</a:t>
            </a:r>
            <a:r>
              <a:rPr sz="1400" b="1" i="0" dirty="0">
                <a:solidFill>
                  <a:srgbClr val="0A2540"/>
                </a:solidFill>
                <a:latin typeface="Calibri"/>
              </a:rPr>
              <a:t> </a:t>
            </a:r>
            <a:r>
              <a:rPr sz="1400" b="1" i="0" dirty="0" err="1">
                <a:solidFill>
                  <a:srgbClr val="0A2540"/>
                </a:solidFill>
                <a:latin typeface="Calibri"/>
              </a:rPr>
              <a:t>trọng</a:t>
            </a:r>
            <a:r>
              <a:rPr sz="1400" b="1" i="0" dirty="0">
                <a:solidFill>
                  <a:srgbClr val="0A2540"/>
                </a:solidFill>
                <a:latin typeface="Calibri"/>
              </a:rPr>
              <a:t> </a:t>
            </a:r>
            <a:r>
              <a:rPr sz="1400" b="1" i="0" dirty="0" err="1">
                <a:solidFill>
                  <a:srgbClr val="0A2540"/>
                </a:solidFill>
                <a:latin typeface="Calibri"/>
              </a:rPr>
              <a:t>không</a:t>
            </a:r>
            <a:r>
              <a:rPr sz="1400" b="1" i="0" dirty="0">
                <a:solidFill>
                  <a:srgbClr val="0A2540"/>
                </a:solidFill>
                <a:latin typeface="Calibri"/>
              </a:rPr>
              <a:t> </a:t>
            </a:r>
            <a:r>
              <a:rPr sz="1400" b="1" i="0" dirty="0" err="1">
                <a:solidFill>
                  <a:srgbClr val="0A2540"/>
                </a:solidFill>
                <a:latin typeface="Calibri"/>
              </a:rPr>
              <a:t>kém</a:t>
            </a:r>
            <a:r>
              <a:rPr sz="1400" b="1" i="0" dirty="0">
                <a:solidFill>
                  <a:srgbClr val="0A2540"/>
                </a:solidFill>
                <a:latin typeface="Calibri"/>
              </a:rPr>
              <a:t> </a:t>
            </a:r>
            <a:r>
              <a:rPr sz="1400" b="1" i="0" dirty="0" err="1">
                <a:solidFill>
                  <a:srgbClr val="0A2540"/>
                </a:solidFill>
                <a:latin typeface="Calibri"/>
              </a:rPr>
              <a:t>chất</a:t>
            </a:r>
            <a:r>
              <a:rPr sz="1400" b="1" i="0" dirty="0">
                <a:solidFill>
                  <a:srgbClr val="0A2540"/>
                </a:solidFill>
                <a:latin typeface="Calibri"/>
              </a:rPr>
              <a:t> </a:t>
            </a:r>
            <a:r>
              <a:rPr sz="1400" b="1" i="0" dirty="0" err="1">
                <a:solidFill>
                  <a:srgbClr val="0A2540"/>
                </a:solidFill>
                <a:latin typeface="Calibri"/>
              </a:rPr>
              <a:t>lượng</a:t>
            </a:r>
            <a:r>
              <a:rPr sz="1400" b="1" i="0" dirty="0">
                <a:solidFill>
                  <a:srgbClr val="0A2540"/>
                </a:solidFill>
                <a:latin typeface="Calibri"/>
              </a:rPr>
              <a:t> </a:t>
            </a:r>
            <a:r>
              <a:rPr sz="1400" b="1" i="0" dirty="0" err="1">
                <a:solidFill>
                  <a:srgbClr val="0A2540"/>
                </a:solidFill>
                <a:latin typeface="Calibri"/>
              </a:rPr>
              <a:t>sản</a:t>
            </a:r>
            <a:r>
              <a:rPr sz="1400" b="1" i="0" dirty="0">
                <a:solidFill>
                  <a:srgbClr val="0A2540"/>
                </a:solidFill>
                <a:latin typeface="Calibri"/>
              </a:rPr>
              <a:t> </a:t>
            </a:r>
            <a:r>
              <a:rPr sz="1400" b="1" i="0" dirty="0" err="1">
                <a:solidFill>
                  <a:srgbClr val="0A2540"/>
                </a:solidFill>
                <a:latin typeface="Calibri"/>
              </a:rPr>
              <a:t>phẩm</a:t>
            </a:r>
            <a:endParaRPr sz="1400" b="1" i="0" dirty="0">
              <a:solidFill>
                <a:srgbClr val="0A2540"/>
              </a:solidFill>
              <a:latin typeface="Calibri"/>
            </a:endParaRPr>
          </a:p>
          <a:p>
            <a:pPr algn="l">
              <a:lnSpc>
                <a:spcPct val="125000"/>
              </a:lnSpc>
              <a:spcBef>
                <a:spcPts val="600"/>
              </a:spcBef>
            </a:pPr>
            <a:r>
              <a:rPr sz="1400" b="0" i="0" dirty="0" err="1">
                <a:solidFill>
                  <a:srgbClr val="2B3440"/>
                </a:solidFill>
                <a:latin typeface="Calibri"/>
              </a:rPr>
              <a:t>Tư</a:t>
            </a:r>
            <a:r>
              <a:rPr sz="1400" b="0" i="0" dirty="0">
                <a:solidFill>
                  <a:srgbClr val="2B3440"/>
                </a:solidFill>
                <a:latin typeface="Calibri"/>
              </a:rPr>
              <a:t> </a:t>
            </a:r>
            <a:r>
              <a:rPr sz="1400" b="0" i="0" dirty="0" err="1">
                <a:solidFill>
                  <a:srgbClr val="2B3440"/>
                </a:solidFill>
                <a:latin typeface="Calibri"/>
              </a:rPr>
              <a:t>vấn</a:t>
            </a:r>
            <a:r>
              <a:rPr sz="1400" b="0" i="0" dirty="0">
                <a:solidFill>
                  <a:srgbClr val="2B3440"/>
                </a:solidFill>
                <a:latin typeface="Calibri"/>
              </a:rPr>
              <a:t> </a:t>
            </a:r>
            <a:r>
              <a:rPr sz="1400" b="0" i="0" dirty="0" err="1">
                <a:solidFill>
                  <a:srgbClr val="2B3440"/>
                </a:solidFill>
                <a:latin typeface="Calibri"/>
              </a:rPr>
              <a:t>kỹ</a:t>
            </a:r>
            <a:r>
              <a:rPr sz="1400" b="0" i="0" dirty="0">
                <a:solidFill>
                  <a:srgbClr val="2B3440"/>
                </a:solidFill>
                <a:latin typeface="Calibri"/>
              </a:rPr>
              <a:t> </a:t>
            </a:r>
            <a:r>
              <a:rPr sz="1400" b="0" i="0" dirty="0" err="1">
                <a:solidFill>
                  <a:srgbClr val="2B3440"/>
                </a:solidFill>
                <a:latin typeface="Calibri"/>
              </a:rPr>
              <a:t>thuật</a:t>
            </a:r>
            <a:r>
              <a:rPr sz="1400" b="0" i="0" dirty="0">
                <a:solidFill>
                  <a:srgbClr val="2B3440"/>
                </a:solidFill>
                <a:latin typeface="Calibri"/>
              </a:rPr>
              <a:t>  ·  </a:t>
            </a:r>
            <a:r>
              <a:rPr sz="1400" b="0" i="0" dirty="0" err="1">
                <a:solidFill>
                  <a:srgbClr val="2B3440"/>
                </a:solidFill>
                <a:latin typeface="Calibri"/>
              </a:rPr>
              <a:t>Hỗ</a:t>
            </a:r>
            <a:r>
              <a:rPr sz="1400" b="0" i="0" dirty="0">
                <a:solidFill>
                  <a:srgbClr val="2B3440"/>
                </a:solidFill>
                <a:latin typeface="Calibri"/>
              </a:rPr>
              <a:t> </a:t>
            </a:r>
            <a:r>
              <a:rPr sz="1400" b="0" i="0" dirty="0" err="1">
                <a:solidFill>
                  <a:srgbClr val="2B3440"/>
                </a:solidFill>
                <a:latin typeface="Calibri"/>
              </a:rPr>
              <a:t>trợ</a:t>
            </a:r>
            <a:r>
              <a:rPr sz="1400" b="0" i="0" dirty="0">
                <a:solidFill>
                  <a:srgbClr val="2B3440"/>
                </a:solidFill>
                <a:latin typeface="Calibri"/>
              </a:rPr>
              <a:t> </a:t>
            </a:r>
            <a:r>
              <a:rPr sz="1400" b="0" i="0" dirty="0" err="1">
                <a:solidFill>
                  <a:srgbClr val="2B3440"/>
                </a:solidFill>
                <a:latin typeface="Calibri"/>
              </a:rPr>
              <a:t>lắp</a:t>
            </a:r>
            <a:r>
              <a:rPr sz="1400" b="0" i="0" dirty="0">
                <a:solidFill>
                  <a:srgbClr val="2B3440"/>
                </a:solidFill>
                <a:latin typeface="Calibri"/>
              </a:rPr>
              <a:t> </a:t>
            </a:r>
            <a:r>
              <a:rPr sz="1400" b="0" i="0" dirty="0" err="1">
                <a:solidFill>
                  <a:srgbClr val="2B3440"/>
                </a:solidFill>
                <a:latin typeface="Calibri"/>
              </a:rPr>
              <a:t>đặt</a:t>
            </a:r>
            <a:r>
              <a:rPr sz="1400" b="0" i="0" dirty="0">
                <a:solidFill>
                  <a:srgbClr val="2B3440"/>
                </a:solidFill>
                <a:latin typeface="Calibri"/>
              </a:rPr>
              <a:t> </a:t>
            </a:r>
            <a:r>
              <a:rPr sz="1400" b="0" i="0" dirty="0" err="1">
                <a:solidFill>
                  <a:srgbClr val="2B3440"/>
                </a:solidFill>
                <a:latin typeface="Calibri"/>
              </a:rPr>
              <a:t>và</a:t>
            </a:r>
            <a:r>
              <a:rPr sz="1400" b="0" i="0" dirty="0">
                <a:solidFill>
                  <a:srgbClr val="2B3440"/>
                </a:solidFill>
                <a:latin typeface="Calibri"/>
              </a:rPr>
              <a:t> </a:t>
            </a:r>
            <a:r>
              <a:rPr sz="1400" b="0" i="0" dirty="0" err="1">
                <a:solidFill>
                  <a:srgbClr val="2B3440"/>
                </a:solidFill>
                <a:latin typeface="Calibri"/>
              </a:rPr>
              <a:t>hướng</a:t>
            </a:r>
            <a:r>
              <a:rPr sz="1400" b="0" i="0" dirty="0">
                <a:solidFill>
                  <a:srgbClr val="2B3440"/>
                </a:solidFill>
                <a:latin typeface="Calibri"/>
              </a:rPr>
              <a:t> </a:t>
            </a:r>
            <a:r>
              <a:rPr sz="1400" b="0" i="0" dirty="0" err="1">
                <a:solidFill>
                  <a:srgbClr val="2B3440"/>
                </a:solidFill>
                <a:latin typeface="Calibri"/>
              </a:rPr>
              <a:t>dẫn</a:t>
            </a:r>
            <a:r>
              <a:rPr sz="1400" b="0" i="0" dirty="0">
                <a:solidFill>
                  <a:srgbClr val="2B3440"/>
                </a:solidFill>
                <a:latin typeface="Calibri"/>
              </a:rPr>
              <a:t> </a:t>
            </a:r>
            <a:r>
              <a:rPr sz="1400" b="0" i="0" dirty="0" err="1">
                <a:solidFill>
                  <a:srgbClr val="2B3440"/>
                </a:solidFill>
                <a:latin typeface="Calibri"/>
              </a:rPr>
              <a:t>sử</a:t>
            </a:r>
            <a:r>
              <a:rPr sz="1400" b="0" i="0" dirty="0">
                <a:solidFill>
                  <a:srgbClr val="2B3440"/>
                </a:solidFill>
                <a:latin typeface="Calibri"/>
              </a:rPr>
              <a:t> </a:t>
            </a:r>
            <a:r>
              <a:rPr sz="1400" b="0" i="0" dirty="0" err="1">
                <a:solidFill>
                  <a:srgbClr val="2B3440"/>
                </a:solidFill>
                <a:latin typeface="Calibri"/>
              </a:rPr>
              <a:t>dụng</a:t>
            </a:r>
            <a:r>
              <a:rPr sz="1400" b="0" i="0" dirty="0">
                <a:solidFill>
                  <a:srgbClr val="2B3440"/>
                </a:solidFill>
                <a:latin typeface="Calibri"/>
              </a:rPr>
              <a:t>  ·  </a:t>
            </a:r>
            <a:r>
              <a:rPr sz="1400" b="0" i="0" dirty="0" err="1">
                <a:solidFill>
                  <a:srgbClr val="2B3440"/>
                </a:solidFill>
                <a:latin typeface="Calibri"/>
              </a:rPr>
              <a:t>Bảo</a:t>
            </a:r>
            <a:r>
              <a:rPr sz="1400" b="0" i="0" dirty="0">
                <a:solidFill>
                  <a:srgbClr val="2B3440"/>
                </a:solidFill>
                <a:latin typeface="Calibri"/>
              </a:rPr>
              <a:t> </a:t>
            </a:r>
            <a:r>
              <a:rPr sz="1400" b="0" i="0" dirty="0" err="1">
                <a:solidFill>
                  <a:srgbClr val="2B3440"/>
                </a:solidFill>
                <a:latin typeface="Calibri"/>
              </a:rPr>
              <a:t>trì</a:t>
            </a:r>
            <a:r>
              <a:rPr sz="1400" b="0" i="0" dirty="0">
                <a:solidFill>
                  <a:srgbClr val="2B3440"/>
                </a:solidFill>
                <a:latin typeface="Calibri"/>
              </a:rPr>
              <a:t>  ·  </a:t>
            </a:r>
            <a:r>
              <a:rPr sz="1400" b="0" i="0" dirty="0" err="1">
                <a:solidFill>
                  <a:srgbClr val="2B3440"/>
                </a:solidFill>
                <a:latin typeface="Calibri"/>
              </a:rPr>
              <a:t>Bảo</a:t>
            </a:r>
            <a:r>
              <a:rPr sz="1400" b="0" i="0" dirty="0">
                <a:solidFill>
                  <a:srgbClr val="2B3440"/>
                </a:solidFill>
                <a:latin typeface="Calibri"/>
              </a:rPr>
              <a:t> </a:t>
            </a:r>
            <a:r>
              <a:rPr sz="1400" b="0" i="0" dirty="0" err="1">
                <a:solidFill>
                  <a:srgbClr val="2B3440"/>
                </a:solidFill>
                <a:latin typeface="Calibri"/>
              </a:rPr>
              <a:t>hành</a:t>
            </a:r>
            <a:r>
              <a:rPr sz="1400" b="0" i="0" dirty="0">
                <a:solidFill>
                  <a:srgbClr val="2B3440"/>
                </a:solidFill>
                <a:latin typeface="Calibri"/>
              </a:rPr>
              <a:t>  ·  </a:t>
            </a:r>
            <a:r>
              <a:rPr sz="1400" b="0" i="0" dirty="0" err="1">
                <a:solidFill>
                  <a:srgbClr val="2B3440"/>
                </a:solidFill>
                <a:latin typeface="Calibri"/>
              </a:rPr>
              <a:t>Sửa</a:t>
            </a:r>
            <a:r>
              <a:rPr sz="1400" b="0" i="0" dirty="0">
                <a:solidFill>
                  <a:srgbClr val="2B3440"/>
                </a:solidFill>
                <a:latin typeface="Calibri"/>
              </a:rPr>
              <a:t> </a:t>
            </a:r>
            <a:r>
              <a:rPr sz="1400" b="0" i="0" dirty="0" err="1">
                <a:solidFill>
                  <a:srgbClr val="2B3440"/>
                </a:solidFill>
                <a:latin typeface="Calibri"/>
              </a:rPr>
              <a:t>chữa</a:t>
            </a:r>
            <a:r>
              <a:rPr sz="1400" b="0" i="0" dirty="0">
                <a:solidFill>
                  <a:srgbClr val="2B3440"/>
                </a:solidFill>
                <a:latin typeface="Calibri"/>
              </a:rPr>
              <a:t> </a:t>
            </a:r>
            <a:r>
              <a:rPr sz="1400" b="0" i="0" dirty="0" err="1">
                <a:solidFill>
                  <a:srgbClr val="2B3440"/>
                </a:solidFill>
                <a:latin typeface="Calibri"/>
              </a:rPr>
              <a:t>thiết</a:t>
            </a:r>
            <a:r>
              <a:rPr sz="1400" b="0" i="0" dirty="0">
                <a:solidFill>
                  <a:srgbClr val="2B3440"/>
                </a:solidFill>
                <a:latin typeface="Calibri"/>
              </a:rPr>
              <a:t> </a:t>
            </a:r>
            <a:r>
              <a:rPr sz="1400" b="0" i="0" dirty="0" err="1">
                <a:solidFill>
                  <a:srgbClr val="2B3440"/>
                </a:solidFill>
                <a:latin typeface="Calibri"/>
              </a:rPr>
              <a:t>bị</a:t>
            </a:r>
            <a:r>
              <a:rPr sz="1400" b="0" i="0" dirty="0">
                <a:solidFill>
                  <a:srgbClr val="2B3440"/>
                </a:solidFill>
                <a:latin typeface="Calibri"/>
              </a:rPr>
              <a:t>  →  </a:t>
            </a:r>
            <a:r>
              <a:rPr sz="1400" b="0" i="0" dirty="0" err="1">
                <a:solidFill>
                  <a:srgbClr val="2B3440"/>
                </a:solidFill>
                <a:latin typeface="Calibri"/>
              </a:rPr>
              <a:t>là</a:t>
            </a:r>
            <a:r>
              <a:rPr sz="1400" b="0" i="0" dirty="0">
                <a:solidFill>
                  <a:srgbClr val="2B3440"/>
                </a:solidFill>
                <a:latin typeface="Calibri"/>
              </a:rPr>
              <a:t> </a:t>
            </a:r>
            <a:r>
              <a:rPr sz="1400" b="0" i="0" dirty="0" err="1">
                <a:solidFill>
                  <a:srgbClr val="2B3440"/>
                </a:solidFill>
                <a:latin typeface="Calibri"/>
              </a:rPr>
              <a:t>nền</a:t>
            </a:r>
            <a:r>
              <a:rPr sz="1400" b="0" i="0" dirty="0">
                <a:solidFill>
                  <a:srgbClr val="2B3440"/>
                </a:solidFill>
                <a:latin typeface="Calibri"/>
              </a:rPr>
              <a:t> </a:t>
            </a:r>
            <a:r>
              <a:rPr sz="1400" b="0" i="0" dirty="0" err="1">
                <a:solidFill>
                  <a:srgbClr val="2B3440"/>
                </a:solidFill>
                <a:latin typeface="Calibri"/>
              </a:rPr>
              <a:t>tảng</a:t>
            </a:r>
            <a:r>
              <a:rPr sz="1400" b="0" i="0" dirty="0">
                <a:solidFill>
                  <a:srgbClr val="2B3440"/>
                </a:solidFill>
                <a:latin typeface="Calibri"/>
              </a:rPr>
              <a:t> </a:t>
            </a:r>
            <a:r>
              <a:rPr sz="1400" b="0" i="0" dirty="0" err="1">
                <a:solidFill>
                  <a:srgbClr val="2B3440"/>
                </a:solidFill>
                <a:latin typeface="Calibri"/>
              </a:rPr>
              <a:t>hình</a:t>
            </a:r>
            <a:r>
              <a:rPr sz="1400" b="0" i="0" dirty="0">
                <a:solidFill>
                  <a:srgbClr val="2B3440"/>
                </a:solidFill>
                <a:latin typeface="Calibri"/>
              </a:rPr>
              <a:t> </a:t>
            </a:r>
            <a:r>
              <a:rPr sz="1400" b="0" i="0" dirty="0" err="1">
                <a:solidFill>
                  <a:srgbClr val="2B3440"/>
                </a:solidFill>
                <a:latin typeface="Calibri"/>
              </a:rPr>
              <a:t>thành</a:t>
            </a:r>
            <a:r>
              <a:rPr sz="1400" b="0" i="0" dirty="0">
                <a:solidFill>
                  <a:srgbClr val="2B3440"/>
                </a:solidFill>
                <a:latin typeface="Calibri"/>
              </a:rPr>
              <a:t> </a:t>
            </a:r>
            <a:r>
              <a:rPr sz="1400" b="0" i="0" dirty="0" err="1">
                <a:solidFill>
                  <a:srgbClr val="2B3440"/>
                </a:solidFill>
                <a:latin typeface="Calibri"/>
              </a:rPr>
              <a:t>quy</a:t>
            </a:r>
            <a:r>
              <a:rPr sz="1400" b="0" i="0" dirty="0">
                <a:solidFill>
                  <a:srgbClr val="2B3440"/>
                </a:solidFill>
                <a:latin typeface="Calibri"/>
              </a:rPr>
              <a:t> </a:t>
            </a:r>
            <a:r>
              <a:rPr sz="1400" b="0" i="0" dirty="0" err="1">
                <a:solidFill>
                  <a:srgbClr val="2B3440"/>
                </a:solidFill>
                <a:latin typeface="Calibri"/>
              </a:rPr>
              <a:t>trình</a:t>
            </a:r>
            <a:r>
              <a:rPr sz="1400" b="0" i="0" dirty="0">
                <a:solidFill>
                  <a:srgbClr val="2B3440"/>
                </a:solidFill>
                <a:latin typeface="Calibri"/>
              </a:rPr>
              <a:t> Service Order Management </a:t>
            </a:r>
            <a:r>
              <a:rPr sz="1400" b="0" i="0" dirty="0" err="1">
                <a:solidFill>
                  <a:srgbClr val="2B3440"/>
                </a:solidFill>
                <a:latin typeface="Calibri"/>
              </a:rPr>
              <a:t>được</a:t>
            </a:r>
            <a:r>
              <a:rPr sz="1400" b="0" i="0" dirty="0">
                <a:solidFill>
                  <a:srgbClr val="2B3440"/>
                </a:solidFill>
                <a:latin typeface="Calibri"/>
              </a:rPr>
              <a:t> </a:t>
            </a:r>
            <a:r>
              <a:rPr sz="1400" b="0" i="0" dirty="0" err="1">
                <a:solidFill>
                  <a:srgbClr val="2B3440"/>
                </a:solidFill>
                <a:latin typeface="Calibri"/>
              </a:rPr>
              <a:t>phân</a:t>
            </a:r>
            <a:r>
              <a:rPr sz="1400" b="0" i="0" dirty="0">
                <a:solidFill>
                  <a:srgbClr val="2B3440"/>
                </a:solidFill>
                <a:latin typeface="Calibri"/>
              </a:rPr>
              <a:t> </a:t>
            </a:r>
            <a:r>
              <a:rPr sz="1400" b="0" i="0" dirty="0" err="1">
                <a:solidFill>
                  <a:srgbClr val="2B3440"/>
                </a:solidFill>
                <a:latin typeface="Calibri"/>
              </a:rPr>
              <a:t>tích</a:t>
            </a:r>
            <a:r>
              <a:rPr sz="1400" b="0" i="0" dirty="0">
                <a:solidFill>
                  <a:srgbClr val="2B3440"/>
                </a:solidFill>
                <a:latin typeface="Calibri"/>
              </a:rPr>
              <a:t> ở </a:t>
            </a:r>
            <a:r>
              <a:rPr sz="1400" b="0" i="0" dirty="0" err="1">
                <a:solidFill>
                  <a:srgbClr val="2B3440"/>
                </a:solidFill>
                <a:latin typeface="Calibri"/>
              </a:rPr>
              <a:t>Chương</a:t>
            </a:r>
            <a:r>
              <a:rPr sz="1400" b="0" i="0" dirty="0">
                <a:solidFill>
                  <a:srgbClr val="2B3440"/>
                </a:solidFill>
                <a:latin typeface="Calibri"/>
              </a:rPr>
              <a:t> 3 – 4.</a:t>
            </a:r>
          </a:p>
        </p:txBody>
      </p:sp>
    </p:spTree>
    <p:extLst>
      <p:ext uri="{BB962C8B-B14F-4D97-AF65-F5344CB8AC3E}">
        <p14:creationId xmlns:p14="http://schemas.microsoft.com/office/powerpoint/2010/main" val="496092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p:cNvPicPr/>
          <p:nvPr/>
        </p:nvPicPr>
        <p:blipFill>
          <a:blip r:embed="rId2" cstate="print">
            <a:extLst>
              <a:ext uri="{28A0092B-C50C-407E-A947-70E740481C1C}">
                <a14:useLocalDpi xmlns:a14="http://schemas.microsoft.com/office/drawing/2010/main" val="0"/>
              </a:ext>
            </a:extLst>
          </a:blip>
          <a:stretch>
            <a:fillRect/>
          </a:stretch>
        </p:blipFill>
        <p:spPr>
          <a:xfrm>
            <a:off x="6473950" y="1829308"/>
            <a:ext cx="5553075" cy="3492500"/>
          </a:xfrm>
          <a:prstGeom prst="rect">
            <a:avLst/>
          </a:prstGeom>
        </p:spPr>
      </p:pic>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CHƯƠNG 1 · 1.3 CƠ CẤU TỔ CHỨC</a:t>
            </a:r>
          </a:p>
        </p:txBody>
      </p:sp>
      <p:sp>
        <p:nvSpPr>
          <p:cNvPr id="3" name="TextBox 2"/>
          <p:cNvSpPr txBox="1"/>
          <p:nvPr/>
        </p:nvSpPr>
        <p:spPr>
          <a:xfrm>
            <a:off x="658368" y="640080"/>
            <a:ext cx="10874959" cy="603504"/>
          </a:xfrm>
          <a:prstGeom prst="rect">
            <a:avLst/>
          </a:prstGeom>
          <a:noFill/>
        </p:spPr>
        <p:txBody>
          <a:bodyPr wrap="square" lIns="0" tIns="0" rIns="0" bIns="0" anchor="t">
            <a:spAutoFit/>
          </a:bodyPr>
          <a:lstStyle/>
          <a:p>
            <a:pPr algn="l">
              <a:lnSpc>
                <a:spcPct val="105000"/>
              </a:lnSpc>
            </a:pPr>
            <a:r>
              <a:rPr sz="2500" b="1" i="0">
                <a:solidFill>
                  <a:srgbClr val="0A2540"/>
                </a:solidFill>
                <a:latin typeface="Calibri"/>
              </a:rPr>
              <a:t>MÔ HÌNH QUẢN LÝ THEO CHIỀU DỌC</a:t>
            </a: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7" name="TextBox 6"/>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7</a:t>
            </a:r>
          </a:p>
        </p:txBody>
      </p:sp>
      <p:sp>
        <p:nvSpPr>
          <p:cNvPr id="8" name="TextBox 7"/>
          <p:cNvSpPr txBox="1"/>
          <p:nvPr/>
        </p:nvSpPr>
        <p:spPr>
          <a:xfrm>
            <a:off x="658368" y="1536192"/>
            <a:ext cx="6035040" cy="215444"/>
          </a:xfrm>
          <a:prstGeom prst="rect">
            <a:avLst/>
          </a:prstGeom>
          <a:noFill/>
        </p:spPr>
        <p:txBody>
          <a:bodyPr wrap="square" lIns="0" tIns="0" rIns="0" bIns="0" anchor="t">
            <a:spAutoFit/>
          </a:bodyPr>
          <a:lstStyle/>
          <a:p>
            <a:pPr algn="l">
              <a:lnSpc>
                <a:spcPct val="100000"/>
              </a:lnSpc>
            </a:pPr>
            <a:r>
              <a:rPr sz="1400" b="1" i="0" dirty="0">
                <a:solidFill>
                  <a:srgbClr val="0096D6"/>
                </a:solidFill>
                <a:latin typeface="Calibri"/>
              </a:rPr>
              <a:t>VERTICAL ORGANIZATION — </a:t>
            </a:r>
            <a:r>
              <a:rPr sz="1400" b="1" i="0" dirty="0" err="1">
                <a:solidFill>
                  <a:srgbClr val="0096D6"/>
                </a:solidFill>
                <a:latin typeface="Calibri"/>
              </a:rPr>
              <a:t>ba</a:t>
            </a:r>
            <a:r>
              <a:rPr sz="1400" b="1" i="0" dirty="0">
                <a:solidFill>
                  <a:srgbClr val="0096D6"/>
                </a:solidFill>
                <a:latin typeface="Calibri"/>
              </a:rPr>
              <a:t> </a:t>
            </a:r>
            <a:r>
              <a:rPr sz="1400" b="1" i="0" dirty="0" err="1">
                <a:solidFill>
                  <a:srgbClr val="0096D6"/>
                </a:solidFill>
                <a:latin typeface="Calibri"/>
              </a:rPr>
              <a:t>cấp</a:t>
            </a:r>
            <a:r>
              <a:rPr sz="1400" b="1" i="0" dirty="0">
                <a:solidFill>
                  <a:srgbClr val="0096D6"/>
                </a:solidFill>
                <a:latin typeface="Calibri"/>
              </a:rPr>
              <a:t> </a:t>
            </a:r>
            <a:r>
              <a:rPr sz="1400" b="1" i="0" dirty="0" err="1">
                <a:solidFill>
                  <a:srgbClr val="0096D6"/>
                </a:solidFill>
                <a:latin typeface="Calibri"/>
              </a:rPr>
              <a:t>quản</a:t>
            </a:r>
            <a:r>
              <a:rPr sz="1400" b="1" i="0" dirty="0">
                <a:solidFill>
                  <a:srgbClr val="0096D6"/>
                </a:solidFill>
                <a:latin typeface="Calibri"/>
              </a:rPr>
              <a:t> </a:t>
            </a:r>
            <a:r>
              <a:rPr sz="1400" b="1" i="0" dirty="0" err="1">
                <a:solidFill>
                  <a:srgbClr val="0096D6"/>
                </a:solidFill>
                <a:latin typeface="Calibri"/>
              </a:rPr>
              <a:t>lý</a:t>
            </a:r>
            <a:endParaRPr sz="1400" b="1" i="0" dirty="0">
              <a:solidFill>
                <a:srgbClr val="0096D6"/>
              </a:solidFill>
              <a:latin typeface="Calibri"/>
            </a:endParaRPr>
          </a:p>
        </p:txBody>
      </p:sp>
      <p:sp>
        <p:nvSpPr>
          <p:cNvPr id="9" name="Rectangle 8"/>
          <p:cNvSpPr/>
          <p:nvPr/>
        </p:nvSpPr>
        <p:spPr>
          <a:xfrm>
            <a:off x="658368" y="1920240"/>
            <a:ext cx="5943600" cy="676656"/>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 name="Rectangle 9"/>
          <p:cNvSpPr/>
          <p:nvPr/>
        </p:nvSpPr>
        <p:spPr>
          <a:xfrm>
            <a:off x="658368" y="1920240"/>
            <a:ext cx="50292" cy="676656"/>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 name="TextBox 10"/>
          <p:cNvSpPr txBox="1"/>
          <p:nvPr/>
        </p:nvSpPr>
        <p:spPr>
          <a:xfrm>
            <a:off x="896112" y="2011680"/>
            <a:ext cx="5486400" cy="215444"/>
          </a:xfrm>
          <a:prstGeom prst="rect">
            <a:avLst/>
          </a:prstGeom>
          <a:noFill/>
        </p:spPr>
        <p:txBody>
          <a:bodyPr wrap="square" lIns="0" tIns="0" rIns="0" bIns="0" anchor="t">
            <a:spAutoFit/>
          </a:bodyPr>
          <a:lstStyle/>
          <a:p>
            <a:pPr algn="l">
              <a:lnSpc>
                <a:spcPct val="100000"/>
              </a:lnSpc>
            </a:pPr>
            <a:r>
              <a:rPr sz="1400" b="1" i="0" dirty="0">
                <a:solidFill>
                  <a:srgbClr val="0A2540"/>
                </a:solidFill>
                <a:latin typeface="Calibri"/>
              </a:rPr>
              <a:t>GLOBAL LEADERSHIP</a:t>
            </a:r>
          </a:p>
        </p:txBody>
      </p:sp>
      <p:sp>
        <p:nvSpPr>
          <p:cNvPr id="12" name="TextBox 11"/>
          <p:cNvSpPr txBox="1"/>
          <p:nvPr/>
        </p:nvSpPr>
        <p:spPr>
          <a:xfrm>
            <a:off x="896112" y="2286000"/>
            <a:ext cx="5486400" cy="236988"/>
          </a:xfrm>
          <a:prstGeom prst="rect">
            <a:avLst/>
          </a:prstGeom>
          <a:noFill/>
        </p:spPr>
        <p:txBody>
          <a:bodyPr wrap="square" lIns="0" tIns="0" rIns="0" bIns="0" anchor="t">
            <a:spAutoFit/>
          </a:bodyPr>
          <a:lstStyle/>
          <a:p>
            <a:pPr algn="l">
              <a:lnSpc>
                <a:spcPct val="110000"/>
              </a:lnSpc>
            </a:pPr>
            <a:r>
              <a:rPr sz="1400" b="0" i="0" dirty="0" err="1">
                <a:solidFill>
                  <a:srgbClr val="6B7784"/>
                </a:solidFill>
                <a:latin typeface="Calibri"/>
              </a:rPr>
              <a:t>Định</a:t>
            </a:r>
            <a:r>
              <a:rPr sz="1400" b="0" i="0" dirty="0">
                <a:solidFill>
                  <a:srgbClr val="6B7784"/>
                </a:solidFill>
                <a:latin typeface="Calibri"/>
              </a:rPr>
              <a:t> </a:t>
            </a:r>
            <a:r>
              <a:rPr sz="1400" b="0" i="0" dirty="0" err="1">
                <a:solidFill>
                  <a:srgbClr val="6B7784"/>
                </a:solidFill>
                <a:latin typeface="Calibri"/>
              </a:rPr>
              <a:t>hướng</a:t>
            </a:r>
            <a:r>
              <a:rPr sz="1400" b="0" i="0" dirty="0">
                <a:solidFill>
                  <a:srgbClr val="6B7784"/>
                </a:solidFill>
                <a:latin typeface="Calibri"/>
              </a:rPr>
              <a:t> </a:t>
            </a:r>
            <a:r>
              <a:rPr sz="1400" b="0" i="0" dirty="0" err="1">
                <a:solidFill>
                  <a:srgbClr val="6B7784"/>
                </a:solidFill>
                <a:latin typeface="Calibri"/>
              </a:rPr>
              <a:t>chiến</a:t>
            </a:r>
            <a:r>
              <a:rPr sz="1400" b="0" i="0" dirty="0">
                <a:solidFill>
                  <a:srgbClr val="6B7784"/>
                </a:solidFill>
                <a:latin typeface="Calibri"/>
              </a:rPr>
              <a:t> </a:t>
            </a:r>
            <a:r>
              <a:rPr sz="1400" b="0" i="0" dirty="0" err="1">
                <a:solidFill>
                  <a:srgbClr val="6B7784"/>
                </a:solidFill>
                <a:latin typeface="Calibri"/>
              </a:rPr>
              <a:t>lược</a:t>
            </a:r>
            <a:r>
              <a:rPr sz="1400" b="0" i="0" dirty="0">
                <a:solidFill>
                  <a:srgbClr val="6B7784"/>
                </a:solidFill>
                <a:latin typeface="Calibri"/>
              </a:rPr>
              <a:t>, </a:t>
            </a:r>
            <a:r>
              <a:rPr sz="1400" b="0" i="0" dirty="0" err="1">
                <a:solidFill>
                  <a:srgbClr val="6B7784"/>
                </a:solidFill>
                <a:latin typeface="Calibri"/>
              </a:rPr>
              <a:t>chuẩn</a:t>
            </a:r>
            <a:r>
              <a:rPr sz="1400" b="0" i="0" dirty="0">
                <a:solidFill>
                  <a:srgbClr val="6B7784"/>
                </a:solidFill>
                <a:latin typeface="Calibri"/>
              </a:rPr>
              <a:t> </a:t>
            </a:r>
            <a:r>
              <a:rPr sz="1400" b="0" i="0" dirty="0" err="1">
                <a:solidFill>
                  <a:srgbClr val="6B7784"/>
                </a:solidFill>
                <a:latin typeface="Calibri"/>
              </a:rPr>
              <a:t>mực</a:t>
            </a:r>
            <a:r>
              <a:rPr sz="1400" b="0" i="0" dirty="0">
                <a:solidFill>
                  <a:srgbClr val="6B7784"/>
                </a:solidFill>
                <a:latin typeface="Calibri"/>
              </a:rPr>
              <a:t> </a:t>
            </a:r>
            <a:r>
              <a:rPr sz="1400" b="0" i="0" dirty="0" err="1">
                <a:solidFill>
                  <a:srgbClr val="6B7784"/>
                </a:solidFill>
                <a:latin typeface="Calibri"/>
              </a:rPr>
              <a:t>quản</a:t>
            </a:r>
            <a:r>
              <a:rPr sz="1400" b="0" i="0" dirty="0">
                <a:solidFill>
                  <a:srgbClr val="6B7784"/>
                </a:solidFill>
                <a:latin typeface="Calibri"/>
              </a:rPr>
              <a:t> </a:t>
            </a:r>
            <a:r>
              <a:rPr sz="1400" b="0" i="0" dirty="0" err="1">
                <a:solidFill>
                  <a:srgbClr val="6B7784"/>
                </a:solidFill>
                <a:latin typeface="Calibri"/>
              </a:rPr>
              <a:t>trị</a:t>
            </a:r>
            <a:r>
              <a:rPr sz="1400" b="0" i="0" dirty="0">
                <a:solidFill>
                  <a:srgbClr val="6B7784"/>
                </a:solidFill>
                <a:latin typeface="Calibri"/>
              </a:rPr>
              <a:t> </a:t>
            </a:r>
            <a:r>
              <a:rPr sz="1400" b="0" i="0" dirty="0" err="1">
                <a:solidFill>
                  <a:srgbClr val="6B7784"/>
                </a:solidFill>
                <a:latin typeface="Calibri"/>
              </a:rPr>
              <a:t>toàn</a:t>
            </a:r>
            <a:r>
              <a:rPr sz="1400" b="0" i="0" dirty="0">
                <a:solidFill>
                  <a:srgbClr val="6B7784"/>
                </a:solidFill>
                <a:latin typeface="Calibri"/>
              </a:rPr>
              <a:t> </a:t>
            </a:r>
            <a:r>
              <a:rPr sz="1400" b="0" i="0" dirty="0" err="1">
                <a:solidFill>
                  <a:srgbClr val="6B7784"/>
                </a:solidFill>
                <a:latin typeface="Calibri"/>
              </a:rPr>
              <a:t>tập</a:t>
            </a:r>
            <a:r>
              <a:rPr sz="1400" b="0" i="0" dirty="0">
                <a:solidFill>
                  <a:srgbClr val="6B7784"/>
                </a:solidFill>
                <a:latin typeface="Calibri"/>
              </a:rPr>
              <a:t> </a:t>
            </a:r>
            <a:r>
              <a:rPr sz="1400" b="0" i="0" dirty="0" err="1">
                <a:solidFill>
                  <a:srgbClr val="6B7784"/>
                </a:solidFill>
                <a:latin typeface="Calibri"/>
              </a:rPr>
              <a:t>đoàn</a:t>
            </a:r>
            <a:endParaRPr sz="1400" b="0" i="0" dirty="0">
              <a:solidFill>
                <a:srgbClr val="6B7784"/>
              </a:solidFill>
              <a:latin typeface="Calibri"/>
            </a:endParaRPr>
          </a:p>
        </p:txBody>
      </p:sp>
      <p:sp>
        <p:nvSpPr>
          <p:cNvPr id="13" name="TextBox 12"/>
          <p:cNvSpPr txBox="1"/>
          <p:nvPr/>
        </p:nvSpPr>
        <p:spPr>
          <a:xfrm>
            <a:off x="841247" y="2596896"/>
            <a:ext cx="365760" cy="215444"/>
          </a:xfrm>
          <a:prstGeom prst="rect">
            <a:avLst/>
          </a:prstGeom>
          <a:noFill/>
        </p:spPr>
        <p:txBody>
          <a:bodyPr wrap="square" lIns="0" tIns="0" rIns="0" bIns="0" anchor="t">
            <a:spAutoFit/>
          </a:bodyPr>
          <a:lstStyle/>
          <a:p>
            <a:pPr algn="l">
              <a:lnSpc>
                <a:spcPct val="100000"/>
              </a:lnSpc>
            </a:pPr>
            <a:r>
              <a:rPr sz="1400" b="1" i="0">
                <a:solidFill>
                  <a:srgbClr val="0096D6"/>
                </a:solidFill>
                <a:latin typeface="Calibri"/>
              </a:rPr>
              <a:t>▼</a:t>
            </a:r>
          </a:p>
        </p:txBody>
      </p:sp>
      <p:sp>
        <p:nvSpPr>
          <p:cNvPr id="14" name="Rectangle 13"/>
          <p:cNvSpPr/>
          <p:nvPr/>
        </p:nvSpPr>
        <p:spPr>
          <a:xfrm>
            <a:off x="932688" y="2798064"/>
            <a:ext cx="5669280" cy="676656"/>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5" name="Rectangle 14"/>
          <p:cNvSpPr/>
          <p:nvPr/>
        </p:nvSpPr>
        <p:spPr>
          <a:xfrm>
            <a:off x="932688" y="2798064"/>
            <a:ext cx="50292" cy="676656"/>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6" name="TextBox 15"/>
          <p:cNvSpPr txBox="1"/>
          <p:nvPr/>
        </p:nvSpPr>
        <p:spPr>
          <a:xfrm>
            <a:off x="1170432" y="2889504"/>
            <a:ext cx="5212080" cy="215444"/>
          </a:xfrm>
          <a:prstGeom prst="rect">
            <a:avLst/>
          </a:prstGeom>
          <a:noFill/>
        </p:spPr>
        <p:txBody>
          <a:bodyPr wrap="square" lIns="0" tIns="0" rIns="0" bIns="0" anchor="t">
            <a:spAutoFit/>
          </a:bodyPr>
          <a:lstStyle/>
          <a:p>
            <a:pPr algn="l">
              <a:lnSpc>
                <a:spcPct val="100000"/>
              </a:lnSpc>
            </a:pPr>
            <a:r>
              <a:rPr sz="1400" b="1" i="0">
                <a:solidFill>
                  <a:srgbClr val="0A2540"/>
                </a:solidFill>
                <a:latin typeface="Calibri"/>
              </a:rPr>
              <a:t>REGIONAL LEADERSHIP (APAC)</a:t>
            </a:r>
          </a:p>
        </p:txBody>
      </p:sp>
      <p:sp>
        <p:nvSpPr>
          <p:cNvPr id="17" name="TextBox 16"/>
          <p:cNvSpPr txBox="1"/>
          <p:nvPr/>
        </p:nvSpPr>
        <p:spPr>
          <a:xfrm>
            <a:off x="1170432" y="3163824"/>
            <a:ext cx="5212080" cy="236988"/>
          </a:xfrm>
          <a:prstGeom prst="rect">
            <a:avLst/>
          </a:prstGeom>
          <a:noFill/>
        </p:spPr>
        <p:txBody>
          <a:bodyPr wrap="square" lIns="0" tIns="0" rIns="0" bIns="0" anchor="t">
            <a:spAutoFit/>
          </a:bodyPr>
          <a:lstStyle/>
          <a:p>
            <a:pPr algn="l">
              <a:lnSpc>
                <a:spcPct val="110000"/>
              </a:lnSpc>
            </a:pPr>
            <a:r>
              <a:rPr sz="1400" b="0" i="0">
                <a:solidFill>
                  <a:srgbClr val="6B7784"/>
                </a:solidFill>
                <a:latin typeface="Calibri"/>
              </a:rPr>
              <a:t>Điều phối hoạt động và giám sát mục tiêu khu vực châu Á – TBD</a:t>
            </a:r>
          </a:p>
        </p:txBody>
      </p:sp>
      <p:sp>
        <p:nvSpPr>
          <p:cNvPr id="18" name="TextBox 17"/>
          <p:cNvSpPr txBox="1"/>
          <p:nvPr/>
        </p:nvSpPr>
        <p:spPr>
          <a:xfrm>
            <a:off x="1115568" y="3474720"/>
            <a:ext cx="365760" cy="215444"/>
          </a:xfrm>
          <a:prstGeom prst="rect">
            <a:avLst/>
          </a:prstGeom>
          <a:noFill/>
        </p:spPr>
        <p:txBody>
          <a:bodyPr wrap="square" lIns="0" tIns="0" rIns="0" bIns="0" anchor="t">
            <a:spAutoFit/>
          </a:bodyPr>
          <a:lstStyle/>
          <a:p>
            <a:pPr algn="l">
              <a:lnSpc>
                <a:spcPct val="100000"/>
              </a:lnSpc>
            </a:pPr>
            <a:r>
              <a:rPr sz="1400" b="1" i="0">
                <a:solidFill>
                  <a:srgbClr val="0096D6"/>
                </a:solidFill>
                <a:latin typeface="Calibri"/>
              </a:rPr>
              <a:t>▼</a:t>
            </a:r>
          </a:p>
        </p:txBody>
      </p:sp>
      <p:sp>
        <p:nvSpPr>
          <p:cNvPr id="19" name="Rectangle 18"/>
          <p:cNvSpPr/>
          <p:nvPr/>
        </p:nvSpPr>
        <p:spPr>
          <a:xfrm>
            <a:off x="1207007" y="3675887"/>
            <a:ext cx="5394960" cy="676656"/>
          </a:xfrm>
          <a:prstGeom prst="rect">
            <a:avLst/>
          </a:prstGeom>
          <a:solidFill>
            <a:srgbClr val="0A2540"/>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0" name="Rectangle 19"/>
          <p:cNvSpPr/>
          <p:nvPr/>
        </p:nvSpPr>
        <p:spPr>
          <a:xfrm>
            <a:off x="1207007" y="3675887"/>
            <a:ext cx="50292" cy="676656"/>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1" name="TextBox 20"/>
          <p:cNvSpPr txBox="1"/>
          <p:nvPr/>
        </p:nvSpPr>
        <p:spPr>
          <a:xfrm>
            <a:off x="1444751" y="3767327"/>
            <a:ext cx="4937760" cy="215444"/>
          </a:xfrm>
          <a:prstGeom prst="rect">
            <a:avLst/>
          </a:prstGeom>
          <a:noFill/>
        </p:spPr>
        <p:txBody>
          <a:bodyPr wrap="square" lIns="0" tIns="0" rIns="0" bIns="0" anchor="t">
            <a:spAutoFit/>
          </a:bodyPr>
          <a:lstStyle/>
          <a:p>
            <a:pPr algn="l">
              <a:lnSpc>
                <a:spcPct val="100000"/>
              </a:lnSpc>
            </a:pPr>
            <a:r>
              <a:rPr sz="1400" b="1" i="0">
                <a:solidFill>
                  <a:srgbClr val="FFFFFF"/>
                </a:solidFill>
                <a:latin typeface="Calibri"/>
              </a:rPr>
              <a:t>COUNTRY LEADERSHIP (VIỆT NAM)</a:t>
            </a:r>
          </a:p>
        </p:txBody>
      </p:sp>
      <p:sp>
        <p:nvSpPr>
          <p:cNvPr id="22" name="TextBox 21"/>
          <p:cNvSpPr txBox="1"/>
          <p:nvPr/>
        </p:nvSpPr>
        <p:spPr>
          <a:xfrm>
            <a:off x="1444751" y="4041648"/>
            <a:ext cx="4937760" cy="236988"/>
          </a:xfrm>
          <a:prstGeom prst="rect">
            <a:avLst/>
          </a:prstGeom>
          <a:noFill/>
        </p:spPr>
        <p:txBody>
          <a:bodyPr wrap="square" lIns="0" tIns="0" rIns="0" bIns="0" anchor="t">
            <a:spAutoFit/>
          </a:bodyPr>
          <a:lstStyle/>
          <a:p>
            <a:pPr algn="l">
              <a:lnSpc>
                <a:spcPct val="110000"/>
              </a:lnSpc>
            </a:pPr>
            <a:r>
              <a:rPr sz="1400" b="0" i="0">
                <a:solidFill>
                  <a:srgbClr val="B6C9D8"/>
                </a:solidFill>
                <a:latin typeface="Calibri"/>
              </a:rPr>
              <a:t>Triển khai kế hoạch kinh doanh và vận hành tại thị trường Việt Nam</a:t>
            </a:r>
          </a:p>
        </p:txBody>
      </p:sp>
      <p:sp>
        <p:nvSpPr>
          <p:cNvPr id="23" name="TextBox 22"/>
          <p:cNvSpPr txBox="1"/>
          <p:nvPr/>
        </p:nvSpPr>
        <p:spPr>
          <a:xfrm>
            <a:off x="658368" y="4608576"/>
            <a:ext cx="6035040" cy="274320"/>
          </a:xfrm>
          <a:prstGeom prst="rect">
            <a:avLst/>
          </a:prstGeom>
          <a:noFill/>
        </p:spPr>
        <p:txBody>
          <a:bodyPr wrap="square" lIns="0" tIns="0" rIns="0" bIns="0" anchor="t">
            <a:spAutoFit/>
          </a:bodyPr>
          <a:lstStyle/>
          <a:p>
            <a:pPr algn="l">
              <a:lnSpc>
                <a:spcPct val="100000"/>
              </a:lnSpc>
            </a:pPr>
            <a:r>
              <a:rPr sz="1100" b="1" i="0">
                <a:solidFill>
                  <a:srgbClr val="0096D6"/>
                </a:solidFill>
                <a:latin typeface="Calibri"/>
              </a:rPr>
              <a:t>CÁC BỘ PHẬN CHỨC NĂNG TẠI VIỆT NAM</a:t>
            </a:r>
          </a:p>
        </p:txBody>
      </p:sp>
      <p:sp>
        <p:nvSpPr>
          <p:cNvPr id="24" name="Rectangle 23"/>
          <p:cNvSpPr/>
          <p:nvPr/>
        </p:nvSpPr>
        <p:spPr>
          <a:xfrm>
            <a:off x="658368" y="4937760"/>
            <a:ext cx="1389888" cy="384048"/>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5" name="TextBox 24"/>
          <p:cNvSpPr txBox="1"/>
          <p:nvPr/>
        </p:nvSpPr>
        <p:spPr>
          <a:xfrm>
            <a:off x="749808" y="4903568"/>
            <a:ext cx="1207008" cy="452432"/>
          </a:xfrm>
          <a:prstGeom prst="rect">
            <a:avLst/>
          </a:prstGeom>
          <a:noFill/>
        </p:spPr>
        <p:txBody>
          <a:bodyPr wrap="square" lIns="0" tIns="0" rIns="0" bIns="0" anchor="ctr">
            <a:spAutoFit/>
          </a:bodyPr>
          <a:lstStyle/>
          <a:p>
            <a:pPr algn="ctr">
              <a:lnSpc>
                <a:spcPct val="105000"/>
              </a:lnSpc>
            </a:pPr>
            <a:r>
              <a:rPr sz="1400" b="1" i="0">
                <a:solidFill>
                  <a:srgbClr val="0A2540"/>
                </a:solidFill>
                <a:latin typeface="Calibri"/>
              </a:rPr>
              <a:t>Sales (Kinh doanh)</a:t>
            </a:r>
          </a:p>
        </p:txBody>
      </p:sp>
      <p:sp>
        <p:nvSpPr>
          <p:cNvPr id="26" name="Rectangle 25"/>
          <p:cNvSpPr/>
          <p:nvPr/>
        </p:nvSpPr>
        <p:spPr>
          <a:xfrm>
            <a:off x="2139696" y="4937760"/>
            <a:ext cx="1389888" cy="384048"/>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7" name="TextBox 26"/>
          <p:cNvSpPr txBox="1"/>
          <p:nvPr/>
        </p:nvSpPr>
        <p:spPr>
          <a:xfrm>
            <a:off x="2231136" y="5016676"/>
            <a:ext cx="1207008" cy="226216"/>
          </a:xfrm>
          <a:prstGeom prst="rect">
            <a:avLst/>
          </a:prstGeom>
          <a:noFill/>
        </p:spPr>
        <p:txBody>
          <a:bodyPr wrap="square" lIns="0" tIns="0" rIns="0" bIns="0" anchor="ctr">
            <a:spAutoFit/>
          </a:bodyPr>
          <a:lstStyle/>
          <a:p>
            <a:pPr algn="ctr">
              <a:lnSpc>
                <a:spcPct val="105000"/>
              </a:lnSpc>
            </a:pPr>
            <a:r>
              <a:rPr sz="1400" b="1" i="0">
                <a:solidFill>
                  <a:srgbClr val="0A2540"/>
                </a:solidFill>
                <a:latin typeface="Calibri"/>
              </a:rPr>
              <a:t>Marketing</a:t>
            </a:r>
          </a:p>
        </p:txBody>
      </p:sp>
      <p:sp>
        <p:nvSpPr>
          <p:cNvPr id="28" name="Rectangle 27"/>
          <p:cNvSpPr/>
          <p:nvPr/>
        </p:nvSpPr>
        <p:spPr>
          <a:xfrm>
            <a:off x="3621024" y="4937760"/>
            <a:ext cx="1389888" cy="384048"/>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9" name="TextBox 28"/>
          <p:cNvSpPr txBox="1"/>
          <p:nvPr/>
        </p:nvSpPr>
        <p:spPr>
          <a:xfrm>
            <a:off x="3712463" y="5016676"/>
            <a:ext cx="1207008" cy="226216"/>
          </a:xfrm>
          <a:prstGeom prst="rect">
            <a:avLst/>
          </a:prstGeom>
          <a:noFill/>
        </p:spPr>
        <p:txBody>
          <a:bodyPr wrap="square" lIns="0" tIns="0" rIns="0" bIns="0" anchor="ctr">
            <a:spAutoFit/>
          </a:bodyPr>
          <a:lstStyle/>
          <a:p>
            <a:pPr algn="ctr">
              <a:lnSpc>
                <a:spcPct val="105000"/>
              </a:lnSpc>
            </a:pPr>
            <a:r>
              <a:rPr sz="1400" b="1" i="0">
                <a:solidFill>
                  <a:srgbClr val="0A2540"/>
                </a:solidFill>
                <a:latin typeface="Calibri"/>
              </a:rPr>
              <a:t>Supply Chain</a:t>
            </a:r>
          </a:p>
        </p:txBody>
      </p:sp>
      <p:sp>
        <p:nvSpPr>
          <p:cNvPr id="30" name="Rectangle 29"/>
          <p:cNvSpPr/>
          <p:nvPr/>
        </p:nvSpPr>
        <p:spPr>
          <a:xfrm>
            <a:off x="5102352" y="4937760"/>
            <a:ext cx="1389888" cy="384048"/>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1" name="TextBox 30"/>
          <p:cNvSpPr txBox="1"/>
          <p:nvPr/>
        </p:nvSpPr>
        <p:spPr>
          <a:xfrm>
            <a:off x="5193792" y="4903568"/>
            <a:ext cx="1207008" cy="452432"/>
          </a:xfrm>
          <a:prstGeom prst="rect">
            <a:avLst/>
          </a:prstGeom>
          <a:noFill/>
        </p:spPr>
        <p:txBody>
          <a:bodyPr wrap="square" lIns="0" tIns="0" rIns="0" bIns="0" anchor="ctr">
            <a:spAutoFit/>
          </a:bodyPr>
          <a:lstStyle/>
          <a:p>
            <a:pPr algn="ctr">
              <a:lnSpc>
                <a:spcPct val="105000"/>
              </a:lnSpc>
            </a:pPr>
            <a:r>
              <a:rPr sz="1400" b="1" i="0">
                <a:solidFill>
                  <a:srgbClr val="0A2540"/>
                </a:solidFill>
                <a:latin typeface="Calibri"/>
              </a:rPr>
              <a:t>Finance – Accounting</a:t>
            </a:r>
          </a:p>
        </p:txBody>
      </p:sp>
      <p:sp>
        <p:nvSpPr>
          <p:cNvPr id="32" name="Rectangle 31"/>
          <p:cNvSpPr/>
          <p:nvPr/>
        </p:nvSpPr>
        <p:spPr>
          <a:xfrm>
            <a:off x="658368" y="5413248"/>
            <a:ext cx="1389888" cy="384048"/>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3" name="TextBox 32"/>
          <p:cNvSpPr txBox="1"/>
          <p:nvPr/>
        </p:nvSpPr>
        <p:spPr>
          <a:xfrm>
            <a:off x="749808" y="5379056"/>
            <a:ext cx="1207008" cy="452432"/>
          </a:xfrm>
          <a:prstGeom prst="rect">
            <a:avLst/>
          </a:prstGeom>
          <a:noFill/>
        </p:spPr>
        <p:txBody>
          <a:bodyPr wrap="square" lIns="0" tIns="0" rIns="0" bIns="0" anchor="ctr">
            <a:spAutoFit/>
          </a:bodyPr>
          <a:lstStyle/>
          <a:p>
            <a:pPr algn="ctr">
              <a:lnSpc>
                <a:spcPct val="105000"/>
              </a:lnSpc>
            </a:pPr>
            <a:r>
              <a:rPr sz="1400" b="1" i="0">
                <a:solidFill>
                  <a:srgbClr val="0A2540"/>
                </a:solidFill>
                <a:latin typeface="Calibri"/>
              </a:rPr>
              <a:t>Regulatory Affairs</a:t>
            </a:r>
          </a:p>
        </p:txBody>
      </p:sp>
      <p:sp>
        <p:nvSpPr>
          <p:cNvPr id="34" name="Rectangle 33"/>
          <p:cNvSpPr/>
          <p:nvPr/>
        </p:nvSpPr>
        <p:spPr>
          <a:xfrm>
            <a:off x="2139696" y="5413248"/>
            <a:ext cx="1389888" cy="384048"/>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5" name="TextBox 34"/>
          <p:cNvSpPr txBox="1"/>
          <p:nvPr/>
        </p:nvSpPr>
        <p:spPr>
          <a:xfrm>
            <a:off x="2231136" y="5492164"/>
            <a:ext cx="1207008" cy="226216"/>
          </a:xfrm>
          <a:prstGeom prst="rect">
            <a:avLst/>
          </a:prstGeom>
          <a:noFill/>
        </p:spPr>
        <p:txBody>
          <a:bodyPr wrap="square" lIns="0" tIns="0" rIns="0" bIns="0" anchor="ctr">
            <a:spAutoFit/>
          </a:bodyPr>
          <a:lstStyle/>
          <a:p>
            <a:pPr algn="ctr">
              <a:lnSpc>
                <a:spcPct val="105000"/>
              </a:lnSpc>
            </a:pPr>
            <a:r>
              <a:rPr sz="1400" b="1" i="0">
                <a:solidFill>
                  <a:srgbClr val="0A2540"/>
                </a:solidFill>
                <a:latin typeface="Calibri"/>
              </a:rPr>
              <a:t>Quality</a:t>
            </a:r>
          </a:p>
        </p:txBody>
      </p:sp>
      <p:sp>
        <p:nvSpPr>
          <p:cNvPr id="36" name="Rectangle 35"/>
          <p:cNvSpPr/>
          <p:nvPr/>
        </p:nvSpPr>
        <p:spPr>
          <a:xfrm>
            <a:off x="3621024" y="5413248"/>
            <a:ext cx="1389888" cy="384048"/>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7" name="TextBox 36"/>
          <p:cNvSpPr txBox="1"/>
          <p:nvPr/>
        </p:nvSpPr>
        <p:spPr>
          <a:xfrm>
            <a:off x="3712463" y="5379056"/>
            <a:ext cx="1207008" cy="452432"/>
          </a:xfrm>
          <a:prstGeom prst="rect">
            <a:avLst/>
          </a:prstGeom>
          <a:noFill/>
        </p:spPr>
        <p:txBody>
          <a:bodyPr wrap="square" lIns="0" tIns="0" rIns="0" bIns="0" anchor="ctr">
            <a:spAutoFit/>
          </a:bodyPr>
          <a:lstStyle/>
          <a:p>
            <a:pPr algn="ctr">
              <a:lnSpc>
                <a:spcPct val="105000"/>
              </a:lnSpc>
            </a:pPr>
            <a:r>
              <a:rPr sz="1400" b="1" i="0">
                <a:solidFill>
                  <a:srgbClr val="0A2540"/>
                </a:solidFill>
                <a:latin typeface="Calibri"/>
              </a:rPr>
              <a:t>Technical Service</a:t>
            </a:r>
          </a:p>
        </p:txBody>
      </p:sp>
      <p:sp>
        <p:nvSpPr>
          <p:cNvPr id="38" name="Rectangle 37"/>
          <p:cNvSpPr/>
          <p:nvPr/>
        </p:nvSpPr>
        <p:spPr>
          <a:xfrm>
            <a:off x="5102352" y="5413248"/>
            <a:ext cx="1389888" cy="384048"/>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9" name="TextBox 38"/>
          <p:cNvSpPr txBox="1"/>
          <p:nvPr/>
        </p:nvSpPr>
        <p:spPr>
          <a:xfrm>
            <a:off x="5193792" y="5379056"/>
            <a:ext cx="1207008" cy="452432"/>
          </a:xfrm>
          <a:prstGeom prst="rect">
            <a:avLst/>
          </a:prstGeom>
          <a:noFill/>
        </p:spPr>
        <p:txBody>
          <a:bodyPr wrap="square" lIns="0" tIns="0" rIns="0" bIns="0" anchor="ctr">
            <a:spAutoFit/>
          </a:bodyPr>
          <a:lstStyle/>
          <a:p>
            <a:pPr algn="ctr">
              <a:lnSpc>
                <a:spcPct val="105000"/>
              </a:lnSpc>
            </a:pPr>
            <a:r>
              <a:rPr sz="1400" b="1" i="0">
                <a:solidFill>
                  <a:srgbClr val="0A2540"/>
                </a:solidFill>
                <a:latin typeface="Calibri"/>
              </a:rPr>
              <a:t>Human Resources</a:t>
            </a:r>
          </a:p>
        </p:txBody>
      </p:sp>
    </p:spTree>
    <p:extLst>
      <p:ext uri="{BB962C8B-B14F-4D97-AF65-F5344CB8AC3E}">
        <p14:creationId xmlns:p14="http://schemas.microsoft.com/office/powerpoint/2010/main" val="5230901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CHƯƠNG 1 · 1.4 MỤC TIÊU VÀ PHẠM VI</a:t>
            </a:r>
          </a:p>
        </p:txBody>
      </p:sp>
      <p:sp>
        <p:nvSpPr>
          <p:cNvPr id="3" name="TextBox 2"/>
          <p:cNvSpPr txBox="1"/>
          <p:nvPr/>
        </p:nvSpPr>
        <p:spPr>
          <a:xfrm>
            <a:off x="658368" y="640080"/>
            <a:ext cx="10874959" cy="603504"/>
          </a:xfrm>
          <a:prstGeom prst="rect">
            <a:avLst/>
          </a:prstGeom>
          <a:noFill/>
        </p:spPr>
        <p:txBody>
          <a:bodyPr wrap="square" lIns="0" tIns="0" rIns="0" bIns="0" anchor="t">
            <a:spAutoFit/>
          </a:bodyPr>
          <a:lstStyle/>
          <a:p>
            <a:pPr algn="l">
              <a:lnSpc>
                <a:spcPct val="105000"/>
              </a:lnSpc>
            </a:pPr>
            <a:r>
              <a:rPr sz="2500" b="1" i="0">
                <a:solidFill>
                  <a:srgbClr val="0A2540"/>
                </a:solidFill>
                <a:latin typeface="Calibri"/>
              </a:rPr>
              <a:t>MỤC TIÊU VÀ PHẠM VI NGHIÊN CỨU</a:t>
            </a: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7" name="TextBox 6"/>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8</a:t>
            </a:r>
          </a:p>
        </p:txBody>
      </p:sp>
      <p:sp>
        <p:nvSpPr>
          <p:cNvPr id="8" name="Rectangle 7"/>
          <p:cNvSpPr/>
          <p:nvPr/>
        </p:nvSpPr>
        <p:spPr>
          <a:xfrm>
            <a:off x="658368" y="1572768"/>
            <a:ext cx="5257800" cy="4160520"/>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9" name="Rectangle 8"/>
          <p:cNvSpPr/>
          <p:nvPr/>
        </p:nvSpPr>
        <p:spPr>
          <a:xfrm>
            <a:off x="658368" y="1572768"/>
            <a:ext cx="5257800" cy="50292"/>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 name="TextBox 9"/>
          <p:cNvSpPr txBox="1"/>
          <p:nvPr/>
        </p:nvSpPr>
        <p:spPr>
          <a:xfrm>
            <a:off x="932688" y="1792224"/>
            <a:ext cx="4754880" cy="215444"/>
          </a:xfrm>
          <a:prstGeom prst="rect">
            <a:avLst/>
          </a:prstGeom>
          <a:noFill/>
        </p:spPr>
        <p:txBody>
          <a:bodyPr wrap="square" lIns="0" tIns="0" rIns="0" bIns="0" anchor="t">
            <a:spAutoFit/>
          </a:bodyPr>
          <a:lstStyle/>
          <a:p>
            <a:pPr algn="l">
              <a:lnSpc>
                <a:spcPct val="100000"/>
              </a:lnSpc>
            </a:pPr>
            <a:r>
              <a:rPr sz="1400" b="1" i="0">
                <a:solidFill>
                  <a:srgbClr val="0A2540"/>
                </a:solidFill>
                <a:latin typeface="Calibri"/>
              </a:rPr>
              <a:t>MỤC TIÊU NGHIÊN CỨU</a:t>
            </a:r>
          </a:p>
        </p:txBody>
      </p:sp>
      <p:sp>
        <p:nvSpPr>
          <p:cNvPr id="11" name="TextBox 10"/>
          <p:cNvSpPr txBox="1"/>
          <p:nvPr/>
        </p:nvSpPr>
        <p:spPr>
          <a:xfrm>
            <a:off x="932688" y="2212848"/>
            <a:ext cx="4754880" cy="3383280"/>
          </a:xfrm>
          <a:prstGeom prst="rect">
            <a:avLst/>
          </a:prstGeom>
          <a:noFill/>
        </p:spPr>
        <p:txBody>
          <a:bodyPr wrap="square" lIns="0" tIns="0" rIns="0" bIns="0" anchor="t">
            <a:spAutoFit/>
          </a:bodyPr>
          <a:lstStyle/>
          <a:p>
            <a:pPr algn="l">
              <a:lnSpc>
                <a:spcPct val="125000"/>
              </a:lnSpc>
              <a:spcAft>
                <a:spcPts val="1100"/>
              </a:spcAft>
            </a:pPr>
            <a:r>
              <a:rPr sz="1400" b="0" i="0">
                <a:solidFill>
                  <a:srgbClr val="2B3440"/>
                </a:solidFill>
                <a:latin typeface="Calibri"/>
              </a:rPr>
              <a:t>1.   Vận dụng kiến thức BPM vào hoạt động thực tế của doanh nghiệp.</a:t>
            </a:r>
          </a:p>
          <a:p>
            <a:pPr algn="l">
              <a:lnSpc>
                <a:spcPct val="125000"/>
              </a:lnSpc>
              <a:spcAft>
                <a:spcPts val="1100"/>
              </a:spcAft>
            </a:pPr>
            <a:r>
              <a:rPr sz="1400" b="0" i="0">
                <a:solidFill>
                  <a:srgbClr val="2B3440"/>
                </a:solidFill>
                <a:latin typeface="Calibri"/>
              </a:rPr>
              <a:t>2.   Khảo sát và xây dựng kiến trúc quy trình nghiệp vụ (Process Landscape) của Solventum Việt Nam.</a:t>
            </a:r>
          </a:p>
          <a:p>
            <a:pPr algn="l">
              <a:lnSpc>
                <a:spcPct val="125000"/>
              </a:lnSpc>
              <a:spcAft>
                <a:spcPts val="1100"/>
              </a:spcAft>
            </a:pPr>
            <a:r>
              <a:rPr sz="1400" b="0" i="0">
                <a:solidFill>
                  <a:srgbClr val="2B3440"/>
                </a:solidFill>
                <a:latin typeface="Calibri"/>
              </a:rPr>
              <a:t>3.   Mô hình hóa hiện trạng (As-Is) các quy trình tiêu biểu bằng chuẩn BPMN 2.0.</a:t>
            </a:r>
          </a:p>
          <a:p>
            <a:pPr algn="l">
              <a:lnSpc>
                <a:spcPct val="125000"/>
              </a:lnSpc>
              <a:spcAft>
                <a:spcPts val="1100"/>
              </a:spcAft>
            </a:pPr>
            <a:r>
              <a:rPr sz="1400" b="0" i="0">
                <a:solidFill>
                  <a:srgbClr val="2B3440"/>
                </a:solidFill>
                <a:latin typeface="Calibri"/>
              </a:rPr>
              <a:t>4.   Lựa chọn quy trình trọng tâm để phân tích chuyên sâu về giá trị gia tăng, lãng phí, thời gian và chi phí.</a:t>
            </a:r>
          </a:p>
          <a:p>
            <a:pPr algn="l">
              <a:lnSpc>
                <a:spcPct val="125000"/>
              </a:lnSpc>
              <a:spcAft>
                <a:spcPts val="1100"/>
              </a:spcAft>
            </a:pPr>
            <a:r>
              <a:rPr sz="1400" b="0" i="0">
                <a:solidFill>
                  <a:srgbClr val="2B3440"/>
                </a:solidFill>
                <a:latin typeface="Calibri"/>
              </a:rPr>
              <a:t>5.   Đề xuất giải pháp nâng cao hiệu quả vận hành và chuẩn hóa quy trình.</a:t>
            </a:r>
          </a:p>
        </p:txBody>
      </p:sp>
      <p:sp>
        <p:nvSpPr>
          <p:cNvPr id="12" name="Rectangle 11"/>
          <p:cNvSpPr/>
          <p:nvPr/>
        </p:nvSpPr>
        <p:spPr>
          <a:xfrm>
            <a:off x="6272783" y="1572768"/>
            <a:ext cx="5257800" cy="1993392"/>
          </a:xfrm>
          <a:prstGeom prst="rect">
            <a:avLst/>
          </a:prstGeom>
          <a:solidFill>
            <a:srgbClr val="E7F7F3"/>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3" name="Rectangle 12"/>
          <p:cNvSpPr/>
          <p:nvPr/>
        </p:nvSpPr>
        <p:spPr>
          <a:xfrm>
            <a:off x="6272783" y="1572768"/>
            <a:ext cx="5257800" cy="50292"/>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4" name="TextBox 13"/>
          <p:cNvSpPr txBox="1"/>
          <p:nvPr/>
        </p:nvSpPr>
        <p:spPr>
          <a:xfrm>
            <a:off x="6547104" y="1792224"/>
            <a:ext cx="4754880" cy="215444"/>
          </a:xfrm>
          <a:prstGeom prst="rect">
            <a:avLst/>
          </a:prstGeom>
          <a:noFill/>
        </p:spPr>
        <p:txBody>
          <a:bodyPr wrap="square" lIns="0" tIns="0" rIns="0" bIns="0" anchor="t">
            <a:spAutoFit/>
          </a:bodyPr>
          <a:lstStyle/>
          <a:p>
            <a:pPr algn="l">
              <a:lnSpc>
                <a:spcPct val="100000"/>
              </a:lnSpc>
            </a:pPr>
            <a:r>
              <a:rPr sz="1400" b="1" i="0">
                <a:solidFill>
                  <a:srgbClr val="0A2540"/>
                </a:solidFill>
                <a:latin typeface="Calibri"/>
              </a:rPr>
              <a:t>✓   TRONG PHẠM VI</a:t>
            </a:r>
          </a:p>
        </p:txBody>
      </p:sp>
      <p:sp>
        <p:nvSpPr>
          <p:cNvPr id="15" name="TextBox 14"/>
          <p:cNvSpPr txBox="1"/>
          <p:nvPr/>
        </p:nvSpPr>
        <p:spPr>
          <a:xfrm>
            <a:off x="6547104" y="2176272"/>
            <a:ext cx="4754880" cy="968022"/>
          </a:xfrm>
          <a:prstGeom prst="rect">
            <a:avLst/>
          </a:prstGeom>
          <a:noFill/>
        </p:spPr>
        <p:txBody>
          <a:bodyPr wrap="square" lIns="0" tIns="0" rIns="0" bIns="0" anchor="t">
            <a:spAutoFit/>
          </a:bodyPr>
          <a:lstStyle/>
          <a:p>
            <a:pPr algn="l">
              <a:lnSpc>
                <a:spcPct val="122000"/>
              </a:lnSpc>
              <a:spcAft>
                <a:spcPts val="700"/>
              </a:spcAft>
            </a:pPr>
            <a:r>
              <a:rPr sz="1400" b="0" i="0">
                <a:solidFill>
                  <a:srgbClr val="2B3440"/>
                </a:solidFill>
                <a:latin typeface="Calibri"/>
              </a:rPr>
              <a:t>•  Phân tích quy trình ở góc độ quản lý nghiệp vụ.</a:t>
            </a:r>
          </a:p>
          <a:p>
            <a:pPr algn="l">
              <a:lnSpc>
                <a:spcPct val="122000"/>
              </a:lnSpc>
              <a:spcAft>
                <a:spcPts val="700"/>
              </a:spcAft>
            </a:pPr>
            <a:r>
              <a:rPr sz="1400" b="0" i="0">
                <a:solidFill>
                  <a:srgbClr val="2B3440"/>
                </a:solidFill>
                <a:latin typeface="Calibri"/>
              </a:rPr>
              <a:t>•  Khảo sát thực tế kết hợp tài liệu SOP và tài liệu hệ thống.</a:t>
            </a:r>
          </a:p>
          <a:p>
            <a:pPr algn="l">
              <a:lnSpc>
                <a:spcPct val="122000"/>
              </a:lnSpc>
              <a:spcAft>
                <a:spcPts val="700"/>
              </a:spcAft>
            </a:pPr>
            <a:r>
              <a:rPr sz="1400" b="0" i="0">
                <a:solidFill>
                  <a:srgbClr val="2B3440"/>
                </a:solidFill>
                <a:latin typeface="Calibri"/>
              </a:rPr>
              <a:t>•  Mô hình hóa BPMN và phân tích định tính – định lượng.</a:t>
            </a:r>
          </a:p>
        </p:txBody>
      </p:sp>
      <p:sp>
        <p:nvSpPr>
          <p:cNvPr id="16" name="Rectangle 15"/>
          <p:cNvSpPr/>
          <p:nvPr/>
        </p:nvSpPr>
        <p:spPr>
          <a:xfrm>
            <a:off x="6272783" y="3739896"/>
            <a:ext cx="5257800" cy="1993392"/>
          </a:xfrm>
          <a:prstGeom prst="rect">
            <a:avLst/>
          </a:prstGeom>
          <a:solidFill>
            <a:srgbClr val="FEF3F2"/>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7" name="Rectangle 16"/>
          <p:cNvSpPr/>
          <p:nvPr/>
        </p:nvSpPr>
        <p:spPr>
          <a:xfrm>
            <a:off x="6272783" y="3739896"/>
            <a:ext cx="5257800" cy="50292"/>
          </a:xfrm>
          <a:prstGeom prst="rect">
            <a:avLst/>
          </a:prstGeom>
          <a:solidFill>
            <a:srgbClr val="D92D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8" name="TextBox 17"/>
          <p:cNvSpPr txBox="1"/>
          <p:nvPr/>
        </p:nvSpPr>
        <p:spPr>
          <a:xfrm>
            <a:off x="6547104" y="3959352"/>
            <a:ext cx="4754880" cy="215444"/>
          </a:xfrm>
          <a:prstGeom prst="rect">
            <a:avLst/>
          </a:prstGeom>
          <a:noFill/>
        </p:spPr>
        <p:txBody>
          <a:bodyPr wrap="square" lIns="0" tIns="0" rIns="0" bIns="0" anchor="t">
            <a:spAutoFit/>
          </a:bodyPr>
          <a:lstStyle/>
          <a:p>
            <a:pPr algn="l">
              <a:lnSpc>
                <a:spcPct val="100000"/>
              </a:lnSpc>
            </a:pPr>
            <a:r>
              <a:rPr sz="1400" b="1" i="0">
                <a:solidFill>
                  <a:srgbClr val="0A2540"/>
                </a:solidFill>
                <a:latin typeface="Calibri"/>
              </a:rPr>
              <a:t>✕   NGOÀI PHẠM VI</a:t>
            </a:r>
          </a:p>
        </p:txBody>
      </p:sp>
      <p:sp>
        <p:nvSpPr>
          <p:cNvPr id="19" name="TextBox 18"/>
          <p:cNvSpPr txBox="1"/>
          <p:nvPr/>
        </p:nvSpPr>
        <p:spPr>
          <a:xfrm>
            <a:off x="6547104" y="4343400"/>
            <a:ext cx="4754880" cy="968022"/>
          </a:xfrm>
          <a:prstGeom prst="rect">
            <a:avLst/>
          </a:prstGeom>
          <a:noFill/>
        </p:spPr>
        <p:txBody>
          <a:bodyPr wrap="square" lIns="0" tIns="0" rIns="0" bIns="0" anchor="t">
            <a:spAutoFit/>
          </a:bodyPr>
          <a:lstStyle/>
          <a:p>
            <a:pPr algn="l">
              <a:lnSpc>
                <a:spcPct val="122000"/>
              </a:lnSpc>
              <a:spcAft>
                <a:spcPts val="700"/>
              </a:spcAft>
            </a:pPr>
            <a:r>
              <a:rPr sz="1400" b="0" i="0">
                <a:solidFill>
                  <a:srgbClr val="2B3440"/>
                </a:solidFill>
                <a:latin typeface="Calibri"/>
              </a:rPr>
              <a:t>•  Thiết kế và phát triển hệ thống phần mềm.</a:t>
            </a:r>
          </a:p>
          <a:p>
            <a:pPr algn="l">
              <a:lnSpc>
                <a:spcPct val="122000"/>
              </a:lnSpc>
              <a:spcAft>
                <a:spcPts val="700"/>
              </a:spcAft>
            </a:pPr>
            <a:r>
              <a:rPr sz="1400" b="0" i="0">
                <a:solidFill>
                  <a:srgbClr val="2B3440"/>
                </a:solidFill>
                <a:latin typeface="Calibri"/>
              </a:rPr>
              <a:t>•  Triển khai kỹ thuật hệ thống ERP/CRM tại doanh nghiệp.</a:t>
            </a:r>
          </a:p>
          <a:p>
            <a:pPr algn="l">
              <a:lnSpc>
                <a:spcPct val="122000"/>
              </a:lnSpc>
              <a:spcAft>
                <a:spcPts val="700"/>
              </a:spcAft>
            </a:pPr>
            <a:r>
              <a:rPr sz="1400" b="0" i="0">
                <a:solidFill>
                  <a:srgbClr val="2B3440"/>
                </a:solidFill>
                <a:latin typeface="Calibri"/>
              </a:rPr>
              <a:t>•  Mô hình hóa toàn bộ hệ thống quy trình của tập đoàn.</a:t>
            </a:r>
          </a:p>
        </p:txBody>
      </p:sp>
    </p:spTree>
    <p:extLst>
      <p:ext uri="{BB962C8B-B14F-4D97-AF65-F5344CB8AC3E}">
        <p14:creationId xmlns:p14="http://schemas.microsoft.com/office/powerpoint/2010/main" val="2130917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Rectangle 1"/>
          <p:cNvSpPr/>
          <p:nvPr/>
        </p:nvSpPr>
        <p:spPr>
          <a:xfrm>
            <a:off x="0" y="0"/>
            <a:ext cx="182880" cy="6858000"/>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863840" y="0"/>
            <a:ext cx="4325112" cy="6858000"/>
          </a:xfrm>
          <a:prstGeom prst="rect">
            <a:avLst/>
          </a:prstGeom>
          <a:solidFill>
            <a:srgbClr val="1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0" y="1874519"/>
            <a:ext cx="3657600" cy="2926080"/>
          </a:xfrm>
          <a:prstGeom prst="rect">
            <a:avLst/>
          </a:prstGeom>
          <a:noFill/>
        </p:spPr>
        <p:txBody>
          <a:bodyPr wrap="square" lIns="0" tIns="0" rIns="0" bIns="0" anchor="t">
            <a:spAutoFit/>
          </a:bodyPr>
          <a:lstStyle/>
          <a:p>
            <a:pPr algn="ctr">
              <a:lnSpc>
                <a:spcPct val="90000"/>
              </a:lnSpc>
            </a:pPr>
            <a:r>
              <a:rPr sz="15000" b="1" i="0">
                <a:solidFill>
                  <a:srgbClr val="1E4E77"/>
                </a:solidFill>
                <a:latin typeface="Calibri"/>
              </a:rPr>
              <a:t>02</a:t>
            </a:r>
          </a:p>
        </p:txBody>
      </p:sp>
      <p:sp>
        <p:nvSpPr>
          <p:cNvPr id="5" name="TextBox 4"/>
          <p:cNvSpPr txBox="1"/>
          <p:nvPr/>
        </p:nvSpPr>
        <p:spPr>
          <a:xfrm>
            <a:off x="1051560" y="2331720"/>
            <a:ext cx="6583680" cy="215444"/>
          </a:xfrm>
          <a:prstGeom prst="rect">
            <a:avLst/>
          </a:prstGeom>
          <a:noFill/>
        </p:spPr>
        <p:txBody>
          <a:bodyPr wrap="square" lIns="0" tIns="0" rIns="0" bIns="0" anchor="t">
            <a:spAutoFit/>
          </a:bodyPr>
          <a:lstStyle/>
          <a:p>
            <a:pPr algn="l">
              <a:lnSpc>
                <a:spcPct val="100000"/>
              </a:lnSpc>
            </a:pPr>
            <a:r>
              <a:rPr sz="1400" b="1" i="0" dirty="0">
                <a:solidFill>
                  <a:srgbClr val="00C2A8"/>
                </a:solidFill>
                <a:latin typeface="Calibri"/>
              </a:rPr>
              <a:t>PHẦN 2 · PROCESS LANDSCAPE</a:t>
            </a:r>
          </a:p>
        </p:txBody>
      </p:sp>
      <p:sp>
        <p:nvSpPr>
          <p:cNvPr id="6" name="TextBox 5"/>
          <p:cNvSpPr txBox="1"/>
          <p:nvPr/>
        </p:nvSpPr>
        <p:spPr>
          <a:xfrm>
            <a:off x="1051560" y="2724912"/>
            <a:ext cx="6583680" cy="1005840"/>
          </a:xfrm>
          <a:prstGeom prst="rect">
            <a:avLst/>
          </a:prstGeom>
          <a:noFill/>
        </p:spPr>
        <p:txBody>
          <a:bodyPr wrap="square" lIns="0" tIns="0" rIns="0" bIns="0" anchor="t">
            <a:spAutoFit/>
          </a:bodyPr>
          <a:lstStyle/>
          <a:p>
            <a:pPr algn="l">
              <a:lnSpc>
                <a:spcPct val="106000"/>
              </a:lnSpc>
            </a:pPr>
            <a:r>
              <a:rPr sz="3200" b="1" i="0">
                <a:solidFill>
                  <a:srgbClr val="FFFFFF"/>
                </a:solidFill>
                <a:latin typeface="Calibri"/>
              </a:rPr>
              <a:t>Khảo sát hệ thống quy trình nghiệp vụ</a:t>
            </a:r>
          </a:p>
        </p:txBody>
      </p:sp>
      <p:sp>
        <p:nvSpPr>
          <p:cNvPr id="7" name="Rectangle 6"/>
          <p:cNvSpPr/>
          <p:nvPr/>
        </p:nvSpPr>
        <p:spPr>
          <a:xfrm>
            <a:off x="1051560" y="3858768"/>
            <a:ext cx="1005840" cy="45720"/>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4096512"/>
            <a:ext cx="6492240" cy="280077"/>
          </a:xfrm>
          <a:prstGeom prst="rect">
            <a:avLst/>
          </a:prstGeom>
          <a:noFill/>
        </p:spPr>
        <p:txBody>
          <a:bodyPr wrap="square" lIns="0" tIns="0" rIns="0" bIns="0" anchor="t">
            <a:spAutoFit/>
          </a:bodyPr>
          <a:lstStyle/>
          <a:p>
            <a:pPr algn="l">
              <a:lnSpc>
                <a:spcPct val="130000"/>
              </a:lnSpc>
            </a:pPr>
            <a:r>
              <a:rPr sz="1400" b="0" i="0" dirty="0" err="1">
                <a:solidFill>
                  <a:srgbClr val="B6C9D8"/>
                </a:solidFill>
                <a:latin typeface="Calibri"/>
              </a:rPr>
              <a:t>Kiến</a:t>
            </a:r>
            <a:r>
              <a:rPr sz="1400" b="0" i="0" dirty="0">
                <a:solidFill>
                  <a:srgbClr val="B6C9D8"/>
                </a:solidFill>
                <a:latin typeface="Calibri"/>
              </a:rPr>
              <a:t> </a:t>
            </a:r>
            <a:r>
              <a:rPr sz="1400" b="0" i="0" dirty="0" err="1">
                <a:solidFill>
                  <a:srgbClr val="B6C9D8"/>
                </a:solidFill>
                <a:latin typeface="Calibri"/>
              </a:rPr>
              <a:t>trúc</a:t>
            </a:r>
            <a:r>
              <a:rPr sz="1400" b="0" i="0" dirty="0">
                <a:solidFill>
                  <a:srgbClr val="B6C9D8"/>
                </a:solidFill>
                <a:latin typeface="Calibri"/>
              </a:rPr>
              <a:t> </a:t>
            </a:r>
            <a:r>
              <a:rPr sz="1400" b="0" i="0" dirty="0" err="1">
                <a:solidFill>
                  <a:srgbClr val="B6C9D8"/>
                </a:solidFill>
                <a:latin typeface="Calibri"/>
              </a:rPr>
              <a:t>quy</a:t>
            </a:r>
            <a:r>
              <a:rPr sz="1400" b="0" i="0" dirty="0">
                <a:solidFill>
                  <a:srgbClr val="B6C9D8"/>
                </a:solidFill>
                <a:latin typeface="Calibri"/>
              </a:rPr>
              <a:t> </a:t>
            </a:r>
            <a:r>
              <a:rPr sz="1400" b="0" i="0" dirty="0" err="1">
                <a:solidFill>
                  <a:srgbClr val="B6C9D8"/>
                </a:solidFill>
                <a:latin typeface="Calibri"/>
              </a:rPr>
              <a:t>trình</a:t>
            </a:r>
            <a:r>
              <a:rPr sz="1400" b="0" i="0" dirty="0">
                <a:solidFill>
                  <a:srgbClr val="B6C9D8"/>
                </a:solidFill>
                <a:latin typeface="Calibri"/>
              </a:rPr>
              <a:t> </a:t>
            </a:r>
            <a:r>
              <a:rPr sz="1400" b="0" i="0" dirty="0" err="1">
                <a:solidFill>
                  <a:srgbClr val="B6C9D8"/>
                </a:solidFill>
                <a:latin typeface="Calibri"/>
              </a:rPr>
              <a:t>ba</a:t>
            </a:r>
            <a:r>
              <a:rPr sz="1400" b="0" i="0" dirty="0">
                <a:solidFill>
                  <a:srgbClr val="B6C9D8"/>
                </a:solidFill>
                <a:latin typeface="Calibri"/>
              </a:rPr>
              <a:t> </a:t>
            </a:r>
            <a:r>
              <a:rPr sz="1400" b="0" i="0" dirty="0" err="1">
                <a:solidFill>
                  <a:srgbClr val="B6C9D8"/>
                </a:solidFill>
                <a:latin typeface="Calibri"/>
              </a:rPr>
              <a:t>nhóm</a:t>
            </a:r>
            <a:r>
              <a:rPr sz="1400" b="0" i="0" dirty="0">
                <a:solidFill>
                  <a:srgbClr val="B6C9D8"/>
                </a:solidFill>
                <a:latin typeface="Calibri"/>
              </a:rPr>
              <a:t>  ·  </a:t>
            </a:r>
            <a:r>
              <a:rPr sz="1400" b="0" i="0" dirty="0" err="1">
                <a:solidFill>
                  <a:srgbClr val="B6C9D8"/>
                </a:solidFill>
                <a:latin typeface="Calibri"/>
              </a:rPr>
              <a:t>Danh</a:t>
            </a:r>
            <a:r>
              <a:rPr sz="1400" b="0" i="0" dirty="0">
                <a:solidFill>
                  <a:srgbClr val="B6C9D8"/>
                </a:solidFill>
                <a:latin typeface="Calibri"/>
              </a:rPr>
              <a:t> </a:t>
            </a:r>
            <a:r>
              <a:rPr sz="1400" b="0" i="0" dirty="0" err="1">
                <a:solidFill>
                  <a:srgbClr val="B6C9D8"/>
                </a:solidFill>
                <a:latin typeface="Calibri"/>
              </a:rPr>
              <a:t>mục</a:t>
            </a:r>
            <a:r>
              <a:rPr sz="1400" b="0" i="0" dirty="0">
                <a:solidFill>
                  <a:srgbClr val="B6C9D8"/>
                </a:solidFill>
                <a:latin typeface="Calibri"/>
              </a:rPr>
              <a:t> 10 </a:t>
            </a:r>
            <a:r>
              <a:rPr sz="1400" b="0" i="0" dirty="0" err="1">
                <a:solidFill>
                  <a:srgbClr val="B6C9D8"/>
                </a:solidFill>
                <a:latin typeface="Calibri"/>
              </a:rPr>
              <a:t>quy</a:t>
            </a:r>
            <a:r>
              <a:rPr sz="1400" b="0" i="0" dirty="0">
                <a:solidFill>
                  <a:srgbClr val="B6C9D8"/>
                </a:solidFill>
                <a:latin typeface="Calibri"/>
              </a:rPr>
              <a:t> </a:t>
            </a:r>
            <a:r>
              <a:rPr sz="1400" b="0" i="0" dirty="0" err="1">
                <a:solidFill>
                  <a:srgbClr val="B6C9D8"/>
                </a:solidFill>
                <a:latin typeface="Calibri"/>
              </a:rPr>
              <a:t>trình</a:t>
            </a:r>
            <a:r>
              <a:rPr sz="1400" b="0" i="0" dirty="0">
                <a:solidFill>
                  <a:srgbClr val="B6C9D8"/>
                </a:solidFill>
                <a:latin typeface="Calibri"/>
              </a:rPr>
              <a:t> </a:t>
            </a:r>
            <a:r>
              <a:rPr sz="1400" b="0" i="0" dirty="0" err="1">
                <a:solidFill>
                  <a:srgbClr val="B6C9D8"/>
                </a:solidFill>
                <a:latin typeface="Calibri"/>
              </a:rPr>
              <a:t>tiêu</a:t>
            </a:r>
            <a:r>
              <a:rPr sz="1400" b="0" i="0" dirty="0">
                <a:solidFill>
                  <a:srgbClr val="B6C9D8"/>
                </a:solidFill>
                <a:latin typeface="Calibri"/>
              </a:rPr>
              <a:t> </a:t>
            </a:r>
            <a:r>
              <a:rPr sz="1400" b="0" i="0" dirty="0" err="1">
                <a:solidFill>
                  <a:srgbClr val="B6C9D8"/>
                </a:solidFill>
                <a:latin typeface="Calibri"/>
              </a:rPr>
              <a:t>biểu</a:t>
            </a:r>
            <a:r>
              <a:rPr sz="1400" b="0" i="0" dirty="0">
                <a:solidFill>
                  <a:srgbClr val="B6C9D8"/>
                </a:solidFill>
                <a:latin typeface="Calibri"/>
              </a:rPr>
              <a:t>  ·  </a:t>
            </a:r>
            <a:r>
              <a:rPr sz="1400" b="0" i="0" dirty="0" err="1">
                <a:solidFill>
                  <a:srgbClr val="B6C9D8"/>
                </a:solidFill>
                <a:latin typeface="Calibri"/>
              </a:rPr>
              <a:t>Khung</a:t>
            </a:r>
            <a:r>
              <a:rPr sz="1400" b="0" i="0" dirty="0">
                <a:solidFill>
                  <a:srgbClr val="B6C9D8"/>
                </a:solidFill>
                <a:latin typeface="Calibri"/>
              </a:rPr>
              <a:t> </a:t>
            </a:r>
            <a:r>
              <a:rPr sz="1400" b="0" i="0" dirty="0" err="1">
                <a:solidFill>
                  <a:srgbClr val="B6C9D8"/>
                </a:solidFill>
                <a:latin typeface="Calibri"/>
              </a:rPr>
              <a:t>mô</a:t>
            </a:r>
            <a:r>
              <a:rPr sz="1400" b="0" i="0" dirty="0">
                <a:solidFill>
                  <a:srgbClr val="B6C9D8"/>
                </a:solidFill>
                <a:latin typeface="Calibri"/>
              </a:rPr>
              <a:t> </a:t>
            </a:r>
            <a:r>
              <a:rPr sz="1400" b="0" i="0" dirty="0" err="1">
                <a:solidFill>
                  <a:srgbClr val="B6C9D8"/>
                </a:solidFill>
                <a:latin typeface="Calibri"/>
              </a:rPr>
              <a:t>tả</a:t>
            </a:r>
            <a:r>
              <a:rPr sz="1400" b="0" i="0" dirty="0">
                <a:solidFill>
                  <a:srgbClr val="B6C9D8"/>
                </a:solidFill>
                <a:latin typeface="Calibri"/>
              </a:rPr>
              <a:t> </a:t>
            </a:r>
            <a:r>
              <a:rPr sz="1400" b="0" i="0" dirty="0" err="1">
                <a:solidFill>
                  <a:srgbClr val="B6C9D8"/>
                </a:solidFill>
                <a:latin typeface="Calibri"/>
              </a:rPr>
              <a:t>quy</a:t>
            </a:r>
            <a:r>
              <a:rPr sz="1400" b="0" i="0" dirty="0">
                <a:solidFill>
                  <a:srgbClr val="B6C9D8"/>
                </a:solidFill>
                <a:latin typeface="Calibri"/>
              </a:rPr>
              <a:t> </a:t>
            </a:r>
            <a:r>
              <a:rPr sz="1400" b="0" i="0" dirty="0" err="1">
                <a:solidFill>
                  <a:srgbClr val="B6C9D8"/>
                </a:solidFill>
                <a:latin typeface="Calibri"/>
              </a:rPr>
              <a:t>trình</a:t>
            </a:r>
            <a:endParaRPr sz="1400" b="0" i="0" dirty="0">
              <a:solidFill>
                <a:srgbClr val="B6C9D8"/>
              </a:solidFill>
              <a:latin typeface="Calibri"/>
            </a:endParaRPr>
          </a:p>
        </p:txBody>
      </p:sp>
      <p:sp>
        <p:nvSpPr>
          <p:cNvPr id="9" name="TextBox 8"/>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8FA6BC"/>
                </a:solidFill>
                <a:latin typeface="Calibri"/>
              </a:rPr>
              <a:t>SOLVENTUM VIỆT NAM  ·  HỆ THỐNG QUẢN TRỊ QUY TRÌNH NGHIỆP VỤ</a:t>
            </a:r>
          </a:p>
        </p:txBody>
      </p:sp>
      <p:sp>
        <p:nvSpPr>
          <p:cNvPr id="10" name="TextBox 9"/>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C2A8"/>
                </a:solidFill>
                <a:latin typeface="Calibri"/>
              </a:rPr>
              <a:t>9</a:t>
            </a:r>
          </a:p>
        </p:txBody>
      </p:sp>
    </p:spTree>
    <p:extLst>
      <p:ext uri="{BB962C8B-B14F-4D97-AF65-F5344CB8AC3E}">
        <p14:creationId xmlns:p14="http://schemas.microsoft.com/office/powerpoint/2010/main" val="2070691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CHƯƠNG 2 · 2.1 BUSINESS PROCESS LANDSCAPE</a:t>
            </a:r>
          </a:p>
        </p:txBody>
      </p:sp>
      <p:sp>
        <p:nvSpPr>
          <p:cNvPr id="3" name="TextBox 2"/>
          <p:cNvSpPr txBox="1"/>
          <p:nvPr/>
        </p:nvSpPr>
        <p:spPr>
          <a:xfrm>
            <a:off x="658368" y="640080"/>
            <a:ext cx="10874959" cy="603504"/>
          </a:xfrm>
          <a:prstGeom prst="rect">
            <a:avLst/>
          </a:prstGeom>
          <a:noFill/>
        </p:spPr>
        <p:txBody>
          <a:bodyPr wrap="square" lIns="0" tIns="0" rIns="0" bIns="0" anchor="t">
            <a:spAutoFit/>
          </a:bodyPr>
          <a:lstStyle/>
          <a:p>
            <a:pPr algn="l">
              <a:lnSpc>
                <a:spcPct val="105000"/>
              </a:lnSpc>
            </a:pPr>
            <a:r>
              <a:rPr sz="2500" b="1" i="0">
                <a:solidFill>
                  <a:srgbClr val="0A2540"/>
                </a:solidFill>
                <a:latin typeface="Calibri"/>
              </a:rPr>
              <a:t>KIẾN TRÚC QUY TRÌNH NGHIỆP VỤ</a:t>
            </a: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7" name="TextBox 6"/>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10</a:t>
            </a:r>
          </a:p>
        </p:txBody>
      </p:sp>
      <p:sp>
        <p:nvSpPr>
          <p:cNvPr id="8" name="Rectangle 7"/>
          <p:cNvSpPr/>
          <p:nvPr/>
        </p:nvSpPr>
        <p:spPr>
          <a:xfrm>
            <a:off x="658368" y="1609344"/>
            <a:ext cx="5440680" cy="1298448"/>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1639973"/>
            <a:ext cx="4892040" cy="215444"/>
          </a:xfrm>
          <a:prstGeom prst="rect">
            <a:avLst/>
          </a:prstGeom>
          <a:noFill/>
        </p:spPr>
        <p:txBody>
          <a:bodyPr wrap="square" lIns="0" tIns="0" rIns="0" bIns="0" anchor="t">
            <a:spAutoFit/>
          </a:bodyPr>
          <a:lstStyle/>
          <a:p>
            <a:pPr algn="l">
              <a:lnSpc>
                <a:spcPct val="100000"/>
              </a:lnSpc>
            </a:pPr>
            <a:r>
              <a:rPr sz="1400" b="1" i="0" dirty="0">
                <a:solidFill>
                  <a:srgbClr val="FFFFFF"/>
                </a:solidFill>
                <a:latin typeface="Calibri"/>
              </a:rPr>
              <a:t>QUY TRÌNH QUẢN LÝ</a:t>
            </a:r>
          </a:p>
        </p:txBody>
      </p:sp>
      <p:sp>
        <p:nvSpPr>
          <p:cNvPr id="10" name="TextBox 9"/>
          <p:cNvSpPr txBox="1"/>
          <p:nvPr/>
        </p:nvSpPr>
        <p:spPr>
          <a:xfrm>
            <a:off x="932688" y="1861024"/>
            <a:ext cx="4892040" cy="219456"/>
          </a:xfrm>
          <a:prstGeom prst="rect">
            <a:avLst/>
          </a:prstGeom>
          <a:noFill/>
        </p:spPr>
        <p:txBody>
          <a:bodyPr wrap="square" lIns="0" tIns="0" rIns="0" bIns="0" anchor="t">
            <a:spAutoFit/>
          </a:bodyPr>
          <a:lstStyle/>
          <a:p>
            <a:pPr algn="l">
              <a:lnSpc>
                <a:spcPct val="100000"/>
              </a:lnSpc>
            </a:pPr>
            <a:r>
              <a:rPr sz="1400" b="0" i="1" dirty="0">
                <a:solidFill>
                  <a:srgbClr val="FFFFFF"/>
                </a:solidFill>
                <a:latin typeface="Calibri"/>
              </a:rPr>
              <a:t>Management Processes</a:t>
            </a:r>
          </a:p>
        </p:txBody>
      </p:sp>
      <p:sp>
        <p:nvSpPr>
          <p:cNvPr id="11" name="TextBox 10"/>
          <p:cNvSpPr txBox="1"/>
          <p:nvPr/>
        </p:nvSpPr>
        <p:spPr>
          <a:xfrm>
            <a:off x="932688" y="2084321"/>
            <a:ext cx="4892040" cy="775597"/>
          </a:xfrm>
          <a:prstGeom prst="rect">
            <a:avLst/>
          </a:prstGeom>
          <a:noFill/>
        </p:spPr>
        <p:txBody>
          <a:bodyPr wrap="square" lIns="0" tIns="0" rIns="0" bIns="0" anchor="t">
            <a:spAutoFit/>
          </a:bodyPr>
          <a:lstStyle/>
          <a:p>
            <a:pPr algn="l">
              <a:lnSpc>
                <a:spcPct val="120000"/>
              </a:lnSpc>
            </a:pPr>
            <a:r>
              <a:rPr sz="1400" b="0" i="0" dirty="0" err="1">
                <a:solidFill>
                  <a:srgbClr val="FFFFFF"/>
                </a:solidFill>
                <a:latin typeface="Calibri"/>
              </a:rPr>
              <a:t>Định</a:t>
            </a:r>
            <a:r>
              <a:rPr sz="1400" b="0" i="0" dirty="0">
                <a:solidFill>
                  <a:srgbClr val="FFFFFF"/>
                </a:solidFill>
                <a:latin typeface="Calibri"/>
              </a:rPr>
              <a:t> </a:t>
            </a:r>
            <a:r>
              <a:rPr sz="1400" b="0" i="0" dirty="0" err="1">
                <a:solidFill>
                  <a:srgbClr val="FFFFFF"/>
                </a:solidFill>
                <a:latin typeface="Calibri"/>
              </a:rPr>
              <a:t>hướng</a:t>
            </a:r>
            <a:r>
              <a:rPr sz="1400" b="0" i="0" dirty="0">
                <a:solidFill>
                  <a:srgbClr val="FFFFFF"/>
                </a:solidFill>
                <a:latin typeface="Calibri"/>
              </a:rPr>
              <a:t>, </a:t>
            </a:r>
            <a:r>
              <a:rPr sz="1400" b="0" i="0" dirty="0" err="1">
                <a:solidFill>
                  <a:srgbClr val="FFFFFF"/>
                </a:solidFill>
                <a:latin typeface="Calibri"/>
              </a:rPr>
              <a:t>điều</a:t>
            </a:r>
            <a:r>
              <a:rPr sz="1400" b="0" i="0" dirty="0">
                <a:solidFill>
                  <a:srgbClr val="FFFFFF"/>
                </a:solidFill>
                <a:latin typeface="Calibri"/>
              </a:rPr>
              <a:t> </a:t>
            </a:r>
            <a:r>
              <a:rPr sz="1400" b="0" i="0" dirty="0" err="1">
                <a:solidFill>
                  <a:srgbClr val="FFFFFF"/>
                </a:solidFill>
                <a:latin typeface="Calibri"/>
              </a:rPr>
              <a:t>hành</a:t>
            </a:r>
            <a:r>
              <a:rPr sz="1400" b="0" i="0" dirty="0">
                <a:solidFill>
                  <a:srgbClr val="FFFFFF"/>
                </a:solidFill>
                <a:latin typeface="Calibri"/>
              </a:rPr>
              <a:t> </a:t>
            </a:r>
            <a:r>
              <a:rPr sz="1400" b="0" i="0" dirty="0" err="1">
                <a:solidFill>
                  <a:srgbClr val="FFFFFF"/>
                </a:solidFill>
                <a:latin typeface="Calibri"/>
              </a:rPr>
              <a:t>và</a:t>
            </a:r>
            <a:r>
              <a:rPr sz="1400" b="0" i="0" dirty="0">
                <a:solidFill>
                  <a:srgbClr val="FFFFFF"/>
                </a:solidFill>
                <a:latin typeface="Calibri"/>
              </a:rPr>
              <a:t> </a:t>
            </a:r>
            <a:r>
              <a:rPr sz="1400" b="0" i="0" dirty="0" err="1">
                <a:solidFill>
                  <a:srgbClr val="FFFFFF"/>
                </a:solidFill>
                <a:latin typeface="Calibri"/>
              </a:rPr>
              <a:t>kiểm</a:t>
            </a:r>
            <a:r>
              <a:rPr sz="1400" b="0" i="0" dirty="0">
                <a:solidFill>
                  <a:srgbClr val="FFFFFF"/>
                </a:solidFill>
                <a:latin typeface="Calibri"/>
              </a:rPr>
              <a:t> </a:t>
            </a:r>
            <a:r>
              <a:rPr sz="1400" b="0" i="0" dirty="0" err="1">
                <a:solidFill>
                  <a:srgbClr val="FFFFFF"/>
                </a:solidFill>
                <a:latin typeface="Calibri"/>
              </a:rPr>
              <a:t>soát</a:t>
            </a:r>
            <a:r>
              <a:rPr sz="1400" b="0" i="0" dirty="0">
                <a:solidFill>
                  <a:srgbClr val="FFFFFF"/>
                </a:solidFill>
                <a:latin typeface="Calibri"/>
              </a:rPr>
              <a:t>: </a:t>
            </a:r>
            <a:r>
              <a:rPr sz="1400" b="0" i="0" dirty="0" err="1">
                <a:solidFill>
                  <a:srgbClr val="FFFFFF"/>
                </a:solidFill>
                <a:latin typeface="Calibri"/>
              </a:rPr>
              <a:t>xây</a:t>
            </a:r>
            <a:r>
              <a:rPr sz="1400" b="0" i="0" dirty="0">
                <a:solidFill>
                  <a:srgbClr val="FFFFFF"/>
                </a:solidFill>
                <a:latin typeface="Calibri"/>
              </a:rPr>
              <a:t> </a:t>
            </a:r>
            <a:r>
              <a:rPr sz="1400" b="0" i="0" dirty="0" err="1">
                <a:solidFill>
                  <a:srgbClr val="FFFFFF"/>
                </a:solidFill>
                <a:latin typeface="Calibri"/>
              </a:rPr>
              <a:t>dựng</a:t>
            </a:r>
            <a:r>
              <a:rPr sz="1400" b="0" i="0" dirty="0">
                <a:solidFill>
                  <a:srgbClr val="FFFFFF"/>
                </a:solidFill>
                <a:latin typeface="Calibri"/>
              </a:rPr>
              <a:t> </a:t>
            </a:r>
            <a:r>
              <a:rPr sz="1400" b="0" i="0" dirty="0" err="1">
                <a:solidFill>
                  <a:srgbClr val="FFFFFF"/>
                </a:solidFill>
                <a:latin typeface="Calibri"/>
              </a:rPr>
              <a:t>mục</a:t>
            </a:r>
            <a:r>
              <a:rPr sz="1400" b="0" i="0" dirty="0">
                <a:solidFill>
                  <a:srgbClr val="FFFFFF"/>
                </a:solidFill>
                <a:latin typeface="Calibri"/>
              </a:rPr>
              <a:t> </a:t>
            </a:r>
            <a:r>
              <a:rPr sz="1400" b="0" i="0" dirty="0" err="1">
                <a:solidFill>
                  <a:srgbClr val="FFFFFF"/>
                </a:solidFill>
                <a:latin typeface="Calibri"/>
              </a:rPr>
              <a:t>tiêu</a:t>
            </a:r>
            <a:r>
              <a:rPr sz="1400" b="0" i="0" dirty="0">
                <a:solidFill>
                  <a:srgbClr val="FFFFFF"/>
                </a:solidFill>
                <a:latin typeface="Calibri"/>
              </a:rPr>
              <a:t> </a:t>
            </a:r>
            <a:r>
              <a:rPr sz="1400" b="0" i="0" dirty="0" err="1">
                <a:solidFill>
                  <a:srgbClr val="FFFFFF"/>
                </a:solidFill>
                <a:latin typeface="Calibri"/>
              </a:rPr>
              <a:t>chiến</a:t>
            </a:r>
            <a:r>
              <a:rPr sz="1400" b="0" i="0" dirty="0">
                <a:solidFill>
                  <a:srgbClr val="FFFFFF"/>
                </a:solidFill>
                <a:latin typeface="Calibri"/>
              </a:rPr>
              <a:t> </a:t>
            </a:r>
            <a:r>
              <a:rPr sz="1400" b="0" i="0" dirty="0" err="1">
                <a:solidFill>
                  <a:srgbClr val="FFFFFF"/>
                </a:solidFill>
                <a:latin typeface="Calibri"/>
              </a:rPr>
              <a:t>lược</a:t>
            </a:r>
            <a:r>
              <a:rPr sz="1400" b="0" i="0" dirty="0">
                <a:solidFill>
                  <a:srgbClr val="FFFFFF"/>
                </a:solidFill>
                <a:latin typeface="Calibri"/>
              </a:rPr>
              <a:t>, </a:t>
            </a:r>
            <a:r>
              <a:rPr sz="1400" b="0" i="0" dirty="0" err="1">
                <a:solidFill>
                  <a:srgbClr val="FFFFFF"/>
                </a:solidFill>
                <a:latin typeface="Calibri"/>
              </a:rPr>
              <a:t>quản</a:t>
            </a:r>
            <a:r>
              <a:rPr sz="1400" b="0" i="0" dirty="0">
                <a:solidFill>
                  <a:srgbClr val="FFFFFF"/>
                </a:solidFill>
                <a:latin typeface="Calibri"/>
              </a:rPr>
              <a:t> </a:t>
            </a:r>
            <a:r>
              <a:rPr sz="1400" b="0" i="0" dirty="0" err="1">
                <a:solidFill>
                  <a:srgbClr val="FFFFFF"/>
                </a:solidFill>
                <a:latin typeface="Calibri"/>
              </a:rPr>
              <a:t>lý</a:t>
            </a:r>
            <a:r>
              <a:rPr sz="1400" b="0" i="0" dirty="0">
                <a:solidFill>
                  <a:srgbClr val="FFFFFF"/>
                </a:solidFill>
                <a:latin typeface="Calibri"/>
              </a:rPr>
              <a:t> </a:t>
            </a:r>
            <a:r>
              <a:rPr sz="1400" b="0" i="0" dirty="0" err="1">
                <a:solidFill>
                  <a:srgbClr val="FFFFFF"/>
                </a:solidFill>
                <a:latin typeface="Calibri"/>
              </a:rPr>
              <a:t>chất</a:t>
            </a:r>
            <a:r>
              <a:rPr sz="1400" b="0" i="0" dirty="0">
                <a:solidFill>
                  <a:srgbClr val="FFFFFF"/>
                </a:solidFill>
                <a:latin typeface="Calibri"/>
              </a:rPr>
              <a:t> </a:t>
            </a:r>
            <a:r>
              <a:rPr sz="1400" b="0" i="0" dirty="0" err="1">
                <a:solidFill>
                  <a:srgbClr val="FFFFFF"/>
                </a:solidFill>
                <a:latin typeface="Calibri"/>
              </a:rPr>
              <a:t>lượng</a:t>
            </a:r>
            <a:r>
              <a:rPr sz="1400" b="0" i="0" dirty="0">
                <a:solidFill>
                  <a:srgbClr val="FFFFFF"/>
                </a:solidFill>
                <a:latin typeface="Calibri"/>
              </a:rPr>
              <a:t>, </a:t>
            </a:r>
            <a:r>
              <a:rPr sz="1400" b="0" i="0" dirty="0" err="1">
                <a:solidFill>
                  <a:srgbClr val="FFFFFF"/>
                </a:solidFill>
                <a:latin typeface="Calibri"/>
              </a:rPr>
              <a:t>quản</a:t>
            </a:r>
            <a:r>
              <a:rPr sz="1400" b="0" i="0" dirty="0">
                <a:solidFill>
                  <a:srgbClr val="FFFFFF"/>
                </a:solidFill>
                <a:latin typeface="Calibri"/>
              </a:rPr>
              <a:t> </a:t>
            </a:r>
            <a:r>
              <a:rPr sz="1400" b="0" i="0" dirty="0" err="1">
                <a:solidFill>
                  <a:srgbClr val="FFFFFF"/>
                </a:solidFill>
                <a:latin typeface="Calibri"/>
              </a:rPr>
              <a:t>trị</a:t>
            </a:r>
            <a:r>
              <a:rPr sz="1400" b="0" i="0" dirty="0">
                <a:solidFill>
                  <a:srgbClr val="FFFFFF"/>
                </a:solidFill>
                <a:latin typeface="Calibri"/>
              </a:rPr>
              <a:t> </a:t>
            </a:r>
            <a:r>
              <a:rPr sz="1400" b="0" i="0" dirty="0" err="1">
                <a:solidFill>
                  <a:srgbClr val="FFFFFF"/>
                </a:solidFill>
                <a:latin typeface="Calibri"/>
              </a:rPr>
              <a:t>rủi</a:t>
            </a:r>
            <a:r>
              <a:rPr sz="1400" b="0" i="0" dirty="0">
                <a:solidFill>
                  <a:srgbClr val="FFFFFF"/>
                </a:solidFill>
                <a:latin typeface="Calibri"/>
              </a:rPr>
              <a:t> </a:t>
            </a:r>
            <a:r>
              <a:rPr sz="1400" b="0" i="0" dirty="0" err="1">
                <a:solidFill>
                  <a:srgbClr val="FFFFFF"/>
                </a:solidFill>
                <a:latin typeface="Calibri"/>
              </a:rPr>
              <a:t>ro</a:t>
            </a:r>
            <a:r>
              <a:rPr sz="1400" b="0" i="0" dirty="0">
                <a:solidFill>
                  <a:srgbClr val="FFFFFF"/>
                </a:solidFill>
                <a:latin typeface="Calibri"/>
              </a:rPr>
              <a:t> </a:t>
            </a:r>
            <a:r>
              <a:rPr sz="1400" b="0" i="0" dirty="0" err="1">
                <a:solidFill>
                  <a:srgbClr val="FFFFFF"/>
                </a:solidFill>
                <a:latin typeface="Calibri"/>
              </a:rPr>
              <a:t>và</a:t>
            </a:r>
            <a:r>
              <a:rPr sz="1400" b="0" i="0" dirty="0">
                <a:solidFill>
                  <a:srgbClr val="FFFFFF"/>
                </a:solidFill>
                <a:latin typeface="Calibri"/>
              </a:rPr>
              <a:t> </a:t>
            </a:r>
            <a:r>
              <a:rPr sz="1400" b="0" i="0" dirty="0" err="1">
                <a:solidFill>
                  <a:srgbClr val="FFFFFF"/>
                </a:solidFill>
                <a:latin typeface="Calibri"/>
              </a:rPr>
              <a:t>tuân</a:t>
            </a:r>
            <a:r>
              <a:rPr sz="1400" b="0" i="0" dirty="0">
                <a:solidFill>
                  <a:srgbClr val="FFFFFF"/>
                </a:solidFill>
                <a:latin typeface="Calibri"/>
              </a:rPr>
              <a:t> </a:t>
            </a:r>
            <a:r>
              <a:rPr sz="1400" b="0" i="0" dirty="0" err="1">
                <a:solidFill>
                  <a:srgbClr val="FFFFFF"/>
                </a:solidFill>
                <a:latin typeface="Calibri"/>
              </a:rPr>
              <a:t>thủ</a:t>
            </a:r>
            <a:r>
              <a:rPr sz="1400" b="0" i="0" dirty="0">
                <a:solidFill>
                  <a:srgbClr val="FFFFFF"/>
                </a:solidFill>
                <a:latin typeface="Calibri"/>
              </a:rPr>
              <a:t> </a:t>
            </a:r>
            <a:r>
              <a:rPr sz="1400" b="0" i="0" dirty="0" err="1">
                <a:solidFill>
                  <a:srgbClr val="FFFFFF"/>
                </a:solidFill>
                <a:latin typeface="Calibri"/>
              </a:rPr>
              <a:t>quy</a:t>
            </a:r>
            <a:r>
              <a:rPr sz="1400" b="0" i="0" dirty="0">
                <a:solidFill>
                  <a:srgbClr val="FFFFFF"/>
                </a:solidFill>
                <a:latin typeface="Calibri"/>
              </a:rPr>
              <a:t> </a:t>
            </a:r>
            <a:r>
              <a:rPr sz="1400" b="0" i="0" dirty="0" err="1">
                <a:solidFill>
                  <a:srgbClr val="FFFFFF"/>
                </a:solidFill>
                <a:latin typeface="Calibri"/>
              </a:rPr>
              <a:t>định</a:t>
            </a:r>
            <a:r>
              <a:rPr sz="1400" b="0" i="0" dirty="0">
                <a:solidFill>
                  <a:srgbClr val="FFFFFF"/>
                </a:solidFill>
                <a:latin typeface="Calibri"/>
              </a:rPr>
              <a:t> </a:t>
            </a:r>
            <a:r>
              <a:rPr sz="1400" b="0" i="0" dirty="0" err="1">
                <a:solidFill>
                  <a:srgbClr val="FFFFFF"/>
                </a:solidFill>
                <a:latin typeface="Calibri"/>
              </a:rPr>
              <a:t>ngành</a:t>
            </a:r>
            <a:r>
              <a:rPr sz="1400" b="0" i="0" dirty="0">
                <a:solidFill>
                  <a:srgbClr val="FFFFFF"/>
                </a:solidFill>
                <a:latin typeface="Calibri"/>
              </a:rPr>
              <a:t> </a:t>
            </a:r>
            <a:r>
              <a:rPr sz="1400" b="0" i="0" dirty="0" err="1">
                <a:solidFill>
                  <a:srgbClr val="FFFFFF"/>
                </a:solidFill>
                <a:latin typeface="Calibri"/>
              </a:rPr>
              <a:t>thiết</a:t>
            </a:r>
            <a:r>
              <a:rPr sz="1400" b="0" i="0" dirty="0">
                <a:solidFill>
                  <a:srgbClr val="FFFFFF"/>
                </a:solidFill>
                <a:latin typeface="Calibri"/>
              </a:rPr>
              <a:t> </a:t>
            </a:r>
            <a:r>
              <a:rPr sz="1400" b="0" i="0" dirty="0" err="1">
                <a:solidFill>
                  <a:srgbClr val="FFFFFF"/>
                </a:solidFill>
                <a:latin typeface="Calibri"/>
              </a:rPr>
              <a:t>bị</a:t>
            </a:r>
            <a:r>
              <a:rPr sz="1400" b="0" i="0" dirty="0">
                <a:solidFill>
                  <a:srgbClr val="FFFFFF"/>
                </a:solidFill>
                <a:latin typeface="Calibri"/>
              </a:rPr>
              <a:t> y </a:t>
            </a:r>
            <a:r>
              <a:rPr sz="1400" b="0" i="0" dirty="0" err="1">
                <a:solidFill>
                  <a:srgbClr val="FFFFFF"/>
                </a:solidFill>
                <a:latin typeface="Calibri"/>
              </a:rPr>
              <a:t>tế</a:t>
            </a:r>
            <a:r>
              <a:rPr sz="1400" b="0" i="0" dirty="0">
                <a:solidFill>
                  <a:srgbClr val="FFFFFF"/>
                </a:solidFill>
                <a:latin typeface="Calibri"/>
              </a:rPr>
              <a:t>.</a:t>
            </a:r>
          </a:p>
        </p:txBody>
      </p:sp>
      <p:sp>
        <p:nvSpPr>
          <p:cNvPr id="12" name="Rectangle 11"/>
          <p:cNvSpPr/>
          <p:nvPr/>
        </p:nvSpPr>
        <p:spPr>
          <a:xfrm>
            <a:off x="658368" y="3026664"/>
            <a:ext cx="5440680" cy="12984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32688" y="3057293"/>
            <a:ext cx="4892040" cy="215444"/>
          </a:xfrm>
          <a:prstGeom prst="rect">
            <a:avLst/>
          </a:prstGeom>
          <a:noFill/>
        </p:spPr>
        <p:txBody>
          <a:bodyPr wrap="square" lIns="0" tIns="0" rIns="0" bIns="0" anchor="t">
            <a:spAutoFit/>
          </a:bodyPr>
          <a:lstStyle/>
          <a:p>
            <a:pPr algn="l">
              <a:lnSpc>
                <a:spcPct val="100000"/>
              </a:lnSpc>
            </a:pPr>
            <a:r>
              <a:rPr sz="1400" b="1" i="0" dirty="0">
                <a:solidFill>
                  <a:srgbClr val="FFFFFF"/>
                </a:solidFill>
                <a:latin typeface="Calibri"/>
              </a:rPr>
              <a:t>QUY TRÌNH CỐT LÕI</a:t>
            </a:r>
          </a:p>
        </p:txBody>
      </p:sp>
      <p:sp>
        <p:nvSpPr>
          <p:cNvPr id="14" name="TextBox 13"/>
          <p:cNvSpPr txBox="1"/>
          <p:nvPr/>
        </p:nvSpPr>
        <p:spPr>
          <a:xfrm>
            <a:off x="932688" y="3331614"/>
            <a:ext cx="4892040" cy="219456"/>
          </a:xfrm>
          <a:prstGeom prst="rect">
            <a:avLst/>
          </a:prstGeom>
          <a:noFill/>
        </p:spPr>
        <p:txBody>
          <a:bodyPr wrap="square" lIns="0" tIns="0" rIns="0" bIns="0" anchor="t">
            <a:spAutoFit/>
          </a:bodyPr>
          <a:lstStyle/>
          <a:p>
            <a:pPr algn="l">
              <a:lnSpc>
                <a:spcPct val="100000"/>
              </a:lnSpc>
            </a:pPr>
            <a:r>
              <a:rPr sz="1400" b="0" i="1" dirty="0">
                <a:solidFill>
                  <a:srgbClr val="FFFFFF"/>
                </a:solidFill>
                <a:latin typeface="Calibri"/>
              </a:rPr>
              <a:t>Core Business Processes</a:t>
            </a:r>
          </a:p>
        </p:txBody>
      </p:sp>
      <p:sp>
        <p:nvSpPr>
          <p:cNvPr id="15" name="TextBox 14"/>
          <p:cNvSpPr txBox="1"/>
          <p:nvPr/>
        </p:nvSpPr>
        <p:spPr>
          <a:xfrm>
            <a:off x="932688" y="3534642"/>
            <a:ext cx="4892040" cy="775597"/>
          </a:xfrm>
          <a:prstGeom prst="rect">
            <a:avLst/>
          </a:prstGeom>
          <a:noFill/>
        </p:spPr>
        <p:txBody>
          <a:bodyPr wrap="square" lIns="0" tIns="0" rIns="0" bIns="0" anchor="t">
            <a:spAutoFit/>
          </a:bodyPr>
          <a:lstStyle/>
          <a:p>
            <a:pPr algn="l">
              <a:lnSpc>
                <a:spcPct val="120000"/>
              </a:lnSpc>
            </a:pPr>
            <a:r>
              <a:rPr sz="1400" b="0" i="0" dirty="0" err="1">
                <a:solidFill>
                  <a:srgbClr val="FFFFFF"/>
                </a:solidFill>
                <a:latin typeface="Calibri"/>
              </a:rPr>
              <a:t>Trực</a:t>
            </a:r>
            <a:r>
              <a:rPr sz="1400" b="0" i="0" dirty="0">
                <a:solidFill>
                  <a:srgbClr val="FFFFFF"/>
                </a:solidFill>
                <a:latin typeface="Calibri"/>
              </a:rPr>
              <a:t> </a:t>
            </a:r>
            <a:r>
              <a:rPr sz="1400" b="0" i="0" dirty="0" err="1">
                <a:solidFill>
                  <a:srgbClr val="FFFFFF"/>
                </a:solidFill>
                <a:latin typeface="Calibri"/>
              </a:rPr>
              <a:t>tiếp</a:t>
            </a:r>
            <a:r>
              <a:rPr sz="1400" b="0" i="0" dirty="0">
                <a:solidFill>
                  <a:srgbClr val="FFFFFF"/>
                </a:solidFill>
                <a:latin typeface="Calibri"/>
              </a:rPr>
              <a:t> </a:t>
            </a:r>
            <a:r>
              <a:rPr sz="1400" b="0" i="0" dirty="0" err="1">
                <a:solidFill>
                  <a:srgbClr val="FFFFFF"/>
                </a:solidFill>
                <a:latin typeface="Calibri"/>
              </a:rPr>
              <a:t>tạo</a:t>
            </a:r>
            <a:r>
              <a:rPr sz="1400" b="0" i="0" dirty="0">
                <a:solidFill>
                  <a:srgbClr val="FFFFFF"/>
                </a:solidFill>
                <a:latin typeface="Calibri"/>
              </a:rPr>
              <a:t> </a:t>
            </a:r>
            <a:r>
              <a:rPr sz="1400" b="0" i="0" dirty="0" err="1">
                <a:solidFill>
                  <a:srgbClr val="FFFFFF"/>
                </a:solidFill>
                <a:latin typeface="Calibri"/>
              </a:rPr>
              <a:t>ra</a:t>
            </a:r>
            <a:r>
              <a:rPr sz="1400" b="0" i="0" dirty="0">
                <a:solidFill>
                  <a:srgbClr val="FFFFFF"/>
                </a:solidFill>
                <a:latin typeface="Calibri"/>
              </a:rPr>
              <a:t> </a:t>
            </a:r>
            <a:r>
              <a:rPr sz="1400" b="0" i="0" dirty="0" err="1">
                <a:solidFill>
                  <a:srgbClr val="FFFFFF"/>
                </a:solidFill>
                <a:latin typeface="Calibri"/>
              </a:rPr>
              <a:t>giá</a:t>
            </a:r>
            <a:r>
              <a:rPr sz="1400" b="0" i="0" dirty="0">
                <a:solidFill>
                  <a:srgbClr val="FFFFFF"/>
                </a:solidFill>
                <a:latin typeface="Calibri"/>
              </a:rPr>
              <a:t> </a:t>
            </a:r>
            <a:r>
              <a:rPr sz="1400" b="0" i="0" dirty="0" err="1">
                <a:solidFill>
                  <a:srgbClr val="FFFFFF"/>
                </a:solidFill>
                <a:latin typeface="Calibri"/>
              </a:rPr>
              <a:t>trị</a:t>
            </a:r>
            <a:r>
              <a:rPr sz="1400" b="0" i="0" dirty="0">
                <a:solidFill>
                  <a:srgbClr val="FFFFFF"/>
                </a:solidFill>
                <a:latin typeface="Calibri"/>
              </a:rPr>
              <a:t> </a:t>
            </a:r>
            <a:r>
              <a:rPr sz="1400" b="0" i="0" dirty="0" err="1">
                <a:solidFill>
                  <a:srgbClr val="FFFFFF"/>
                </a:solidFill>
                <a:latin typeface="Calibri"/>
              </a:rPr>
              <a:t>cho</a:t>
            </a:r>
            <a:r>
              <a:rPr sz="1400" b="0" i="0" dirty="0">
                <a:solidFill>
                  <a:srgbClr val="FFFFFF"/>
                </a:solidFill>
                <a:latin typeface="Calibri"/>
              </a:rPr>
              <a:t> </a:t>
            </a:r>
            <a:r>
              <a:rPr sz="1400" b="0" i="0" dirty="0" err="1">
                <a:solidFill>
                  <a:srgbClr val="FFFFFF"/>
                </a:solidFill>
                <a:latin typeface="Calibri"/>
              </a:rPr>
              <a:t>khách</a:t>
            </a:r>
            <a:r>
              <a:rPr sz="1400" b="0" i="0" dirty="0">
                <a:solidFill>
                  <a:srgbClr val="FFFFFF"/>
                </a:solidFill>
                <a:latin typeface="Calibri"/>
              </a:rPr>
              <a:t> </a:t>
            </a:r>
            <a:r>
              <a:rPr sz="1400" b="0" i="0" dirty="0" err="1">
                <a:solidFill>
                  <a:srgbClr val="FFFFFF"/>
                </a:solidFill>
                <a:latin typeface="Calibri"/>
              </a:rPr>
              <a:t>hàng</a:t>
            </a:r>
            <a:r>
              <a:rPr sz="1400" b="0" i="0" dirty="0">
                <a:solidFill>
                  <a:srgbClr val="FFFFFF"/>
                </a:solidFill>
                <a:latin typeface="Calibri"/>
              </a:rPr>
              <a:t>: </a:t>
            </a:r>
            <a:r>
              <a:rPr sz="1400" b="0" i="0" dirty="0" err="1">
                <a:solidFill>
                  <a:srgbClr val="FFFFFF"/>
                </a:solidFill>
                <a:latin typeface="Calibri"/>
              </a:rPr>
              <a:t>tiếp</a:t>
            </a:r>
            <a:r>
              <a:rPr sz="1400" b="0" i="0" dirty="0">
                <a:solidFill>
                  <a:srgbClr val="FFFFFF"/>
                </a:solidFill>
                <a:latin typeface="Calibri"/>
              </a:rPr>
              <a:t> </a:t>
            </a:r>
            <a:r>
              <a:rPr sz="1400" b="0" i="0" dirty="0" err="1">
                <a:solidFill>
                  <a:srgbClr val="FFFFFF"/>
                </a:solidFill>
                <a:latin typeface="Calibri"/>
              </a:rPr>
              <a:t>nhận</a:t>
            </a:r>
            <a:r>
              <a:rPr sz="1400" b="0" i="0" dirty="0">
                <a:solidFill>
                  <a:srgbClr val="FFFFFF"/>
                </a:solidFill>
                <a:latin typeface="Calibri"/>
              </a:rPr>
              <a:t> </a:t>
            </a:r>
            <a:r>
              <a:rPr sz="1400" b="0" i="0" dirty="0" err="1">
                <a:solidFill>
                  <a:srgbClr val="FFFFFF"/>
                </a:solidFill>
                <a:latin typeface="Calibri"/>
              </a:rPr>
              <a:t>nhu</a:t>
            </a:r>
            <a:r>
              <a:rPr sz="1400" b="0" i="0" dirty="0">
                <a:solidFill>
                  <a:srgbClr val="FFFFFF"/>
                </a:solidFill>
                <a:latin typeface="Calibri"/>
              </a:rPr>
              <a:t> </a:t>
            </a:r>
            <a:r>
              <a:rPr sz="1400" b="0" i="0" dirty="0" err="1">
                <a:solidFill>
                  <a:srgbClr val="FFFFFF"/>
                </a:solidFill>
                <a:latin typeface="Calibri"/>
              </a:rPr>
              <a:t>cầu</a:t>
            </a:r>
            <a:r>
              <a:rPr sz="1400" b="0" i="0" dirty="0">
                <a:solidFill>
                  <a:srgbClr val="FFFFFF"/>
                </a:solidFill>
                <a:latin typeface="Calibri"/>
              </a:rPr>
              <a:t>, </a:t>
            </a:r>
            <a:r>
              <a:rPr sz="1400" b="0" i="0" dirty="0" err="1">
                <a:solidFill>
                  <a:srgbClr val="FFFFFF"/>
                </a:solidFill>
                <a:latin typeface="Calibri"/>
              </a:rPr>
              <a:t>quản</a:t>
            </a:r>
            <a:r>
              <a:rPr sz="1400" b="0" i="0" dirty="0">
                <a:solidFill>
                  <a:srgbClr val="FFFFFF"/>
                </a:solidFill>
                <a:latin typeface="Calibri"/>
              </a:rPr>
              <a:t> </a:t>
            </a:r>
            <a:r>
              <a:rPr sz="1400" b="0" i="0" dirty="0" err="1">
                <a:solidFill>
                  <a:srgbClr val="FFFFFF"/>
                </a:solidFill>
                <a:latin typeface="Calibri"/>
              </a:rPr>
              <a:t>lý</a:t>
            </a:r>
            <a:r>
              <a:rPr sz="1400" b="0" i="0" dirty="0">
                <a:solidFill>
                  <a:srgbClr val="FFFFFF"/>
                </a:solidFill>
                <a:latin typeface="Calibri"/>
              </a:rPr>
              <a:t> </a:t>
            </a:r>
            <a:r>
              <a:rPr sz="1400" b="0" i="0" dirty="0" err="1">
                <a:solidFill>
                  <a:srgbClr val="FFFFFF"/>
                </a:solidFill>
                <a:latin typeface="Calibri"/>
              </a:rPr>
              <a:t>bán</a:t>
            </a:r>
            <a:r>
              <a:rPr sz="1400" b="0" i="0" dirty="0">
                <a:solidFill>
                  <a:srgbClr val="FFFFFF"/>
                </a:solidFill>
                <a:latin typeface="Calibri"/>
              </a:rPr>
              <a:t> </a:t>
            </a:r>
            <a:r>
              <a:rPr sz="1400" b="0" i="0" dirty="0" err="1">
                <a:solidFill>
                  <a:srgbClr val="FFFFFF"/>
                </a:solidFill>
                <a:latin typeface="Calibri"/>
              </a:rPr>
              <a:t>hàng</a:t>
            </a:r>
            <a:r>
              <a:rPr sz="1400" b="0" i="0" dirty="0">
                <a:solidFill>
                  <a:srgbClr val="FFFFFF"/>
                </a:solidFill>
                <a:latin typeface="Calibri"/>
              </a:rPr>
              <a:t>, </a:t>
            </a:r>
            <a:r>
              <a:rPr sz="1400" b="0" i="0" dirty="0" err="1">
                <a:solidFill>
                  <a:srgbClr val="FFFFFF"/>
                </a:solidFill>
                <a:latin typeface="Calibri"/>
              </a:rPr>
              <a:t>xử</a:t>
            </a:r>
            <a:r>
              <a:rPr sz="1400" b="0" i="0" dirty="0">
                <a:solidFill>
                  <a:srgbClr val="FFFFFF"/>
                </a:solidFill>
                <a:latin typeface="Calibri"/>
              </a:rPr>
              <a:t> </a:t>
            </a:r>
            <a:r>
              <a:rPr sz="1400" b="0" i="0" dirty="0" err="1">
                <a:solidFill>
                  <a:srgbClr val="FFFFFF"/>
                </a:solidFill>
                <a:latin typeface="Calibri"/>
              </a:rPr>
              <a:t>lý</a:t>
            </a:r>
            <a:r>
              <a:rPr sz="1400" b="0" i="0" dirty="0">
                <a:solidFill>
                  <a:srgbClr val="FFFFFF"/>
                </a:solidFill>
                <a:latin typeface="Calibri"/>
              </a:rPr>
              <a:t> </a:t>
            </a:r>
            <a:r>
              <a:rPr sz="1400" b="0" i="0" dirty="0" err="1">
                <a:solidFill>
                  <a:srgbClr val="FFFFFF"/>
                </a:solidFill>
                <a:latin typeface="Calibri"/>
              </a:rPr>
              <a:t>đơn</a:t>
            </a:r>
            <a:r>
              <a:rPr sz="1400" b="0" i="0" dirty="0">
                <a:solidFill>
                  <a:srgbClr val="FFFFFF"/>
                </a:solidFill>
                <a:latin typeface="Calibri"/>
              </a:rPr>
              <a:t> </a:t>
            </a:r>
            <a:r>
              <a:rPr sz="1400" b="0" i="0" dirty="0" err="1">
                <a:solidFill>
                  <a:srgbClr val="FFFFFF"/>
                </a:solidFill>
                <a:latin typeface="Calibri"/>
              </a:rPr>
              <a:t>hàng</a:t>
            </a:r>
            <a:r>
              <a:rPr sz="1400" b="0" i="0" dirty="0">
                <a:solidFill>
                  <a:srgbClr val="FFFFFF"/>
                </a:solidFill>
                <a:latin typeface="Calibri"/>
              </a:rPr>
              <a:t>, </a:t>
            </a:r>
            <a:r>
              <a:rPr sz="1400" b="0" i="0" dirty="0" err="1">
                <a:solidFill>
                  <a:srgbClr val="FFFFFF"/>
                </a:solidFill>
                <a:latin typeface="Calibri"/>
              </a:rPr>
              <a:t>giao</a:t>
            </a:r>
            <a:r>
              <a:rPr sz="1400" b="0" i="0" dirty="0">
                <a:solidFill>
                  <a:srgbClr val="FFFFFF"/>
                </a:solidFill>
                <a:latin typeface="Calibri"/>
              </a:rPr>
              <a:t> </a:t>
            </a:r>
            <a:r>
              <a:rPr sz="1400" b="0" i="0" dirty="0" err="1">
                <a:solidFill>
                  <a:srgbClr val="FFFFFF"/>
                </a:solidFill>
                <a:latin typeface="Calibri"/>
              </a:rPr>
              <a:t>hàng</a:t>
            </a:r>
            <a:r>
              <a:rPr sz="1400" b="0" i="0" dirty="0">
                <a:solidFill>
                  <a:srgbClr val="FFFFFF"/>
                </a:solidFill>
                <a:latin typeface="Calibri"/>
              </a:rPr>
              <a:t>, </a:t>
            </a:r>
            <a:r>
              <a:rPr sz="1400" b="0" i="0" dirty="0" err="1">
                <a:solidFill>
                  <a:srgbClr val="FFFFFF"/>
                </a:solidFill>
                <a:latin typeface="Calibri"/>
              </a:rPr>
              <a:t>lắp</a:t>
            </a:r>
            <a:r>
              <a:rPr sz="1400" b="0" i="0" dirty="0">
                <a:solidFill>
                  <a:srgbClr val="FFFFFF"/>
                </a:solidFill>
                <a:latin typeface="Calibri"/>
              </a:rPr>
              <a:t> </a:t>
            </a:r>
            <a:r>
              <a:rPr sz="1400" b="0" i="0" dirty="0" err="1">
                <a:solidFill>
                  <a:srgbClr val="FFFFFF"/>
                </a:solidFill>
                <a:latin typeface="Calibri"/>
              </a:rPr>
              <a:t>đặt</a:t>
            </a:r>
            <a:r>
              <a:rPr sz="1400" b="0" i="0" dirty="0">
                <a:solidFill>
                  <a:srgbClr val="FFFFFF"/>
                </a:solidFill>
                <a:latin typeface="Calibri"/>
              </a:rPr>
              <a:t> </a:t>
            </a:r>
            <a:r>
              <a:rPr sz="1400" b="0" i="0" dirty="0" err="1">
                <a:solidFill>
                  <a:srgbClr val="FFFFFF"/>
                </a:solidFill>
                <a:latin typeface="Calibri"/>
              </a:rPr>
              <a:t>và</a:t>
            </a:r>
            <a:r>
              <a:rPr sz="1400" b="0" i="0" dirty="0">
                <a:solidFill>
                  <a:srgbClr val="FFFFFF"/>
                </a:solidFill>
                <a:latin typeface="Calibri"/>
              </a:rPr>
              <a:t> </a:t>
            </a:r>
            <a:r>
              <a:rPr sz="1400" b="0" i="0" dirty="0" err="1">
                <a:solidFill>
                  <a:srgbClr val="FFFFFF"/>
                </a:solidFill>
                <a:latin typeface="Calibri"/>
              </a:rPr>
              <a:t>dịch</a:t>
            </a:r>
            <a:r>
              <a:rPr sz="1400" b="0" i="0" dirty="0">
                <a:solidFill>
                  <a:srgbClr val="FFFFFF"/>
                </a:solidFill>
                <a:latin typeface="Calibri"/>
              </a:rPr>
              <a:t> </a:t>
            </a:r>
            <a:r>
              <a:rPr sz="1400" b="0" i="0" dirty="0" err="1">
                <a:solidFill>
                  <a:srgbClr val="FFFFFF"/>
                </a:solidFill>
                <a:latin typeface="Calibri"/>
              </a:rPr>
              <a:t>vụ</a:t>
            </a:r>
            <a:r>
              <a:rPr sz="1400" b="0" i="0" dirty="0">
                <a:solidFill>
                  <a:srgbClr val="FFFFFF"/>
                </a:solidFill>
                <a:latin typeface="Calibri"/>
              </a:rPr>
              <a:t> </a:t>
            </a:r>
            <a:r>
              <a:rPr sz="1400" b="0" i="0" dirty="0" err="1">
                <a:solidFill>
                  <a:srgbClr val="FFFFFF"/>
                </a:solidFill>
                <a:latin typeface="Calibri"/>
              </a:rPr>
              <a:t>kỹ</a:t>
            </a:r>
            <a:r>
              <a:rPr sz="1400" b="0" i="0" dirty="0">
                <a:solidFill>
                  <a:srgbClr val="FFFFFF"/>
                </a:solidFill>
                <a:latin typeface="Calibri"/>
              </a:rPr>
              <a:t> </a:t>
            </a:r>
            <a:r>
              <a:rPr sz="1400" b="0" i="0" dirty="0" err="1">
                <a:solidFill>
                  <a:srgbClr val="FFFFFF"/>
                </a:solidFill>
                <a:latin typeface="Calibri"/>
              </a:rPr>
              <a:t>thuật</a:t>
            </a:r>
            <a:r>
              <a:rPr sz="1400" b="0" i="0" dirty="0">
                <a:solidFill>
                  <a:srgbClr val="FFFFFF"/>
                </a:solidFill>
                <a:latin typeface="Calibri"/>
              </a:rPr>
              <a:t> </a:t>
            </a:r>
            <a:r>
              <a:rPr sz="1400" b="0" i="0" dirty="0" err="1">
                <a:solidFill>
                  <a:srgbClr val="FFFFFF"/>
                </a:solidFill>
                <a:latin typeface="Calibri"/>
              </a:rPr>
              <a:t>sau</a:t>
            </a:r>
            <a:r>
              <a:rPr sz="1400" b="0" i="0" dirty="0">
                <a:solidFill>
                  <a:srgbClr val="FFFFFF"/>
                </a:solidFill>
                <a:latin typeface="Calibri"/>
              </a:rPr>
              <a:t> </a:t>
            </a:r>
            <a:r>
              <a:rPr sz="1400" b="0" i="0" dirty="0" err="1">
                <a:solidFill>
                  <a:srgbClr val="FFFFFF"/>
                </a:solidFill>
                <a:latin typeface="Calibri"/>
              </a:rPr>
              <a:t>bán</a:t>
            </a:r>
            <a:r>
              <a:rPr sz="1400" b="0" i="0" dirty="0">
                <a:solidFill>
                  <a:srgbClr val="FFFFFF"/>
                </a:solidFill>
                <a:latin typeface="Calibri"/>
              </a:rPr>
              <a:t> </a:t>
            </a:r>
            <a:r>
              <a:rPr sz="1400" b="0" i="0" dirty="0" err="1">
                <a:solidFill>
                  <a:srgbClr val="FFFFFF"/>
                </a:solidFill>
                <a:latin typeface="Calibri"/>
              </a:rPr>
              <a:t>hàng</a:t>
            </a:r>
            <a:r>
              <a:rPr sz="1400" b="0" i="0" dirty="0">
                <a:solidFill>
                  <a:srgbClr val="FFFFFF"/>
                </a:solidFill>
                <a:latin typeface="Calibri"/>
              </a:rPr>
              <a:t>.</a:t>
            </a:r>
          </a:p>
        </p:txBody>
      </p:sp>
      <p:sp>
        <p:nvSpPr>
          <p:cNvPr id="16" name="Rectangle 15"/>
          <p:cNvSpPr/>
          <p:nvPr/>
        </p:nvSpPr>
        <p:spPr>
          <a:xfrm>
            <a:off x="658368" y="4443984"/>
            <a:ext cx="5440680" cy="1298448"/>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32688" y="4489704"/>
            <a:ext cx="4892040" cy="215444"/>
          </a:xfrm>
          <a:prstGeom prst="rect">
            <a:avLst/>
          </a:prstGeom>
          <a:noFill/>
        </p:spPr>
        <p:txBody>
          <a:bodyPr wrap="square" lIns="0" tIns="0" rIns="0" bIns="0" anchor="t">
            <a:spAutoFit/>
          </a:bodyPr>
          <a:lstStyle/>
          <a:p>
            <a:pPr algn="l">
              <a:lnSpc>
                <a:spcPct val="100000"/>
              </a:lnSpc>
            </a:pPr>
            <a:r>
              <a:rPr sz="1400" b="1" i="0" dirty="0">
                <a:solidFill>
                  <a:srgbClr val="0A2540"/>
                </a:solidFill>
                <a:latin typeface="Calibri"/>
              </a:rPr>
              <a:t>QUY TRÌNH HỖ TRỢ</a:t>
            </a:r>
          </a:p>
        </p:txBody>
      </p:sp>
      <p:sp>
        <p:nvSpPr>
          <p:cNvPr id="18" name="TextBox 17"/>
          <p:cNvSpPr txBox="1"/>
          <p:nvPr/>
        </p:nvSpPr>
        <p:spPr>
          <a:xfrm>
            <a:off x="932688" y="4723364"/>
            <a:ext cx="4892040" cy="219456"/>
          </a:xfrm>
          <a:prstGeom prst="rect">
            <a:avLst/>
          </a:prstGeom>
          <a:noFill/>
        </p:spPr>
        <p:txBody>
          <a:bodyPr wrap="square" lIns="0" tIns="0" rIns="0" bIns="0" anchor="t">
            <a:spAutoFit/>
          </a:bodyPr>
          <a:lstStyle/>
          <a:p>
            <a:pPr algn="l">
              <a:lnSpc>
                <a:spcPct val="100000"/>
              </a:lnSpc>
            </a:pPr>
            <a:r>
              <a:rPr sz="1400" b="0" i="1" dirty="0">
                <a:solidFill>
                  <a:srgbClr val="0A2540"/>
                </a:solidFill>
                <a:latin typeface="Calibri"/>
              </a:rPr>
              <a:t>Supporting Processes</a:t>
            </a:r>
          </a:p>
        </p:txBody>
      </p:sp>
      <p:sp>
        <p:nvSpPr>
          <p:cNvPr id="19" name="TextBox 18"/>
          <p:cNvSpPr txBox="1"/>
          <p:nvPr/>
        </p:nvSpPr>
        <p:spPr>
          <a:xfrm>
            <a:off x="932688" y="4937760"/>
            <a:ext cx="5041984" cy="775597"/>
          </a:xfrm>
          <a:prstGeom prst="rect">
            <a:avLst/>
          </a:prstGeom>
          <a:noFill/>
        </p:spPr>
        <p:txBody>
          <a:bodyPr wrap="square" lIns="0" tIns="0" rIns="0" bIns="0" anchor="t">
            <a:spAutoFit/>
          </a:bodyPr>
          <a:lstStyle/>
          <a:p>
            <a:pPr algn="l">
              <a:lnSpc>
                <a:spcPct val="120000"/>
              </a:lnSpc>
            </a:pPr>
            <a:r>
              <a:rPr sz="1400" b="0" i="0" dirty="0" err="1">
                <a:solidFill>
                  <a:srgbClr val="0A2540"/>
                </a:solidFill>
                <a:latin typeface="Calibri"/>
              </a:rPr>
              <a:t>Cung</a:t>
            </a:r>
            <a:r>
              <a:rPr sz="1400" b="0" i="0" dirty="0">
                <a:solidFill>
                  <a:srgbClr val="0A2540"/>
                </a:solidFill>
                <a:latin typeface="Calibri"/>
              </a:rPr>
              <a:t> </a:t>
            </a:r>
            <a:r>
              <a:rPr sz="1400" b="0" i="0" dirty="0" err="1">
                <a:solidFill>
                  <a:srgbClr val="0A2540"/>
                </a:solidFill>
                <a:latin typeface="Calibri"/>
              </a:rPr>
              <a:t>cấp</a:t>
            </a:r>
            <a:r>
              <a:rPr sz="1400" b="0" i="0" dirty="0">
                <a:solidFill>
                  <a:srgbClr val="0A2540"/>
                </a:solidFill>
                <a:latin typeface="Calibri"/>
              </a:rPr>
              <a:t> </a:t>
            </a:r>
            <a:r>
              <a:rPr sz="1400" b="0" i="0" dirty="0" err="1">
                <a:solidFill>
                  <a:srgbClr val="0A2540"/>
                </a:solidFill>
                <a:latin typeface="Calibri"/>
              </a:rPr>
              <a:t>nguồn</a:t>
            </a:r>
            <a:r>
              <a:rPr sz="1400" b="0" i="0" dirty="0">
                <a:solidFill>
                  <a:srgbClr val="0A2540"/>
                </a:solidFill>
                <a:latin typeface="Calibri"/>
              </a:rPr>
              <a:t> </a:t>
            </a:r>
            <a:r>
              <a:rPr sz="1400" b="0" i="0" dirty="0" err="1">
                <a:solidFill>
                  <a:srgbClr val="0A2540"/>
                </a:solidFill>
                <a:latin typeface="Calibri"/>
              </a:rPr>
              <a:t>lực</a:t>
            </a:r>
            <a:r>
              <a:rPr sz="1400" b="0" i="0" dirty="0">
                <a:solidFill>
                  <a:srgbClr val="0A2540"/>
                </a:solidFill>
                <a:latin typeface="Calibri"/>
              </a:rPr>
              <a:t> </a:t>
            </a:r>
            <a:r>
              <a:rPr sz="1400" b="0" i="0" dirty="0" err="1">
                <a:solidFill>
                  <a:srgbClr val="0A2540"/>
                </a:solidFill>
                <a:latin typeface="Calibri"/>
              </a:rPr>
              <a:t>để</a:t>
            </a:r>
            <a:r>
              <a:rPr sz="1400" b="0" i="0" dirty="0">
                <a:solidFill>
                  <a:srgbClr val="0A2540"/>
                </a:solidFill>
                <a:latin typeface="Calibri"/>
              </a:rPr>
              <a:t> </a:t>
            </a:r>
            <a:r>
              <a:rPr sz="1400" b="0" i="0" dirty="0" err="1">
                <a:solidFill>
                  <a:srgbClr val="0A2540"/>
                </a:solidFill>
                <a:latin typeface="Calibri"/>
              </a:rPr>
              <a:t>hai</a:t>
            </a:r>
            <a:r>
              <a:rPr sz="1400" b="0" i="0" dirty="0">
                <a:solidFill>
                  <a:srgbClr val="0A2540"/>
                </a:solidFill>
                <a:latin typeface="Calibri"/>
              </a:rPr>
              <a:t> </a:t>
            </a:r>
            <a:r>
              <a:rPr sz="1400" b="0" i="0" dirty="0" err="1">
                <a:solidFill>
                  <a:srgbClr val="0A2540"/>
                </a:solidFill>
                <a:latin typeface="Calibri"/>
              </a:rPr>
              <a:t>nhóm</a:t>
            </a:r>
            <a:r>
              <a:rPr sz="1400" b="0" i="0" dirty="0">
                <a:solidFill>
                  <a:srgbClr val="0A2540"/>
                </a:solidFill>
                <a:latin typeface="Calibri"/>
              </a:rPr>
              <a:t> </a:t>
            </a:r>
            <a:r>
              <a:rPr sz="1400" b="0" i="0" dirty="0" err="1">
                <a:solidFill>
                  <a:srgbClr val="0A2540"/>
                </a:solidFill>
                <a:latin typeface="Calibri"/>
              </a:rPr>
              <a:t>trên</a:t>
            </a:r>
            <a:r>
              <a:rPr sz="1400" b="0" i="0" dirty="0">
                <a:solidFill>
                  <a:srgbClr val="0A2540"/>
                </a:solidFill>
                <a:latin typeface="Calibri"/>
              </a:rPr>
              <a:t> </a:t>
            </a:r>
            <a:r>
              <a:rPr sz="1400" b="0" i="0" dirty="0" err="1">
                <a:solidFill>
                  <a:srgbClr val="0A2540"/>
                </a:solidFill>
                <a:latin typeface="Calibri"/>
              </a:rPr>
              <a:t>vận</a:t>
            </a:r>
            <a:r>
              <a:rPr sz="1400" b="0" i="0" dirty="0">
                <a:solidFill>
                  <a:srgbClr val="0A2540"/>
                </a:solidFill>
                <a:latin typeface="Calibri"/>
              </a:rPr>
              <a:t> </a:t>
            </a:r>
            <a:r>
              <a:rPr sz="1400" b="0" i="0" dirty="0" err="1">
                <a:solidFill>
                  <a:srgbClr val="0A2540"/>
                </a:solidFill>
                <a:latin typeface="Calibri"/>
              </a:rPr>
              <a:t>hành</a:t>
            </a:r>
            <a:r>
              <a:rPr sz="1400" b="0" i="0" dirty="0">
                <a:solidFill>
                  <a:srgbClr val="0A2540"/>
                </a:solidFill>
                <a:latin typeface="Calibri"/>
              </a:rPr>
              <a:t>: </a:t>
            </a:r>
            <a:r>
              <a:rPr sz="1400" b="0" i="0" dirty="0" err="1">
                <a:solidFill>
                  <a:srgbClr val="0A2540"/>
                </a:solidFill>
                <a:latin typeface="Calibri"/>
              </a:rPr>
              <a:t>mua</a:t>
            </a:r>
            <a:r>
              <a:rPr sz="1400" b="0" i="0" dirty="0">
                <a:solidFill>
                  <a:srgbClr val="0A2540"/>
                </a:solidFill>
                <a:latin typeface="Calibri"/>
              </a:rPr>
              <a:t> </a:t>
            </a:r>
            <a:r>
              <a:rPr sz="1400" b="0" i="0" dirty="0" err="1">
                <a:solidFill>
                  <a:srgbClr val="0A2540"/>
                </a:solidFill>
                <a:latin typeface="Calibri"/>
              </a:rPr>
              <a:t>sắm</a:t>
            </a:r>
            <a:r>
              <a:rPr sz="1400" b="0" i="0" dirty="0">
                <a:solidFill>
                  <a:srgbClr val="0A2540"/>
                </a:solidFill>
                <a:latin typeface="Calibri"/>
              </a:rPr>
              <a:t>, </a:t>
            </a:r>
            <a:r>
              <a:rPr sz="1400" b="0" i="0" dirty="0" err="1">
                <a:solidFill>
                  <a:srgbClr val="0A2540"/>
                </a:solidFill>
                <a:latin typeface="Calibri"/>
              </a:rPr>
              <a:t>quản</a:t>
            </a:r>
            <a:r>
              <a:rPr sz="1400" b="0" i="0" dirty="0">
                <a:solidFill>
                  <a:srgbClr val="0A2540"/>
                </a:solidFill>
                <a:latin typeface="Calibri"/>
              </a:rPr>
              <a:t> </a:t>
            </a:r>
            <a:r>
              <a:rPr sz="1400" b="0" i="0" dirty="0" err="1">
                <a:solidFill>
                  <a:srgbClr val="0A2540"/>
                </a:solidFill>
                <a:latin typeface="Calibri"/>
              </a:rPr>
              <a:t>lý</a:t>
            </a:r>
            <a:r>
              <a:rPr sz="1400" b="0" i="0" dirty="0">
                <a:solidFill>
                  <a:srgbClr val="0A2540"/>
                </a:solidFill>
                <a:latin typeface="Calibri"/>
              </a:rPr>
              <a:t> </a:t>
            </a:r>
            <a:r>
              <a:rPr sz="1400" b="0" i="0" dirty="0" err="1">
                <a:solidFill>
                  <a:srgbClr val="0A2540"/>
                </a:solidFill>
                <a:latin typeface="Calibri"/>
              </a:rPr>
              <a:t>kho</a:t>
            </a:r>
            <a:r>
              <a:rPr sz="1400" b="0" i="0" dirty="0">
                <a:solidFill>
                  <a:srgbClr val="0A2540"/>
                </a:solidFill>
                <a:latin typeface="Calibri"/>
              </a:rPr>
              <a:t>, </a:t>
            </a:r>
            <a:r>
              <a:rPr sz="1400" b="0" i="0" dirty="0" err="1">
                <a:solidFill>
                  <a:srgbClr val="0A2540"/>
                </a:solidFill>
                <a:latin typeface="Calibri"/>
              </a:rPr>
              <a:t>tài</a:t>
            </a:r>
            <a:r>
              <a:rPr sz="1400" b="0" i="0" dirty="0">
                <a:solidFill>
                  <a:srgbClr val="0A2540"/>
                </a:solidFill>
                <a:latin typeface="Calibri"/>
              </a:rPr>
              <a:t> </a:t>
            </a:r>
            <a:r>
              <a:rPr sz="1400" b="0" i="0" dirty="0" err="1">
                <a:solidFill>
                  <a:srgbClr val="0A2540"/>
                </a:solidFill>
                <a:latin typeface="Calibri"/>
              </a:rPr>
              <a:t>chính</a:t>
            </a:r>
            <a:r>
              <a:rPr sz="1400" b="0" i="0" dirty="0">
                <a:solidFill>
                  <a:srgbClr val="0A2540"/>
                </a:solidFill>
                <a:latin typeface="Calibri"/>
              </a:rPr>
              <a:t> – </a:t>
            </a:r>
            <a:r>
              <a:rPr sz="1400" b="0" i="0" dirty="0" err="1">
                <a:solidFill>
                  <a:srgbClr val="0A2540"/>
                </a:solidFill>
                <a:latin typeface="Calibri"/>
              </a:rPr>
              <a:t>kế</a:t>
            </a:r>
            <a:r>
              <a:rPr sz="1400" b="0" i="0" dirty="0">
                <a:solidFill>
                  <a:srgbClr val="0A2540"/>
                </a:solidFill>
                <a:latin typeface="Calibri"/>
              </a:rPr>
              <a:t> </a:t>
            </a:r>
            <a:r>
              <a:rPr sz="1400" b="0" i="0" dirty="0" err="1">
                <a:solidFill>
                  <a:srgbClr val="0A2540"/>
                </a:solidFill>
                <a:latin typeface="Calibri"/>
              </a:rPr>
              <a:t>toán</a:t>
            </a:r>
            <a:r>
              <a:rPr sz="1400" b="0" i="0" dirty="0">
                <a:solidFill>
                  <a:srgbClr val="0A2540"/>
                </a:solidFill>
                <a:latin typeface="Calibri"/>
              </a:rPr>
              <a:t>, </a:t>
            </a:r>
            <a:r>
              <a:rPr sz="1400" b="0" i="0" dirty="0" err="1">
                <a:solidFill>
                  <a:srgbClr val="0A2540"/>
                </a:solidFill>
                <a:latin typeface="Calibri"/>
              </a:rPr>
              <a:t>nhân</a:t>
            </a:r>
            <a:r>
              <a:rPr sz="1400" b="0" i="0" dirty="0">
                <a:solidFill>
                  <a:srgbClr val="0A2540"/>
                </a:solidFill>
                <a:latin typeface="Calibri"/>
              </a:rPr>
              <a:t> </a:t>
            </a:r>
            <a:r>
              <a:rPr sz="1400" b="0" i="0" dirty="0" err="1">
                <a:solidFill>
                  <a:srgbClr val="0A2540"/>
                </a:solidFill>
                <a:latin typeface="Calibri"/>
              </a:rPr>
              <a:t>sự</a:t>
            </a:r>
            <a:r>
              <a:rPr sz="1400" b="0" i="0" dirty="0">
                <a:solidFill>
                  <a:srgbClr val="0A2540"/>
                </a:solidFill>
                <a:latin typeface="Calibri"/>
              </a:rPr>
              <a:t>, </a:t>
            </a:r>
            <a:r>
              <a:rPr sz="1400" b="0" i="0" dirty="0" err="1">
                <a:solidFill>
                  <a:srgbClr val="0A2540"/>
                </a:solidFill>
                <a:latin typeface="Calibri"/>
              </a:rPr>
              <a:t>công</a:t>
            </a:r>
            <a:r>
              <a:rPr sz="1400" b="0" i="0" dirty="0">
                <a:solidFill>
                  <a:srgbClr val="0A2540"/>
                </a:solidFill>
                <a:latin typeface="Calibri"/>
              </a:rPr>
              <a:t> </a:t>
            </a:r>
            <a:r>
              <a:rPr sz="1400" b="0" i="0" dirty="0" err="1">
                <a:solidFill>
                  <a:srgbClr val="0A2540"/>
                </a:solidFill>
                <a:latin typeface="Calibri"/>
              </a:rPr>
              <a:t>nghệ</a:t>
            </a:r>
            <a:r>
              <a:rPr sz="1400" b="0" i="0" dirty="0">
                <a:solidFill>
                  <a:srgbClr val="0A2540"/>
                </a:solidFill>
                <a:latin typeface="Calibri"/>
              </a:rPr>
              <a:t> </a:t>
            </a:r>
            <a:r>
              <a:rPr sz="1400" b="0" i="0" dirty="0" err="1">
                <a:solidFill>
                  <a:srgbClr val="0A2540"/>
                </a:solidFill>
                <a:latin typeface="Calibri"/>
              </a:rPr>
              <a:t>thông</a:t>
            </a:r>
            <a:r>
              <a:rPr sz="1400" b="0" i="0" dirty="0">
                <a:solidFill>
                  <a:srgbClr val="0A2540"/>
                </a:solidFill>
                <a:latin typeface="Calibri"/>
              </a:rPr>
              <a:t> tin </a:t>
            </a:r>
            <a:r>
              <a:rPr sz="1400" b="0" i="0" dirty="0" err="1">
                <a:solidFill>
                  <a:srgbClr val="0A2540"/>
                </a:solidFill>
                <a:latin typeface="Calibri"/>
              </a:rPr>
              <a:t>và</a:t>
            </a:r>
            <a:r>
              <a:rPr sz="1400" b="0" i="0" dirty="0">
                <a:solidFill>
                  <a:srgbClr val="0A2540"/>
                </a:solidFill>
                <a:latin typeface="Calibri"/>
              </a:rPr>
              <a:t> </a:t>
            </a:r>
            <a:r>
              <a:rPr sz="1400" b="0" i="0" dirty="0" err="1">
                <a:solidFill>
                  <a:srgbClr val="0A2540"/>
                </a:solidFill>
                <a:latin typeface="Calibri"/>
              </a:rPr>
              <a:t>quản</a:t>
            </a:r>
            <a:r>
              <a:rPr sz="1400" b="0" i="0" dirty="0">
                <a:solidFill>
                  <a:srgbClr val="0A2540"/>
                </a:solidFill>
                <a:latin typeface="Calibri"/>
              </a:rPr>
              <a:t> </a:t>
            </a:r>
            <a:r>
              <a:rPr sz="1400" b="0" i="0" dirty="0" err="1">
                <a:solidFill>
                  <a:srgbClr val="0A2540"/>
                </a:solidFill>
                <a:latin typeface="Calibri"/>
              </a:rPr>
              <a:t>lý</a:t>
            </a:r>
            <a:r>
              <a:rPr sz="1400" b="0" i="0" dirty="0">
                <a:solidFill>
                  <a:srgbClr val="0A2540"/>
                </a:solidFill>
                <a:latin typeface="Calibri"/>
              </a:rPr>
              <a:t> </a:t>
            </a:r>
            <a:r>
              <a:rPr sz="1400" b="0" i="0" dirty="0" err="1">
                <a:solidFill>
                  <a:srgbClr val="0A2540"/>
                </a:solidFill>
                <a:latin typeface="Calibri"/>
              </a:rPr>
              <a:t>dữ</a:t>
            </a:r>
            <a:r>
              <a:rPr sz="1400" b="0" i="0" dirty="0">
                <a:solidFill>
                  <a:srgbClr val="0A2540"/>
                </a:solidFill>
                <a:latin typeface="Calibri"/>
              </a:rPr>
              <a:t> </a:t>
            </a:r>
            <a:r>
              <a:rPr sz="1400" b="0" i="0" dirty="0" err="1">
                <a:solidFill>
                  <a:srgbClr val="0A2540"/>
                </a:solidFill>
                <a:latin typeface="Calibri"/>
              </a:rPr>
              <a:t>liệu</a:t>
            </a:r>
            <a:r>
              <a:rPr sz="1400" b="0" i="0" dirty="0">
                <a:solidFill>
                  <a:srgbClr val="0A2540"/>
                </a:solidFill>
                <a:latin typeface="Calibri"/>
              </a:rPr>
              <a:t>.</a:t>
            </a:r>
          </a:p>
        </p:txBody>
      </p:sp>
      <p:sp>
        <p:nvSpPr>
          <p:cNvPr id="20" name="TextBox 19"/>
          <p:cNvSpPr txBox="1"/>
          <p:nvPr/>
        </p:nvSpPr>
        <p:spPr>
          <a:xfrm>
            <a:off x="658367" y="5907024"/>
            <a:ext cx="5706921" cy="258532"/>
          </a:xfrm>
          <a:prstGeom prst="rect">
            <a:avLst/>
          </a:prstGeom>
          <a:noFill/>
        </p:spPr>
        <p:txBody>
          <a:bodyPr wrap="square" lIns="0" tIns="0" rIns="0" bIns="0" anchor="t">
            <a:spAutoFit/>
          </a:bodyPr>
          <a:lstStyle/>
          <a:p>
            <a:pPr algn="l">
              <a:lnSpc>
                <a:spcPct val="120000"/>
              </a:lnSpc>
            </a:pPr>
            <a:r>
              <a:rPr sz="1400" b="1" i="0" dirty="0">
                <a:solidFill>
                  <a:srgbClr val="0A2540"/>
                </a:solidFill>
                <a:latin typeface="Calibri"/>
              </a:rPr>
              <a:t>Ba </a:t>
            </a:r>
            <a:r>
              <a:rPr sz="1400" b="1" i="0" dirty="0" err="1">
                <a:solidFill>
                  <a:srgbClr val="0A2540"/>
                </a:solidFill>
                <a:latin typeface="Calibri"/>
              </a:rPr>
              <a:t>nhóm</a:t>
            </a:r>
            <a:r>
              <a:rPr sz="1400" b="1" i="0" dirty="0">
                <a:solidFill>
                  <a:srgbClr val="0A2540"/>
                </a:solidFill>
                <a:latin typeface="Calibri"/>
              </a:rPr>
              <a:t> </a:t>
            </a:r>
            <a:r>
              <a:rPr sz="1400" b="1" i="0" dirty="0" err="1">
                <a:solidFill>
                  <a:srgbClr val="0A2540"/>
                </a:solidFill>
                <a:latin typeface="Calibri"/>
              </a:rPr>
              <a:t>hỗ</a:t>
            </a:r>
            <a:r>
              <a:rPr sz="1400" b="1" i="0" dirty="0">
                <a:solidFill>
                  <a:srgbClr val="0A2540"/>
                </a:solidFill>
                <a:latin typeface="Calibri"/>
              </a:rPr>
              <a:t> </a:t>
            </a:r>
            <a:r>
              <a:rPr sz="1400" b="1" i="0" dirty="0" err="1">
                <a:solidFill>
                  <a:srgbClr val="0A2540"/>
                </a:solidFill>
                <a:latin typeface="Calibri"/>
              </a:rPr>
              <a:t>trợ</a:t>
            </a:r>
            <a:r>
              <a:rPr sz="1400" b="1" i="0" dirty="0">
                <a:solidFill>
                  <a:srgbClr val="0A2540"/>
                </a:solidFill>
                <a:latin typeface="Calibri"/>
              </a:rPr>
              <a:t> </a:t>
            </a:r>
            <a:r>
              <a:rPr sz="1400" b="1" i="0" dirty="0" err="1">
                <a:solidFill>
                  <a:srgbClr val="0A2540"/>
                </a:solidFill>
                <a:latin typeface="Calibri"/>
              </a:rPr>
              <a:t>và</a:t>
            </a:r>
            <a:r>
              <a:rPr sz="1400" b="1" i="0" dirty="0">
                <a:solidFill>
                  <a:srgbClr val="0A2540"/>
                </a:solidFill>
                <a:latin typeface="Calibri"/>
              </a:rPr>
              <a:t> </a:t>
            </a:r>
            <a:r>
              <a:rPr sz="1400" b="1" i="0" dirty="0" err="1">
                <a:solidFill>
                  <a:srgbClr val="0A2540"/>
                </a:solidFill>
                <a:latin typeface="Calibri"/>
              </a:rPr>
              <a:t>bổ</a:t>
            </a:r>
            <a:r>
              <a:rPr sz="1400" b="1" i="0" dirty="0">
                <a:solidFill>
                  <a:srgbClr val="0A2540"/>
                </a:solidFill>
                <a:latin typeface="Calibri"/>
              </a:rPr>
              <a:t> </a:t>
            </a:r>
            <a:r>
              <a:rPr sz="1400" b="1" i="0" dirty="0" err="1">
                <a:solidFill>
                  <a:srgbClr val="0A2540"/>
                </a:solidFill>
                <a:latin typeface="Calibri"/>
              </a:rPr>
              <a:t>trợ</a:t>
            </a:r>
            <a:r>
              <a:rPr sz="1400" b="1" i="0" dirty="0">
                <a:solidFill>
                  <a:srgbClr val="0A2540"/>
                </a:solidFill>
                <a:latin typeface="Calibri"/>
              </a:rPr>
              <a:t> </a:t>
            </a:r>
            <a:r>
              <a:rPr sz="1400" b="1" i="0" dirty="0" err="1">
                <a:solidFill>
                  <a:srgbClr val="0A2540"/>
                </a:solidFill>
                <a:latin typeface="Calibri"/>
              </a:rPr>
              <a:t>lẫn</a:t>
            </a:r>
            <a:r>
              <a:rPr sz="1400" b="1" i="0" dirty="0">
                <a:solidFill>
                  <a:srgbClr val="0A2540"/>
                </a:solidFill>
                <a:latin typeface="Calibri"/>
              </a:rPr>
              <a:t> </a:t>
            </a:r>
            <a:r>
              <a:rPr sz="1400" b="1" i="0" dirty="0" err="1">
                <a:solidFill>
                  <a:srgbClr val="0A2540"/>
                </a:solidFill>
                <a:latin typeface="Calibri"/>
              </a:rPr>
              <a:t>nhau</a:t>
            </a:r>
            <a:r>
              <a:rPr sz="1400" b="1" i="0" dirty="0">
                <a:solidFill>
                  <a:srgbClr val="0A2540"/>
                </a:solidFill>
                <a:latin typeface="Calibri"/>
              </a:rPr>
              <a:t> </a:t>
            </a:r>
            <a:r>
              <a:rPr sz="1400" b="1" i="0" dirty="0" err="1">
                <a:solidFill>
                  <a:srgbClr val="0A2540"/>
                </a:solidFill>
                <a:latin typeface="Calibri"/>
              </a:rPr>
              <a:t>trong</a:t>
            </a:r>
            <a:r>
              <a:rPr sz="1400" b="1" i="0" dirty="0">
                <a:solidFill>
                  <a:srgbClr val="0A2540"/>
                </a:solidFill>
                <a:latin typeface="Calibri"/>
              </a:rPr>
              <a:t> </a:t>
            </a:r>
            <a:r>
              <a:rPr sz="1400" b="1" i="0" dirty="0" err="1">
                <a:solidFill>
                  <a:srgbClr val="0A2540"/>
                </a:solidFill>
                <a:latin typeface="Calibri"/>
              </a:rPr>
              <a:t>một</a:t>
            </a:r>
            <a:r>
              <a:rPr sz="1400" b="1" i="0" dirty="0">
                <a:solidFill>
                  <a:srgbClr val="0A2540"/>
                </a:solidFill>
                <a:latin typeface="Calibri"/>
              </a:rPr>
              <a:t> </a:t>
            </a:r>
            <a:r>
              <a:rPr sz="1400" b="1" i="0" dirty="0" err="1">
                <a:solidFill>
                  <a:srgbClr val="0A2540"/>
                </a:solidFill>
                <a:latin typeface="Calibri"/>
              </a:rPr>
              <a:t>dòng</a:t>
            </a:r>
            <a:r>
              <a:rPr sz="1400" b="1" i="0" dirty="0">
                <a:solidFill>
                  <a:srgbClr val="0A2540"/>
                </a:solidFill>
                <a:latin typeface="Calibri"/>
              </a:rPr>
              <a:t> </a:t>
            </a:r>
            <a:r>
              <a:rPr sz="1400" b="1" i="0" dirty="0" err="1">
                <a:solidFill>
                  <a:srgbClr val="0A2540"/>
                </a:solidFill>
                <a:latin typeface="Calibri"/>
              </a:rPr>
              <a:t>chảy</a:t>
            </a:r>
            <a:r>
              <a:rPr sz="1400" b="1" i="0" dirty="0">
                <a:solidFill>
                  <a:srgbClr val="0A2540"/>
                </a:solidFill>
                <a:latin typeface="Calibri"/>
              </a:rPr>
              <a:t> </a:t>
            </a:r>
            <a:r>
              <a:rPr sz="1400" b="1" i="0" dirty="0" err="1">
                <a:solidFill>
                  <a:srgbClr val="0A2540"/>
                </a:solidFill>
                <a:latin typeface="Calibri"/>
              </a:rPr>
              <a:t>giá</a:t>
            </a:r>
            <a:r>
              <a:rPr sz="1400" b="1" i="0" dirty="0">
                <a:solidFill>
                  <a:srgbClr val="0A2540"/>
                </a:solidFill>
                <a:latin typeface="Calibri"/>
              </a:rPr>
              <a:t> </a:t>
            </a:r>
            <a:r>
              <a:rPr sz="1400" b="1" i="0" dirty="0" err="1">
                <a:solidFill>
                  <a:srgbClr val="0A2540"/>
                </a:solidFill>
                <a:latin typeface="Calibri"/>
              </a:rPr>
              <a:t>trị</a:t>
            </a:r>
            <a:r>
              <a:rPr sz="1400" b="1" i="0" dirty="0">
                <a:solidFill>
                  <a:srgbClr val="0A2540"/>
                </a:solidFill>
                <a:latin typeface="Calibri"/>
              </a:rPr>
              <a:t> </a:t>
            </a:r>
            <a:r>
              <a:rPr sz="1400" b="1" i="0" dirty="0" err="1">
                <a:solidFill>
                  <a:srgbClr val="0A2540"/>
                </a:solidFill>
                <a:latin typeface="Calibri"/>
              </a:rPr>
              <a:t>thống</a:t>
            </a:r>
            <a:r>
              <a:rPr sz="1400" b="1" i="0" dirty="0">
                <a:solidFill>
                  <a:srgbClr val="0A2540"/>
                </a:solidFill>
                <a:latin typeface="Calibri"/>
              </a:rPr>
              <a:t> </a:t>
            </a:r>
            <a:r>
              <a:rPr sz="1400" b="1" i="0" dirty="0" err="1">
                <a:solidFill>
                  <a:srgbClr val="0A2540"/>
                </a:solidFill>
                <a:latin typeface="Calibri"/>
              </a:rPr>
              <a:t>nhất</a:t>
            </a:r>
            <a:r>
              <a:rPr sz="1400" b="1" i="0" dirty="0">
                <a:solidFill>
                  <a:srgbClr val="0A2540"/>
                </a:solidFill>
                <a:latin typeface="Calibri"/>
              </a:rPr>
              <a:t>.</a:t>
            </a:r>
          </a:p>
        </p:txBody>
      </p:sp>
      <p:pic>
        <p:nvPicPr>
          <p:cNvPr id="23" name="Picture 22"/>
          <p:cNvPicPr/>
          <p:nvPr/>
        </p:nvPicPr>
        <p:blipFill>
          <a:blip r:embed="rId2" cstate="print">
            <a:extLst>
              <a:ext uri="{28A0092B-C50C-407E-A947-70E740481C1C}">
                <a14:useLocalDpi xmlns:a14="http://schemas.microsoft.com/office/drawing/2010/main" val="0"/>
              </a:ext>
            </a:extLst>
          </a:blip>
          <a:stretch>
            <a:fillRect/>
          </a:stretch>
        </p:blipFill>
        <p:spPr>
          <a:xfrm>
            <a:off x="6193799" y="1701228"/>
            <a:ext cx="5734685" cy="3825875"/>
          </a:xfrm>
          <a:prstGeom prst="rect">
            <a:avLst/>
          </a:prstGeom>
        </p:spPr>
      </p:pic>
    </p:spTree>
    <p:extLst>
      <p:ext uri="{BB962C8B-B14F-4D97-AF65-F5344CB8AC3E}">
        <p14:creationId xmlns:p14="http://schemas.microsoft.com/office/powerpoint/2010/main" val="18100363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CHƯƠNG 2 · 2.2 KHẢO SÁT QUY TRÌNH</a:t>
            </a:r>
          </a:p>
        </p:txBody>
      </p:sp>
      <p:sp>
        <p:nvSpPr>
          <p:cNvPr id="3" name="TextBox 2"/>
          <p:cNvSpPr txBox="1"/>
          <p:nvPr/>
        </p:nvSpPr>
        <p:spPr>
          <a:xfrm>
            <a:off x="658368" y="640080"/>
            <a:ext cx="10874959" cy="603504"/>
          </a:xfrm>
          <a:prstGeom prst="rect">
            <a:avLst/>
          </a:prstGeom>
          <a:noFill/>
        </p:spPr>
        <p:txBody>
          <a:bodyPr wrap="square" lIns="0" tIns="0" rIns="0" bIns="0" anchor="t">
            <a:spAutoFit/>
          </a:bodyPr>
          <a:lstStyle/>
          <a:p>
            <a:pPr algn="l">
              <a:lnSpc>
                <a:spcPct val="105000"/>
              </a:lnSpc>
            </a:pPr>
            <a:r>
              <a:rPr sz="2500" b="1" i="0">
                <a:solidFill>
                  <a:srgbClr val="0A2540"/>
                </a:solidFill>
                <a:latin typeface="Calibri"/>
              </a:rPr>
              <a:t>DANH MỤC 10 QUY TRÌNH NGHIỆP VỤ TIÊU BIỂU</a:t>
            </a: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371600"/>
            <a:ext cx="10874959" cy="238079"/>
          </a:xfrm>
          <a:prstGeom prst="rect">
            <a:avLst/>
          </a:prstGeom>
          <a:noFill/>
        </p:spPr>
        <p:txBody>
          <a:bodyPr wrap="square" lIns="0" tIns="0" rIns="0" bIns="0" anchor="t">
            <a:spAutoFit/>
          </a:bodyPr>
          <a:lstStyle/>
          <a:p>
            <a:pPr algn="l">
              <a:lnSpc>
                <a:spcPct val="118000"/>
              </a:lnSpc>
            </a:pPr>
            <a:r>
              <a:rPr sz="1400" b="0" i="1" dirty="0" err="1">
                <a:solidFill>
                  <a:srgbClr val="6B7784"/>
                </a:solidFill>
                <a:latin typeface="Calibri"/>
              </a:rPr>
              <a:t>Bảng</a:t>
            </a:r>
            <a:r>
              <a:rPr sz="1400" b="0" i="1" dirty="0">
                <a:solidFill>
                  <a:srgbClr val="6B7784"/>
                </a:solidFill>
                <a:latin typeface="Calibri"/>
              </a:rPr>
              <a:t> 2.1 — </a:t>
            </a:r>
            <a:r>
              <a:rPr sz="1400" b="0" i="1" dirty="0" err="1">
                <a:solidFill>
                  <a:srgbClr val="6B7784"/>
                </a:solidFill>
                <a:latin typeface="Calibri"/>
              </a:rPr>
              <a:t>Danh</a:t>
            </a:r>
            <a:r>
              <a:rPr sz="1400" b="0" i="1" dirty="0">
                <a:solidFill>
                  <a:srgbClr val="6B7784"/>
                </a:solidFill>
                <a:latin typeface="Calibri"/>
              </a:rPr>
              <a:t> </a:t>
            </a:r>
            <a:r>
              <a:rPr sz="1400" b="0" i="1" dirty="0" err="1">
                <a:solidFill>
                  <a:srgbClr val="6B7784"/>
                </a:solidFill>
                <a:latin typeface="Calibri"/>
              </a:rPr>
              <a:t>mục</a:t>
            </a:r>
            <a:r>
              <a:rPr sz="1400" b="0" i="1" dirty="0">
                <a:solidFill>
                  <a:srgbClr val="6B7784"/>
                </a:solidFill>
                <a:latin typeface="Calibri"/>
              </a:rPr>
              <a:t> </a:t>
            </a:r>
            <a:r>
              <a:rPr sz="1400" b="0" i="1" dirty="0" err="1">
                <a:solidFill>
                  <a:srgbClr val="6B7784"/>
                </a:solidFill>
                <a:latin typeface="Calibri"/>
              </a:rPr>
              <a:t>các</a:t>
            </a:r>
            <a:r>
              <a:rPr sz="1400" b="0" i="1" dirty="0">
                <a:solidFill>
                  <a:srgbClr val="6B7784"/>
                </a:solidFill>
                <a:latin typeface="Calibri"/>
              </a:rPr>
              <a:t> </a:t>
            </a:r>
            <a:r>
              <a:rPr sz="1400" b="0" i="1" dirty="0" err="1">
                <a:solidFill>
                  <a:srgbClr val="6B7784"/>
                </a:solidFill>
                <a:latin typeface="Calibri"/>
              </a:rPr>
              <a:t>quy</a:t>
            </a:r>
            <a:r>
              <a:rPr sz="1400" b="0" i="1" dirty="0">
                <a:solidFill>
                  <a:srgbClr val="6B7784"/>
                </a:solidFill>
                <a:latin typeface="Calibri"/>
              </a:rPr>
              <a:t> </a:t>
            </a:r>
            <a:r>
              <a:rPr sz="1400" b="0" i="1" dirty="0" err="1">
                <a:solidFill>
                  <a:srgbClr val="6B7784"/>
                </a:solidFill>
                <a:latin typeface="Calibri"/>
              </a:rPr>
              <a:t>trình</a:t>
            </a:r>
            <a:r>
              <a:rPr sz="1400" b="0" i="1" dirty="0">
                <a:solidFill>
                  <a:srgbClr val="6B7784"/>
                </a:solidFill>
                <a:latin typeface="Calibri"/>
              </a:rPr>
              <a:t> </a:t>
            </a:r>
            <a:r>
              <a:rPr sz="1400" b="0" i="1" dirty="0" err="1">
                <a:solidFill>
                  <a:srgbClr val="6B7784"/>
                </a:solidFill>
                <a:latin typeface="Calibri"/>
              </a:rPr>
              <a:t>nghiệp</a:t>
            </a:r>
            <a:r>
              <a:rPr sz="1400" b="0" i="1" dirty="0">
                <a:solidFill>
                  <a:srgbClr val="6B7784"/>
                </a:solidFill>
                <a:latin typeface="Calibri"/>
              </a:rPr>
              <a:t> </a:t>
            </a:r>
            <a:r>
              <a:rPr sz="1400" b="0" i="1" dirty="0" err="1">
                <a:solidFill>
                  <a:srgbClr val="6B7784"/>
                </a:solidFill>
                <a:latin typeface="Calibri"/>
              </a:rPr>
              <a:t>vụ</a:t>
            </a:r>
            <a:r>
              <a:rPr sz="1400" b="0" i="1" dirty="0">
                <a:solidFill>
                  <a:srgbClr val="6B7784"/>
                </a:solidFill>
                <a:latin typeface="Calibri"/>
              </a:rPr>
              <a:t> </a:t>
            </a:r>
            <a:r>
              <a:rPr sz="1400" b="0" i="1" dirty="0" err="1">
                <a:solidFill>
                  <a:srgbClr val="6B7784"/>
                </a:solidFill>
                <a:latin typeface="Calibri"/>
              </a:rPr>
              <a:t>tại</a:t>
            </a:r>
            <a:r>
              <a:rPr sz="1400" b="0" i="1" dirty="0">
                <a:solidFill>
                  <a:srgbClr val="6B7784"/>
                </a:solidFill>
                <a:latin typeface="Calibri"/>
              </a:rPr>
              <a:t> </a:t>
            </a:r>
            <a:r>
              <a:rPr sz="1400" b="0" i="1" dirty="0" err="1">
                <a:solidFill>
                  <a:srgbClr val="6B7784"/>
                </a:solidFill>
                <a:latin typeface="Calibri"/>
              </a:rPr>
              <a:t>Solventum</a:t>
            </a:r>
            <a:r>
              <a:rPr sz="1400" b="0" i="1" dirty="0">
                <a:solidFill>
                  <a:srgbClr val="6B7784"/>
                </a:solidFill>
                <a:latin typeface="Calibri"/>
              </a:rPr>
              <a:t> </a:t>
            </a:r>
            <a:r>
              <a:rPr sz="1400" b="0" i="1" dirty="0" err="1">
                <a:solidFill>
                  <a:srgbClr val="6B7784"/>
                </a:solidFill>
                <a:latin typeface="Calibri"/>
              </a:rPr>
              <a:t>Việt</a:t>
            </a:r>
            <a:r>
              <a:rPr sz="1400" b="0" i="1" dirty="0">
                <a:solidFill>
                  <a:srgbClr val="6B7784"/>
                </a:solidFill>
                <a:latin typeface="Calibri"/>
              </a:rPr>
              <a:t> Nam  ·  </a:t>
            </a:r>
            <a:r>
              <a:rPr sz="1400" b="0" i="1" dirty="0" err="1">
                <a:solidFill>
                  <a:srgbClr val="6B7784"/>
                </a:solidFill>
                <a:latin typeface="Calibri"/>
              </a:rPr>
              <a:t>Mã</a:t>
            </a:r>
            <a:r>
              <a:rPr sz="1400" b="0" i="1" dirty="0">
                <a:solidFill>
                  <a:srgbClr val="6B7784"/>
                </a:solidFill>
                <a:latin typeface="Calibri"/>
              </a:rPr>
              <a:t> </a:t>
            </a:r>
            <a:r>
              <a:rPr sz="1400" b="0" i="1" dirty="0" err="1">
                <a:solidFill>
                  <a:srgbClr val="6B7784"/>
                </a:solidFill>
                <a:latin typeface="Calibri"/>
              </a:rPr>
              <a:t>quy</a:t>
            </a:r>
            <a:r>
              <a:rPr sz="1400" b="0" i="1" dirty="0">
                <a:solidFill>
                  <a:srgbClr val="6B7784"/>
                </a:solidFill>
                <a:latin typeface="Calibri"/>
              </a:rPr>
              <a:t> </a:t>
            </a:r>
            <a:r>
              <a:rPr sz="1400" b="0" i="1" dirty="0" err="1">
                <a:solidFill>
                  <a:srgbClr val="6B7784"/>
                </a:solidFill>
                <a:latin typeface="Calibri"/>
              </a:rPr>
              <a:t>trình</a:t>
            </a:r>
            <a:r>
              <a:rPr sz="1400" b="0" i="1" dirty="0">
                <a:solidFill>
                  <a:srgbClr val="6B7784"/>
                </a:solidFill>
                <a:latin typeface="Calibri"/>
              </a:rPr>
              <a:t> do </a:t>
            </a:r>
            <a:r>
              <a:rPr sz="1400" b="0" i="1" dirty="0" err="1">
                <a:solidFill>
                  <a:srgbClr val="6B7784"/>
                </a:solidFill>
                <a:latin typeface="Calibri"/>
              </a:rPr>
              <a:t>nhóm</a:t>
            </a:r>
            <a:r>
              <a:rPr sz="1400" b="0" i="1" dirty="0">
                <a:solidFill>
                  <a:srgbClr val="6B7784"/>
                </a:solidFill>
                <a:latin typeface="Calibri"/>
              </a:rPr>
              <a:t> </a:t>
            </a:r>
            <a:r>
              <a:rPr sz="1400" b="0" i="1" dirty="0" err="1">
                <a:solidFill>
                  <a:srgbClr val="6B7784"/>
                </a:solidFill>
                <a:latin typeface="Calibri"/>
              </a:rPr>
              <a:t>đặt</a:t>
            </a:r>
            <a:r>
              <a:rPr sz="1400" b="0" i="1" dirty="0">
                <a:solidFill>
                  <a:srgbClr val="6B7784"/>
                </a:solidFill>
                <a:latin typeface="Calibri"/>
              </a:rPr>
              <a:t> </a:t>
            </a:r>
            <a:r>
              <a:rPr sz="1400" b="0" i="1" dirty="0" err="1">
                <a:solidFill>
                  <a:srgbClr val="6B7784"/>
                </a:solidFill>
                <a:latin typeface="Calibri"/>
              </a:rPr>
              <a:t>để</a:t>
            </a:r>
            <a:r>
              <a:rPr sz="1400" b="0" i="1" dirty="0">
                <a:solidFill>
                  <a:srgbClr val="6B7784"/>
                </a:solidFill>
                <a:latin typeface="Calibri"/>
              </a:rPr>
              <a:t> </a:t>
            </a:r>
            <a:r>
              <a:rPr sz="1400" b="0" i="1" dirty="0" err="1">
                <a:solidFill>
                  <a:srgbClr val="6B7784"/>
                </a:solidFill>
                <a:latin typeface="Calibri"/>
              </a:rPr>
              <a:t>tiện</a:t>
            </a:r>
            <a:r>
              <a:rPr sz="1400" b="0" i="1" dirty="0">
                <a:solidFill>
                  <a:srgbClr val="6B7784"/>
                </a:solidFill>
                <a:latin typeface="Calibri"/>
              </a:rPr>
              <a:t> </a:t>
            </a:r>
            <a:r>
              <a:rPr sz="1400" b="0" i="1" dirty="0" err="1">
                <a:solidFill>
                  <a:srgbClr val="6B7784"/>
                </a:solidFill>
                <a:latin typeface="Calibri"/>
              </a:rPr>
              <a:t>tham</a:t>
            </a:r>
            <a:r>
              <a:rPr sz="1400" b="0" i="1" dirty="0">
                <a:solidFill>
                  <a:srgbClr val="6B7784"/>
                </a:solidFill>
                <a:latin typeface="Calibri"/>
              </a:rPr>
              <a:t> </a:t>
            </a:r>
            <a:r>
              <a:rPr sz="1400" b="0" i="1" dirty="0" err="1">
                <a:solidFill>
                  <a:srgbClr val="6B7784"/>
                </a:solidFill>
                <a:latin typeface="Calibri"/>
              </a:rPr>
              <a:t>chiếu</a:t>
            </a:r>
            <a:endParaRPr sz="1400" b="0" i="1" dirty="0">
              <a:solidFill>
                <a:srgbClr val="6B7784"/>
              </a:solidFill>
              <a:latin typeface="Calibri"/>
            </a:endParaRPr>
          </a:p>
        </p:txBody>
      </p:sp>
      <p:sp>
        <p:nvSpPr>
          <p:cNvPr id="7" name="TextBox 6"/>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8" name="TextBox 7"/>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11</a:t>
            </a:r>
          </a:p>
        </p:txBody>
      </p:sp>
      <p:graphicFrame>
        <p:nvGraphicFramePr>
          <p:cNvPr id="9" name="Table 8"/>
          <p:cNvGraphicFramePr>
            <a:graphicFrameLocks noGrp="1"/>
          </p:cNvGraphicFramePr>
          <p:nvPr>
            <p:extLst/>
          </p:nvPr>
        </p:nvGraphicFramePr>
        <p:xfrm>
          <a:off x="658368" y="1792224"/>
          <a:ext cx="10840212" cy="3877056"/>
        </p:xfrm>
        <a:graphic>
          <a:graphicData uri="http://schemas.openxmlformats.org/drawingml/2006/table">
            <a:tbl>
              <a:tblPr firstRow="1">
                <a:tableStyleId>{5C22544A-7EE6-4342-B048-85BDC9FD1C3A}</a:tableStyleId>
              </a:tblPr>
              <a:tblGrid>
                <a:gridCol w="749808">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370332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gridCol w="2043684">
                  <a:extLst>
                    <a:ext uri="{9D8B030D-6E8A-4147-A177-3AD203B41FA5}">
                      <a16:colId xmlns:a16="http://schemas.microsoft.com/office/drawing/2014/main" val="20004"/>
                    </a:ext>
                  </a:extLst>
                </a:gridCol>
              </a:tblGrid>
              <a:tr h="384048">
                <a:tc>
                  <a:txBody>
                    <a:bodyPr/>
                    <a:lstStyle/>
                    <a:p>
                      <a:pPr algn="ctr">
                        <a:lnSpc>
                          <a:spcPct val="105000"/>
                        </a:lnSpc>
                      </a:pPr>
                      <a:r>
                        <a:rPr sz="1400" b="1">
                          <a:solidFill>
                            <a:srgbClr val="FFFFFF"/>
                          </a:solidFill>
                          <a:latin typeface="Calibri"/>
                        </a:rPr>
                        <a:t>MÃ</a:t>
                      </a:r>
                    </a:p>
                  </a:txBody>
                  <a:tcPr marL="100584" marR="73152" marT="41148" marB="41148" anchor="ctr">
                    <a:solidFill>
                      <a:srgbClr val="0A2540"/>
                    </a:solidFill>
                  </a:tcPr>
                </a:tc>
                <a:tc>
                  <a:txBody>
                    <a:bodyPr/>
                    <a:lstStyle/>
                    <a:p>
                      <a:pPr algn="ctr">
                        <a:lnSpc>
                          <a:spcPct val="105000"/>
                        </a:lnSpc>
                      </a:pPr>
                      <a:r>
                        <a:rPr sz="1400" b="1">
                          <a:solidFill>
                            <a:srgbClr val="FFFFFF"/>
                          </a:solidFill>
                          <a:latin typeface="Calibri"/>
                        </a:rPr>
                        <a:t>NHÓM</a:t>
                      </a:r>
                    </a:p>
                  </a:txBody>
                  <a:tcPr marL="100584" marR="73152" marT="41148" marB="41148" anchor="ctr">
                    <a:solidFill>
                      <a:srgbClr val="0A2540"/>
                    </a:solidFill>
                  </a:tcPr>
                </a:tc>
                <a:tc>
                  <a:txBody>
                    <a:bodyPr/>
                    <a:lstStyle/>
                    <a:p>
                      <a:pPr algn="ctr">
                        <a:lnSpc>
                          <a:spcPct val="105000"/>
                        </a:lnSpc>
                      </a:pPr>
                      <a:r>
                        <a:rPr sz="1400" b="1">
                          <a:solidFill>
                            <a:srgbClr val="FFFFFF"/>
                          </a:solidFill>
                          <a:latin typeface="Calibri"/>
                        </a:rPr>
                        <a:t>QUY TRÌNH NGHIỆP VỤ</a:t>
                      </a:r>
                    </a:p>
                  </a:txBody>
                  <a:tcPr marL="100584" marR="73152" marT="41148" marB="41148" anchor="ctr">
                    <a:solidFill>
                      <a:srgbClr val="0A2540"/>
                    </a:solidFill>
                  </a:tcPr>
                </a:tc>
                <a:tc>
                  <a:txBody>
                    <a:bodyPr/>
                    <a:lstStyle/>
                    <a:p>
                      <a:pPr algn="ctr">
                        <a:lnSpc>
                          <a:spcPct val="105000"/>
                        </a:lnSpc>
                      </a:pPr>
                      <a:r>
                        <a:rPr sz="1400" b="1">
                          <a:solidFill>
                            <a:srgbClr val="FFFFFF"/>
                          </a:solidFill>
                          <a:latin typeface="Calibri"/>
                        </a:rPr>
                        <a:t>THUẬT NGỮ TIẾNG ANH</a:t>
                      </a:r>
                    </a:p>
                  </a:txBody>
                  <a:tcPr marL="100584" marR="73152" marT="41148" marB="41148" anchor="ctr">
                    <a:solidFill>
                      <a:srgbClr val="0A2540"/>
                    </a:solidFill>
                  </a:tcPr>
                </a:tc>
                <a:tc>
                  <a:txBody>
                    <a:bodyPr/>
                    <a:lstStyle/>
                    <a:p>
                      <a:pPr algn="ctr">
                        <a:lnSpc>
                          <a:spcPct val="105000"/>
                        </a:lnSpc>
                      </a:pPr>
                      <a:r>
                        <a:rPr sz="1400" b="1">
                          <a:solidFill>
                            <a:srgbClr val="FFFFFF"/>
                          </a:solidFill>
                          <a:latin typeface="Calibri"/>
                        </a:rPr>
                        <a:t>PROCESS OWNER</a:t>
                      </a:r>
                    </a:p>
                  </a:txBody>
                  <a:tcPr marL="100584" marR="73152" marT="41148" marB="41148" anchor="ctr">
                    <a:solidFill>
                      <a:srgbClr val="0A2540"/>
                    </a:solidFill>
                  </a:tcPr>
                </a:tc>
                <a:extLst>
                  <a:ext uri="{0D108BD9-81ED-4DB2-BD59-A6C34878D82A}">
                    <a16:rowId xmlns:a16="http://schemas.microsoft.com/office/drawing/2014/main" val="10000"/>
                  </a:ext>
                </a:extLst>
              </a:tr>
              <a:tr h="329184">
                <a:tc>
                  <a:txBody>
                    <a:bodyPr/>
                    <a:lstStyle/>
                    <a:p>
                      <a:pPr algn="ctr">
                        <a:lnSpc>
                          <a:spcPct val="105000"/>
                        </a:lnSpc>
                      </a:pPr>
                      <a:r>
                        <a:rPr sz="1400" b="1">
                          <a:solidFill>
                            <a:srgbClr val="0A2540"/>
                          </a:solidFill>
                          <a:latin typeface="Calibri"/>
                        </a:rPr>
                        <a:t>M01</a:t>
                      </a:r>
                    </a:p>
                  </a:txBody>
                  <a:tcPr marL="100584" marR="73152" marT="41148" marB="41148" anchor="ctr">
                    <a:solidFill>
                      <a:srgbClr val="E9F3FA"/>
                    </a:solidFill>
                  </a:tcPr>
                </a:tc>
                <a:tc>
                  <a:txBody>
                    <a:bodyPr/>
                    <a:lstStyle/>
                    <a:p>
                      <a:pPr algn="l">
                        <a:lnSpc>
                          <a:spcPct val="105000"/>
                        </a:lnSpc>
                      </a:pPr>
                      <a:r>
                        <a:rPr sz="1400" b="0">
                          <a:solidFill>
                            <a:srgbClr val="2B3440"/>
                          </a:solidFill>
                          <a:latin typeface="Calibri"/>
                        </a:rPr>
                        <a:t>Management</a:t>
                      </a:r>
                    </a:p>
                  </a:txBody>
                  <a:tcPr marL="100584" marR="73152" marT="41148" marB="41148" anchor="ctr">
                    <a:solidFill>
                      <a:srgbClr val="FFFFFF"/>
                    </a:solidFill>
                  </a:tcPr>
                </a:tc>
                <a:tc>
                  <a:txBody>
                    <a:bodyPr/>
                    <a:lstStyle/>
                    <a:p>
                      <a:pPr algn="l">
                        <a:lnSpc>
                          <a:spcPct val="105000"/>
                        </a:lnSpc>
                      </a:pPr>
                      <a:r>
                        <a:rPr sz="1400" b="0">
                          <a:solidFill>
                            <a:srgbClr val="2B3440"/>
                          </a:solidFill>
                          <a:latin typeface="Calibri"/>
                        </a:rPr>
                        <a:t>Hoạch định và triển khai chiến lược kinh doanh</a:t>
                      </a:r>
                    </a:p>
                  </a:txBody>
                  <a:tcPr marL="100584" marR="73152" marT="41148" marB="41148" anchor="ctr">
                    <a:solidFill>
                      <a:srgbClr val="FFFFFF"/>
                    </a:solidFill>
                  </a:tcPr>
                </a:tc>
                <a:tc>
                  <a:txBody>
                    <a:bodyPr/>
                    <a:lstStyle/>
                    <a:p>
                      <a:pPr algn="l">
                        <a:lnSpc>
                          <a:spcPct val="105000"/>
                        </a:lnSpc>
                      </a:pPr>
                      <a:r>
                        <a:rPr sz="1400" b="0">
                          <a:solidFill>
                            <a:srgbClr val="2B3440"/>
                          </a:solidFill>
                          <a:latin typeface="Calibri"/>
                        </a:rPr>
                        <a:t>Business Planning</a:t>
                      </a:r>
                    </a:p>
                  </a:txBody>
                  <a:tcPr marL="100584" marR="73152" marT="41148" marB="41148" anchor="ctr">
                    <a:solidFill>
                      <a:srgbClr val="FFFFFF"/>
                    </a:solidFill>
                  </a:tcPr>
                </a:tc>
                <a:tc>
                  <a:txBody>
                    <a:bodyPr/>
                    <a:lstStyle/>
                    <a:p>
                      <a:pPr algn="l">
                        <a:lnSpc>
                          <a:spcPct val="105000"/>
                        </a:lnSpc>
                      </a:pPr>
                      <a:r>
                        <a:rPr sz="1400" b="0">
                          <a:solidFill>
                            <a:srgbClr val="2B3440"/>
                          </a:solidFill>
                          <a:latin typeface="Calibri"/>
                        </a:rPr>
                        <a:t>Country Management</a:t>
                      </a:r>
                    </a:p>
                  </a:txBody>
                  <a:tcPr marL="100584" marR="73152" marT="41148" marB="41148" anchor="ctr">
                    <a:solidFill>
                      <a:srgbClr val="FFFFFF"/>
                    </a:solidFill>
                  </a:tcPr>
                </a:tc>
                <a:extLst>
                  <a:ext uri="{0D108BD9-81ED-4DB2-BD59-A6C34878D82A}">
                    <a16:rowId xmlns:a16="http://schemas.microsoft.com/office/drawing/2014/main" val="10001"/>
                  </a:ext>
                </a:extLst>
              </a:tr>
              <a:tr h="329184">
                <a:tc>
                  <a:txBody>
                    <a:bodyPr/>
                    <a:lstStyle/>
                    <a:p>
                      <a:pPr algn="ctr">
                        <a:lnSpc>
                          <a:spcPct val="105000"/>
                        </a:lnSpc>
                      </a:pPr>
                      <a:r>
                        <a:rPr sz="1400" b="1">
                          <a:solidFill>
                            <a:srgbClr val="0A2540"/>
                          </a:solidFill>
                          <a:latin typeface="Calibri"/>
                        </a:rPr>
                        <a:t>M02</a:t>
                      </a:r>
                    </a:p>
                  </a:txBody>
                  <a:tcPr marL="100584" marR="73152" marT="41148" marB="41148" anchor="ctr">
                    <a:solidFill>
                      <a:srgbClr val="E9F3FA"/>
                    </a:solidFill>
                  </a:tcPr>
                </a:tc>
                <a:tc>
                  <a:txBody>
                    <a:bodyPr/>
                    <a:lstStyle/>
                    <a:p>
                      <a:pPr algn="l">
                        <a:lnSpc>
                          <a:spcPct val="105000"/>
                        </a:lnSpc>
                      </a:pPr>
                      <a:r>
                        <a:rPr sz="1400" b="0">
                          <a:solidFill>
                            <a:srgbClr val="2B3440"/>
                          </a:solidFill>
                          <a:latin typeface="Calibri"/>
                        </a:rPr>
                        <a:t>Management</a:t>
                      </a:r>
                    </a:p>
                  </a:txBody>
                  <a:tcPr marL="100584" marR="73152" marT="41148" marB="41148" anchor="ctr">
                    <a:solidFill>
                      <a:srgbClr val="F4F7FA"/>
                    </a:solidFill>
                  </a:tcPr>
                </a:tc>
                <a:tc>
                  <a:txBody>
                    <a:bodyPr/>
                    <a:lstStyle/>
                    <a:p>
                      <a:pPr algn="l">
                        <a:lnSpc>
                          <a:spcPct val="105000"/>
                        </a:lnSpc>
                      </a:pPr>
                      <a:r>
                        <a:rPr sz="1400" b="0">
                          <a:solidFill>
                            <a:srgbClr val="2B3440"/>
                          </a:solidFill>
                          <a:latin typeface="Calibri"/>
                        </a:rPr>
                        <a:t>Quản lý khiếu nại khách hàng</a:t>
                      </a:r>
                    </a:p>
                  </a:txBody>
                  <a:tcPr marL="100584" marR="73152" marT="41148" marB="41148" anchor="ctr">
                    <a:solidFill>
                      <a:srgbClr val="F4F7FA"/>
                    </a:solidFill>
                  </a:tcPr>
                </a:tc>
                <a:tc>
                  <a:txBody>
                    <a:bodyPr/>
                    <a:lstStyle/>
                    <a:p>
                      <a:pPr algn="l">
                        <a:lnSpc>
                          <a:spcPct val="105000"/>
                        </a:lnSpc>
                      </a:pPr>
                      <a:r>
                        <a:rPr sz="1400" b="0">
                          <a:solidFill>
                            <a:srgbClr val="2B3440"/>
                          </a:solidFill>
                          <a:latin typeface="Calibri"/>
                        </a:rPr>
                        <a:t>Customer Complaint Management</a:t>
                      </a:r>
                    </a:p>
                  </a:txBody>
                  <a:tcPr marL="100584" marR="73152" marT="41148" marB="41148" anchor="ctr">
                    <a:solidFill>
                      <a:srgbClr val="F4F7FA"/>
                    </a:solidFill>
                  </a:tcPr>
                </a:tc>
                <a:tc>
                  <a:txBody>
                    <a:bodyPr/>
                    <a:lstStyle/>
                    <a:p>
                      <a:pPr algn="l">
                        <a:lnSpc>
                          <a:spcPct val="105000"/>
                        </a:lnSpc>
                      </a:pPr>
                      <a:r>
                        <a:rPr sz="1400" b="0">
                          <a:solidFill>
                            <a:srgbClr val="2B3440"/>
                          </a:solidFill>
                          <a:latin typeface="Calibri"/>
                        </a:rPr>
                        <a:t>Quality / CIR</a:t>
                      </a:r>
                    </a:p>
                  </a:txBody>
                  <a:tcPr marL="100584" marR="73152" marT="41148" marB="41148" anchor="ctr">
                    <a:solidFill>
                      <a:srgbClr val="F4F7FA"/>
                    </a:solidFill>
                  </a:tcPr>
                </a:tc>
                <a:extLst>
                  <a:ext uri="{0D108BD9-81ED-4DB2-BD59-A6C34878D82A}">
                    <a16:rowId xmlns:a16="http://schemas.microsoft.com/office/drawing/2014/main" val="10002"/>
                  </a:ext>
                </a:extLst>
              </a:tr>
              <a:tr h="329184">
                <a:tc>
                  <a:txBody>
                    <a:bodyPr/>
                    <a:lstStyle/>
                    <a:p>
                      <a:pPr algn="ctr">
                        <a:lnSpc>
                          <a:spcPct val="105000"/>
                        </a:lnSpc>
                      </a:pPr>
                      <a:r>
                        <a:rPr sz="1400" b="1">
                          <a:solidFill>
                            <a:srgbClr val="0A2540"/>
                          </a:solidFill>
                          <a:latin typeface="Calibri"/>
                        </a:rPr>
                        <a:t>M03</a:t>
                      </a:r>
                    </a:p>
                  </a:txBody>
                  <a:tcPr marL="100584" marR="73152" marT="41148" marB="41148" anchor="ctr">
                    <a:solidFill>
                      <a:srgbClr val="E9F3FA"/>
                    </a:solidFill>
                  </a:tcPr>
                </a:tc>
                <a:tc>
                  <a:txBody>
                    <a:bodyPr/>
                    <a:lstStyle/>
                    <a:p>
                      <a:pPr algn="l">
                        <a:lnSpc>
                          <a:spcPct val="105000"/>
                        </a:lnSpc>
                      </a:pPr>
                      <a:r>
                        <a:rPr sz="1400" b="0">
                          <a:solidFill>
                            <a:srgbClr val="2B3440"/>
                          </a:solidFill>
                          <a:latin typeface="Calibri"/>
                        </a:rPr>
                        <a:t>Management</a:t>
                      </a:r>
                    </a:p>
                  </a:txBody>
                  <a:tcPr marL="100584" marR="73152" marT="41148" marB="41148" anchor="ctr">
                    <a:solidFill>
                      <a:srgbClr val="FFFFFF"/>
                    </a:solidFill>
                  </a:tcPr>
                </a:tc>
                <a:tc>
                  <a:txBody>
                    <a:bodyPr/>
                    <a:lstStyle/>
                    <a:p>
                      <a:pPr algn="l">
                        <a:lnSpc>
                          <a:spcPct val="105000"/>
                        </a:lnSpc>
                      </a:pPr>
                      <a:r>
                        <a:rPr sz="1400" b="0">
                          <a:solidFill>
                            <a:srgbClr val="2B3440"/>
                          </a:solidFill>
                          <a:latin typeface="Calibri"/>
                        </a:rPr>
                        <a:t>Quản lý tuân thủ và đăng ký sản phẩm</a:t>
                      </a:r>
                    </a:p>
                  </a:txBody>
                  <a:tcPr marL="100584" marR="73152" marT="41148" marB="41148" anchor="ctr">
                    <a:solidFill>
                      <a:srgbClr val="FFFFFF"/>
                    </a:solidFill>
                  </a:tcPr>
                </a:tc>
                <a:tc>
                  <a:txBody>
                    <a:bodyPr/>
                    <a:lstStyle/>
                    <a:p>
                      <a:pPr algn="l">
                        <a:lnSpc>
                          <a:spcPct val="105000"/>
                        </a:lnSpc>
                      </a:pPr>
                      <a:r>
                        <a:rPr sz="1400" b="0">
                          <a:solidFill>
                            <a:srgbClr val="2B3440"/>
                          </a:solidFill>
                          <a:latin typeface="Calibri"/>
                        </a:rPr>
                        <a:t>Regulatory Affairs &amp; Compliance</a:t>
                      </a:r>
                    </a:p>
                  </a:txBody>
                  <a:tcPr marL="100584" marR="73152" marT="41148" marB="41148" anchor="ctr">
                    <a:solidFill>
                      <a:srgbClr val="FFFFFF"/>
                    </a:solidFill>
                  </a:tcPr>
                </a:tc>
                <a:tc>
                  <a:txBody>
                    <a:bodyPr/>
                    <a:lstStyle/>
                    <a:p>
                      <a:pPr algn="l">
                        <a:lnSpc>
                          <a:spcPct val="105000"/>
                        </a:lnSpc>
                      </a:pPr>
                      <a:r>
                        <a:rPr sz="1400" b="0">
                          <a:solidFill>
                            <a:srgbClr val="2B3440"/>
                          </a:solidFill>
                          <a:latin typeface="Calibri"/>
                        </a:rPr>
                        <a:t>Regulatory Affairs (RA)</a:t>
                      </a:r>
                    </a:p>
                  </a:txBody>
                  <a:tcPr marL="100584" marR="73152" marT="41148" marB="41148" anchor="ctr">
                    <a:solidFill>
                      <a:srgbClr val="FFFFFF"/>
                    </a:solidFill>
                  </a:tcPr>
                </a:tc>
                <a:extLst>
                  <a:ext uri="{0D108BD9-81ED-4DB2-BD59-A6C34878D82A}">
                    <a16:rowId xmlns:a16="http://schemas.microsoft.com/office/drawing/2014/main" val="10003"/>
                  </a:ext>
                </a:extLst>
              </a:tr>
              <a:tr h="329184">
                <a:tc>
                  <a:txBody>
                    <a:bodyPr/>
                    <a:lstStyle/>
                    <a:p>
                      <a:pPr algn="ctr">
                        <a:lnSpc>
                          <a:spcPct val="105000"/>
                        </a:lnSpc>
                      </a:pPr>
                      <a:r>
                        <a:rPr sz="1400" b="1">
                          <a:solidFill>
                            <a:srgbClr val="0A2540"/>
                          </a:solidFill>
                          <a:latin typeface="Calibri"/>
                        </a:rPr>
                        <a:t>C01</a:t>
                      </a:r>
                    </a:p>
                  </a:txBody>
                  <a:tcPr marL="100584" marR="73152" marT="41148" marB="41148" anchor="ctr">
                    <a:solidFill>
                      <a:srgbClr val="E7F7F3"/>
                    </a:solidFill>
                  </a:tcPr>
                </a:tc>
                <a:tc>
                  <a:txBody>
                    <a:bodyPr/>
                    <a:lstStyle/>
                    <a:p>
                      <a:pPr algn="l">
                        <a:lnSpc>
                          <a:spcPct val="105000"/>
                        </a:lnSpc>
                      </a:pPr>
                      <a:r>
                        <a:rPr sz="1400" b="0">
                          <a:solidFill>
                            <a:srgbClr val="2B3440"/>
                          </a:solidFill>
                          <a:latin typeface="Calibri"/>
                        </a:rPr>
                        <a:t>Core</a:t>
                      </a:r>
                    </a:p>
                  </a:txBody>
                  <a:tcPr marL="100584" marR="73152" marT="41148" marB="41148" anchor="ctr">
                    <a:solidFill>
                      <a:srgbClr val="F4F7FA"/>
                    </a:solidFill>
                  </a:tcPr>
                </a:tc>
                <a:tc>
                  <a:txBody>
                    <a:bodyPr/>
                    <a:lstStyle/>
                    <a:p>
                      <a:pPr algn="l">
                        <a:lnSpc>
                          <a:spcPct val="105000"/>
                        </a:lnSpc>
                      </a:pPr>
                      <a:r>
                        <a:rPr sz="1400" b="0">
                          <a:solidFill>
                            <a:srgbClr val="2B3440"/>
                          </a:solidFill>
                          <a:latin typeface="Calibri"/>
                        </a:rPr>
                        <a:t>Quản lý khách hàng và đối tác kinh doanh</a:t>
                      </a:r>
                    </a:p>
                  </a:txBody>
                  <a:tcPr marL="100584" marR="73152" marT="41148" marB="41148" anchor="ctr">
                    <a:solidFill>
                      <a:srgbClr val="F4F7FA"/>
                    </a:solidFill>
                  </a:tcPr>
                </a:tc>
                <a:tc>
                  <a:txBody>
                    <a:bodyPr/>
                    <a:lstStyle/>
                    <a:p>
                      <a:pPr algn="l">
                        <a:lnSpc>
                          <a:spcPct val="105000"/>
                        </a:lnSpc>
                      </a:pPr>
                      <a:r>
                        <a:rPr sz="1400" b="0">
                          <a:solidFill>
                            <a:srgbClr val="2B3440"/>
                          </a:solidFill>
                          <a:latin typeface="Calibri"/>
                        </a:rPr>
                        <a:t>Business Partner Management</a:t>
                      </a:r>
                    </a:p>
                  </a:txBody>
                  <a:tcPr marL="100584" marR="73152" marT="41148" marB="41148" anchor="ctr">
                    <a:solidFill>
                      <a:srgbClr val="F4F7FA"/>
                    </a:solidFill>
                  </a:tcPr>
                </a:tc>
                <a:tc>
                  <a:txBody>
                    <a:bodyPr/>
                    <a:lstStyle/>
                    <a:p>
                      <a:pPr algn="l">
                        <a:lnSpc>
                          <a:spcPct val="105000"/>
                        </a:lnSpc>
                      </a:pPr>
                      <a:r>
                        <a:rPr sz="1400" b="0">
                          <a:solidFill>
                            <a:srgbClr val="2B3440"/>
                          </a:solidFill>
                          <a:latin typeface="Calibri"/>
                        </a:rPr>
                        <a:t>Sales</a:t>
                      </a:r>
                    </a:p>
                  </a:txBody>
                  <a:tcPr marL="100584" marR="73152" marT="41148" marB="41148" anchor="ctr">
                    <a:solidFill>
                      <a:srgbClr val="F4F7FA"/>
                    </a:solidFill>
                  </a:tcPr>
                </a:tc>
                <a:extLst>
                  <a:ext uri="{0D108BD9-81ED-4DB2-BD59-A6C34878D82A}">
                    <a16:rowId xmlns:a16="http://schemas.microsoft.com/office/drawing/2014/main" val="10004"/>
                  </a:ext>
                </a:extLst>
              </a:tr>
              <a:tr h="329184">
                <a:tc>
                  <a:txBody>
                    <a:bodyPr/>
                    <a:lstStyle/>
                    <a:p>
                      <a:pPr algn="ctr">
                        <a:lnSpc>
                          <a:spcPct val="105000"/>
                        </a:lnSpc>
                      </a:pPr>
                      <a:r>
                        <a:rPr sz="1400" b="1">
                          <a:solidFill>
                            <a:srgbClr val="0A2540"/>
                          </a:solidFill>
                          <a:latin typeface="Calibri"/>
                        </a:rPr>
                        <a:t>C02</a:t>
                      </a:r>
                    </a:p>
                  </a:txBody>
                  <a:tcPr marL="100584" marR="73152" marT="41148" marB="41148" anchor="ctr">
                    <a:solidFill>
                      <a:srgbClr val="E7F7F3"/>
                    </a:solidFill>
                  </a:tcPr>
                </a:tc>
                <a:tc>
                  <a:txBody>
                    <a:bodyPr/>
                    <a:lstStyle/>
                    <a:p>
                      <a:pPr algn="l">
                        <a:lnSpc>
                          <a:spcPct val="105000"/>
                        </a:lnSpc>
                      </a:pPr>
                      <a:r>
                        <a:rPr sz="1400" b="0">
                          <a:solidFill>
                            <a:srgbClr val="2B3440"/>
                          </a:solidFill>
                          <a:latin typeface="Calibri"/>
                        </a:rPr>
                        <a:t>Core</a:t>
                      </a:r>
                    </a:p>
                  </a:txBody>
                  <a:tcPr marL="100584" marR="73152" marT="41148" marB="41148" anchor="ctr">
                    <a:solidFill>
                      <a:srgbClr val="FFFFFF"/>
                    </a:solidFill>
                  </a:tcPr>
                </a:tc>
                <a:tc>
                  <a:txBody>
                    <a:bodyPr/>
                    <a:lstStyle/>
                    <a:p>
                      <a:pPr algn="l">
                        <a:lnSpc>
                          <a:spcPct val="105000"/>
                        </a:lnSpc>
                      </a:pPr>
                      <a:r>
                        <a:rPr sz="1400" b="0">
                          <a:solidFill>
                            <a:srgbClr val="2B3440"/>
                          </a:solidFill>
                          <a:latin typeface="Calibri"/>
                        </a:rPr>
                        <a:t>Quản lý đơn hàng</a:t>
                      </a:r>
                    </a:p>
                  </a:txBody>
                  <a:tcPr marL="100584" marR="73152" marT="41148" marB="41148" anchor="ctr">
                    <a:solidFill>
                      <a:srgbClr val="FFFFFF"/>
                    </a:solidFill>
                  </a:tcPr>
                </a:tc>
                <a:tc>
                  <a:txBody>
                    <a:bodyPr/>
                    <a:lstStyle/>
                    <a:p>
                      <a:pPr algn="l">
                        <a:lnSpc>
                          <a:spcPct val="105000"/>
                        </a:lnSpc>
                      </a:pPr>
                      <a:r>
                        <a:rPr sz="1400" b="0">
                          <a:solidFill>
                            <a:srgbClr val="2B3440"/>
                          </a:solidFill>
                          <a:latin typeface="Calibri"/>
                        </a:rPr>
                        <a:t>Order Management (Order-to-Cash)</a:t>
                      </a:r>
                    </a:p>
                  </a:txBody>
                  <a:tcPr marL="100584" marR="73152" marT="41148" marB="41148" anchor="ctr">
                    <a:solidFill>
                      <a:srgbClr val="FFFFFF"/>
                    </a:solidFill>
                  </a:tcPr>
                </a:tc>
                <a:tc>
                  <a:txBody>
                    <a:bodyPr/>
                    <a:lstStyle/>
                    <a:p>
                      <a:pPr algn="l">
                        <a:lnSpc>
                          <a:spcPct val="105000"/>
                        </a:lnSpc>
                      </a:pPr>
                      <a:r>
                        <a:rPr sz="1400" b="0">
                          <a:solidFill>
                            <a:srgbClr val="2B3440"/>
                          </a:solidFill>
                          <a:latin typeface="Calibri"/>
                        </a:rPr>
                        <a:t>Customer Service / Sales Ops</a:t>
                      </a:r>
                    </a:p>
                  </a:txBody>
                  <a:tcPr marL="100584" marR="73152" marT="41148" marB="41148" anchor="ctr">
                    <a:solidFill>
                      <a:srgbClr val="FFFFFF"/>
                    </a:solidFill>
                  </a:tcPr>
                </a:tc>
                <a:extLst>
                  <a:ext uri="{0D108BD9-81ED-4DB2-BD59-A6C34878D82A}">
                    <a16:rowId xmlns:a16="http://schemas.microsoft.com/office/drawing/2014/main" val="10005"/>
                  </a:ext>
                </a:extLst>
              </a:tr>
              <a:tr h="329184">
                <a:tc>
                  <a:txBody>
                    <a:bodyPr/>
                    <a:lstStyle/>
                    <a:p>
                      <a:pPr algn="ctr">
                        <a:lnSpc>
                          <a:spcPct val="105000"/>
                        </a:lnSpc>
                      </a:pPr>
                      <a:r>
                        <a:rPr sz="1400" b="1">
                          <a:solidFill>
                            <a:srgbClr val="0A2540"/>
                          </a:solidFill>
                          <a:latin typeface="Calibri"/>
                        </a:rPr>
                        <a:t>C03</a:t>
                      </a:r>
                    </a:p>
                  </a:txBody>
                  <a:tcPr marL="100584" marR="73152" marT="41148" marB="41148" anchor="ctr">
                    <a:solidFill>
                      <a:srgbClr val="E7F7F3"/>
                    </a:solidFill>
                  </a:tcPr>
                </a:tc>
                <a:tc>
                  <a:txBody>
                    <a:bodyPr/>
                    <a:lstStyle/>
                    <a:p>
                      <a:pPr algn="l">
                        <a:lnSpc>
                          <a:spcPct val="105000"/>
                        </a:lnSpc>
                      </a:pPr>
                      <a:r>
                        <a:rPr sz="1400" b="0">
                          <a:solidFill>
                            <a:srgbClr val="2B3440"/>
                          </a:solidFill>
                          <a:latin typeface="Calibri"/>
                        </a:rPr>
                        <a:t>Core</a:t>
                      </a:r>
                    </a:p>
                  </a:txBody>
                  <a:tcPr marL="100584" marR="73152" marT="41148" marB="41148" anchor="ctr">
                    <a:solidFill>
                      <a:srgbClr val="F4F7FA"/>
                    </a:solidFill>
                  </a:tcPr>
                </a:tc>
                <a:tc>
                  <a:txBody>
                    <a:bodyPr/>
                    <a:lstStyle/>
                    <a:p>
                      <a:pPr algn="l">
                        <a:lnSpc>
                          <a:spcPct val="105000"/>
                        </a:lnSpc>
                      </a:pPr>
                      <a:r>
                        <a:rPr sz="1400" b="0">
                          <a:solidFill>
                            <a:srgbClr val="2B3440"/>
                          </a:solidFill>
                          <a:latin typeface="Calibri"/>
                        </a:rPr>
                        <a:t>Quản lý dịch vụ và sửa chữa</a:t>
                      </a:r>
                    </a:p>
                  </a:txBody>
                  <a:tcPr marL="100584" marR="73152" marT="41148" marB="41148" anchor="ctr">
                    <a:solidFill>
                      <a:srgbClr val="F4F7FA"/>
                    </a:solidFill>
                  </a:tcPr>
                </a:tc>
                <a:tc>
                  <a:txBody>
                    <a:bodyPr/>
                    <a:lstStyle/>
                    <a:p>
                      <a:pPr algn="l">
                        <a:lnSpc>
                          <a:spcPct val="105000"/>
                        </a:lnSpc>
                      </a:pPr>
                      <a:r>
                        <a:rPr sz="1400" b="0">
                          <a:solidFill>
                            <a:srgbClr val="2B3440"/>
                          </a:solidFill>
                          <a:latin typeface="Calibri"/>
                        </a:rPr>
                        <a:t>Service Order Management</a:t>
                      </a:r>
                    </a:p>
                  </a:txBody>
                  <a:tcPr marL="100584" marR="73152" marT="41148" marB="41148" anchor="ctr">
                    <a:solidFill>
                      <a:srgbClr val="F4F7FA"/>
                    </a:solidFill>
                  </a:tcPr>
                </a:tc>
                <a:tc>
                  <a:txBody>
                    <a:bodyPr/>
                    <a:lstStyle/>
                    <a:p>
                      <a:pPr algn="l">
                        <a:lnSpc>
                          <a:spcPct val="105000"/>
                        </a:lnSpc>
                      </a:pPr>
                      <a:r>
                        <a:rPr sz="1400" b="0">
                          <a:solidFill>
                            <a:srgbClr val="2B3440"/>
                          </a:solidFill>
                          <a:latin typeface="Calibri"/>
                        </a:rPr>
                        <a:t>Technical Service</a:t>
                      </a:r>
                    </a:p>
                  </a:txBody>
                  <a:tcPr marL="100584" marR="73152" marT="41148" marB="41148" anchor="ctr">
                    <a:solidFill>
                      <a:srgbClr val="F4F7FA"/>
                    </a:solidFill>
                  </a:tcPr>
                </a:tc>
                <a:extLst>
                  <a:ext uri="{0D108BD9-81ED-4DB2-BD59-A6C34878D82A}">
                    <a16:rowId xmlns:a16="http://schemas.microsoft.com/office/drawing/2014/main" val="10006"/>
                  </a:ext>
                </a:extLst>
              </a:tr>
              <a:tr h="329184">
                <a:tc>
                  <a:txBody>
                    <a:bodyPr/>
                    <a:lstStyle/>
                    <a:p>
                      <a:pPr algn="ctr">
                        <a:lnSpc>
                          <a:spcPct val="105000"/>
                        </a:lnSpc>
                      </a:pPr>
                      <a:r>
                        <a:rPr sz="1400" b="1">
                          <a:solidFill>
                            <a:srgbClr val="B54A08"/>
                          </a:solidFill>
                          <a:latin typeface="Calibri"/>
                        </a:rPr>
                        <a:t>S01</a:t>
                      </a:r>
                    </a:p>
                  </a:txBody>
                  <a:tcPr marL="100584" marR="73152" marT="41148" marB="41148" anchor="ctr">
                    <a:solidFill>
                      <a:srgbClr val="FFF6E8"/>
                    </a:solidFill>
                  </a:tcPr>
                </a:tc>
                <a:tc>
                  <a:txBody>
                    <a:bodyPr/>
                    <a:lstStyle/>
                    <a:p>
                      <a:pPr algn="l">
                        <a:lnSpc>
                          <a:spcPct val="105000"/>
                        </a:lnSpc>
                      </a:pPr>
                      <a:r>
                        <a:rPr sz="1400" b="0">
                          <a:solidFill>
                            <a:srgbClr val="2B3440"/>
                          </a:solidFill>
                          <a:latin typeface="Calibri"/>
                        </a:rPr>
                        <a:t>Supporting</a:t>
                      </a:r>
                    </a:p>
                  </a:txBody>
                  <a:tcPr marL="100584" marR="73152" marT="41148" marB="41148" anchor="ctr">
                    <a:solidFill>
                      <a:srgbClr val="FFFFFF"/>
                    </a:solidFill>
                  </a:tcPr>
                </a:tc>
                <a:tc>
                  <a:txBody>
                    <a:bodyPr/>
                    <a:lstStyle/>
                    <a:p>
                      <a:pPr algn="l">
                        <a:lnSpc>
                          <a:spcPct val="105000"/>
                        </a:lnSpc>
                      </a:pPr>
                      <a:r>
                        <a:rPr sz="1400" b="0">
                          <a:solidFill>
                            <a:srgbClr val="2B3440"/>
                          </a:solidFill>
                          <a:latin typeface="Calibri"/>
                        </a:rPr>
                        <a:t>Quản lý mua hàng và cung ứng</a:t>
                      </a:r>
                    </a:p>
                  </a:txBody>
                  <a:tcPr marL="100584" marR="73152" marT="41148" marB="41148" anchor="ctr">
                    <a:solidFill>
                      <a:srgbClr val="FFFFFF"/>
                    </a:solidFill>
                  </a:tcPr>
                </a:tc>
                <a:tc>
                  <a:txBody>
                    <a:bodyPr/>
                    <a:lstStyle/>
                    <a:p>
                      <a:pPr algn="l">
                        <a:lnSpc>
                          <a:spcPct val="105000"/>
                        </a:lnSpc>
                      </a:pPr>
                      <a:r>
                        <a:rPr sz="1400" b="0" dirty="0">
                          <a:solidFill>
                            <a:srgbClr val="2B3440"/>
                          </a:solidFill>
                          <a:latin typeface="Calibri"/>
                        </a:rPr>
                        <a:t>Procurement Management</a:t>
                      </a:r>
                    </a:p>
                  </a:txBody>
                  <a:tcPr marL="100584" marR="73152" marT="41148" marB="41148" anchor="ctr">
                    <a:solidFill>
                      <a:srgbClr val="FFFFFF"/>
                    </a:solidFill>
                  </a:tcPr>
                </a:tc>
                <a:tc>
                  <a:txBody>
                    <a:bodyPr/>
                    <a:lstStyle/>
                    <a:p>
                      <a:pPr algn="l">
                        <a:lnSpc>
                          <a:spcPct val="105000"/>
                        </a:lnSpc>
                      </a:pPr>
                      <a:r>
                        <a:rPr sz="1400" b="0">
                          <a:solidFill>
                            <a:srgbClr val="2B3440"/>
                          </a:solidFill>
                          <a:latin typeface="Calibri"/>
                        </a:rPr>
                        <a:t>Supply Chain</a:t>
                      </a:r>
                    </a:p>
                  </a:txBody>
                  <a:tcPr marL="100584" marR="73152" marT="41148" marB="41148" anchor="ctr">
                    <a:solidFill>
                      <a:srgbClr val="FFFFFF"/>
                    </a:solidFill>
                  </a:tcPr>
                </a:tc>
                <a:extLst>
                  <a:ext uri="{0D108BD9-81ED-4DB2-BD59-A6C34878D82A}">
                    <a16:rowId xmlns:a16="http://schemas.microsoft.com/office/drawing/2014/main" val="10007"/>
                  </a:ext>
                </a:extLst>
              </a:tr>
              <a:tr h="329184">
                <a:tc>
                  <a:txBody>
                    <a:bodyPr/>
                    <a:lstStyle/>
                    <a:p>
                      <a:pPr algn="ctr">
                        <a:lnSpc>
                          <a:spcPct val="105000"/>
                        </a:lnSpc>
                      </a:pPr>
                      <a:r>
                        <a:rPr sz="1400" b="1">
                          <a:solidFill>
                            <a:srgbClr val="B54A08"/>
                          </a:solidFill>
                          <a:latin typeface="Calibri"/>
                        </a:rPr>
                        <a:t>S02</a:t>
                      </a:r>
                    </a:p>
                  </a:txBody>
                  <a:tcPr marL="100584" marR="73152" marT="41148" marB="41148" anchor="ctr">
                    <a:solidFill>
                      <a:srgbClr val="FFF6E8"/>
                    </a:solidFill>
                  </a:tcPr>
                </a:tc>
                <a:tc>
                  <a:txBody>
                    <a:bodyPr/>
                    <a:lstStyle/>
                    <a:p>
                      <a:pPr algn="l">
                        <a:lnSpc>
                          <a:spcPct val="105000"/>
                        </a:lnSpc>
                      </a:pPr>
                      <a:r>
                        <a:rPr sz="1400" b="0">
                          <a:solidFill>
                            <a:srgbClr val="2B3440"/>
                          </a:solidFill>
                          <a:latin typeface="Calibri"/>
                        </a:rPr>
                        <a:t>Supporting</a:t>
                      </a:r>
                    </a:p>
                  </a:txBody>
                  <a:tcPr marL="100584" marR="73152" marT="41148" marB="41148" anchor="ctr">
                    <a:solidFill>
                      <a:srgbClr val="F4F7FA"/>
                    </a:solidFill>
                  </a:tcPr>
                </a:tc>
                <a:tc>
                  <a:txBody>
                    <a:bodyPr/>
                    <a:lstStyle/>
                    <a:p>
                      <a:pPr algn="l">
                        <a:lnSpc>
                          <a:spcPct val="105000"/>
                        </a:lnSpc>
                      </a:pPr>
                      <a:r>
                        <a:rPr sz="1400" b="0">
                          <a:solidFill>
                            <a:srgbClr val="2B3440"/>
                          </a:solidFill>
                          <a:latin typeface="Calibri"/>
                        </a:rPr>
                        <a:t>Quản lý nhập kho</a:t>
                      </a:r>
                    </a:p>
                  </a:txBody>
                  <a:tcPr marL="100584" marR="73152" marT="41148" marB="41148" anchor="ctr">
                    <a:solidFill>
                      <a:srgbClr val="F4F7FA"/>
                    </a:solidFill>
                  </a:tcPr>
                </a:tc>
                <a:tc>
                  <a:txBody>
                    <a:bodyPr/>
                    <a:lstStyle/>
                    <a:p>
                      <a:pPr algn="l">
                        <a:lnSpc>
                          <a:spcPct val="105000"/>
                        </a:lnSpc>
                      </a:pPr>
                      <a:r>
                        <a:rPr sz="1400" b="0">
                          <a:solidFill>
                            <a:srgbClr val="2B3440"/>
                          </a:solidFill>
                          <a:latin typeface="Calibri"/>
                        </a:rPr>
                        <a:t>Inbound Processing</a:t>
                      </a:r>
                    </a:p>
                  </a:txBody>
                  <a:tcPr marL="100584" marR="73152" marT="41148" marB="41148" anchor="ctr">
                    <a:solidFill>
                      <a:srgbClr val="F4F7FA"/>
                    </a:solidFill>
                  </a:tcPr>
                </a:tc>
                <a:tc>
                  <a:txBody>
                    <a:bodyPr/>
                    <a:lstStyle/>
                    <a:p>
                      <a:pPr algn="l">
                        <a:lnSpc>
                          <a:spcPct val="105000"/>
                        </a:lnSpc>
                      </a:pPr>
                      <a:r>
                        <a:rPr sz="1400" b="0">
                          <a:solidFill>
                            <a:srgbClr val="2B3440"/>
                          </a:solidFill>
                          <a:latin typeface="Calibri"/>
                        </a:rPr>
                        <a:t>Warehouse / Logistics</a:t>
                      </a:r>
                    </a:p>
                  </a:txBody>
                  <a:tcPr marL="100584" marR="73152" marT="41148" marB="41148" anchor="ctr">
                    <a:solidFill>
                      <a:srgbClr val="F4F7FA"/>
                    </a:solidFill>
                  </a:tcPr>
                </a:tc>
                <a:extLst>
                  <a:ext uri="{0D108BD9-81ED-4DB2-BD59-A6C34878D82A}">
                    <a16:rowId xmlns:a16="http://schemas.microsoft.com/office/drawing/2014/main" val="10008"/>
                  </a:ext>
                </a:extLst>
              </a:tr>
              <a:tr h="329184">
                <a:tc>
                  <a:txBody>
                    <a:bodyPr/>
                    <a:lstStyle/>
                    <a:p>
                      <a:pPr algn="ctr">
                        <a:lnSpc>
                          <a:spcPct val="105000"/>
                        </a:lnSpc>
                      </a:pPr>
                      <a:r>
                        <a:rPr sz="1400" b="1">
                          <a:solidFill>
                            <a:srgbClr val="B54A08"/>
                          </a:solidFill>
                          <a:latin typeface="Calibri"/>
                        </a:rPr>
                        <a:t>S03</a:t>
                      </a:r>
                    </a:p>
                  </a:txBody>
                  <a:tcPr marL="100584" marR="73152" marT="41148" marB="41148" anchor="ctr">
                    <a:solidFill>
                      <a:srgbClr val="FFF6E8"/>
                    </a:solidFill>
                  </a:tcPr>
                </a:tc>
                <a:tc>
                  <a:txBody>
                    <a:bodyPr/>
                    <a:lstStyle/>
                    <a:p>
                      <a:pPr algn="l">
                        <a:lnSpc>
                          <a:spcPct val="105000"/>
                        </a:lnSpc>
                      </a:pPr>
                      <a:r>
                        <a:rPr sz="1400" b="0">
                          <a:solidFill>
                            <a:srgbClr val="2B3440"/>
                          </a:solidFill>
                          <a:latin typeface="Calibri"/>
                        </a:rPr>
                        <a:t>Supporting</a:t>
                      </a:r>
                    </a:p>
                  </a:txBody>
                  <a:tcPr marL="100584" marR="73152" marT="41148" marB="41148" anchor="ctr">
                    <a:solidFill>
                      <a:srgbClr val="FFFFFF"/>
                    </a:solidFill>
                  </a:tcPr>
                </a:tc>
                <a:tc>
                  <a:txBody>
                    <a:bodyPr/>
                    <a:lstStyle/>
                    <a:p>
                      <a:pPr algn="l">
                        <a:lnSpc>
                          <a:spcPct val="105000"/>
                        </a:lnSpc>
                      </a:pPr>
                      <a:r>
                        <a:rPr sz="1400" b="0">
                          <a:solidFill>
                            <a:srgbClr val="2B3440"/>
                          </a:solidFill>
                          <a:latin typeface="Calibri"/>
                        </a:rPr>
                        <a:t>Quản lý xuất kho</a:t>
                      </a:r>
                    </a:p>
                  </a:txBody>
                  <a:tcPr marL="100584" marR="73152" marT="41148" marB="41148" anchor="ctr">
                    <a:solidFill>
                      <a:srgbClr val="FFFFFF"/>
                    </a:solidFill>
                  </a:tcPr>
                </a:tc>
                <a:tc>
                  <a:txBody>
                    <a:bodyPr/>
                    <a:lstStyle/>
                    <a:p>
                      <a:pPr algn="l">
                        <a:lnSpc>
                          <a:spcPct val="105000"/>
                        </a:lnSpc>
                      </a:pPr>
                      <a:r>
                        <a:rPr sz="1400" b="0">
                          <a:solidFill>
                            <a:srgbClr val="2B3440"/>
                          </a:solidFill>
                          <a:latin typeface="Calibri"/>
                        </a:rPr>
                        <a:t>Outbound Processing</a:t>
                      </a:r>
                    </a:p>
                  </a:txBody>
                  <a:tcPr marL="100584" marR="73152" marT="41148" marB="41148" anchor="ctr">
                    <a:solidFill>
                      <a:srgbClr val="FFFFFF"/>
                    </a:solidFill>
                  </a:tcPr>
                </a:tc>
                <a:tc>
                  <a:txBody>
                    <a:bodyPr/>
                    <a:lstStyle/>
                    <a:p>
                      <a:pPr algn="l">
                        <a:lnSpc>
                          <a:spcPct val="105000"/>
                        </a:lnSpc>
                      </a:pPr>
                      <a:r>
                        <a:rPr sz="1400" b="0">
                          <a:solidFill>
                            <a:srgbClr val="2B3440"/>
                          </a:solidFill>
                          <a:latin typeface="Calibri"/>
                        </a:rPr>
                        <a:t>Warehouse / Logistics</a:t>
                      </a:r>
                    </a:p>
                  </a:txBody>
                  <a:tcPr marL="100584" marR="73152" marT="41148" marB="41148" anchor="ctr">
                    <a:solidFill>
                      <a:srgbClr val="FFFFFF"/>
                    </a:solidFill>
                  </a:tcPr>
                </a:tc>
                <a:extLst>
                  <a:ext uri="{0D108BD9-81ED-4DB2-BD59-A6C34878D82A}">
                    <a16:rowId xmlns:a16="http://schemas.microsoft.com/office/drawing/2014/main" val="10009"/>
                  </a:ext>
                </a:extLst>
              </a:tr>
              <a:tr h="329184">
                <a:tc>
                  <a:txBody>
                    <a:bodyPr/>
                    <a:lstStyle/>
                    <a:p>
                      <a:pPr algn="ctr">
                        <a:lnSpc>
                          <a:spcPct val="105000"/>
                        </a:lnSpc>
                      </a:pPr>
                      <a:r>
                        <a:rPr sz="1400" b="1">
                          <a:solidFill>
                            <a:srgbClr val="B54A08"/>
                          </a:solidFill>
                          <a:latin typeface="Calibri"/>
                        </a:rPr>
                        <a:t>S04</a:t>
                      </a:r>
                    </a:p>
                  </a:txBody>
                  <a:tcPr marL="100584" marR="73152" marT="41148" marB="41148" anchor="ctr">
                    <a:solidFill>
                      <a:srgbClr val="FFF6E8"/>
                    </a:solidFill>
                  </a:tcPr>
                </a:tc>
                <a:tc>
                  <a:txBody>
                    <a:bodyPr/>
                    <a:lstStyle/>
                    <a:p>
                      <a:pPr algn="l">
                        <a:lnSpc>
                          <a:spcPct val="105000"/>
                        </a:lnSpc>
                      </a:pPr>
                      <a:r>
                        <a:rPr sz="1400" b="0">
                          <a:solidFill>
                            <a:srgbClr val="2B3440"/>
                          </a:solidFill>
                          <a:latin typeface="Calibri"/>
                        </a:rPr>
                        <a:t>Supporting</a:t>
                      </a:r>
                    </a:p>
                  </a:txBody>
                  <a:tcPr marL="100584" marR="73152" marT="41148" marB="41148" anchor="ctr">
                    <a:solidFill>
                      <a:srgbClr val="F4F7FA"/>
                    </a:solidFill>
                  </a:tcPr>
                </a:tc>
                <a:tc>
                  <a:txBody>
                    <a:bodyPr/>
                    <a:lstStyle/>
                    <a:p>
                      <a:pPr algn="l">
                        <a:lnSpc>
                          <a:spcPct val="105000"/>
                        </a:lnSpc>
                      </a:pPr>
                      <a:r>
                        <a:rPr sz="1400" b="0">
                          <a:solidFill>
                            <a:srgbClr val="2B3440"/>
                          </a:solidFill>
                          <a:latin typeface="Calibri"/>
                        </a:rPr>
                        <a:t>Quản lý loại bỏ hàng hóa</a:t>
                      </a:r>
                    </a:p>
                  </a:txBody>
                  <a:tcPr marL="100584" marR="73152" marT="41148" marB="41148" anchor="ctr">
                    <a:solidFill>
                      <a:srgbClr val="F4F7FA"/>
                    </a:solidFill>
                  </a:tcPr>
                </a:tc>
                <a:tc>
                  <a:txBody>
                    <a:bodyPr/>
                    <a:lstStyle/>
                    <a:p>
                      <a:pPr algn="l">
                        <a:lnSpc>
                          <a:spcPct val="105000"/>
                        </a:lnSpc>
                      </a:pPr>
                      <a:r>
                        <a:rPr sz="1400" b="0">
                          <a:solidFill>
                            <a:srgbClr val="2B3440"/>
                          </a:solidFill>
                          <a:latin typeface="Calibri"/>
                        </a:rPr>
                        <a:t>Scrapping Processing</a:t>
                      </a:r>
                    </a:p>
                  </a:txBody>
                  <a:tcPr marL="100584" marR="73152" marT="41148" marB="41148" anchor="ctr">
                    <a:solidFill>
                      <a:srgbClr val="F4F7FA"/>
                    </a:solidFill>
                  </a:tcPr>
                </a:tc>
                <a:tc>
                  <a:txBody>
                    <a:bodyPr/>
                    <a:lstStyle/>
                    <a:p>
                      <a:pPr algn="l">
                        <a:lnSpc>
                          <a:spcPct val="105000"/>
                        </a:lnSpc>
                      </a:pPr>
                      <a:r>
                        <a:rPr sz="1400" b="0" dirty="0">
                          <a:solidFill>
                            <a:srgbClr val="2B3440"/>
                          </a:solidFill>
                          <a:latin typeface="Calibri"/>
                        </a:rPr>
                        <a:t>Warehouse</a:t>
                      </a:r>
                    </a:p>
                  </a:txBody>
                  <a:tcPr marL="100584" marR="73152" marT="41148" marB="41148" anchor="ctr">
                    <a:solidFill>
                      <a:srgbClr val="F4F7FA"/>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206867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CHƯƠNG 2 · 2.2 KHẢO SÁT QUY TRÌNH</a:t>
            </a:r>
          </a:p>
        </p:txBody>
      </p:sp>
      <p:sp>
        <p:nvSpPr>
          <p:cNvPr id="3" name="TextBox 2"/>
          <p:cNvSpPr txBox="1"/>
          <p:nvPr/>
        </p:nvSpPr>
        <p:spPr>
          <a:xfrm>
            <a:off x="658368" y="640080"/>
            <a:ext cx="10874959" cy="603504"/>
          </a:xfrm>
          <a:prstGeom prst="rect">
            <a:avLst/>
          </a:prstGeom>
          <a:noFill/>
        </p:spPr>
        <p:txBody>
          <a:bodyPr wrap="square" lIns="0" tIns="0" rIns="0" bIns="0" anchor="t">
            <a:spAutoFit/>
          </a:bodyPr>
          <a:lstStyle/>
          <a:p>
            <a:pPr algn="l">
              <a:lnSpc>
                <a:spcPct val="105000"/>
              </a:lnSpc>
            </a:pPr>
            <a:r>
              <a:rPr sz="2500" b="1" i="0">
                <a:solidFill>
                  <a:srgbClr val="0A2540"/>
                </a:solidFill>
                <a:latin typeface="Calibri"/>
              </a:rPr>
              <a:t>KHUNG MÔ TẢ THỐNG NHẤT CHO MỖI QUY TRÌNH</a:t>
            </a: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371600"/>
            <a:ext cx="10874959" cy="254237"/>
          </a:xfrm>
          <a:prstGeom prst="rect">
            <a:avLst/>
          </a:prstGeom>
          <a:noFill/>
        </p:spPr>
        <p:txBody>
          <a:bodyPr wrap="square" lIns="0" tIns="0" rIns="0" bIns="0" anchor="t">
            <a:spAutoFit/>
          </a:bodyPr>
          <a:lstStyle/>
          <a:p>
            <a:pPr algn="l">
              <a:lnSpc>
                <a:spcPct val="118000"/>
              </a:lnSpc>
            </a:pPr>
            <a:r>
              <a:rPr sz="1400" b="0" i="1" dirty="0" err="1">
                <a:solidFill>
                  <a:srgbClr val="6B7784"/>
                </a:solidFill>
                <a:latin typeface="Calibri"/>
              </a:rPr>
              <a:t>Mỗi</a:t>
            </a:r>
            <a:r>
              <a:rPr sz="1400" b="0" i="1" dirty="0">
                <a:solidFill>
                  <a:srgbClr val="6B7784"/>
                </a:solidFill>
                <a:latin typeface="Calibri"/>
              </a:rPr>
              <a:t> </a:t>
            </a:r>
            <a:r>
              <a:rPr sz="1400" b="0" i="1" dirty="0" err="1">
                <a:solidFill>
                  <a:srgbClr val="6B7784"/>
                </a:solidFill>
                <a:latin typeface="Calibri"/>
              </a:rPr>
              <a:t>quy</a:t>
            </a:r>
            <a:r>
              <a:rPr sz="1400" b="0" i="1" dirty="0">
                <a:solidFill>
                  <a:srgbClr val="6B7784"/>
                </a:solidFill>
                <a:latin typeface="Calibri"/>
              </a:rPr>
              <a:t> </a:t>
            </a:r>
            <a:r>
              <a:rPr sz="1400" b="0" i="1" dirty="0" err="1">
                <a:solidFill>
                  <a:srgbClr val="6B7784"/>
                </a:solidFill>
                <a:latin typeface="Calibri"/>
              </a:rPr>
              <a:t>trình</a:t>
            </a:r>
            <a:r>
              <a:rPr sz="1400" b="0" i="1" dirty="0">
                <a:solidFill>
                  <a:srgbClr val="6B7784"/>
                </a:solidFill>
                <a:latin typeface="Calibri"/>
              </a:rPr>
              <a:t> </a:t>
            </a:r>
            <a:r>
              <a:rPr sz="1400" b="0" i="1" dirty="0" err="1">
                <a:solidFill>
                  <a:srgbClr val="6B7784"/>
                </a:solidFill>
                <a:latin typeface="Calibri"/>
              </a:rPr>
              <a:t>trong</a:t>
            </a:r>
            <a:r>
              <a:rPr sz="1400" b="0" i="1" dirty="0">
                <a:solidFill>
                  <a:srgbClr val="6B7784"/>
                </a:solidFill>
                <a:latin typeface="Calibri"/>
              </a:rPr>
              <a:t> 10 </a:t>
            </a:r>
            <a:r>
              <a:rPr sz="1400" b="0" i="1" dirty="0" err="1">
                <a:solidFill>
                  <a:srgbClr val="6B7784"/>
                </a:solidFill>
                <a:latin typeface="Calibri"/>
              </a:rPr>
              <a:t>quy</a:t>
            </a:r>
            <a:r>
              <a:rPr sz="1400" b="0" i="1" dirty="0">
                <a:solidFill>
                  <a:srgbClr val="6B7784"/>
                </a:solidFill>
                <a:latin typeface="Calibri"/>
              </a:rPr>
              <a:t> </a:t>
            </a:r>
            <a:r>
              <a:rPr sz="1400" b="0" i="1" dirty="0" err="1">
                <a:solidFill>
                  <a:srgbClr val="6B7784"/>
                </a:solidFill>
                <a:latin typeface="Calibri"/>
              </a:rPr>
              <a:t>trình</a:t>
            </a:r>
            <a:r>
              <a:rPr sz="1400" b="0" i="1" dirty="0">
                <a:solidFill>
                  <a:srgbClr val="6B7784"/>
                </a:solidFill>
                <a:latin typeface="Calibri"/>
              </a:rPr>
              <a:t> </a:t>
            </a:r>
            <a:r>
              <a:rPr sz="1400" b="0" i="1" dirty="0" err="1">
                <a:solidFill>
                  <a:srgbClr val="6B7784"/>
                </a:solidFill>
                <a:latin typeface="Calibri"/>
              </a:rPr>
              <a:t>đều</a:t>
            </a:r>
            <a:r>
              <a:rPr sz="1400" b="0" i="1" dirty="0">
                <a:solidFill>
                  <a:srgbClr val="6B7784"/>
                </a:solidFill>
                <a:latin typeface="Calibri"/>
              </a:rPr>
              <a:t> </a:t>
            </a:r>
            <a:r>
              <a:rPr sz="1400" b="0" i="1" dirty="0" err="1">
                <a:solidFill>
                  <a:srgbClr val="6B7784"/>
                </a:solidFill>
                <a:latin typeface="Calibri"/>
              </a:rPr>
              <a:t>được</a:t>
            </a:r>
            <a:r>
              <a:rPr sz="1400" b="0" i="1" dirty="0">
                <a:solidFill>
                  <a:srgbClr val="6B7784"/>
                </a:solidFill>
                <a:latin typeface="Calibri"/>
              </a:rPr>
              <a:t> </a:t>
            </a:r>
            <a:r>
              <a:rPr sz="1400" b="0" i="1" dirty="0" err="1">
                <a:solidFill>
                  <a:srgbClr val="6B7784"/>
                </a:solidFill>
                <a:latin typeface="Calibri"/>
              </a:rPr>
              <a:t>mô</a:t>
            </a:r>
            <a:r>
              <a:rPr sz="1400" b="0" i="1" dirty="0">
                <a:solidFill>
                  <a:srgbClr val="6B7784"/>
                </a:solidFill>
                <a:latin typeface="Calibri"/>
              </a:rPr>
              <a:t> </a:t>
            </a:r>
            <a:r>
              <a:rPr sz="1400" b="0" i="1" dirty="0" err="1">
                <a:solidFill>
                  <a:srgbClr val="6B7784"/>
                </a:solidFill>
                <a:latin typeface="Calibri"/>
              </a:rPr>
              <a:t>tả</a:t>
            </a:r>
            <a:r>
              <a:rPr sz="1400" b="0" i="1" dirty="0">
                <a:solidFill>
                  <a:srgbClr val="6B7784"/>
                </a:solidFill>
                <a:latin typeface="Calibri"/>
              </a:rPr>
              <a:t> </a:t>
            </a:r>
            <a:r>
              <a:rPr sz="1400" b="0" i="1" dirty="0" err="1">
                <a:solidFill>
                  <a:srgbClr val="6B7784"/>
                </a:solidFill>
                <a:latin typeface="Calibri"/>
              </a:rPr>
              <a:t>theo</a:t>
            </a:r>
            <a:r>
              <a:rPr sz="1400" b="0" i="1" dirty="0">
                <a:solidFill>
                  <a:srgbClr val="6B7784"/>
                </a:solidFill>
                <a:latin typeface="Calibri"/>
              </a:rPr>
              <a:t> </a:t>
            </a:r>
            <a:r>
              <a:rPr sz="1400" b="0" i="1" dirty="0" err="1">
                <a:solidFill>
                  <a:srgbClr val="6B7784"/>
                </a:solidFill>
                <a:latin typeface="Calibri"/>
              </a:rPr>
              <a:t>cùng</a:t>
            </a:r>
            <a:r>
              <a:rPr sz="1400" b="0" i="1" dirty="0">
                <a:solidFill>
                  <a:srgbClr val="6B7784"/>
                </a:solidFill>
                <a:latin typeface="Calibri"/>
              </a:rPr>
              <a:t> </a:t>
            </a:r>
            <a:r>
              <a:rPr sz="1400" b="0" i="1" dirty="0" err="1">
                <a:solidFill>
                  <a:srgbClr val="6B7784"/>
                </a:solidFill>
                <a:latin typeface="Calibri"/>
              </a:rPr>
              <a:t>một</a:t>
            </a:r>
            <a:r>
              <a:rPr sz="1400" b="0" i="1" dirty="0">
                <a:solidFill>
                  <a:srgbClr val="6B7784"/>
                </a:solidFill>
                <a:latin typeface="Calibri"/>
              </a:rPr>
              <a:t> </a:t>
            </a:r>
            <a:r>
              <a:rPr sz="1400" b="0" i="1" dirty="0" err="1">
                <a:solidFill>
                  <a:srgbClr val="6B7784"/>
                </a:solidFill>
                <a:latin typeface="Calibri"/>
              </a:rPr>
              <a:t>cấu</a:t>
            </a:r>
            <a:r>
              <a:rPr sz="1400" b="0" i="1" dirty="0">
                <a:solidFill>
                  <a:srgbClr val="6B7784"/>
                </a:solidFill>
                <a:latin typeface="Calibri"/>
              </a:rPr>
              <a:t> </a:t>
            </a:r>
            <a:r>
              <a:rPr sz="1400" b="0" i="1" dirty="0" err="1">
                <a:solidFill>
                  <a:srgbClr val="6B7784"/>
                </a:solidFill>
                <a:latin typeface="Calibri"/>
              </a:rPr>
              <a:t>trúc</a:t>
            </a:r>
            <a:r>
              <a:rPr sz="1400" b="0" i="1" dirty="0">
                <a:solidFill>
                  <a:srgbClr val="6B7784"/>
                </a:solidFill>
                <a:latin typeface="Calibri"/>
              </a:rPr>
              <a:t> 05 </a:t>
            </a:r>
            <a:r>
              <a:rPr sz="1400" b="0" i="1" dirty="0" err="1">
                <a:solidFill>
                  <a:srgbClr val="6B7784"/>
                </a:solidFill>
                <a:latin typeface="Calibri"/>
              </a:rPr>
              <a:t>thành</a:t>
            </a:r>
            <a:r>
              <a:rPr sz="1400" b="0" i="1" dirty="0">
                <a:solidFill>
                  <a:srgbClr val="6B7784"/>
                </a:solidFill>
                <a:latin typeface="Calibri"/>
              </a:rPr>
              <a:t> </a:t>
            </a:r>
            <a:r>
              <a:rPr sz="1400" b="0" i="1" dirty="0" err="1">
                <a:solidFill>
                  <a:srgbClr val="6B7784"/>
                </a:solidFill>
                <a:latin typeface="Calibri"/>
              </a:rPr>
              <a:t>phần</a:t>
            </a:r>
            <a:endParaRPr sz="1400" b="0" i="1" dirty="0">
              <a:solidFill>
                <a:srgbClr val="6B7784"/>
              </a:solidFill>
              <a:latin typeface="Calibri"/>
            </a:endParaRPr>
          </a:p>
        </p:txBody>
      </p:sp>
      <p:sp>
        <p:nvSpPr>
          <p:cNvPr id="7" name="TextBox 6"/>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8" name="TextBox 7"/>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12</a:t>
            </a:r>
          </a:p>
        </p:txBody>
      </p:sp>
      <p:sp>
        <p:nvSpPr>
          <p:cNvPr id="9" name="Rectangle 8"/>
          <p:cNvSpPr/>
          <p:nvPr/>
        </p:nvSpPr>
        <p:spPr>
          <a:xfrm>
            <a:off x="658368" y="1865376"/>
            <a:ext cx="2014057" cy="2395728"/>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 name="Rectangle 9"/>
          <p:cNvSpPr/>
          <p:nvPr/>
        </p:nvSpPr>
        <p:spPr>
          <a:xfrm>
            <a:off x="658368" y="1865376"/>
            <a:ext cx="2014057" cy="50292"/>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 name="TextBox 10"/>
          <p:cNvSpPr txBox="1"/>
          <p:nvPr/>
        </p:nvSpPr>
        <p:spPr>
          <a:xfrm>
            <a:off x="859536" y="2048256"/>
            <a:ext cx="1611721" cy="215444"/>
          </a:xfrm>
          <a:prstGeom prst="rect">
            <a:avLst/>
          </a:prstGeom>
          <a:noFill/>
        </p:spPr>
        <p:txBody>
          <a:bodyPr wrap="square" lIns="0" tIns="0" rIns="0" bIns="0" anchor="t">
            <a:spAutoFit/>
          </a:bodyPr>
          <a:lstStyle/>
          <a:p>
            <a:pPr algn="l">
              <a:lnSpc>
                <a:spcPct val="100000"/>
              </a:lnSpc>
            </a:pPr>
            <a:r>
              <a:rPr sz="1400" b="1" i="0">
                <a:solidFill>
                  <a:srgbClr val="0096D6"/>
                </a:solidFill>
                <a:latin typeface="Calibri"/>
              </a:rPr>
              <a:t>01</a:t>
            </a:r>
          </a:p>
        </p:txBody>
      </p:sp>
      <p:sp>
        <p:nvSpPr>
          <p:cNvPr id="12" name="TextBox 11"/>
          <p:cNvSpPr txBox="1"/>
          <p:nvPr/>
        </p:nvSpPr>
        <p:spPr>
          <a:xfrm>
            <a:off x="859536" y="2414016"/>
            <a:ext cx="1648297" cy="467307"/>
          </a:xfrm>
          <a:prstGeom prst="rect">
            <a:avLst/>
          </a:prstGeom>
          <a:noFill/>
        </p:spPr>
        <p:txBody>
          <a:bodyPr wrap="square" lIns="0" tIns="0" rIns="0" bIns="0" anchor="t">
            <a:spAutoFit/>
          </a:bodyPr>
          <a:lstStyle/>
          <a:p>
            <a:pPr algn="l">
              <a:lnSpc>
                <a:spcPct val="105000"/>
              </a:lnSpc>
            </a:pPr>
            <a:r>
              <a:rPr sz="1400" b="1" i="0">
                <a:solidFill>
                  <a:srgbClr val="0A2540"/>
                </a:solidFill>
                <a:latin typeface="Calibri"/>
              </a:rPr>
              <a:t>MỤC TIÊU</a:t>
            </a:r>
          </a:p>
          <a:p>
            <a:pPr algn="l">
              <a:lnSpc>
                <a:spcPct val="100000"/>
              </a:lnSpc>
              <a:spcBef>
                <a:spcPts val="200"/>
              </a:spcBef>
            </a:pPr>
            <a:r>
              <a:rPr sz="1400" b="0" i="1">
                <a:solidFill>
                  <a:srgbClr val="6B7784"/>
                </a:solidFill>
                <a:latin typeface="Calibri"/>
              </a:rPr>
              <a:t>Objective</a:t>
            </a:r>
          </a:p>
        </p:txBody>
      </p:sp>
      <p:sp>
        <p:nvSpPr>
          <p:cNvPr id="13" name="TextBox 12"/>
          <p:cNvSpPr txBox="1"/>
          <p:nvPr/>
        </p:nvSpPr>
        <p:spPr>
          <a:xfrm>
            <a:off x="859536" y="3072384"/>
            <a:ext cx="1648297" cy="1051313"/>
          </a:xfrm>
          <a:prstGeom prst="rect">
            <a:avLst/>
          </a:prstGeom>
          <a:noFill/>
        </p:spPr>
        <p:txBody>
          <a:bodyPr wrap="square" lIns="0" tIns="0" rIns="0" bIns="0" anchor="t">
            <a:spAutoFit/>
          </a:bodyPr>
          <a:lstStyle/>
          <a:p>
            <a:pPr algn="l">
              <a:lnSpc>
                <a:spcPct val="122000"/>
              </a:lnSpc>
            </a:pPr>
            <a:r>
              <a:rPr sz="1400" b="0" i="0">
                <a:solidFill>
                  <a:srgbClr val="2B3440"/>
                </a:solidFill>
                <a:latin typeface="Calibri"/>
              </a:rPr>
              <a:t>Mục đích và vai trò của quy trình trong hoạt động của doanh nghiệp.</a:t>
            </a:r>
          </a:p>
        </p:txBody>
      </p:sp>
      <p:sp>
        <p:nvSpPr>
          <p:cNvPr id="14" name="Rectangle 13"/>
          <p:cNvSpPr/>
          <p:nvPr/>
        </p:nvSpPr>
        <p:spPr>
          <a:xfrm>
            <a:off x="2873593" y="1865376"/>
            <a:ext cx="2014057" cy="2395728"/>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5" name="Rectangle 14"/>
          <p:cNvSpPr/>
          <p:nvPr/>
        </p:nvSpPr>
        <p:spPr>
          <a:xfrm>
            <a:off x="2873593" y="1865376"/>
            <a:ext cx="2014057" cy="50292"/>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6" name="TextBox 15"/>
          <p:cNvSpPr txBox="1"/>
          <p:nvPr/>
        </p:nvSpPr>
        <p:spPr>
          <a:xfrm>
            <a:off x="3074761" y="2048256"/>
            <a:ext cx="1611721" cy="215444"/>
          </a:xfrm>
          <a:prstGeom prst="rect">
            <a:avLst/>
          </a:prstGeom>
          <a:noFill/>
        </p:spPr>
        <p:txBody>
          <a:bodyPr wrap="square" lIns="0" tIns="0" rIns="0" bIns="0" anchor="t">
            <a:spAutoFit/>
          </a:bodyPr>
          <a:lstStyle/>
          <a:p>
            <a:pPr algn="l">
              <a:lnSpc>
                <a:spcPct val="100000"/>
              </a:lnSpc>
            </a:pPr>
            <a:r>
              <a:rPr sz="1400" b="1" i="0">
                <a:solidFill>
                  <a:srgbClr val="0096D6"/>
                </a:solidFill>
                <a:latin typeface="Calibri"/>
              </a:rPr>
              <a:t>02</a:t>
            </a:r>
          </a:p>
        </p:txBody>
      </p:sp>
      <p:sp>
        <p:nvSpPr>
          <p:cNvPr id="17" name="TextBox 16"/>
          <p:cNvSpPr txBox="1"/>
          <p:nvPr/>
        </p:nvSpPr>
        <p:spPr>
          <a:xfrm>
            <a:off x="3074761" y="2414016"/>
            <a:ext cx="1648297" cy="467307"/>
          </a:xfrm>
          <a:prstGeom prst="rect">
            <a:avLst/>
          </a:prstGeom>
          <a:noFill/>
        </p:spPr>
        <p:txBody>
          <a:bodyPr wrap="square" lIns="0" tIns="0" rIns="0" bIns="0" anchor="t">
            <a:spAutoFit/>
          </a:bodyPr>
          <a:lstStyle/>
          <a:p>
            <a:pPr algn="l">
              <a:lnSpc>
                <a:spcPct val="105000"/>
              </a:lnSpc>
            </a:pPr>
            <a:r>
              <a:rPr sz="1400" b="1" i="0">
                <a:solidFill>
                  <a:srgbClr val="0A2540"/>
                </a:solidFill>
                <a:latin typeface="Calibri"/>
              </a:rPr>
              <a:t>TÁC NHÂN</a:t>
            </a:r>
          </a:p>
          <a:p>
            <a:pPr algn="l">
              <a:lnSpc>
                <a:spcPct val="100000"/>
              </a:lnSpc>
              <a:spcBef>
                <a:spcPts val="200"/>
              </a:spcBef>
            </a:pPr>
            <a:r>
              <a:rPr sz="1400" b="0" i="1">
                <a:solidFill>
                  <a:srgbClr val="6B7784"/>
                </a:solidFill>
                <a:latin typeface="Calibri"/>
              </a:rPr>
              <a:t>Actors</a:t>
            </a:r>
          </a:p>
        </p:txBody>
      </p:sp>
      <p:sp>
        <p:nvSpPr>
          <p:cNvPr id="18" name="TextBox 17"/>
          <p:cNvSpPr txBox="1"/>
          <p:nvPr/>
        </p:nvSpPr>
        <p:spPr>
          <a:xfrm>
            <a:off x="3074761" y="3072384"/>
            <a:ext cx="1648297" cy="788486"/>
          </a:xfrm>
          <a:prstGeom prst="rect">
            <a:avLst/>
          </a:prstGeom>
          <a:noFill/>
        </p:spPr>
        <p:txBody>
          <a:bodyPr wrap="square" lIns="0" tIns="0" rIns="0" bIns="0" anchor="t">
            <a:spAutoFit/>
          </a:bodyPr>
          <a:lstStyle/>
          <a:p>
            <a:pPr algn="l">
              <a:lnSpc>
                <a:spcPct val="122000"/>
              </a:lnSpc>
            </a:pPr>
            <a:r>
              <a:rPr sz="1400" b="0" i="0">
                <a:solidFill>
                  <a:srgbClr val="2B3440"/>
                </a:solidFill>
                <a:latin typeface="Calibri"/>
              </a:rPr>
              <a:t>Cá nhân hoặc bộ phận trực tiếp tham gia thực hiện quy trình.</a:t>
            </a:r>
          </a:p>
        </p:txBody>
      </p:sp>
      <p:sp>
        <p:nvSpPr>
          <p:cNvPr id="19" name="Rectangle 18"/>
          <p:cNvSpPr/>
          <p:nvPr/>
        </p:nvSpPr>
        <p:spPr>
          <a:xfrm>
            <a:off x="5088818" y="1865376"/>
            <a:ext cx="2014057" cy="2395728"/>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0" name="Rectangle 19"/>
          <p:cNvSpPr/>
          <p:nvPr/>
        </p:nvSpPr>
        <p:spPr>
          <a:xfrm>
            <a:off x="5088818" y="1865376"/>
            <a:ext cx="2014057" cy="50292"/>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1" name="TextBox 20"/>
          <p:cNvSpPr txBox="1"/>
          <p:nvPr/>
        </p:nvSpPr>
        <p:spPr>
          <a:xfrm>
            <a:off x="5289986" y="2048256"/>
            <a:ext cx="1611721" cy="215444"/>
          </a:xfrm>
          <a:prstGeom prst="rect">
            <a:avLst/>
          </a:prstGeom>
          <a:noFill/>
        </p:spPr>
        <p:txBody>
          <a:bodyPr wrap="square" lIns="0" tIns="0" rIns="0" bIns="0" anchor="t">
            <a:spAutoFit/>
          </a:bodyPr>
          <a:lstStyle/>
          <a:p>
            <a:pPr algn="l">
              <a:lnSpc>
                <a:spcPct val="100000"/>
              </a:lnSpc>
            </a:pPr>
            <a:r>
              <a:rPr sz="1400" b="1" i="0">
                <a:solidFill>
                  <a:srgbClr val="0096D6"/>
                </a:solidFill>
                <a:latin typeface="Calibri"/>
              </a:rPr>
              <a:t>03</a:t>
            </a:r>
          </a:p>
        </p:txBody>
      </p:sp>
      <p:sp>
        <p:nvSpPr>
          <p:cNvPr id="22" name="TextBox 21"/>
          <p:cNvSpPr txBox="1"/>
          <p:nvPr/>
        </p:nvSpPr>
        <p:spPr>
          <a:xfrm>
            <a:off x="5289986" y="2414016"/>
            <a:ext cx="1648297" cy="467307"/>
          </a:xfrm>
          <a:prstGeom prst="rect">
            <a:avLst/>
          </a:prstGeom>
          <a:noFill/>
        </p:spPr>
        <p:txBody>
          <a:bodyPr wrap="square" lIns="0" tIns="0" rIns="0" bIns="0" anchor="t">
            <a:spAutoFit/>
          </a:bodyPr>
          <a:lstStyle/>
          <a:p>
            <a:pPr algn="l">
              <a:lnSpc>
                <a:spcPct val="105000"/>
              </a:lnSpc>
            </a:pPr>
            <a:r>
              <a:rPr sz="1400" b="1" i="0">
                <a:solidFill>
                  <a:srgbClr val="0A2540"/>
                </a:solidFill>
                <a:latin typeface="Calibri"/>
              </a:rPr>
              <a:t>KHÁCH HÀNG</a:t>
            </a:r>
          </a:p>
          <a:p>
            <a:pPr algn="l">
              <a:lnSpc>
                <a:spcPct val="100000"/>
              </a:lnSpc>
              <a:spcBef>
                <a:spcPts val="200"/>
              </a:spcBef>
            </a:pPr>
            <a:r>
              <a:rPr sz="1400" b="0" i="1">
                <a:solidFill>
                  <a:srgbClr val="6B7784"/>
                </a:solidFill>
                <a:latin typeface="Calibri"/>
              </a:rPr>
              <a:t>Customers</a:t>
            </a:r>
          </a:p>
        </p:txBody>
      </p:sp>
      <p:sp>
        <p:nvSpPr>
          <p:cNvPr id="23" name="TextBox 22"/>
          <p:cNvSpPr txBox="1"/>
          <p:nvPr/>
        </p:nvSpPr>
        <p:spPr>
          <a:xfrm>
            <a:off x="5289986" y="3072384"/>
            <a:ext cx="1648297" cy="788486"/>
          </a:xfrm>
          <a:prstGeom prst="rect">
            <a:avLst/>
          </a:prstGeom>
          <a:noFill/>
        </p:spPr>
        <p:txBody>
          <a:bodyPr wrap="square" lIns="0" tIns="0" rIns="0" bIns="0" anchor="t">
            <a:spAutoFit/>
          </a:bodyPr>
          <a:lstStyle/>
          <a:p>
            <a:pPr algn="l">
              <a:lnSpc>
                <a:spcPct val="122000"/>
              </a:lnSpc>
            </a:pPr>
            <a:r>
              <a:rPr sz="1400" b="0" i="0">
                <a:solidFill>
                  <a:srgbClr val="2B3440"/>
                </a:solidFill>
                <a:latin typeface="Calibri"/>
              </a:rPr>
              <a:t>Đối tượng nhận kết quả đầu ra — bên ngoài hoặc nội bộ.</a:t>
            </a:r>
          </a:p>
        </p:txBody>
      </p:sp>
      <p:sp>
        <p:nvSpPr>
          <p:cNvPr id="24" name="Rectangle 23"/>
          <p:cNvSpPr/>
          <p:nvPr/>
        </p:nvSpPr>
        <p:spPr>
          <a:xfrm>
            <a:off x="7304044" y="1865376"/>
            <a:ext cx="2014057" cy="2395728"/>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5" name="Rectangle 24"/>
          <p:cNvSpPr/>
          <p:nvPr/>
        </p:nvSpPr>
        <p:spPr>
          <a:xfrm>
            <a:off x="7304044" y="1865376"/>
            <a:ext cx="2014057" cy="50292"/>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6" name="TextBox 25"/>
          <p:cNvSpPr txBox="1"/>
          <p:nvPr/>
        </p:nvSpPr>
        <p:spPr>
          <a:xfrm>
            <a:off x="7505212" y="2048256"/>
            <a:ext cx="1611721" cy="215444"/>
          </a:xfrm>
          <a:prstGeom prst="rect">
            <a:avLst/>
          </a:prstGeom>
          <a:noFill/>
        </p:spPr>
        <p:txBody>
          <a:bodyPr wrap="square" lIns="0" tIns="0" rIns="0" bIns="0" anchor="t">
            <a:spAutoFit/>
          </a:bodyPr>
          <a:lstStyle/>
          <a:p>
            <a:pPr algn="l">
              <a:lnSpc>
                <a:spcPct val="100000"/>
              </a:lnSpc>
            </a:pPr>
            <a:r>
              <a:rPr sz="1400" b="1" i="0">
                <a:solidFill>
                  <a:srgbClr val="0096D6"/>
                </a:solidFill>
                <a:latin typeface="Calibri"/>
              </a:rPr>
              <a:t>04</a:t>
            </a:r>
          </a:p>
        </p:txBody>
      </p:sp>
      <p:sp>
        <p:nvSpPr>
          <p:cNvPr id="27" name="TextBox 26"/>
          <p:cNvSpPr txBox="1"/>
          <p:nvPr/>
        </p:nvSpPr>
        <p:spPr>
          <a:xfrm>
            <a:off x="7505212" y="2414016"/>
            <a:ext cx="1648297" cy="467307"/>
          </a:xfrm>
          <a:prstGeom prst="rect">
            <a:avLst/>
          </a:prstGeom>
          <a:noFill/>
        </p:spPr>
        <p:txBody>
          <a:bodyPr wrap="square" lIns="0" tIns="0" rIns="0" bIns="0" anchor="t">
            <a:spAutoFit/>
          </a:bodyPr>
          <a:lstStyle/>
          <a:p>
            <a:pPr algn="l">
              <a:lnSpc>
                <a:spcPct val="105000"/>
              </a:lnSpc>
            </a:pPr>
            <a:r>
              <a:rPr sz="1400" b="1" i="0">
                <a:solidFill>
                  <a:srgbClr val="0A2540"/>
                </a:solidFill>
                <a:latin typeface="Calibri"/>
              </a:rPr>
              <a:t>CÁC BƯỚC</a:t>
            </a:r>
          </a:p>
          <a:p>
            <a:pPr algn="l">
              <a:lnSpc>
                <a:spcPct val="100000"/>
              </a:lnSpc>
              <a:spcBef>
                <a:spcPts val="200"/>
              </a:spcBef>
            </a:pPr>
            <a:r>
              <a:rPr sz="1400" b="0" i="1">
                <a:solidFill>
                  <a:srgbClr val="6B7784"/>
                </a:solidFill>
                <a:latin typeface="Calibri"/>
              </a:rPr>
              <a:t>Process Steps</a:t>
            </a:r>
          </a:p>
        </p:txBody>
      </p:sp>
      <p:sp>
        <p:nvSpPr>
          <p:cNvPr id="28" name="TextBox 27"/>
          <p:cNvSpPr txBox="1"/>
          <p:nvPr/>
        </p:nvSpPr>
        <p:spPr>
          <a:xfrm>
            <a:off x="7505212" y="3072384"/>
            <a:ext cx="1648297" cy="788486"/>
          </a:xfrm>
          <a:prstGeom prst="rect">
            <a:avLst/>
          </a:prstGeom>
          <a:noFill/>
        </p:spPr>
        <p:txBody>
          <a:bodyPr wrap="square" lIns="0" tIns="0" rIns="0" bIns="0" anchor="t">
            <a:spAutoFit/>
          </a:bodyPr>
          <a:lstStyle/>
          <a:p>
            <a:pPr algn="l">
              <a:lnSpc>
                <a:spcPct val="122000"/>
              </a:lnSpc>
            </a:pPr>
            <a:r>
              <a:rPr sz="1400" b="0" i="0">
                <a:solidFill>
                  <a:srgbClr val="2B3440"/>
                </a:solidFill>
                <a:latin typeface="Calibri"/>
              </a:rPr>
              <a:t>Trình tự các bước chính, mô tả bằng ngôn ngữ tự nhiên.</a:t>
            </a:r>
          </a:p>
        </p:txBody>
      </p:sp>
      <p:sp>
        <p:nvSpPr>
          <p:cNvPr id="29" name="Rectangle 28"/>
          <p:cNvSpPr/>
          <p:nvPr/>
        </p:nvSpPr>
        <p:spPr>
          <a:xfrm>
            <a:off x="9519269" y="1865376"/>
            <a:ext cx="2014057" cy="2395728"/>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0" name="Rectangle 29"/>
          <p:cNvSpPr/>
          <p:nvPr/>
        </p:nvSpPr>
        <p:spPr>
          <a:xfrm>
            <a:off x="9519269" y="1865376"/>
            <a:ext cx="2014057" cy="50292"/>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1" name="TextBox 30"/>
          <p:cNvSpPr txBox="1"/>
          <p:nvPr/>
        </p:nvSpPr>
        <p:spPr>
          <a:xfrm>
            <a:off x="9720437" y="2048256"/>
            <a:ext cx="1611721" cy="215444"/>
          </a:xfrm>
          <a:prstGeom prst="rect">
            <a:avLst/>
          </a:prstGeom>
          <a:noFill/>
        </p:spPr>
        <p:txBody>
          <a:bodyPr wrap="square" lIns="0" tIns="0" rIns="0" bIns="0" anchor="t">
            <a:spAutoFit/>
          </a:bodyPr>
          <a:lstStyle/>
          <a:p>
            <a:pPr algn="l">
              <a:lnSpc>
                <a:spcPct val="100000"/>
              </a:lnSpc>
            </a:pPr>
            <a:r>
              <a:rPr sz="1400" b="1" i="0">
                <a:solidFill>
                  <a:srgbClr val="0096D6"/>
                </a:solidFill>
                <a:latin typeface="Calibri"/>
              </a:rPr>
              <a:t>05</a:t>
            </a:r>
          </a:p>
        </p:txBody>
      </p:sp>
      <p:sp>
        <p:nvSpPr>
          <p:cNvPr id="32" name="TextBox 31"/>
          <p:cNvSpPr txBox="1"/>
          <p:nvPr/>
        </p:nvSpPr>
        <p:spPr>
          <a:xfrm>
            <a:off x="9720437" y="2414016"/>
            <a:ext cx="1648297" cy="467307"/>
          </a:xfrm>
          <a:prstGeom prst="rect">
            <a:avLst/>
          </a:prstGeom>
          <a:noFill/>
        </p:spPr>
        <p:txBody>
          <a:bodyPr wrap="square" lIns="0" tIns="0" rIns="0" bIns="0" anchor="t">
            <a:spAutoFit/>
          </a:bodyPr>
          <a:lstStyle/>
          <a:p>
            <a:pPr algn="l">
              <a:lnSpc>
                <a:spcPct val="105000"/>
              </a:lnSpc>
            </a:pPr>
            <a:r>
              <a:rPr sz="1400" b="1" i="0">
                <a:solidFill>
                  <a:srgbClr val="0A2540"/>
                </a:solidFill>
                <a:latin typeface="Calibri"/>
              </a:rPr>
              <a:t>KẾT QUẢ</a:t>
            </a:r>
          </a:p>
          <a:p>
            <a:pPr algn="l">
              <a:lnSpc>
                <a:spcPct val="100000"/>
              </a:lnSpc>
              <a:spcBef>
                <a:spcPts val="200"/>
              </a:spcBef>
            </a:pPr>
            <a:r>
              <a:rPr sz="1400" b="0" i="1">
                <a:solidFill>
                  <a:srgbClr val="6B7784"/>
                </a:solidFill>
                <a:latin typeface="Calibri"/>
              </a:rPr>
              <a:t>Outcomes</a:t>
            </a:r>
          </a:p>
        </p:txBody>
      </p:sp>
      <p:sp>
        <p:nvSpPr>
          <p:cNvPr id="33" name="TextBox 32"/>
          <p:cNvSpPr txBox="1"/>
          <p:nvPr/>
        </p:nvSpPr>
        <p:spPr>
          <a:xfrm>
            <a:off x="9720437" y="3072384"/>
            <a:ext cx="1648297" cy="788486"/>
          </a:xfrm>
          <a:prstGeom prst="rect">
            <a:avLst/>
          </a:prstGeom>
          <a:noFill/>
        </p:spPr>
        <p:txBody>
          <a:bodyPr wrap="square" lIns="0" tIns="0" rIns="0" bIns="0" anchor="t">
            <a:spAutoFit/>
          </a:bodyPr>
          <a:lstStyle/>
          <a:p>
            <a:pPr algn="l">
              <a:lnSpc>
                <a:spcPct val="122000"/>
              </a:lnSpc>
            </a:pPr>
            <a:r>
              <a:rPr sz="1400" b="0" i="0">
                <a:solidFill>
                  <a:srgbClr val="2B3440"/>
                </a:solidFill>
                <a:latin typeface="Calibri"/>
              </a:rPr>
              <a:t>Kết quả đạt được sau khi quy trình hoàn thành.</a:t>
            </a:r>
          </a:p>
        </p:txBody>
      </p:sp>
      <p:sp>
        <p:nvSpPr>
          <p:cNvPr id="34" name="Rectangle 33"/>
          <p:cNvSpPr/>
          <p:nvPr/>
        </p:nvSpPr>
        <p:spPr>
          <a:xfrm>
            <a:off x="658368" y="4535424"/>
            <a:ext cx="10874959" cy="1207008"/>
          </a:xfrm>
          <a:prstGeom prst="rect">
            <a:avLst/>
          </a:prstGeom>
          <a:solidFill>
            <a:srgbClr val="E9F3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5" name="Rectangle 34"/>
          <p:cNvSpPr/>
          <p:nvPr/>
        </p:nvSpPr>
        <p:spPr>
          <a:xfrm>
            <a:off x="658368" y="4535424"/>
            <a:ext cx="50292" cy="1207008"/>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6" name="TextBox 35"/>
          <p:cNvSpPr txBox="1"/>
          <p:nvPr/>
        </p:nvSpPr>
        <p:spPr>
          <a:xfrm>
            <a:off x="950976" y="4710541"/>
            <a:ext cx="10280599" cy="856773"/>
          </a:xfrm>
          <a:prstGeom prst="rect">
            <a:avLst/>
          </a:prstGeom>
          <a:noFill/>
        </p:spPr>
        <p:txBody>
          <a:bodyPr wrap="square" lIns="0" tIns="0" rIns="0" bIns="0" anchor="ctr">
            <a:spAutoFit/>
          </a:bodyPr>
          <a:lstStyle/>
          <a:p>
            <a:pPr algn="l">
              <a:lnSpc>
                <a:spcPct val="100000"/>
              </a:lnSpc>
            </a:pPr>
            <a:r>
              <a:rPr sz="1400" b="1" i="0">
                <a:solidFill>
                  <a:srgbClr val="0A2540"/>
                </a:solidFill>
                <a:latin typeface="Calibri"/>
              </a:rPr>
              <a:t>VÌ SAO CẦN KHUNG THỐNG NHẤT?</a:t>
            </a:r>
          </a:p>
          <a:p>
            <a:pPr algn="l">
              <a:lnSpc>
                <a:spcPct val="128000"/>
              </a:lnSpc>
              <a:spcBef>
                <a:spcPts val="700"/>
              </a:spcBef>
            </a:pPr>
            <a:r>
              <a:rPr sz="1400" b="0" i="0">
                <a:solidFill>
                  <a:srgbClr val="2B3440"/>
                </a:solidFill>
                <a:latin typeface="Calibri"/>
              </a:rPr>
              <a:t>Cấu trúc chung giúp so sánh khách quan giữa các quy trình khác nhau, làm rõ chức năng của từng quy trình, đồng thời tạo cơ sở để xây dựng kiến trúc quy trình và sàng lọc quy trình phù hợp cho mô hình hóa ở Chương 3.</a:t>
            </a:r>
          </a:p>
        </p:txBody>
      </p:sp>
    </p:spTree>
    <p:extLst>
      <p:ext uri="{BB962C8B-B14F-4D97-AF65-F5344CB8AC3E}">
        <p14:creationId xmlns:p14="http://schemas.microsoft.com/office/powerpoint/2010/main" val="29456287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Rectangle 1"/>
          <p:cNvSpPr/>
          <p:nvPr/>
        </p:nvSpPr>
        <p:spPr>
          <a:xfrm>
            <a:off x="0" y="0"/>
            <a:ext cx="182880" cy="6858000"/>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863840" y="0"/>
            <a:ext cx="4325112" cy="6858000"/>
          </a:xfrm>
          <a:prstGeom prst="rect">
            <a:avLst/>
          </a:prstGeom>
          <a:solidFill>
            <a:srgbClr val="1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0" y="1874519"/>
            <a:ext cx="3657600" cy="2926080"/>
          </a:xfrm>
          <a:prstGeom prst="rect">
            <a:avLst/>
          </a:prstGeom>
          <a:noFill/>
        </p:spPr>
        <p:txBody>
          <a:bodyPr wrap="square" lIns="0" tIns="0" rIns="0" bIns="0" anchor="t">
            <a:spAutoFit/>
          </a:bodyPr>
          <a:lstStyle/>
          <a:p>
            <a:pPr algn="ctr">
              <a:lnSpc>
                <a:spcPct val="90000"/>
              </a:lnSpc>
            </a:pPr>
            <a:r>
              <a:rPr sz="15000" b="1" i="0">
                <a:solidFill>
                  <a:srgbClr val="1E4E77"/>
                </a:solidFill>
                <a:latin typeface="Calibri"/>
              </a:rPr>
              <a:t>03</a:t>
            </a:r>
          </a:p>
        </p:txBody>
      </p:sp>
      <p:sp>
        <p:nvSpPr>
          <p:cNvPr id="5" name="TextBox 4"/>
          <p:cNvSpPr txBox="1"/>
          <p:nvPr/>
        </p:nvSpPr>
        <p:spPr>
          <a:xfrm>
            <a:off x="1051560" y="2331720"/>
            <a:ext cx="6583680" cy="215444"/>
          </a:xfrm>
          <a:prstGeom prst="rect">
            <a:avLst/>
          </a:prstGeom>
          <a:noFill/>
        </p:spPr>
        <p:txBody>
          <a:bodyPr wrap="square" lIns="0" tIns="0" rIns="0" bIns="0" anchor="t">
            <a:spAutoFit/>
          </a:bodyPr>
          <a:lstStyle/>
          <a:p>
            <a:pPr algn="l">
              <a:lnSpc>
                <a:spcPct val="100000"/>
              </a:lnSpc>
            </a:pPr>
            <a:r>
              <a:rPr sz="1400" b="1" i="0" dirty="0">
                <a:solidFill>
                  <a:srgbClr val="00C2A8"/>
                </a:solidFill>
                <a:latin typeface="Calibri"/>
              </a:rPr>
              <a:t>PHẦN 3 · MODELLING &amp; SELECTION</a:t>
            </a:r>
          </a:p>
        </p:txBody>
      </p:sp>
      <p:sp>
        <p:nvSpPr>
          <p:cNvPr id="6" name="TextBox 5"/>
          <p:cNvSpPr txBox="1"/>
          <p:nvPr/>
        </p:nvSpPr>
        <p:spPr>
          <a:xfrm>
            <a:off x="1051560" y="2724912"/>
            <a:ext cx="6583680" cy="1005840"/>
          </a:xfrm>
          <a:prstGeom prst="rect">
            <a:avLst/>
          </a:prstGeom>
          <a:noFill/>
        </p:spPr>
        <p:txBody>
          <a:bodyPr wrap="square" lIns="0" tIns="0" rIns="0" bIns="0" anchor="t">
            <a:spAutoFit/>
          </a:bodyPr>
          <a:lstStyle/>
          <a:p>
            <a:pPr algn="l">
              <a:lnSpc>
                <a:spcPct val="106000"/>
              </a:lnSpc>
            </a:pPr>
            <a:r>
              <a:rPr sz="3200" b="1" i="0">
                <a:solidFill>
                  <a:srgbClr val="FFFFFF"/>
                </a:solidFill>
                <a:latin typeface="Calibri"/>
              </a:rPr>
              <a:t>Mô hình hóa và lựa chọn quy trình</a:t>
            </a:r>
          </a:p>
        </p:txBody>
      </p:sp>
      <p:sp>
        <p:nvSpPr>
          <p:cNvPr id="7" name="Rectangle 6"/>
          <p:cNvSpPr/>
          <p:nvPr/>
        </p:nvSpPr>
        <p:spPr>
          <a:xfrm>
            <a:off x="1051560" y="3858768"/>
            <a:ext cx="1005840" cy="45720"/>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4096512"/>
            <a:ext cx="6492240" cy="560153"/>
          </a:xfrm>
          <a:prstGeom prst="rect">
            <a:avLst/>
          </a:prstGeom>
          <a:noFill/>
        </p:spPr>
        <p:txBody>
          <a:bodyPr wrap="square" lIns="0" tIns="0" rIns="0" bIns="0" anchor="t">
            <a:spAutoFit/>
          </a:bodyPr>
          <a:lstStyle/>
          <a:p>
            <a:pPr algn="l">
              <a:lnSpc>
                <a:spcPct val="130000"/>
              </a:lnSpc>
            </a:pPr>
            <a:r>
              <a:rPr sz="1400" b="0" i="0" dirty="0" err="1">
                <a:solidFill>
                  <a:srgbClr val="B6C9D8"/>
                </a:solidFill>
                <a:latin typeface="Calibri"/>
              </a:rPr>
              <a:t>Phạm</a:t>
            </a:r>
            <a:r>
              <a:rPr sz="1400" b="0" i="0" dirty="0">
                <a:solidFill>
                  <a:srgbClr val="B6C9D8"/>
                </a:solidFill>
                <a:latin typeface="Calibri"/>
              </a:rPr>
              <a:t> vi </a:t>
            </a:r>
            <a:r>
              <a:rPr sz="1400" b="0" i="0" dirty="0" err="1">
                <a:solidFill>
                  <a:srgbClr val="B6C9D8"/>
                </a:solidFill>
                <a:latin typeface="Calibri"/>
              </a:rPr>
              <a:t>mô</a:t>
            </a:r>
            <a:r>
              <a:rPr sz="1400" b="0" i="0" dirty="0">
                <a:solidFill>
                  <a:srgbClr val="B6C9D8"/>
                </a:solidFill>
                <a:latin typeface="Calibri"/>
              </a:rPr>
              <a:t> </a:t>
            </a:r>
            <a:r>
              <a:rPr sz="1400" b="0" i="0" dirty="0" err="1">
                <a:solidFill>
                  <a:srgbClr val="B6C9D8"/>
                </a:solidFill>
                <a:latin typeface="Calibri"/>
              </a:rPr>
              <a:t>hình</a:t>
            </a:r>
            <a:r>
              <a:rPr sz="1400" b="0" i="0" dirty="0">
                <a:solidFill>
                  <a:srgbClr val="B6C9D8"/>
                </a:solidFill>
                <a:latin typeface="Calibri"/>
              </a:rPr>
              <a:t> </a:t>
            </a:r>
            <a:r>
              <a:rPr sz="1400" b="0" i="0" dirty="0" err="1">
                <a:solidFill>
                  <a:srgbClr val="B6C9D8"/>
                </a:solidFill>
                <a:latin typeface="Calibri"/>
              </a:rPr>
              <a:t>hóa</a:t>
            </a:r>
            <a:r>
              <a:rPr sz="1400" b="0" i="0" dirty="0">
                <a:solidFill>
                  <a:srgbClr val="B6C9D8"/>
                </a:solidFill>
                <a:latin typeface="Calibri"/>
              </a:rPr>
              <a:t>  ·  06 </a:t>
            </a:r>
            <a:r>
              <a:rPr sz="1400" b="0" i="0" dirty="0" err="1">
                <a:solidFill>
                  <a:srgbClr val="B6C9D8"/>
                </a:solidFill>
                <a:latin typeface="Calibri"/>
              </a:rPr>
              <a:t>mô</a:t>
            </a:r>
            <a:r>
              <a:rPr sz="1400" b="0" i="0" dirty="0">
                <a:solidFill>
                  <a:srgbClr val="B6C9D8"/>
                </a:solidFill>
                <a:latin typeface="Calibri"/>
              </a:rPr>
              <a:t> </a:t>
            </a:r>
            <a:r>
              <a:rPr sz="1400" b="0" i="0" dirty="0" err="1">
                <a:solidFill>
                  <a:srgbClr val="B6C9D8"/>
                </a:solidFill>
                <a:latin typeface="Calibri"/>
              </a:rPr>
              <a:t>hình</a:t>
            </a:r>
            <a:r>
              <a:rPr sz="1400" b="0" i="0" dirty="0">
                <a:solidFill>
                  <a:srgbClr val="B6C9D8"/>
                </a:solidFill>
                <a:latin typeface="Calibri"/>
              </a:rPr>
              <a:t> BPMN As-Is  ·  Process Discovery  ·  </a:t>
            </a:r>
            <a:r>
              <a:rPr sz="1400" b="0" i="0" dirty="0" err="1">
                <a:solidFill>
                  <a:srgbClr val="B6C9D8"/>
                </a:solidFill>
                <a:latin typeface="Calibri"/>
              </a:rPr>
              <a:t>Sàng</a:t>
            </a:r>
            <a:r>
              <a:rPr sz="1400" b="0" i="0" dirty="0">
                <a:solidFill>
                  <a:srgbClr val="B6C9D8"/>
                </a:solidFill>
                <a:latin typeface="Calibri"/>
              </a:rPr>
              <a:t> </a:t>
            </a:r>
            <a:r>
              <a:rPr sz="1400" b="0" i="0" dirty="0" err="1">
                <a:solidFill>
                  <a:srgbClr val="B6C9D8"/>
                </a:solidFill>
                <a:latin typeface="Calibri"/>
              </a:rPr>
              <a:t>lọc</a:t>
            </a:r>
            <a:r>
              <a:rPr sz="1400" b="0" i="0" dirty="0">
                <a:solidFill>
                  <a:srgbClr val="B6C9D8"/>
                </a:solidFill>
                <a:latin typeface="Calibri"/>
              </a:rPr>
              <a:t> </a:t>
            </a:r>
            <a:r>
              <a:rPr sz="1400" b="0" i="0" dirty="0" err="1">
                <a:solidFill>
                  <a:srgbClr val="B6C9D8"/>
                </a:solidFill>
                <a:latin typeface="Calibri"/>
              </a:rPr>
              <a:t>theo</a:t>
            </a:r>
            <a:r>
              <a:rPr sz="1400" b="0" i="0" dirty="0">
                <a:solidFill>
                  <a:srgbClr val="B6C9D8"/>
                </a:solidFill>
                <a:latin typeface="Calibri"/>
              </a:rPr>
              <a:t> 05 </a:t>
            </a:r>
            <a:r>
              <a:rPr sz="1400" b="0" i="0" dirty="0" err="1">
                <a:solidFill>
                  <a:srgbClr val="B6C9D8"/>
                </a:solidFill>
                <a:latin typeface="Calibri"/>
              </a:rPr>
              <a:t>tiêu</a:t>
            </a:r>
            <a:r>
              <a:rPr sz="1400" b="0" i="0" dirty="0">
                <a:solidFill>
                  <a:srgbClr val="B6C9D8"/>
                </a:solidFill>
                <a:latin typeface="Calibri"/>
              </a:rPr>
              <a:t> </a:t>
            </a:r>
            <a:r>
              <a:rPr sz="1400" b="0" i="0" dirty="0" err="1">
                <a:solidFill>
                  <a:srgbClr val="B6C9D8"/>
                </a:solidFill>
                <a:latin typeface="Calibri"/>
              </a:rPr>
              <a:t>chí</a:t>
            </a:r>
            <a:endParaRPr sz="1400" b="0" i="0" dirty="0">
              <a:solidFill>
                <a:srgbClr val="B6C9D8"/>
              </a:solidFill>
              <a:latin typeface="Calibri"/>
            </a:endParaRPr>
          </a:p>
        </p:txBody>
      </p:sp>
      <p:sp>
        <p:nvSpPr>
          <p:cNvPr id="9" name="TextBox 8"/>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8FA6BC"/>
                </a:solidFill>
                <a:latin typeface="Calibri"/>
              </a:rPr>
              <a:t>SOLVENTUM VIỆT NAM  ·  HỆ THỐNG QUẢN TRỊ QUY TRÌNH NGHIỆP VỤ</a:t>
            </a:r>
          </a:p>
        </p:txBody>
      </p:sp>
      <p:sp>
        <p:nvSpPr>
          <p:cNvPr id="10" name="TextBox 9"/>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C2A8"/>
                </a:solidFill>
                <a:latin typeface="Calibri"/>
              </a:rPr>
              <a:t>13</a:t>
            </a:r>
          </a:p>
        </p:txBody>
      </p:sp>
    </p:spTree>
    <p:extLst>
      <p:ext uri="{BB962C8B-B14F-4D97-AF65-F5344CB8AC3E}">
        <p14:creationId xmlns:p14="http://schemas.microsoft.com/office/powerpoint/2010/main" val="28450484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CHƯƠNG 3 · 3.1 PHẠM VI VÀ ĐỊNH HƯỚNG</a:t>
            </a:r>
          </a:p>
        </p:txBody>
      </p:sp>
      <p:sp>
        <p:nvSpPr>
          <p:cNvPr id="3" name="TextBox 2"/>
          <p:cNvSpPr txBox="1"/>
          <p:nvPr/>
        </p:nvSpPr>
        <p:spPr>
          <a:xfrm>
            <a:off x="658368" y="640080"/>
            <a:ext cx="10874959" cy="603504"/>
          </a:xfrm>
          <a:prstGeom prst="rect">
            <a:avLst/>
          </a:prstGeom>
          <a:noFill/>
        </p:spPr>
        <p:txBody>
          <a:bodyPr wrap="square" lIns="0" tIns="0" rIns="0" bIns="0" anchor="t">
            <a:spAutoFit/>
          </a:bodyPr>
          <a:lstStyle/>
          <a:p>
            <a:pPr algn="l">
              <a:lnSpc>
                <a:spcPct val="105000"/>
              </a:lnSpc>
            </a:pPr>
            <a:r>
              <a:rPr sz="2500" b="1" i="0">
                <a:solidFill>
                  <a:srgbClr val="0A2540"/>
                </a:solidFill>
                <a:latin typeface="Calibri"/>
              </a:rPr>
              <a:t>QUY TRÌNH THỰC HIỆN CHƯƠNG 3</a:t>
            </a: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371600"/>
            <a:ext cx="10874959" cy="254237"/>
          </a:xfrm>
          <a:prstGeom prst="rect">
            <a:avLst/>
          </a:prstGeom>
          <a:noFill/>
        </p:spPr>
        <p:txBody>
          <a:bodyPr wrap="square" lIns="0" tIns="0" rIns="0" bIns="0" anchor="t">
            <a:spAutoFit/>
          </a:bodyPr>
          <a:lstStyle/>
          <a:p>
            <a:pPr algn="l">
              <a:lnSpc>
                <a:spcPct val="118000"/>
              </a:lnSpc>
            </a:pPr>
            <a:r>
              <a:rPr sz="1400" b="0" i="1" dirty="0" err="1">
                <a:solidFill>
                  <a:srgbClr val="6B7784"/>
                </a:solidFill>
                <a:latin typeface="Calibri"/>
              </a:rPr>
              <a:t>Hình</a:t>
            </a:r>
            <a:r>
              <a:rPr sz="1400" b="0" i="1" dirty="0">
                <a:solidFill>
                  <a:srgbClr val="6B7784"/>
                </a:solidFill>
                <a:latin typeface="Calibri"/>
              </a:rPr>
              <a:t> 3.1 — </a:t>
            </a:r>
            <a:r>
              <a:rPr sz="1400" b="0" i="1" dirty="0" err="1">
                <a:solidFill>
                  <a:srgbClr val="6B7784"/>
                </a:solidFill>
                <a:latin typeface="Calibri"/>
              </a:rPr>
              <a:t>Bốn</a:t>
            </a:r>
            <a:r>
              <a:rPr sz="1400" b="0" i="1" dirty="0">
                <a:solidFill>
                  <a:srgbClr val="6B7784"/>
                </a:solidFill>
                <a:latin typeface="Calibri"/>
              </a:rPr>
              <a:t> </a:t>
            </a:r>
            <a:r>
              <a:rPr sz="1400" b="0" i="1" dirty="0" err="1">
                <a:solidFill>
                  <a:srgbClr val="6B7784"/>
                </a:solidFill>
                <a:latin typeface="Calibri"/>
              </a:rPr>
              <a:t>bước</a:t>
            </a:r>
            <a:r>
              <a:rPr sz="1400" b="0" i="1" dirty="0">
                <a:solidFill>
                  <a:srgbClr val="6B7784"/>
                </a:solidFill>
                <a:latin typeface="Calibri"/>
              </a:rPr>
              <a:t> </a:t>
            </a:r>
            <a:r>
              <a:rPr sz="1400" b="0" i="1" dirty="0" err="1">
                <a:solidFill>
                  <a:srgbClr val="6B7784"/>
                </a:solidFill>
                <a:latin typeface="Calibri"/>
              </a:rPr>
              <a:t>triển</a:t>
            </a:r>
            <a:r>
              <a:rPr sz="1400" b="0" i="1" dirty="0">
                <a:solidFill>
                  <a:srgbClr val="6B7784"/>
                </a:solidFill>
                <a:latin typeface="Calibri"/>
              </a:rPr>
              <a:t> </a:t>
            </a:r>
            <a:r>
              <a:rPr sz="1400" b="0" i="1" dirty="0" err="1">
                <a:solidFill>
                  <a:srgbClr val="6B7784"/>
                </a:solidFill>
                <a:latin typeface="Calibri"/>
              </a:rPr>
              <a:t>khai</a:t>
            </a:r>
            <a:r>
              <a:rPr sz="1400" b="0" i="1" dirty="0">
                <a:solidFill>
                  <a:srgbClr val="6B7784"/>
                </a:solidFill>
                <a:latin typeface="Calibri"/>
              </a:rPr>
              <a:t> </a:t>
            </a:r>
            <a:r>
              <a:rPr sz="1400" b="0" i="1" dirty="0" err="1">
                <a:solidFill>
                  <a:srgbClr val="6B7784"/>
                </a:solidFill>
                <a:latin typeface="Calibri"/>
              </a:rPr>
              <a:t>từ</a:t>
            </a:r>
            <a:r>
              <a:rPr sz="1400" b="0" i="1" dirty="0">
                <a:solidFill>
                  <a:srgbClr val="6B7784"/>
                </a:solidFill>
                <a:latin typeface="Calibri"/>
              </a:rPr>
              <a:t> </a:t>
            </a:r>
            <a:r>
              <a:rPr sz="1400" b="0" i="1" dirty="0" err="1">
                <a:solidFill>
                  <a:srgbClr val="6B7784"/>
                </a:solidFill>
                <a:latin typeface="Calibri"/>
              </a:rPr>
              <a:t>kết</a:t>
            </a:r>
            <a:r>
              <a:rPr sz="1400" b="0" i="1" dirty="0">
                <a:solidFill>
                  <a:srgbClr val="6B7784"/>
                </a:solidFill>
                <a:latin typeface="Calibri"/>
              </a:rPr>
              <a:t> </a:t>
            </a:r>
            <a:r>
              <a:rPr sz="1400" b="0" i="1" dirty="0" err="1">
                <a:solidFill>
                  <a:srgbClr val="6B7784"/>
                </a:solidFill>
                <a:latin typeface="Calibri"/>
              </a:rPr>
              <a:t>quả</a:t>
            </a:r>
            <a:r>
              <a:rPr sz="1400" b="0" i="1" dirty="0">
                <a:solidFill>
                  <a:srgbClr val="6B7784"/>
                </a:solidFill>
                <a:latin typeface="Calibri"/>
              </a:rPr>
              <a:t> </a:t>
            </a:r>
            <a:r>
              <a:rPr sz="1400" b="0" i="1" dirty="0" err="1">
                <a:solidFill>
                  <a:srgbClr val="6B7784"/>
                </a:solidFill>
                <a:latin typeface="Calibri"/>
              </a:rPr>
              <a:t>khảo</a:t>
            </a:r>
            <a:r>
              <a:rPr sz="1400" b="0" i="1" dirty="0">
                <a:solidFill>
                  <a:srgbClr val="6B7784"/>
                </a:solidFill>
                <a:latin typeface="Calibri"/>
              </a:rPr>
              <a:t> </a:t>
            </a:r>
            <a:r>
              <a:rPr sz="1400" b="0" i="1" dirty="0" err="1">
                <a:solidFill>
                  <a:srgbClr val="6B7784"/>
                </a:solidFill>
                <a:latin typeface="Calibri"/>
              </a:rPr>
              <a:t>sát</a:t>
            </a:r>
            <a:r>
              <a:rPr sz="1400" b="0" i="1" dirty="0">
                <a:solidFill>
                  <a:srgbClr val="6B7784"/>
                </a:solidFill>
                <a:latin typeface="Calibri"/>
              </a:rPr>
              <a:t> </a:t>
            </a:r>
            <a:r>
              <a:rPr sz="1400" b="0" i="1" dirty="0" err="1">
                <a:solidFill>
                  <a:srgbClr val="6B7784"/>
                </a:solidFill>
                <a:latin typeface="Calibri"/>
              </a:rPr>
              <a:t>Chương</a:t>
            </a:r>
            <a:r>
              <a:rPr sz="1400" b="0" i="1" dirty="0">
                <a:solidFill>
                  <a:srgbClr val="6B7784"/>
                </a:solidFill>
                <a:latin typeface="Calibri"/>
              </a:rPr>
              <a:t> 2</a:t>
            </a:r>
          </a:p>
        </p:txBody>
      </p:sp>
      <p:sp>
        <p:nvSpPr>
          <p:cNvPr id="7" name="TextBox 6"/>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8" name="TextBox 7"/>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14</a:t>
            </a:r>
          </a:p>
        </p:txBody>
      </p:sp>
      <p:pic>
        <p:nvPicPr>
          <p:cNvPr id="34" name="Picture 33"/>
          <p:cNvPicPr/>
          <p:nvPr/>
        </p:nvPicPr>
        <p:blipFill>
          <a:blip r:embed="rId2" cstate="print">
            <a:extLst>
              <a:ext uri="{28A0092B-C50C-407E-A947-70E740481C1C}">
                <a14:useLocalDpi xmlns:a14="http://schemas.microsoft.com/office/drawing/2010/main" val="0"/>
              </a:ext>
            </a:extLst>
          </a:blip>
          <a:stretch>
            <a:fillRect/>
          </a:stretch>
        </p:blipFill>
        <p:spPr>
          <a:xfrm>
            <a:off x="790113" y="1855433"/>
            <a:ext cx="10743213" cy="4499647"/>
          </a:xfrm>
          <a:prstGeom prst="rect">
            <a:avLst/>
          </a:prstGeom>
        </p:spPr>
      </p:pic>
    </p:spTree>
    <p:extLst>
      <p:ext uri="{BB962C8B-B14F-4D97-AF65-F5344CB8AC3E}">
        <p14:creationId xmlns:p14="http://schemas.microsoft.com/office/powerpoint/2010/main" val="35896336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CHƯƠNG 3 · 3.1 PHẠM VI MÔ HÌNH HÓA</a:t>
            </a:r>
          </a:p>
        </p:txBody>
      </p:sp>
      <p:sp>
        <p:nvSpPr>
          <p:cNvPr id="3" name="TextBox 2"/>
          <p:cNvSpPr txBox="1"/>
          <p:nvPr/>
        </p:nvSpPr>
        <p:spPr>
          <a:xfrm>
            <a:off x="658368" y="640080"/>
            <a:ext cx="10874959" cy="603504"/>
          </a:xfrm>
          <a:prstGeom prst="rect">
            <a:avLst/>
          </a:prstGeom>
          <a:noFill/>
        </p:spPr>
        <p:txBody>
          <a:bodyPr wrap="square" lIns="0" tIns="0" rIns="0" bIns="0" anchor="t">
            <a:spAutoFit/>
          </a:bodyPr>
          <a:lstStyle/>
          <a:p>
            <a:pPr algn="l">
              <a:lnSpc>
                <a:spcPct val="105000"/>
              </a:lnSpc>
            </a:pPr>
            <a:r>
              <a:rPr sz="2500" b="1" i="0">
                <a:solidFill>
                  <a:srgbClr val="0A2540"/>
                </a:solidFill>
                <a:latin typeface="Calibri"/>
              </a:rPr>
              <a:t>TỪ 10 QUY TRÌNH SANG 06 QUY TRÌNH MÔ HÌNH HÓA</a:t>
            </a: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371600"/>
            <a:ext cx="10874959" cy="274320"/>
          </a:xfrm>
          <a:prstGeom prst="rect">
            <a:avLst/>
          </a:prstGeom>
          <a:noFill/>
        </p:spPr>
        <p:txBody>
          <a:bodyPr wrap="square" lIns="0" tIns="0" rIns="0" bIns="0" anchor="t">
            <a:spAutoFit/>
          </a:bodyPr>
          <a:lstStyle/>
          <a:p>
            <a:pPr algn="l">
              <a:lnSpc>
                <a:spcPct val="118000"/>
              </a:lnSpc>
            </a:pPr>
            <a:r>
              <a:rPr sz="1100" b="0" i="1">
                <a:solidFill>
                  <a:srgbClr val="6B7784"/>
                </a:solidFill>
                <a:latin typeface="Calibri"/>
              </a:rPr>
              <a:t>Bảng 3.1 — Các quy trình được lựa chọn để mô hình hóa trong Chương 3</a:t>
            </a:r>
          </a:p>
        </p:txBody>
      </p:sp>
      <p:sp>
        <p:nvSpPr>
          <p:cNvPr id="7" name="TextBox 6"/>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8" name="TextBox 7"/>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15</a:t>
            </a:r>
          </a:p>
        </p:txBody>
      </p:sp>
      <p:sp>
        <p:nvSpPr>
          <p:cNvPr id="9" name="Rectangle 8"/>
          <p:cNvSpPr/>
          <p:nvPr/>
        </p:nvSpPr>
        <p:spPr>
          <a:xfrm>
            <a:off x="658368" y="1792224"/>
            <a:ext cx="3442106" cy="475488"/>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 name="TextBox 9"/>
          <p:cNvSpPr txBox="1"/>
          <p:nvPr/>
        </p:nvSpPr>
        <p:spPr>
          <a:xfrm>
            <a:off x="841247" y="1922246"/>
            <a:ext cx="3076346" cy="215444"/>
          </a:xfrm>
          <a:prstGeom prst="rect">
            <a:avLst/>
          </a:prstGeom>
          <a:noFill/>
        </p:spPr>
        <p:txBody>
          <a:bodyPr wrap="square" lIns="0" tIns="0" rIns="0" bIns="0" anchor="ctr">
            <a:spAutoFit/>
          </a:bodyPr>
          <a:lstStyle/>
          <a:p>
            <a:pPr algn="ctr">
              <a:lnSpc>
                <a:spcPct val="100000"/>
              </a:lnSpc>
            </a:pPr>
            <a:r>
              <a:rPr sz="1400" b="1" i="0">
                <a:solidFill>
                  <a:srgbClr val="FFFFFF"/>
                </a:solidFill>
                <a:latin typeface="Calibri"/>
              </a:rPr>
              <a:t>MANAGEMENT PROCESSES</a:t>
            </a:r>
          </a:p>
        </p:txBody>
      </p:sp>
      <p:sp>
        <p:nvSpPr>
          <p:cNvPr id="11" name="Rectangle 10"/>
          <p:cNvSpPr/>
          <p:nvPr/>
        </p:nvSpPr>
        <p:spPr>
          <a:xfrm>
            <a:off x="658368" y="2377440"/>
            <a:ext cx="3442106" cy="1042415"/>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2" name="Rectangle 11"/>
          <p:cNvSpPr/>
          <p:nvPr/>
        </p:nvSpPr>
        <p:spPr>
          <a:xfrm>
            <a:off x="658368" y="2377440"/>
            <a:ext cx="50292" cy="1042415"/>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3" name="TextBox 12"/>
          <p:cNvSpPr txBox="1"/>
          <p:nvPr/>
        </p:nvSpPr>
        <p:spPr>
          <a:xfrm>
            <a:off x="877824" y="2505456"/>
            <a:ext cx="3039770" cy="215444"/>
          </a:xfrm>
          <a:prstGeom prst="rect">
            <a:avLst/>
          </a:prstGeom>
          <a:noFill/>
        </p:spPr>
        <p:txBody>
          <a:bodyPr wrap="square" lIns="0" tIns="0" rIns="0" bIns="0" anchor="t">
            <a:spAutoFit/>
          </a:bodyPr>
          <a:lstStyle/>
          <a:p>
            <a:pPr algn="l">
              <a:lnSpc>
                <a:spcPct val="100000"/>
              </a:lnSpc>
            </a:pPr>
            <a:r>
              <a:rPr sz="1400" b="1" i="0">
                <a:solidFill>
                  <a:srgbClr val="0A2540"/>
                </a:solidFill>
                <a:latin typeface="Calibri"/>
              </a:rPr>
              <a:t>M01</a:t>
            </a:r>
          </a:p>
        </p:txBody>
      </p:sp>
      <p:sp>
        <p:nvSpPr>
          <p:cNvPr id="14" name="TextBox 13"/>
          <p:cNvSpPr txBox="1"/>
          <p:nvPr/>
        </p:nvSpPr>
        <p:spPr>
          <a:xfrm>
            <a:off x="877824" y="2761488"/>
            <a:ext cx="3039770" cy="473976"/>
          </a:xfrm>
          <a:prstGeom prst="rect">
            <a:avLst/>
          </a:prstGeom>
          <a:noFill/>
        </p:spPr>
        <p:txBody>
          <a:bodyPr wrap="square" lIns="0" tIns="0" rIns="0" bIns="0" anchor="t">
            <a:spAutoFit/>
          </a:bodyPr>
          <a:lstStyle/>
          <a:p>
            <a:pPr algn="l">
              <a:lnSpc>
                <a:spcPct val="110000"/>
              </a:lnSpc>
            </a:pPr>
            <a:r>
              <a:rPr sz="1400" b="1" i="0">
                <a:solidFill>
                  <a:srgbClr val="0A2540"/>
                </a:solidFill>
                <a:latin typeface="Calibri"/>
              </a:rPr>
              <a:t>Hoạch định và triển khai chiến lược kinh doanh</a:t>
            </a:r>
          </a:p>
        </p:txBody>
      </p:sp>
      <p:sp>
        <p:nvSpPr>
          <p:cNvPr id="15" name="TextBox 14"/>
          <p:cNvSpPr txBox="1"/>
          <p:nvPr/>
        </p:nvSpPr>
        <p:spPr>
          <a:xfrm>
            <a:off x="877824" y="3163824"/>
            <a:ext cx="3039770" cy="219456"/>
          </a:xfrm>
          <a:prstGeom prst="rect">
            <a:avLst/>
          </a:prstGeom>
          <a:noFill/>
        </p:spPr>
        <p:txBody>
          <a:bodyPr wrap="square" lIns="0" tIns="0" rIns="0" bIns="0" anchor="t">
            <a:spAutoFit/>
          </a:bodyPr>
          <a:lstStyle/>
          <a:p>
            <a:pPr algn="l">
              <a:lnSpc>
                <a:spcPct val="100000"/>
              </a:lnSpc>
            </a:pPr>
            <a:r>
              <a:rPr sz="1400" b="0" i="1">
                <a:solidFill>
                  <a:srgbClr val="6B7784"/>
                </a:solidFill>
                <a:latin typeface="Calibri"/>
              </a:rPr>
              <a:t>Business Planning</a:t>
            </a:r>
          </a:p>
        </p:txBody>
      </p:sp>
      <p:sp>
        <p:nvSpPr>
          <p:cNvPr id="16" name="Rectangle 15"/>
          <p:cNvSpPr/>
          <p:nvPr/>
        </p:nvSpPr>
        <p:spPr>
          <a:xfrm>
            <a:off x="658368" y="3529584"/>
            <a:ext cx="3442106" cy="1042415"/>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7" name="Rectangle 16"/>
          <p:cNvSpPr/>
          <p:nvPr/>
        </p:nvSpPr>
        <p:spPr>
          <a:xfrm>
            <a:off x="658368" y="3529584"/>
            <a:ext cx="50292" cy="1042415"/>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8" name="TextBox 17"/>
          <p:cNvSpPr txBox="1"/>
          <p:nvPr/>
        </p:nvSpPr>
        <p:spPr>
          <a:xfrm>
            <a:off x="877824" y="3657600"/>
            <a:ext cx="3039770" cy="215444"/>
          </a:xfrm>
          <a:prstGeom prst="rect">
            <a:avLst/>
          </a:prstGeom>
          <a:noFill/>
        </p:spPr>
        <p:txBody>
          <a:bodyPr wrap="square" lIns="0" tIns="0" rIns="0" bIns="0" anchor="t">
            <a:spAutoFit/>
          </a:bodyPr>
          <a:lstStyle/>
          <a:p>
            <a:pPr algn="l">
              <a:lnSpc>
                <a:spcPct val="100000"/>
              </a:lnSpc>
            </a:pPr>
            <a:r>
              <a:rPr sz="1400" b="1" i="0">
                <a:solidFill>
                  <a:srgbClr val="0A2540"/>
                </a:solidFill>
                <a:latin typeface="Calibri"/>
              </a:rPr>
              <a:t>M02</a:t>
            </a:r>
          </a:p>
        </p:txBody>
      </p:sp>
      <p:sp>
        <p:nvSpPr>
          <p:cNvPr id="19" name="TextBox 18"/>
          <p:cNvSpPr txBox="1"/>
          <p:nvPr/>
        </p:nvSpPr>
        <p:spPr>
          <a:xfrm>
            <a:off x="877824" y="3913632"/>
            <a:ext cx="3039770" cy="236988"/>
          </a:xfrm>
          <a:prstGeom prst="rect">
            <a:avLst/>
          </a:prstGeom>
          <a:noFill/>
        </p:spPr>
        <p:txBody>
          <a:bodyPr wrap="square" lIns="0" tIns="0" rIns="0" bIns="0" anchor="t">
            <a:spAutoFit/>
          </a:bodyPr>
          <a:lstStyle/>
          <a:p>
            <a:pPr algn="l">
              <a:lnSpc>
                <a:spcPct val="110000"/>
              </a:lnSpc>
            </a:pPr>
            <a:r>
              <a:rPr sz="1400" b="1" i="0">
                <a:solidFill>
                  <a:srgbClr val="0A2540"/>
                </a:solidFill>
                <a:latin typeface="Calibri"/>
              </a:rPr>
              <a:t>Quản lý khiếu nại khách hàng</a:t>
            </a:r>
          </a:p>
        </p:txBody>
      </p:sp>
      <p:sp>
        <p:nvSpPr>
          <p:cNvPr id="20" name="TextBox 19"/>
          <p:cNvSpPr txBox="1"/>
          <p:nvPr/>
        </p:nvSpPr>
        <p:spPr>
          <a:xfrm>
            <a:off x="877824" y="4315968"/>
            <a:ext cx="3039770" cy="219456"/>
          </a:xfrm>
          <a:prstGeom prst="rect">
            <a:avLst/>
          </a:prstGeom>
          <a:noFill/>
        </p:spPr>
        <p:txBody>
          <a:bodyPr wrap="square" lIns="0" tIns="0" rIns="0" bIns="0" anchor="t">
            <a:spAutoFit/>
          </a:bodyPr>
          <a:lstStyle/>
          <a:p>
            <a:pPr algn="l">
              <a:lnSpc>
                <a:spcPct val="100000"/>
              </a:lnSpc>
            </a:pPr>
            <a:r>
              <a:rPr sz="1400" b="0" i="1">
                <a:solidFill>
                  <a:srgbClr val="6B7784"/>
                </a:solidFill>
                <a:latin typeface="Calibri"/>
              </a:rPr>
              <a:t>Customer Complaint Management</a:t>
            </a:r>
          </a:p>
        </p:txBody>
      </p:sp>
      <p:sp>
        <p:nvSpPr>
          <p:cNvPr id="21" name="Rectangle 20"/>
          <p:cNvSpPr/>
          <p:nvPr/>
        </p:nvSpPr>
        <p:spPr>
          <a:xfrm>
            <a:off x="658368" y="4736592"/>
            <a:ext cx="3442106" cy="1216152"/>
          </a:xfrm>
          <a:prstGeom prst="rect">
            <a:avLst/>
          </a:prstGeom>
          <a:solidFill>
            <a:srgbClr val="E9F3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2" name="TextBox 21"/>
          <p:cNvSpPr txBox="1"/>
          <p:nvPr/>
        </p:nvSpPr>
        <p:spPr>
          <a:xfrm>
            <a:off x="859536" y="4865652"/>
            <a:ext cx="3039770" cy="1068049"/>
          </a:xfrm>
          <a:prstGeom prst="rect">
            <a:avLst/>
          </a:prstGeom>
          <a:noFill/>
        </p:spPr>
        <p:txBody>
          <a:bodyPr wrap="square" lIns="0" tIns="0" rIns="0" bIns="0" anchor="ctr">
            <a:spAutoFit/>
          </a:bodyPr>
          <a:lstStyle/>
          <a:p>
            <a:pPr algn="l">
              <a:lnSpc>
                <a:spcPct val="100000"/>
              </a:lnSpc>
            </a:pPr>
            <a:r>
              <a:rPr sz="1400" b="1" i="0" dirty="0">
                <a:solidFill>
                  <a:srgbClr val="0096D6"/>
                </a:solidFill>
                <a:latin typeface="Calibri"/>
              </a:rPr>
              <a:t>LÝ DO LỰA CHỌN</a:t>
            </a:r>
          </a:p>
          <a:p>
            <a:pPr algn="l">
              <a:lnSpc>
                <a:spcPct val="122000"/>
              </a:lnSpc>
              <a:spcBef>
                <a:spcPts val="500"/>
              </a:spcBef>
            </a:pPr>
            <a:r>
              <a:rPr sz="1400" b="0" i="0" dirty="0" err="1">
                <a:solidFill>
                  <a:srgbClr val="2B3440"/>
                </a:solidFill>
                <a:latin typeface="Calibri"/>
              </a:rPr>
              <a:t>Thể</a:t>
            </a:r>
            <a:r>
              <a:rPr sz="1400" b="0" i="0" dirty="0">
                <a:solidFill>
                  <a:srgbClr val="2B3440"/>
                </a:solidFill>
                <a:latin typeface="Calibri"/>
              </a:rPr>
              <a:t> </a:t>
            </a:r>
            <a:r>
              <a:rPr sz="1400" b="0" i="0" dirty="0" err="1">
                <a:solidFill>
                  <a:srgbClr val="2B3440"/>
                </a:solidFill>
                <a:latin typeface="Calibri"/>
              </a:rPr>
              <a:t>hiện</a:t>
            </a:r>
            <a:r>
              <a:rPr sz="1400" b="0" i="0" dirty="0">
                <a:solidFill>
                  <a:srgbClr val="2B3440"/>
                </a:solidFill>
                <a:latin typeface="Calibri"/>
              </a:rPr>
              <a:t> </a:t>
            </a:r>
            <a:r>
              <a:rPr sz="1400" b="0" i="0" dirty="0" err="1">
                <a:solidFill>
                  <a:srgbClr val="2B3440"/>
                </a:solidFill>
                <a:latin typeface="Calibri"/>
              </a:rPr>
              <a:t>hoạt</a:t>
            </a:r>
            <a:r>
              <a:rPr sz="1400" b="0" i="0" dirty="0">
                <a:solidFill>
                  <a:srgbClr val="2B3440"/>
                </a:solidFill>
                <a:latin typeface="Calibri"/>
              </a:rPr>
              <a:t> </a:t>
            </a:r>
            <a:r>
              <a:rPr sz="1400" b="0" i="0" dirty="0" err="1">
                <a:solidFill>
                  <a:srgbClr val="2B3440"/>
                </a:solidFill>
                <a:latin typeface="Calibri"/>
              </a:rPr>
              <a:t>động</a:t>
            </a:r>
            <a:r>
              <a:rPr sz="1400" b="0" i="0" dirty="0">
                <a:solidFill>
                  <a:srgbClr val="2B3440"/>
                </a:solidFill>
                <a:latin typeface="Calibri"/>
              </a:rPr>
              <a:t> </a:t>
            </a:r>
            <a:r>
              <a:rPr sz="1400" b="0" i="0" dirty="0" err="1">
                <a:solidFill>
                  <a:srgbClr val="2B3440"/>
                </a:solidFill>
                <a:latin typeface="Calibri"/>
              </a:rPr>
              <a:t>hoạch</a:t>
            </a:r>
            <a:r>
              <a:rPr sz="1400" b="0" i="0" dirty="0">
                <a:solidFill>
                  <a:srgbClr val="2B3440"/>
                </a:solidFill>
                <a:latin typeface="Calibri"/>
              </a:rPr>
              <a:t> </a:t>
            </a:r>
            <a:r>
              <a:rPr sz="1400" b="0" i="0" dirty="0" err="1">
                <a:solidFill>
                  <a:srgbClr val="2B3440"/>
                </a:solidFill>
                <a:latin typeface="Calibri"/>
              </a:rPr>
              <a:t>định</a:t>
            </a:r>
            <a:r>
              <a:rPr sz="1400" b="0" i="0" dirty="0">
                <a:solidFill>
                  <a:srgbClr val="2B3440"/>
                </a:solidFill>
                <a:latin typeface="Calibri"/>
              </a:rPr>
              <a:t> – </a:t>
            </a:r>
            <a:r>
              <a:rPr sz="1400" b="0" i="0" dirty="0" err="1">
                <a:solidFill>
                  <a:srgbClr val="2B3440"/>
                </a:solidFill>
                <a:latin typeface="Calibri"/>
              </a:rPr>
              <a:t>triển</a:t>
            </a:r>
            <a:r>
              <a:rPr sz="1400" b="0" i="0" dirty="0">
                <a:solidFill>
                  <a:srgbClr val="2B3440"/>
                </a:solidFill>
                <a:latin typeface="Calibri"/>
              </a:rPr>
              <a:t> </a:t>
            </a:r>
            <a:r>
              <a:rPr sz="1400" b="0" i="0" dirty="0" err="1">
                <a:solidFill>
                  <a:srgbClr val="2B3440"/>
                </a:solidFill>
                <a:latin typeface="Calibri"/>
              </a:rPr>
              <a:t>khai</a:t>
            </a:r>
            <a:r>
              <a:rPr sz="1400" b="0" i="0" dirty="0">
                <a:solidFill>
                  <a:srgbClr val="2B3440"/>
                </a:solidFill>
                <a:latin typeface="Calibri"/>
              </a:rPr>
              <a:t> </a:t>
            </a:r>
            <a:r>
              <a:rPr sz="1400" b="0" i="0" dirty="0" err="1">
                <a:solidFill>
                  <a:srgbClr val="2B3440"/>
                </a:solidFill>
                <a:latin typeface="Calibri"/>
              </a:rPr>
              <a:t>định</a:t>
            </a:r>
            <a:r>
              <a:rPr sz="1400" b="0" i="0" dirty="0">
                <a:solidFill>
                  <a:srgbClr val="2B3440"/>
                </a:solidFill>
                <a:latin typeface="Calibri"/>
              </a:rPr>
              <a:t> </a:t>
            </a:r>
            <a:r>
              <a:rPr sz="1400" b="0" i="0" dirty="0" err="1">
                <a:solidFill>
                  <a:srgbClr val="2B3440"/>
                </a:solidFill>
                <a:latin typeface="Calibri"/>
              </a:rPr>
              <a:t>hướng</a:t>
            </a:r>
            <a:r>
              <a:rPr sz="1400" b="0" i="0" dirty="0">
                <a:solidFill>
                  <a:srgbClr val="2B3440"/>
                </a:solidFill>
                <a:latin typeface="Calibri"/>
              </a:rPr>
              <a:t> </a:t>
            </a:r>
            <a:r>
              <a:rPr sz="1400" b="0" i="0" dirty="0" err="1">
                <a:solidFill>
                  <a:srgbClr val="2B3440"/>
                </a:solidFill>
                <a:latin typeface="Calibri"/>
              </a:rPr>
              <a:t>từ</a:t>
            </a:r>
            <a:r>
              <a:rPr sz="1400" b="0" i="0" dirty="0">
                <a:solidFill>
                  <a:srgbClr val="2B3440"/>
                </a:solidFill>
                <a:latin typeface="Calibri"/>
              </a:rPr>
              <a:t> </a:t>
            </a:r>
            <a:r>
              <a:rPr sz="1400" b="0" i="0" dirty="0" err="1">
                <a:solidFill>
                  <a:srgbClr val="2B3440"/>
                </a:solidFill>
                <a:latin typeface="Calibri"/>
              </a:rPr>
              <a:t>cấp</a:t>
            </a:r>
            <a:r>
              <a:rPr sz="1400" b="0" i="0" dirty="0">
                <a:solidFill>
                  <a:srgbClr val="2B3440"/>
                </a:solidFill>
                <a:latin typeface="Calibri"/>
              </a:rPr>
              <a:t> </a:t>
            </a:r>
            <a:r>
              <a:rPr sz="1400" b="0" i="0" dirty="0" err="1">
                <a:solidFill>
                  <a:srgbClr val="2B3440"/>
                </a:solidFill>
                <a:latin typeface="Calibri"/>
              </a:rPr>
              <a:t>quản</a:t>
            </a:r>
            <a:r>
              <a:rPr sz="1400" b="0" i="0" dirty="0">
                <a:solidFill>
                  <a:srgbClr val="2B3440"/>
                </a:solidFill>
                <a:latin typeface="Calibri"/>
              </a:rPr>
              <a:t> </a:t>
            </a:r>
            <a:r>
              <a:rPr sz="1400" b="0" i="0" dirty="0" err="1">
                <a:solidFill>
                  <a:srgbClr val="2B3440"/>
                </a:solidFill>
                <a:latin typeface="Calibri"/>
              </a:rPr>
              <a:t>lý</a:t>
            </a:r>
            <a:r>
              <a:rPr sz="1400" b="0" i="0" dirty="0">
                <a:solidFill>
                  <a:srgbClr val="2B3440"/>
                </a:solidFill>
                <a:latin typeface="Calibri"/>
              </a:rPr>
              <a:t> </a:t>
            </a:r>
            <a:r>
              <a:rPr sz="1400" b="0" i="0" dirty="0" err="1">
                <a:solidFill>
                  <a:srgbClr val="2B3440"/>
                </a:solidFill>
                <a:latin typeface="Calibri"/>
              </a:rPr>
              <a:t>xuống</a:t>
            </a:r>
            <a:r>
              <a:rPr sz="1400" b="0" i="0" dirty="0">
                <a:solidFill>
                  <a:srgbClr val="2B3440"/>
                </a:solidFill>
                <a:latin typeface="Calibri"/>
              </a:rPr>
              <a:t> </a:t>
            </a:r>
            <a:r>
              <a:rPr sz="1400" b="0" i="0" dirty="0" err="1">
                <a:solidFill>
                  <a:srgbClr val="2B3440"/>
                </a:solidFill>
                <a:latin typeface="Calibri"/>
              </a:rPr>
              <a:t>các</a:t>
            </a:r>
            <a:r>
              <a:rPr sz="1400" b="0" i="0" dirty="0">
                <a:solidFill>
                  <a:srgbClr val="2B3440"/>
                </a:solidFill>
                <a:latin typeface="Calibri"/>
              </a:rPr>
              <a:t> </a:t>
            </a:r>
            <a:r>
              <a:rPr sz="1400" b="0" i="0" dirty="0" err="1">
                <a:solidFill>
                  <a:srgbClr val="2B3440"/>
                </a:solidFill>
                <a:latin typeface="Calibri"/>
              </a:rPr>
              <a:t>bộ</a:t>
            </a:r>
            <a:r>
              <a:rPr sz="1400" b="0" i="0" dirty="0">
                <a:solidFill>
                  <a:srgbClr val="2B3440"/>
                </a:solidFill>
                <a:latin typeface="Calibri"/>
              </a:rPr>
              <a:t> </a:t>
            </a:r>
            <a:r>
              <a:rPr sz="1400" b="0" i="0" dirty="0" err="1">
                <a:solidFill>
                  <a:srgbClr val="2B3440"/>
                </a:solidFill>
                <a:latin typeface="Calibri"/>
              </a:rPr>
              <a:t>phận</a:t>
            </a:r>
            <a:r>
              <a:rPr sz="1400" b="0" i="0" dirty="0">
                <a:solidFill>
                  <a:srgbClr val="2B3440"/>
                </a:solidFill>
                <a:latin typeface="Calibri"/>
              </a:rPr>
              <a:t> </a:t>
            </a:r>
            <a:r>
              <a:rPr sz="1400" b="0" i="0" dirty="0" err="1">
                <a:solidFill>
                  <a:srgbClr val="2B3440"/>
                </a:solidFill>
                <a:latin typeface="Calibri"/>
              </a:rPr>
              <a:t>chức</a:t>
            </a:r>
            <a:r>
              <a:rPr sz="1400" b="0" i="0" dirty="0">
                <a:solidFill>
                  <a:srgbClr val="2B3440"/>
                </a:solidFill>
                <a:latin typeface="Calibri"/>
              </a:rPr>
              <a:t> </a:t>
            </a:r>
            <a:r>
              <a:rPr sz="1400" b="0" i="0" dirty="0" err="1">
                <a:solidFill>
                  <a:srgbClr val="2B3440"/>
                </a:solidFill>
                <a:latin typeface="Calibri"/>
              </a:rPr>
              <a:t>năng</a:t>
            </a:r>
            <a:r>
              <a:rPr sz="1400" b="0" i="0" dirty="0">
                <a:solidFill>
                  <a:srgbClr val="2B3440"/>
                </a:solidFill>
                <a:latin typeface="Calibri"/>
              </a:rPr>
              <a:t>.</a:t>
            </a:r>
          </a:p>
        </p:txBody>
      </p:sp>
      <p:sp>
        <p:nvSpPr>
          <p:cNvPr id="23" name="Rectangle 22"/>
          <p:cNvSpPr/>
          <p:nvPr/>
        </p:nvSpPr>
        <p:spPr>
          <a:xfrm>
            <a:off x="4374794" y="1792224"/>
            <a:ext cx="3442106" cy="47548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4" name="TextBox 23"/>
          <p:cNvSpPr txBox="1"/>
          <p:nvPr/>
        </p:nvSpPr>
        <p:spPr>
          <a:xfrm>
            <a:off x="4557674" y="1922246"/>
            <a:ext cx="3076346" cy="215444"/>
          </a:xfrm>
          <a:prstGeom prst="rect">
            <a:avLst/>
          </a:prstGeom>
          <a:noFill/>
        </p:spPr>
        <p:txBody>
          <a:bodyPr wrap="square" lIns="0" tIns="0" rIns="0" bIns="0" anchor="ctr">
            <a:spAutoFit/>
          </a:bodyPr>
          <a:lstStyle/>
          <a:p>
            <a:pPr algn="ctr">
              <a:lnSpc>
                <a:spcPct val="100000"/>
              </a:lnSpc>
            </a:pPr>
            <a:r>
              <a:rPr sz="1400" b="1" i="0">
                <a:solidFill>
                  <a:srgbClr val="FFFFFF"/>
                </a:solidFill>
                <a:latin typeface="Calibri"/>
              </a:rPr>
              <a:t>CORE BUSINESS PROCESSES</a:t>
            </a:r>
          </a:p>
        </p:txBody>
      </p:sp>
      <p:sp>
        <p:nvSpPr>
          <p:cNvPr id="25" name="Rectangle 24"/>
          <p:cNvSpPr/>
          <p:nvPr/>
        </p:nvSpPr>
        <p:spPr>
          <a:xfrm>
            <a:off x="4374794" y="2377440"/>
            <a:ext cx="3442106" cy="1042415"/>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6" name="Rectangle 25"/>
          <p:cNvSpPr/>
          <p:nvPr/>
        </p:nvSpPr>
        <p:spPr>
          <a:xfrm>
            <a:off x="4374794" y="2377440"/>
            <a:ext cx="50292" cy="1042415"/>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7" name="TextBox 26"/>
          <p:cNvSpPr txBox="1"/>
          <p:nvPr/>
        </p:nvSpPr>
        <p:spPr>
          <a:xfrm>
            <a:off x="4594250" y="2505456"/>
            <a:ext cx="3039770" cy="215444"/>
          </a:xfrm>
          <a:prstGeom prst="rect">
            <a:avLst/>
          </a:prstGeom>
          <a:noFill/>
        </p:spPr>
        <p:txBody>
          <a:bodyPr wrap="square" lIns="0" tIns="0" rIns="0" bIns="0" anchor="t">
            <a:spAutoFit/>
          </a:bodyPr>
          <a:lstStyle/>
          <a:p>
            <a:pPr algn="l">
              <a:lnSpc>
                <a:spcPct val="100000"/>
              </a:lnSpc>
            </a:pPr>
            <a:r>
              <a:rPr sz="1400" b="1" i="0">
                <a:solidFill>
                  <a:srgbClr val="0096D6"/>
                </a:solidFill>
                <a:latin typeface="Calibri"/>
              </a:rPr>
              <a:t>C02</a:t>
            </a:r>
          </a:p>
        </p:txBody>
      </p:sp>
      <p:sp>
        <p:nvSpPr>
          <p:cNvPr id="28" name="TextBox 27"/>
          <p:cNvSpPr txBox="1"/>
          <p:nvPr/>
        </p:nvSpPr>
        <p:spPr>
          <a:xfrm>
            <a:off x="4594250" y="2761488"/>
            <a:ext cx="3039770" cy="236988"/>
          </a:xfrm>
          <a:prstGeom prst="rect">
            <a:avLst/>
          </a:prstGeom>
          <a:noFill/>
        </p:spPr>
        <p:txBody>
          <a:bodyPr wrap="square" lIns="0" tIns="0" rIns="0" bIns="0" anchor="t">
            <a:spAutoFit/>
          </a:bodyPr>
          <a:lstStyle/>
          <a:p>
            <a:pPr algn="l">
              <a:lnSpc>
                <a:spcPct val="110000"/>
              </a:lnSpc>
            </a:pPr>
            <a:r>
              <a:rPr sz="1400" b="1" i="0">
                <a:solidFill>
                  <a:srgbClr val="0A2540"/>
                </a:solidFill>
                <a:latin typeface="Calibri"/>
              </a:rPr>
              <a:t>Quản lý đơn hàng</a:t>
            </a:r>
          </a:p>
        </p:txBody>
      </p:sp>
      <p:sp>
        <p:nvSpPr>
          <p:cNvPr id="29" name="TextBox 28"/>
          <p:cNvSpPr txBox="1"/>
          <p:nvPr/>
        </p:nvSpPr>
        <p:spPr>
          <a:xfrm>
            <a:off x="4594250" y="3163824"/>
            <a:ext cx="3039770" cy="219456"/>
          </a:xfrm>
          <a:prstGeom prst="rect">
            <a:avLst/>
          </a:prstGeom>
          <a:noFill/>
        </p:spPr>
        <p:txBody>
          <a:bodyPr wrap="square" lIns="0" tIns="0" rIns="0" bIns="0" anchor="t">
            <a:spAutoFit/>
          </a:bodyPr>
          <a:lstStyle/>
          <a:p>
            <a:pPr algn="l">
              <a:lnSpc>
                <a:spcPct val="100000"/>
              </a:lnSpc>
            </a:pPr>
            <a:r>
              <a:rPr sz="1400" b="0" i="1">
                <a:solidFill>
                  <a:srgbClr val="6B7784"/>
                </a:solidFill>
                <a:latin typeface="Calibri"/>
              </a:rPr>
              <a:t>Order Management (Order-to-Cash)</a:t>
            </a:r>
          </a:p>
        </p:txBody>
      </p:sp>
      <p:sp>
        <p:nvSpPr>
          <p:cNvPr id="30" name="Rectangle 29"/>
          <p:cNvSpPr/>
          <p:nvPr/>
        </p:nvSpPr>
        <p:spPr>
          <a:xfrm>
            <a:off x="4374794" y="3529584"/>
            <a:ext cx="3442106" cy="1042415"/>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1" name="Rectangle 30"/>
          <p:cNvSpPr/>
          <p:nvPr/>
        </p:nvSpPr>
        <p:spPr>
          <a:xfrm>
            <a:off x="4374794" y="3529584"/>
            <a:ext cx="50292" cy="1042415"/>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2" name="TextBox 31"/>
          <p:cNvSpPr txBox="1"/>
          <p:nvPr/>
        </p:nvSpPr>
        <p:spPr>
          <a:xfrm>
            <a:off x="4594250" y="3657600"/>
            <a:ext cx="3039770" cy="215444"/>
          </a:xfrm>
          <a:prstGeom prst="rect">
            <a:avLst/>
          </a:prstGeom>
          <a:noFill/>
        </p:spPr>
        <p:txBody>
          <a:bodyPr wrap="square" lIns="0" tIns="0" rIns="0" bIns="0" anchor="t">
            <a:spAutoFit/>
          </a:bodyPr>
          <a:lstStyle/>
          <a:p>
            <a:pPr algn="l">
              <a:lnSpc>
                <a:spcPct val="100000"/>
              </a:lnSpc>
            </a:pPr>
            <a:r>
              <a:rPr sz="1400" b="1" i="0">
                <a:solidFill>
                  <a:srgbClr val="0096D6"/>
                </a:solidFill>
                <a:latin typeface="Calibri"/>
              </a:rPr>
              <a:t>C03</a:t>
            </a:r>
          </a:p>
        </p:txBody>
      </p:sp>
      <p:sp>
        <p:nvSpPr>
          <p:cNvPr id="33" name="TextBox 32"/>
          <p:cNvSpPr txBox="1"/>
          <p:nvPr/>
        </p:nvSpPr>
        <p:spPr>
          <a:xfrm>
            <a:off x="4594250" y="3913632"/>
            <a:ext cx="3039770" cy="236988"/>
          </a:xfrm>
          <a:prstGeom prst="rect">
            <a:avLst/>
          </a:prstGeom>
          <a:noFill/>
        </p:spPr>
        <p:txBody>
          <a:bodyPr wrap="square" lIns="0" tIns="0" rIns="0" bIns="0" anchor="t">
            <a:spAutoFit/>
          </a:bodyPr>
          <a:lstStyle/>
          <a:p>
            <a:pPr algn="l">
              <a:lnSpc>
                <a:spcPct val="110000"/>
              </a:lnSpc>
            </a:pPr>
            <a:r>
              <a:rPr sz="1400" b="1" i="0">
                <a:solidFill>
                  <a:srgbClr val="0A2540"/>
                </a:solidFill>
                <a:latin typeface="Calibri"/>
              </a:rPr>
              <a:t>Quản lý dịch vụ và sửa chữa</a:t>
            </a:r>
          </a:p>
        </p:txBody>
      </p:sp>
      <p:sp>
        <p:nvSpPr>
          <p:cNvPr id="34" name="TextBox 33"/>
          <p:cNvSpPr txBox="1"/>
          <p:nvPr/>
        </p:nvSpPr>
        <p:spPr>
          <a:xfrm>
            <a:off x="4594250" y="4315968"/>
            <a:ext cx="3039770" cy="219456"/>
          </a:xfrm>
          <a:prstGeom prst="rect">
            <a:avLst/>
          </a:prstGeom>
          <a:noFill/>
        </p:spPr>
        <p:txBody>
          <a:bodyPr wrap="square" lIns="0" tIns="0" rIns="0" bIns="0" anchor="t">
            <a:spAutoFit/>
          </a:bodyPr>
          <a:lstStyle/>
          <a:p>
            <a:pPr algn="l">
              <a:lnSpc>
                <a:spcPct val="100000"/>
              </a:lnSpc>
            </a:pPr>
            <a:r>
              <a:rPr sz="1400" b="0" i="1">
                <a:solidFill>
                  <a:srgbClr val="6B7784"/>
                </a:solidFill>
                <a:latin typeface="Calibri"/>
              </a:rPr>
              <a:t>Service Order Management</a:t>
            </a:r>
          </a:p>
        </p:txBody>
      </p:sp>
      <p:sp>
        <p:nvSpPr>
          <p:cNvPr id="35" name="Rectangle 34"/>
          <p:cNvSpPr/>
          <p:nvPr/>
        </p:nvSpPr>
        <p:spPr>
          <a:xfrm>
            <a:off x="4374794" y="4736592"/>
            <a:ext cx="3442106" cy="1216152"/>
          </a:xfrm>
          <a:prstGeom prst="rect">
            <a:avLst/>
          </a:prstGeom>
          <a:solidFill>
            <a:srgbClr val="E9F3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6" name="TextBox 35"/>
          <p:cNvSpPr txBox="1"/>
          <p:nvPr/>
        </p:nvSpPr>
        <p:spPr>
          <a:xfrm>
            <a:off x="4575962" y="4811386"/>
            <a:ext cx="3039770" cy="1068049"/>
          </a:xfrm>
          <a:prstGeom prst="rect">
            <a:avLst/>
          </a:prstGeom>
          <a:noFill/>
        </p:spPr>
        <p:txBody>
          <a:bodyPr wrap="square" lIns="0" tIns="0" rIns="0" bIns="0" anchor="ctr">
            <a:spAutoFit/>
          </a:bodyPr>
          <a:lstStyle/>
          <a:p>
            <a:pPr algn="l">
              <a:lnSpc>
                <a:spcPct val="100000"/>
              </a:lnSpc>
            </a:pPr>
            <a:r>
              <a:rPr sz="1400" b="1" i="0" dirty="0">
                <a:solidFill>
                  <a:srgbClr val="0096D6"/>
                </a:solidFill>
                <a:latin typeface="Calibri"/>
              </a:rPr>
              <a:t>LÝ DO LỰA CHỌN</a:t>
            </a:r>
          </a:p>
          <a:p>
            <a:pPr algn="l">
              <a:lnSpc>
                <a:spcPct val="122000"/>
              </a:lnSpc>
              <a:spcBef>
                <a:spcPts val="500"/>
              </a:spcBef>
            </a:pPr>
            <a:r>
              <a:rPr sz="1400" b="0" i="0" dirty="0" err="1">
                <a:solidFill>
                  <a:srgbClr val="2B3440"/>
                </a:solidFill>
                <a:latin typeface="Calibri"/>
              </a:rPr>
              <a:t>Gắn</a:t>
            </a:r>
            <a:r>
              <a:rPr sz="1400" b="0" i="0" dirty="0">
                <a:solidFill>
                  <a:srgbClr val="2B3440"/>
                </a:solidFill>
                <a:latin typeface="Calibri"/>
              </a:rPr>
              <a:t> </a:t>
            </a:r>
            <a:r>
              <a:rPr sz="1400" b="0" i="0" dirty="0" err="1">
                <a:solidFill>
                  <a:srgbClr val="2B3440"/>
                </a:solidFill>
                <a:latin typeface="Calibri"/>
              </a:rPr>
              <a:t>trực</a:t>
            </a:r>
            <a:r>
              <a:rPr sz="1400" b="0" i="0" dirty="0">
                <a:solidFill>
                  <a:srgbClr val="2B3440"/>
                </a:solidFill>
                <a:latin typeface="Calibri"/>
              </a:rPr>
              <a:t> </a:t>
            </a:r>
            <a:r>
              <a:rPr sz="1400" b="0" i="0" dirty="0" err="1">
                <a:solidFill>
                  <a:srgbClr val="2B3440"/>
                </a:solidFill>
                <a:latin typeface="Calibri"/>
              </a:rPr>
              <a:t>tiếp</a:t>
            </a:r>
            <a:r>
              <a:rPr sz="1400" b="0" i="0" dirty="0">
                <a:solidFill>
                  <a:srgbClr val="2B3440"/>
                </a:solidFill>
                <a:latin typeface="Calibri"/>
              </a:rPr>
              <a:t> </a:t>
            </a:r>
            <a:r>
              <a:rPr sz="1400" b="0" i="0" dirty="0" err="1">
                <a:solidFill>
                  <a:srgbClr val="2B3440"/>
                </a:solidFill>
                <a:latin typeface="Calibri"/>
              </a:rPr>
              <a:t>với</a:t>
            </a:r>
            <a:r>
              <a:rPr sz="1400" b="0" i="0" dirty="0">
                <a:solidFill>
                  <a:srgbClr val="2B3440"/>
                </a:solidFill>
                <a:latin typeface="Calibri"/>
              </a:rPr>
              <a:t> </a:t>
            </a:r>
            <a:r>
              <a:rPr sz="1400" b="0" i="0" dirty="0" err="1">
                <a:solidFill>
                  <a:srgbClr val="2B3440"/>
                </a:solidFill>
                <a:latin typeface="Calibri"/>
              </a:rPr>
              <a:t>việc</a:t>
            </a:r>
            <a:r>
              <a:rPr sz="1400" b="0" i="0" dirty="0">
                <a:solidFill>
                  <a:srgbClr val="2B3440"/>
                </a:solidFill>
                <a:latin typeface="Calibri"/>
              </a:rPr>
              <a:t> </a:t>
            </a:r>
            <a:r>
              <a:rPr sz="1400" b="0" i="0" dirty="0" err="1">
                <a:solidFill>
                  <a:srgbClr val="2B3440"/>
                </a:solidFill>
                <a:latin typeface="Calibri"/>
              </a:rPr>
              <a:t>tiếp</a:t>
            </a:r>
            <a:r>
              <a:rPr sz="1400" b="0" i="0" dirty="0">
                <a:solidFill>
                  <a:srgbClr val="2B3440"/>
                </a:solidFill>
                <a:latin typeface="Calibri"/>
              </a:rPr>
              <a:t> </a:t>
            </a:r>
            <a:r>
              <a:rPr sz="1400" b="0" i="0" dirty="0" err="1">
                <a:solidFill>
                  <a:srgbClr val="2B3440"/>
                </a:solidFill>
                <a:latin typeface="Calibri"/>
              </a:rPr>
              <a:t>nhận</a:t>
            </a:r>
            <a:r>
              <a:rPr sz="1400" b="0" i="0" dirty="0">
                <a:solidFill>
                  <a:srgbClr val="2B3440"/>
                </a:solidFill>
                <a:latin typeface="Calibri"/>
              </a:rPr>
              <a:t> </a:t>
            </a:r>
            <a:r>
              <a:rPr sz="1400" b="0" i="0" dirty="0" err="1">
                <a:solidFill>
                  <a:srgbClr val="2B3440"/>
                </a:solidFill>
                <a:latin typeface="Calibri"/>
              </a:rPr>
              <a:t>và</a:t>
            </a:r>
            <a:r>
              <a:rPr sz="1400" b="0" i="0" dirty="0">
                <a:solidFill>
                  <a:srgbClr val="2B3440"/>
                </a:solidFill>
                <a:latin typeface="Calibri"/>
              </a:rPr>
              <a:t> </a:t>
            </a:r>
            <a:r>
              <a:rPr sz="1400" b="0" i="0" dirty="0" err="1">
                <a:solidFill>
                  <a:srgbClr val="2B3440"/>
                </a:solidFill>
                <a:latin typeface="Calibri"/>
              </a:rPr>
              <a:t>đáp</a:t>
            </a:r>
            <a:r>
              <a:rPr sz="1400" b="0" i="0" dirty="0">
                <a:solidFill>
                  <a:srgbClr val="2B3440"/>
                </a:solidFill>
                <a:latin typeface="Calibri"/>
              </a:rPr>
              <a:t> </a:t>
            </a:r>
            <a:r>
              <a:rPr sz="1400" b="0" i="0" dirty="0" err="1">
                <a:solidFill>
                  <a:srgbClr val="2B3440"/>
                </a:solidFill>
                <a:latin typeface="Calibri"/>
              </a:rPr>
              <a:t>ứng</a:t>
            </a:r>
            <a:r>
              <a:rPr sz="1400" b="0" i="0" dirty="0">
                <a:solidFill>
                  <a:srgbClr val="2B3440"/>
                </a:solidFill>
                <a:latin typeface="Calibri"/>
              </a:rPr>
              <a:t> </a:t>
            </a:r>
            <a:r>
              <a:rPr sz="1400" b="0" i="0" dirty="0" err="1">
                <a:solidFill>
                  <a:srgbClr val="2B3440"/>
                </a:solidFill>
                <a:latin typeface="Calibri"/>
              </a:rPr>
              <a:t>nhu</a:t>
            </a:r>
            <a:r>
              <a:rPr sz="1400" b="0" i="0" dirty="0">
                <a:solidFill>
                  <a:srgbClr val="2B3440"/>
                </a:solidFill>
                <a:latin typeface="Calibri"/>
              </a:rPr>
              <a:t> </a:t>
            </a:r>
            <a:r>
              <a:rPr sz="1400" b="0" i="0" dirty="0" err="1">
                <a:solidFill>
                  <a:srgbClr val="2B3440"/>
                </a:solidFill>
                <a:latin typeface="Calibri"/>
              </a:rPr>
              <a:t>cầu</a:t>
            </a:r>
            <a:r>
              <a:rPr sz="1400" b="0" i="0" dirty="0">
                <a:solidFill>
                  <a:srgbClr val="2B3440"/>
                </a:solidFill>
                <a:latin typeface="Calibri"/>
              </a:rPr>
              <a:t> </a:t>
            </a:r>
            <a:r>
              <a:rPr sz="1400" b="0" i="0" dirty="0" err="1">
                <a:solidFill>
                  <a:srgbClr val="2B3440"/>
                </a:solidFill>
                <a:latin typeface="Calibri"/>
              </a:rPr>
              <a:t>của</a:t>
            </a:r>
            <a:r>
              <a:rPr sz="1400" b="0" i="0" dirty="0">
                <a:solidFill>
                  <a:srgbClr val="2B3440"/>
                </a:solidFill>
                <a:latin typeface="Calibri"/>
              </a:rPr>
              <a:t> </a:t>
            </a:r>
            <a:r>
              <a:rPr sz="1400" b="0" i="0" dirty="0" err="1">
                <a:solidFill>
                  <a:srgbClr val="2B3440"/>
                </a:solidFill>
                <a:latin typeface="Calibri"/>
              </a:rPr>
              <a:t>khách</a:t>
            </a:r>
            <a:r>
              <a:rPr sz="1400" b="0" i="0" dirty="0">
                <a:solidFill>
                  <a:srgbClr val="2B3440"/>
                </a:solidFill>
                <a:latin typeface="Calibri"/>
              </a:rPr>
              <a:t> </a:t>
            </a:r>
            <a:r>
              <a:rPr sz="1400" b="0" i="0" dirty="0" err="1">
                <a:solidFill>
                  <a:srgbClr val="2B3440"/>
                </a:solidFill>
                <a:latin typeface="Calibri"/>
              </a:rPr>
              <a:t>hàng</a:t>
            </a:r>
            <a:r>
              <a:rPr sz="1400" b="0" i="0" dirty="0">
                <a:solidFill>
                  <a:srgbClr val="2B3440"/>
                </a:solidFill>
                <a:latin typeface="Calibri"/>
              </a:rPr>
              <a:t> — </a:t>
            </a:r>
            <a:r>
              <a:rPr sz="1400" b="0" i="0" dirty="0" err="1">
                <a:solidFill>
                  <a:srgbClr val="2B3440"/>
                </a:solidFill>
                <a:latin typeface="Calibri"/>
              </a:rPr>
              <a:t>trục</a:t>
            </a:r>
            <a:r>
              <a:rPr sz="1400" b="0" i="0" dirty="0">
                <a:solidFill>
                  <a:srgbClr val="2B3440"/>
                </a:solidFill>
                <a:latin typeface="Calibri"/>
              </a:rPr>
              <a:t> </a:t>
            </a:r>
            <a:r>
              <a:rPr sz="1400" b="0" i="0" dirty="0" err="1">
                <a:solidFill>
                  <a:srgbClr val="2B3440"/>
                </a:solidFill>
                <a:latin typeface="Calibri"/>
              </a:rPr>
              <a:t>tạo</a:t>
            </a:r>
            <a:r>
              <a:rPr sz="1400" b="0" i="0" dirty="0">
                <a:solidFill>
                  <a:srgbClr val="2B3440"/>
                </a:solidFill>
                <a:latin typeface="Calibri"/>
              </a:rPr>
              <a:t> </a:t>
            </a:r>
            <a:r>
              <a:rPr sz="1400" b="0" i="0" dirty="0" err="1">
                <a:solidFill>
                  <a:srgbClr val="2B3440"/>
                </a:solidFill>
                <a:latin typeface="Calibri"/>
              </a:rPr>
              <a:t>giá</a:t>
            </a:r>
            <a:r>
              <a:rPr sz="1400" b="0" i="0" dirty="0">
                <a:solidFill>
                  <a:srgbClr val="2B3440"/>
                </a:solidFill>
                <a:latin typeface="Calibri"/>
              </a:rPr>
              <a:t> </a:t>
            </a:r>
            <a:r>
              <a:rPr sz="1400" b="0" i="0" dirty="0" err="1">
                <a:solidFill>
                  <a:srgbClr val="2B3440"/>
                </a:solidFill>
                <a:latin typeface="Calibri"/>
              </a:rPr>
              <a:t>trị</a:t>
            </a:r>
            <a:r>
              <a:rPr sz="1400" b="0" i="0" dirty="0">
                <a:solidFill>
                  <a:srgbClr val="2B3440"/>
                </a:solidFill>
                <a:latin typeface="Calibri"/>
              </a:rPr>
              <a:t> </a:t>
            </a:r>
            <a:r>
              <a:rPr sz="1400" b="0" i="0" dirty="0" err="1">
                <a:solidFill>
                  <a:srgbClr val="2B3440"/>
                </a:solidFill>
                <a:latin typeface="Calibri"/>
              </a:rPr>
              <a:t>chính</a:t>
            </a:r>
            <a:r>
              <a:rPr sz="1400" b="0" i="0" dirty="0">
                <a:solidFill>
                  <a:srgbClr val="2B3440"/>
                </a:solidFill>
                <a:latin typeface="Calibri"/>
              </a:rPr>
              <a:t>.</a:t>
            </a:r>
          </a:p>
        </p:txBody>
      </p:sp>
      <p:sp>
        <p:nvSpPr>
          <p:cNvPr id="37" name="Rectangle 36"/>
          <p:cNvSpPr/>
          <p:nvPr/>
        </p:nvSpPr>
        <p:spPr>
          <a:xfrm>
            <a:off x="8091220" y="1792224"/>
            <a:ext cx="3442106" cy="475488"/>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8" name="TextBox 37"/>
          <p:cNvSpPr txBox="1"/>
          <p:nvPr/>
        </p:nvSpPr>
        <p:spPr>
          <a:xfrm>
            <a:off x="8274100" y="1922246"/>
            <a:ext cx="3076346" cy="215444"/>
          </a:xfrm>
          <a:prstGeom prst="rect">
            <a:avLst/>
          </a:prstGeom>
          <a:noFill/>
        </p:spPr>
        <p:txBody>
          <a:bodyPr wrap="square" lIns="0" tIns="0" rIns="0" bIns="0" anchor="ctr">
            <a:spAutoFit/>
          </a:bodyPr>
          <a:lstStyle/>
          <a:p>
            <a:pPr algn="ctr">
              <a:lnSpc>
                <a:spcPct val="100000"/>
              </a:lnSpc>
            </a:pPr>
            <a:r>
              <a:rPr sz="1400" b="1" i="0">
                <a:solidFill>
                  <a:srgbClr val="0A2540"/>
                </a:solidFill>
                <a:latin typeface="Calibri"/>
              </a:rPr>
              <a:t>SUPPORTING PROCESSES</a:t>
            </a:r>
          </a:p>
        </p:txBody>
      </p:sp>
      <p:sp>
        <p:nvSpPr>
          <p:cNvPr id="39" name="Rectangle 38"/>
          <p:cNvSpPr/>
          <p:nvPr/>
        </p:nvSpPr>
        <p:spPr>
          <a:xfrm>
            <a:off x="8091220" y="2377440"/>
            <a:ext cx="3442106" cy="1042415"/>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40" name="Rectangle 39"/>
          <p:cNvSpPr/>
          <p:nvPr/>
        </p:nvSpPr>
        <p:spPr>
          <a:xfrm>
            <a:off x="8091220" y="2377440"/>
            <a:ext cx="50292" cy="1042415"/>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41" name="TextBox 40"/>
          <p:cNvSpPr txBox="1"/>
          <p:nvPr/>
        </p:nvSpPr>
        <p:spPr>
          <a:xfrm>
            <a:off x="8310676" y="2505456"/>
            <a:ext cx="3039770" cy="215444"/>
          </a:xfrm>
          <a:prstGeom prst="rect">
            <a:avLst/>
          </a:prstGeom>
          <a:noFill/>
        </p:spPr>
        <p:txBody>
          <a:bodyPr wrap="square" lIns="0" tIns="0" rIns="0" bIns="0" anchor="t">
            <a:spAutoFit/>
          </a:bodyPr>
          <a:lstStyle/>
          <a:p>
            <a:pPr algn="l">
              <a:lnSpc>
                <a:spcPct val="100000"/>
              </a:lnSpc>
            </a:pPr>
            <a:r>
              <a:rPr sz="1400" b="1" i="0">
                <a:solidFill>
                  <a:srgbClr val="0A2540"/>
                </a:solidFill>
                <a:latin typeface="Calibri"/>
              </a:rPr>
              <a:t>S01</a:t>
            </a:r>
          </a:p>
        </p:txBody>
      </p:sp>
      <p:sp>
        <p:nvSpPr>
          <p:cNvPr id="42" name="TextBox 41"/>
          <p:cNvSpPr txBox="1"/>
          <p:nvPr/>
        </p:nvSpPr>
        <p:spPr>
          <a:xfrm>
            <a:off x="8310676" y="2761488"/>
            <a:ext cx="3039770" cy="236988"/>
          </a:xfrm>
          <a:prstGeom prst="rect">
            <a:avLst/>
          </a:prstGeom>
          <a:noFill/>
        </p:spPr>
        <p:txBody>
          <a:bodyPr wrap="square" lIns="0" tIns="0" rIns="0" bIns="0" anchor="t">
            <a:spAutoFit/>
          </a:bodyPr>
          <a:lstStyle/>
          <a:p>
            <a:pPr algn="l">
              <a:lnSpc>
                <a:spcPct val="110000"/>
              </a:lnSpc>
            </a:pPr>
            <a:r>
              <a:rPr sz="1400" b="1" i="0">
                <a:solidFill>
                  <a:srgbClr val="0A2540"/>
                </a:solidFill>
                <a:latin typeface="Calibri"/>
              </a:rPr>
              <a:t>Quản lý mua hàng và cung ứng</a:t>
            </a:r>
          </a:p>
        </p:txBody>
      </p:sp>
      <p:sp>
        <p:nvSpPr>
          <p:cNvPr id="43" name="TextBox 42"/>
          <p:cNvSpPr txBox="1"/>
          <p:nvPr/>
        </p:nvSpPr>
        <p:spPr>
          <a:xfrm>
            <a:off x="8310676" y="3163824"/>
            <a:ext cx="3039770" cy="219456"/>
          </a:xfrm>
          <a:prstGeom prst="rect">
            <a:avLst/>
          </a:prstGeom>
          <a:noFill/>
        </p:spPr>
        <p:txBody>
          <a:bodyPr wrap="square" lIns="0" tIns="0" rIns="0" bIns="0" anchor="t">
            <a:spAutoFit/>
          </a:bodyPr>
          <a:lstStyle/>
          <a:p>
            <a:pPr algn="l">
              <a:lnSpc>
                <a:spcPct val="100000"/>
              </a:lnSpc>
            </a:pPr>
            <a:r>
              <a:rPr sz="1400" b="0" i="1">
                <a:solidFill>
                  <a:srgbClr val="6B7784"/>
                </a:solidFill>
                <a:latin typeface="Calibri"/>
              </a:rPr>
              <a:t>Procurement Management</a:t>
            </a:r>
          </a:p>
        </p:txBody>
      </p:sp>
      <p:sp>
        <p:nvSpPr>
          <p:cNvPr id="44" name="Rectangle 43"/>
          <p:cNvSpPr/>
          <p:nvPr/>
        </p:nvSpPr>
        <p:spPr>
          <a:xfrm>
            <a:off x="8091220" y="3529584"/>
            <a:ext cx="3442106" cy="1042415"/>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45" name="Rectangle 44"/>
          <p:cNvSpPr/>
          <p:nvPr/>
        </p:nvSpPr>
        <p:spPr>
          <a:xfrm>
            <a:off x="8091220" y="3529584"/>
            <a:ext cx="50292" cy="1042415"/>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46" name="TextBox 45"/>
          <p:cNvSpPr txBox="1"/>
          <p:nvPr/>
        </p:nvSpPr>
        <p:spPr>
          <a:xfrm>
            <a:off x="8310676" y="3657600"/>
            <a:ext cx="3039770" cy="215444"/>
          </a:xfrm>
          <a:prstGeom prst="rect">
            <a:avLst/>
          </a:prstGeom>
          <a:noFill/>
        </p:spPr>
        <p:txBody>
          <a:bodyPr wrap="square" lIns="0" tIns="0" rIns="0" bIns="0" anchor="t">
            <a:spAutoFit/>
          </a:bodyPr>
          <a:lstStyle/>
          <a:p>
            <a:pPr algn="l">
              <a:lnSpc>
                <a:spcPct val="100000"/>
              </a:lnSpc>
            </a:pPr>
            <a:r>
              <a:rPr sz="1400" b="1" i="0">
                <a:solidFill>
                  <a:srgbClr val="0A2540"/>
                </a:solidFill>
                <a:latin typeface="Calibri"/>
              </a:rPr>
              <a:t>S02</a:t>
            </a:r>
          </a:p>
        </p:txBody>
      </p:sp>
      <p:sp>
        <p:nvSpPr>
          <p:cNvPr id="47" name="TextBox 46"/>
          <p:cNvSpPr txBox="1"/>
          <p:nvPr/>
        </p:nvSpPr>
        <p:spPr>
          <a:xfrm>
            <a:off x="8310676" y="3913632"/>
            <a:ext cx="3039770" cy="236988"/>
          </a:xfrm>
          <a:prstGeom prst="rect">
            <a:avLst/>
          </a:prstGeom>
          <a:noFill/>
        </p:spPr>
        <p:txBody>
          <a:bodyPr wrap="square" lIns="0" tIns="0" rIns="0" bIns="0" anchor="t">
            <a:spAutoFit/>
          </a:bodyPr>
          <a:lstStyle/>
          <a:p>
            <a:pPr algn="l">
              <a:lnSpc>
                <a:spcPct val="110000"/>
              </a:lnSpc>
            </a:pPr>
            <a:r>
              <a:rPr sz="1400" b="1" i="0">
                <a:solidFill>
                  <a:srgbClr val="0A2540"/>
                </a:solidFill>
                <a:latin typeface="Calibri"/>
              </a:rPr>
              <a:t>Quản lý nhập kho</a:t>
            </a:r>
          </a:p>
        </p:txBody>
      </p:sp>
      <p:sp>
        <p:nvSpPr>
          <p:cNvPr id="48" name="TextBox 47"/>
          <p:cNvSpPr txBox="1"/>
          <p:nvPr/>
        </p:nvSpPr>
        <p:spPr>
          <a:xfrm>
            <a:off x="8310676" y="4315968"/>
            <a:ext cx="3039770" cy="219456"/>
          </a:xfrm>
          <a:prstGeom prst="rect">
            <a:avLst/>
          </a:prstGeom>
          <a:noFill/>
        </p:spPr>
        <p:txBody>
          <a:bodyPr wrap="square" lIns="0" tIns="0" rIns="0" bIns="0" anchor="t">
            <a:spAutoFit/>
          </a:bodyPr>
          <a:lstStyle/>
          <a:p>
            <a:pPr algn="l">
              <a:lnSpc>
                <a:spcPct val="100000"/>
              </a:lnSpc>
            </a:pPr>
            <a:r>
              <a:rPr sz="1400" b="0" i="1">
                <a:solidFill>
                  <a:srgbClr val="6B7784"/>
                </a:solidFill>
                <a:latin typeface="Calibri"/>
              </a:rPr>
              <a:t>Inbound Processing</a:t>
            </a:r>
          </a:p>
        </p:txBody>
      </p:sp>
      <p:sp>
        <p:nvSpPr>
          <p:cNvPr id="49" name="Rectangle 48"/>
          <p:cNvSpPr/>
          <p:nvPr/>
        </p:nvSpPr>
        <p:spPr>
          <a:xfrm>
            <a:off x="8091220" y="4736592"/>
            <a:ext cx="3442106" cy="1216152"/>
          </a:xfrm>
          <a:prstGeom prst="rect">
            <a:avLst/>
          </a:prstGeom>
          <a:solidFill>
            <a:srgbClr val="E9F3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0" name="TextBox 49"/>
          <p:cNvSpPr txBox="1"/>
          <p:nvPr/>
        </p:nvSpPr>
        <p:spPr>
          <a:xfrm>
            <a:off x="8292388" y="4810643"/>
            <a:ext cx="3039770" cy="1068049"/>
          </a:xfrm>
          <a:prstGeom prst="rect">
            <a:avLst/>
          </a:prstGeom>
          <a:noFill/>
        </p:spPr>
        <p:txBody>
          <a:bodyPr wrap="square" lIns="0" tIns="0" rIns="0" bIns="0" anchor="ctr">
            <a:spAutoFit/>
          </a:bodyPr>
          <a:lstStyle/>
          <a:p>
            <a:pPr algn="l">
              <a:lnSpc>
                <a:spcPct val="100000"/>
              </a:lnSpc>
            </a:pPr>
            <a:r>
              <a:rPr sz="1400" b="1" i="0" dirty="0">
                <a:solidFill>
                  <a:srgbClr val="0096D6"/>
                </a:solidFill>
                <a:latin typeface="Calibri"/>
              </a:rPr>
              <a:t>LÝ DO LỰA CHỌN</a:t>
            </a:r>
          </a:p>
          <a:p>
            <a:pPr algn="l">
              <a:lnSpc>
                <a:spcPct val="122000"/>
              </a:lnSpc>
              <a:spcBef>
                <a:spcPts val="500"/>
              </a:spcBef>
            </a:pPr>
            <a:r>
              <a:rPr sz="1400" b="0" i="0" dirty="0" err="1">
                <a:solidFill>
                  <a:srgbClr val="2B3440"/>
                </a:solidFill>
                <a:latin typeface="Calibri"/>
              </a:rPr>
              <a:t>Thể</a:t>
            </a:r>
            <a:r>
              <a:rPr sz="1400" b="0" i="0" dirty="0">
                <a:solidFill>
                  <a:srgbClr val="2B3440"/>
                </a:solidFill>
                <a:latin typeface="Calibri"/>
              </a:rPr>
              <a:t> </a:t>
            </a:r>
            <a:r>
              <a:rPr sz="1400" b="0" i="0" dirty="0" err="1">
                <a:solidFill>
                  <a:srgbClr val="2B3440"/>
                </a:solidFill>
                <a:latin typeface="Calibri"/>
              </a:rPr>
              <a:t>hiện</a:t>
            </a:r>
            <a:r>
              <a:rPr sz="1400" b="0" i="0" dirty="0">
                <a:solidFill>
                  <a:srgbClr val="2B3440"/>
                </a:solidFill>
                <a:latin typeface="Calibri"/>
              </a:rPr>
              <a:t> </a:t>
            </a:r>
            <a:r>
              <a:rPr sz="1400" b="0" i="0" dirty="0" err="1">
                <a:solidFill>
                  <a:srgbClr val="2B3440"/>
                </a:solidFill>
                <a:latin typeface="Calibri"/>
              </a:rPr>
              <a:t>hoạt</a:t>
            </a:r>
            <a:r>
              <a:rPr sz="1400" b="0" i="0" dirty="0">
                <a:solidFill>
                  <a:srgbClr val="2B3440"/>
                </a:solidFill>
                <a:latin typeface="Calibri"/>
              </a:rPr>
              <a:t> </a:t>
            </a:r>
            <a:r>
              <a:rPr sz="1400" b="0" i="0" dirty="0" err="1">
                <a:solidFill>
                  <a:srgbClr val="2B3440"/>
                </a:solidFill>
                <a:latin typeface="Calibri"/>
              </a:rPr>
              <a:t>động</a:t>
            </a:r>
            <a:r>
              <a:rPr sz="1400" b="0" i="0" dirty="0">
                <a:solidFill>
                  <a:srgbClr val="2B3440"/>
                </a:solidFill>
                <a:latin typeface="Calibri"/>
              </a:rPr>
              <a:t> </a:t>
            </a:r>
            <a:r>
              <a:rPr sz="1400" b="0" i="0" dirty="0" err="1">
                <a:solidFill>
                  <a:srgbClr val="2B3440"/>
                </a:solidFill>
                <a:latin typeface="Calibri"/>
              </a:rPr>
              <a:t>hỗ</a:t>
            </a:r>
            <a:r>
              <a:rPr sz="1400" b="0" i="0" dirty="0">
                <a:solidFill>
                  <a:srgbClr val="2B3440"/>
                </a:solidFill>
                <a:latin typeface="Calibri"/>
              </a:rPr>
              <a:t> </a:t>
            </a:r>
            <a:r>
              <a:rPr sz="1400" b="0" i="0" dirty="0" err="1">
                <a:solidFill>
                  <a:srgbClr val="2B3440"/>
                </a:solidFill>
                <a:latin typeface="Calibri"/>
              </a:rPr>
              <a:t>trợ</a:t>
            </a:r>
            <a:r>
              <a:rPr sz="1400" b="0" i="0" dirty="0">
                <a:solidFill>
                  <a:srgbClr val="2B3440"/>
                </a:solidFill>
                <a:latin typeface="Calibri"/>
              </a:rPr>
              <a:t> </a:t>
            </a:r>
            <a:r>
              <a:rPr sz="1400" b="0" i="0" dirty="0" err="1">
                <a:solidFill>
                  <a:srgbClr val="2B3440"/>
                </a:solidFill>
                <a:latin typeface="Calibri"/>
              </a:rPr>
              <a:t>chuỗi</a:t>
            </a:r>
            <a:r>
              <a:rPr sz="1400" b="0" i="0" dirty="0">
                <a:solidFill>
                  <a:srgbClr val="2B3440"/>
                </a:solidFill>
                <a:latin typeface="Calibri"/>
              </a:rPr>
              <a:t> </a:t>
            </a:r>
            <a:r>
              <a:rPr sz="1400" b="0" i="0" dirty="0" err="1">
                <a:solidFill>
                  <a:srgbClr val="2B3440"/>
                </a:solidFill>
                <a:latin typeface="Calibri"/>
              </a:rPr>
              <a:t>cung</a:t>
            </a:r>
            <a:r>
              <a:rPr sz="1400" b="0" i="0" dirty="0">
                <a:solidFill>
                  <a:srgbClr val="2B3440"/>
                </a:solidFill>
                <a:latin typeface="Calibri"/>
              </a:rPr>
              <a:t> </a:t>
            </a:r>
            <a:r>
              <a:rPr sz="1400" b="0" i="0" dirty="0" err="1">
                <a:solidFill>
                  <a:srgbClr val="2B3440"/>
                </a:solidFill>
                <a:latin typeface="Calibri"/>
              </a:rPr>
              <a:t>ứng</a:t>
            </a:r>
            <a:r>
              <a:rPr sz="1400" b="0" i="0" dirty="0">
                <a:solidFill>
                  <a:srgbClr val="2B3440"/>
                </a:solidFill>
                <a:latin typeface="Calibri"/>
              </a:rPr>
              <a:t>: </a:t>
            </a:r>
            <a:r>
              <a:rPr sz="1400" b="0" i="0" dirty="0" err="1">
                <a:solidFill>
                  <a:srgbClr val="2B3440"/>
                </a:solidFill>
                <a:latin typeface="Calibri"/>
              </a:rPr>
              <a:t>hình</a:t>
            </a:r>
            <a:r>
              <a:rPr sz="1400" b="0" i="0" dirty="0">
                <a:solidFill>
                  <a:srgbClr val="2B3440"/>
                </a:solidFill>
                <a:latin typeface="Calibri"/>
              </a:rPr>
              <a:t> </a:t>
            </a:r>
            <a:r>
              <a:rPr sz="1400" b="0" i="0" dirty="0" err="1">
                <a:solidFill>
                  <a:srgbClr val="2B3440"/>
                </a:solidFill>
                <a:latin typeface="Calibri"/>
              </a:rPr>
              <a:t>thành</a:t>
            </a:r>
            <a:r>
              <a:rPr sz="1400" b="0" i="0" dirty="0">
                <a:solidFill>
                  <a:srgbClr val="2B3440"/>
                </a:solidFill>
                <a:latin typeface="Calibri"/>
              </a:rPr>
              <a:t> </a:t>
            </a:r>
            <a:r>
              <a:rPr sz="1400" b="0" i="0" dirty="0" err="1">
                <a:solidFill>
                  <a:srgbClr val="2B3440"/>
                </a:solidFill>
                <a:latin typeface="Calibri"/>
              </a:rPr>
              <a:t>nhu</a:t>
            </a:r>
            <a:r>
              <a:rPr sz="1400" b="0" i="0" dirty="0">
                <a:solidFill>
                  <a:srgbClr val="2B3440"/>
                </a:solidFill>
                <a:latin typeface="Calibri"/>
              </a:rPr>
              <a:t> </a:t>
            </a:r>
            <a:r>
              <a:rPr sz="1400" b="0" i="0" dirty="0" err="1">
                <a:solidFill>
                  <a:srgbClr val="2B3440"/>
                </a:solidFill>
                <a:latin typeface="Calibri"/>
              </a:rPr>
              <a:t>cầu</a:t>
            </a:r>
            <a:r>
              <a:rPr sz="1400" b="0" i="0" dirty="0">
                <a:solidFill>
                  <a:srgbClr val="2B3440"/>
                </a:solidFill>
                <a:latin typeface="Calibri"/>
              </a:rPr>
              <a:t> </a:t>
            </a:r>
            <a:r>
              <a:rPr sz="1400" b="0" i="0" dirty="0" err="1">
                <a:solidFill>
                  <a:srgbClr val="2B3440"/>
                </a:solidFill>
                <a:latin typeface="Calibri"/>
              </a:rPr>
              <a:t>mua</a:t>
            </a:r>
            <a:r>
              <a:rPr sz="1400" b="0" i="0" dirty="0">
                <a:solidFill>
                  <a:srgbClr val="2B3440"/>
                </a:solidFill>
                <a:latin typeface="Calibri"/>
              </a:rPr>
              <a:t> </a:t>
            </a:r>
            <a:r>
              <a:rPr sz="1400" b="0" i="0" dirty="0" err="1">
                <a:solidFill>
                  <a:srgbClr val="2B3440"/>
                </a:solidFill>
                <a:latin typeface="Calibri"/>
              </a:rPr>
              <a:t>hàng</a:t>
            </a:r>
            <a:r>
              <a:rPr sz="1400" b="0" i="0" dirty="0">
                <a:solidFill>
                  <a:srgbClr val="2B3440"/>
                </a:solidFill>
                <a:latin typeface="Calibri"/>
              </a:rPr>
              <a:t>, </a:t>
            </a:r>
            <a:r>
              <a:rPr sz="1400" b="0" i="0" dirty="0" err="1">
                <a:solidFill>
                  <a:srgbClr val="2B3440"/>
                </a:solidFill>
                <a:latin typeface="Calibri"/>
              </a:rPr>
              <a:t>mua</a:t>
            </a:r>
            <a:r>
              <a:rPr sz="1400" b="0" i="0" dirty="0">
                <a:solidFill>
                  <a:srgbClr val="2B3440"/>
                </a:solidFill>
                <a:latin typeface="Calibri"/>
              </a:rPr>
              <a:t> </a:t>
            </a:r>
            <a:r>
              <a:rPr sz="1400" b="0" i="0" dirty="0" err="1">
                <a:solidFill>
                  <a:srgbClr val="2B3440"/>
                </a:solidFill>
                <a:latin typeface="Calibri"/>
              </a:rPr>
              <a:t>hàng</a:t>
            </a:r>
            <a:r>
              <a:rPr sz="1400" b="0" i="0" dirty="0">
                <a:solidFill>
                  <a:srgbClr val="2B3440"/>
                </a:solidFill>
                <a:latin typeface="Calibri"/>
              </a:rPr>
              <a:t> </a:t>
            </a:r>
            <a:r>
              <a:rPr sz="1400" b="0" i="0" dirty="0" err="1">
                <a:solidFill>
                  <a:srgbClr val="2B3440"/>
                </a:solidFill>
                <a:latin typeface="Calibri"/>
              </a:rPr>
              <a:t>và</a:t>
            </a:r>
            <a:r>
              <a:rPr sz="1400" b="0" i="0" dirty="0">
                <a:solidFill>
                  <a:srgbClr val="2B3440"/>
                </a:solidFill>
                <a:latin typeface="Calibri"/>
              </a:rPr>
              <a:t> </a:t>
            </a:r>
            <a:r>
              <a:rPr sz="1400" b="0" i="0" dirty="0" err="1">
                <a:solidFill>
                  <a:srgbClr val="2B3440"/>
                </a:solidFill>
                <a:latin typeface="Calibri"/>
              </a:rPr>
              <a:t>nhập</a:t>
            </a:r>
            <a:r>
              <a:rPr sz="1400" b="0" i="0" dirty="0">
                <a:solidFill>
                  <a:srgbClr val="2B3440"/>
                </a:solidFill>
                <a:latin typeface="Calibri"/>
              </a:rPr>
              <a:t> </a:t>
            </a:r>
            <a:r>
              <a:rPr sz="1400" b="0" i="0" dirty="0" err="1">
                <a:solidFill>
                  <a:srgbClr val="2B3440"/>
                </a:solidFill>
                <a:latin typeface="Calibri"/>
              </a:rPr>
              <a:t>kho</a:t>
            </a:r>
            <a:r>
              <a:rPr sz="1400" b="0" i="0" dirty="0">
                <a:solidFill>
                  <a:srgbClr val="2B3440"/>
                </a:solidFill>
                <a:latin typeface="Calibri"/>
              </a:rPr>
              <a:t>.</a:t>
            </a:r>
          </a:p>
        </p:txBody>
      </p:sp>
    </p:spTree>
    <p:extLst>
      <p:ext uri="{BB962C8B-B14F-4D97-AF65-F5344CB8AC3E}">
        <p14:creationId xmlns:p14="http://schemas.microsoft.com/office/powerpoint/2010/main" val="10385310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CHƯƠNG 3 · 3.2 MÔ HÌNH HÓA BPMN (AS-IS)  ·  NHÓM QUẢN LÝ</a:t>
            </a:r>
          </a:p>
        </p:txBody>
      </p:sp>
      <p:sp>
        <p:nvSpPr>
          <p:cNvPr id="3" name="TextBox 2"/>
          <p:cNvSpPr txBox="1"/>
          <p:nvPr/>
        </p:nvSpPr>
        <p:spPr>
          <a:xfrm>
            <a:off x="658368" y="640080"/>
            <a:ext cx="10874959" cy="603504"/>
          </a:xfrm>
          <a:prstGeom prst="rect">
            <a:avLst/>
          </a:prstGeom>
          <a:noFill/>
        </p:spPr>
        <p:txBody>
          <a:bodyPr wrap="square" lIns="0" tIns="0" rIns="0" bIns="0" anchor="t">
            <a:spAutoFit/>
          </a:bodyPr>
          <a:lstStyle/>
          <a:p>
            <a:pPr algn="l">
              <a:lnSpc>
                <a:spcPct val="105000"/>
              </a:lnSpc>
            </a:pPr>
            <a:r>
              <a:rPr sz="2500" b="1" i="0">
                <a:solidFill>
                  <a:srgbClr val="0A2540"/>
                </a:solidFill>
                <a:latin typeface="Calibri"/>
              </a:rPr>
              <a:t>M01  —  Hoạch định và triển khai chiến lược kinh doanh</a:t>
            </a: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371600"/>
            <a:ext cx="10874959" cy="274320"/>
          </a:xfrm>
          <a:prstGeom prst="rect">
            <a:avLst/>
          </a:prstGeom>
          <a:noFill/>
        </p:spPr>
        <p:txBody>
          <a:bodyPr wrap="square" lIns="0" tIns="0" rIns="0" bIns="0" anchor="t">
            <a:spAutoFit/>
          </a:bodyPr>
          <a:lstStyle/>
          <a:p>
            <a:pPr algn="l">
              <a:lnSpc>
                <a:spcPct val="118000"/>
              </a:lnSpc>
            </a:pPr>
            <a:r>
              <a:rPr sz="1100" b="0" i="1">
                <a:solidFill>
                  <a:srgbClr val="6B7784"/>
                </a:solidFill>
                <a:latin typeface="Calibri"/>
              </a:rPr>
              <a:t>Business Planning</a:t>
            </a:r>
          </a:p>
        </p:txBody>
      </p:sp>
      <p:sp>
        <p:nvSpPr>
          <p:cNvPr id="7" name="TextBox 6"/>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8" name="TextBox 7"/>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16</a:t>
            </a:r>
          </a:p>
        </p:txBody>
      </p:sp>
      <p:sp>
        <p:nvSpPr>
          <p:cNvPr id="9" name="Rectangle 8"/>
          <p:cNvSpPr/>
          <p:nvPr/>
        </p:nvSpPr>
        <p:spPr>
          <a:xfrm>
            <a:off x="658368" y="1792224"/>
            <a:ext cx="3454298" cy="3273552"/>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 name="Rectangle 9"/>
          <p:cNvSpPr/>
          <p:nvPr/>
        </p:nvSpPr>
        <p:spPr>
          <a:xfrm>
            <a:off x="658368" y="1792224"/>
            <a:ext cx="50292" cy="3273552"/>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 name="TextBox 10"/>
          <p:cNvSpPr txBox="1"/>
          <p:nvPr/>
        </p:nvSpPr>
        <p:spPr>
          <a:xfrm>
            <a:off x="896112" y="1975104"/>
            <a:ext cx="3033674" cy="215444"/>
          </a:xfrm>
          <a:prstGeom prst="rect">
            <a:avLst/>
          </a:prstGeom>
          <a:noFill/>
        </p:spPr>
        <p:txBody>
          <a:bodyPr wrap="square" lIns="0" tIns="0" rIns="0" bIns="0" anchor="t">
            <a:spAutoFit/>
          </a:bodyPr>
          <a:lstStyle/>
          <a:p>
            <a:pPr algn="l">
              <a:lnSpc>
                <a:spcPct val="100000"/>
              </a:lnSpc>
            </a:pPr>
            <a:r>
              <a:rPr sz="1400" b="1" i="0">
                <a:solidFill>
                  <a:srgbClr val="0096D6"/>
                </a:solidFill>
                <a:latin typeface="Calibri"/>
              </a:rPr>
              <a:t>TÁC NHÂN THAM GIA (LANE)</a:t>
            </a:r>
          </a:p>
        </p:txBody>
      </p:sp>
      <p:sp>
        <p:nvSpPr>
          <p:cNvPr id="12" name="TextBox 11"/>
          <p:cNvSpPr txBox="1"/>
          <p:nvPr/>
        </p:nvSpPr>
        <p:spPr>
          <a:xfrm>
            <a:off x="896112" y="2322576"/>
            <a:ext cx="3033674" cy="1651734"/>
          </a:xfrm>
          <a:prstGeom prst="rect">
            <a:avLst/>
          </a:prstGeom>
          <a:noFill/>
        </p:spPr>
        <p:txBody>
          <a:bodyPr wrap="square" lIns="0" tIns="0" rIns="0" bIns="0" anchor="t">
            <a:spAutoFit/>
          </a:bodyPr>
          <a:lstStyle/>
          <a:p>
            <a:pPr algn="l">
              <a:lnSpc>
                <a:spcPct val="120000"/>
              </a:lnSpc>
              <a:spcAft>
                <a:spcPts val="700"/>
              </a:spcAft>
            </a:pPr>
            <a:r>
              <a:rPr sz="1400" b="0" i="0" dirty="0">
                <a:solidFill>
                  <a:srgbClr val="2B3440"/>
                </a:solidFill>
                <a:latin typeface="Calibri"/>
              </a:rPr>
              <a:t>•  CEO / Executive Leadership</a:t>
            </a:r>
          </a:p>
          <a:p>
            <a:pPr algn="l">
              <a:lnSpc>
                <a:spcPct val="120000"/>
              </a:lnSpc>
              <a:spcAft>
                <a:spcPts val="700"/>
              </a:spcAft>
            </a:pPr>
            <a:r>
              <a:rPr sz="1400" b="0" i="0" dirty="0">
                <a:solidFill>
                  <a:srgbClr val="2B3440"/>
                </a:solidFill>
                <a:latin typeface="Calibri"/>
              </a:rPr>
              <a:t>•  Country Business Leader (CBL)</a:t>
            </a:r>
          </a:p>
          <a:p>
            <a:pPr algn="l">
              <a:lnSpc>
                <a:spcPct val="120000"/>
              </a:lnSpc>
              <a:spcAft>
                <a:spcPts val="700"/>
              </a:spcAft>
            </a:pPr>
            <a:r>
              <a:rPr sz="1400" b="0" i="0" dirty="0">
                <a:solidFill>
                  <a:srgbClr val="2B3440"/>
                </a:solidFill>
                <a:latin typeface="Calibri"/>
              </a:rPr>
              <a:t>•  Business Team</a:t>
            </a:r>
          </a:p>
          <a:p>
            <a:pPr algn="l">
              <a:lnSpc>
                <a:spcPct val="120000"/>
              </a:lnSpc>
              <a:spcAft>
                <a:spcPts val="700"/>
              </a:spcAft>
            </a:pPr>
            <a:r>
              <a:rPr sz="1400" b="0" i="0" dirty="0">
                <a:solidFill>
                  <a:srgbClr val="2B3440"/>
                </a:solidFill>
                <a:latin typeface="Calibri"/>
              </a:rPr>
              <a:t>•  Finance</a:t>
            </a:r>
          </a:p>
          <a:p>
            <a:pPr algn="l">
              <a:lnSpc>
                <a:spcPct val="120000"/>
              </a:lnSpc>
              <a:spcAft>
                <a:spcPts val="700"/>
              </a:spcAft>
            </a:pPr>
            <a:r>
              <a:rPr sz="1400" b="0" i="0" dirty="0">
                <a:solidFill>
                  <a:srgbClr val="2B3440"/>
                </a:solidFill>
                <a:latin typeface="Calibri"/>
              </a:rPr>
              <a:t>•  Functional Managers</a:t>
            </a:r>
          </a:p>
        </p:txBody>
      </p:sp>
      <p:sp>
        <p:nvSpPr>
          <p:cNvPr id="13" name="Rectangle 12"/>
          <p:cNvSpPr/>
          <p:nvPr/>
        </p:nvSpPr>
        <p:spPr>
          <a:xfrm>
            <a:off x="4368698" y="1792224"/>
            <a:ext cx="3454298" cy="3273552"/>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4" name="Rectangle 13"/>
          <p:cNvSpPr/>
          <p:nvPr/>
        </p:nvSpPr>
        <p:spPr>
          <a:xfrm>
            <a:off x="4368698" y="1792224"/>
            <a:ext cx="50292" cy="3273552"/>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5" name="TextBox 14"/>
          <p:cNvSpPr txBox="1"/>
          <p:nvPr/>
        </p:nvSpPr>
        <p:spPr>
          <a:xfrm>
            <a:off x="4606442" y="1975104"/>
            <a:ext cx="3033674" cy="215444"/>
          </a:xfrm>
          <a:prstGeom prst="rect">
            <a:avLst/>
          </a:prstGeom>
          <a:noFill/>
        </p:spPr>
        <p:txBody>
          <a:bodyPr wrap="square" lIns="0" tIns="0" rIns="0" bIns="0" anchor="t">
            <a:spAutoFit/>
          </a:bodyPr>
          <a:lstStyle/>
          <a:p>
            <a:pPr algn="l">
              <a:lnSpc>
                <a:spcPct val="100000"/>
              </a:lnSpc>
            </a:pPr>
            <a:r>
              <a:rPr sz="1400" b="1" i="0">
                <a:solidFill>
                  <a:srgbClr val="0096D6"/>
                </a:solidFill>
                <a:latin typeface="Calibri"/>
              </a:rPr>
              <a:t>PHẠM VI QUY TRÌNH</a:t>
            </a:r>
          </a:p>
        </p:txBody>
      </p:sp>
      <p:sp>
        <p:nvSpPr>
          <p:cNvPr id="16" name="Rectangle 15"/>
          <p:cNvSpPr/>
          <p:nvPr/>
        </p:nvSpPr>
        <p:spPr>
          <a:xfrm>
            <a:off x="4606442" y="2322576"/>
            <a:ext cx="1207008" cy="310896"/>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7" name="TextBox 16"/>
          <p:cNvSpPr txBox="1"/>
          <p:nvPr/>
        </p:nvSpPr>
        <p:spPr>
          <a:xfrm>
            <a:off x="4606442" y="2370302"/>
            <a:ext cx="1207008" cy="215444"/>
          </a:xfrm>
          <a:prstGeom prst="rect">
            <a:avLst/>
          </a:prstGeom>
          <a:noFill/>
        </p:spPr>
        <p:txBody>
          <a:bodyPr wrap="square" lIns="0" tIns="0" rIns="0" bIns="0" anchor="ctr">
            <a:spAutoFit/>
          </a:bodyPr>
          <a:lstStyle/>
          <a:p>
            <a:pPr algn="ctr">
              <a:lnSpc>
                <a:spcPct val="100000"/>
              </a:lnSpc>
            </a:pPr>
            <a:r>
              <a:rPr sz="1400" b="1" i="0">
                <a:solidFill>
                  <a:srgbClr val="0A2540"/>
                </a:solidFill>
                <a:latin typeface="Calibri"/>
              </a:rPr>
              <a:t>▶  BẮT ĐẦU</a:t>
            </a:r>
          </a:p>
        </p:txBody>
      </p:sp>
      <p:sp>
        <p:nvSpPr>
          <p:cNvPr id="18" name="TextBox 17"/>
          <p:cNvSpPr txBox="1"/>
          <p:nvPr/>
        </p:nvSpPr>
        <p:spPr>
          <a:xfrm>
            <a:off x="4606442" y="2724912"/>
            <a:ext cx="3033674" cy="775597"/>
          </a:xfrm>
          <a:prstGeom prst="rect">
            <a:avLst/>
          </a:prstGeom>
          <a:noFill/>
        </p:spPr>
        <p:txBody>
          <a:bodyPr wrap="square" lIns="0" tIns="0" rIns="0" bIns="0" anchor="t">
            <a:spAutoFit/>
          </a:bodyPr>
          <a:lstStyle/>
          <a:p>
            <a:pPr algn="l">
              <a:lnSpc>
                <a:spcPct val="120000"/>
              </a:lnSpc>
            </a:pPr>
            <a:r>
              <a:rPr sz="1400" b="0" i="0">
                <a:solidFill>
                  <a:srgbClr val="2B3440"/>
                </a:solidFill>
                <a:latin typeface="Calibri"/>
              </a:rPr>
              <a:t>CEO và Executive Leadership xác lập, truyền đạt ưu tiên chiến lược và mục tiêu dài hạn.</a:t>
            </a:r>
          </a:p>
        </p:txBody>
      </p:sp>
      <p:sp>
        <p:nvSpPr>
          <p:cNvPr id="19" name="Rectangle 18"/>
          <p:cNvSpPr/>
          <p:nvPr/>
        </p:nvSpPr>
        <p:spPr>
          <a:xfrm>
            <a:off x="4606442" y="3749040"/>
            <a:ext cx="1207008" cy="310896"/>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0" name="TextBox 19"/>
          <p:cNvSpPr txBox="1"/>
          <p:nvPr/>
        </p:nvSpPr>
        <p:spPr>
          <a:xfrm>
            <a:off x="4606442" y="3796766"/>
            <a:ext cx="1207008" cy="215444"/>
          </a:xfrm>
          <a:prstGeom prst="rect">
            <a:avLst/>
          </a:prstGeom>
          <a:noFill/>
        </p:spPr>
        <p:txBody>
          <a:bodyPr wrap="square" lIns="0" tIns="0" rIns="0" bIns="0" anchor="ctr">
            <a:spAutoFit/>
          </a:bodyPr>
          <a:lstStyle/>
          <a:p>
            <a:pPr algn="ctr">
              <a:lnSpc>
                <a:spcPct val="100000"/>
              </a:lnSpc>
            </a:pPr>
            <a:r>
              <a:rPr sz="1400" b="1" i="0">
                <a:solidFill>
                  <a:srgbClr val="FFFFFF"/>
                </a:solidFill>
                <a:latin typeface="Calibri"/>
              </a:rPr>
              <a:t>■  KẾT THÚC</a:t>
            </a:r>
          </a:p>
        </p:txBody>
      </p:sp>
      <p:sp>
        <p:nvSpPr>
          <p:cNvPr id="21" name="TextBox 20"/>
          <p:cNvSpPr txBox="1"/>
          <p:nvPr/>
        </p:nvSpPr>
        <p:spPr>
          <a:xfrm>
            <a:off x="4606442" y="4151376"/>
            <a:ext cx="3033674" cy="775597"/>
          </a:xfrm>
          <a:prstGeom prst="rect">
            <a:avLst/>
          </a:prstGeom>
          <a:noFill/>
        </p:spPr>
        <p:txBody>
          <a:bodyPr wrap="square" lIns="0" tIns="0" rIns="0" bIns="0" anchor="t">
            <a:spAutoFit/>
          </a:bodyPr>
          <a:lstStyle/>
          <a:p>
            <a:pPr algn="l">
              <a:lnSpc>
                <a:spcPct val="120000"/>
              </a:lnSpc>
            </a:pPr>
            <a:r>
              <a:rPr sz="1400" b="0" i="0">
                <a:solidFill>
                  <a:srgbClr val="2B3440"/>
                </a:solidFill>
                <a:latin typeface="Calibri"/>
              </a:rPr>
              <a:t>Kế hoạch được phê duyệt, triển khai và theo dõi – điều chỉnh theo kết quả thực hiện.</a:t>
            </a:r>
          </a:p>
        </p:txBody>
      </p:sp>
      <p:sp>
        <p:nvSpPr>
          <p:cNvPr id="22" name="Rectangle 21"/>
          <p:cNvSpPr/>
          <p:nvPr/>
        </p:nvSpPr>
        <p:spPr>
          <a:xfrm>
            <a:off x="8079028" y="1792224"/>
            <a:ext cx="3454298" cy="3273552"/>
          </a:xfrm>
          <a:prstGeom prst="rect">
            <a:avLst/>
          </a:prstGeom>
          <a:solidFill>
            <a:srgbClr val="E9F3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3" name="Rectangle 22"/>
          <p:cNvSpPr/>
          <p:nvPr/>
        </p:nvSpPr>
        <p:spPr>
          <a:xfrm>
            <a:off x="8079028" y="1792224"/>
            <a:ext cx="50292" cy="3273552"/>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4" name="TextBox 23"/>
          <p:cNvSpPr txBox="1"/>
          <p:nvPr/>
        </p:nvSpPr>
        <p:spPr>
          <a:xfrm>
            <a:off x="8316772" y="1975104"/>
            <a:ext cx="3033674" cy="215444"/>
          </a:xfrm>
          <a:prstGeom prst="rect">
            <a:avLst/>
          </a:prstGeom>
          <a:noFill/>
        </p:spPr>
        <p:txBody>
          <a:bodyPr wrap="square" lIns="0" tIns="0" rIns="0" bIns="0" anchor="t">
            <a:spAutoFit/>
          </a:bodyPr>
          <a:lstStyle/>
          <a:p>
            <a:pPr algn="l">
              <a:lnSpc>
                <a:spcPct val="100000"/>
              </a:lnSpc>
            </a:pPr>
            <a:r>
              <a:rPr sz="1400" b="1" i="0">
                <a:solidFill>
                  <a:srgbClr val="0A2540"/>
                </a:solidFill>
                <a:latin typeface="Calibri"/>
              </a:rPr>
              <a:t>NGUỒN BẰNG CHỨNG CHÍNH</a:t>
            </a:r>
          </a:p>
        </p:txBody>
      </p:sp>
      <p:sp>
        <p:nvSpPr>
          <p:cNvPr id="25" name="TextBox 24"/>
          <p:cNvSpPr txBox="1"/>
          <p:nvPr/>
        </p:nvSpPr>
        <p:spPr>
          <a:xfrm>
            <a:off x="8316772" y="2322576"/>
            <a:ext cx="3033674" cy="517065"/>
          </a:xfrm>
          <a:prstGeom prst="rect">
            <a:avLst/>
          </a:prstGeom>
          <a:noFill/>
        </p:spPr>
        <p:txBody>
          <a:bodyPr wrap="square" lIns="0" tIns="0" rIns="0" bIns="0" anchor="t">
            <a:spAutoFit/>
          </a:bodyPr>
          <a:lstStyle/>
          <a:p>
            <a:pPr algn="l">
              <a:lnSpc>
                <a:spcPct val="120000"/>
              </a:lnSpc>
            </a:pPr>
            <a:r>
              <a:rPr sz="1400" b="0" i="0">
                <a:solidFill>
                  <a:srgbClr val="2B3440"/>
                </a:solidFill>
                <a:latin typeface="Calibri"/>
              </a:rPr>
              <a:t>Tài liệu chiến lược, Long-Range Plan, sơ đồ tổ chức và thông tin khảo sát.</a:t>
            </a:r>
          </a:p>
        </p:txBody>
      </p:sp>
      <p:sp>
        <p:nvSpPr>
          <p:cNvPr id="26" name="TextBox 25"/>
          <p:cNvSpPr txBox="1"/>
          <p:nvPr/>
        </p:nvSpPr>
        <p:spPr>
          <a:xfrm>
            <a:off x="8316772" y="3840480"/>
            <a:ext cx="3033674" cy="215444"/>
          </a:xfrm>
          <a:prstGeom prst="rect">
            <a:avLst/>
          </a:prstGeom>
          <a:noFill/>
        </p:spPr>
        <p:txBody>
          <a:bodyPr wrap="square" lIns="0" tIns="0" rIns="0" bIns="0" anchor="t">
            <a:spAutoFit/>
          </a:bodyPr>
          <a:lstStyle/>
          <a:p>
            <a:pPr algn="l">
              <a:lnSpc>
                <a:spcPct val="100000"/>
              </a:lnSpc>
            </a:pPr>
            <a:r>
              <a:rPr sz="1400" b="1" i="0">
                <a:solidFill>
                  <a:srgbClr val="0A2540"/>
                </a:solidFill>
                <a:latin typeface="Calibri"/>
              </a:rPr>
              <a:t>THÀNH PHẦN BPMN CẦN XÁC ĐỊNH</a:t>
            </a:r>
          </a:p>
        </p:txBody>
      </p:sp>
      <p:sp>
        <p:nvSpPr>
          <p:cNvPr id="27" name="TextBox 26"/>
          <p:cNvSpPr txBox="1"/>
          <p:nvPr/>
        </p:nvSpPr>
        <p:spPr>
          <a:xfrm>
            <a:off x="8316772" y="4151376"/>
            <a:ext cx="3033674" cy="517065"/>
          </a:xfrm>
          <a:prstGeom prst="rect">
            <a:avLst/>
          </a:prstGeom>
          <a:noFill/>
        </p:spPr>
        <p:txBody>
          <a:bodyPr wrap="square" lIns="0" tIns="0" rIns="0" bIns="0" anchor="t">
            <a:spAutoFit/>
          </a:bodyPr>
          <a:lstStyle/>
          <a:p>
            <a:pPr algn="l">
              <a:lnSpc>
                <a:spcPct val="120000"/>
              </a:lnSpc>
            </a:pPr>
            <a:r>
              <a:rPr sz="1400" b="0" i="0">
                <a:solidFill>
                  <a:srgbClr val="2B3440"/>
                </a:solidFill>
                <a:latin typeface="Calibri"/>
              </a:rPr>
              <a:t>Pool · Lane · Activity · Event · Gateway · Data Object</a:t>
            </a:r>
          </a:p>
        </p:txBody>
      </p:sp>
      <p:sp>
        <p:nvSpPr>
          <p:cNvPr id="28" name="Rectangle 27"/>
          <p:cNvSpPr/>
          <p:nvPr/>
        </p:nvSpPr>
        <p:spPr>
          <a:xfrm>
            <a:off x="658368" y="5266944"/>
            <a:ext cx="10874959" cy="658368"/>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9" name="Rectangle 28"/>
          <p:cNvSpPr/>
          <p:nvPr/>
        </p:nvSpPr>
        <p:spPr>
          <a:xfrm>
            <a:off x="658368" y="5266944"/>
            <a:ext cx="50292" cy="658368"/>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0" name="TextBox 29"/>
          <p:cNvSpPr txBox="1"/>
          <p:nvPr/>
        </p:nvSpPr>
        <p:spPr>
          <a:xfrm>
            <a:off x="950976" y="5488406"/>
            <a:ext cx="10280599" cy="215444"/>
          </a:xfrm>
          <a:prstGeom prst="rect">
            <a:avLst/>
          </a:prstGeom>
          <a:noFill/>
        </p:spPr>
        <p:txBody>
          <a:bodyPr wrap="square" lIns="0" tIns="0" rIns="0" bIns="0" anchor="ctr">
            <a:spAutoFit/>
          </a:bodyPr>
          <a:lstStyle/>
          <a:p>
            <a:pPr algn="l">
              <a:lnSpc>
                <a:spcPct val="100000"/>
              </a:lnSpc>
            </a:pPr>
            <a:r>
              <a:rPr sz="1400" b="1" i="0" dirty="0">
                <a:solidFill>
                  <a:srgbClr val="00C2A8"/>
                </a:solidFill>
                <a:latin typeface="Calibri"/>
              </a:rPr>
              <a:t>▶   SƠ ĐỒ BPMN CHI TIẾT  —  </a:t>
            </a:r>
            <a:r>
              <a:rPr sz="1400" b="1" i="0" dirty="0" err="1">
                <a:solidFill>
                  <a:srgbClr val="00C2A8"/>
                </a:solidFill>
                <a:latin typeface="Calibri"/>
              </a:rPr>
              <a:t>Hình</a:t>
            </a:r>
            <a:r>
              <a:rPr sz="1400" b="1" i="0" dirty="0">
                <a:solidFill>
                  <a:srgbClr val="00C2A8"/>
                </a:solidFill>
                <a:latin typeface="Calibri"/>
              </a:rPr>
              <a:t> </a:t>
            </a:r>
            <a:r>
              <a:rPr sz="1400" b="1" i="0" dirty="0" smtClean="0">
                <a:solidFill>
                  <a:srgbClr val="00C2A8"/>
                </a:solidFill>
                <a:latin typeface="Calibri"/>
              </a:rPr>
              <a:t>3.2</a:t>
            </a:r>
            <a:endParaRPr sz="1400" b="1" i="0" dirty="0">
              <a:solidFill>
                <a:srgbClr val="00C2A8"/>
              </a:solidFill>
              <a:latin typeface="Calibri"/>
            </a:endParaRPr>
          </a:p>
        </p:txBody>
      </p:sp>
    </p:spTree>
    <p:extLst>
      <p:ext uri="{BB962C8B-B14F-4D97-AF65-F5344CB8AC3E}">
        <p14:creationId xmlns:p14="http://schemas.microsoft.com/office/powerpoint/2010/main" val="30103290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82880" cy="859536"/>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75488" y="137160"/>
            <a:ext cx="7955279" cy="256032"/>
          </a:xfrm>
          <a:prstGeom prst="rect">
            <a:avLst/>
          </a:prstGeom>
          <a:noFill/>
        </p:spPr>
        <p:txBody>
          <a:bodyPr wrap="square" lIns="0" tIns="0" rIns="0" bIns="0" anchor="t">
            <a:spAutoFit/>
          </a:bodyPr>
          <a:lstStyle/>
          <a:p>
            <a:pPr algn="l">
              <a:lnSpc>
                <a:spcPct val="100000"/>
              </a:lnSpc>
            </a:pPr>
            <a:r>
              <a:rPr sz="950" b="1" i="0">
                <a:solidFill>
                  <a:srgbClr val="00C2A8"/>
                </a:solidFill>
                <a:latin typeface="Calibri"/>
              </a:rPr>
              <a:t>CHƯƠNG 3 · 3.2 MÔ HÌNH HÓA BPMN (AS-IS)  ·  NHÓM QUẢN LÝ</a:t>
            </a:r>
          </a:p>
        </p:txBody>
      </p:sp>
      <p:sp>
        <p:nvSpPr>
          <p:cNvPr id="5" name="TextBox 4"/>
          <p:cNvSpPr txBox="1"/>
          <p:nvPr/>
        </p:nvSpPr>
        <p:spPr>
          <a:xfrm>
            <a:off x="475488" y="411480"/>
            <a:ext cx="7955279" cy="329184"/>
          </a:xfrm>
          <a:prstGeom prst="rect">
            <a:avLst/>
          </a:prstGeom>
          <a:noFill/>
        </p:spPr>
        <p:txBody>
          <a:bodyPr wrap="square" lIns="0" tIns="0" rIns="0" bIns="0" anchor="t">
            <a:spAutoFit/>
          </a:bodyPr>
          <a:lstStyle/>
          <a:p>
            <a:pPr algn="l">
              <a:lnSpc>
                <a:spcPct val="100000"/>
              </a:lnSpc>
            </a:pPr>
            <a:r>
              <a:rPr sz="1700" b="1" i="0">
                <a:solidFill>
                  <a:srgbClr val="FFFFFF"/>
                </a:solidFill>
                <a:latin typeface="Calibri"/>
              </a:rPr>
              <a:t>M01  —  Hoạch định và triển khai chiến lược kinh doanh</a:t>
            </a:r>
          </a:p>
        </p:txBody>
      </p:sp>
      <p:sp>
        <p:nvSpPr>
          <p:cNvPr id="6" name="TextBox 5"/>
          <p:cNvSpPr txBox="1"/>
          <p:nvPr/>
        </p:nvSpPr>
        <p:spPr>
          <a:xfrm>
            <a:off x="8595360" y="265176"/>
            <a:ext cx="3154680" cy="329184"/>
          </a:xfrm>
          <a:prstGeom prst="rect">
            <a:avLst/>
          </a:prstGeom>
          <a:noFill/>
        </p:spPr>
        <p:txBody>
          <a:bodyPr wrap="square" lIns="0" tIns="0" rIns="0" bIns="0" anchor="ctr">
            <a:spAutoFit/>
          </a:bodyPr>
          <a:lstStyle/>
          <a:p>
            <a:pPr algn="r">
              <a:lnSpc>
                <a:spcPct val="100000"/>
              </a:lnSpc>
            </a:pPr>
            <a:r>
              <a:rPr sz="1400" b="1" i="0">
                <a:solidFill>
                  <a:srgbClr val="00C2A8"/>
                </a:solidFill>
                <a:latin typeface="Calibri"/>
              </a:rPr>
              <a:t>Hình 3.2</a:t>
            </a:r>
          </a:p>
        </p:txBody>
      </p:sp>
      <p:sp>
        <p:nvSpPr>
          <p:cNvPr id="9" name="TextBox 8"/>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10" name="TextBox 9"/>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17</a:t>
            </a:r>
          </a:p>
        </p:txBody>
      </p:sp>
      <p:pic>
        <p:nvPicPr>
          <p:cNvPr id="12" name="Picture 11"/>
          <p:cNvPicPr/>
          <p:nvPr/>
        </p:nvPicPr>
        <p:blipFill>
          <a:blip r:embed="rId2" cstate="print">
            <a:extLst>
              <a:ext uri="{28A0092B-C50C-407E-A947-70E740481C1C}">
                <a14:useLocalDpi xmlns:a14="http://schemas.microsoft.com/office/drawing/2010/main" val="0"/>
              </a:ext>
            </a:extLst>
          </a:blip>
          <a:stretch>
            <a:fillRect/>
          </a:stretch>
        </p:blipFill>
        <p:spPr>
          <a:xfrm>
            <a:off x="2211799" y="996696"/>
            <a:ext cx="7768095" cy="5074285"/>
          </a:xfrm>
          <a:prstGeom prst="rect">
            <a:avLst/>
          </a:prstGeom>
        </p:spPr>
      </p:pic>
      <p:sp>
        <p:nvSpPr>
          <p:cNvPr id="13" name="Rectangle 12"/>
          <p:cNvSpPr/>
          <p:nvPr/>
        </p:nvSpPr>
        <p:spPr>
          <a:xfrm>
            <a:off x="2310999" y="5926210"/>
            <a:ext cx="7569693" cy="340093"/>
          </a:xfrm>
          <a:prstGeom prst="rect">
            <a:avLst/>
          </a:prstGeom>
        </p:spPr>
        <p:txBody>
          <a:bodyPr wrap="square">
            <a:spAutoFit/>
          </a:bodyPr>
          <a:lstStyle/>
          <a:p>
            <a:pPr algn="ctr">
              <a:lnSpc>
                <a:spcPct val="115000"/>
              </a:lnSpc>
              <a:spcAft>
                <a:spcPts val="800"/>
              </a:spcAft>
            </a:pPr>
            <a:r>
              <a:rPr lang="en-US" sz="1400" i="1" dirty="0" err="1">
                <a:latin typeface="+mj-lt"/>
                <a:ea typeface="Calibri" panose="020F0502020204030204" pitchFamily="34" charset="0"/>
                <a:cs typeface="Times New Roman" panose="02020603050405020304" pitchFamily="18" charset="0"/>
              </a:rPr>
              <a:t>Hình</a:t>
            </a:r>
            <a:r>
              <a:rPr lang="en-US" sz="1400" i="1" dirty="0">
                <a:latin typeface="+mj-lt"/>
                <a:ea typeface="Calibri" panose="020F0502020204030204" pitchFamily="34" charset="0"/>
                <a:cs typeface="Times New Roman" panose="02020603050405020304" pitchFamily="18" charset="0"/>
              </a:rPr>
              <a:t> 3.2. </a:t>
            </a:r>
            <a:r>
              <a:rPr lang="en-US" sz="1400" i="1" dirty="0" err="1">
                <a:latin typeface="+mj-lt"/>
                <a:ea typeface="Calibri" panose="020F0502020204030204" pitchFamily="34" charset="0"/>
                <a:cs typeface="Times New Roman" panose="02020603050405020304" pitchFamily="18" charset="0"/>
              </a:rPr>
              <a:t>Mô</a:t>
            </a:r>
            <a:r>
              <a:rPr lang="en-US" sz="1400" i="1" dirty="0">
                <a:latin typeface="+mj-lt"/>
                <a:ea typeface="Calibri" panose="020F0502020204030204" pitchFamily="34" charset="0"/>
                <a:cs typeface="Times New Roman" panose="02020603050405020304" pitchFamily="18" charset="0"/>
              </a:rPr>
              <a:t> </a:t>
            </a:r>
            <a:r>
              <a:rPr lang="en-US" sz="1400" i="1" dirty="0" err="1">
                <a:latin typeface="+mj-lt"/>
                <a:ea typeface="Calibri" panose="020F0502020204030204" pitchFamily="34" charset="0"/>
                <a:cs typeface="Times New Roman" panose="02020603050405020304" pitchFamily="18" charset="0"/>
              </a:rPr>
              <a:t>hình</a:t>
            </a:r>
            <a:r>
              <a:rPr lang="en-US" sz="1400" i="1" dirty="0">
                <a:latin typeface="+mj-lt"/>
                <a:ea typeface="Calibri" panose="020F0502020204030204" pitchFamily="34" charset="0"/>
                <a:cs typeface="Times New Roman" panose="02020603050405020304" pitchFamily="18" charset="0"/>
              </a:rPr>
              <a:t> BPMN </a:t>
            </a:r>
            <a:r>
              <a:rPr lang="en-US" sz="1400" i="1" dirty="0" err="1">
                <a:latin typeface="+mj-lt"/>
                <a:ea typeface="Calibri" panose="020F0502020204030204" pitchFamily="34" charset="0"/>
                <a:cs typeface="Times New Roman" panose="02020603050405020304" pitchFamily="18" charset="0"/>
              </a:rPr>
              <a:t>Quy</a:t>
            </a:r>
            <a:r>
              <a:rPr lang="en-US" sz="1400" i="1" dirty="0">
                <a:latin typeface="+mj-lt"/>
                <a:ea typeface="Calibri" panose="020F0502020204030204" pitchFamily="34" charset="0"/>
                <a:cs typeface="Times New Roman" panose="02020603050405020304" pitchFamily="18" charset="0"/>
              </a:rPr>
              <a:t> </a:t>
            </a:r>
            <a:r>
              <a:rPr lang="en-US" sz="1400" i="1" dirty="0" err="1">
                <a:latin typeface="+mj-lt"/>
                <a:ea typeface="Calibri" panose="020F0502020204030204" pitchFamily="34" charset="0"/>
                <a:cs typeface="Times New Roman" panose="02020603050405020304" pitchFamily="18" charset="0"/>
              </a:rPr>
              <a:t>trình</a:t>
            </a:r>
            <a:r>
              <a:rPr lang="en-US" sz="1400" i="1" dirty="0">
                <a:latin typeface="+mj-lt"/>
                <a:ea typeface="Calibri" panose="020F0502020204030204" pitchFamily="34" charset="0"/>
                <a:cs typeface="Times New Roman" panose="02020603050405020304" pitchFamily="18" charset="0"/>
              </a:rPr>
              <a:t> </a:t>
            </a:r>
            <a:r>
              <a:rPr lang="en-US" sz="1400" i="1" dirty="0" err="1">
                <a:latin typeface="+mj-lt"/>
                <a:ea typeface="Calibri" panose="020F0502020204030204" pitchFamily="34" charset="0"/>
                <a:cs typeface="Times New Roman" panose="02020603050405020304" pitchFamily="18" charset="0"/>
              </a:rPr>
              <a:t>hoạch</a:t>
            </a:r>
            <a:r>
              <a:rPr lang="en-US" sz="1400" i="1" dirty="0">
                <a:latin typeface="+mj-lt"/>
                <a:ea typeface="Calibri" panose="020F0502020204030204" pitchFamily="34" charset="0"/>
                <a:cs typeface="Times New Roman" panose="02020603050405020304" pitchFamily="18" charset="0"/>
              </a:rPr>
              <a:t> </a:t>
            </a:r>
            <a:r>
              <a:rPr lang="en-US" sz="1400" i="1" dirty="0" err="1">
                <a:latin typeface="+mj-lt"/>
                <a:ea typeface="Calibri" panose="020F0502020204030204" pitchFamily="34" charset="0"/>
                <a:cs typeface="Times New Roman" panose="02020603050405020304" pitchFamily="18" charset="0"/>
              </a:rPr>
              <a:t>định</a:t>
            </a:r>
            <a:r>
              <a:rPr lang="en-US" sz="1400" i="1" dirty="0">
                <a:latin typeface="+mj-lt"/>
                <a:ea typeface="Calibri" panose="020F0502020204030204" pitchFamily="34" charset="0"/>
                <a:cs typeface="Times New Roman" panose="02020603050405020304" pitchFamily="18" charset="0"/>
              </a:rPr>
              <a:t> </a:t>
            </a:r>
            <a:r>
              <a:rPr lang="en-US" sz="1400" i="1" dirty="0" err="1">
                <a:latin typeface="+mj-lt"/>
                <a:ea typeface="Calibri" panose="020F0502020204030204" pitchFamily="34" charset="0"/>
                <a:cs typeface="Times New Roman" panose="02020603050405020304" pitchFamily="18" charset="0"/>
              </a:rPr>
              <a:t>và</a:t>
            </a:r>
            <a:r>
              <a:rPr lang="en-US" sz="1400" i="1" dirty="0">
                <a:latin typeface="+mj-lt"/>
                <a:ea typeface="Calibri" panose="020F0502020204030204" pitchFamily="34" charset="0"/>
                <a:cs typeface="Times New Roman" panose="02020603050405020304" pitchFamily="18" charset="0"/>
              </a:rPr>
              <a:t> </a:t>
            </a:r>
            <a:r>
              <a:rPr lang="en-US" sz="1400" i="1" dirty="0" err="1">
                <a:latin typeface="+mj-lt"/>
                <a:ea typeface="Calibri" panose="020F0502020204030204" pitchFamily="34" charset="0"/>
                <a:cs typeface="Times New Roman" panose="02020603050405020304" pitchFamily="18" charset="0"/>
              </a:rPr>
              <a:t>triển</a:t>
            </a:r>
            <a:r>
              <a:rPr lang="en-US" sz="1400" i="1" dirty="0">
                <a:latin typeface="+mj-lt"/>
                <a:ea typeface="Calibri" panose="020F0502020204030204" pitchFamily="34" charset="0"/>
                <a:cs typeface="Times New Roman" panose="02020603050405020304" pitchFamily="18" charset="0"/>
              </a:rPr>
              <a:t> </a:t>
            </a:r>
            <a:r>
              <a:rPr lang="en-US" sz="1400" i="1" dirty="0" err="1">
                <a:latin typeface="+mj-lt"/>
                <a:ea typeface="Calibri" panose="020F0502020204030204" pitchFamily="34" charset="0"/>
                <a:cs typeface="Times New Roman" panose="02020603050405020304" pitchFamily="18" charset="0"/>
              </a:rPr>
              <a:t>khai</a:t>
            </a:r>
            <a:r>
              <a:rPr lang="en-US" sz="1400" i="1" dirty="0">
                <a:latin typeface="+mj-lt"/>
                <a:ea typeface="Calibri" panose="020F0502020204030204" pitchFamily="34" charset="0"/>
                <a:cs typeface="Times New Roman" panose="02020603050405020304" pitchFamily="18" charset="0"/>
              </a:rPr>
              <a:t> </a:t>
            </a:r>
            <a:r>
              <a:rPr lang="en-US" sz="1400" i="1" dirty="0" err="1">
                <a:latin typeface="+mj-lt"/>
                <a:ea typeface="Calibri" panose="020F0502020204030204" pitchFamily="34" charset="0"/>
                <a:cs typeface="Times New Roman" panose="02020603050405020304" pitchFamily="18" charset="0"/>
              </a:rPr>
              <a:t>chiến</a:t>
            </a:r>
            <a:r>
              <a:rPr lang="en-US" sz="1400" i="1" dirty="0">
                <a:latin typeface="+mj-lt"/>
                <a:ea typeface="Calibri" panose="020F0502020204030204" pitchFamily="34" charset="0"/>
                <a:cs typeface="Times New Roman" panose="02020603050405020304" pitchFamily="18" charset="0"/>
              </a:rPr>
              <a:t> </a:t>
            </a:r>
            <a:r>
              <a:rPr lang="en-US" sz="1400" i="1" dirty="0" err="1">
                <a:latin typeface="+mj-lt"/>
                <a:ea typeface="Calibri" panose="020F0502020204030204" pitchFamily="34" charset="0"/>
                <a:cs typeface="Times New Roman" panose="02020603050405020304" pitchFamily="18" charset="0"/>
              </a:rPr>
              <a:t>lược</a:t>
            </a:r>
            <a:r>
              <a:rPr lang="en-US" sz="1400" i="1" dirty="0">
                <a:latin typeface="+mj-lt"/>
                <a:ea typeface="Calibri" panose="020F0502020204030204" pitchFamily="34" charset="0"/>
                <a:cs typeface="Times New Roman" panose="02020603050405020304" pitchFamily="18" charset="0"/>
              </a:rPr>
              <a:t> </a:t>
            </a:r>
            <a:r>
              <a:rPr lang="en-US" sz="1400" i="1" dirty="0" err="1">
                <a:latin typeface="+mj-lt"/>
                <a:ea typeface="Calibri" panose="020F0502020204030204" pitchFamily="34" charset="0"/>
                <a:cs typeface="Times New Roman" panose="02020603050405020304" pitchFamily="18" charset="0"/>
              </a:rPr>
              <a:t>kinh</a:t>
            </a:r>
            <a:r>
              <a:rPr lang="en-US" sz="1400" i="1" dirty="0">
                <a:latin typeface="+mj-lt"/>
                <a:ea typeface="Calibri" panose="020F0502020204030204" pitchFamily="34" charset="0"/>
                <a:cs typeface="Times New Roman" panose="02020603050405020304" pitchFamily="18" charset="0"/>
              </a:rPr>
              <a:t> </a:t>
            </a:r>
            <a:r>
              <a:rPr lang="en-US" sz="1400" i="1" dirty="0" err="1">
                <a:latin typeface="+mj-lt"/>
                <a:ea typeface="Calibri" panose="020F0502020204030204" pitchFamily="34" charset="0"/>
                <a:cs typeface="Times New Roman" panose="02020603050405020304" pitchFamily="18" charset="0"/>
              </a:rPr>
              <a:t>doanh</a:t>
            </a:r>
            <a:r>
              <a:rPr lang="en-US" sz="1400" i="1" dirty="0">
                <a:latin typeface="+mj-lt"/>
                <a:ea typeface="Calibri" panose="020F0502020204030204" pitchFamily="34" charset="0"/>
                <a:cs typeface="Times New Roman" panose="02020603050405020304" pitchFamily="18" charset="0"/>
              </a:rPr>
              <a:t> – Business Planning</a:t>
            </a:r>
            <a:endParaRPr lang="en-US" sz="1400"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976237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CHƯƠNG 3 · 3.2 MÔ HÌNH HÓA BPMN (AS-IS)  ·  NHÓM QUẢN LÝ</a:t>
            </a:r>
          </a:p>
        </p:txBody>
      </p:sp>
      <p:sp>
        <p:nvSpPr>
          <p:cNvPr id="3" name="TextBox 2"/>
          <p:cNvSpPr txBox="1"/>
          <p:nvPr/>
        </p:nvSpPr>
        <p:spPr>
          <a:xfrm>
            <a:off x="658368" y="640080"/>
            <a:ext cx="10874959" cy="603504"/>
          </a:xfrm>
          <a:prstGeom prst="rect">
            <a:avLst/>
          </a:prstGeom>
          <a:noFill/>
        </p:spPr>
        <p:txBody>
          <a:bodyPr wrap="square" lIns="0" tIns="0" rIns="0" bIns="0" anchor="t">
            <a:spAutoFit/>
          </a:bodyPr>
          <a:lstStyle/>
          <a:p>
            <a:pPr algn="l">
              <a:lnSpc>
                <a:spcPct val="105000"/>
              </a:lnSpc>
            </a:pPr>
            <a:r>
              <a:rPr sz="2500" b="1" i="0">
                <a:solidFill>
                  <a:srgbClr val="0A2540"/>
                </a:solidFill>
                <a:latin typeface="Calibri"/>
              </a:rPr>
              <a:t>M02  —  Quản lý khiếu nại khách hàng</a:t>
            </a: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 name="TextBox 5"/>
          <p:cNvSpPr txBox="1"/>
          <p:nvPr/>
        </p:nvSpPr>
        <p:spPr>
          <a:xfrm>
            <a:off x="658368" y="1371600"/>
            <a:ext cx="10874959" cy="254237"/>
          </a:xfrm>
          <a:prstGeom prst="rect">
            <a:avLst/>
          </a:prstGeom>
          <a:noFill/>
        </p:spPr>
        <p:txBody>
          <a:bodyPr wrap="square" lIns="0" tIns="0" rIns="0" bIns="0" anchor="t">
            <a:spAutoFit/>
          </a:bodyPr>
          <a:lstStyle/>
          <a:p>
            <a:pPr algn="l">
              <a:lnSpc>
                <a:spcPct val="118000"/>
              </a:lnSpc>
            </a:pPr>
            <a:r>
              <a:rPr sz="1400" b="0" i="1">
                <a:solidFill>
                  <a:srgbClr val="6B7784"/>
                </a:solidFill>
                <a:latin typeface="Calibri"/>
              </a:rPr>
              <a:t>Customer Complaint Management</a:t>
            </a:r>
          </a:p>
        </p:txBody>
      </p:sp>
      <p:sp>
        <p:nvSpPr>
          <p:cNvPr id="7" name="TextBox 6"/>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8" name="TextBox 7"/>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18</a:t>
            </a:r>
          </a:p>
        </p:txBody>
      </p:sp>
      <p:sp>
        <p:nvSpPr>
          <p:cNvPr id="9" name="Rectangle 8"/>
          <p:cNvSpPr/>
          <p:nvPr/>
        </p:nvSpPr>
        <p:spPr>
          <a:xfrm>
            <a:off x="658368" y="1792224"/>
            <a:ext cx="3454298" cy="3273552"/>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 name="Rectangle 9"/>
          <p:cNvSpPr/>
          <p:nvPr/>
        </p:nvSpPr>
        <p:spPr>
          <a:xfrm>
            <a:off x="658368" y="1792224"/>
            <a:ext cx="50292" cy="3273552"/>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 name="TextBox 10"/>
          <p:cNvSpPr txBox="1"/>
          <p:nvPr/>
        </p:nvSpPr>
        <p:spPr>
          <a:xfrm>
            <a:off x="896112" y="1975104"/>
            <a:ext cx="3033674" cy="215444"/>
          </a:xfrm>
          <a:prstGeom prst="rect">
            <a:avLst/>
          </a:prstGeom>
          <a:noFill/>
        </p:spPr>
        <p:txBody>
          <a:bodyPr wrap="square" lIns="0" tIns="0" rIns="0" bIns="0" anchor="t">
            <a:spAutoFit/>
          </a:bodyPr>
          <a:lstStyle/>
          <a:p>
            <a:pPr algn="l">
              <a:lnSpc>
                <a:spcPct val="100000"/>
              </a:lnSpc>
            </a:pPr>
            <a:r>
              <a:rPr sz="1400" b="1" i="0">
                <a:solidFill>
                  <a:srgbClr val="0096D6"/>
                </a:solidFill>
                <a:latin typeface="Calibri"/>
              </a:rPr>
              <a:t>TÁC NHÂN THAM GIA (LANE)</a:t>
            </a:r>
          </a:p>
        </p:txBody>
      </p:sp>
      <p:sp>
        <p:nvSpPr>
          <p:cNvPr id="12" name="TextBox 11"/>
          <p:cNvSpPr txBox="1"/>
          <p:nvPr/>
        </p:nvSpPr>
        <p:spPr>
          <a:xfrm>
            <a:off x="896112" y="2322576"/>
            <a:ext cx="3033674" cy="1303434"/>
          </a:xfrm>
          <a:prstGeom prst="rect">
            <a:avLst/>
          </a:prstGeom>
          <a:noFill/>
        </p:spPr>
        <p:txBody>
          <a:bodyPr wrap="square" lIns="0" tIns="0" rIns="0" bIns="0" anchor="t">
            <a:spAutoFit/>
          </a:bodyPr>
          <a:lstStyle/>
          <a:p>
            <a:pPr algn="l">
              <a:lnSpc>
                <a:spcPct val="120000"/>
              </a:lnSpc>
              <a:spcAft>
                <a:spcPts val="700"/>
              </a:spcAft>
            </a:pPr>
            <a:r>
              <a:rPr sz="1400" b="0" i="0">
                <a:solidFill>
                  <a:srgbClr val="2B3440"/>
                </a:solidFill>
                <a:latin typeface="Calibri"/>
              </a:rPr>
              <a:t>•  CIR Team (tiếp nhận)</a:t>
            </a:r>
          </a:p>
          <a:p>
            <a:pPr algn="l">
              <a:lnSpc>
                <a:spcPct val="120000"/>
              </a:lnSpc>
              <a:spcAft>
                <a:spcPts val="700"/>
              </a:spcAft>
            </a:pPr>
            <a:r>
              <a:rPr sz="1400" b="0" i="0">
                <a:solidFill>
                  <a:srgbClr val="2B3440"/>
                </a:solidFill>
                <a:latin typeface="Calibri"/>
              </a:rPr>
              <a:t>•  Complaint Coordinator</a:t>
            </a:r>
          </a:p>
          <a:p>
            <a:pPr algn="l">
              <a:lnSpc>
                <a:spcPct val="120000"/>
              </a:lnSpc>
              <a:spcAft>
                <a:spcPts val="700"/>
              </a:spcAft>
            </a:pPr>
            <a:r>
              <a:rPr sz="1400" b="0" i="0">
                <a:solidFill>
                  <a:srgbClr val="2B3440"/>
                </a:solidFill>
                <a:latin typeface="Calibri"/>
              </a:rPr>
              <a:t>•  Resolution Owner</a:t>
            </a:r>
          </a:p>
          <a:p>
            <a:pPr algn="l">
              <a:lnSpc>
                <a:spcPct val="120000"/>
              </a:lnSpc>
              <a:spcAft>
                <a:spcPts val="700"/>
              </a:spcAft>
            </a:pPr>
            <a:r>
              <a:rPr sz="1400" b="0" i="0">
                <a:solidFill>
                  <a:srgbClr val="2B3440"/>
                </a:solidFill>
                <a:latin typeface="Calibri"/>
              </a:rPr>
              <a:t>•  Quality / Technical Service</a:t>
            </a:r>
          </a:p>
        </p:txBody>
      </p:sp>
      <p:sp>
        <p:nvSpPr>
          <p:cNvPr id="13" name="Rectangle 12"/>
          <p:cNvSpPr/>
          <p:nvPr/>
        </p:nvSpPr>
        <p:spPr>
          <a:xfrm>
            <a:off x="4368698" y="1792224"/>
            <a:ext cx="3454298" cy="3273552"/>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4" name="Rectangle 13"/>
          <p:cNvSpPr/>
          <p:nvPr/>
        </p:nvSpPr>
        <p:spPr>
          <a:xfrm>
            <a:off x="4368698" y="1792224"/>
            <a:ext cx="50292" cy="3273552"/>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5" name="TextBox 14"/>
          <p:cNvSpPr txBox="1"/>
          <p:nvPr/>
        </p:nvSpPr>
        <p:spPr>
          <a:xfrm>
            <a:off x="4606442" y="1975104"/>
            <a:ext cx="3033674" cy="215444"/>
          </a:xfrm>
          <a:prstGeom prst="rect">
            <a:avLst/>
          </a:prstGeom>
          <a:noFill/>
        </p:spPr>
        <p:txBody>
          <a:bodyPr wrap="square" lIns="0" tIns="0" rIns="0" bIns="0" anchor="t">
            <a:spAutoFit/>
          </a:bodyPr>
          <a:lstStyle/>
          <a:p>
            <a:pPr algn="l">
              <a:lnSpc>
                <a:spcPct val="100000"/>
              </a:lnSpc>
            </a:pPr>
            <a:r>
              <a:rPr sz="1400" b="1" i="0">
                <a:solidFill>
                  <a:srgbClr val="0096D6"/>
                </a:solidFill>
                <a:latin typeface="Calibri"/>
              </a:rPr>
              <a:t>PHẠM VI QUY TRÌNH</a:t>
            </a:r>
          </a:p>
        </p:txBody>
      </p:sp>
      <p:sp>
        <p:nvSpPr>
          <p:cNvPr id="16" name="Rectangle 15"/>
          <p:cNvSpPr/>
          <p:nvPr/>
        </p:nvSpPr>
        <p:spPr>
          <a:xfrm>
            <a:off x="4606442" y="2322576"/>
            <a:ext cx="1207008" cy="310896"/>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7" name="TextBox 16"/>
          <p:cNvSpPr txBox="1"/>
          <p:nvPr/>
        </p:nvSpPr>
        <p:spPr>
          <a:xfrm>
            <a:off x="4606442" y="2370302"/>
            <a:ext cx="1207008" cy="215444"/>
          </a:xfrm>
          <a:prstGeom prst="rect">
            <a:avLst/>
          </a:prstGeom>
          <a:noFill/>
        </p:spPr>
        <p:txBody>
          <a:bodyPr wrap="square" lIns="0" tIns="0" rIns="0" bIns="0" anchor="ctr">
            <a:spAutoFit/>
          </a:bodyPr>
          <a:lstStyle/>
          <a:p>
            <a:pPr algn="ctr">
              <a:lnSpc>
                <a:spcPct val="100000"/>
              </a:lnSpc>
            </a:pPr>
            <a:r>
              <a:rPr sz="1400" b="1" i="0">
                <a:solidFill>
                  <a:srgbClr val="0A2540"/>
                </a:solidFill>
                <a:latin typeface="Calibri"/>
              </a:rPr>
              <a:t>▶  BẮT ĐẦU</a:t>
            </a:r>
          </a:p>
        </p:txBody>
      </p:sp>
      <p:sp>
        <p:nvSpPr>
          <p:cNvPr id="18" name="TextBox 17"/>
          <p:cNvSpPr txBox="1"/>
          <p:nvPr/>
        </p:nvSpPr>
        <p:spPr>
          <a:xfrm>
            <a:off x="4606442" y="2724912"/>
            <a:ext cx="3033674" cy="775597"/>
          </a:xfrm>
          <a:prstGeom prst="rect">
            <a:avLst/>
          </a:prstGeom>
          <a:noFill/>
        </p:spPr>
        <p:txBody>
          <a:bodyPr wrap="square" lIns="0" tIns="0" rIns="0" bIns="0" anchor="t">
            <a:spAutoFit/>
          </a:bodyPr>
          <a:lstStyle/>
          <a:p>
            <a:pPr algn="l">
              <a:lnSpc>
                <a:spcPct val="120000"/>
              </a:lnSpc>
            </a:pPr>
            <a:r>
              <a:rPr sz="1400" b="0" i="0">
                <a:solidFill>
                  <a:srgbClr val="2B3440"/>
                </a:solidFill>
                <a:latin typeface="Calibri"/>
              </a:rPr>
              <a:t>Tiếp nhận thông báo khiếu nại (complaint) từ khách hàng hoặc kênh nội bộ.</a:t>
            </a:r>
          </a:p>
        </p:txBody>
      </p:sp>
      <p:sp>
        <p:nvSpPr>
          <p:cNvPr id="19" name="Rectangle 18"/>
          <p:cNvSpPr/>
          <p:nvPr/>
        </p:nvSpPr>
        <p:spPr>
          <a:xfrm>
            <a:off x="4606442" y="3749040"/>
            <a:ext cx="1207008" cy="310896"/>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0" name="TextBox 19"/>
          <p:cNvSpPr txBox="1"/>
          <p:nvPr/>
        </p:nvSpPr>
        <p:spPr>
          <a:xfrm>
            <a:off x="4606442" y="3796766"/>
            <a:ext cx="1207008" cy="215444"/>
          </a:xfrm>
          <a:prstGeom prst="rect">
            <a:avLst/>
          </a:prstGeom>
          <a:noFill/>
        </p:spPr>
        <p:txBody>
          <a:bodyPr wrap="square" lIns="0" tIns="0" rIns="0" bIns="0" anchor="ctr">
            <a:spAutoFit/>
          </a:bodyPr>
          <a:lstStyle/>
          <a:p>
            <a:pPr algn="ctr">
              <a:lnSpc>
                <a:spcPct val="100000"/>
              </a:lnSpc>
            </a:pPr>
            <a:r>
              <a:rPr sz="1400" b="1" i="0">
                <a:solidFill>
                  <a:srgbClr val="FFFFFF"/>
                </a:solidFill>
                <a:latin typeface="Calibri"/>
              </a:rPr>
              <a:t>■  KẾT THÚC</a:t>
            </a:r>
          </a:p>
        </p:txBody>
      </p:sp>
      <p:sp>
        <p:nvSpPr>
          <p:cNvPr id="21" name="TextBox 20"/>
          <p:cNvSpPr txBox="1"/>
          <p:nvPr/>
        </p:nvSpPr>
        <p:spPr>
          <a:xfrm>
            <a:off x="4606442" y="4151376"/>
            <a:ext cx="3033674" cy="517065"/>
          </a:xfrm>
          <a:prstGeom prst="rect">
            <a:avLst/>
          </a:prstGeom>
          <a:noFill/>
        </p:spPr>
        <p:txBody>
          <a:bodyPr wrap="square" lIns="0" tIns="0" rIns="0" bIns="0" anchor="t">
            <a:spAutoFit/>
          </a:bodyPr>
          <a:lstStyle/>
          <a:p>
            <a:pPr algn="l">
              <a:lnSpc>
                <a:spcPct val="120000"/>
              </a:lnSpc>
            </a:pPr>
            <a:r>
              <a:rPr sz="1400" b="0" i="0">
                <a:solidFill>
                  <a:srgbClr val="2B3440"/>
                </a:solidFill>
                <a:latin typeface="Calibri"/>
              </a:rPr>
              <a:t>Complaint được điều tra, xử lý, phản hồi khách hàng và đóng hồ sơ (closure).</a:t>
            </a:r>
          </a:p>
        </p:txBody>
      </p:sp>
      <p:sp>
        <p:nvSpPr>
          <p:cNvPr id="22" name="Rectangle 21"/>
          <p:cNvSpPr/>
          <p:nvPr/>
        </p:nvSpPr>
        <p:spPr>
          <a:xfrm>
            <a:off x="8079028" y="1792224"/>
            <a:ext cx="3454298" cy="3273552"/>
          </a:xfrm>
          <a:prstGeom prst="rect">
            <a:avLst/>
          </a:prstGeom>
          <a:solidFill>
            <a:srgbClr val="E9F3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3" name="Rectangle 22"/>
          <p:cNvSpPr/>
          <p:nvPr/>
        </p:nvSpPr>
        <p:spPr>
          <a:xfrm>
            <a:off x="8079028" y="1792224"/>
            <a:ext cx="50292" cy="3273552"/>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4" name="TextBox 23"/>
          <p:cNvSpPr txBox="1"/>
          <p:nvPr/>
        </p:nvSpPr>
        <p:spPr>
          <a:xfrm>
            <a:off x="8316772" y="1975104"/>
            <a:ext cx="3033674" cy="215444"/>
          </a:xfrm>
          <a:prstGeom prst="rect">
            <a:avLst/>
          </a:prstGeom>
          <a:noFill/>
        </p:spPr>
        <p:txBody>
          <a:bodyPr wrap="square" lIns="0" tIns="0" rIns="0" bIns="0" anchor="t">
            <a:spAutoFit/>
          </a:bodyPr>
          <a:lstStyle/>
          <a:p>
            <a:pPr algn="l">
              <a:lnSpc>
                <a:spcPct val="100000"/>
              </a:lnSpc>
            </a:pPr>
            <a:r>
              <a:rPr sz="1400" b="1" i="0">
                <a:solidFill>
                  <a:srgbClr val="0A2540"/>
                </a:solidFill>
                <a:latin typeface="Calibri"/>
              </a:rPr>
              <a:t>NGUỒN BẰNG CHỨNG CHÍNH</a:t>
            </a:r>
          </a:p>
        </p:txBody>
      </p:sp>
      <p:sp>
        <p:nvSpPr>
          <p:cNvPr id="25" name="TextBox 24"/>
          <p:cNvSpPr txBox="1"/>
          <p:nvPr/>
        </p:nvSpPr>
        <p:spPr>
          <a:xfrm>
            <a:off x="8316772" y="2322576"/>
            <a:ext cx="3033674" cy="1034129"/>
          </a:xfrm>
          <a:prstGeom prst="rect">
            <a:avLst/>
          </a:prstGeom>
          <a:noFill/>
        </p:spPr>
        <p:txBody>
          <a:bodyPr wrap="square" lIns="0" tIns="0" rIns="0" bIns="0" anchor="t">
            <a:spAutoFit/>
          </a:bodyPr>
          <a:lstStyle/>
          <a:p>
            <a:pPr algn="l">
              <a:lnSpc>
                <a:spcPct val="120000"/>
              </a:lnSpc>
            </a:pPr>
            <a:r>
              <a:rPr sz="1400" b="0" i="0">
                <a:solidFill>
                  <a:srgbClr val="2B3440"/>
                </a:solidFill>
                <a:latin typeface="Calibri"/>
              </a:rPr>
              <a:t>APAC-SOP-659287 – APAC M&amp;SC Customer Complaint Management Procedure;  SOP for CFR – Quality / Service.</a:t>
            </a:r>
          </a:p>
        </p:txBody>
      </p:sp>
      <p:sp>
        <p:nvSpPr>
          <p:cNvPr id="26" name="TextBox 25"/>
          <p:cNvSpPr txBox="1"/>
          <p:nvPr/>
        </p:nvSpPr>
        <p:spPr>
          <a:xfrm>
            <a:off x="8316772" y="3840480"/>
            <a:ext cx="3033674" cy="215444"/>
          </a:xfrm>
          <a:prstGeom prst="rect">
            <a:avLst/>
          </a:prstGeom>
          <a:noFill/>
        </p:spPr>
        <p:txBody>
          <a:bodyPr wrap="square" lIns="0" tIns="0" rIns="0" bIns="0" anchor="t">
            <a:spAutoFit/>
          </a:bodyPr>
          <a:lstStyle/>
          <a:p>
            <a:pPr algn="l">
              <a:lnSpc>
                <a:spcPct val="100000"/>
              </a:lnSpc>
            </a:pPr>
            <a:r>
              <a:rPr sz="1400" b="1" i="0">
                <a:solidFill>
                  <a:srgbClr val="0A2540"/>
                </a:solidFill>
                <a:latin typeface="Calibri"/>
              </a:rPr>
              <a:t>THÀNH PHẦN BPMN CẦN XÁC ĐỊNH</a:t>
            </a:r>
          </a:p>
        </p:txBody>
      </p:sp>
      <p:sp>
        <p:nvSpPr>
          <p:cNvPr id="27" name="TextBox 26"/>
          <p:cNvSpPr txBox="1"/>
          <p:nvPr/>
        </p:nvSpPr>
        <p:spPr>
          <a:xfrm>
            <a:off x="8316772" y="4151376"/>
            <a:ext cx="3033674" cy="517065"/>
          </a:xfrm>
          <a:prstGeom prst="rect">
            <a:avLst/>
          </a:prstGeom>
          <a:noFill/>
        </p:spPr>
        <p:txBody>
          <a:bodyPr wrap="square" lIns="0" tIns="0" rIns="0" bIns="0" anchor="t">
            <a:spAutoFit/>
          </a:bodyPr>
          <a:lstStyle/>
          <a:p>
            <a:pPr algn="l">
              <a:lnSpc>
                <a:spcPct val="120000"/>
              </a:lnSpc>
            </a:pPr>
            <a:r>
              <a:rPr sz="1400" b="0" i="0">
                <a:solidFill>
                  <a:srgbClr val="2B3440"/>
                </a:solidFill>
                <a:latin typeface="Calibri"/>
              </a:rPr>
              <a:t>Pool · Lane · Activity · Event · Gateway · Data Object</a:t>
            </a:r>
          </a:p>
        </p:txBody>
      </p:sp>
      <p:sp>
        <p:nvSpPr>
          <p:cNvPr id="28" name="Rectangle 27"/>
          <p:cNvSpPr/>
          <p:nvPr/>
        </p:nvSpPr>
        <p:spPr>
          <a:xfrm>
            <a:off x="658368" y="5266944"/>
            <a:ext cx="10874959" cy="658368"/>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9" name="Rectangle 28"/>
          <p:cNvSpPr/>
          <p:nvPr/>
        </p:nvSpPr>
        <p:spPr>
          <a:xfrm>
            <a:off x="658368" y="5266944"/>
            <a:ext cx="50292" cy="658368"/>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0" name="TextBox 29"/>
          <p:cNvSpPr txBox="1"/>
          <p:nvPr/>
        </p:nvSpPr>
        <p:spPr>
          <a:xfrm>
            <a:off x="950976" y="5488406"/>
            <a:ext cx="10280599" cy="215444"/>
          </a:xfrm>
          <a:prstGeom prst="rect">
            <a:avLst/>
          </a:prstGeom>
          <a:noFill/>
        </p:spPr>
        <p:txBody>
          <a:bodyPr wrap="square" lIns="0" tIns="0" rIns="0" bIns="0" anchor="ctr">
            <a:spAutoFit/>
          </a:bodyPr>
          <a:lstStyle/>
          <a:p>
            <a:pPr algn="l">
              <a:lnSpc>
                <a:spcPct val="100000"/>
              </a:lnSpc>
            </a:pPr>
            <a:r>
              <a:rPr sz="1400" b="1" i="0" dirty="0">
                <a:solidFill>
                  <a:srgbClr val="00C2A8"/>
                </a:solidFill>
                <a:latin typeface="Calibri"/>
              </a:rPr>
              <a:t>▶   SƠ ĐỒ BPMN CHI TIẾT  —  </a:t>
            </a:r>
            <a:r>
              <a:rPr sz="1400" b="1" i="0" dirty="0" err="1">
                <a:solidFill>
                  <a:srgbClr val="00C2A8"/>
                </a:solidFill>
                <a:latin typeface="Calibri"/>
              </a:rPr>
              <a:t>Hình</a:t>
            </a:r>
            <a:r>
              <a:rPr sz="1400" b="1" i="0" dirty="0">
                <a:solidFill>
                  <a:srgbClr val="00C2A8"/>
                </a:solidFill>
                <a:latin typeface="Calibri"/>
              </a:rPr>
              <a:t> 3.3  </a:t>
            </a:r>
            <a:r>
              <a:rPr sz="1400" b="1" i="0" dirty="0" smtClean="0">
                <a:solidFill>
                  <a:srgbClr val="00C2A8"/>
                </a:solidFill>
                <a:latin typeface="Calibri"/>
              </a:rPr>
              <a:t>—</a:t>
            </a:r>
            <a:r>
              <a:rPr lang="en-US" sz="1400" b="1" i="0" dirty="0" smtClean="0">
                <a:solidFill>
                  <a:srgbClr val="00C2A8"/>
                </a:solidFill>
                <a:latin typeface="Calibri"/>
              </a:rPr>
              <a:t> </a:t>
            </a:r>
            <a:r>
              <a:rPr sz="1400" b="1" i="0" dirty="0" smtClean="0">
                <a:solidFill>
                  <a:srgbClr val="00C2A8"/>
                </a:solidFill>
                <a:latin typeface="Calibri"/>
              </a:rPr>
              <a:t>slide </a:t>
            </a:r>
            <a:r>
              <a:rPr sz="1400" b="1" i="0" dirty="0" err="1">
                <a:solidFill>
                  <a:srgbClr val="00C2A8"/>
                </a:solidFill>
                <a:latin typeface="Calibri"/>
              </a:rPr>
              <a:t>kế</a:t>
            </a:r>
            <a:r>
              <a:rPr sz="1400" b="1" i="0" dirty="0">
                <a:solidFill>
                  <a:srgbClr val="00C2A8"/>
                </a:solidFill>
                <a:latin typeface="Calibri"/>
              </a:rPr>
              <a:t> </a:t>
            </a:r>
            <a:r>
              <a:rPr sz="1400" b="1" i="0" dirty="0" err="1">
                <a:solidFill>
                  <a:srgbClr val="00C2A8"/>
                </a:solidFill>
                <a:latin typeface="Calibri"/>
              </a:rPr>
              <a:t>tiếp</a:t>
            </a:r>
            <a:endParaRPr sz="1400" b="1" i="0" dirty="0">
              <a:solidFill>
                <a:srgbClr val="00C2A8"/>
              </a:solidFill>
              <a:latin typeface="Calibri"/>
            </a:endParaRPr>
          </a:p>
        </p:txBody>
      </p:sp>
    </p:spTree>
    <p:extLst>
      <p:ext uri="{BB962C8B-B14F-4D97-AF65-F5344CB8AC3E}">
        <p14:creationId xmlns:p14="http://schemas.microsoft.com/office/powerpoint/2010/main" val="26455025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82880" cy="859536"/>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75488" y="137160"/>
            <a:ext cx="7955279" cy="256032"/>
          </a:xfrm>
          <a:prstGeom prst="rect">
            <a:avLst/>
          </a:prstGeom>
          <a:noFill/>
        </p:spPr>
        <p:txBody>
          <a:bodyPr wrap="square" lIns="0" tIns="0" rIns="0" bIns="0" anchor="t">
            <a:spAutoFit/>
          </a:bodyPr>
          <a:lstStyle/>
          <a:p>
            <a:pPr algn="l">
              <a:lnSpc>
                <a:spcPct val="100000"/>
              </a:lnSpc>
            </a:pPr>
            <a:r>
              <a:rPr sz="950" b="1" i="0">
                <a:solidFill>
                  <a:srgbClr val="00C2A8"/>
                </a:solidFill>
                <a:latin typeface="Calibri"/>
              </a:rPr>
              <a:t>CHƯƠNG 3 · 3.2 MÔ HÌNH HÓA BPMN (AS-IS)  ·  NHÓM QUẢN LÝ</a:t>
            </a:r>
          </a:p>
        </p:txBody>
      </p:sp>
      <p:sp>
        <p:nvSpPr>
          <p:cNvPr id="5" name="TextBox 4"/>
          <p:cNvSpPr txBox="1"/>
          <p:nvPr/>
        </p:nvSpPr>
        <p:spPr>
          <a:xfrm>
            <a:off x="475488" y="411480"/>
            <a:ext cx="7955279" cy="329184"/>
          </a:xfrm>
          <a:prstGeom prst="rect">
            <a:avLst/>
          </a:prstGeom>
          <a:noFill/>
        </p:spPr>
        <p:txBody>
          <a:bodyPr wrap="square" lIns="0" tIns="0" rIns="0" bIns="0" anchor="t">
            <a:spAutoFit/>
          </a:bodyPr>
          <a:lstStyle/>
          <a:p>
            <a:pPr algn="l">
              <a:lnSpc>
                <a:spcPct val="100000"/>
              </a:lnSpc>
            </a:pPr>
            <a:r>
              <a:rPr sz="1700" b="1" i="0">
                <a:solidFill>
                  <a:srgbClr val="FFFFFF"/>
                </a:solidFill>
                <a:latin typeface="Calibri"/>
              </a:rPr>
              <a:t>M02  —  Quản lý khiếu nại khách hàng</a:t>
            </a:r>
          </a:p>
        </p:txBody>
      </p:sp>
      <p:sp>
        <p:nvSpPr>
          <p:cNvPr id="6" name="TextBox 5"/>
          <p:cNvSpPr txBox="1"/>
          <p:nvPr/>
        </p:nvSpPr>
        <p:spPr>
          <a:xfrm>
            <a:off x="8595360" y="265176"/>
            <a:ext cx="3154680" cy="329184"/>
          </a:xfrm>
          <a:prstGeom prst="rect">
            <a:avLst/>
          </a:prstGeom>
          <a:noFill/>
        </p:spPr>
        <p:txBody>
          <a:bodyPr wrap="square" lIns="0" tIns="0" rIns="0" bIns="0" anchor="ctr">
            <a:spAutoFit/>
          </a:bodyPr>
          <a:lstStyle/>
          <a:p>
            <a:pPr algn="r">
              <a:lnSpc>
                <a:spcPct val="100000"/>
              </a:lnSpc>
            </a:pPr>
            <a:r>
              <a:rPr sz="1400" b="1" i="0">
                <a:solidFill>
                  <a:srgbClr val="00C2A8"/>
                </a:solidFill>
                <a:latin typeface="Calibri"/>
              </a:rPr>
              <a:t>Hình 3.3</a:t>
            </a:r>
          </a:p>
        </p:txBody>
      </p:sp>
      <p:sp>
        <p:nvSpPr>
          <p:cNvPr id="9" name="TextBox 8"/>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10" name="TextBox 9"/>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19</a:t>
            </a:r>
          </a:p>
        </p:txBody>
      </p:sp>
      <p:sp>
        <p:nvSpPr>
          <p:cNvPr id="11" name="Rectangle 10"/>
          <p:cNvSpPr/>
          <p:nvPr/>
        </p:nvSpPr>
        <p:spPr>
          <a:xfrm>
            <a:off x="2655858" y="5910143"/>
            <a:ext cx="6877235" cy="307777"/>
          </a:xfrm>
          <a:prstGeom prst="rect">
            <a:avLst/>
          </a:prstGeom>
        </p:spPr>
        <p:txBody>
          <a:bodyPr wrap="square">
            <a:spAutoFit/>
          </a:bodyPr>
          <a:lstStyle/>
          <a:p>
            <a:r>
              <a:rPr lang="en-US" sz="1400" i="1" dirty="0" err="1"/>
              <a:t>Hình</a:t>
            </a:r>
            <a:r>
              <a:rPr lang="en-US" sz="1400" i="1" dirty="0"/>
              <a:t> 3.3. </a:t>
            </a:r>
            <a:r>
              <a:rPr lang="en-US" sz="1400" i="1" dirty="0" err="1"/>
              <a:t>Mô</a:t>
            </a:r>
            <a:r>
              <a:rPr lang="en-US" sz="1400" i="1" dirty="0"/>
              <a:t> </a:t>
            </a:r>
            <a:r>
              <a:rPr lang="en-US" sz="1400" i="1" dirty="0" err="1"/>
              <a:t>hình</a:t>
            </a:r>
            <a:r>
              <a:rPr lang="en-US" sz="1400" i="1" dirty="0"/>
              <a:t> BPMN </a:t>
            </a:r>
            <a:r>
              <a:rPr lang="en-US" sz="1400" i="1" dirty="0" err="1"/>
              <a:t>Quản</a:t>
            </a:r>
            <a:r>
              <a:rPr lang="en-US" sz="1400" i="1" dirty="0"/>
              <a:t> </a:t>
            </a:r>
            <a:r>
              <a:rPr lang="en-US" sz="1400" i="1" dirty="0" err="1"/>
              <a:t>lý</a:t>
            </a:r>
            <a:r>
              <a:rPr lang="en-US" sz="1400" i="1" dirty="0"/>
              <a:t> </a:t>
            </a:r>
            <a:r>
              <a:rPr lang="en-US" sz="1400" i="1" dirty="0" err="1"/>
              <a:t>khiếu</a:t>
            </a:r>
            <a:r>
              <a:rPr lang="en-US" sz="1400" i="1" dirty="0"/>
              <a:t> </a:t>
            </a:r>
            <a:r>
              <a:rPr lang="en-US" sz="1400" i="1" dirty="0" err="1"/>
              <a:t>nại</a:t>
            </a:r>
            <a:r>
              <a:rPr lang="en-US" sz="1400" i="1" dirty="0"/>
              <a:t> </a:t>
            </a:r>
            <a:r>
              <a:rPr lang="en-US" sz="1400" i="1" dirty="0" err="1"/>
              <a:t>khách</a:t>
            </a:r>
            <a:r>
              <a:rPr lang="en-US" sz="1400" i="1" dirty="0"/>
              <a:t> </a:t>
            </a:r>
            <a:r>
              <a:rPr lang="en-US" sz="1400" i="1" dirty="0" err="1"/>
              <a:t>hàng</a:t>
            </a:r>
            <a:r>
              <a:rPr lang="en-US" sz="1400" i="1" dirty="0"/>
              <a:t> – Customer Complaint Management</a:t>
            </a:r>
            <a:endParaRPr lang="en-US" sz="1400" dirty="0"/>
          </a:p>
        </p:txBody>
      </p:sp>
      <p:pic>
        <p:nvPicPr>
          <p:cNvPr id="12" name="Picture 11"/>
          <p:cNvPicPr/>
          <p:nvPr/>
        </p:nvPicPr>
        <p:blipFill>
          <a:blip r:embed="rId2" cstate="print">
            <a:extLst>
              <a:ext uri="{28A0092B-C50C-407E-A947-70E740481C1C}">
                <a14:useLocalDpi xmlns:a14="http://schemas.microsoft.com/office/drawing/2010/main" val="0"/>
              </a:ext>
            </a:extLst>
          </a:blip>
          <a:stretch>
            <a:fillRect/>
          </a:stretch>
        </p:blipFill>
        <p:spPr>
          <a:xfrm>
            <a:off x="2451463" y="915634"/>
            <a:ext cx="7286024" cy="4857349"/>
          </a:xfrm>
          <a:prstGeom prst="rect">
            <a:avLst/>
          </a:prstGeom>
        </p:spPr>
      </p:pic>
    </p:spTree>
    <p:extLst>
      <p:ext uri="{BB962C8B-B14F-4D97-AF65-F5344CB8AC3E}">
        <p14:creationId xmlns:p14="http://schemas.microsoft.com/office/powerpoint/2010/main" val="9538725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CHƯƠNG 3 · 3.2 MÔ HÌNH HÓA BPMN (AS-IS)  ·  NHÓM CỐT LÕI</a:t>
            </a:r>
          </a:p>
        </p:txBody>
      </p:sp>
      <p:sp>
        <p:nvSpPr>
          <p:cNvPr id="3" name="TextBox 2"/>
          <p:cNvSpPr txBox="1"/>
          <p:nvPr/>
        </p:nvSpPr>
        <p:spPr>
          <a:xfrm>
            <a:off x="658368" y="640080"/>
            <a:ext cx="10874959" cy="603504"/>
          </a:xfrm>
          <a:prstGeom prst="rect">
            <a:avLst/>
          </a:prstGeom>
          <a:noFill/>
        </p:spPr>
        <p:txBody>
          <a:bodyPr wrap="square" lIns="0" tIns="0" rIns="0" bIns="0" anchor="t">
            <a:spAutoFit/>
          </a:bodyPr>
          <a:lstStyle/>
          <a:p>
            <a:pPr algn="l">
              <a:lnSpc>
                <a:spcPct val="105000"/>
              </a:lnSpc>
            </a:pPr>
            <a:r>
              <a:rPr sz="2500" b="1" i="0">
                <a:solidFill>
                  <a:srgbClr val="0A2540"/>
                </a:solidFill>
                <a:latin typeface="Calibri"/>
              </a:rPr>
              <a:t>C02  —  Quản lý đơn hàng</a:t>
            </a: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 name="TextBox 5"/>
          <p:cNvSpPr txBox="1"/>
          <p:nvPr/>
        </p:nvSpPr>
        <p:spPr>
          <a:xfrm>
            <a:off x="658368" y="1371600"/>
            <a:ext cx="10874959" cy="254237"/>
          </a:xfrm>
          <a:prstGeom prst="rect">
            <a:avLst/>
          </a:prstGeom>
          <a:noFill/>
        </p:spPr>
        <p:txBody>
          <a:bodyPr wrap="square" lIns="0" tIns="0" rIns="0" bIns="0" anchor="t">
            <a:spAutoFit/>
          </a:bodyPr>
          <a:lstStyle/>
          <a:p>
            <a:pPr algn="l">
              <a:lnSpc>
                <a:spcPct val="118000"/>
              </a:lnSpc>
            </a:pPr>
            <a:r>
              <a:rPr sz="1400" b="0" i="1">
                <a:solidFill>
                  <a:srgbClr val="6B7784"/>
                </a:solidFill>
                <a:latin typeface="Calibri"/>
              </a:rPr>
              <a:t>Order Management (Order-to-Cash)</a:t>
            </a:r>
          </a:p>
        </p:txBody>
      </p:sp>
      <p:sp>
        <p:nvSpPr>
          <p:cNvPr id="7" name="TextBox 6"/>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8" name="TextBox 7"/>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20</a:t>
            </a:r>
          </a:p>
        </p:txBody>
      </p:sp>
      <p:sp>
        <p:nvSpPr>
          <p:cNvPr id="9" name="Rectangle 8"/>
          <p:cNvSpPr/>
          <p:nvPr/>
        </p:nvSpPr>
        <p:spPr>
          <a:xfrm>
            <a:off x="658368" y="1792224"/>
            <a:ext cx="3454298" cy="3273552"/>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 name="Rectangle 9"/>
          <p:cNvSpPr/>
          <p:nvPr/>
        </p:nvSpPr>
        <p:spPr>
          <a:xfrm>
            <a:off x="658368" y="1792224"/>
            <a:ext cx="50292" cy="3273552"/>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 name="TextBox 10"/>
          <p:cNvSpPr txBox="1"/>
          <p:nvPr/>
        </p:nvSpPr>
        <p:spPr>
          <a:xfrm>
            <a:off x="896112" y="1975104"/>
            <a:ext cx="3033674" cy="215444"/>
          </a:xfrm>
          <a:prstGeom prst="rect">
            <a:avLst/>
          </a:prstGeom>
          <a:noFill/>
        </p:spPr>
        <p:txBody>
          <a:bodyPr wrap="square" lIns="0" tIns="0" rIns="0" bIns="0" anchor="t">
            <a:spAutoFit/>
          </a:bodyPr>
          <a:lstStyle/>
          <a:p>
            <a:pPr algn="l">
              <a:lnSpc>
                <a:spcPct val="100000"/>
              </a:lnSpc>
            </a:pPr>
            <a:r>
              <a:rPr sz="1400" b="1" i="0">
                <a:solidFill>
                  <a:srgbClr val="0096D6"/>
                </a:solidFill>
                <a:latin typeface="Calibri"/>
              </a:rPr>
              <a:t>TÁC NHÂN THAM GIA (LANE)</a:t>
            </a:r>
          </a:p>
        </p:txBody>
      </p:sp>
      <p:sp>
        <p:nvSpPr>
          <p:cNvPr id="12" name="TextBox 11"/>
          <p:cNvSpPr txBox="1"/>
          <p:nvPr/>
        </p:nvSpPr>
        <p:spPr>
          <a:xfrm>
            <a:off x="896112" y="2322576"/>
            <a:ext cx="3033674" cy="1651734"/>
          </a:xfrm>
          <a:prstGeom prst="rect">
            <a:avLst/>
          </a:prstGeom>
          <a:noFill/>
        </p:spPr>
        <p:txBody>
          <a:bodyPr wrap="square" lIns="0" tIns="0" rIns="0" bIns="0" anchor="t">
            <a:spAutoFit/>
          </a:bodyPr>
          <a:lstStyle/>
          <a:p>
            <a:pPr algn="l">
              <a:lnSpc>
                <a:spcPct val="120000"/>
              </a:lnSpc>
              <a:spcAft>
                <a:spcPts val="700"/>
              </a:spcAft>
            </a:pPr>
            <a:r>
              <a:rPr sz="1400" b="0" i="0">
                <a:solidFill>
                  <a:srgbClr val="2B3440"/>
                </a:solidFill>
                <a:latin typeface="Calibri"/>
              </a:rPr>
              <a:t>•  Sales / Customer Service</a:t>
            </a:r>
          </a:p>
          <a:p>
            <a:pPr algn="l">
              <a:lnSpc>
                <a:spcPct val="120000"/>
              </a:lnSpc>
              <a:spcAft>
                <a:spcPts val="700"/>
              </a:spcAft>
            </a:pPr>
            <a:r>
              <a:rPr sz="1400" b="0" i="0">
                <a:solidFill>
                  <a:srgbClr val="2B3440"/>
                </a:solidFill>
                <a:latin typeface="Calibri"/>
              </a:rPr>
              <a:t>•  Sales Operations</a:t>
            </a:r>
          </a:p>
          <a:p>
            <a:pPr algn="l">
              <a:lnSpc>
                <a:spcPct val="120000"/>
              </a:lnSpc>
              <a:spcAft>
                <a:spcPts val="700"/>
              </a:spcAft>
            </a:pPr>
            <a:r>
              <a:rPr sz="1400" b="0" i="0">
                <a:solidFill>
                  <a:srgbClr val="2B3440"/>
                </a:solidFill>
                <a:latin typeface="Calibri"/>
              </a:rPr>
              <a:t>•  Supply Chain</a:t>
            </a:r>
          </a:p>
          <a:p>
            <a:pPr algn="l">
              <a:lnSpc>
                <a:spcPct val="120000"/>
              </a:lnSpc>
              <a:spcAft>
                <a:spcPts val="700"/>
              </a:spcAft>
            </a:pPr>
            <a:r>
              <a:rPr sz="1400" b="0" i="0">
                <a:solidFill>
                  <a:srgbClr val="2B3440"/>
                </a:solidFill>
                <a:latin typeface="Calibri"/>
              </a:rPr>
              <a:t>•  Warehouse / Logistics</a:t>
            </a:r>
          </a:p>
          <a:p>
            <a:pPr algn="l">
              <a:lnSpc>
                <a:spcPct val="120000"/>
              </a:lnSpc>
              <a:spcAft>
                <a:spcPts val="700"/>
              </a:spcAft>
            </a:pPr>
            <a:r>
              <a:rPr sz="1400" b="0" i="0">
                <a:solidFill>
                  <a:srgbClr val="2B3440"/>
                </a:solidFill>
                <a:latin typeface="Calibri"/>
              </a:rPr>
              <a:t>•  Finance</a:t>
            </a:r>
          </a:p>
        </p:txBody>
      </p:sp>
      <p:sp>
        <p:nvSpPr>
          <p:cNvPr id="13" name="Rectangle 12"/>
          <p:cNvSpPr/>
          <p:nvPr/>
        </p:nvSpPr>
        <p:spPr>
          <a:xfrm>
            <a:off x="4368698" y="1792224"/>
            <a:ext cx="3454298" cy="3273552"/>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4" name="Rectangle 13"/>
          <p:cNvSpPr/>
          <p:nvPr/>
        </p:nvSpPr>
        <p:spPr>
          <a:xfrm>
            <a:off x="4368698" y="1792224"/>
            <a:ext cx="50292" cy="3273552"/>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5" name="TextBox 14"/>
          <p:cNvSpPr txBox="1"/>
          <p:nvPr/>
        </p:nvSpPr>
        <p:spPr>
          <a:xfrm>
            <a:off x="4606442" y="1975104"/>
            <a:ext cx="3033674" cy="215444"/>
          </a:xfrm>
          <a:prstGeom prst="rect">
            <a:avLst/>
          </a:prstGeom>
          <a:noFill/>
        </p:spPr>
        <p:txBody>
          <a:bodyPr wrap="square" lIns="0" tIns="0" rIns="0" bIns="0" anchor="t">
            <a:spAutoFit/>
          </a:bodyPr>
          <a:lstStyle/>
          <a:p>
            <a:pPr algn="l">
              <a:lnSpc>
                <a:spcPct val="100000"/>
              </a:lnSpc>
            </a:pPr>
            <a:r>
              <a:rPr sz="1400" b="1" i="0">
                <a:solidFill>
                  <a:srgbClr val="0096D6"/>
                </a:solidFill>
                <a:latin typeface="Calibri"/>
              </a:rPr>
              <a:t>PHẠM VI QUY TRÌNH</a:t>
            </a:r>
          </a:p>
        </p:txBody>
      </p:sp>
      <p:sp>
        <p:nvSpPr>
          <p:cNvPr id="16" name="Rectangle 15"/>
          <p:cNvSpPr/>
          <p:nvPr/>
        </p:nvSpPr>
        <p:spPr>
          <a:xfrm>
            <a:off x="4606442" y="2322576"/>
            <a:ext cx="1207008" cy="310896"/>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7" name="TextBox 16"/>
          <p:cNvSpPr txBox="1"/>
          <p:nvPr/>
        </p:nvSpPr>
        <p:spPr>
          <a:xfrm>
            <a:off x="4606442" y="2370302"/>
            <a:ext cx="1207008" cy="215444"/>
          </a:xfrm>
          <a:prstGeom prst="rect">
            <a:avLst/>
          </a:prstGeom>
          <a:noFill/>
        </p:spPr>
        <p:txBody>
          <a:bodyPr wrap="square" lIns="0" tIns="0" rIns="0" bIns="0" anchor="ctr">
            <a:spAutoFit/>
          </a:bodyPr>
          <a:lstStyle/>
          <a:p>
            <a:pPr algn="ctr">
              <a:lnSpc>
                <a:spcPct val="100000"/>
              </a:lnSpc>
            </a:pPr>
            <a:r>
              <a:rPr sz="1400" b="1" i="0">
                <a:solidFill>
                  <a:srgbClr val="0A2540"/>
                </a:solidFill>
                <a:latin typeface="Calibri"/>
              </a:rPr>
              <a:t>▶  BẮT ĐẦU</a:t>
            </a:r>
          </a:p>
        </p:txBody>
      </p:sp>
      <p:sp>
        <p:nvSpPr>
          <p:cNvPr id="18" name="TextBox 17"/>
          <p:cNvSpPr txBox="1"/>
          <p:nvPr/>
        </p:nvSpPr>
        <p:spPr>
          <a:xfrm>
            <a:off x="4606442" y="2724912"/>
            <a:ext cx="3033674" cy="775597"/>
          </a:xfrm>
          <a:prstGeom prst="rect">
            <a:avLst/>
          </a:prstGeom>
          <a:noFill/>
        </p:spPr>
        <p:txBody>
          <a:bodyPr wrap="square" lIns="0" tIns="0" rIns="0" bIns="0" anchor="t">
            <a:spAutoFit/>
          </a:bodyPr>
          <a:lstStyle/>
          <a:p>
            <a:pPr algn="l">
              <a:lnSpc>
                <a:spcPct val="120000"/>
              </a:lnSpc>
            </a:pPr>
            <a:r>
              <a:rPr sz="1400" b="0" i="0">
                <a:solidFill>
                  <a:srgbClr val="2B3440"/>
                </a:solidFill>
                <a:latin typeface="Calibri"/>
              </a:rPr>
              <a:t>Tiếp nhận yêu cầu mua hàng của khách hàng và tạo Sales Order trên hệ thống SAP.</a:t>
            </a:r>
          </a:p>
        </p:txBody>
      </p:sp>
      <p:sp>
        <p:nvSpPr>
          <p:cNvPr id="19" name="Rectangle 18"/>
          <p:cNvSpPr/>
          <p:nvPr/>
        </p:nvSpPr>
        <p:spPr>
          <a:xfrm>
            <a:off x="4606442" y="3749040"/>
            <a:ext cx="1207008" cy="310896"/>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0" name="TextBox 19"/>
          <p:cNvSpPr txBox="1"/>
          <p:nvPr/>
        </p:nvSpPr>
        <p:spPr>
          <a:xfrm>
            <a:off x="4606442" y="3796766"/>
            <a:ext cx="1207008" cy="215444"/>
          </a:xfrm>
          <a:prstGeom prst="rect">
            <a:avLst/>
          </a:prstGeom>
          <a:noFill/>
        </p:spPr>
        <p:txBody>
          <a:bodyPr wrap="square" lIns="0" tIns="0" rIns="0" bIns="0" anchor="ctr">
            <a:spAutoFit/>
          </a:bodyPr>
          <a:lstStyle/>
          <a:p>
            <a:pPr algn="ctr">
              <a:lnSpc>
                <a:spcPct val="100000"/>
              </a:lnSpc>
            </a:pPr>
            <a:r>
              <a:rPr sz="1400" b="1" i="0">
                <a:solidFill>
                  <a:srgbClr val="FFFFFF"/>
                </a:solidFill>
                <a:latin typeface="Calibri"/>
              </a:rPr>
              <a:t>■  KẾT THÚC</a:t>
            </a:r>
          </a:p>
        </p:txBody>
      </p:sp>
      <p:sp>
        <p:nvSpPr>
          <p:cNvPr id="21" name="TextBox 20"/>
          <p:cNvSpPr txBox="1"/>
          <p:nvPr/>
        </p:nvSpPr>
        <p:spPr>
          <a:xfrm>
            <a:off x="4606442" y="4151376"/>
            <a:ext cx="3033674" cy="517065"/>
          </a:xfrm>
          <a:prstGeom prst="rect">
            <a:avLst/>
          </a:prstGeom>
          <a:noFill/>
        </p:spPr>
        <p:txBody>
          <a:bodyPr wrap="square" lIns="0" tIns="0" rIns="0" bIns="0" anchor="t">
            <a:spAutoFit/>
          </a:bodyPr>
          <a:lstStyle/>
          <a:p>
            <a:pPr algn="l">
              <a:lnSpc>
                <a:spcPct val="120000"/>
              </a:lnSpc>
            </a:pPr>
            <a:r>
              <a:rPr sz="1400" b="0" i="0">
                <a:solidFill>
                  <a:srgbClr val="2B3440"/>
                </a:solidFill>
                <a:latin typeface="Calibri"/>
              </a:rPr>
              <a:t>Hàng được giao, chứng từ hoàn tất và doanh thu được ghi nhận.</a:t>
            </a:r>
          </a:p>
        </p:txBody>
      </p:sp>
      <p:sp>
        <p:nvSpPr>
          <p:cNvPr id="22" name="Rectangle 21"/>
          <p:cNvSpPr/>
          <p:nvPr/>
        </p:nvSpPr>
        <p:spPr>
          <a:xfrm>
            <a:off x="8079028" y="1792224"/>
            <a:ext cx="3454298" cy="3273552"/>
          </a:xfrm>
          <a:prstGeom prst="rect">
            <a:avLst/>
          </a:prstGeom>
          <a:solidFill>
            <a:srgbClr val="E9F3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3" name="Rectangle 22"/>
          <p:cNvSpPr/>
          <p:nvPr/>
        </p:nvSpPr>
        <p:spPr>
          <a:xfrm>
            <a:off x="8079028" y="1792224"/>
            <a:ext cx="50292" cy="3273552"/>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4" name="TextBox 23"/>
          <p:cNvSpPr txBox="1"/>
          <p:nvPr/>
        </p:nvSpPr>
        <p:spPr>
          <a:xfrm>
            <a:off x="8316772" y="1975104"/>
            <a:ext cx="3033674" cy="215444"/>
          </a:xfrm>
          <a:prstGeom prst="rect">
            <a:avLst/>
          </a:prstGeom>
          <a:noFill/>
        </p:spPr>
        <p:txBody>
          <a:bodyPr wrap="square" lIns="0" tIns="0" rIns="0" bIns="0" anchor="t">
            <a:spAutoFit/>
          </a:bodyPr>
          <a:lstStyle/>
          <a:p>
            <a:pPr algn="l">
              <a:lnSpc>
                <a:spcPct val="100000"/>
              </a:lnSpc>
            </a:pPr>
            <a:r>
              <a:rPr sz="1400" b="1" i="0">
                <a:solidFill>
                  <a:srgbClr val="0A2540"/>
                </a:solidFill>
                <a:latin typeface="Calibri"/>
              </a:rPr>
              <a:t>NGUỒN BẰNG CHỨNG CHÍNH</a:t>
            </a:r>
          </a:p>
        </p:txBody>
      </p:sp>
      <p:sp>
        <p:nvSpPr>
          <p:cNvPr id="25" name="TextBox 24"/>
          <p:cNvSpPr txBox="1"/>
          <p:nvPr/>
        </p:nvSpPr>
        <p:spPr>
          <a:xfrm>
            <a:off x="8316772" y="2322576"/>
            <a:ext cx="3033674" cy="517065"/>
          </a:xfrm>
          <a:prstGeom prst="rect">
            <a:avLst/>
          </a:prstGeom>
          <a:noFill/>
        </p:spPr>
        <p:txBody>
          <a:bodyPr wrap="square" lIns="0" tIns="0" rIns="0" bIns="0" anchor="t">
            <a:spAutoFit/>
          </a:bodyPr>
          <a:lstStyle/>
          <a:p>
            <a:pPr algn="l">
              <a:lnSpc>
                <a:spcPct val="120000"/>
              </a:lnSpc>
            </a:pPr>
            <a:r>
              <a:rPr sz="1400" b="0" i="0">
                <a:solidFill>
                  <a:srgbClr val="2B3440"/>
                </a:solidFill>
                <a:latin typeface="Calibri"/>
              </a:rPr>
              <a:t>OTC201 – Order To Cash (OTC) Overview;  OTC344 – Create Sales Orders.</a:t>
            </a:r>
          </a:p>
        </p:txBody>
      </p:sp>
      <p:sp>
        <p:nvSpPr>
          <p:cNvPr id="26" name="TextBox 25"/>
          <p:cNvSpPr txBox="1"/>
          <p:nvPr/>
        </p:nvSpPr>
        <p:spPr>
          <a:xfrm>
            <a:off x="8316772" y="3840480"/>
            <a:ext cx="3033674" cy="215444"/>
          </a:xfrm>
          <a:prstGeom prst="rect">
            <a:avLst/>
          </a:prstGeom>
          <a:noFill/>
        </p:spPr>
        <p:txBody>
          <a:bodyPr wrap="square" lIns="0" tIns="0" rIns="0" bIns="0" anchor="t">
            <a:spAutoFit/>
          </a:bodyPr>
          <a:lstStyle/>
          <a:p>
            <a:pPr algn="l">
              <a:lnSpc>
                <a:spcPct val="100000"/>
              </a:lnSpc>
            </a:pPr>
            <a:r>
              <a:rPr sz="1400" b="1" i="0">
                <a:solidFill>
                  <a:srgbClr val="0A2540"/>
                </a:solidFill>
                <a:latin typeface="Calibri"/>
              </a:rPr>
              <a:t>THÀNH PHẦN BPMN CẦN XÁC ĐỊNH</a:t>
            </a:r>
          </a:p>
        </p:txBody>
      </p:sp>
      <p:sp>
        <p:nvSpPr>
          <p:cNvPr id="27" name="TextBox 26"/>
          <p:cNvSpPr txBox="1"/>
          <p:nvPr/>
        </p:nvSpPr>
        <p:spPr>
          <a:xfrm>
            <a:off x="8316772" y="4151376"/>
            <a:ext cx="3033674" cy="517065"/>
          </a:xfrm>
          <a:prstGeom prst="rect">
            <a:avLst/>
          </a:prstGeom>
          <a:noFill/>
        </p:spPr>
        <p:txBody>
          <a:bodyPr wrap="square" lIns="0" tIns="0" rIns="0" bIns="0" anchor="t">
            <a:spAutoFit/>
          </a:bodyPr>
          <a:lstStyle/>
          <a:p>
            <a:pPr algn="l">
              <a:lnSpc>
                <a:spcPct val="120000"/>
              </a:lnSpc>
            </a:pPr>
            <a:r>
              <a:rPr sz="1400" b="0" i="0">
                <a:solidFill>
                  <a:srgbClr val="2B3440"/>
                </a:solidFill>
                <a:latin typeface="Calibri"/>
              </a:rPr>
              <a:t>Pool · Lane · Activity · Event · Gateway · Data Object</a:t>
            </a:r>
          </a:p>
        </p:txBody>
      </p:sp>
      <p:sp>
        <p:nvSpPr>
          <p:cNvPr id="28" name="Rectangle 27"/>
          <p:cNvSpPr/>
          <p:nvPr/>
        </p:nvSpPr>
        <p:spPr>
          <a:xfrm>
            <a:off x="658368" y="5266944"/>
            <a:ext cx="10874959" cy="658368"/>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9" name="Rectangle 28"/>
          <p:cNvSpPr/>
          <p:nvPr/>
        </p:nvSpPr>
        <p:spPr>
          <a:xfrm>
            <a:off x="658368" y="5266944"/>
            <a:ext cx="50292" cy="65836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0" name="TextBox 29"/>
          <p:cNvSpPr txBox="1"/>
          <p:nvPr/>
        </p:nvSpPr>
        <p:spPr>
          <a:xfrm>
            <a:off x="950976" y="5488406"/>
            <a:ext cx="10280599" cy="215444"/>
          </a:xfrm>
          <a:prstGeom prst="rect">
            <a:avLst/>
          </a:prstGeom>
          <a:noFill/>
        </p:spPr>
        <p:txBody>
          <a:bodyPr wrap="square" lIns="0" tIns="0" rIns="0" bIns="0" anchor="ctr">
            <a:spAutoFit/>
          </a:bodyPr>
          <a:lstStyle/>
          <a:p>
            <a:pPr algn="l">
              <a:lnSpc>
                <a:spcPct val="100000"/>
              </a:lnSpc>
            </a:pPr>
            <a:r>
              <a:rPr sz="1400" b="1" i="0" dirty="0">
                <a:solidFill>
                  <a:srgbClr val="00C2A8"/>
                </a:solidFill>
                <a:latin typeface="Calibri"/>
              </a:rPr>
              <a:t>▶   SƠ ĐỒ BPMN CHI TIẾT  —  </a:t>
            </a:r>
            <a:r>
              <a:rPr sz="1400" b="1" i="0" dirty="0" err="1">
                <a:solidFill>
                  <a:srgbClr val="00C2A8"/>
                </a:solidFill>
                <a:latin typeface="Calibri"/>
              </a:rPr>
              <a:t>Hình</a:t>
            </a:r>
            <a:r>
              <a:rPr sz="1400" b="1" i="0" dirty="0">
                <a:solidFill>
                  <a:srgbClr val="00C2A8"/>
                </a:solidFill>
                <a:latin typeface="Calibri"/>
              </a:rPr>
              <a:t> 3.4  </a:t>
            </a:r>
            <a:r>
              <a:rPr sz="1400" b="1" i="0" dirty="0" smtClean="0">
                <a:solidFill>
                  <a:srgbClr val="00C2A8"/>
                </a:solidFill>
                <a:latin typeface="Calibri"/>
              </a:rPr>
              <a:t>—</a:t>
            </a:r>
            <a:r>
              <a:rPr lang="en-US" sz="1400" b="1" i="0" dirty="0" smtClean="0">
                <a:solidFill>
                  <a:srgbClr val="00C2A8"/>
                </a:solidFill>
                <a:latin typeface="Calibri"/>
              </a:rPr>
              <a:t> </a:t>
            </a:r>
            <a:r>
              <a:rPr sz="1400" b="1" i="0" dirty="0" smtClean="0">
                <a:solidFill>
                  <a:srgbClr val="00C2A8"/>
                </a:solidFill>
                <a:latin typeface="Calibri"/>
              </a:rPr>
              <a:t>slide </a:t>
            </a:r>
            <a:r>
              <a:rPr sz="1400" b="1" i="0" dirty="0" err="1">
                <a:solidFill>
                  <a:srgbClr val="00C2A8"/>
                </a:solidFill>
                <a:latin typeface="Calibri"/>
              </a:rPr>
              <a:t>kế</a:t>
            </a:r>
            <a:r>
              <a:rPr sz="1400" b="1" i="0" dirty="0">
                <a:solidFill>
                  <a:srgbClr val="00C2A8"/>
                </a:solidFill>
                <a:latin typeface="Calibri"/>
              </a:rPr>
              <a:t> </a:t>
            </a:r>
            <a:r>
              <a:rPr sz="1400" b="1" i="0" dirty="0" err="1">
                <a:solidFill>
                  <a:srgbClr val="00C2A8"/>
                </a:solidFill>
                <a:latin typeface="Calibri"/>
              </a:rPr>
              <a:t>tiếp</a:t>
            </a:r>
            <a:endParaRPr sz="1400" b="1" i="0" dirty="0">
              <a:solidFill>
                <a:srgbClr val="00C2A8"/>
              </a:solidFill>
              <a:latin typeface="Calibri"/>
            </a:endParaRPr>
          </a:p>
        </p:txBody>
      </p:sp>
    </p:spTree>
    <p:extLst>
      <p:ext uri="{BB962C8B-B14F-4D97-AF65-F5344CB8AC3E}">
        <p14:creationId xmlns:p14="http://schemas.microsoft.com/office/powerpoint/2010/main" val="28729109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82880" cy="859536"/>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75488" y="137160"/>
            <a:ext cx="7955279" cy="256032"/>
          </a:xfrm>
          <a:prstGeom prst="rect">
            <a:avLst/>
          </a:prstGeom>
          <a:noFill/>
        </p:spPr>
        <p:txBody>
          <a:bodyPr wrap="square" lIns="0" tIns="0" rIns="0" bIns="0" anchor="t">
            <a:spAutoFit/>
          </a:bodyPr>
          <a:lstStyle/>
          <a:p>
            <a:pPr algn="l">
              <a:lnSpc>
                <a:spcPct val="100000"/>
              </a:lnSpc>
            </a:pPr>
            <a:r>
              <a:rPr sz="950" b="1" i="0">
                <a:solidFill>
                  <a:srgbClr val="00C2A8"/>
                </a:solidFill>
                <a:latin typeface="Calibri"/>
              </a:rPr>
              <a:t>CHƯƠNG 3 · 3.2 MÔ HÌNH HÓA BPMN (AS-IS)  ·  NHÓM CỐT LÕI</a:t>
            </a:r>
          </a:p>
        </p:txBody>
      </p:sp>
      <p:sp>
        <p:nvSpPr>
          <p:cNvPr id="5" name="TextBox 4"/>
          <p:cNvSpPr txBox="1"/>
          <p:nvPr/>
        </p:nvSpPr>
        <p:spPr>
          <a:xfrm>
            <a:off x="475488" y="411480"/>
            <a:ext cx="7955279" cy="329184"/>
          </a:xfrm>
          <a:prstGeom prst="rect">
            <a:avLst/>
          </a:prstGeom>
          <a:noFill/>
        </p:spPr>
        <p:txBody>
          <a:bodyPr wrap="square" lIns="0" tIns="0" rIns="0" bIns="0" anchor="t">
            <a:spAutoFit/>
          </a:bodyPr>
          <a:lstStyle/>
          <a:p>
            <a:pPr algn="l">
              <a:lnSpc>
                <a:spcPct val="100000"/>
              </a:lnSpc>
            </a:pPr>
            <a:r>
              <a:rPr sz="1700" b="1" i="0">
                <a:solidFill>
                  <a:srgbClr val="FFFFFF"/>
                </a:solidFill>
                <a:latin typeface="Calibri"/>
              </a:rPr>
              <a:t>C02  —  Quản lý đơn hàng</a:t>
            </a:r>
          </a:p>
        </p:txBody>
      </p:sp>
      <p:sp>
        <p:nvSpPr>
          <p:cNvPr id="6" name="TextBox 5"/>
          <p:cNvSpPr txBox="1"/>
          <p:nvPr/>
        </p:nvSpPr>
        <p:spPr>
          <a:xfrm>
            <a:off x="8595360" y="265176"/>
            <a:ext cx="3154680" cy="329184"/>
          </a:xfrm>
          <a:prstGeom prst="rect">
            <a:avLst/>
          </a:prstGeom>
          <a:noFill/>
        </p:spPr>
        <p:txBody>
          <a:bodyPr wrap="square" lIns="0" tIns="0" rIns="0" bIns="0" anchor="ctr">
            <a:spAutoFit/>
          </a:bodyPr>
          <a:lstStyle/>
          <a:p>
            <a:pPr algn="r">
              <a:lnSpc>
                <a:spcPct val="100000"/>
              </a:lnSpc>
            </a:pPr>
            <a:r>
              <a:rPr sz="1400" b="1" i="0">
                <a:solidFill>
                  <a:srgbClr val="00C2A8"/>
                </a:solidFill>
                <a:latin typeface="Calibri"/>
              </a:rPr>
              <a:t>Hình 3.4</a:t>
            </a:r>
          </a:p>
        </p:txBody>
      </p:sp>
      <p:sp>
        <p:nvSpPr>
          <p:cNvPr id="9" name="TextBox 8"/>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10" name="TextBox 9"/>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21</a:t>
            </a:r>
          </a:p>
        </p:txBody>
      </p:sp>
      <p:pic>
        <p:nvPicPr>
          <p:cNvPr id="11" name="Picture 10"/>
          <p:cNvPicPr/>
          <p:nvPr/>
        </p:nvPicPr>
        <p:blipFill>
          <a:blip r:embed="rId2" cstate="print">
            <a:extLst>
              <a:ext uri="{28A0092B-C50C-407E-A947-70E740481C1C}">
                <a14:useLocalDpi xmlns:a14="http://schemas.microsoft.com/office/drawing/2010/main" val="0"/>
              </a:ext>
            </a:extLst>
          </a:blip>
          <a:stretch>
            <a:fillRect/>
          </a:stretch>
        </p:blipFill>
        <p:spPr>
          <a:xfrm>
            <a:off x="1426920" y="902007"/>
            <a:ext cx="8800710" cy="4955918"/>
          </a:xfrm>
          <a:prstGeom prst="rect">
            <a:avLst/>
          </a:prstGeom>
        </p:spPr>
      </p:pic>
      <p:sp>
        <p:nvSpPr>
          <p:cNvPr id="12" name="Rectangle 11"/>
          <p:cNvSpPr/>
          <p:nvPr/>
        </p:nvSpPr>
        <p:spPr>
          <a:xfrm>
            <a:off x="2719373" y="5857925"/>
            <a:ext cx="6752948" cy="307777"/>
          </a:xfrm>
          <a:prstGeom prst="rect">
            <a:avLst/>
          </a:prstGeom>
        </p:spPr>
        <p:txBody>
          <a:bodyPr wrap="square">
            <a:spAutoFit/>
          </a:bodyPr>
          <a:lstStyle/>
          <a:p>
            <a:pPr algn="ctr"/>
            <a:r>
              <a:rPr lang="en-US" sz="1400" i="1" dirty="0" err="1"/>
              <a:t>Hình</a:t>
            </a:r>
            <a:r>
              <a:rPr lang="en-US" sz="1400" i="1" dirty="0"/>
              <a:t> 3.4. </a:t>
            </a:r>
            <a:r>
              <a:rPr lang="en-US" sz="1400" i="1" dirty="0" err="1"/>
              <a:t>Mô</a:t>
            </a:r>
            <a:r>
              <a:rPr lang="en-US" sz="1400" i="1" dirty="0"/>
              <a:t> </a:t>
            </a:r>
            <a:r>
              <a:rPr lang="en-US" sz="1400" i="1" dirty="0" err="1"/>
              <a:t>hình</a:t>
            </a:r>
            <a:r>
              <a:rPr lang="en-US" sz="1400" i="1" dirty="0"/>
              <a:t> BPMN </a:t>
            </a:r>
            <a:r>
              <a:rPr lang="en-US" sz="1400" i="1" dirty="0" err="1"/>
              <a:t>Quản</a:t>
            </a:r>
            <a:r>
              <a:rPr lang="en-US" sz="1400" i="1" dirty="0"/>
              <a:t> </a:t>
            </a:r>
            <a:r>
              <a:rPr lang="en-US" sz="1400" i="1" dirty="0" err="1"/>
              <a:t>lý</a:t>
            </a:r>
            <a:r>
              <a:rPr lang="en-US" sz="1400" i="1" dirty="0"/>
              <a:t> </a:t>
            </a:r>
            <a:r>
              <a:rPr lang="en-US" sz="1400" i="1" dirty="0" err="1"/>
              <a:t>đơn</a:t>
            </a:r>
            <a:r>
              <a:rPr lang="en-US" sz="1400" i="1" dirty="0"/>
              <a:t> </a:t>
            </a:r>
            <a:r>
              <a:rPr lang="en-US" sz="1400" i="1" dirty="0" err="1"/>
              <a:t>hàng</a:t>
            </a:r>
            <a:r>
              <a:rPr lang="en-US" sz="1400" i="1" dirty="0"/>
              <a:t> – Order Management (Order-to-Cash)</a:t>
            </a:r>
            <a:endParaRPr lang="en-US" sz="1400" dirty="0"/>
          </a:p>
        </p:txBody>
      </p:sp>
    </p:spTree>
    <p:extLst>
      <p:ext uri="{BB962C8B-B14F-4D97-AF65-F5344CB8AC3E}">
        <p14:creationId xmlns:p14="http://schemas.microsoft.com/office/powerpoint/2010/main" val="40443962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CHƯƠNG 3 · 3.2 MÔ HÌNH HÓA BPMN (AS-IS)  ·  NHÓM CỐT LÕI</a:t>
            </a:r>
          </a:p>
        </p:txBody>
      </p:sp>
      <p:sp>
        <p:nvSpPr>
          <p:cNvPr id="3" name="TextBox 2"/>
          <p:cNvSpPr txBox="1"/>
          <p:nvPr/>
        </p:nvSpPr>
        <p:spPr>
          <a:xfrm>
            <a:off x="658368" y="640080"/>
            <a:ext cx="10874959" cy="603504"/>
          </a:xfrm>
          <a:prstGeom prst="rect">
            <a:avLst/>
          </a:prstGeom>
          <a:noFill/>
        </p:spPr>
        <p:txBody>
          <a:bodyPr wrap="square" lIns="0" tIns="0" rIns="0" bIns="0" anchor="t">
            <a:spAutoFit/>
          </a:bodyPr>
          <a:lstStyle/>
          <a:p>
            <a:pPr algn="l">
              <a:lnSpc>
                <a:spcPct val="105000"/>
              </a:lnSpc>
            </a:pPr>
            <a:r>
              <a:rPr sz="2500" b="1" i="0">
                <a:solidFill>
                  <a:srgbClr val="0A2540"/>
                </a:solidFill>
                <a:latin typeface="Calibri"/>
              </a:rPr>
              <a:t>C03  —  Quản lý dịch vụ và sửa chữa</a:t>
            </a: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 name="TextBox 5"/>
          <p:cNvSpPr txBox="1"/>
          <p:nvPr/>
        </p:nvSpPr>
        <p:spPr>
          <a:xfrm>
            <a:off x="658368" y="1371600"/>
            <a:ext cx="10874959" cy="254237"/>
          </a:xfrm>
          <a:prstGeom prst="rect">
            <a:avLst/>
          </a:prstGeom>
          <a:noFill/>
        </p:spPr>
        <p:txBody>
          <a:bodyPr wrap="square" lIns="0" tIns="0" rIns="0" bIns="0" anchor="t">
            <a:spAutoFit/>
          </a:bodyPr>
          <a:lstStyle/>
          <a:p>
            <a:pPr algn="l">
              <a:lnSpc>
                <a:spcPct val="118000"/>
              </a:lnSpc>
            </a:pPr>
            <a:r>
              <a:rPr sz="1400" b="0" i="1">
                <a:solidFill>
                  <a:srgbClr val="6B7784"/>
                </a:solidFill>
                <a:latin typeface="Calibri"/>
              </a:rPr>
              <a:t>Service Order Management</a:t>
            </a:r>
          </a:p>
        </p:txBody>
      </p:sp>
      <p:sp>
        <p:nvSpPr>
          <p:cNvPr id="7" name="TextBox 6"/>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8" name="TextBox 7"/>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22</a:t>
            </a:r>
          </a:p>
        </p:txBody>
      </p:sp>
      <p:sp>
        <p:nvSpPr>
          <p:cNvPr id="9" name="Rectangle 8"/>
          <p:cNvSpPr/>
          <p:nvPr/>
        </p:nvSpPr>
        <p:spPr>
          <a:xfrm>
            <a:off x="658368" y="1792224"/>
            <a:ext cx="3454298" cy="3273552"/>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 name="Rectangle 9"/>
          <p:cNvSpPr/>
          <p:nvPr/>
        </p:nvSpPr>
        <p:spPr>
          <a:xfrm>
            <a:off x="658368" y="1792224"/>
            <a:ext cx="50292" cy="3273552"/>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 name="TextBox 10"/>
          <p:cNvSpPr txBox="1"/>
          <p:nvPr/>
        </p:nvSpPr>
        <p:spPr>
          <a:xfrm>
            <a:off x="896112" y="1975104"/>
            <a:ext cx="3033674" cy="215444"/>
          </a:xfrm>
          <a:prstGeom prst="rect">
            <a:avLst/>
          </a:prstGeom>
          <a:noFill/>
        </p:spPr>
        <p:txBody>
          <a:bodyPr wrap="square" lIns="0" tIns="0" rIns="0" bIns="0" anchor="t">
            <a:spAutoFit/>
          </a:bodyPr>
          <a:lstStyle/>
          <a:p>
            <a:pPr algn="l">
              <a:lnSpc>
                <a:spcPct val="100000"/>
              </a:lnSpc>
            </a:pPr>
            <a:r>
              <a:rPr sz="1400" b="1" i="0">
                <a:solidFill>
                  <a:srgbClr val="0096D6"/>
                </a:solidFill>
                <a:latin typeface="Calibri"/>
              </a:rPr>
              <a:t>TÁC NHÂN THAM GIA (LANE)</a:t>
            </a:r>
          </a:p>
        </p:txBody>
      </p:sp>
      <p:sp>
        <p:nvSpPr>
          <p:cNvPr id="12" name="TextBox 11"/>
          <p:cNvSpPr txBox="1"/>
          <p:nvPr/>
        </p:nvSpPr>
        <p:spPr>
          <a:xfrm>
            <a:off x="896112" y="2322576"/>
            <a:ext cx="3033674" cy="1651734"/>
          </a:xfrm>
          <a:prstGeom prst="rect">
            <a:avLst/>
          </a:prstGeom>
          <a:noFill/>
        </p:spPr>
        <p:txBody>
          <a:bodyPr wrap="square" lIns="0" tIns="0" rIns="0" bIns="0" anchor="t">
            <a:spAutoFit/>
          </a:bodyPr>
          <a:lstStyle/>
          <a:p>
            <a:pPr algn="l">
              <a:lnSpc>
                <a:spcPct val="120000"/>
              </a:lnSpc>
              <a:spcAft>
                <a:spcPts val="700"/>
              </a:spcAft>
            </a:pPr>
            <a:r>
              <a:rPr sz="1400" b="0" i="0">
                <a:solidFill>
                  <a:srgbClr val="2B3440"/>
                </a:solidFill>
                <a:latin typeface="Calibri"/>
              </a:rPr>
              <a:t>•  Khách hàng (bệnh viện, phòng khám)</a:t>
            </a:r>
          </a:p>
          <a:p>
            <a:pPr algn="l">
              <a:lnSpc>
                <a:spcPct val="120000"/>
              </a:lnSpc>
              <a:spcAft>
                <a:spcPts val="700"/>
              </a:spcAft>
            </a:pPr>
            <a:r>
              <a:rPr sz="1400" b="0" i="0">
                <a:solidFill>
                  <a:srgbClr val="2B3440"/>
                </a:solidFill>
                <a:latin typeface="Calibri"/>
              </a:rPr>
              <a:t>•  Service Admin</a:t>
            </a:r>
          </a:p>
          <a:p>
            <a:pPr algn="l">
              <a:lnSpc>
                <a:spcPct val="120000"/>
              </a:lnSpc>
              <a:spcAft>
                <a:spcPts val="700"/>
              </a:spcAft>
            </a:pPr>
            <a:r>
              <a:rPr sz="1400" b="0" i="0">
                <a:solidFill>
                  <a:srgbClr val="2B3440"/>
                </a:solidFill>
                <a:latin typeface="Calibri"/>
              </a:rPr>
              <a:t>•  Technical Service / Service Engineer</a:t>
            </a:r>
          </a:p>
          <a:p>
            <a:pPr algn="l">
              <a:lnSpc>
                <a:spcPct val="120000"/>
              </a:lnSpc>
              <a:spcAft>
                <a:spcPts val="700"/>
              </a:spcAft>
            </a:pPr>
            <a:r>
              <a:rPr sz="1400" b="0" i="0">
                <a:solidFill>
                  <a:srgbClr val="2B3440"/>
                </a:solidFill>
                <a:latin typeface="Calibri"/>
              </a:rPr>
              <a:t>•  Sales</a:t>
            </a:r>
          </a:p>
          <a:p>
            <a:pPr algn="l">
              <a:lnSpc>
                <a:spcPct val="120000"/>
              </a:lnSpc>
              <a:spcAft>
                <a:spcPts val="700"/>
              </a:spcAft>
            </a:pPr>
            <a:r>
              <a:rPr sz="1400" b="0" i="0">
                <a:solidFill>
                  <a:srgbClr val="2B3440"/>
                </a:solidFill>
                <a:latin typeface="Calibri"/>
              </a:rPr>
              <a:t>•  Warehouse (linh kiện thay thế)</a:t>
            </a:r>
          </a:p>
        </p:txBody>
      </p:sp>
      <p:sp>
        <p:nvSpPr>
          <p:cNvPr id="13" name="Rectangle 12"/>
          <p:cNvSpPr/>
          <p:nvPr/>
        </p:nvSpPr>
        <p:spPr>
          <a:xfrm>
            <a:off x="4368698" y="1792224"/>
            <a:ext cx="3454298" cy="3273552"/>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4" name="Rectangle 13"/>
          <p:cNvSpPr/>
          <p:nvPr/>
        </p:nvSpPr>
        <p:spPr>
          <a:xfrm>
            <a:off x="4368698" y="1792224"/>
            <a:ext cx="50292" cy="3273552"/>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5" name="TextBox 14"/>
          <p:cNvSpPr txBox="1"/>
          <p:nvPr/>
        </p:nvSpPr>
        <p:spPr>
          <a:xfrm>
            <a:off x="4606442" y="1975104"/>
            <a:ext cx="3033674" cy="215444"/>
          </a:xfrm>
          <a:prstGeom prst="rect">
            <a:avLst/>
          </a:prstGeom>
          <a:noFill/>
        </p:spPr>
        <p:txBody>
          <a:bodyPr wrap="square" lIns="0" tIns="0" rIns="0" bIns="0" anchor="t">
            <a:spAutoFit/>
          </a:bodyPr>
          <a:lstStyle/>
          <a:p>
            <a:pPr algn="l">
              <a:lnSpc>
                <a:spcPct val="100000"/>
              </a:lnSpc>
            </a:pPr>
            <a:r>
              <a:rPr sz="1400" b="1" i="0">
                <a:solidFill>
                  <a:srgbClr val="0096D6"/>
                </a:solidFill>
                <a:latin typeface="Calibri"/>
              </a:rPr>
              <a:t>PHẠM VI QUY TRÌNH</a:t>
            </a:r>
          </a:p>
        </p:txBody>
      </p:sp>
      <p:sp>
        <p:nvSpPr>
          <p:cNvPr id="16" name="Rectangle 15"/>
          <p:cNvSpPr/>
          <p:nvPr/>
        </p:nvSpPr>
        <p:spPr>
          <a:xfrm>
            <a:off x="4606442" y="2322576"/>
            <a:ext cx="1207008" cy="310896"/>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7" name="TextBox 16"/>
          <p:cNvSpPr txBox="1"/>
          <p:nvPr/>
        </p:nvSpPr>
        <p:spPr>
          <a:xfrm>
            <a:off x="4606442" y="2370302"/>
            <a:ext cx="1207008" cy="215444"/>
          </a:xfrm>
          <a:prstGeom prst="rect">
            <a:avLst/>
          </a:prstGeom>
          <a:noFill/>
        </p:spPr>
        <p:txBody>
          <a:bodyPr wrap="square" lIns="0" tIns="0" rIns="0" bIns="0" anchor="ctr">
            <a:spAutoFit/>
          </a:bodyPr>
          <a:lstStyle/>
          <a:p>
            <a:pPr algn="ctr">
              <a:lnSpc>
                <a:spcPct val="100000"/>
              </a:lnSpc>
            </a:pPr>
            <a:r>
              <a:rPr sz="1400" b="1" i="0">
                <a:solidFill>
                  <a:srgbClr val="0A2540"/>
                </a:solidFill>
                <a:latin typeface="Calibri"/>
              </a:rPr>
              <a:t>▶  BẮT ĐẦU</a:t>
            </a:r>
          </a:p>
        </p:txBody>
      </p:sp>
      <p:sp>
        <p:nvSpPr>
          <p:cNvPr id="18" name="TextBox 17"/>
          <p:cNvSpPr txBox="1"/>
          <p:nvPr/>
        </p:nvSpPr>
        <p:spPr>
          <a:xfrm>
            <a:off x="4606442" y="2724912"/>
            <a:ext cx="3033674" cy="775597"/>
          </a:xfrm>
          <a:prstGeom prst="rect">
            <a:avLst/>
          </a:prstGeom>
          <a:noFill/>
        </p:spPr>
        <p:txBody>
          <a:bodyPr wrap="square" lIns="0" tIns="0" rIns="0" bIns="0" anchor="t">
            <a:spAutoFit/>
          </a:bodyPr>
          <a:lstStyle/>
          <a:p>
            <a:pPr algn="l">
              <a:lnSpc>
                <a:spcPct val="120000"/>
              </a:lnSpc>
            </a:pPr>
            <a:r>
              <a:rPr sz="1400" b="0" i="0">
                <a:solidFill>
                  <a:srgbClr val="2B3440"/>
                </a:solidFill>
                <a:latin typeface="Calibri"/>
              </a:rPr>
              <a:t>Khách hàng gửi yêu cầu dịch vụ (service request) cho thiết bị cần bảo trì hoặc sửa chữa.</a:t>
            </a:r>
          </a:p>
        </p:txBody>
      </p:sp>
      <p:sp>
        <p:nvSpPr>
          <p:cNvPr id="19" name="Rectangle 18"/>
          <p:cNvSpPr/>
          <p:nvPr/>
        </p:nvSpPr>
        <p:spPr>
          <a:xfrm>
            <a:off x="4606442" y="3749040"/>
            <a:ext cx="1207008" cy="310896"/>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0" name="TextBox 19"/>
          <p:cNvSpPr txBox="1"/>
          <p:nvPr/>
        </p:nvSpPr>
        <p:spPr>
          <a:xfrm>
            <a:off x="4606442" y="3796766"/>
            <a:ext cx="1207008" cy="215444"/>
          </a:xfrm>
          <a:prstGeom prst="rect">
            <a:avLst/>
          </a:prstGeom>
          <a:noFill/>
        </p:spPr>
        <p:txBody>
          <a:bodyPr wrap="square" lIns="0" tIns="0" rIns="0" bIns="0" anchor="ctr">
            <a:spAutoFit/>
          </a:bodyPr>
          <a:lstStyle/>
          <a:p>
            <a:pPr algn="ctr">
              <a:lnSpc>
                <a:spcPct val="100000"/>
              </a:lnSpc>
            </a:pPr>
            <a:r>
              <a:rPr sz="1400" b="1" i="0">
                <a:solidFill>
                  <a:srgbClr val="FFFFFF"/>
                </a:solidFill>
                <a:latin typeface="Calibri"/>
              </a:rPr>
              <a:t>■  KẾT THÚC</a:t>
            </a:r>
          </a:p>
        </p:txBody>
      </p:sp>
      <p:sp>
        <p:nvSpPr>
          <p:cNvPr id="21" name="TextBox 20"/>
          <p:cNvSpPr txBox="1"/>
          <p:nvPr/>
        </p:nvSpPr>
        <p:spPr>
          <a:xfrm>
            <a:off x="4606442" y="4151376"/>
            <a:ext cx="3033674" cy="775597"/>
          </a:xfrm>
          <a:prstGeom prst="rect">
            <a:avLst/>
          </a:prstGeom>
          <a:noFill/>
        </p:spPr>
        <p:txBody>
          <a:bodyPr wrap="square" lIns="0" tIns="0" rIns="0" bIns="0" anchor="t">
            <a:spAutoFit/>
          </a:bodyPr>
          <a:lstStyle/>
          <a:p>
            <a:pPr algn="l">
              <a:lnSpc>
                <a:spcPct val="120000"/>
              </a:lnSpc>
            </a:pPr>
            <a:r>
              <a:rPr sz="1400" b="0" i="0">
                <a:solidFill>
                  <a:srgbClr val="2B3440"/>
                </a:solidFill>
                <a:latin typeface="Calibri"/>
              </a:rPr>
              <a:t>Dịch vụ được hoàn tất (service completion), nghiệm thu và ghi nhận chi phí.</a:t>
            </a:r>
          </a:p>
        </p:txBody>
      </p:sp>
      <p:sp>
        <p:nvSpPr>
          <p:cNvPr id="22" name="Rectangle 21"/>
          <p:cNvSpPr/>
          <p:nvPr/>
        </p:nvSpPr>
        <p:spPr>
          <a:xfrm>
            <a:off x="8079028" y="1792224"/>
            <a:ext cx="3454298" cy="3273552"/>
          </a:xfrm>
          <a:prstGeom prst="rect">
            <a:avLst/>
          </a:prstGeom>
          <a:solidFill>
            <a:srgbClr val="E9F3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3" name="Rectangle 22"/>
          <p:cNvSpPr/>
          <p:nvPr/>
        </p:nvSpPr>
        <p:spPr>
          <a:xfrm>
            <a:off x="8079028" y="1792224"/>
            <a:ext cx="50292" cy="3273552"/>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4" name="TextBox 23"/>
          <p:cNvSpPr txBox="1"/>
          <p:nvPr/>
        </p:nvSpPr>
        <p:spPr>
          <a:xfrm>
            <a:off x="8316772" y="1975104"/>
            <a:ext cx="3033674" cy="215444"/>
          </a:xfrm>
          <a:prstGeom prst="rect">
            <a:avLst/>
          </a:prstGeom>
          <a:noFill/>
        </p:spPr>
        <p:txBody>
          <a:bodyPr wrap="square" lIns="0" tIns="0" rIns="0" bIns="0" anchor="t">
            <a:spAutoFit/>
          </a:bodyPr>
          <a:lstStyle/>
          <a:p>
            <a:pPr algn="l">
              <a:lnSpc>
                <a:spcPct val="100000"/>
              </a:lnSpc>
            </a:pPr>
            <a:r>
              <a:rPr sz="1400" b="1" i="0">
                <a:solidFill>
                  <a:srgbClr val="0A2540"/>
                </a:solidFill>
                <a:latin typeface="Calibri"/>
              </a:rPr>
              <a:t>NGUỒN BẰNG CHỨNG CHÍNH</a:t>
            </a:r>
          </a:p>
        </p:txBody>
      </p:sp>
      <p:sp>
        <p:nvSpPr>
          <p:cNvPr id="25" name="TextBox 24"/>
          <p:cNvSpPr txBox="1"/>
          <p:nvPr/>
        </p:nvSpPr>
        <p:spPr>
          <a:xfrm>
            <a:off x="8316772" y="2322576"/>
            <a:ext cx="3033674" cy="775597"/>
          </a:xfrm>
          <a:prstGeom prst="rect">
            <a:avLst/>
          </a:prstGeom>
          <a:noFill/>
        </p:spPr>
        <p:txBody>
          <a:bodyPr wrap="square" lIns="0" tIns="0" rIns="0" bIns="0" anchor="t">
            <a:spAutoFit/>
          </a:bodyPr>
          <a:lstStyle/>
          <a:p>
            <a:pPr algn="l">
              <a:lnSpc>
                <a:spcPct val="120000"/>
              </a:lnSpc>
            </a:pPr>
            <a:r>
              <a:rPr sz="1400" b="0" i="0">
                <a:solidFill>
                  <a:srgbClr val="2B3440"/>
                </a:solidFill>
                <a:latin typeface="Calibri"/>
              </a:rPr>
              <a:t>OTC350 – Introduction to CRM-Service;  OTC352 – Create and Manage CRM-Service Repair Orders.</a:t>
            </a:r>
          </a:p>
        </p:txBody>
      </p:sp>
      <p:sp>
        <p:nvSpPr>
          <p:cNvPr id="26" name="TextBox 25"/>
          <p:cNvSpPr txBox="1"/>
          <p:nvPr/>
        </p:nvSpPr>
        <p:spPr>
          <a:xfrm>
            <a:off x="8316772" y="3840480"/>
            <a:ext cx="3033674" cy="215444"/>
          </a:xfrm>
          <a:prstGeom prst="rect">
            <a:avLst/>
          </a:prstGeom>
          <a:noFill/>
        </p:spPr>
        <p:txBody>
          <a:bodyPr wrap="square" lIns="0" tIns="0" rIns="0" bIns="0" anchor="t">
            <a:spAutoFit/>
          </a:bodyPr>
          <a:lstStyle/>
          <a:p>
            <a:pPr algn="l">
              <a:lnSpc>
                <a:spcPct val="100000"/>
              </a:lnSpc>
            </a:pPr>
            <a:r>
              <a:rPr sz="1400" b="1" i="0">
                <a:solidFill>
                  <a:srgbClr val="0A2540"/>
                </a:solidFill>
                <a:latin typeface="Calibri"/>
              </a:rPr>
              <a:t>THÀNH PHẦN BPMN CẦN XÁC ĐỊNH</a:t>
            </a:r>
          </a:p>
        </p:txBody>
      </p:sp>
      <p:sp>
        <p:nvSpPr>
          <p:cNvPr id="27" name="TextBox 26"/>
          <p:cNvSpPr txBox="1"/>
          <p:nvPr/>
        </p:nvSpPr>
        <p:spPr>
          <a:xfrm>
            <a:off x="8316772" y="4151376"/>
            <a:ext cx="3033674" cy="517065"/>
          </a:xfrm>
          <a:prstGeom prst="rect">
            <a:avLst/>
          </a:prstGeom>
          <a:noFill/>
        </p:spPr>
        <p:txBody>
          <a:bodyPr wrap="square" lIns="0" tIns="0" rIns="0" bIns="0" anchor="t">
            <a:spAutoFit/>
          </a:bodyPr>
          <a:lstStyle/>
          <a:p>
            <a:pPr algn="l">
              <a:lnSpc>
                <a:spcPct val="120000"/>
              </a:lnSpc>
            </a:pPr>
            <a:r>
              <a:rPr sz="1400" b="0" i="0">
                <a:solidFill>
                  <a:srgbClr val="2B3440"/>
                </a:solidFill>
                <a:latin typeface="Calibri"/>
              </a:rPr>
              <a:t>Pool · Lane · Activity · Event · Gateway · Data Object</a:t>
            </a:r>
          </a:p>
        </p:txBody>
      </p:sp>
      <p:sp>
        <p:nvSpPr>
          <p:cNvPr id="28" name="Rectangle 27"/>
          <p:cNvSpPr/>
          <p:nvPr/>
        </p:nvSpPr>
        <p:spPr>
          <a:xfrm>
            <a:off x="658368" y="5266944"/>
            <a:ext cx="10874959" cy="658368"/>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9" name="Rectangle 28"/>
          <p:cNvSpPr/>
          <p:nvPr/>
        </p:nvSpPr>
        <p:spPr>
          <a:xfrm>
            <a:off x="658368" y="5266944"/>
            <a:ext cx="50292" cy="65836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0" name="TextBox 29"/>
          <p:cNvSpPr txBox="1"/>
          <p:nvPr/>
        </p:nvSpPr>
        <p:spPr>
          <a:xfrm>
            <a:off x="950976" y="5488406"/>
            <a:ext cx="10280599" cy="215444"/>
          </a:xfrm>
          <a:prstGeom prst="rect">
            <a:avLst/>
          </a:prstGeom>
          <a:noFill/>
        </p:spPr>
        <p:txBody>
          <a:bodyPr wrap="square" lIns="0" tIns="0" rIns="0" bIns="0" anchor="ctr">
            <a:spAutoFit/>
          </a:bodyPr>
          <a:lstStyle/>
          <a:p>
            <a:pPr algn="l">
              <a:lnSpc>
                <a:spcPct val="100000"/>
              </a:lnSpc>
            </a:pPr>
            <a:r>
              <a:rPr sz="1400" b="1" i="0" dirty="0">
                <a:solidFill>
                  <a:srgbClr val="00C2A8"/>
                </a:solidFill>
                <a:latin typeface="Calibri"/>
              </a:rPr>
              <a:t>▶   SƠ ĐỒ BPMN CHI TIẾT  —  </a:t>
            </a:r>
            <a:r>
              <a:rPr sz="1400" b="1" i="0" dirty="0" err="1">
                <a:solidFill>
                  <a:srgbClr val="00C2A8"/>
                </a:solidFill>
                <a:latin typeface="Calibri"/>
              </a:rPr>
              <a:t>Hình</a:t>
            </a:r>
            <a:r>
              <a:rPr sz="1400" b="1" i="0" dirty="0">
                <a:solidFill>
                  <a:srgbClr val="00C2A8"/>
                </a:solidFill>
                <a:latin typeface="Calibri"/>
              </a:rPr>
              <a:t> 3.5  </a:t>
            </a:r>
            <a:r>
              <a:rPr sz="1400" b="1" i="0" dirty="0" smtClean="0">
                <a:solidFill>
                  <a:srgbClr val="00C2A8"/>
                </a:solidFill>
                <a:latin typeface="Calibri"/>
              </a:rPr>
              <a:t>—</a:t>
            </a:r>
            <a:r>
              <a:rPr lang="en-US" sz="1400" b="1" i="0" dirty="0" smtClean="0">
                <a:solidFill>
                  <a:srgbClr val="00C2A8"/>
                </a:solidFill>
                <a:latin typeface="Calibri"/>
              </a:rPr>
              <a:t> </a:t>
            </a:r>
            <a:r>
              <a:rPr sz="1400" b="1" i="0" dirty="0" smtClean="0">
                <a:solidFill>
                  <a:srgbClr val="00C2A8"/>
                </a:solidFill>
                <a:latin typeface="Calibri"/>
              </a:rPr>
              <a:t>slide </a:t>
            </a:r>
            <a:r>
              <a:rPr sz="1400" b="1" i="0" dirty="0" err="1">
                <a:solidFill>
                  <a:srgbClr val="00C2A8"/>
                </a:solidFill>
                <a:latin typeface="Calibri"/>
              </a:rPr>
              <a:t>kế</a:t>
            </a:r>
            <a:r>
              <a:rPr sz="1400" b="1" i="0" dirty="0">
                <a:solidFill>
                  <a:srgbClr val="00C2A8"/>
                </a:solidFill>
                <a:latin typeface="Calibri"/>
              </a:rPr>
              <a:t> </a:t>
            </a:r>
            <a:r>
              <a:rPr sz="1400" b="1" i="0" dirty="0" err="1">
                <a:solidFill>
                  <a:srgbClr val="00C2A8"/>
                </a:solidFill>
                <a:latin typeface="Calibri"/>
              </a:rPr>
              <a:t>tiếp</a:t>
            </a:r>
            <a:endParaRPr sz="1400" b="1" i="0" dirty="0">
              <a:solidFill>
                <a:srgbClr val="00C2A8"/>
              </a:solidFill>
              <a:latin typeface="Calibri"/>
            </a:endParaRPr>
          </a:p>
        </p:txBody>
      </p:sp>
    </p:spTree>
    <p:extLst>
      <p:ext uri="{BB962C8B-B14F-4D97-AF65-F5344CB8AC3E}">
        <p14:creationId xmlns:p14="http://schemas.microsoft.com/office/powerpoint/2010/main" val="20628441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82880" cy="859536"/>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75488" y="137160"/>
            <a:ext cx="7955279" cy="256032"/>
          </a:xfrm>
          <a:prstGeom prst="rect">
            <a:avLst/>
          </a:prstGeom>
          <a:noFill/>
        </p:spPr>
        <p:txBody>
          <a:bodyPr wrap="square" lIns="0" tIns="0" rIns="0" bIns="0" anchor="t">
            <a:spAutoFit/>
          </a:bodyPr>
          <a:lstStyle/>
          <a:p>
            <a:pPr algn="l">
              <a:lnSpc>
                <a:spcPct val="100000"/>
              </a:lnSpc>
            </a:pPr>
            <a:r>
              <a:rPr sz="950" b="1" i="0">
                <a:solidFill>
                  <a:srgbClr val="00C2A8"/>
                </a:solidFill>
                <a:latin typeface="Calibri"/>
              </a:rPr>
              <a:t>CHƯƠNG 3 · 3.2 MÔ HÌNH HÓA BPMN (AS-IS)  ·  NHÓM CỐT LÕI</a:t>
            </a:r>
          </a:p>
        </p:txBody>
      </p:sp>
      <p:sp>
        <p:nvSpPr>
          <p:cNvPr id="5" name="TextBox 4"/>
          <p:cNvSpPr txBox="1"/>
          <p:nvPr/>
        </p:nvSpPr>
        <p:spPr>
          <a:xfrm>
            <a:off x="475488" y="411480"/>
            <a:ext cx="7955279" cy="329184"/>
          </a:xfrm>
          <a:prstGeom prst="rect">
            <a:avLst/>
          </a:prstGeom>
          <a:noFill/>
        </p:spPr>
        <p:txBody>
          <a:bodyPr wrap="square" lIns="0" tIns="0" rIns="0" bIns="0" anchor="t">
            <a:spAutoFit/>
          </a:bodyPr>
          <a:lstStyle/>
          <a:p>
            <a:pPr algn="l">
              <a:lnSpc>
                <a:spcPct val="100000"/>
              </a:lnSpc>
            </a:pPr>
            <a:r>
              <a:rPr sz="1700" b="1" i="0">
                <a:solidFill>
                  <a:srgbClr val="FFFFFF"/>
                </a:solidFill>
                <a:latin typeface="Calibri"/>
              </a:rPr>
              <a:t>C03  —  Quản lý dịch vụ và sửa chữa</a:t>
            </a:r>
          </a:p>
        </p:txBody>
      </p:sp>
      <p:sp>
        <p:nvSpPr>
          <p:cNvPr id="6" name="TextBox 5"/>
          <p:cNvSpPr txBox="1"/>
          <p:nvPr/>
        </p:nvSpPr>
        <p:spPr>
          <a:xfrm>
            <a:off x="8595360" y="265176"/>
            <a:ext cx="3154680" cy="329184"/>
          </a:xfrm>
          <a:prstGeom prst="rect">
            <a:avLst/>
          </a:prstGeom>
          <a:noFill/>
        </p:spPr>
        <p:txBody>
          <a:bodyPr wrap="square" lIns="0" tIns="0" rIns="0" bIns="0" anchor="ctr">
            <a:spAutoFit/>
          </a:bodyPr>
          <a:lstStyle/>
          <a:p>
            <a:pPr algn="r">
              <a:lnSpc>
                <a:spcPct val="100000"/>
              </a:lnSpc>
            </a:pPr>
            <a:r>
              <a:rPr sz="1400" b="1" i="0">
                <a:solidFill>
                  <a:srgbClr val="00C2A8"/>
                </a:solidFill>
                <a:latin typeface="Calibri"/>
              </a:rPr>
              <a:t>Hình 3.5</a:t>
            </a:r>
          </a:p>
        </p:txBody>
      </p:sp>
      <p:sp>
        <p:nvSpPr>
          <p:cNvPr id="9" name="TextBox 8"/>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10" name="TextBox 9"/>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23</a:t>
            </a:r>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1212" y="996696"/>
            <a:ext cx="8860630" cy="4926015"/>
          </a:xfrm>
          <a:prstGeom prst="rect">
            <a:avLst/>
          </a:prstGeom>
        </p:spPr>
      </p:pic>
      <p:sp>
        <p:nvSpPr>
          <p:cNvPr id="16" name="Rectangle 15"/>
          <p:cNvSpPr/>
          <p:nvPr/>
        </p:nvSpPr>
        <p:spPr>
          <a:xfrm>
            <a:off x="2719373" y="5857925"/>
            <a:ext cx="6752948" cy="325538"/>
          </a:xfrm>
          <a:prstGeom prst="rect">
            <a:avLst/>
          </a:prstGeom>
        </p:spPr>
        <p:txBody>
          <a:bodyPr wrap="square">
            <a:spAutoFit/>
          </a:bodyPr>
          <a:lstStyle/>
          <a:p>
            <a:pPr algn="ctr">
              <a:lnSpc>
                <a:spcPct val="115000"/>
              </a:lnSpc>
              <a:spcAft>
                <a:spcPts val="800"/>
              </a:spcAft>
            </a:pPr>
            <a:r>
              <a:rPr lang="en-US" sz="1400" i="1" dirty="0" err="1">
                <a:latin typeface="+mj-lt"/>
                <a:ea typeface="Calibri" panose="020F0502020204030204" pitchFamily="34" charset="0"/>
                <a:cs typeface="Times New Roman" panose="02020603050405020304" pitchFamily="18" charset="0"/>
              </a:rPr>
              <a:t>Hình</a:t>
            </a:r>
            <a:r>
              <a:rPr lang="en-US" sz="1400" i="1" dirty="0">
                <a:latin typeface="+mj-lt"/>
                <a:ea typeface="Calibri" panose="020F0502020204030204" pitchFamily="34" charset="0"/>
                <a:cs typeface="Times New Roman" panose="02020603050405020304" pitchFamily="18" charset="0"/>
              </a:rPr>
              <a:t> 3.5. </a:t>
            </a:r>
            <a:r>
              <a:rPr lang="en-US" sz="1400" i="1" dirty="0" err="1">
                <a:latin typeface="+mj-lt"/>
                <a:ea typeface="Calibri" panose="020F0502020204030204" pitchFamily="34" charset="0"/>
                <a:cs typeface="Times New Roman" panose="02020603050405020304" pitchFamily="18" charset="0"/>
              </a:rPr>
              <a:t>Mô</a:t>
            </a:r>
            <a:r>
              <a:rPr lang="en-US" sz="1400" i="1" dirty="0">
                <a:latin typeface="+mj-lt"/>
                <a:ea typeface="Calibri" panose="020F0502020204030204" pitchFamily="34" charset="0"/>
                <a:cs typeface="Times New Roman" panose="02020603050405020304" pitchFamily="18" charset="0"/>
              </a:rPr>
              <a:t> </a:t>
            </a:r>
            <a:r>
              <a:rPr lang="en-US" sz="1400" i="1" dirty="0" err="1">
                <a:latin typeface="+mj-lt"/>
                <a:ea typeface="Calibri" panose="020F0502020204030204" pitchFamily="34" charset="0"/>
                <a:cs typeface="Times New Roman" panose="02020603050405020304" pitchFamily="18" charset="0"/>
              </a:rPr>
              <a:t>hình</a:t>
            </a:r>
            <a:r>
              <a:rPr lang="en-US" sz="1400" i="1" dirty="0">
                <a:latin typeface="+mj-lt"/>
                <a:ea typeface="Calibri" panose="020F0502020204030204" pitchFamily="34" charset="0"/>
                <a:cs typeface="Times New Roman" panose="02020603050405020304" pitchFamily="18" charset="0"/>
              </a:rPr>
              <a:t> BPMN </a:t>
            </a:r>
            <a:r>
              <a:rPr lang="en-US" sz="1400" i="1" dirty="0" err="1">
                <a:latin typeface="+mj-lt"/>
                <a:ea typeface="Calibri" panose="020F0502020204030204" pitchFamily="34" charset="0"/>
                <a:cs typeface="Times New Roman" panose="02020603050405020304" pitchFamily="18" charset="0"/>
              </a:rPr>
              <a:t>Quản</a:t>
            </a:r>
            <a:r>
              <a:rPr lang="en-US" sz="1400" i="1" dirty="0">
                <a:latin typeface="+mj-lt"/>
                <a:ea typeface="Calibri" panose="020F0502020204030204" pitchFamily="34" charset="0"/>
                <a:cs typeface="Times New Roman" panose="02020603050405020304" pitchFamily="18" charset="0"/>
              </a:rPr>
              <a:t> </a:t>
            </a:r>
            <a:r>
              <a:rPr lang="en-US" sz="1400" i="1" dirty="0" err="1">
                <a:latin typeface="+mj-lt"/>
                <a:ea typeface="Calibri" panose="020F0502020204030204" pitchFamily="34" charset="0"/>
                <a:cs typeface="Times New Roman" panose="02020603050405020304" pitchFamily="18" charset="0"/>
              </a:rPr>
              <a:t>lý</a:t>
            </a:r>
            <a:r>
              <a:rPr lang="en-US" sz="1400" i="1" dirty="0">
                <a:latin typeface="+mj-lt"/>
                <a:ea typeface="Calibri" panose="020F0502020204030204" pitchFamily="34" charset="0"/>
                <a:cs typeface="Times New Roman" panose="02020603050405020304" pitchFamily="18" charset="0"/>
              </a:rPr>
              <a:t> </a:t>
            </a:r>
            <a:r>
              <a:rPr lang="en-US" sz="1400" i="1" dirty="0" err="1">
                <a:latin typeface="+mj-lt"/>
                <a:ea typeface="Calibri" panose="020F0502020204030204" pitchFamily="34" charset="0"/>
                <a:cs typeface="Times New Roman" panose="02020603050405020304" pitchFamily="18" charset="0"/>
              </a:rPr>
              <a:t>dịch</a:t>
            </a:r>
            <a:r>
              <a:rPr lang="en-US" sz="1400" i="1" dirty="0">
                <a:latin typeface="+mj-lt"/>
                <a:ea typeface="Calibri" panose="020F0502020204030204" pitchFamily="34" charset="0"/>
                <a:cs typeface="Times New Roman" panose="02020603050405020304" pitchFamily="18" charset="0"/>
              </a:rPr>
              <a:t> </a:t>
            </a:r>
            <a:r>
              <a:rPr lang="en-US" sz="1400" i="1" dirty="0" err="1">
                <a:latin typeface="+mj-lt"/>
                <a:ea typeface="Calibri" panose="020F0502020204030204" pitchFamily="34" charset="0"/>
                <a:cs typeface="Times New Roman" panose="02020603050405020304" pitchFamily="18" charset="0"/>
              </a:rPr>
              <a:t>vụ</a:t>
            </a:r>
            <a:r>
              <a:rPr lang="en-US" sz="1400" i="1" dirty="0">
                <a:latin typeface="+mj-lt"/>
                <a:ea typeface="Calibri" panose="020F0502020204030204" pitchFamily="34" charset="0"/>
                <a:cs typeface="Times New Roman" panose="02020603050405020304" pitchFamily="18" charset="0"/>
              </a:rPr>
              <a:t> </a:t>
            </a:r>
            <a:r>
              <a:rPr lang="en-US" sz="1400" i="1" dirty="0" err="1">
                <a:latin typeface="+mj-lt"/>
                <a:ea typeface="Calibri" panose="020F0502020204030204" pitchFamily="34" charset="0"/>
                <a:cs typeface="Times New Roman" panose="02020603050405020304" pitchFamily="18" charset="0"/>
              </a:rPr>
              <a:t>và</a:t>
            </a:r>
            <a:r>
              <a:rPr lang="en-US" sz="1400" i="1" dirty="0">
                <a:latin typeface="+mj-lt"/>
                <a:ea typeface="Calibri" panose="020F0502020204030204" pitchFamily="34" charset="0"/>
                <a:cs typeface="Times New Roman" panose="02020603050405020304" pitchFamily="18" charset="0"/>
              </a:rPr>
              <a:t> </a:t>
            </a:r>
            <a:r>
              <a:rPr lang="en-US" sz="1400" i="1" dirty="0" err="1">
                <a:latin typeface="+mj-lt"/>
                <a:ea typeface="Calibri" panose="020F0502020204030204" pitchFamily="34" charset="0"/>
                <a:cs typeface="Times New Roman" panose="02020603050405020304" pitchFamily="18" charset="0"/>
              </a:rPr>
              <a:t>sửa</a:t>
            </a:r>
            <a:r>
              <a:rPr lang="en-US" sz="1400" i="1" dirty="0">
                <a:latin typeface="+mj-lt"/>
                <a:ea typeface="Calibri" panose="020F0502020204030204" pitchFamily="34" charset="0"/>
                <a:cs typeface="Times New Roman" panose="02020603050405020304" pitchFamily="18" charset="0"/>
              </a:rPr>
              <a:t> </a:t>
            </a:r>
            <a:r>
              <a:rPr lang="en-US" sz="1400" i="1" dirty="0" err="1">
                <a:latin typeface="+mj-lt"/>
                <a:ea typeface="Calibri" panose="020F0502020204030204" pitchFamily="34" charset="0"/>
                <a:cs typeface="Times New Roman" panose="02020603050405020304" pitchFamily="18" charset="0"/>
              </a:rPr>
              <a:t>chữa</a:t>
            </a:r>
            <a:r>
              <a:rPr lang="en-US" sz="1400" i="1" dirty="0">
                <a:latin typeface="+mj-lt"/>
                <a:ea typeface="Calibri" panose="020F0502020204030204" pitchFamily="34" charset="0"/>
                <a:cs typeface="Times New Roman" panose="02020603050405020304" pitchFamily="18" charset="0"/>
              </a:rPr>
              <a:t> – Service Order Management</a:t>
            </a:r>
            <a:endParaRPr lang="en-US" sz="1400" i="1"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595392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CHƯƠNG 3 · 3.2 MÔ HÌNH HÓA BPMN (AS-IS)  ·  NHÓM HỖ TRỢ</a:t>
            </a:r>
          </a:p>
        </p:txBody>
      </p:sp>
      <p:sp>
        <p:nvSpPr>
          <p:cNvPr id="3" name="TextBox 2"/>
          <p:cNvSpPr txBox="1"/>
          <p:nvPr/>
        </p:nvSpPr>
        <p:spPr>
          <a:xfrm>
            <a:off x="658368" y="640080"/>
            <a:ext cx="10874959" cy="603504"/>
          </a:xfrm>
          <a:prstGeom prst="rect">
            <a:avLst/>
          </a:prstGeom>
          <a:noFill/>
        </p:spPr>
        <p:txBody>
          <a:bodyPr wrap="square" lIns="0" tIns="0" rIns="0" bIns="0" anchor="t">
            <a:spAutoFit/>
          </a:bodyPr>
          <a:lstStyle/>
          <a:p>
            <a:pPr algn="l">
              <a:lnSpc>
                <a:spcPct val="105000"/>
              </a:lnSpc>
            </a:pPr>
            <a:r>
              <a:rPr sz="2500" b="1" i="0">
                <a:solidFill>
                  <a:srgbClr val="0A2540"/>
                </a:solidFill>
                <a:latin typeface="Calibri"/>
              </a:rPr>
              <a:t>S01  —  Quản lý mua hàng và cung ứng</a:t>
            </a: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 name="TextBox 5"/>
          <p:cNvSpPr txBox="1"/>
          <p:nvPr/>
        </p:nvSpPr>
        <p:spPr>
          <a:xfrm>
            <a:off x="658368" y="1371600"/>
            <a:ext cx="10874959" cy="254237"/>
          </a:xfrm>
          <a:prstGeom prst="rect">
            <a:avLst/>
          </a:prstGeom>
          <a:noFill/>
        </p:spPr>
        <p:txBody>
          <a:bodyPr wrap="square" lIns="0" tIns="0" rIns="0" bIns="0" anchor="t">
            <a:spAutoFit/>
          </a:bodyPr>
          <a:lstStyle/>
          <a:p>
            <a:pPr algn="l">
              <a:lnSpc>
                <a:spcPct val="118000"/>
              </a:lnSpc>
            </a:pPr>
            <a:r>
              <a:rPr sz="1400" b="0" i="1">
                <a:solidFill>
                  <a:srgbClr val="6B7784"/>
                </a:solidFill>
                <a:latin typeface="Calibri"/>
              </a:rPr>
              <a:t>Procurement Management</a:t>
            </a:r>
          </a:p>
        </p:txBody>
      </p:sp>
      <p:sp>
        <p:nvSpPr>
          <p:cNvPr id="7" name="TextBox 6"/>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8" name="TextBox 7"/>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24</a:t>
            </a:r>
          </a:p>
        </p:txBody>
      </p:sp>
      <p:sp>
        <p:nvSpPr>
          <p:cNvPr id="9" name="Rectangle 8"/>
          <p:cNvSpPr/>
          <p:nvPr/>
        </p:nvSpPr>
        <p:spPr>
          <a:xfrm>
            <a:off x="658368" y="1792224"/>
            <a:ext cx="3454298" cy="3273552"/>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 name="Rectangle 9"/>
          <p:cNvSpPr/>
          <p:nvPr/>
        </p:nvSpPr>
        <p:spPr>
          <a:xfrm>
            <a:off x="658368" y="1792224"/>
            <a:ext cx="50292" cy="3273552"/>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 name="TextBox 10"/>
          <p:cNvSpPr txBox="1"/>
          <p:nvPr/>
        </p:nvSpPr>
        <p:spPr>
          <a:xfrm>
            <a:off x="896112" y="1975104"/>
            <a:ext cx="3033674" cy="215444"/>
          </a:xfrm>
          <a:prstGeom prst="rect">
            <a:avLst/>
          </a:prstGeom>
          <a:noFill/>
        </p:spPr>
        <p:txBody>
          <a:bodyPr wrap="square" lIns="0" tIns="0" rIns="0" bIns="0" anchor="t">
            <a:spAutoFit/>
          </a:bodyPr>
          <a:lstStyle/>
          <a:p>
            <a:pPr algn="l">
              <a:lnSpc>
                <a:spcPct val="100000"/>
              </a:lnSpc>
            </a:pPr>
            <a:r>
              <a:rPr sz="1400" b="1" i="0">
                <a:solidFill>
                  <a:srgbClr val="0096D6"/>
                </a:solidFill>
                <a:latin typeface="Calibri"/>
              </a:rPr>
              <a:t>TÁC NHÂN THAM GIA (LANE)</a:t>
            </a:r>
          </a:p>
        </p:txBody>
      </p:sp>
      <p:sp>
        <p:nvSpPr>
          <p:cNvPr id="12" name="TextBox 11"/>
          <p:cNvSpPr txBox="1"/>
          <p:nvPr/>
        </p:nvSpPr>
        <p:spPr>
          <a:xfrm>
            <a:off x="896112" y="2322576"/>
            <a:ext cx="3033674" cy="1651734"/>
          </a:xfrm>
          <a:prstGeom prst="rect">
            <a:avLst/>
          </a:prstGeom>
          <a:noFill/>
        </p:spPr>
        <p:txBody>
          <a:bodyPr wrap="square" lIns="0" tIns="0" rIns="0" bIns="0" anchor="t">
            <a:spAutoFit/>
          </a:bodyPr>
          <a:lstStyle/>
          <a:p>
            <a:pPr algn="l">
              <a:lnSpc>
                <a:spcPct val="120000"/>
              </a:lnSpc>
              <a:spcAft>
                <a:spcPts val="700"/>
              </a:spcAft>
            </a:pPr>
            <a:r>
              <a:rPr sz="1400" b="0" i="0" dirty="0">
                <a:solidFill>
                  <a:srgbClr val="2B3440"/>
                </a:solidFill>
                <a:latin typeface="Calibri"/>
              </a:rPr>
              <a:t>•  Requester (</a:t>
            </a:r>
            <a:r>
              <a:rPr sz="1400" b="0" i="0" dirty="0" err="1">
                <a:solidFill>
                  <a:srgbClr val="2B3440"/>
                </a:solidFill>
                <a:latin typeface="Calibri"/>
              </a:rPr>
              <a:t>bộ</a:t>
            </a:r>
            <a:r>
              <a:rPr sz="1400" b="0" i="0" dirty="0">
                <a:solidFill>
                  <a:srgbClr val="2B3440"/>
                </a:solidFill>
                <a:latin typeface="Calibri"/>
              </a:rPr>
              <a:t> </a:t>
            </a:r>
            <a:r>
              <a:rPr sz="1400" b="0" i="0" dirty="0" err="1">
                <a:solidFill>
                  <a:srgbClr val="2B3440"/>
                </a:solidFill>
                <a:latin typeface="Calibri"/>
              </a:rPr>
              <a:t>phận</a:t>
            </a:r>
            <a:r>
              <a:rPr sz="1400" b="0" i="0" dirty="0">
                <a:solidFill>
                  <a:srgbClr val="2B3440"/>
                </a:solidFill>
                <a:latin typeface="Calibri"/>
              </a:rPr>
              <a:t> </a:t>
            </a:r>
            <a:r>
              <a:rPr sz="1400" b="0" i="0" dirty="0" err="1">
                <a:solidFill>
                  <a:srgbClr val="2B3440"/>
                </a:solidFill>
                <a:latin typeface="Calibri"/>
              </a:rPr>
              <a:t>có</a:t>
            </a:r>
            <a:r>
              <a:rPr sz="1400" b="0" i="0" dirty="0">
                <a:solidFill>
                  <a:srgbClr val="2B3440"/>
                </a:solidFill>
                <a:latin typeface="Calibri"/>
              </a:rPr>
              <a:t> </a:t>
            </a:r>
            <a:r>
              <a:rPr sz="1400" b="0" i="0" dirty="0" err="1">
                <a:solidFill>
                  <a:srgbClr val="2B3440"/>
                </a:solidFill>
                <a:latin typeface="Calibri"/>
              </a:rPr>
              <a:t>nhu</a:t>
            </a:r>
            <a:r>
              <a:rPr sz="1400" b="0" i="0" dirty="0">
                <a:solidFill>
                  <a:srgbClr val="2B3440"/>
                </a:solidFill>
                <a:latin typeface="Calibri"/>
              </a:rPr>
              <a:t> </a:t>
            </a:r>
            <a:r>
              <a:rPr sz="1400" b="0" i="0" dirty="0" err="1">
                <a:solidFill>
                  <a:srgbClr val="2B3440"/>
                </a:solidFill>
                <a:latin typeface="Calibri"/>
              </a:rPr>
              <a:t>cầu</a:t>
            </a:r>
            <a:r>
              <a:rPr sz="1400" b="0" i="0" dirty="0">
                <a:solidFill>
                  <a:srgbClr val="2B3440"/>
                </a:solidFill>
                <a:latin typeface="Calibri"/>
              </a:rPr>
              <a:t>)</a:t>
            </a:r>
          </a:p>
          <a:p>
            <a:pPr algn="l">
              <a:lnSpc>
                <a:spcPct val="120000"/>
              </a:lnSpc>
              <a:spcAft>
                <a:spcPts val="700"/>
              </a:spcAft>
            </a:pPr>
            <a:r>
              <a:rPr sz="1400" b="0" i="0" dirty="0">
                <a:solidFill>
                  <a:srgbClr val="2B3440"/>
                </a:solidFill>
                <a:latin typeface="Calibri"/>
              </a:rPr>
              <a:t>•  Buyer / Procurement</a:t>
            </a:r>
          </a:p>
          <a:p>
            <a:pPr algn="l">
              <a:lnSpc>
                <a:spcPct val="120000"/>
              </a:lnSpc>
              <a:spcAft>
                <a:spcPts val="700"/>
              </a:spcAft>
            </a:pPr>
            <a:r>
              <a:rPr sz="1400" b="0" i="0" dirty="0">
                <a:solidFill>
                  <a:srgbClr val="2B3440"/>
                </a:solidFill>
                <a:latin typeface="Calibri"/>
              </a:rPr>
              <a:t>•  Approver (</a:t>
            </a:r>
            <a:r>
              <a:rPr sz="1400" b="0" i="0" dirty="0" err="1">
                <a:solidFill>
                  <a:srgbClr val="2B3440"/>
                </a:solidFill>
                <a:latin typeface="Calibri"/>
              </a:rPr>
              <a:t>cấp</a:t>
            </a:r>
            <a:r>
              <a:rPr sz="1400" b="0" i="0" dirty="0">
                <a:solidFill>
                  <a:srgbClr val="2B3440"/>
                </a:solidFill>
                <a:latin typeface="Calibri"/>
              </a:rPr>
              <a:t> </a:t>
            </a:r>
            <a:r>
              <a:rPr sz="1400" b="0" i="0" dirty="0" err="1">
                <a:solidFill>
                  <a:srgbClr val="2B3440"/>
                </a:solidFill>
                <a:latin typeface="Calibri"/>
              </a:rPr>
              <a:t>phê</a:t>
            </a:r>
            <a:r>
              <a:rPr sz="1400" b="0" i="0" dirty="0">
                <a:solidFill>
                  <a:srgbClr val="2B3440"/>
                </a:solidFill>
                <a:latin typeface="Calibri"/>
              </a:rPr>
              <a:t> </a:t>
            </a:r>
            <a:r>
              <a:rPr sz="1400" b="0" i="0" dirty="0" err="1">
                <a:solidFill>
                  <a:srgbClr val="2B3440"/>
                </a:solidFill>
                <a:latin typeface="Calibri"/>
              </a:rPr>
              <a:t>duyệt</a:t>
            </a:r>
            <a:r>
              <a:rPr sz="1400" b="0" i="0" dirty="0">
                <a:solidFill>
                  <a:srgbClr val="2B3440"/>
                </a:solidFill>
                <a:latin typeface="Calibri"/>
              </a:rPr>
              <a:t>)</a:t>
            </a:r>
          </a:p>
          <a:p>
            <a:pPr algn="l">
              <a:lnSpc>
                <a:spcPct val="120000"/>
              </a:lnSpc>
              <a:spcAft>
                <a:spcPts val="700"/>
              </a:spcAft>
            </a:pPr>
            <a:r>
              <a:rPr sz="1400" b="0" i="0" dirty="0">
                <a:solidFill>
                  <a:srgbClr val="2B3440"/>
                </a:solidFill>
                <a:latin typeface="Calibri"/>
              </a:rPr>
              <a:t>•  Supplier / </a:t>
            </a:r>
            <a:r>
              <a:rPr sz="1400" b="0" i="0" dirty="0" err="1">
                <a:solidFill>
                  <a:srgbClr val="2B3440"/>
                </a:solidFill>
                <a:latin typeface="Calibri"/>
              </a:rPr>
              <a:t>Nhà</a:t>
            </a:r>
            <a:r>
              <a:rPr sz="1400" b="0" i="0" dirty="0">
                <a:solidFill>
                  <a:srgbClr val="2B3440"/>
                </a:solidFill>
                <a:latin typeface="Calibri"/>
              </a:rPr>
              <a:t> </a:t>
            </a:r>
            <a:r>
              <a:rPr sz="1400" b="0" i="0" dirty="0" err="1">
                <a:solidFill>
                  <a:srgbClr val="2B3440"/>
                </a:solidFill>
                <a:latin typeface="Calibri"/>
              </a:rPr>
              <a:t>cung</a:t>
            </a:r>
            <a:r>
              <a:rPr sz="1400" b="0" i="0" dirty="0">
                <a:solidFill>
                  <a:srgbClr val="2B3440"/>
                </a:solidFill>
                <a:latin typeface="Calibri"/>
              </a:rPr>
              <a:t> </a:t>
            </a:r>
            <a:r>
              <a:rPr sz="1400" b="0" i="0" dirty="0" err="1">
                <a:solidFill>
                  <a:srgbClr val="2B3440"/>
                </a:solidFill>
                <a:latin typeface="Calibri"/>
              </a:rPr>
              <a:t>cấp</a:t>
            </a:r>
            <a:endParaRPr sz="1400" b="0" i="0" dirty="0">
              <a:solidFill>
                <a:srgbClr val="2B3440"/>
              </a:solidFill>
              <a:latin typeface="Calibri"/>
            </a:endParaRPr>
          </a:p>
          <a:p>
            <a:pPr algn="l">
              <a:lnSpc>
                <a:spcPct val="120000"/>
              </a:lnSpc>
              <a:spcAft>
                <a:spcPts val="700"/>
              </a:spcAft>
            </a:pPr>
            <a:r>
              <a:rPr sz="1400" b="0" i="0" dirty="0">
                <a:solidFill>
                  <a:srgbClr val="2B3440"/>
                </a:solidFill>
                <a:latin typeface="Calibri"/>
              </a:rPr>
              <a:t>•  Finance</a:t>
            </a:r>
          </a:p>
        </p:txBody>
      </p:sp>
      <p:sp>
        <p:nvSpPr>
          <p:cNvPr id="13" name="Rectangle 12"/>
          <p:cNvSpPr/>
          <p:nvPr/>
        </p:nvSpPr>
        <p:spPr>
          <a:xfrm>
            <a:off x="4368698" y="1792224"/>
            <a:ext cx="3454298" cy="3273552"/>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4" name="Rectangle 13"/>
          <p:cNvSpPr/>
          <p:nvPr/>
        </p:nvSpPr>
        <p:spPr>
          <a:xfrm>
            <a:off x="4368698" y="1792224"/>
            <a:ext cx="50292" cy="3273552"/>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5" name="TextBox 14"/>
          <p:cNvSpPr txBox="1"/>
          <p:nvPr/>
        </p:nvSpPr>
        <p:spPr>
          <a:xfrm>
            <a:off x="4606442" y="1975104"/>
            <a:ext cx="3033674" cy="215444"/>
          </a:xfrm>
          <a:prstGeom prst="rect">
            <a:avLst/>
          </a:prstGeom>
          <a:noFill/>
        </p:spPr>
        <p:txBody>
          <a:bodyPr wrap="square" lIns="0" tIns="0" rIns="0" bIns="0" anchor="t">
            <a:spAutoFit/>
          </a:bodyPr>
          <a:lstStyle/>
          <a:p>
            <a:pPr algn="l">
              <a:lnSpc>
                <a:spcPct val="100000"/>
              </a:lnSpc>
            </a:pPr>
            <a:r>
              <a:rPr sz="1400" b="1" i="0">
                <a:solidFill>
                  <a:srgbClr val="0096D6"/>
                </a:solidFill>
                <a:latin typeface="Calibri"/>
              </a:rPr>
              <a:t>PHẠM VI QUY TRÌNH</a:t>
            </a:r>
          </a:p>
        </p:txBody>
      </p:sp>
      <p:sp>
        <p:nvSpPr>
          <p:cNvPr id="16" name="Rectangle 15"/>
          <p:cNvSpPr/>
          <p:nvPr/>
        </p:nvSpPr>
        <p:spPr>
          <a:xfrm>
            <a:off x="4606442" y="2322576"/>
            <a:ext cx="1207008" cy="310896"/>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7" name="TextBox 16"/>
          <p:cNvSpPr txBox="1"/>
          <p:nvPr/>
        </p:nvSpPr>
        <p:spPr>
          <a:xfrm>
            <a:off x="4606442" y="2370302"/>
            <a:ext cx="1207008" cy="215444"/>
          </a:xfrm>
          <a:prstGeom prst="rect">
            <a:avLst/>
          </a:prstGeom>
          <a:noFill/>
        </p:spPr>
        <p:txBody>
          <a:bodyPr wrap="square" lIns="0" tIns="0" rIns="0" bIns="0" anchor="ctr">
            <a:spAutoFit/>
          </a:bodyPr>
          <a:lstStyle/>
          <a:p>
            <a:pPr algn="ctr">
              <a:lnSpc>
                <a:spcPct val="100000"/>
              </a:lnSpc>
            </a:pPr>
            <a:r>
              <a:rPr sz="1400" b="1" i="0">
                <a:solidFill>
                  <a:srgbClr val="0A2540"/>
                </a:solidFill>
                <a:latin typeface="Calibri"/>
              </a:rPr>
              <a:t>▶  BẮT ĐẦU</a:t>
            </a:r>
          </a:p>
        </p:txBody>
      </p:sp>
      <p:sp>
        <p:nvSpPr>
          <p:cNvPr id="18" name="TextBox 17"/>
          <p:cNvSpPr txBox="1"/>
          <p:nvPr/>
        </p:nvSpPr>
        <p:spPr>
          <a:xfrm>
            <a:off x="4606442" y="2724912"/>
            <a:ext cx="3033674" cy="517065"/>
          </a:xfrm>
          <a:prstGeom prst="rect">
            <a:avLst/>
          </a:prstGeom>
          <a:noFill/>
        </p:spPr>
        <p:txBody>
          <a:bodyPr wrap="square" lIns="0" tIns="0" rIns="0" bIns="0" anchor="t">
            <a:spAutoFit/>
          </a:bodyPr>
          <a:lstStyle/>
          <a:p>
            <a:pPr algn="l">
              <a:lnSpc>
                <a:spcPct val="120000"/>
              </a:lnSpc>
            </a:pPr>
            <a:r>
              <a:rPr sz="1400" b="0" i="0">
                <a:solidFill>
                  <a:srgbClr val="2B3440"/>
                </a:solidFill>
                <a:latin typeface="Calibri"/>
              </a:rPr>
              <a:t>Bộ phận có nhu cầu tạo Purchase Requisition (PR) trên hệ thống.</a:t>
            </a:r>
          </a:p>
        </p:txBody>
      </p:sp>
      <p:sp>
        <p:nvSpPr>
          <p:cNvPr id="19" name="Rectangle 18"/>
          <p:cNvSpPr/>
          <p:nvPr/>
        </p:nvSpPr>
        <p:spPr>
          <a:xfrm>
            <a:off x="4606442" y="3749040"/>
            <a:ext cx="1207008" cy="310896"/>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0" name="TextBox 19"/>
          <p:cNvSpPr txBox="1"/>
          <p:nvPr/>
        </p:nvSpPr>
        <p:spPr>
          <a:xfrm>
            <a:off x="4606442" y="3796766"/>
            <a:ext cx="1207008" cy="215444"/>
          </a:xfrm>
          <a:prstGeom prst="rect">
            <a:avLst/>
          </a:prstGeom>
          <a:noFill/>
        </p:spPr>
        <p:txBody>
          <a:bodyPr wrap="square" lIns="0" tIns="0" rIns="0" bIns="0" anchor="ctr">
            <a:spAutoFit/>
          </a:bodyPr>
          <a:lstStyle/>
          <a:p>
            <a:pPr algn="ctr">
              <a:lnSpc>
                <a:spcPct val="100000"/>
              </a:lnSpc>
            </a:pPr>
            <a:r>
              <a:rPr sz="1400" b="1" i="0">
                <a:solidFill>
                  <a:srgbClr val="FFFFFF"/>
                </a:solidFill>
                <a:latin typeface="Calibri"/>
              </a:rPr>
              <a:t>■  KẾT THÚC</a:t>
            </a:r>
          </a:p>
        </p:txBody>
      </p:sp>
      <p:sp>
        <p:nvSpPr>
          <p:cNvPr id="21" name="TextBox 20"/>
          <p:cNvSpPr txBox="1"/>
          <p:nvPr/>
        </p:nvSpPr>
        <p:spPr>
          <a:xfrm>
            <a:off x="4606442" y="4151376"/>
            <a:ext cx="3033674" cy="775597"/>
          </a:xfrm>
          <a:prstGeom prst="rect">
            <a:avLst/>
          </a:prstGeom>
          <a:noFill/>
        </p:spPr>
        <p:txBody>
          <a:bodyPr wrap="square" lIns="0" tIns="0" rIns="0" bIns="0" anchor="t">
            <a:spAutoFit/>
          </a:bodyPr>
          <a:lstStyle/>
          <a:p>
            <a:pPr algn="l">
              <a:lnSpc>
                <a:spcPct val="120000"/>
              </a:lnSpc>
            </a:pPr>
            <a:r>
              <a:rPr sz="1400" b="0" i="0">
                <a:solidFill>
                  <a:srgbClr val="2B3440"/>
                </a:solidFill>
                <a:latin typeface="Calibri"/>
              </a:rPr>
              <a:t>PO được nhà cung cấp xác nhận (acknowledgement) và hàng hóa được cung ứng.</a:t>
            </a:r>
          </a:p>
        </p:txBody>
      </p:sp>
      <p:sp>
        <p:nvSpPr>
          <p:cNvPr id="22" name="Rectangle 21"/>
          <p:cNvSpPr/>
          <p:nvPr/>
        </p:nvSpPr>
        <p:spPr>
          <a:xfrm>
            <a:off x="8079028" y="1792224"/>
            <a:ext cx="3454298" cy="3273552"/>
          </a:xfrm>
          <a:prstGeom prst="rect">
            <a:avLst/>
          </a:prstGeom>
          <a:solidFill>
            <a:srgbClr val="E9F3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3" name="Rectangle 22"/>
          <p:cNvSpPr/>
          <p:nvPr/>
        </p:nvSpPr>
        <p:spPr>
          <a:xfrm>
            <a:off x="8079028" y="1792224"/>
            <a:ext cx="50292" cy="3273552"/>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4" name="TextBox 23"/>
          <p:cNvSpPr txBox="1"/>
          <p:nvPr/>
        </p:nvSpPr>
        <p:spPr>
          <a:xfrm>
            <a:off x="8316772" y="1975104"/>
            <a:ext cx="3033674" cy="215444"/>
          </a:xfrm>
          <a:prstGeom prst="rect">
            <a:avLst/>
          </a:prstGeom>
          <a:noFill/>
        </p:spPr>
        <p:txBody>
          <a:bodyPr wrap="square" lIns="0" tIns="0" rIns="0" bIns="0" anchor="t">
            <a:spAutoFit/>
          </a:bodyPr>
          <a:lstStyle/>
          <a:p>
            <a:pPr algn="l">
              <a:lnSpc>
                <a:spcPct val="100000"/>
              </a:lnSpc>
            </a:pPr>
            <a:r>
              <a:rPr sz="1400" b="1" i="0">
                <a:solidFill>
                  <a:srgbClr val="0A2540"/>
                </a:solidFill>
                <a:latin typeface="Calibri"/>
              </a:rPr>
              <a:t>NGUỒN BẰNG CHỨNG CHÍNH</a:t>
            </a:r>
          </a:p>
        </p:txBody>
      </p:sp>
      <p:sp>
        <p:nvSpPr>
          <p:cNvPr id="25" name="TextBox 24"/>
          <p:cNvSpPr txBox="1"/>
          <p:nvPr/>
        </p:nvSpPr>
        <p:spPr>
          <a:xfrm>
            <a:off x="8316772" y="2322576"/>
            <a:ext cx="3033674" cy="517065"/>
          </a:xfrm>
          <a:prstGeom prst="rect">
            <a:avLst/>
          </a:prstGeom>
          <a:noFill/>
        </p:spPr>
        <p:txBody>
          <a:bodyPr wrap="square" lIns="0" tIns="0" rIns="0" bIns="0" anchor="t">
            <a:spAutoFit/>
          </a:bodyPr>
          <a:lstStyle/>
          <a:p>
            <a:pPr algn="l">
              <a:lnSpc>
                <a:spcPct val="120000"/>
              </a:lnSpc>
            </a:pPr>
            <a:r>
              <a:rPr sz="1400" b="0" i="0">
                <a:solidFill>
                  <a:srgbClr val="2B3440"/>
                </a:solidFill>
                <a:latin typeface="Calibri"/>
              </a:rPr>
              <a:t>W4_STP – Procurement End User (chu trình Source-to-Pay).</a:t>
            </a:r>
          </a:p>
        </p:txBody>
      </p:sp>
      <p:sp>
        <p:nvSpPr>
          <p:cNvPr id="26" name="TextBox 25"/>
          <p:cNvSpPr txBox="1"/>
          <p:nvPr/>
        </p:nvSpPr>
        <p:spPr>
          <a:xfrm>
            <a:off x="8316772" y="3840480"/>
            <a:ext cx="3033674" cy="215444"/>
          </a:xfrm>
          <a:prstGeom prst="rect">
            <a:avLst/>
          </a:prstGeom>
          <a:noFill/>
        </p:spPr>
        <p:txBody>
          <a:bodyPr wrap="square" lIns="0" tIns="0" rIns="0" bIns="0" anchor="t">
            <a:spAutoFit/>
          </a:bodyPr>
          <a:lstStyle/>
          <a:p>
            <a:pPr algn="l">
              <a:lnSpc>
                <a:spcPct val="100000"/>
              </a:lnSpc>
            </a:pPr>
            <a:r>
              <a:rPr sz="1400" b="1" i="0">
                <a:solidFill>
                  <a:srgbClr val="0A2540"/>
                </a:solidFill>
                <a:latin typeface="Calibri"/>
              </a:rPr>
              <a:t>THÀNH PHẦN BPMN CẦN XÁC ĐỊNH</a:t>
            </a:r>
          </a:p>
        </p:txBody>
      </p:sp>
      <p:sp>
        <p:nvSpPr>
          <p:cNvPr id="27" name="TextBox 26"/>
          <p:cNvSpPr txBox="1"/>
          <p:nvPr/>
        </p:nvSpPr>
        <p:spPr>
          <a:xfrm>
            <a:off x="8316772" y="4151376"/>
            <a:ext cx="3033674" cy="517065"/>
          </a:xfrm>
          <a:prstGeom prst="rect">
            <a:avLst/>
          </a:prstGeom>
          <a:noFill/>
        </p:spPr>
        <p:txBody>
          <a:bodyPr wrap="square" lIns="0" tIns="0" rIns="0" bIns="0" anchor="t">
            <a:spAutoFit/>
          </a:bodyPr>
          <a:lstStyle/>
          <a:p>
            <a:pPr algn="l">
              <a:lnSpc>
                <a:spcPct val="120000"/>
              </a:lnSpc>
            </a:pPr>
            <a:r>
              <a:rPr sz="1400" b="0" i="0">
                <a:solidFill>
                  <a:srgbClr val="2B3440"/>
                </a:solidFill>
                <a:latin typeface="Calibri"/>
              </a:rPr>
              <a:t>Pool · Lane · Activity · Event · Gateway · Data Object</a:t>
            </a:r>
          </a:p>
        </p:txBody>
      </p:sp>
      <p:sp>
        <p:nvSpPr>
          <p:cNvPr id="28" name="Rectangle 27"/>
          <p:cNvSpPr/>
          <p:nvPr/>
        </p:nvSpPr>
        <p:spPr>
          <a:xfrm>
            <a:off x="658368" y="5266944"/>
            <a:ext cx="10874959" cy="658368"/>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9" name="Rectangle 28"/>
          <p:cNvSpPr/>
          <p:nvPr/>
        </p:nvSpPr>
        <p:spPr>
          <a:xfrm>
            <a:off x="658368" y="5266944"/>
            <a:ext cx="50292" cy="658368"/>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0" name="TextBox 29"/>
          <p:cNvSpPr txBox="1"/>
          <p:nvPr/>
        </p:nvSpPr>
        <p:spPr>
          <a:xfrm>
            <a:off x="950976" y="5488406"/>
            <a:ext cx="10280599" cy="215444"/>
          </a:xfrm>
          <a:prstGeom prst="rect">
            <a:avLst/>
          </a:prstGeom>
          <a:noFill/>
        </p:spPr>
        <p:txBody>
          <a:bodyPr wrap="square" lIns="0" tIns="0" rIns="0" bIns="0" anchor="ctr">
            <a:spAutoFit/>
          </a:bodyPr>
          <a:lstStyle/>
          <a:p>
            <a:pPr algn="l">
              <a:lnSpc>
                <a:spcPct val="100000"/>
              </a:lnSpc>
            </a:pPr>
            <a:r>
              <a:rPr sz="1400" b="1" i="0" dirty="0">
                <a:solidFill>
                  <a:srgbClr val="00C2A8"/>
                </a:solidFill>
                <a:latin typeface="Calibri"/>
              </a:rPr>
              <a:t>▶   SƠ ĐỒ BPMN CHI TIẾT  —  </a:t>
            </a:r>
            <a:r>
              <a:rPr sz="1400" b="1" i="0" dirty="0" err="1">
                <a:solidFill>
                  <a:srgbClr val="00C2A8"/>
                </a:solidFill>
                <a:latin typeface="Calibri"/>
              </a:rPr>
              <a:t>Hình</a:t>
            </a:r>
            <a:r>
              <a:rPr sz="1400" b="1" i="0" dirty="0">
                <a:solidFill>
                  <a:srgbClr val="00C2A8"/>
                </a:solidFill>
                <a:latin typeface="Calibri"/>
              </a:rPr>
              <a:t> 3.6  </a:t>
            </a:r>
            <a:r>
              <a:rPr sz="1400" b="1" i="0" dirty="0" smtClean="0">
                <a:solidFill>
                  <a:srgbClr val="00C2A8"/>
                </a:solidFill>
                <a:latin typeface="Calibri"/>
              </a:rPr>
              <a:t>—</a:t>
            </a:r>
            <a:r>
              <a:rPr lang="en-US" sz="1400" b="1" i="0" dirty="0" smtClean="0">
                <a:solidFill>
                  <a:srgbClr val="00C2A8"/>
                </a:solidFill>
                <a:latin typeface="Calibri"/>
              </a:rPr>
              <a:t> </a:t>
            </a:r>
            <a:r>
              <a:rPr sz="1400" b="1" i="0" dirty="0" smtClean="0">
                <a:solidFill>
                  <a:srgbClr val="00C2A8"/>
                </a:solidFill>
                <a:latin typeface="Calibri"/>
              </a:rPr>
              <a:t>slide </a:t>
            </a:r>
            <a:r>
              <a:rPr sz="1400" b="1" i="0" dirty="0" err="1">
                <a:solidFill>
                  <a:srgbClr val="00C2A8"/>
                </a:solidFill>
                <a:latin typeface="Calibri"/>
              </a:rPr>
              <a:t>kế</a:t>
            </a:r>
            <a:r>
              <a:rPr sz="1400" b="1" i="0" dirty="0">
                <a:solidFill>
                  <a:srgbClr val="00C2A8"/>
                </a:solidFill>
                <a:latin typeface="Calibri"/>
              </a:rPr>
              <a:t> </a:t>
            </a:r>
            <a:r>
              <a:rPr sz="1400" b="1" i="0" dirty="0" err="1">
                <a:solidFill>
                  <a:srgbClr val="00C2A8"/>
                </a:solidFill>
                <a:latin typeface="Calibri"/>
              </a:rPr>
              <a:t>tiếp</a:t>
            </a:r>
            <a:endParaRPr sz="1400" b="1" i="0" dirty="0">
              <a:solidFill>
                <a:srgbClr val="00C2A8"/>
              </a:solidFill>
              <a:latin typeface="Calibri"/>
            </a:endParaRPr>
          </a:p>
        </p:txBody>
      </p:sp>
    </p:spTree>
    <p:extLst>
      <p:ext uri="{BB962C8B-B14F-4D97-AF65-F5344CB8AC3E}">
        <p14:creationId xmlns:p14="http://schemas.microsoft.com/office/powerpoint/2010/main" val="8814003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82880" cy="859536"/>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75488" y="137160"/>
            <a:ext cx="7955279" cy="256032"/>
          </a:xfrm>
          <a:prstGeom prst="rect">
            <a:avLst/>
          </a:prstGeom>
          <a:noFill/>
        </p:spPr>
        <p:txBody>
          <a:bodyPr wrap="square" lIns="0" tIns="0" rIns="0" bIns="0" anchor="t">
            <a:spAutoFit/>
          </a:bodyPr>
          <a:lstStyle/>
          <a:p>
            <a:pPr algn="l">
              <a:lnSpc>
                <a:spcPct val="100000"/>
              </a:lnSpc>
            </a:pPr>
            <a:r>
              <a:rPr sz="950" b="1" i="0">
                <a:solidFill>
                  <a:srgbClr val="00C2A8"/>
                </a:solidFill>
                <a:latin typeface="Calibri"/>
              </a:rPr>
              <a:t>CHƯƠNG 3 · 3.2 MÔ HÌNH HÓA BPMN (AS-IS)  ·  NHÓM HỖ TRỢ</a:t>
            </a:r>
          </a:p>
        </p:txBody>
      </p:sp>
      <p:sp>
        <p:nvSpPr>
          <p:cNvPr id="5" name="TextBox 4"/>
          <p:cNvSpPr txBox="1"/>
          <p:nvPr/>
        </p:nvSpPr>
        <p:spPr>
          <a:xfrm>
            <a:off x="475488" y="411480"/>
            <a:ext cx="7955279" cy="329184"/>
          </a:xfrm>
          <a:prstGeom prst="rect">
            <a:avLst/>
          </a:prstGeom>
          <a:noFill/>
        </p:spPr>
        <p:txBody>
          <a:bodyPr wrap="square" lIns="0" tIns="0" rIns="0" bIns="0" anchor="t">
            <a:spAutoFit/>
          </a:bodyPr>
          <a:lstStyle/>
          <a:p>
            <a:pPr algn="l">
              <a:lnSpc>
                <a:spcPct val="100000"/>
              </a:lnSpc>
            </a:pPr>
            <a:r>
              <a:rPr sz="1700" b="1" i="0">
                <a:solidFill>
                  <a:srgbClr val="FFFFFF"/>
                </a:solidFill>
                <a:latin typeface="Calibri"/>
              </a:rPr>
              <a:t>S01  —  Quản lý mua hàng và cung ứng</a:t>
            </a:r>
          </a:p>
        </p:txBody>
      </p:sp>
      <p:sp>
        <p:nvSpPr>
          <p:cNvPr id="6" name="TextBox 5"/>
          <p:cNvSpPr txBox="1"/>
          <p:nvPr/>
        </p:nvSpPr>
        <p:spPr>
          <a:xfrm>
            <a:off x="8595360" y="265176"/>
            <a:ext cx="3154680" cy="329184"/>
          </a:xfrm>
          <a:prstGeom prst="rect">
            <a:avLst/>
          </a:prstGeom>
          <a:noFill/>
        </p:spPr>
        <p:txBody>
          <a:bodyPr wrap="square" lIns="0" tIns="0" rIns="0" bIns="0" anchor="ctr">
            <a:spAutoFit/>
          </a:bodyPr>
          <a:lstStyle/>
          <a:p>
            <a:pPr algn="r">
              <a:lnSpc>
                <a:spcPct val="100000"/>
              </a:lnSpc>
            </a:pPr>
            <a:r>
              <a:rPr sz="1400" b="1" i="0">
                <a:solidFill>
                  <a:srgbClr val="00C2A8"/>
                </a:solidFill>
                <a:latin typeface="Calibri"/>
              </a:rPr>
              <a:t>Hình 3.6</a:t>
            </a:r>
          </a:p>
        </p:txBody>
      </p:sp>
      <p:sp>
        <p:nvSpPr>
          <p:cNvPr id="9" name="TextBox 8"/>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10" name="TextBox 9"/>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25</a:t>
            </a:r>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79052" y="1028741"/>
            <a:ext cx="4233590" cy="4828939"/>
          </a:xfrm>
          <a:prstGeom prst="rect">
            <a:avLst/>
          </a:prstGeom>
        </p:spPr>
      </p:pic>
      <p:sp>
        <p:nvSpPr>
          <p:cNvPr id="13" name="Rectangle 12"/>
          <p:cNvSpPr/>
          <p:nvPr/>
        </p:nvSpPr>
        <p:spPr>
          <a:xfrm>
            <a:off x="2608402" y="5830861"/>
            <a:ext cx="6974889" cy="340093"/>
          </a:xfrm>
          <a:prstGeom prst="rect">
            <a:avLst/>
          </a:prstGeom>
        </p:spPr>
        <p:txBody>
          <a:bodyPr wrap="square">
            <a:spAutoFit/>
          </a:bodyPr>
          <a:lstStyle/>
          <a:p>
            <a:pPr algn="ctr">
              <a:lnSpc>
                <a:spcPct val="115000"/>
              </a:lnSpc>
              <a:spcAft>
                <a:spcPts val="800"/>
              </a:spcAft>
            </a:pPr>
            <a:r>
              <a:rPr lang="en-US" sz="1400" i="1" dirty="0" err="1">
                <a:latin typeface="+mj-lt"/>
                <a:ea typeface="Calibri" panose="020F0502020204030204" pitchFamily="34" charset="0"/>
                <a:cs typeface="Times New Roman" panose="02020603050405020304" pitchFamily="18" charset="0"/>
              </a:rPr>
              <a:t>Hình</a:t>
            </a:r>
            <a:r>
              <a:rPr lang="en-US" sz="1400" i="1" dirty="0">
                <a:latin typeface="+mj-lt"/>
                <a:ea typeface="Calibri" panose="020F0502020204030204" pitchFamily="34" charset="0"/>
                <a:cs typeface="Times New Roman" panose="02020603050405020304" pitchFamily="18" charset="0"/>
              </a:rPr>
              <a:t> 3.6. </a:t>
            </a:r>
            <a:r>
              <a:rPr lang="en-US" sz="1400" i="1" dirty="0" err="1">
                <a:latin typeface="+mj-lt"/>
                <a:ea typeface="Calibri" panose="020F0502020204030204" pitchFamily="34" charset="0"/>
                <a:cs typeface="Times New Roman" panose="02020603050405020304" pitchFamily="18" charset="0"/>
              </a:rPr>
              <a:t>Mô</a:t>
            </a:r>
            <a:r>
              <a:rPr lang="en-US" sz="1400" i="1" dirty="0">
                <a:latin typeface="+mj-lt"/>
                <a:ea typeface="Calibri" panose="020F0502020204030204" pitchFamily="34" charset="0"/>
                <a:cs typeface="Times New Roman" panose="02020603050405020304" pitchFamily="18" charset="0"/>
              </a:rPr>
              <a:t> </a:t>
            </a:r>
            <a:r>
              <a:rPr lang="en-US" sz="1400" i="1" dirty="0" err="1">
                <a:latin typeface="+mj-lt"/>
                <a:ea typeface="Calibri" panose="020F0502020204030204" pitchFamily="34" charset="0"/>
                <a:cs typeface="Times New Roman" panose="02020603050405020304" pitchFamily="18" charset="0"/>
              </a:rPr>
              <a:t>hình</a:t>
            </a:r>
            <a:r>
              <a:rPr lang="en-US" sz="1400" i="1" dirty="0">
                <a:latin typeface="+mj-lt"/>
                <a:ea typeface="Calibri" panose="020F0502020204030204" pitchFamily="34" charset="0"/>
                <a:cs typeface="Times New Roman" panose="02020603050405020304" pitchFamily="18" charset="0"/>
              </a:rPr>
              <a:t> BPMN </a:t>
            </a:r>
            <a:r>
              <a:rPr lang="en-US" sz="1400" i="1" dirty="0" err="1">
                <a:latin typeface="+mj-lt"/>
                <a:ea typeface="Calibri" panose="020F0502020204030204" pitchFamily="34" charset="0"/>
                <a:cs typeface="Times New Roman" panose="02020603050405020304" pitchFamily="18" charset="0"/>
              </a:rPr>
              <a:t>Quản</a:t>
            </a:r>
            <a:r>
              <a:rPr lang="en-US" sz="1400" i="1" dirty="0">
                <a:latin typeface="+mj-lt"/>
                <a:ea typeface="Calibri" panose="020F0502020204030204" pitchFamily="34" charset="0"/>
                <a:cs typeface="Times New Roman" panose="02020603050405020304" pitchFamily="18" charset="0"/>
              </a:rPr>
              <a:t> </a:t>
            </a:r>
            <a:r>
              <a:rPr lang="en-US" sz="1400" i="1" dirty="0" err="1">
                <a:latin typeface="+mj-lt"/>
                <a:ea typeface="Calibri" panose="020F0502020204030204" pitchFamily="34" charset="0"/>
                <a:cs typeface="Times New Roman" panose="02020603050405020304" pitchFamily="18" charset="0"/>
              </a:rPr>
              <a:t>lý</a:t>
            </a:r>
            <a:r>
              <a:rPr lang="en-US" sz="1400" i="1" dirty="0">
                <a:latin typeface="+mj-lt"/>
                <a:ea typeface="Calibri" panose="020F0502020204030204" pitchFamily="34" charset="0"/>
                <a:cs typeface="Times New Roman" panose="02020603050405020304" pitchFamily="18" charset="0"/>
              </a:rPr>
              <a:t> </a:t>
            </a:r>
            <a:r>
              <a:rPr lang="en-US" sz="1400" i="1" dirty="0" err="1">
                <a:latin typeface="+mj-lt"/>
                <a:ea typeface="Calibri" panose="020F0502020204030204" pitchFamily="34" charset="0"/>
                <a:cs typeface="Times New Roman" panose="02020603050405020304" pitchFamily="18" charset="0"/>
              </a:rPr>
              <a:t>mua</a:t>
            </a:r>
            <a:r>
              <a:rPr lang="en-US" sz="1400" i="1" dirty="0">
                <a:latin typeface="+mj-lt"/>
                <a:ea typeface="Calibri" panose="020F0502020204030204" pitchFamily="34" charset="0"/>
                <a:cs typeface="Times New Roman" panose="02020603050405020304" pitchFamily="18" charset="0"/>
              </a:rPr>
              <a:t> </a:t>
            </a:r>
            <a:r>
              <a:rPr lang="en-US" sz="1400" i="1" dirty="0" err="1">
                <a:latin typeface="+mj-lt"/>
                <a:ea typeface="Calibri" panose="020F0502020204030204" pitchFamily="34" charset="0"/>
                <a:cs typeface="Times New Roman" panose="02020603050405020304" pitchFamily="18" charset="0"/>
              </a:rPr>
              <a:t>hàng</a:t>
            </a:r>
            <a:r>
              <a:rPr lang="en-US" sz="1400" i="1" dirty="0">
                <a:latin typeface="+mj-lt"/>
                <a:ea typeface="Calibri" panose="020F0502020204030204" pitchFamily="34" charset="0"/>
                <a:cs typeface="Times New Roman" panose="02020603050405020304" pitchFamily="18" charset="0"/>
              </a:rPr>
              <a:t> </a:t>
            </a:r>
            <a:r>
              <a:rPr lang="en-US" sz="1400" i="1" dirty="0" err="1">
                <a:latin typeface="+mj-lt"/>
                <a:ea typeface="Calibri" panose="020F0502020204030204" pitchFamily="34" charset="0"/>
                <a:cs typeface="Times New Roman" panose="02020603050405020304" pitchFamily="18" charset="0"/>
              </a:rPr>
              <a:t>và</a:t>
            </a:r>
            <a:r>
              <a:rPr lang="en-US" sz="1400" i="1" dirty="0">
                <a:latin typeface="+mj-lt"/>
                <a:ea typeface="Calibri" panose="020F0502020204030204" pitchFamily="34" charset="0"/>
                <a:cs typeface="Times New Roman" panose="02020603050405020304" pitchFamily="18" charset="0"/>
              </a:rPr>
              <a:t> </a:t>
            </a:r>
            <a:r>
              <a:rPr lang="en-US" sz="1400" i="1" dirty="0" err="1">
                <a:latin typeface="+mj-lt"/>
                <a:ea typeface="Calibri" panose="020F0502020204030204" pitchFamily="34" charset="0"/>
                <a:cs typeface="Times New Roman" panose="02020603050405020304" pitchFamily="18" charset="0"/>
              </a:rPr>
              <a:t>cung</a:t>
            </a:r>
            <a:r>
              <a:rPr lang="en-US" sz="1400" i="1" dirty="0">
                <a:latin typeface="+mj-lt"/>
                <a:ea typeface="Calibri" panose="020F0502020204030204" pitchFamily="34" charset="0"/>
                <a:cs typeface="Times New Roman" panose="02020603050405020304" pitchFamily="18" charset="0"/>
              </a:rPr>
              <a:t> </a:t>
            </a:r>
            <a:r>
              <a:rPr lang="en-US" sz="1400" i="1" dirty="0" err="1">
                <a:latin typeface="+mj-lt"/>
                <a:ea typeface="Calibri" panose="020F0502020204030204" pitchFamily="34" charset="0"/>
                <a:cs typeface="Times New Roman" panose="02020603050405020304" pitchFamily="18" charset="0"/>
              </a:rPr>
              <a:t>ứng</a:t>
            </a:r>
            <a:r>
              <a:rPr lang="en-US" sz="1400" i="1" dirty="0">
                <a:latin typeface="+mj-lt"/>
                <a:ea typeface="Calibri" panose="020F0502020204030204" pitchFamily="34" charset="0"/>
                <a:cs typeface="Times New Roman" panose="02020603050405020304" pitchFamily="18" charset="0"/>
              </a:rPr>
              <a:t> – Procurement Management</a:t>
            </a:r>
            <a:endParaRPr lang="en-US" sz="1400"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239461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CHƯƠNG 3 · 3.2 MÔ HÌNH HÓA BPMN (AS-IS)  ·  NHÓM HỖ TRỢ</a:t>
            </a:r>
          </a:p>
        </p:txBody>
      </p:sp>
      <p:sp>
        <p:nvSpPr>
          <p:cNvPr id="3" name="TextBox 2"/>
          <p:cNvSpPr txBox="1"/>
          <p:nvPr/>
        </p:nvSpPr>
        <p:spPr>
          <a:xfrm>
            <a:off x="658368" y="640080"/>
            <a:ext cx="10874959" cy="603504"/>
          </a:xfrm>
          <a:prstGeom prst="rect">
            <a:avLst/>
          </a:prstGeom>
          <a:noFill/>
        </p:spPr>
        <p:txBody>
          <a:bodyPr wrap="square" lIns="0" tIns="0" rIns="0" bIns="0" anchor="t">
            <a:spAutoFit/>
          </a:bodyPr>
          <a:lstStyle/>
          <a:p>
            <a:pPr algn="l">
              <a:lnSpc>
                <a:spcPct val="105000"/>
              </a:lnSpc>
            </a:pPr>
            <a:r>
              <a:rPr sz="2500" b="1" i="0">
                <a:solidFill>
                  <a:srgbClr val="0A2540"/>
                </a:solidFill>
                <a:latin typeface="Calibri"/>
              </a:rPr>
              <a:t>S02  —  Quản lý nhập kho</a:t>
            </a: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 name="TextBox 5"/>
          <p:cNvSpPr txBox="1"/>
          <p:nvPr/>
        </p:nvSpPr>
        <p:spPr>
          <a:xfrm>
            <a:off x="658368" y="1371600"/>
            <a:ext cx="10874959" cy="254237"/>
          </a:xfrm>
          <a:prstGeom prst="rect">
            <a:avLst/>
          </a:prstGeom>
          <a:noFill/>
        </p:spPr>
        <p:txBody>
          <a:bodyPr wrap="square" lIns="0" tIns="0" rIns="0" bIns="0" anchor="t">
            <a:spAutoFit/>
          </a:bodyPr>
          <a:lstStyle/>
          <a:p>
            <a:pPr algn="l">
              <a:lnSpc>
                <a:spcPct val="118000"/>
              </a:lnSpc>
            </a:pPr>
            <a:r>
              <a:rPr sz="1400" b="0" i="1">
                <a:solidFill>
                  <a:srgbClr val="6B7784"/>
                </a:solidFill>
                <a:latin typeface="Calibri"/>
              </a:rPr>
              <a:t>Inbound Processing</a:t>
            </a:r>
          </a:p>
        </p:txBody>
      </p:sp>
      <p:sp>
        <p:nvSpPr>
          <p:cNvPr id="7" name="TextBox 6"/>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8" name="TextBox 7"/>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26</a:t>
            </a:r>
          </a:p>
        </p:txBody>
      </p:sp>
      <p:sp>
        <p:nvSpPr>
          <p:cNvPr id="9" name="Rectangle 8"/>
          <p:cNvSpPr/>
          <p:nvPr/>
        </p:nvSpPr>
        <p:spPr>
          <a:xfrm>
            <a:off x="658368" y="1792224"/>
            <a:ext cx="3454298" cy="3273552"/>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 name="Rectangle 9"/>
          <p:cNvSpPr/>
          <p:nvPr/>
        </p:nvSpPr>
        <p:spPr>
          <a:xfrm>
            <a:off x="658368" y="1792224"/>
            <a:ext cx="50292" cy="3273552"/>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 name="TextBox 10"/>
          <p:cNvSpPr txBox="1"/>
          <p:nvPr/>
        </p:nvSpPr>
        <p:spPr>
          <a:xfrm>
            <a:off x="896112" y="1975104"/>
            <a:ext cx="3033674" cy="215444"/>
          </a:xfrm>
          <a:prstGeom prst="rect">
            <a:avLst/>
          </a:prstGeom>
          <a:noFill/>
        </p:spPr>
        <p:txBody>
          <a:bodyPr wrap="square" lIns="0" tIns="0" rIns="0" bIns="0" anchor="t">
            <a:spAutoFit/>
          </a:bodyPr>
          <a:lstStyle/>
          <a:p>
            <a:pPr algn="l">
              <a:lnSpc>
                <a:spcPct val="100000"/>
              </a:lnSpc>
            </a:pPr>
            <a:r>
              <a:rPr sz="1400" b="1" i="0">
                <a:solidFill>
                  <a:srgbClr val="0096D6"/>
                </a:solidFill>
                <a:latin typeface="Calibri"/>
              </a:rPr>
              <a:t>TÁC NHÂN THAM GIA (LANE)</a:t>
            </a:r>
          </a:p>
        </p:txBody>
      </p:sp>
      <p:sp>
        <p:nvSpPr>
          <p:cNvPr id="12" name="TextBox 11"/>
          <p:cNvSpPr txBox="1"/>
          <p:nvPr/>
        </p:nvSpPr>
        <p:spPr>
          <a:xfrm>
            <a:off x="896112" y="2322576"/>
            <a:ext cx="3033674" cy="1303434"/>
          </a:xfrm>
          <a:prstGeom prst="rect">
            <a:avLst/>
          </a:prstGeom>
          <a:noFill/>
        </p:spPr>
        <p:txBody>
          <a:bodyPr wrap="square" lIns="0" tIns="0" rIns="0" bIns="0" anchor="t">
            <a:spAutoFit/>
          </a:bodyPr>
          <a:lstStyle/>
          <a:p>
            <a:pPr algn="l">
              <a:lnSpc>
                <a:spcPct val="120000"/>
              </a:lnSpc>
              <a:spcAft>
                <a:spcPts val="700"/>
              </a:spcAft>
            </a:pPr>
            <a:r>
              <a:rPr sz="1400" b="0" i="0">
                <a:solidFill>
                  <a:srgbClr val="2B3440"/>
                </a:solidFill>
                <a:latin typeface="Calibri"/>
              </a:rPr>
              <a:t>•  Supply Chain</a:t>
            </a:r>
          </a:p>
          <a:p>
            <a:pPr algn="l">
              <a:lnSpc>
                <a:spcPct val="120000"/>
              </a:lnSpc>
              <a:spcAft>
                <a:spcPts val="700"/>
              </a:spcAft>
            </a:pPr>
            <a:r>
              <a:rPr sz="1400" b="0" i="0">
                <a:solidFill>
                  <a:srgbClr val="2B3440"/>
                </a:solidFill>
                <a:latin typeface="Calibri"/>
              </a:rPr>
              <a:t>•  Warehouse Operator</a:t>
            </a:r>
          </a:p>
          <a:p>
            <a:pPr algn="l">
              <a:lnSpc>
                <a:spcPct val="120000"/>
              </a:lnSpc>
              <a:spcAft>
                <a:spcPts val="700"/>
              </a:spcAft>
            </a:pPr>
            <a:r>
              <a:rPr sz="1400" b="0" i="0">
                <a:solidFill>
                  <a:srgbClr val="2B3440"/>
                </a:solidFill>
                <a:latin typeface="Calibri"/>
              </a:rPr>
              <a:t>•  Logistics / Đơn vị vận chuyển</a:t>
            </a:r>
          </a:p>
          <a:p>
            <a:pPr algn="l">
              <a:lnSpc>
                <a:spcPct val="120000"/>
              </a:lnSpc>
              <a:spcAft>
                <a:spcPts val="700"/>
              </a:spcAft>
            </a:pPr>
            <a:r>
              <a:rPr sz="1400" b="0" i="0">
                <a:solidFill>
                  <a:srgbClr val="2B3440"/>
                </a:solidFill>
                <a:latin typeface="Calibri"/>
              </a:rPr>
              <a:t>•  Quality (kiểm tra hàng hóa)</a:t>
            </a:r>
          </a:p>
        </p:txBody>
      </p:sp>
      <p:sp>
        <p:nvSpPr>
          <p:cNvPr id="13" name="Rectangle 12"/>
          <p:cNvSpPr/>
          <p:nvPr/>
        </p:nvSpPr>
        <p:spPr>
          <a:xfrm>
            <a:off x="4368698" y="1792224"/>
            <a:ext cx="3454298" cy="3273552"/>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4" name="Rectangle 13"/>
          <p:cNvSpPr/>
          <p:nvPr/>
        </p:nvSpPr>
        <p:spPr>
          <a:xfrm>
            <a:off x="4368698" y="1792224"/>
            <a:ext cx="50292" cy="3273552"/>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5" name="TextBox 14"/>
          <p:cNvSpPr txBox="1"/>
          <p:nvPr/>
        </p:nvSpPr>
        <p:spPr>
          <a:xfrm>
            <a:off x="4606442" y="1975104"/>
            <a:ext cx="3033674" cy="215444"/>
          </a:xfrm>
          <a:prstGeom prst="rect">
            <a:avLst/>
          </a:prstGeom>
          <a:noFill/>
        </p:spPr>
        <p:txBody>
          <a:bodyPr wrap="square" lIns="0" tIns="0" rIns="0" bIns="0" anchor="t">
            <a:spAutoFit/>
          </a:bodyPr>
          <a:lstStyle/>
          <a:p>
            <a:pPr algn="l">
              <a:lnSpc>
                <a:spcPct val="100000"/>
              </a:lnSpc>
            </a:pPr>
            <a:r>
              <a:rPr sz="1400" b="1" i="0">
                <a:solidFill>
                  <a:srgbClr val="0096D6"/>
                </a:solidFill>
                <a:latin typeface="Calibri"/>
              </a:rPr>
              <a:t>PHẠM VI QUY TRÌNH</a:t>
            </a:r>
          </a:p>
        </p:txBody>
      </p:sp>
      <p:sp>
        <p:nvSpPr>
          <p:cNvPr id="16" name="Rectangle 15"/>
          <p:cNvSpPr/>
          <p:nvPr/>
        </p:nvSpPr>
        <p:spPr>
          <a:xfrm>
            <a:off x="4606442" y="2322576"/>
            <a:ext cx="1207008" cy="310896"/>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7" name="TextBox 16"/>
          <p:cNvSpPr txBox="1"/>
          <p:nvPr/>
        </p:nvSpPr>
        <p:spPr>
          <a:xfrm>
            <a:off x="4606442" y="2370302"/>
            <a:ext cx="1207008" cy="215444"/>
          </a:xfrm>
          <a:prstGeom prst="rect">
            <a:avLst/>
          </a:prstGeom>
          <a:noFill/>
        </p:spPr>
        <p:txBody>
          <a:bodyPr wrap="square" lIns="0" tIns="0" rIns="0" bIns="0" anchor="ctr">
            <a:spAutoFit/>
          </a:bodyPr>
          <a:lstStyle/>
          <a:p>
            <a:pPr algn="ctr">
              <a:lnSpc>
                <a:spcPct val="100000"/>
              </a:lnSpc>
            </a:pPr>
            <a:r>
              <a:rPr sz="1400" b="1" i="0">
                <a:solidFill>
                  <a:srgbClr val="0A2540"/>
                </a:solidFill>
                <a:latin typeface="Calibri"/>
              </a:rPr>
              <a:t>▶  BẮT ĐẦU</a:t>
            </a:r>
          </a:p>
        </p:txBody>
      </p:sp>
      <p:sp>
        <p:nvSpPr>
          <p:cNvPr id="18" name="TextBox 17"/>
          <p:cNvSpPr txBox="1"/>
          <p:nvPr/>
        </p:nvSpPr>
        <p:spPr>
          <a:xfrm>
            <a:off x="4606442" y="2724912"/>
            <a:ext cx="3033674" cy="517065"/>
          </a:xfrm>
          <a:prstGeom prst="rect">
            <a:avLst/>
          </a:prstGeom>
          <a:noFill/>
        </p:spPr>
        <p:txBody>
          <a:bodyPr wrap="square" lIns="0" tIns="0" rIns="0" bIns="0" anchor="t">
            <a:spAutoFit/>
          </a:bodyPr>
          <a:lstStyle/>
          <a:p>
            <a:pPr algn="l">
              <a:lnSpc>
                <a:spcPct val="120000"/>
              </a:lnSpc>
            </a:pPr>
            <a:r>
              <a:rPr sz="1400" b="0" i="0">
                <a:solidFill>
                  <a:srgbClr val="2B3440"/>
                </a:solidFill>
                <a:latin typeface="Calibri"/>
              </a:rPr>
              <a:t>Purchase Order được xác nhận và Inbound Delivery được tạo trên hệ thống.</a:t>
            </a:r>
          </a:p>
        </p:txBody>
      </p:sp>
      <p:sp>
        <p:nvSpPr>
          <p:cNvPr id="19" name="Rectangle 18"/>
          <p:cNvSpPr/>
          <p:nvPr/>
        </p:nvSpPr>
        <p:spPr>
          <a:xfrm>
            <a:off x="4606442" y="3749040"/>
            <a:ext cx="1207008" cy="310896"/>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0" name="TextBox 19"/>
          <p:cNvSpPr txBox="1"/>
          <p:nvPr/>
        </p:nvSpPr>
        <p:spPr>
          <a:xfrm>
            <a:off x="4606442" y="3796766"/>
            <a:ext cx="1207008" cy="215444"/>
          </a:xfrm>
          <a:prstGeom prst="rect">
            <a:avLst/>
          </a:prstGeom>
          <a:noFill/>
        </p:spPr>
        <p:txBody>
          <a:bodyPr wrap="square" lIns="0" tIns="0" rIns="0" bIns="0" anchor="ctr">
            <a:spAutoFit/>
          </a:bodyPr>
          <a:lstStyle/>
          <a:p>
            <a:pPr algn="ctr">
              <a:lnSpc>
                <a:spcPct val="100000"/>
              </a:lnSpc>
            </a:pPr>
            <a:r>
              <a:rPr sz="1400" b="1" i="0">
                <a:solidFill>
                  <a:srgbClr val="FFFFFF"/>
                </a:solidFill>
                <a:latin typeface="Calibri"/>
              </a:rPr>
              <a:t>■  KẾT THÚC</a:t>
            </a:r>
          </a:p>
        </p:txBody>
      </p:sp>
      <p:sp>
        <p:nvSpPr>
          <p:cNvPr id="21" name="TextBox 20"/>
          <p:cNvSpPr txBox="1"/>
          <p:nvPr/>
        </p:nvSpPr>
        <p:spPr>
          <a:xfrm>
            <a:off x="4606442" y="4151376"/>
            <a:ext cx="3033674" cy="517065"/>
          </a:xfrm>
          <a:prstGeom prst="rect">
            <a:avLst/>
          </a:prstGeom>
          <a:noFill/>
        </p:spPr>
        <p:txBody>
          <a:bodyPr wrap="square" lIns="0" tIns="0" rIns="0" bIns="0" anchor="t">
            <a:spAutoFit/>
          </a:bodyPr>
          <a:lstStyle/>
          <a:p>
            <a:pPr algn="l">
              <a:lnSpc>
                <a:spcPct val="120000"/>
              </a:lnSpc>
            </a:pPr>
            <a:r>
              <a:rPr sz="1400" b="0" i="0">
                <a:solidFill>
                  <a:srgbClr val="2B3440"/>
                </a:solidFill>
                <a:latin typeface="Calibri"/>
              </a:rPr>
              <a:t>Goods Receipt được ghi nhận, hàng nhập kho và cập nhật tồn kho trên SAP EWM.</a:t>
            </a:r>
          </a:p>
        </p:txBody>
      </p:sp>
      <p:sp>
        <p:nvSpPr>
          <p:cNvPr id="22" name="Rectangle 21"/>
          <p:cNvSpPr/>
          <p:nvPr/>
        </p:nvSpPr>
        <p:spPr>
          <a:xfrm>
            <a:off x="8079028" y="1792224"/>
            <a:ext cx="3454298" cy="3273552"/>
          </a:xfrm>
          <a:prstGeom prst="rect">
            <a:avLst/>
          </a:prstGeom>
          <a:solidFill>
            <a:srgbClr val="E9F3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3" name="Rectangle 22"/>
          <p:cNvSpPr/>
          <p:nvPr/>
        </p:nvSpPr>
        <p:spPr>
          <a:xfrm>
            <a:off x="8079028" y="1792224"/>
            <a:ext cx="50292" cy="3273552"/>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4" name="TextBox 23"/>
          <p:cNvSpPr txBox="1"/>
          <p:nvPr/>
        </p:nvSpPr>
        <p:spPr>
          <a:xfrm>
            <a:off x="8316772" y="1975104"/>
            <a:ext cx="3033674" cy="215444"/>
          </a:xfrm>
          <a:prstGeom prst="rect">
            <a:avLst/>
          </a:prstGeom>
          <a:noFill/>
        </p:spPr>
        <p:txBody>
          <a:bodyPr wrap="square" lIns="0" tIns="0" rIns="0" bIns="0" anchor="t">
            <a:spAutoFit/>
          </a:bodyPr>
          <a:lstStyle/>
          <a:p>
            <a:pPr algn="l">
              <a:lnSpc>
                <a:spcPct val="100000"/>
              </a:lnSpc>
            </a:pPr>
            <a:r>
              <a:rPr sz="1400" b="1" i="0">
                <a:solidFill>
                  <a:srgbClr val="0A2540"/>
                </a:solidFill>
                <a:latin typeface="Calibri"/>
              </a:rPr>
              <a:t>NGUỒN BẰNG CHỨNG CHÍNH</a:t>
            </a:r>
          </a:p>
        </p:txBody>
      </p:sp>
      <p:sp>
        <p:nvSpPr>
          <p:cNvPr id="25" name="TextBox 24"/>
          <p:cNvSpPr txBox="1"/>
          <p:nvPr/>
        </p:nvSpPr>
        <p:spPr>
          <a:xfrm>
            <a:off x="8316772" y="2322576"/>
            <a:ext cx="3033674" cy="258532"/>
          </a:xfrm>
          <a:prstGeom prst="rect">
            <a:avLst/>
          </a:prstGeom>
          <a:noFill/>
        </p:spPr>
        <p:txBody>
          <a:bodyPr wrap="square" lIns="0" tIns="0" rIns="0" bIns="0" anchor="t">
            <a:spAutoFit/>
          </a:bodyPr>
          <a:lstStyle/>
          <a:p>
            <a:pPr algn="l">
              <a:lnSpc>
                <a:spcPct val="120000"/>
              </a:lnSpc>
            </a:pPr>
            <a:r>
              <a:rPr sz="1400" b="0" i="0">
                <a:solidFill>
                  <a:srgbClr val="2B3440"/>
                </a:solidFill>
                <a:latin typeface="Calibri"/>
              </a:rPr>
              <a:t>LEX370 – Inbound Processing (SAP EWM).</a:t>
            </a:r>
          </a:p>
        </p:txBody>
      </p:sp>
      <p:sp>
        <p:nvSpPr>
          <p:cNvPr id="26" name="TextBox 25"/>
          <p:cNvSpPr txBox="1"/>
          <p:nvPr/>
        </p:nvSpPr>
        <p:spPr>
          <a:xfrm>
            <a:off x="8316772" y="3840480"/>
            <a:ext cx="3033674" cy="215444"/>
          </a:xfrm>
          <a:prstGeom prst="rect">
            <a:avLst/>
          </a:prstGeom>
          <a:noFill/>
        </p:spPr>
        <p:txBody>
          <a:bodyPr wrap="square" lIns="0" tIns="0" rIns="0" bIns="0" anchor="t">
            <a:spAutoFit/>
          </a:bodyPr>
          <a:lstStyle/>
          <a:p>
            <a:pPr algn="l">
              <a:lnSpc>
                <a:spcPct val="100000"/>
              </a:lnSpc>
            </a:pPr>
            <a:r>
              <a:rPr sz="1400" b="1" i="0">
                <a:solidFill>
                  <a:srgbClr val="0A2540"/>
                </a:solidFill>
                <a:latin typeface="Calibri"/>
              </a:rPr>
              <a:t>THÀNH PHẦN BPMN CẦN XÁC ĐỊNH</a:t>
            </a:r>
          </a:p>
        </p:txBody>
      </p:sp>
      <p:sp>
        <p:nvSpPr>
          <p:cNvPr id="27" name="TextBox 26"/>
          <p:cNvSpPr txBox="1"/>
          <p:nvPr/>
        </p:nvSpPr>
        <p:spPr>
          <a:xfrm>
            <a:off x="8316772" y="4151376"/>
            <a:ext cx="3033674" cy="517065"/>
          </a:xfrm>
          <a:prstGeom prst="rect">
            <a:avLst/>
          </a:prstGeom>
          <a:noFill/>
        </p:spPr>
        <p:txBody>
          <a:bodyPr wrap="square" lIns="0" tIns="0" rIns="0" bIns="0" anchor="t">
            <a:spAutoFit/>
          </a:bodyPr>
          <a:lstStyle/>
          <a:p>
            <a:pPr algn="l">
              <a:lnSpc>
                <a:spcPct val="120000"/>
              </a:lnSpc>
            </a:pPr>
            <a:r>
              <a:rPr sz="1400" b="0" i="0">
                <a:solidFill>
                  <a:srgbClr val="2B3440"/>
                </a:solidFill>
                <a:latin typeface="Calibri"/>
              </a:rPr>
              <a:t>Pool · Lane · Activity · Event · Gateway · Data Object</a:t>
            </a:r>
          </a:p>
        </p:txBody>
      </p:sp>
      <p:sp>
        <p:nvSpPr>
          <p:cNvPr id="28" name="Rectangle 27"/>
          <p:cNvSpPr/>
          <p:nvPr/>
        </p:nvSpPr>
        <p:spPr>
          <a:xfrm>
            <a:off x="658368" y="5266944"/>
            <a:ext cx="10874959" cy="658368"/>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9" name="Rectangle 28"/>
          <p:cNvSpPr/>
          <p:nvPr/>
        </p:nvSpPr>
        <p:spPr>
          <a:xfrm>
            <a:off x="658368" y="5266944"/>
            <a:ext cx="50292" cy="658368"/>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0" name="TextBox 29"/>
          <p:cNvSpPr txBox="1"/>
          <p:nvPr/>
        </p:nvSpPr>
        <p:spPr>
          <a:xfrm>
            <a:off x="950976" y="5488406"/>
            <a:ext cx="10280599" cy="215444"/>
          </a:xfrm>
          <a:prstGeom prst="rect">
            <a:avLst/>
          </a:prstGeom>
          <a:noFill/>
        </p:spPr>
        <p:txBody>
          <a:bodyPr wrap="square" lIns="0" tIns="0" rIns="0" bIns="0" anchor="ctr">
            <a:spAutoFit/>
          </a:bodyPr>
          <a:lstStyle/>
          <a:p>
            <a:pPr algn="l">
              <a:lnSpc>
                <a:spcPct val="100000"/>
              </a:lnSpc>
            </a:pPr>
            <a:r>
              <a:rPr sz="1400" b="1" i="0" dirty="0">
                <a:solidFill>
                  <a:srgbClr val="00C2A8"/>
                </a:solidFill>
                <a:latin typeface="Calibri"/>
              </a:rPr>
              <a:t>▶   SƠ ĐỒ BPMN CHI TIẾT  —  </a:t>
            </a:r>
            <a:r>
              <a:rPr sz="1400" b="1" i="0" dirty="0" err="1">
                <a:solidFill>
                  <a:srgbClr val="00C2A8"/>
                </a:solidFill>
                <a:latin typeface="Calibri"/>
              </a:rPr>
              <a:t>Hình</a:t>
            </a:r>
            <a:r>
              <a:rPr sz="1400" b="1" i="0" dirty="0">
                <a:solidFill>
                  <a:srgbClr val="00C2A8"/>
                </a:solidFill>
                <a:latin typeface="Calibri"/>
              </a:rPr>
              <a:t> 3.7  — </a:t>
            </a:r>
            <a:r>
              <a:rPr lang="en-US" sz="1400" b="1" i="0" dirty="0" smtClean="0">
                <a:solidFill>
                  <a:srgbClr val="00C2A8"/>
                </a:solidFill>
                <a:latin typeface="Calibri"/>
              </a:rPr>
              <a:t> </a:t>
            </a:r>
            <a:r>
              <a:rPr sz="1400" b="1" i="0" dirty="0" smtClean="0">
                <a:solidFill>
                  <a:srgbClr val="00C2A8"/>
                </a:solidFill>
                <a:latin typeface="Calibri"/>
              </a:rPr>
              <a:t>slide </a:t>
            </a:r>
            <a:r>
              <a:rPr sz="1400" b="1" i="0" dirty="0" err="1">
                <a:solidFill>
                  <a:srgbClr val="00C2A8"/>
                </a:solidFill>
                <a:latin typeface="Calibri"/>
              </a:rPr>
              <a:t>kế</a:t>
            </a:r>
            <a:r>
              <a:rPr sz="1400" b="1" i="0" dirty="0">
                <a:solidFill>
                  <a:srgbClr val="00C2A8"/>
                </a:solidFill>
                <a:latin typeface="Calibri"/>
              </a:rPr>
              <a:t> </a:t>
            </a:r>
            <a:r>
              <a:rPr sz="1400" b="1" i="0" dirty="0" err="1">
                <a:solidFill>
                  <a:srgbClr val="00C2A8"/>
                </a:solidFill>
                <a:latin typeface="Calibri"/>
              </a:rPr>
              <a:t>tiếp</a:t>
            </a:r>
            <a:endParaRPr sz="1400" b="1" i="0" dirty="0">
              <a:solidFill>
                <a:srgbClr val="00C2A8"/>
              </a:solidFill>
              <a:latin typeface="Calibri"/>
            </a:endParaRPr>
          </a:p>
        </p:txBody>
      </p:sp>
    </p:spTree>
    <p:extLst>
      <p:ext uri="{BB962C8B-B14F-4D97-AF65-F5344CB8AC3E}">
        <p14:creationId xmlns:p14="http://schemas.microsoft.com/office/powerpoint/2010/main" val="19890596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82880" cy="859536"/>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75488" y="137160"/>
            <a:ext cx="7955279" cy="256032"/>
          </a:xfrm>
          <a:prstGeom prst="rect">
            <a:avLst/>
          </a:prstGeom>
          <a:noFill/>
        </p:spPr>
        <p:txBody>
          <a:bodyPr wrap="square" lIns="0" tIns="0" rIns="0" bIns="0" anchor="t">
            <a:spAutoFit/>
          </a:bodyPr>
          <a:lstStyle/>
          <a:p>
            <a:pPr algn="l">
              <a:lnSpc>
                <a:spcPct val="100000"/>
              </a:lnSpc>
            </a:pPr>
            <a:r>
              <a:rPr sz="950" b="1" i="0">
                <a:solidFill>
                  <a:srgbClr val="00C2A8"/>
                </a:solidFill>
                <a:latin typeface="Calibri"/>
              </a:rPr>
              <a:t>CHƯƠNG 3 · 3.2 MÔ HÌNH HÓA BPMN (AS-IS)  ·  NHÓM HỖ TRỢ</a:t>
            </a:r>
          </a:p>
        </p:txBody>
      </p:sp>
      <p:sp>
        <p:nvSpPr>
          <p:cNvPr id="5" name="TextBox 4"/>
          <p:cNvSpPr txBox="1"/>
          <p:nvPr/>
        </p:nvSpPr>
        <p:spPr>
          <a:xfrm>
            <a:off x="475488" y="411480"/>
            <a:ext cx="7955279" cy="329184"/>
          </a:xfrm>
          <a:prstGeom prst="rect">
            <a:avLst/>
          </a:prstGeom>
          <a:noFill/>
        </p:spPr>
        <p:txBody>
          <a:bodyPr wrap="square" lIns="0" tIns="0" rIns="0" bIns="0" anchor="t">
            <a:spAutoFit/>
          </a:bodyPr>
          <a:lstStyle/>
          <a:p>
            <a:pPr algn="l">
              <a:lnSpc>
                <a:spcPct val="100000"/>
              </a:lnSpc>
            </a:pPr>
            <a:r>
              <a:rPr sz="1700" b="1" i="0">
                <a:solidFill>
                  <a:srgbClr val="FFFFFF"/>
                </a:solidFill>
                <a:latin typeface="Calibri"/>
              </a:rPr>
              <a:t>S02  —  Quản lý nhập kho</a:t>
            </a:r>
          </a:p>
        </p:txBody>
      </p:sp>
      <p:sp>
        <p:nvSpPr>
          <p:cNvPr id="6" name="TextBox 5"/>
          <p:cNvSpPr txBox="1"/>
          <p:nvPr/>
        </p:nvSpPr>
        <p:spPr>
          <a:xfrm>
            <a:off x="8595360" y="265176"/>
            <a:ext cx="3154680" cy="329184"/>
          </a:xfrm>
          <a:prstGeom prst="rect">
            <a:avLst/>
          </a:prstGeom>
          <a:noFill/>
        </p:spPr>
        <p:txBody>
          <a:bodyPr wrap="square" lIns="0" tIns="0" rIns="0" bIns="0" anchor="ctr">
            <a:spAutoFit/>
          </a:bodyPr>
          <a:lstStyle/>
          <a:p>
            <a:pPr algn="r">
              <a:lnSpc>
                <a:spcPct val="100000"/>
              </a:lnSpc>
            </a:pPr>
            <a:r>
              <a:rPr sz="1400" b="1" i="0">
                <a:solidFill>
                  <a:srgbClr val="00C2A8"/>
                </a:solidFill>
                <a:latin typeface="Calibri"/>
              </a:rPr>
              <a:t>Hình 3.7</a:t>
            </a:r>
          </a:p>
        </p:txBody>
      </p:sp>
      <p:sp>
        <p:nvSpPr>
          <p:cNvPr id="9" name="TextBox 8"/>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10" name="TextBox 9"/>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27</a:t>
            </a:r>
          </a:p>
        </p:txBody>
      </p:sp>
      <p:pic>
        <p:nvPicPr>
          <p:cNvPr id="11" name="Picture 10"/>
          <p:cNvPicPr/>
          <p:nvPr/>
        </p:nvPicPr>
        <p:blipFill>
          <a:blip r:embed="rId2" cstate="print">
            <a:extLst>
              <a:ext uri="{28A0092B-C50C-407E-A947-70E740481C1C}">
                <a14:useLocalDpi xmlns:a14="http://schemas.microsoft.com/office/drawing/2010/main" val="0"/>
              </a:ext>
            </a:extLst>
          </a:blip>
          <a:stretch>
            <a:fillRect/>
          </a:stretch>
        </p:blipFill>
        <p:spPr>
          <a:xfrm>
            <a:off x="2284437" y="996696"/>
            <a:ext cx="7090220" cy="4726813"/>
          </a:xfrm>
          <a:prstGeom prst="rect">
            <a:avLst/>
          </a:prstGeom>
        </p:spPr>
      </p:pic>
      <p:sp>
        <p:nvSpPr>
          <p:cNvPr id="12" name="Rectangle 11"/>
          <p:cNvSpPr/>
          <p:nvPr/>
        </p:nvSpPr>
        <p:spPr>
          <a:xfrm>
            <a:off x="3048000" y="5739950"/>
            <a:ext cx="6096000" cy="340093"/>
          </a:xfrm>
          <a:prstGeom prst="rect">
            <a:avLst/>
          </a:prstGeom>
        </p:spPr>
        <p:txBody>
          <a:bodyPr>
            <a:spAutoFit/>
          </a:bodyPr>
          <a:lstStyle/>
          <a:p>
            <a:pPr algn="ctr">
              <a:lnSpc>
                <a:spcPct val="115000"/>
              </a:lnSpc>
              <a:spcAft>
                <a:spcPts val="800"/>
              </a:spcAft>
            </a:pPr>
            <a:r>
              <a:rPr lang="en-US" sz="1400" i="1" dirty="0" err="1">
                <a:latin typeface="+mj-lt"/>
                <a:ea typeface="Calibri" panose="020F0502020204030204" pitchFamily="34" charset="0"/>
                <a:cs typeface="Times New Roman" panose="02020603050405020304" pitchFamily="18" charset="0"/>
              </a:rPr>
              <a:t>Hình</a:t>
            </a:r>
            <a:r>
              <a:rPr lang="en-US" sz="1400" i="1" dirty="0">
                <a:latin typeface="+mj-lt"/>
                <a:ea typeface="Calibri" panose="020F0502020204030204" pitchFamily="34" charset="0"/>
                <a:cs typeface="Times New Roman" panose="02020603050405020304" pitchFamily="18" charset="0"/>
              </a:rPr>
              <a:t> 3.7. </a:t>
            </a:r>
            <a:r>
              <a:rPr lang="en-US" sz="1400" i="1" dirty="0" err="1">
                <a:latin typeface="+mj-lt"/>
                <a:ea typeface="Calibri" panose="020F0502020204030204" pitchFamily="34" charset="0"/>
                <a:cs typeface="Times New Roman" panose="02020603050405020304" pitchFamily="18" charset="0"/>
              </a:rPr>
              <a:t>Mô</a:t>
            </a:r>
            <a:r>
              <a:rPr lang="en-US" sz="1400" i="1" dirty="0">
                <a:latin typeface="+mj-lt"/>
                <a:ea typeface="Calibri" panose="020F0502020204030204" pitchFamily="34" charset="0"/>
                <a:cs typeface="Times New Roman" panose="02020603050405020304" pitchFamily="18" charset="0"/>
              </a:rPr>
              <a:t> </a:t>
            </a:r>
            <a:r>
              <a:rPr lang="en-US" sz="1400" i="1" dirty="0" err="1">
                <a:latin typeface="+mj-lt"/>
                <a:ea typeface="Calibri" panose="020F0502020204030204" pitchFamily="34" charset="0"/>
                <a:cs typeface="Times New Roman" panose="02020603050405020304" pitchFamily="18" charset="0"/>
              </a:rPr>
              <a:t>hình</a:t>
            </a:r>
            <a:r>
              <a:rPr lang="en-US" sz="1400" i="1" dirty="0">
                <a:latin typeface="+mj-lt"/>
                <a:ea typeface="Calibri" panose="020F0502020204030204" pitchFamily="34" charset="0"/>
                <a:cs typeface="Times New Roman" panose="02020603050405020304" pitchFamily="18" charset="0"/>
              </a:rPr>
              <a:t> BPMN </a:t>
            </a:r>
            <a:r>
              <a:rPr lang="en-US" sz="1400" i="1" dirty="0" err="1">
                <a:latin typeface="+mj-lt"/>
                <a:ea typeface="Calibri" panose="020F0502020204030204" pitchFamily="34" charset="0"/>
                <a:cs typeface="Times New Roman" panose="02020603050405020304" pitchFamily="18" charset="0"/>
              </a:rPr>
              <a:t>Quản</a:t>
            </a:r>
            <a:r>
              <a:rPr lang="en-US" sz="1400" i="1" dirty="0">
                <a:latin typeface="+mj-lt"/>
                <a:ea typeface="Calibri" panose="020F0502020204030204" pitchFamily="34" charset="0"/>
                <a:cs typeface="Times New Roman" panose="02020603050405020304" pitchFamily="18" charset="0"/>
              </a:rPr>
              <a:t> </a:t>
            </a:r>
            <a:r>
              <a:rPr lang="en-US" sz="1400" i="1" dirty="0" err="1">
                <a:latin typeface="+mj-lt"/>
                <a:ea typeface="Calibri" panose="020F0502020204030204" pitchFamily="34" charset="0"/>
                <a:cs typeface="Times New Roman" panose="02020603050405020304" pitchFamily="18" charset="0"/>
              </a:rPr>
              <a:t>lý</a:t>
            </a:r>
            <a:r>
              <a:rPr lang="en-US" sz="1400" i="1" dirty="0">
                <a:latin typeface="+mj-lt"/>
                <a:ea typeface="Calibri" panose="020F0502020204030204" pitchFamily="34" charset="0"/>
                <a:cs typeface="Times New Roman" panose="02020603050405020304" pitchFamily="18" charset="0"/>
              </a:rPr>
              <a:t> </a:t>
            </a:r>
            <a:r>
              <a:rPr lang="en-US" sz="1400" i="1" dirty="0" err="1">
                <a:latin typeface="+mj-lt"/>
                <a:ea typeface="Calibri" panose="020F0502020204030204" pitchFamily="34" charset="0"/>
                <a:cs typeface="Times New Roman" panose="02020603050405020304" pitchFamily="18" charset="0"/>
              </a:rPr>
              <a:t>nhập</a:t>
            </a:r>
            <a:r>
              <a:rPr lang="en-US" sz="1400" i="1" dirty="0">
                <a:latin typeface="+mj-lt"/>
                <a:ea typeface="Calibri" panose="020F0502020204030204" pitchFamily="34" charset="0"/>
                <a:cs typeface="Times New Roman" panose="02020603050405020304" pitchFamily="18" charset="0"/>
              </a:rPr>
              <a:t> </a:t>
            </a:r>
            <a:r>
              <a:rPr lang="en-US" sz="1400" i="1" dirty="0" err="1">
                <a:latin typeface="+mj-lt"/>
                <a:ea typeface="Calibri" panose="020F0502020204030204" pitchFamily="34" charset="0"/>
                <a:cs typeface="Times New Roman" panose="02020603050405020304" pitchFamily="18" charset="0"/>
              </a:rPr>
              <a:t>kho</a:t>
            </a:r>
            <a:r>
              <a:rPr lang="en-US" sz="1400" i="1" dirty="0">
                <a:latin typeface="+mj-lt"/>
                <a:ea typeface="Calibri" panose="020F0502020204030204" pitchFamily="34" charset="0"/>
                <a:cs typeface="Times New Roman" panose="02020603050405020304" pitchFamily="18" charset="0"/>
              </a:rPr>
              <a:t> – Inbound Processing</a:t>
            </a:r>
            <a:endParaRPr lang="en-US" sz="1400"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361932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CHƯƠNG 3 · 3.3 PROCESS DISCOVERY</a:t>
            </a:r>
          </a:p>
        </p:txBody>
      </p:sp>
      <p:sp>
        <p:nvSpPr>
          <p:cNvPr id="3" name="TextBox 2"/>
          <p:cNvSpPr txBox="1"/>
          <p:nvPr/>
        </p:nvSpPr>
        <p:spPr>
          <a:xfrm>
            <a:off x="658368" y="640080"/>
            <a:ext cx="10874959" cy="603504"/>
          </a:xfrm>
          <a:prstGeom prst="rect">
            <a:avLst/>
          </a:prstGeom>
          <a:noFill/>
        </p:spPr>
        <p:txBody>
          <a:bodyPr wrap="square" lIns="0" tIns="0" rIns="0" bIns="0" anchor="t">
            <a:spAutoFit/>
          </a:bodyPr>
          <a:lstStyle/>
          <a:p>
            <a:pPr algn="l">
              <a:lnSpc>
                <a:spcPct val="105000"/>
              </a:lnSpc>
            </a:pPr>
            <a:r>
              <a:rPr sz="2500" b="1" i="0">
                <a:solidFill>
                  <a:srgbClr val="0A2540"/>
                </a:solidFill>
                <a:latin typeface="Calibri"/>
              </a:rPr>
              <a:t>PHƯƠNG PHÁP KHÁM PHÁ QUY TRÌNH</a:t>
            </a: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 name="TextBox 5"/>
          <p:cNvSpPr txBox="1"/>
          <p:nvPr/>
        </p:nvSpPr>
        <p:spPr>
          <a:xfrm>
            <a:off x="658368" y="1371600"/>
            <a:ext cx="10874959" cy="254237"/>
          </a:xfrm>
          <a:prstGeom prst="rect">
            <a:avLst/>
          </a:prstGeom>
          <a:noFill/>
        </p:spPr>
        <p:txBody>
          <a:bodyPr wrap="square" lIns="0" tIns="0" rIns="0" bIns="0" anchor="t">
            <a:spAutoFit/>
          </a:bodyPr>
          <a:lstStyle/>
          <a:p>
            <a:pPr algn="l">
              <a:lnSpc>
                <a:spcPct val="118000"/>
              </a:lnSpc>
            </a:pPr>
            <a:r>
              <a:rPr sz="1400" b="0" i="1">
                <a:solidFill>
                  <a:srgbClr val="6B7784"/>
                </a:solidFill>
                <a:latin typeface="Calibri"/>
              </a:rPr>
              <a:t>Kết hợp hai hướng để đối chiếu thông tin từ tài liệu với cách thực hiện trong thực tế</a:t>
            </a:r>
          </a:p>
        </p:txBody>
      </p:sp>
      <p:sp>
        <p:nvSpPr>
          <p:cNvPr id="7" name="TextBox 6"/>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8" name="TextBox 7"/>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28</a:t>
            </a:r>
          </a:p>
        </p:txBody>
      </p:sp>
      <p:sp>
        <p:nvSpPr>
          <p:cNvPr id="9" name="Rectangle 8"/>
          <p:cNvSpPr/>
          <p:nvPr/>
        </p:nvSpPr>
        <p:spPr>
          <a:xfrm>
            <a:off x="658368" y="1792224"/>
            <a:ext cx="5230368" cy="2962656"/>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 name="Rectangle 9"/>
          <p:cNvSpPr/>
          <p:nvPr/>
        </p:nvSpPr>
        <p:spPr>
          <a:xfrm>
            <a:off x="658368" y="1792224"/>
            <a:ext cx="5230368" cy="50292"/>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 name="TextBox 10"/>
          <p:cNvSpPr txBox="1"/>
          <p:nvPr/>
        </p:nvSpPr>
        <p:spPr>
          <a:xfrm>
            <a:off x="932688" y="2011680"/>
            <a:ext cx="4663440" cy="467307"/>
          </a:xfrm>
          <a:prstGeom prst="rect">
            <a:avLst/>
          </a:prstGeom>
          <a:noFill/>
        </p:spPr>
        <p:txBody>
          <a:bodyPr wrap="square" lIns="0" tIns="0" rIns="0" bIns="0" anchor="t">
            <a:spAutoFit/>
          </a:bodyPr>
          <a:lstStyle/>
          <a:p>
            <a:pPr algn="l">
              <a:lnSpc>
                <a:spcPct val="105000"/>
              </a:lnSpc>
            </a:pPr>
            <a:r>
              <a:rPr sz="1400" b="1" i="0">
                <a:solidFill>
                  <a:srgbClr val="0A2540"/>
                </a:solidFill>
                <a:latin typeface="Calibri"/>
              </a:rPr>
              <a:t>① DỰA TRÊN BẰNG CHỨNG</a:t>
            </a:r>
          </a:p>
          <a:p>
            <a:pPr algn="l">
              <a:lnSpc>
                <a:spcPct val="100000"/>
              </a:lnSpc>
              <a:spcBef>
                <a:spcPts val="200"/>
              </a:spcBef>
            </a:pPr>
            <a:r>
              <a:rPr sz="1400" b="0" i="1">
                <a:solidFill>
                  <a:srgbClr val="6B7784"/>
                </a:solidFill>
                <a:latin typeface="Calibri"/>
              </a:rPr>
              <a:t>Evidence-based Discovery  ·  nguồn thông tin chính</a:t>
            </a:r>
          </a:p>
        </p:txBody>
      </p:sp>
      <p:sp>
        <p:nvSpPr>
          <p:cNvPr id="12" name="TextBox 11"/>
          <p:cNvSpPr txBox="1"/>
          <p:nvPr/>
        </p:nvSpPr>
        <p:spPr>
          <a:xfrm>
            <a:off x="932688" y="2706624"/>
            <a:ext cx="4663440" cy="1621919"/>
          </a:xfrm>
          <a:prstGeom prst="rect">
            <a:avLst/>
          </a:prstGeom>
          <a:noFill/>
        </p:spPr>
        <p:txBody>
          <a:bodyPr wrap="square" lIns="0" tIns="0" rIns="0" bIns="0" anchor="t">
            <a:spAutoFit/>
          </a:bodyPr>
          <a:lstStyle/>
          <a:p>
            <a:pPr algn="l">
              <a:lnSpc>
                <a:spcPct val="122000"/>
              </a:lnSpc>
              <a:spcAft>
                <a:spcPts val="800"/>
              </a:spcAft>
            </a:pPr>
            <a:r>
              <a:rPr sz="1400" b="0" i="0" dirty="0">
                <a:solidFill>
                  <a:srgbClr val="2B3440"/>
                </a:solidFill>
                <a:latin typeface="Calibri"/>
              </a:rPr>
              <a:t>•  </a:t>
            </a:r>
            <a:r>
              <a:rPr sz="1400" b="0" i="0" dirty="0" err="1">
                <a:solidFill>
                  <a:srgbClr val="2B3440"/>
                </a:solidFill>
                <a:latin typeface="Calibri"/>
              </a:rPr>
              <a:t>Tài</a:t>
            </a:r>
            <a:r>
              <a:rPr sz="1400" b="0" i="0" dirty="0">
                <a:solidFill>
                  <a:srgbClr val="2B3440"/>
                </a:solidFill>
                <a:latin typeface="Calibri"/>
              </a:rPr>
              <a:t> </a:t>
            </a:r>
            <a:r>
              <a:rPr sz="1400" b="0" i="0" dirty="0" err="1">
                <a:solidFill>
                  <a:srgbClr val="2B3440"/>
                </a:solidFill>
                <a:latin typeface="Calibri"/>
              </a:rPr>
              <a:t>liệu</a:t>
            </a:r>
            <a:r>
              <a:rPr sz="1400" b="0" i="0" dirty="0">
                <a:solidFill>
                  <a:srgbClr val="2B3440"/>
                </a:solidFill>
                <a:latin typeface="Calibri"/>
              </a:rPr>
              <a:t> </a:t>
            </a:r>
            <a:r>
              <a:rPr sz="1400" b="0" i="0" dirty="0" err="1">
                <a:solidFill>
                  <a:srgbClr val="2B3440"/>
                </a:solidFill>
                <a:latin typeface="Calibri"/>
              </a:rPr>
              <a:t>quy</a:t>
            </a:r>
            <a:r>
              <a:rPr sz="1400" b="0" i="0" dirty="0">
                <a:solidFill>
                  <a:srgbClr val="2B3440"/>
                </a:solidFill>
                <a:latin typeface="Calibri"/>
              </a:rPr>
              <a:t> </a:t>
            </a:r>
            <a:r>
              <a:rPr sz="1400" b="0" i="0" dirty="0" err="1">
                <a:solidFill>
                  <a:srgbClr val="2B3440"/>
                </a:solidFill>
                <a:latin typeface="Calibri"/>
              </a:rPr>
              <a:t>trình</a:t>
            </a:r>
            <a:r>
              <a:rPr sz="1400" b="0" i="0" dirty="0">
                <a:solidFill>
                  <a:srgbClr val="2B3440"/>
                </a:solidFill>
                <a:latin typeface="Calibri"/>
              </a:rPr>
              <a:t> </a:t>
            </a:r>
            <a:r>
              <a:rPr sz="1400" b="0" i="0" dirty="0" err="1">
                <a:solidFill>
                  <a:srgbClr val="2B3440"/>
                </a:solidFill>
                <a:latin typeface="Calibri"/>
              </a:rPr>
              <a:t>vận</a:t>
            </a:r>
            <a:r>
              <a:rPr sz="1400" b="0" i="0" dirty="0">
                <a:solidFill>
                  <a:srgbClr val="2B3440"/>
                </a:solidFill>
                <a:latin typeface="Calibri"/>
              </a:rPr>
              <a:t> </a:t>
            </a:r>
            <a:r>
              <a:rPr sz="1400" b="0" i="0" dirty="0" err="1">
                <a:solidFill>
                  <a:srgbClr val="2B3440"/>
                </a:solidFill>
                <a:latin typeface="Calibri"/>
              </a:rPr>
              <a:t>hành</a:t>
            </a:r>
            <a:r>
              <a:rPr sz="1400" b="0" i="0" dirty="0">
                <a:solidFill>
                  <a:srgbClr val="2B3440"/>
                </a:solidFill>
                <a:latin typeface="Calibri"/>
              </a:rPr>
              <a:t> </a:t>
            </a:r>
            <a:r>
              <a:rPr sz="1400" b="0" i="0" dirty="0" err="1">
                <a:solidFill>
                  <a:srgbClr val="2B3440"/>
                </a:solidFill>
                <a:latin typeface="Calibri"/>
              </a:rPr>
              <a:t>chuẩn</a:t>
            </a:r>
            <a:r>
              <a:rPr sz="1400" b="0" i="0" dirty="0">
                <a:solidFill>
                  <a:srgbClr val="2B3440"/>
                </a:solidFill>
                <a:latin typeface="Calibri"/>
              </a:rPr>
              <a:t> (SOP) </a:t>
            </a:r>
            <a:r>
              <a:rPr sz="1400" b="0" i="0" dirty="0" err="1">
                <a:solidFill>
                  <a:srgbClr val="2B3440"/>
                </a:solidFill>
                <a:latin typeface="Calibri"/>
              </a:rPr>
              <a:t>của</a:t>
            </a:r>
            <a:r>
              <a:rPr sz="1400" b="0" i="0" dirty="0">
                <a:solidFill>
                  <a:srgbClr val="2B3440"/>
                </a:solidFill>
                <a:latin typeface="Calibri"/>
              </a:rPr>
              <a:t> </a:t>
            </a:r>
            <a:r>
              <a:rPr sz="1400" b="0" i="0" dirty="0" err="1">
                <a:solidFill>
                  <a:srgbClr val="2B3440"/>
                </a:solidFill>
                <a:latin typeface="Calibri"/>
              </a:rPr>
              <a:t>tập</a:t>
            </a:r>
            <a:r>
              <a:rPr sz="1400" b="0" i="0" dirty="0">
                <a:solidFill>
                  <a:srgbClr val="2B3440"/>
                </a:solidFill>
                <a:latin typeface="Calibri"/>
              </a:rPr>
              <a:t> </a:t>
            </a:r>
            <a:r>
              <a:rPr sz="1400" b="0" i="0" dirty="0" err="1">
                <a:solidFill>
                  <a:srgbClr val="2B3440"/>
                </a:solidFill>
                <a:latin typeface="Calibri"/>
              </a:rPr>
              <a:t>đoàn</a:t>
            </a:r>
            <a:r>
              <a:rPr sz="1400" b="0" i="0" dirty="0">
                <a:solidFill>
                  <a:srgbClr val="2B3440"/>
                </a:solidFill>
                <a:latin typeface="Calibri"/>
              </a:rPr>
              <a:t>.</a:t>
            </a:r>
          </a:p>
          <a:p>
            <a:pPr algn="l">
              <a:lnSpc>
                <a:spcPct val="122000"/>
              </a:lnSpc>
              <a:spcAft>
                <a:spcPts val="800"/>
              </a:spcAft>
            </a:pPr>
            <a:r>
              <a:rPr sz="1400" b="0" i="0" dirty="0">
                <a:solidFill>
                  <a:srgbClr val="2B3440"/>
                </a:solidFill>
                <a:latin typeface="Calibri"/>
              </a:rPr>
              <a:t>•  </a:t>
            </a:r>
            <a:r>
              <a:rPr sz="1400" b="0" i="0" dirty="0" err="1">
                <a:solidFill>
                  <a:srgbClr val="2B3440"/>
                </a:solidFill>
                <a:latin typeface="Calibri"/>
              </a:rPr>
              <a:t>Tài</a:t>
            </a:r>
            <a:r>
              <a:rPr sz="1400" b="0" i="0" dirty="0">
                <a:solidFill>
                  <a:srgbClr val="2B3440"/>
                </a:solidFill>
                <a:latin typeface="Calibri"/>
              </a:rPr>
              <a:t> </a:t>
            </a:r>
            <a:r>
              <a:rPr sz="1400" b="0" i="0" dirty="0" err="1">
                <a:solidFill>
                  <a:srgbClr val="2B3440"/>
                </a:solidFill>
                <a:latin typeface="Calibri"/>
              </a:rPr>
              <a:t>liệu</a:t>
            </a:r>
            <a:r>
              <a:rPr sz="1400" b="0" i="0" dirty="0">
                <a:solidFill>
                  <a:srgbClr val="2B3440"/>
                </a:solidFill>
                <a:latin typeface="Calibri"/>
              </a:rPr>
              <a:t> </a:t>
            </a:r>
            <a:r>
              <a:rPr sz="1400" b="0" i="0" dirty="0" err="1">
                <a:solidFill>
                  <a:srgbClr val="2B3440"/>
                </a:solidFill>
                <a:latin typeface="Calibri"/>
              </a:rPr>
              <a:t>hướng</a:t>
            </a:r>
            <a:r>
              <a:rPr sz="1400" b="0" i="0" dirty="0">
                <a:solidFill>
                  <a:srgbClr val="2B3440"/>
                </a:solidFill>
                <a:latin typeface="Calibri"/>
              </a:rPr>
              <a:t> </a:t>
            </a:r>
            <a:r>
              <a:rPr sz="1400" b="0" i="0" dirty="0" err="1">
                <a:solidFill>
                  <a:srgbClr val="2B3440"/>
                </a:solidFill>
                <a:latin typeface="Calibri"/>
              </a:rPr>
              <a:t>dẫn</a:t>
            </a:r>
            <a:r>
              <a:rPr sz="1400" b="0" i="0" dirty="0">
                <a:solidFill>
                  <a:srgbClr val="2B3440"/>
                </a:solidFill>
                <a:latin typeface="Calibri"/>
              </a:rPr>
              <a:t> </a:t>
            </a:r>
            <a:r>
              <a:rPr sz="1400" b="0" i="0" dirty="0" err="1">
                <a:solidFill>
                  <a:srgbClr val="2B3440"/>
                </a:solidFill>
                <a:latin typeface="Calibri"/>
              </a:rPr>
              <a:t>hệ</a:t>
            </a:r>
            <a:r>
              <a:rPr sz="1400" b="0" i="0" dirty="0">
                <a:solidFill>
                  <a:srgbClr val="2B3440"/>
                </a:solidFill>
                <a:latin typeface="Calibri"/>
              </a:rPr>
              <a:t> </a:t>
            </a:r>
            <a:r>
              <a:rPr sz="1400" b="0" i="0" dirty="0" err="1">
                <a:solidFill>
                  <a:srgbClr val="2B3440"/>
                </a:solidFill>
                <a:latin typeface="Calibri"/>
              </a:rPr>
              <a:t>thống</a:t>
            </a:r>
            <a:r>
              <a:rPr sz="1400" b="0" i="0" dirty="0">
                <a:solidFill>
                  <a:srgbClr val="2B3440"/>
                </a:solidFill>
                <a:latin typeface="Calibri"/>
              </a:rPr>
              <a:t> SAP ERP </a:t>
            </a:r>
            <a:r>
              <a:rPr sz="1400" b="0" i="0" dirty="0" err="1">
                <a:solidFill>
                  <a:srgbClr val="2B3440"/>
                </a:solidFill>
                <a:latin typeface="Calibri"/>
              </a:rPr>
              <a:t>và</a:t>
            </a:r>
            <a:r>
              <a:rPr sz="1400" b="0" i="0" dirty="0">
                <a:solidFill>
                  <a:srgbClr val="2B3440"/>
                </a:solidFill>
                <a:latin typeface="Calibri"/>
              </a:rPr>
              <a:t> SAP CRM-Service.</a:t>
            </a:r>
          </a:p>
          <a:p>
            <a:pPr algn="l">
              <a:lnSpc>
                <a:spcPct val="122000"/>
              </a:lnSpc>
              <a:spcAft>
                <a:spcPts val="800"/>
              </a:spcAft>
            </a:pPr>
            <a:r>
              <a:rPr sz="1400" b="0" i="0" dirty="0">
                <a:solidFill>
                  <a:srgbClr val="2B3440"/>
                </a:solidFill>
                <a:latin typeface="Calibri"/>
              </a:rPr>
              <a:t>•  </a:t>
            </a:r>
            <a:r>
              <a:rPr sz="1400" b="0" i="0" dirty="0" err="1">
                <a:solidFill>
                  <a:srgbClr val="2B3440"/>
                </a:solidFill>
                <a:latin typeface="Calibri"/>
              </a:rPr>
              <a:t>Sơ</a:t>
            </a:r>
            <a:r>
              <a:rPr sz="1400" b="0" i="0" dirty="0">
                <a:solidFill>
                  <a:srgbClr val="2B3440"/>
                </a:solidFill>
                <a:latin typeface="Calibri"/>
              </a:rPr>
              <a:t> </a:t>
            </a:r>
            <a:r>
              <a:rPr sz="1400" b="0" i="0" dirty="0" err="1">
                <a:solidFill>
                  <a:srgbClr val="2B3440"/>
                </a:solidFill>
                <a:latin typeface="Calibri"/>
              </a:rPr>
              <a:t>đồ</a:t>
            </a:r>
            <a:r>
              <a:rPr sz="1400" b="0" i="0" dirty="0">
                <a:solidFill>
                  <a:srgbClr val="2B3440"/>
                </a:solidFill>
                <a:latin typeface="Calibri"/>
              </a:rPr>
              <a:t> </a:t>
            </a:r>
            <a:r>
              <a:rPr sz="1400" b="0" i="0" dirty="0" err="1">
                <a:solidFill>
                  <a:srgbClr val="2B3440"/>
                </a:solidFill>
                <a:latin typeface="Calibri"/>
              </a:rPr>
              <a:t>tổ</a:t>
            </a:r>
            <a:r>
              <a:rPr sz="1400" b="0" i="0" dirty="0">
                <a:solidFill>
                  <a:srgbClr val="2B3440"/>
                </a:solidFill>
                <a:latin typeface="Calibri"/>
              </a:rPr>
              <a:t> </a:t>
            </a:r>
            <a:r>
              <a:rPr sz="1400" b="0" i="0" dirty="0" err="1">
                <a:solidFill>
                  <a:srgbClr val="2B3440"/>
                </a:solidFill>
                <a:latin typeface="Calibri"/>
              </a:rPr>
              <a:t>chức</a:t>
            </a:r>
            <a:r>
              <a:rPr sz="1400" b="0" i="0" dirty="0">
                <a:solidFill>
                  <a:srgbClr val="2B3440"/>
                </a:solidFill>
                <a:latin typeface="Calibri"/>
              </a:rPr>
              <a:t> </a:t>
            </a:r>
            <a:r>
              <a:rPr sz="1400" b="0" i="0" dirty="0" err="1">
                <a:solidFill>
                  <a:srgbClr val="2B3440"/>
                </a:solidFill>
                <a:latin typeface="Calibri"/>
              </a:rPr>
              <a:t>và</a:t>
            </a:r>
            <a:r>
              <a:rPr sz="1400" b="0" i="0" dirty="0">
                <a:solidFill>
                  <a:srgbClr val="2B3440"/>
                </a:solidFill>
                <a:latin typeface="Calibri"/>
              </a:rPr>
              <a:t> </a:t>
            </a:r>
            <a:r>
              <a:rPr sz="1400" b="0" i="0" dirty="0" err="1">
                <a:solidFill>
                  <a:srgbClr val="2B3440"/>
                </a:solidFill>
                <a:latin typeface="Calibri"/>
              </a:rPr>
              <a:t>mô</a:t>
            </a:r>
            <a:r>
              <a:rPr sz="1400" b="0" i="0" dirty="0">
                <a:solidFill>
                  <a:srgbClr val="2B3440"/>
                </a:solidFill>
                <a:latin typeface="Calibri"/>
              </a:rPr>
              <a:t> </a:t>
            </a:r>
            <a:r>
              <a:rPr sz="1400" b="0" i="0" dirty="0" err="1">
                <a:solidFill>
                  <a:srgbClr val="2B3440"/>
                </a:solidFill>
                <a:latin typeface="Calibri"/>
              </a:rPr>
              <a:t>tả</a:t>
            </a:r>
            <a:r>
              <a:rPr sz="1400" b="0" i="0" dirty="0">
                <a:solidFill>
                  <a:srgbClr val="2B3440"/>
                </a:solidFill>
                <a:latin typeface="Calibri"/>
              </a:rPr>
              <a:t> </a:t>
            </a:r>
            <a:r>
              <a:rPr sz="1400" b="0" i="0" dirty="0" err="1">
                <a:solidFill>
                  <a:srgbClr val="2B3440"/>
                </a:solidFill>
                <a:latin typeface="Calibri"/>
              </a:rPr>
              <a:t>vai</a:t>
            </a:r>
            <a:r>
              <a:rPr sz="1400" b="0" i="0" dirty="0">
                <a:solidFill>
                  <a:srgbClr val="2B3440"/>
                </a:solidFill>
                <a:latin typeface="Calibri"/>
              </a:rPr>
              <a:t> </a:t>
            </a:r>
            <a:r>
              <a:rPr sz="1400" b="0" i="0" dirty="0" err="1">
                <a:solidFill>
                  <a:srgbClr val="2B3440"/>
                </a:solidFill>
                <a:latin typeface="Calibri"/>
              </a:rPr>
              <a:t>trò</a:t>
            </a:r>
            <a:r>
              <a:rPr sz="1400" b="0" i="0" dirty="0">
                <a:solidFill>
                  <a:srgbClr val="2B3440"/>
                </a:solidFill>
                <a:latin typeface="Calibri"/>
              </a:rPr>
              <a:t> </a:t>
            </a:r>
            <a:r>
              <a:rPr sz="1400" b="0" i="0" dirty="0" err="1">
                <a:solidFill>
                  <a:srgbClr val="2B3440"/>
                </a:solidFill>
                <a:latin typeface="Calibri"/>
              </a:rPr>
              <a:t>các</a:t>
            </a:r>
            <a:r>
              <a:rPr sz="1400" b="0" i="0" dirty="0">
                <a:solidFill>
                  <a:srgbClr val="2B3440"/>
                </a:solidFill>
                <a:latin typeface="Calibri"/>
              </a:rPr>
              <a:t> </a:t>
            </a:r>
            <a:r>
              <a:rPr sz="1400" b="0" i="0" dirty="0" err="1">
                <a:solidFill>
                  <a:srgbClr val="2B3440"/>
                </a:solidFill>
                <a:latin typeface="Calibri"/>
              </a:rPr>
              <a:t>bộ</a:t>
            </a:r>
            <a:r>
              <a:rPr sz="1400" b="0" i="0" dirty="0">
                <a:solidFill>
                  <a:srgbClr val="2B3440"/>
                </a:solidFill>
                <a:latin typeface="Calibri"/>
              </a:rPr>
              <a:t> </a:t>
            </a:r>
            <a:r>
              <a:rPr sz="1400" b="0" i="0" dirty="0" err="1">
                <a:solidFill>
                  <a:srgbClr val="2B3440"/>
                </a:solidFill>
                <a:latin typeface="Calibri"/>
              </a:rPr>
              <a:t>phận</a:t>
            </a:r>
            <a:r>
              <a:rPr sz="1400" b="0" i="0" dirty="0">
                <a:solidFill>
                  <a:srgbClr val="2B3440"/>
                </a:solidFill>
                <a:latin typeface="Calibri"/>
              </a:rPr>
              <a:t>.</a:t>
            </a:r>
          </a:p>
          <a:p>
            <a:pPr algn="l">
              <a:lnSpc>
                <a:spcPct val="122000"/>
              </a:lnSpc>
              <a:spcAft>
                <a:spcPts val="800"/>
              </a:spcAft>
            </a:pPr>
            <a:r>
              <a:rPr sz="1400" b="0" i="0" dirty="0">
                <a:solidFill>
                  <a:srgbClr val="2B3440"/>
                </a:solidFill>
                <a:latin typeface="Calibri"/>
              </a:rPr>
              <a:t>•  </a:t>
            </a:r>
            <a:r>
              <a:rPr sz="1400" b="0" i="0" dirty="0" err="1">
                <a:solidFill>
                  <a:srgbClr val="2B3440"/>
                </a:solidFill>
                <a:latin typeface="Calibri"/>
              </a:rPr>
              <a:t>Biểu</a:t>
            </a:r>
            <a:r>
              <a:rPr sz="1400" b="0" i="0" dirty="0">
                <a:solidFill>
                  <a:srgbClr val="2B3440"/>
                </a:solidFill>
                <a:latin typeface="Calibri"/>
              </a:rPr>
              <a:t> </a:t>
            </a:r>
            <a:r>
              <a:rPr sz="1400" b="0" i="0" dirty="0" err="1">
                <a:solidFill>
                  <a:srgbClr val="2B3440"/>
                </a:solidFill>
                <a:latin typeface="Calibri"/>
              </a:rPr>
              <a:t>mẫu</a:t>
            </a:r>
            <a:r>
              <a:rPr sz="1400" b="0" i="0" dirty="0">
                <a:solidFill>
                  <a:srgbClr val="2B3440"/>
                </a:solidFill>
                <a:latin typeface="Calibri"/>
              </a:rPr>
              <a:t> </a:t>
            </a:r>
            <a:r>
              <a:rPr sz="1400" b="0" i="0" dirty="0" err="1">
                <a:solidFill>
                  <a:srgbClr val="2B3440"/>
                </a:solidFill>
                <a:latin typeface="Calibri"/>
              </a:rPr>
              <a:t>chứng</a:t>
            </a:r>
            <a:r>
              <a:rPr sz="1400" b="0" i="0" dirty="0">
                <a:solidFill>
                  <a:srgbClr val="2B3440"/>
                </a:solidFill>
                <a:latin typeface="Calibri"/>
              </a:rPr>
              <a:t> </a:t>
            </a:r>
            <a:r>
              <a:rPr sz="1400" b="0" i="0" dirty="0" err="1">
                <a:solidFill>
                  <a:srgbClr val="2B3440"/>
                </a:solidFill>
                <a:latin typeface="Calibri"/>
              </a:rPr>
              <a:t>từ</a:t>
            </a:r>
            <a:r>
              <a:rPr sz="1400" b="0" i="0" dirty="0">
                <a:solidFill>
                  <a:srgbClr val="2B3440"/>
                </a:solidFill>
                <a:latin typeface="Calibri"/>
              </a:rPr>
              <a:t> </a:t>
            </a:r>
            <a:r>
              <a:rPr sz="1400" b="0" i="0" dirty="0" err="1">
                <a:solidFill>
                  <a:srgbClr val="2B3440"/>
                </a:solidFill>
                <a:latin typeface="Calibri"/>
              </a:rPr>
              <a:t>gốc</a:t>
            </a:r>
            <a:r>
              <a:rPr sz="1400" b="0" i="0" dirty="0">
                <a:solidFill>
                  <a:srgbClr val="2B3440"/>
                </a:solidFill>
                <a:latin typeface="Calibri"/>
              </a:rPr>
              <a:t>: Sales Order, Service Order, PR, PO, Inbound Delivery.</a:t>
            </a:r>
          </a:p>
        </p:txBody>
      </p:sp>
      <p:sp>
        <p:nvSpPr>
          <p:cNvPr id="13" name="Rectangle 12"/>
          <p:cNvSpPr/>
          <p:nvPr/>
        </p:nvSpPr>
        <p:spPr>
          <a:xfrm>
            <a:off x="6327648" y="1792224"/>
            <a:ext cx="5202936" cy="2962656"/>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4" name="Rectangle 13"/>
          <p:cNvSpPr/>
          <p:nvPr/>
        </p:nvSpPr>
        <p:spPr>
          <a:xfrm>
            <a:off x="6327648" y="1792224"/>
            <a:ext cx="5202936" cy="50292"/>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5" name="TextBox 14"/>
          <p:cNvSpPr txBox="1"/>
          <p:nvPr/>
        </p:nvSpPr>
        <p:spPr>
          <a:xfrm>
            <a:off x="6601968" y="2011680"/>
            <a:ext cx="4663440" cy="467307"/>
          </a:xfrm>
          <a:prstGeom prst="rect">
            <a:avLst/>
          </a:prstGeom>
          <a:noFill/>
        </p:spPr>
        <p:txBody>
          <a:bodyPr wrap="square" lIns="0" tIns="0" rIns="0" bIns="0" anchor="t">
            <a:spAutoFit/>
          </a:bodyPr>
          <a:lstStyle/>
          <a:p>
            <a:pPr algn="l">
              <a:lnSpc>
                <a:spcPct val="105000"/>
              </a:lnSpc>
            </a:pPr>
            <a:r>
              <a:rPr sz="1400" b="1" i="0">
                <a:solidFill>
                  <a:srgbClr val="0A2540"/>
                </a:solidFill>
                <a:latin typeface="Calibri"/>
              </a:rPr>
              <a:t>② PHỎNG VẤN ĐỐI TƯỢNG LIÊN QUAN</a:t>
            </a:r>
          </a:p>
          <a:p>
            <a:pPr algn="l">
              <a:lnSpc>
                <a:spcPct val="100000"/>
              </a:lnSpc>
              <a:spcBef>
                <a:spcPts val="200"/>
              </a:spcBef>
            </a:pPr>
            <a:r>
              <a:rPr sz="1400" b="0" i="1">
                <a:solidFill>
                  <a:srgbClr val="6B7784"/>
                </a:solidFill>
                <a:latin typeface="Calibri"/>
              </a:rPr>
              <a:t>Interview-based Discovery  ·  phương pháp bổ sung</a:t>
            </a:r>
          </a:p>
        </p:txBody>
      </p:sp>
      <p:sp>
        <p:nvSpPr>
          <p:cNvPr id="16" name="TextBox 15"/>
          <p:cNvSpPr txBox="1"/>
          <p:nvPr/>
        </p:nvSpPr>
        <p:spPr>
          <a:xfrm>
            <a:off x="6601968" y="2706624"/>
            <a:ext cx="4663440" cy="1920240"/>
          </a:xfrm>
          <a:prstGeom prst="rect">
            <a:avLst/>
          </a:prstGeom>
          <a:noFill/>
        </p:spPr>
        <p:txBody>
          <a:bodyPr wrap="square" lIns="0" tIns="0" rIns="0" bIns="0" anchor="t">
            <a:spAutoFit/>
          </a:bodyPr>
          <a:lstStyle/>
          <a:p>
            <a:pPr algn="l">
              <a:lnSpc>
                <a:spcPct val="122000"/>
              </a:lnSpc>
              <a:spcAft>
                <a:spcPts val="800"/>
              </a:spcAft>
            </a:pPr>
            <a:r>
              <a:rPr sz="1400" b="0" i="0">
                <a:solidFill>
                  <a:srgbClr val="2B3440"/>
                </a:solidFill>
                <a:latin typeface="Calibri"/>
              </a:rPr>
              <a:t>•  Bổ sung cho những nội dung tài liệu chưa mô tả đầy đủ.</a:t>
            </a:r>
          </a:p>
          <a:p>
            <a:pPr algn="l">
              <a:lnSpc>
                <a:spcPct val="122000"/>
              </a:lnSpc>
              <a:spcAft>
                <a:spcPts val="800"/>
              </a:spcAft>
            </a:pPr>
            <a:r>
              <a:rPr sz="1400" b="0" i="0">
                <a:solidFill>
                  <a:srgbClr val="2B3440"/>
                </a:solidFill>
                <a:latin typeface="Calibri"/>
              </a:rPr>
              <a:t>•  Xác nhận cách quy trình thực sự được áp dụng trong thực tế.</a:t>
            </a:r>
          </a:p>
          <a:p>
            <a:pPr algn="l">
              <a:lnSpc>
                <a:spcPct val="122000"/>
              </a:lnSpc>
              <a:spcAft>
                <a:spcPts val="800"/>
              </a:spcAft>
            </a:pPr>
            <a:r>
              <a:rPr sz="1400" b="0" i="0">
                <a:solidFill>
                  <a:srgbClr val="2B3440"/>
                </a:solidFill>
                <a:latin typeface="Calibri"/>
              </a:rPr>
              <a:t>•  Làm rõ điểm ra quyết định, ngoại lệ và điểm phát sinh chờ đợi.</a:t>
            </a:r>
          </a:p>
          <a:p>
            <a:pPr algn="l">
              <a:lnSpc>
                <a:spcPct val="122000"/>
              </a:lnSpc>
              <a:spcAft>
                <a:spcPts val="800"/>
              </a:spcAft>
            </a:pPr>
            <a:r>
              <a:rPr sz="1400" b="0" i="0">
                <a:solidFill>
                  <a:srgbClr val="2B3440"/>
                </a:solidFill>
                <a:latin typeface="Calibri"/>
              </a:rPr>
              <a:t>•  Sử dụng bộ 10 câu hỏi chuẩn hóa (05 định tính + 05 định lượng).</a:t>
            </a:r>
          </a:p>
        </p:txBody>
      </p:sp>
      <p:sp>
        <p:nvSpPr>
          <p:cNvPr id="17" name="Rectangle 16"/>
          <p:cNvSpPr/>
          <p:nvPr/>
        </p:nvSpPr>
        <p:spPr>
          <a:xfrm>
            <a:off x="658368" y="4919472"/>
            <a:ext cx="10874959" cy="841248"/>
          </a:xfrm>
          <a:prstGeom prst="rect">
            <a:avLst/>
          </a:prstGeom>
          <a:solidFill>
            <a:srgbClr val="E9F3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8" name="Rectangle 17"/>
          <p:cNvSpPr/>
          <p:nvPr/>
        </p:nvSpPr>
        <p:spPr>
          <a:xfrm>
            <a:off x="658368" y="4919472"/>
            <a:ext cx="50292" cy="841248"/>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9" name="TextBox 18"/>
          <p:cNvSpPr txBox="1"/>
          <p:nvPr/>
        </p:nvSpPr>
        <p:spPr>
          <a:xfrm>
            <a:off x="950976" y="5060019"/>
            <a:ext cx="10280599" cy="560153"/>
          </a:xfrm>
          <a:prstGeom prst="rect">
            <a:avLst/>
          </a:prstGeom>
          <a:noFill/>
        </p:spPr>
        <p:txBody>
          <a:bodyPr wrap="square" lIns="0" tIns="0" rIns="0" bIns="0" anchor="ctr">
            <a:spAutoFit/>
          </a:bodyPr>
          <a:lstStyle/>
          <a:p>
            <a:pPr algn="l">
              <a:lnSpc>
                <a:spcPct val="130000"/>
              </a:lnSpc>
            </a:pPr>
            <a:r>
              <a:rPr sz="1400" b="0" i="0">
                <a:solidFill>
                  <a:srgbClr val="2B3440"/>
                </a:solidFill>
                <a:latin typeface="Calibri"/>
              </a:rPr>
              <a:t>Thông tin từ hai nguồn được tổng hợp và ĐỐI CHIẾU CHÉO trước khi đưa vào mô hình BPMN — vừa xác minh các thành phần của quy trình (Actor, Pool, Lane, Activity, Event, Gateway, Data Object), vừa thu thập dữ liệu phục vụ phân tích ở Chương 4.</a:t>
            </a:r>
          </a:p>
        </p:txBody>
      </p:sp>
    </p:spTree>
    <p:extLst>
      <p:ext uri="{BB962C8B-B14F-4D97-AF65-F5344CB8AC3E}">
        <p14:creationId xmlns:p14="http://schemas.microsoft.com/office/powerpoint/2010/main" val="34460344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CHƯƠNG 3 · 3.3.1 THU THẬP THEO BẰNG CHỨNG</a:t>
            </a:r>
          </a:p>
        </p:txBody>
      </p:sp>
      <p:sp>
        <p:nvSpPr>
          <p:cNvPr id="3" name="TextBox 2"/>
          <p:cNvSpPr txBox="1"/>
          <p:nvPr/>
        </p:nvSpPr>
        <p:spPr>
          <a:xfrm>
            <a:off x="658368" y="640080"/>
            <a:ext cx="10874959" cy="603504"/>
          </a:xfrm>
          <a:prstGeom prst="rect">
            <a:avLst/>
          </a:prstGeom>
          <a:noFill/>
        </p:spPr>
        <p:txBody>
          <a:bodyPr wrap="square" lIns="0" tIns="0" rIns="0" bIns="0" anchor="t">
            <a:spAutoFit/>
          </a:bodyPr>
          <a:lstStyle/>
          <a:p>
            <a:pPr algn="l">
              <a:lnSpc>
                <a:spcPct val="105000"/>
              </a:lnSpc>
            </a:pPr>
            <a:r>
              <a:rPr sz="2500" b="1" i="0">
                <a:solidFill>
                  <a:srgbClr val="0A2540"/>
                </a:solidFill>
                <a:latin typeface="Calibri"/>
              </a:rPr>
              <a:t>NGUỒN BẰNG CHỨNG THEO TỪNG QUY TRÌNH</a:t>
            </a: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 name="TextBox 5"/>
          <p:cNvSpPr txBox="1"/>
          <p:nvPr/>
        </p:nvSpPr>
        <p:spPr>
          <a:xfrm>
            <a:off x="658368" y="1371600"/>
            <a:ext cx="10874959" cy="254237"/>
          </a:xfrm>
          <a:prstGeom prst="rect">
            <a:avLst/>
          </a:prstGeom>
          <a:noFill/>
        </p:spPr>
        <p:txBody>
          <a:bodyPr wrap="square" lIns="0" tIns="0" rIns="0" bIns="0" anchor="t">
            <a:spAutoFit/>
          </a:bodyPr>
          <a:lstStyle/>
          <a:p>
            <a:pPr algn="l">
              <a:lnSpc>
                <a:spcPct val="118000"/>
              </a:lnSpc>
            </a:pPr>
            <a:r>
              <a:rPr sz="1400" b="0" i="1">
                <a:solidFill>
                  <a:srgbClr val="6B7784"/>
                </a:solidFill>
                <a:latin typeface="Calibri"/>
              </a:rPr>
              <a:t>Bảng 3.2 — Nguồn bằng chứng chính phục vụ mô hình hóa 06 quy trình</a:t>
            </a:r>
          </a:p>
        </p:txBody>
      </p:sp>
      <p:sp>
        <p:nvSpPr>
          <p:cNvPr id="7" name="TextBox 6"/>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8" name="TextBox 7"/>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29</a:t>
            </a:r>
          </a:p>
        </p:txBody>
      </p:sp>
      <p:graphicFrame>
        <p:nvGraphicFramePr>
          <p:cNvPr id="9" name="Table 8"/>
          <p:cNvGraphicFramePr>
            <a:graphicFrameLocks noGrp="1"/>
          </p:cNvGraphicFramePr>
          <p:nvPr>
            <p:extLst/>
          </p:nvPr>
        </p:nvGraphicFramePr>
        <p:xfrm>
          <a:off x="658368" y="1847088"/>
          <a:ext cx="10874959" cy="3694176"/>
        </p:xfrm>
        <a:graphic>
          <a:graphicData uri="http://schemas.openxmlformats.org/drawingml/2006/table">
            <a:tbl>
              <a:tblPr firstRow="1">
                <a:tableStyleId>{5C22544A-7EE6-4342-B048-85BDC9FD1C3A}</a:tableStyleId>
              </a:tblPr>
              <a:tblGrid>
                <a:gridCol w="786384">
                  <a:extLst>
                    <a:ext uri="{9D8B030D-6E8A-4147-A177-3AD203B41FA5}">
                      <a16:colId xmlns:a16="http://schemas.microsoft.com/office/drawing/2014/main" val="20000"/>
                    </a:ext>
                  </a:extLst>
                </a:gridCol>
                <a:gridCol w="2633472">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gridCol w="3523183">
                  <a:extLst>
                    <a:ext uri="{9D8B030D-6E8A-4147-A177-3AD203B41FA5}">
                      <a16:colId xmlns:a16="http://schemas.microsoft.com/office/drawing/2014/main" val="20003"/>
                    </a:ext>
                  </a:extLst>
                </a:gridCol>
              </a:tblGrid>
              <a:tr h="402336">
                <a:tc>
                  <a:txBody>
                    <a:bodyPr/>
                    <a:lstStyle/>
                    <a:p>
                      <a:pPr algn="ctr">
                        <a:lnSpc>
                          <a:spcPct val="105000"/>
                        </a:lnSpc>
                      </a:pPr>
                      <a:r>
                        <a:rPr sz="1400" b="1">
                          <a:solidFill>
                            <a:srgbClr val="FFFFFF"/>
                          </a:solidFill>
                          <a:latin typeface="Calibri"/>
                        </a:rPr>
                        <a:t>MÃ</a:t>
                      </a:r>
                    </a:p>
                  </a:txBody>
                  <a:tcPr marL="100584" marR="73152" marT="41148" marB="41148" anchor="ctr">
                    <a:solidFill>
                      <a:srgbClr val="0A2540"/>
                    </a:solidFill>
                  </a:tcPr>
                </a:tc>
                <a:tc>
                  <a:txBody>
                    <a:bodyPr/>
                    <a:lstStyle/>
                    <a:p>
                      <a:pPr algn="ctr">
                        <a:lnSpc>
                          <a:spcPct val="105000"/>
                        </a:lnSpc>
                      </a:pPr>
                      <a:r>
                        <a:rPr sz="1400" b="1">
                          <a:solidFill>
                            <a:srgbClr val="FFFFFF"/>
                          </a:solidFill>
                          <a:latin typeface="Calibri"/>
                        </a:rPr>
                        <a:t>QUY TRÌNH</a:t>
                      </a:r>
                    </a:p>
                  </a:txBody>
                  <a:tcPr marL="100584" marR="73152" marT="41148" marB="41148" anchor="ctr">
                    <a:solidFill>
                      <a:srgbClr val="0A2540"/>
                    </a:solidFill>
                  </a:tcPr>
                </a:tc>
                <a:tc>
                  <a:txBody>
                    <a:bodyPr/>
                    <a:lstStyle/>
                    <a:p>
                      <a:pPr algn="ctr">
                        <a:lnSpc>
                          <a:spcPct val="105000"/>
                        </a:lnSpc>
                      </a:pPr>
                      <a:r>
                        <a:rPr sz="1400" b="1">
                          <a:solidFill>
                            <a:srgbClr val="FFFFFF"/>
                          </a:solidFill>
                          <a:latin typeface="Calibri"/>
                        </a:rPr>
                        <a:t>NGUỒN BẰNG CHỨNG CHÍNH</a:t>
                      </a:r>
                    </a:p>
                  </a:txBody>
                  <a:tcPr marL="100584" marR="73152" marT="41148" marB="41148" anchor="ctr">
                    <a:solidFill>
                      <a:srgbClr val="0A2540"/>
                    </a:solidFill>
                  </a:tcPr>
                </a:tc>
                <a:tc>
                  <a:txBody>
                    <a:bodyPr/>
                    <a:lstStyle/>
                    <a:p>
                      <a:pPr algn="ctr">
                        <a:lnSpc>
                          <a:spcPct val="105000"/>
                        </a:lnSpc>
                      </a:pPr>
                      <a:r>
                        <a:rPr sz="1400" b="1">
                          <a:solidFill>
                            <a:srgbClr val="FFFFFF"/>
                          </a:solidFill>
                          <a:latin typeface="Calibri"/>
                        </a:rPr>
                        <a:t>NỘI DUNG KHAI THÁC</a:t>
                      </a:r>
                    </a:p>
                  </a:txBody>
                  <a:tcPr marL="100584" marR="73152" marT="41148" marB="41148" anchor="ctr">
                    <a:solidFill>
                      <a:srgbClr val="0A2540"/>
                    </a:solidFill>
                  </a:tcPr>
                </a:tc>
                <a:extLst>
                  <a:ext uri="{0D108BD9-81ED-4DB2-BD59-A6C34878D82A}">
                    <a16:rowId xmlns:a16="http://schemas.microsoft.com/office/drawing/2014/main" val="10000"/>
                  </a:ext>
                </a:extLst>
              </a:tr>
              <a:tr h="548640">
                <a:tc>
                  <a:txBody>
                    <a:bodyPr/>
                    <a:lstStyle/>
                    <a:p>
                      <a:pPr algn="ctr">
                        <a:lnSpc>
                          <a:spcPct val="105000"/>
                        </a:lnSpc>
                      </a:pPr>
                      <a:r>
                        <a:rPr sz="1400" b="0">
                          <a:solidFill>
                            <a:srgbClr val="2B3440"/>
                          </a:solidFill>
                          <a:latin typeface="Calibri"/>
                        </a:rPr>
                        <a:t>M01</a:t>
                      </a:r>
                    </a:p>
                  </a:txBody>
                  <a:tcPr marL="100584" marR="73152" marT="41148" marB="41148" anchor="ctr">
                    <a:solidFill>
                      <a:srgbClr val="FFFFFF"/>
                    </a:solidFill>
                  </a:tcPr>
                </a:tc>
                <a:tc>
                  <a:txBody>
                    <a:bodyPr/>
                    <a:lstStyle/>
                    <a:p>
                      <a:pPr algn="l">
                        <a:lnSpc>
                          <a:spcPct val="105000"/>
                        </a:lnSpc>
                      </a:pPr>
                      <a:r>
                        <a:rPr sz="1400" b="0">
                          <a:solidFill>
                            <a:srgbClr val="2B3440"/>
                          </a:solidFill>
                          <a:latin typeface="Calibri"/>
                        </a:rPr>
                        <a:t>Business Planning</a:t>
                      </a:r>
                    </a:p>
                  </a:txBody>
                  <a:tcPr marL="100584" marR="73152" marT="41148" marB="41148" anchor="ctr">
                    <a:solidFill>
                      <a:srgbClr val="FFFFFF"/>
                    </a:solidFill>
                  </a:tcPr>
                </a:tc>
                <a:tc>
                  <a:txBody>
                    <a:bodyPr/>
                    <a:lstStyle/>
                    <a:p>
                      <a:pPr algn="l">
                        <a:lnSpc>
                          <a:spcPct val="105000"/>
                        </a:lnSpc>
                      </a:pPr>
                      <a:r>
                        <a:rPr sz="1400" b="0">
                          <a:solidFill>
                            <a:srgbClr val="2B3440"/>
                          </a:solidFill>
                          <a:latin typeface="Calibri"/>
                        </a:rPr>
                        <a:t>Tài liệu chiến lược, Long-Range Plan, sơ đồ tổ chức và thông tin khảo sát</a:t>
                      </a:r>
                    </a:p>
                  </a:txBody>
                  <a:tcPr marL="100584" marR="73152" marT="41148" marB="41148" anchor="ctr">
                    <a:solidFill>
                      <a:srgbClr val="FFFFFF"/>
                    </a:solidFill>
                  </a:tcPr>
                </a:tc>
                <a:tc>
                  <a:txBody>
                    <a:bodyPr/>
                    <a:lstStyle/>
                    <a:p>
                      <a:pPr algn="l">
                        <a:lnSpc>
                          <a:spcPct val="105000"/>
                        </a:lnSpc>
                      </a:pPr>
                      <a:r>
                        <a:rPr sz="1400" b="0">
                          <a:solidFill>
                            <a:srgbClr val="2B3440"/>
                          </a:solidFill>
                          <a:latin typeface="Calibri"/>
                        </a:rPr>
                        <a:t>Mục tiêu, vai trò, lập và triển khai kế hoạch</a:t>
                      </a:r>
                    </a:p>
                  </a:txBody>
                  <a:tcPr marL="100584" marR="73152" marT="41148" marB="41148" anchor="ctr">
                    <a:solidFill>
                      <a:srgbClr val="FFFFFF"/>
                    </a:solidFill>
                  </a:tcPr>
                </a:tc>
                <a:extLst>
                  <a:ext uri="{0D108BD9-81ED-4DB2-BD59-A6C34878D82A}">
                    <a16:rowId xmlns:a16="http://schemas.microsoft.com/office/drawing/2014/main" val="10001"/>
                  </a:ext>
                </a:extLst>
              </a:tr>
              <a:tr h="548640">
                <a:tc>
                  <a:txBody>
                    <a:bodyPr/>
                    <a:lstStyle/>
                    <a:p>
                      <a:pPr algn="ctr">
                        <a:lnSpc>
                          <a:spcPct val="105000"/>
                        </a:lnSpc>
                      </a:pPr>
                      <a:r>
                        <a:rPr sz="1400" b="0">
                          <a:solidFill>
                            <a:srgbClr val="2B3440"/>
                          </a:solidFill>
                          <a:latin typeface="Calibri"/>
                        </a:rPr>
                        <a:t>M02</a:t>
                      </a:r>
                    </a:p>
                  </a:txBody>
                  <a:tcPr marL="100584" marR="73152" marT="41148" marB="41148" anchor="ctr">
                    <a:solidFill>
                      <a:srgbClr val="F4F7FA"/>
                    </a:solidFill>
                  </a:tcPr>
                </a:tc>
                <a:tc>
                  <a:txBody>
                    <a:bodyPr/>
                    <a:lstStyle/>
                    <a:p>
                      <a:pPr algn="l">
                        <a:lnSpc>
                          <a:spcPct val="105000"/>
                        </a:lnSpc>
                      </a:pPr>
                      <a:r>
                        <a:rPr sz="1400" b="0">
                          <a:solidFill>
                            <a:srgbClr val="2B3440"/>
                          </a:solidFill>
                          <a:latin typeface="Calibri"/>
                        </a:rPr>
                        <a:t>Customer Complaint Management</a:t>
                      </a:r>
                    </a:p>
                  </a:txBody>
                  <a:tcPr marL="100584" marR="73152" marT="41148" marB="41148" anchor="ctr">
                    <a:solidFill>
                      <a:srgbClr val="F4F7FA"/>
                    </a:solidFill>
                  </a:tcPr>
                </a:tc>
                <a:tc>
                  <a:txBody>
                    <a:bodyPr/>
                    <a:lstStyle/>
                    <a:p>
                      <a:pPr algn="l">
                        <a:lnSpc>
                          <a:spcPct val="105000"/>
                        </a:lnSpc>
                      </a:pPr>
                      <a:r>
                        <a:rPr sz="1400" b="0">
                          <a:solidFill>
                            <a:srgbClr val="2B3440"/>
                          </a:solidFill>
                          <a:latin typeface="Calibri"/>
                        </a:rPr>
                        <a:t>APAC-SOP-659287;  SOP for CFR – Quality / Service</a:t>
                      </a:r>
                    </a:p>
                  </a:txBody>
                  <a:tcPr marL="100584" marR="73152" marT="41148" marB="41148" anchor="ctr">
                    <a:solidFill>
                      <a:srgbClr val="F4F7FA"/>
                    </a:solidFill>
                  </a:tcPr>
                </a:tc>
                <a:tc>
                  <a:txBody>
                    <a:bodyPr/>
                    <a:lstStyle/>
                    <a:p>
                      <a:pPr algn="l">
                        <a:lnSpc>
                          <a:spcPct val="105000"/>
                        </a:lnSpc>
                      </a:pPr>
                      <a:r>
                        <a:rPr sz="1400" b="0">
                          <a:solidFill>
                            <a:srgbClr val="2B3440"/>
                          </a:solidFill>
                          <a:latin typeface="Calibri"/>
                        </a:rPr>
                        <a:t>Complaint lifecycle, roles, investigation, resolution, closure</a:t>
                      </a:r>
                    </a:p>
                  </a:txBody>
                  <a:tcPr marL="100584" marR="73152" marT="41148" marB="41148" anchor="ctr">
                    <a:solidFill>
                      <a:srgbClr val="F4F7FA"/>
                    </a:solidFill>
                  </a:tcPr>
                </a:tc>
                <a:extLst>
                  <a:ext uri="{0D108BD9-81ED-4DB2-BD59-A6C34878D82A}">
                    <a16:rowId xmlns:a16="http://schemas.microsoft.com/office/drawing/2014/main" val="10002"/>
                  </a:ext>
                </a:extLst>
              </a:tr>
              <a:tr h="548640">
                <a:tc>
                  <a:txBody>
                    <a:bodyPr/>
                    <a:lstStyle/>
                    <a:p>
                      <a:pPr algn="ctr">
                        <a:lnSpc>
                          <a:spcPct val="105000"/>
                        </a:lnSpc>
                      </a:pPr>
                      <a:r>
                        <a:rPr sz="1400" b="0">
                          <a:solidFill>
                            <a:srgbClr val="2B3440"/>
                          </a:solidFill>
                          <a:latin typeface="Calibri"/>
                        </a:rPr>
                        <a:t>C02</a:t>
                      </a:r>
                    </a:p>
                  </a:txBody>
                  <a:tcPr marL="100584" marR="73152" marT="41148" marB="41148" anchor="ctr">
                    <a:solidFill>
                      <a:srgbClr val="FFFFFF"/>
                    </a:solidFill>
                  </a:tcPr>
                </a:tc>
                <a:tc>
                  <a:txBody>
                    <a:bodyPr/>
                    <a:lstStyle/>
                    <a:p>
                      <a:pPr algn="l">
                        <a:lnSpc>
                          <a:spcPct val="105000"/>
                        </a:lnSpc>
                      </a:pPr>
                      <a:r>
                        <a:rPr sz="1400" b="0">
                          <a:solidFill>
                            <a:srgbClr val="2B3440"/>
                          </a:solidFill>
                          <a:latin typeface="Calibri"/>
                        </a:rPr>
                        <a:t>Order Management (Order-to-Cash)</a:t>
                      </a:r>
                    </a:p>
                  </a:txBody>
                  <a:tcPr marL="100584" marR="73152" marT="41148" marB="41148" anchor="ctr">
                    <a:solidFill>
                      <a:srgbClr val="FFFFFF"/>
                    </a:solidFill>
                  </a:tcPr>
                </a:tc>
                <a:tc>
                  <a:txBody>
                    <a:bodyPr/>
                    <a:lstStyle/>
                    <a:p>
                      <a:pPr algn="l">
                        <a:lnSpc>
                          <a:spcPct val="105000"/>
                        </a:lnSpc>
                      </a:pPr>
                      <a:r>
                        <a:rPr sz="1400" b="0">
                          <a:solidFill>
                            <a:srgbClr val="2B3440"/>
                          </a:solidFill>
                          <a:latin typeface="Calibri"/>
                        </a:rPr>
                        <a:t>OTC201 – OTC Overview;  OTC344 – Create Sales Orders</a:t>
                      </a:r>
                    </a:p>
                  </a:txBody>
                  <a:tcPr marL="100584" marR="73152" marT="41148" marB="41148" anchor="ctr">
                    <a:solidFill>
                      <a:srgbClr val="FFFFFF"/>
                    </a:solidFill>
                  </a:tcPr>
                </a:tc>
                <a:tc>
                  <a:txBody>
                    <a:bodyPr/>
                    <a:lstStyle/>
                    <a:p>
                      <a:pPr algn="l">
                        <a:lnSpc>
                          <a:spcPct val="105000"/>
                        </a:lnSpc>
                      </a:pPr>
                      <a:r>
                        <a:rPr sz="1400" b="0">
                          <a:solidFill>
                            <a:srgbClr val="2B3440"/>
                          </a:solidFill>
                          <a:latin typeface="Calibri"/>
                        </a:rPr>
                        <a:t>Order Management, Sales Order và luồng xử lý đơn hàng</a:t>
                      </a:r>
                    </a:p>
                  </a:txBody>
                  <a:tcPr marL="100584" marR="73152" marT="41148" marB="41148" anchor="ctr">
                    <a:solidFill>
                      <a:srgbClr val="FFFFFF"/>
                    </a:solidFill>
                  </a:tcPr>
                </a:tc>
                <a:extLst>
                  <a:ext uri="{0D108BD9-81ED-4DB2-BD59-A6C34878D82A}">
                    <a16:rowId xmlns:a16="http://schemas.microsoft.com/office/drawing/2014/main" val="10003"/>
                  </a:ext>
                </a:extLst>
              </a:tr>
              <a:tr h="548640">
                <a:tc>
                  <a:txBody>
                    <a:bodyPr/>
                    <a:lstStyle/>
                    <a:p>
                      <a:pPr algn="ctr">
                        <a:lnSpc>
                          <a:spcPct val="105000"/>
                        </a:lnSpc>
                      </a:pPr>
                      <a:r>
                        <a:rPr sz="1400" b="0">
                          <a:solidFill>
                            <a:srgbClr val="2B3440"/>
                          </a:solidFill>
                          <a:latin typeface="Calibri"/>
                        </a:rPr>
                        <a:t>C03</a:t>
                      </a:r>
                    </a:p>
                  </a:txBody>
                  <a:tcPr marL="100584" marR="73152" marT="41148" marB="41148" anchor="ctr">
                    <a:solidFill>
                      <a:srgbClr val="F4F7FA"/>
                    </a:solidFill>
                  </a:tcPr>
                </a:tc>
                <a:tc>
                  <a:txBody>
                    <a:bodyPr/>
                    <a:lstStyle/>
                    <a:p>
                      <a:pPr algn="l">
                        <a:lnSpc>
                          <a:spcPct val="105000"/>
                        </a:lnSpc>
                      </a:pPr>
                      <a:r>
                        <a:rPr sz="1400" b="0">
                          <a:solidFill>
                            <a:srgbClr val="2B3440"/>
                          </a:solidFill>
                          <a:latin typeface="Calibri"/>
                        </a:rPr>
                        <a:t>Service Order Management</a:t>
                      </a:r>
                    </a:p>
                  </a:txBody>
                  <a:tcPr marL="100584" marR="73152" marT="41148" marB="41148" anchor="ctr">
                    <a:solidFill>
                      <a:srgbClr val="F4F7FA"/>
                    </a:solidFill>
                  </a:tcPr>
                </a:tc>
                <a:tc>
                  <a:txBody>
                    <a:bodyPr/>
                    <a:lstStyle/>
                    <a:p>
                      <a:pPr algn="l">
                        <a:lnSpc>
                          <a:spcPct val="105000"/>
                        </a:lnSpc>
                      </a:pPr>
                      <a:r>
                        <a:rPr sz="1400" b="0">
                          <a:solidFill>
                            <a:srgbClr val="2B3440"/>
                          </a:solidFill>
                          <a:latin typeface="Calibri"/>
                        </a:rPr>
                        <a:t>OTC350 – Introduction to CRM-Service;  OTC352 – Repair Orders</a:t>
                      </a:r>
                    </a:p>
                  </a:txBody>
                  <a:tcPr marL="100584" marR="73152" marT="41148" marB="41148" anchor="ctr">
                    <a:solidFill>
                      <a:srgbClr val="F4F7FA"/>
                    </a:solidFill>
                  </a:tcPr>
                </a:tc>
                <a:tc>
                  <a:txBody>
                    <a:bodyPr/>
                    <a:lstStyle/>
                    <a:p>
                      <a:pPr algn="l">
                        <a:lnSpc>
                          <a:spcPct val="105000"/>
                        </a:lnSpc>
                      </a:pPr>
                      <a:r>
                        <a:rPr sz="1400" b="0" dirty="0">
                          <a:solidFill>
                            <a:srgbClr val="2B3440"/>
                          </a:solidFill>
                          <a:latin typeface="Calibri"/>
                        </a:rPr>
                        <a:t>Service request, Repair / Service Order, quotation, completion</a:t>
                      </a:r>
                    </a:p>
                  </a:txBody>
                  <a:tcPr marL="100584" marR="73152" marT="41148" marB="41148" anchor="ctr">
                    <a:solidFill>
                      <a:srgbClr val="F4F7FA"/>
                    </a:solidFill>
                  </a:tcPr>
                </a:tc>
                <a:extLst>
                  <a:ext uri="{0D108BD9-81ED-4DB2-BD59-A6C34878D82A}">
                    <a16:rowId xmlns:a16="http://schemas.microsoft.com/office/drawing/2014/main" val="10004"/>
                  </a:ext>
                </a:extLst>
              </a:tr>
              <a:tr h="548640">
                <a:tc>
                  <a:txBody>
                    <a:bodyPr/>
                    <a:lstStyle/>
                    <a:p>
                      <a:pPr algn="ctr">
                        <a:lnSpc>
                          <a:spcPct val="105000"/>
                        </a:lnSpc>
                      </a:pPr>
                      <a:r>
                        <a:rPr sz="1400" b="0">
                          <a:solidFill>
                            <a:srgbClr val="2B3440"/>
                          </a:solidFill>
                          <a:latin typeface="Calibri"/>
                        </a:rPr>
                        <a:t>S01</a:t>
                      </a:r>
                    </a:p>
                  </a:txBody>
                  <a:tcPr marL="100584" marR="73152" marT="41148" marB="41148" anchor="ctr">
                    <a:solidFill>
                      <a:srgbClr val="FFFFFF"/>
                    </a:solidFill>
                  </a:tcPr>
                </a:tc>
                <a:tc>
                  <a:txBody>
                    <a:bodyPr/>
                    <a:lstStyle/>
                    <a:p>
                      <a:pPr algn="l">
                        <a:lnSpc>
                          <a:spcPct val="105000"/>
                        </a:lnSpc>
                      </a:pPr>
                      <a:r>
                        <a:rPr sz="1400" b="0">
                          <a:solidFill>
                            <a:srgbClr val="2B3440"/>
                          </a:solidFill>
                          <a:latin typeface="Calibri"/>
                        </a:rPr>
                        <a:t>Procurement Management</a:t>
                      </a:r>
                    </a:p>
                  </a:txBody>
                  <a:tcPr marL="100584" marR="73152" marT="41148" marB="41148" anchor="ctr">
                    <a:solidFill>
                      <a:srgbClr val="FFFFFF"/>
                    </a:solidFill>
                  </a:tcPr>
                </a:tc>
                <a:tc>
                  <a:txBody>
                    <a:bodyPr/>
                    <a:lstStyle/>
                    <a:p>
                      <a:pPr algn="l">
                        <a:lnSpc>
                          <a:spcPct val="105000"/>
                        </a:lnSpc>
                      </a:pPr>
                      <a:r>
                        <a:rPr sz="1400" b="0">
                          <a:solidFill>
                            <a:srgbClr val="2B3440"/>
                          </a:solidFill>
                          <a:latin typeface="Calibri"/>
                        </a:rPr>
                        <a:t>W4_STP – Procurement End User</a:t>
                      </a:r>
                    </a:p>
                  </a:txBody>
                  <a:tcPr marL="100584" marR="73152" marT="41148" marB="41148" anchor="ctr">
                    <a:solidFill>
                      <a:srgbClr val="FFFFFF"/>
                    </a:solidFill>
                  </a:tcPr>
                </a:tc>
                <a:tc>
                  <a:txBody>
                    <a:bodyPr/>
                    <a:lstStyle/>
                    <a:p>
                      <a:pPr algn="l">
                        <a:lnSpc>
                          <a:spcPct val="105000"/>
                        </a:lnSpc>
                      </a:pPr>
                      <a:r>
                        <a:rPr sz="1400" b="0">
                          <a:solidFill>
                            <a:srgbClr val="2B3440"/>
                          </a:solidFill>
                          <a:latin typeface="Calibri"/>
                        </a:rPr>
                        <a:t>PR, Approval, PO, acknowledgement và cung ứng</a:t>
                      </a:r>
                    </a:p>
                  </a:txBody>
                  <a:tcPr marL="100584" marR="73152" marT="41148" marB="41148" anchor="ctr">
                    <a:solidFill>
                      <a:srgbClr val="FFFFFF"/>
                    </a:solidFill>
                  </a:tcPr>
                </a:tc>
                <a:extLst>
                  <a:ext uri="{0D108BD9-81ED-4DB2-BD59-A6C34878D82A}">
                    <a16:rowId xmlns:a16="http://schemas.microsoft.com/office/drawing/2014/main" val="10005"/>
                  </a:ext>
                </a:extLst>
              </a:tr>
              <a:tr h="548640">
                <a:tc>
                  <a:txBody>
                    <a:bodyPr/>
                    <a:lstStyle/>
                    <a:p>
                      <a:pPr algn="ctr">
                        <a:lnSpc>
                          <a:spcPct val="105000"/>
                        </a:lnSpc>
                      </a:pPr>
                      <a:r>
                        <a:rPr sz="1400" b="0">
                          <a:solidFill>
                            <a:srgbClr val="2B3440"/>
                          </a:solidFill>
                          <a:latin typeface="Calibri"/>
                        </a:rPr>
                        <a:t>S02</a:t>
                      </a:r>
                    </a:p>
                  </a:txBody>
                  <a:tcPr marL="100584" marR="73152" marT="41148" marB="41148" anchor="ctr">
                    <a:solidFill>
                      <a:srgbClr val="F4F7FA"/>
                    </a:solidFill>
                  </a:tcPr>
                </a:tc>
                <a:tc>
                  <a:txBody>
                    <a:bodyPr/>
                    <a:lstStyle/>
                    <a:p>
                      <a:pPr algn="l">
                        <a:lnSpc>
                          <a:spcPct val="105000"/>
                        </a:lnSpc>
                      </a:pPr>
                      <a:r>
                        <a:rPr sz="1400" b="0">
                          <a:solidFill>
                            <a:srgbClr val="2B3440"/>
                          </a:solidFill>
                          <a:latin typeface="Calibri"/>
                        </a:rPr>
                        <a:t>Inbound Processing</a:t>
                      </a:r>
                    </a:p>
                  </a:txBody>
                  <a:tcPr marL="100584" marR="73152" marT="41148" marB="41148" anchor="ctr">
                    <a:solidFill>
                      <a:srgbClr val="F4F7FA"/>
                    </a:solidFill>
                  </a:tcPr>
                </a:tc>
                <a:tc>
                  <a:txBody>
                    <a:bodyPr/>
                    <a:lstStyle/>
                    <a:p>
                      <a:pPr algn="l">
                        <a:lnSpc>
                          <a:spcPct val="105000"/>
                        </a:lnSpc>
                      </a:pPr>
                      <a:r>
                        <a:rPr sz="1400" b="0">
                          <a:solidFill>
                            <a:srgbClr val="2B3440"/>
                          </a:solidFill>
                          <a:latin typeface="Calibri"/>
                        </a:rPr>
                        <a:t>LEX370 – Inbound Processing</a:t>
                      </a:r>
                    </a:p>
                  </a:txBody>
                  <a:tcPr marL="100584" marR="73152" marT="41148" marB="41148" anchor="ctr">
                    <a:solidFill>
                      <a:srgbClr val="F4F7FA"/>
                    </a:solidFill>
                  </a:tcPr>
                </a:tc>
                <a:tc>
                  <a:txBody>
                    <a:bodyPr/>
                    <a:lstStyle/>
                    <a:p>
                      <a:pPr algn="l">
                        <a:lnSpc>
                          <a:spcPct val="105000"/>
                        </a:lnSpc>
                      </a:pPr>
                      <a:r>
                        <a:rPr sz="1400" b="0" dirty="0">
                          <a:solidFill>
                            <a:srgbClr val="2B3440"/>
                          </a:solidFill>
                          <a:latin typeface="Calibri"/>
                        </a:rPr>
                        <a:t>PO, Inbound Delivery, Goods Receipt </a:t>
                      </a:r>
                      <a:r>
                        <a:rPr sz="1400" b="0" dirty="0" err="1">
                          <a:solidFill>
                            <a:srgbClr val="2B3440"/>
                          </a:solidFill>
                          <a:latin typeface="Calibri"/>
                        </a:rPr>
                        <a:t>và</a:t>
                      </a:r>
                      <a:r>
                        <a:rPr sz="1400" b="0" dirty="0">
                          <a:solidFill>
                            <a:srgbClr val="2B3440"/>
                          </a:solidFill>
                          <a:latin typeface="Calibri"/>
                        </a:rPr>
                        <a:t> SAP EWM</a:t>
                      </a:r>
                    </a:p>
                  </a:txBody>
                  <a:tcPr marL="100584" marR="73152" marT="41148" marB="41148" anchor="ctr">
                    <a:solidFill>
                      <a:srgbClr val="F4F7FA"/>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0591373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CHƯƠNG 3 · 3.3.2 PHỎNG VẤN</a:t>
            </a:r>
          </a:p>
        </p:txBody>
      </p:sp>
      <p:sp>
        <p:nvSpPr>
          <p:cNvPr id="3" name="TextBox 2"/>
          <p:cNvSpPr txBox="1"/>
          <p:nvPr/>
        </p:nvSpPr>
        <p:spPr>
          <a:xfrm>
            <a:off x="658368" y="640080"/>
            <a:ext cx="10874959" cy="603504"/>
          </a:xfrm>
          <a:prstGeom prst="rect">
            <a:avLst/>
          </a:prstGeom>
          <a:noFill/>
        </p:spPr>
        <p:txBody>
          <a:bodyPr wrap="square" lIns="0" tIns="0" rIns="0" bIns="0" anchor="t">
            <a:spAutoFit/>
          </a:bodyPr>
          <a:lstStyle/>
          <a:p>
            <a:pPr algn="l">
              <a:lnSpc>
                <a:spcPct val="105000"/>
              </a:lnSpc>
            </a:pPr>
            <a:r>
              <a:rPr sz="2500" b="1" i="0">
                <a:solidFill>
                  <a:srgbClr val="0A2540"/>
                </a:solidFill>
                <a:latin typeface="Calibri"/>
              </a:rPr>
              <a:t>ĐỐI TƯỢNG KHẢO SÁT THEO TỪNG QUY TRÌNH</a:t>
            </a: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 name="TextBox 5"/>
          <p:cNvSpPr txBox="1"/>
          <p:nvPr/>
        </p:nvSpPr>
        <p:spPr>
          <a:xfrm>
            <a:off x="658368" y="1371600"/>
            <a:ext cx="10874959" cy="254237"/>
          </a:xfrm>
          <a:prstGeom prst="rect">
            <a:avLst/>
          </a:prstGeom>
          <a:noFill/>
        </p:spPr>
        <p:txBody>
          <a:bodyPr wrap="square" lIns="0" tIns="0" rIns="0" bIns="0" anchor="t">
            <a:spAutoFit/>
          </a:bodyPr>
          <a:lstStyle/>
          <a:p>
            <a:pPr algn="l">
              <a:lnSpc>
                <a:spcPct val="118000"/>
              </a:lnSpc>
            </a:pPr>
            <a:r>
              <a:rPr sz="1400" b="0" i="1">
                <a:solidFill>
                  <a:srgbClr val="6B7784"/>
                </a:solidFill>
                <a:latin typeface="Calibri"/>
              </a:rPr>
              <a:t>Bảng 3.3 — Đối tượng cần thu thập và xác minh thông tin</a:t>
            </a:r>
          </a:p>
        </p:txBody>
      </p:sp>
      <p:sp>
        <p:nvSpPr>
          <p:cNvPr id="7" name="TextBox 6"/>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8" name="TextBox 7"/>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30</a:t>
            </a:r>
          </a:p>
        </p:txBody>
      </p:sp>
      <p:graphicFrame>
        <p:nvGraphicFramePr>
          <p:cNvPr id="9" name="Table 8"/>
          <p:cNvGraphicFramePr>
            <a:graphicFrameLocks noGrp="1"/>
          </p:cNvGraphicFramePr>
          <p:nvPr>
            <p:extLst/>
          </p:nvPr>
        </p:nvGraphicFramePr>
        <p:xfrm>
          <a:off x="658368" y="1847088"/>
          <a:ext cx="10874959" cy="3474720"/>
        </p:xfrm>
        <a:graphic>
          <a:graphicData uri="http://schemas.openxmlformats.org/drawingml/2006/table">
            <a:tbl>
              <a:tblPr firstRow="1">
                <a:tableStyleId>{5C22544A-7EE6-4342-B048-85BDC9FD1C3A}</a:tableStyleId>
              </a:tblPr>
              <a:tblGrid>
                <a:gridCol w="786384">
                  <a:extLst>
                    <a:ext uri="{9D8B030D-6E8A-4147-A177-3AD203B41FA5}">
                      <a16:colId xmlns:a16="http://schemas.microsoft.com/office/drawing/2014/main" val="20000"/>
                    </a:ext>
                  </a:extLst>
                </a:gridCol>
                <a:gridCol w="2633472">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gridCol w="3523183">
                  <a:extLst>
                    <a:ext uri="{9D8B030D-6E8A-4147-A177-3AD203B41FA5}">
                      <a16:colId xmlns:a16="http://schemas.microsoft.com/office/drawing/2014/main" val="20003"/>
                    </a:ext>
                  </a:extLst>
                </a:gridCol>
              </a:tblGrid>
              <a:tr h="402336">
                <a:tc>
                  <a:txBody>
                    <a:bodyPr/>
                    <a:lstStyle/>
                    <a:p>
                      <a:pPr algn="ctr">
                        <a:lnSpc>
                          <a:spcPct val="105000"/>
                        </a:lnSpc>
                      </a:pPr>
                      <a:r>
                        <a:rPr sz="1400" b="1" dirty="0">
                          <a:solidFill>
                            <a:srgbClr val="FFFFFF"/>
                          </a:solidFill>
                          <a:latin typeface="Calibri"/>
                        </a:rPr>
                        <a:t>MÃ</a:t>
                      </a:r>
                    </a:p>
                  </a:txBody>
                  <a:tcPr marL="100584" marR="73152" marT="41148" marB="41148" anchor="ctr">
                    <a:solidFill>
                      <a:srgbClr val="0A2540"/>
                    </a:solidFill>
                  </a:tcPr>
                </a:tc>
                <a:tc>
                  <a:txBody>
                    <a:bodyPr/>
                    <a:lstStyle/>
                    <a:p>
                      <a:pPr algn="ctr">
                        <a:lnSpc>
                          <a:spcPct val="105000"/>
                        </a:lnSpc>
                      </a:pPr>
                      <a:r>
                        <a:rPr sz="1400" b="1">
                          <a:solidFill>
                            <a:srgbClr val="FFFFFF"/>
                          </a:solidFill>
                          <a:latin typeface="Calibri"/>
                        </a:rPr>
                        <a:t>QUY TRÌNH</a:t>
                      </a:r>
                    </a:p>
                  </a:txBody>
                  <a:tcPr marL="100584" marR="73152" marT="41148" marB="41148" anchor="ctr">
                    <a:solidFill>
                      <a:srgbClr val="0A2540"/>
                    </a:solidFill>
                  </a:tcPr>
                </a:tc>
                <a:tc>
                  <a:txBody>
                    <a:bodyPr/>
                    <a:lstStyle/>
                    <a:p>
                      <a:pPr algn="ctr">
                        <a:lnSpc>
                          <a:spcPct val="105000"/>
                        </a:lnSpc>
                      </a:pPr>
                      <a:r>
                        <a:rPr sz="1400" b="1">
                          <a:solidFill>
                            <a:srgbClr val="FFFFFF"/>
                          </a:solidFill>
                          <a:latin typeface="Calibri"/>
                        </a:rPr>
                        <a:t>ĐỐI TƯỢNG / VAI TRÒ LIÊN QUAN</a:t>
                      </a:r>
                    </a:p>
                  </a:txBody>
                  <a:tcPr marL="100584" marR="73152" marT="41148" marB="41148" anchor="ctr">
                    <a:solidFill>
                      <a:srgbClr val="0A2540"/>
                    </a:solidFill>
                  </a:tcPr>
                </a:tc>
                <a:tc>
                  <a:txBody>
                    <a:bodyPr/>
                    <a:lstStyle/>
                    <a:p>
                      <a:pPr algn="ctr">
                        <a:lnSpc>
                          <a:spcPct val="105000"/>
                        </a:lnSpc>
                      </a:pPr>
                      <a:r>
                        <a:rPr sz="1400" b="1">
                          <a:solidFill>
                            <a:srgbClr val="FFFFFF"/>
                          </a:solidFill>
                          <a:latin typeface="Calibri"/>
                        </a:rPr>
                        <a:t>NỘI DUNG CẦN XÁC MINH</a:t>
                      </a:r>
                    </a:p>
                  </a:txBody>
                  <a:tcPr marL="100584" marR="73152" marT="41148" marB="41148" anchor="ctr">
                    <a:solidFill>
                      <a:srgbClr val="0A2540"/>
                    </a:solidFill>
                  </a:tcPr>
                </a:tc>
                <a:extLst>
                  <a:ext uri="{0D108BD9-81ED-4DB2-BD59-A6C34878D82A}">
                    <a16:rowId xmlns:a16="http://schemas.microsoft.com/office/drawing/2014/main" val="10000"/>
                  </a:ext>
                </a:extLst>
              </a:tr>
              <a:tr h="493776">
                <a:tc>
                  <a:txBody>
                    <a:bodyPr/>
                    <a:lstStyle/>
                    <a:p>
                      <a:pPr algn="ctr">
                        <a:lnSpc>
                          <a:spcPct val="105000"/>
                        </a:lnSpc>
                      </a:pPr>
                      <a:r>
                        <a:rPr sz="1400" b="0">
                          <a:solidFill>
                            <a:srgbClr val="2B3440"/>
                          </a:solidFill>
                          <a:latin typeface="Calibri"/>
                        </a:rPr>
                        <a:t>M01</a:t>
                      </a:r>
                    </a:p>
                  </a:txBody>
                  <a:tcPr marL="100584" marR="73152" marT="41148" marB="41148" anchor="ctr">
                    <a:solidFill>
                      <a:srgbClr val="FFFFFF"/>
                    </a:solidFill>
                  </a:tcPr>
                </a:tc>
                <a:tc>
                  <a:txBody>
                    <a:bodyPr/>
                    <a:lstStyle/>
                    <a:p>
                      <a:pPr algn="l">
                        <a:lnSpc>
                          <a:spcPct val="105000"/>
                        </a:lnSpc>
                      </a:pPr>
                      <a:r>
                        <a:rPr sz="1400" b="0">
                          <a:solidFill>
                            <a:srgbClr val="2B3440"/>
                          </a:solidFill>
                          <a:latin typeface="Calibri"/>
                        </a:rPr>
                        <a:t>Business Planning</a:t>
                      </a:r>
                    </a:p>
                  </a:txBody>
                  <a:tcPr marL="100584" marR="73152" marT="41148" marB="41148" anchor="ctr">
                    <a:solidFill>
                      <a:srgbClr val="FFFFFF"/>
                    </a:solidFill>
                  </a:tcPr>
                </a:tc>
                <a:tc>
                  <a:txBody>
                    <a:bodyPr/>
                    <a:lstStyle/>
                    <a:p>
                      <a:pPr algn="l">
                        <a:lnSpc>
                          <a:spcPct val="105000"/>
                        </a:lnSpc>
                      </a:pPr>
                      <a:r>
                        <a:rPr sz="1400" b="0">
                          <a:solidFill>
                            <a:srgbClr val="2B3440"/>
                          </a:solidFill>
                          <a:latin typeface="Calibri"/>
                        </a:rPr>
                        <a:t>Management và các bộ phận chức năng</a:t>
                      </a:r>
                    </a:p>
                  </a:txBody>
                  <a:tcPr marL="100584" marR="73152" marT="41148" marB="41148" anchor="ctr">
                    <a:solidFill>
                      <a:srgbClr val="FFFFFF"/>
                    </a:solidFill>
                  </a:tcPr>
                </a:tc>
                <a:tc>
                  <a:txBody>
                    <a:bodyPr/>
                    <a:lstStyle/>
                    <a:p>
                      <a:pPr algn="l">
                        <a:lnSpc>
                          <a:spcPct val="105000"/>
                        </a:lnSpc>
                      </a:pPr>
                      <a:r>
                        <a:rPr sz="1400" b="0">
                          <a:solidFill>
                            <a:srgbClr val="2B3440"/>
                          </a:solidFill>
                          <a:latin typeface="Calibri"/>
                        </a:rPr>
                        <a:t>Lập kế hoạch, phê duyệt và triển khai</a:t>
                      </a:r>
                    </a:p>
                  </a:txBody>
                  <a:tcPr marL="100584" marR="73152" marT="41148" marB="41148" anchor="ctr">
                    <a:solidFill>
                      <a:srgbClr val="FFFFFF"/>
                    </a:solidFill>
                  </a:tcPr>
                </a:tc>
                <a:extLst>
                  <a:ext uri="{0D108BD9-81ED-4DB2-BD59-A6C34878D82A}">
                    <a16:rowId xmlns:a16="http://schemas.microsoft.com/office/drawing/2014/main" val="10001"/>
                  </a:ext>
                </a:extLst>
              </a:tr>
              <a:tr h="493776">
                <a:tc>
                  <a:txBody>
                    <a:bodyPr/>
                    <a:lstStyle/>
                    <a:p>
                      <a:pPr algn="ctr">
                        <a:lnSpc>
                          <a:spcPct val="105000"/>
                        </a:lnSpc>
                      </a:pPr>
                      <a:r>
                        <a:rPr sz="1400" b="0">
                          <a:solidFill>
                            <a:srgbClr val="2B3440"/>
                          </a:solidFill>
                          <a:latin typeface="Calibri"/>
                        </a:rPr>
                        <a:t>M02</a:t>
                      </a:r>
                    </a:p>
                  </a:txBody>
                  <a:tcPr marL="100584" marR="73152" marT="41148" marB="41148" anchor="ctr">
                    <a:solidFill>
                      <a:srgbClr val="F4F7FA"/>
                    </a:solidFill>
                  </a:tcPr>
                </a:tc>
                <a:tc>
                  <a:txBody>
                    <a:bodyPr/>
                    <a:lstStyle/>
                    <a:p>
                      <a:pPr algn="l">
                        <a:lnSpc>
                          <a:spcPct val="105000"/>
                        </a:lnSpc>
                      </a:pPr>
                      <a:r>
                        <a:rPr sz="1400" b="0">
                          <a:solidFill>
                            <a:srgbClr val="2B3440"/>
                          </a:solidFill>
                          <a:latin typeface="Calibri"/>
                        </a:rPr>
                        <a:t>Customer Complaint Management</a:t>
                      </a:r>
                    </a:p>
                  </a:txBody>
                  <a:tcPr marL="100584" marR="73152" marT="41148" marB="41148" anchor="ctr">
                    <a:solidFill>
                      <a:srgbClr val="F4F7FA"/>
                    </a:solidFill>
                  </a:tcPr>
                </a:tc>
                <a:tc>
                  <a:txBody>
                    <a:bodyPr/>
                    <a:lstStyle/>
                    <a:p>
                      <a:pPr algn="l">
                        <a:lnSpc>
                          <a:spcPct val="105000"/>
                        </a:lnSpc>
                      </a:pPr>
                      <a:r>
                        <a:rPr sz="1400" b="0">
                          <a:solidFill>
                            <a:srgbClr val="2B3440"/>
                          </a:solidFill>
                          <a:latin typeface="Calibri"/>
                        </a:rPr>
                        <a:t>CIR Team, Complaint Coordinator, Resolution Owner</a:t>
                      </a:r>
                    </a:p>
                  </a:txBody>
                  <a:tcPr marL="100584" marR="73152" marT="41148" marB="41148" anchor="ctr">
                    <a:solidFill>
                      <a:srgbClr val="F4F7FA"/>
                    </a:solidFill>
                  </a:tcPr>
                </a:tc>
                <a:tc>
                  <a:txBody>
                    <a:bodyPr/>
                    <a:lstStyle/>
                    <a:p>
                      <a:pPr algn="l">
                        <a:lnSpc>
                          <a:spcPct val="105000"/>
                        </a:lnSpc>
                      </a:pPr>
                      <a:r>
                        <a:rPr sz="1400" b="0">
                          <a:solidFill>
                            <a:srgbClr val="2B3440"/>
                          </a:solidFill>
                          <a:latin typeface="Calibri"/>
                        </a:rPr>
                        <a:t>Tiếp nhận, đánh giá, điều tra, xử lý và đóng complaint</a:t>
                      </a:r>
                    </a:p>
                  </a:txBody>
                  <a:tcPr marL="100584" marR="73152" marT="41148" marB="41148" anchor="ctr">
                    <a:solidFill>
                      <a:srgbClr val="F4F7FA"/>
                    </a:solidFill>
                  </a:tcPr>
                </a:tc>
                <a:extLst>
                  <a:ext uri="{0D108BD9-81ED-4DB2-BD59-A6C34878D82A}">
                    <a16:rowId xmlns:a16="http://schemas.microsoft.com/office/drawing/2014/main" val="10002"/>
                  </a:ext>
                </a:extLst>
              </a:tr>
              <a:tr h="493776">
                <a:tc>
                  <a:txBody>
                    <a:bodyPr/>
                    <a:lstStyle/>
                    <a:p>
                      <a:pPr algn="ctr">
                        <a:lnSpc>
                          <a:spcPct val="105000"/>
                        </a:lnSpc>
                      </a:pPr>
                      <a:r>
                        <a:rPr sz="1400" b="0">
                          <a:solidFill>
                            <a:srgbClr val="2B3440"/>
                          </a:solidFill>
                          <a:latin typeface="Calibri"/>
                        </a:rPr>
                        <a:t>C02</a:t>
                      </a:r>
                    </a:p>
                  </a:txBody>
                  <a:tcPr marL="100584" marR="73152" marT="41148" marB="41148" anchor="ctr">
                    <a:solidFill>
                      <a:srgbClr val="FFFFFF"/>
                    </a:solidFill>
                  </a:tcPr>
                </a:tc>
                <a:tc>
                  <a:txBody>
                    <a:bodyPr/>
                    <a:lstStyle/>
                    <a:p>
                      <a:pPr algn="l">
                        <a:lnSpc>
                          <a:spcPct val="105000"/>
                        </a:lnSpc>
                      </a:pPr>
                      <a:r>
                        <a:rPr sz="1400" b="0">
                          <a:solidFill>
                            <a:srgbClr val="2B3440"/>
                          </a:solidFill>
                          <a:latin typeface="Calibri"/>
                        </a:rPr>
                        <a:t>Order Management</a:t>
                      </a:r>
                    </a:p>
                  </a:txBody>
                  <a:tcPr marL="100584" marR="73152" marT="41148" marB="41148" anchor="ctr">
                    <a:solidFill>
                      <a:srgbClr val="FFFFFF"/>
                    </a:solidFill>
                  </a:tcPr>
                </a:tc>
                <a:tc>
                  <a:txBody>
                    <a:bodyPr/>
                    <a:lstStyle/>
                    <a:p>
                      <a:pPr algn="l">
                        <a:lnSpc>
                          <a:spcPct val="105000"/>
                        </a:lnSpc>
                      </a:pPr>
                      <a:r>
                        <a:rPr sz="1400" b="0">
                          <a:solidFill>
                            <a:srgbClr val="2B3440"/>
                          </a:solidFill>
                          <a:latin typeface="Calibri"/>
                        </a:rPr>
                        <a:t>Sales / Customer Service và các bên liên quan</a:t>
                      </a:r>
                    </a:p>
                  </a:txBody>
                  <a:tcPr marL="100584" marR="73152" marT="41148" marB="41148" anchor="ctr">
                    <a:solidFill>
                      <a:srgbClr val="FFFFFF"/>
                    </a:solidFill>
                  </a:tcPr>
                </a:tc>
                <a:tc>
                  <a:txBody>
                    <a:bodyPr/>
                    <a:lstStyle/>
                    <a:p>
                      <a:pPr algn="l">
                        <a:lnSpc>
                          <a:spcPct val="105000"/>
                        </a:lnSpc>
                      </a:pPr>
                      <a:r>
                        <a:rPr sz="1400" b="0">
                          <a:solidFill>
                            <a:srgbClr val="2B3440"/>
                          </a:solidFill>
                          <a:latin typeface="Calibri"/>
                        </a:rPr>
                        <a:t>Sales Order và luồng xử lý đơn hàng</a:t>
                      </a:r>
                    </a:p>
                  </a:txBody>
                  <a:tcPr marL="100584" marR="73152" marT="41148" marB="41148" anchor="ctr">
                    <a:solidFill>
                      <a:srgbClr val="FFFFFF"/>
                    </a:solidFill>
                  </a:tcPr>
                </a:tc>
                <a:extLst>
                  <a:ext uri="{0D108BD9-81ED-4DB2-BD59-A6C34878D82A}">
                    <a16:rowId xmlns:a16="http://schemas.microsoft.com/office/drawing/2014/main" val="10003"/>
                  </a:ext>
                </a:extLst>
              </a:tr>
              <a:tr h="493776">
                <a:tc>
                  <a:txBody>
                    <a:bodyPr/>
                    <a:lstStyle/>
                    <a:p>
                      <a:pPr algn="ctr">
                        <a:lnSpc>
                          <a:spcPct val="105000"/>
                        </a:lnSpc>
                      </a:pPr>
                      <a:r>
                        <a:rPr sz="1400" b="0">
                          <a:solidFill>
                            <a:srgbClr val="2B3440"/>
                          </a:solidFill>
                          <a:latin typeface="Calibri"/>
                        </a:rPr>
                        <a:t>C03</a:t>
                      </a:r>
                    </a:p>
                  </a:txBody>
                  <a:tcPr marL="100584" marR="73152" marT="41148" marB="41148" anchor="ctr">
                    <a:solidFill>
                      <a:srgbClr val="F4F7FA"/>
                    </a:solidFill>
                  </a:tcPr>
                </a:tc>
                <a:tc>
                  <a:txBody>
                    <a:bodyPr/>
                    <a:lstStyle/>
                    <a:p>
                      <a:pPr algn="l">
                        <a:lnSpc>
                          <a:spcPct val="105000"/>
                        </a:lnSpc>
                      </a:pPr>
                      <a:r>
                        <a:rPr sz="1400" b="0">
                          <a:solidFill>
                            <a:srgbClr val="2B3440"/>
                          </a:solidFill>
                          <a:latin typeface="Calibri"/>
                        </a:rPr>
                        <a:t>Service Order Management</a:t>
                      </a:r>
                    </a:p>
                  </a:txBody>
                  <a:tcPr marL="100584" marR="73152" marT="41148" marB="41148" anchor="ctr">
                    <a:solidFill>
                      <a:srgbClr val="F4F7FA"/>
                    </a:solidFill>
                  </a:tcPr>
                </a:tc>
                <a:tc>
                  <a:txBody>
                    <a:bodyPr/>
                    <a:lstStyle/>
                    <a:p>
                      <a:pPr algn="l">
                        <a:lnSpc>
                          <a:spcPct val="105000"/>
                        </a:lnSpc>
                      </a:pPr>
                      <a:r>
                        <a:rPr sz="1400" b="0">
                          <a:solidFill>
                            <a:srgbClr val="2B3440"/>
                          </a:solidFill>
                          <a:latin typeface="Calibri"/>
                        </a:rPr>
                        <a:t>Service Admin, Technical Service và các bên liên quan</a:t>
                      </a:r>
                    </a:p>
                  </a:txBody>
                  <a:tcPr marL="100584" marR="73152" marT="41148" marB="41148" anchor="ctr">
                    <a:solidFill>
                      <a:srgbClr val="F4F7FA"/>
                    </a:solidFill>
                  </a:tcPr>
                </a:tc>
                <a:tc>
                  <a:txBody>
                    <a:bodyPr/>
                    <a:lstStyle/>
                    <a:p>
                      <a:pPr algn="l">
                        <a:lnSpc>
                          <a:spcPct val="105000"/>
                        </a:lnSpc>
                      </a:pPr>
                      <a:r>
                        <a:rPr sz="1400" b="0">
                          <a:solidFill>
                            <a:srgbClr val="2B3440"/>
                          </a:solidFill>
                          <a:latin typeface="Calibri"/>
                        </a:rPr>
                        <a:t>Service request, quotation, Service Order và completion</a:t>
                      </a:r>
                    </a:p>
                  </a:txBody>
                  <a:tcPr marL="100584" marR="73152" marT="41148" marB="41148" anchor="ctr">
                    <a:solidFill>
                      <a:srgbClr val="F4F7FA"/>
                    </a:solidFill>
                  </a:tcPr>
                </a:tc>
                <a:extLst>
                  <a:ext uri="{0D108BD9-81ED-4DB2-BD59-A6C34878D82A}">
                    <a16:rowId xmlns:a16="http://schemas.microsoft.com/office/drawing/2014/main" val="10004"/>
                  </a:ext>
                </a:extLst>
              </a:tr>
              <a:tr h="493776">
                <a:tc>
                  <a:txBody>
                    <a:bodyPr/>
                    <a:lstStyle/>
                    <a:p>
                      <a:pPr algn="ctr">
                        <a:lnSpc>
                          <a:spcPct val="105000"/>
                        </a:lnSpc>
                      </a:pPr>
                      <a:r>
                        <a:rPr sz="1400" b="0">
                          <a:solidFill>
                            <a:srgbClr val="2B3440"/>
                          </a:solidFill>
                          <a:latin typeface="Calibri"/>
                        </a:rPr>
                        <a:t>S01</a:t>
                      </a:r>
                    </a:p>
                  </a:txBody>
                  <a:tcPr marL="100584" marR="73152" marT="41148" marB="41148" anchor="ctr">
                    <a:solidFill>
                      <a:srgbClr val="FFFFFF"/>
                    </a:solidFill>
                  </a:tcPr>
                </a:tc>
                <a:tc>
                  <a:txBody>
                    <a:bodyPr/>
                    <a:lstStyle/>
                    <a:p>
                      <a:pPr algn="l">
                        <a:lnSpc>
                          <a:spcPct val="105000"/>
                        </a:lnSpc>
                      </a:pPr>
                      <a:r>
                        <a:rPr sz="1400" b="0">
                          <a:solidFill>
                            <a:srgbClr val="2B3440"/>
                          </a:solidFill>
                          <a:latin typeface="Calibri"/>
                        </a:rPr>
                        <a:t>Procurement Management</a:t>
                      </a:r>
                    </a:p>
                  </a:txBody>
                  <a:tcPr marL="100584" marR="73152" marT="41148" marB="41148" anchor="ctr">
                    <a:solidFill>
                      <a:srgbClr val="FFFFFF"/>
                    </a:solidFill>
                  </a:tcPr>
                </a:tc>
                <a:tc>
                  <a:txBody>
                    <a:bodyPr/>
                    <a:lstStyle/>
                    <a:p>
                      <a:pPr algn="l">
                        <a:lnSpc>
                          <a:spcPct val="105000"/>
                        </a:lnSpc>
                      </a:pPr>
                      <a:r>
                        <a:rPr sz="1400" b="0">
                          <a:solidFill>
                            <a:srgbClr val="2B3440"/>
                          </a:solidFill>
                          <a:latin typeface="Calibri"/>
                        </a:rPr>
                        <a:t>Procurement / Buyer và các bên liên quan</a:t>
                      </a:r>
                    </a:p>
                  </a:txBody>
                  <a:tcPr marL="100584" marR="73152" marT="41148" marB="41148" anchor="ctr">
                    <a:solidFill>
                      <a:srgbClr val="FFFFFF"/>
                    </a:solidFill>
                  </a:tcPr>
                </a:tc>
                <a:tc>
                  <a:txBody>
                    <a:bodyPr/>
                    <a:lstStyle/>
                    <a:p>
                      <a:pPr algn="l">
                        <a:lnSpc>
                          <a:spcPct val="105000"/>
                        </a:lnSpc>
                      </a:pPr>
                      <a:r>
                        <a:rPr sz="1400" b="0">
                          <a:solidFill>
                            <a:srgbClr val="2B3440"/>
                          </a:solidFill>
                          <a:latin typeface="Calibri"/>
                        </a:rPr>
                        <a:t>PR, approval, PO và cung ứng</a:t>
                      </a:r>
                    </a:p>
                  </a:txBody>
                  <a:tcPr marL="100584" marR="73152" marT="41148" marB="41148" anchor="ctr">
                    <a:solidFill>
                      <a:srgbClr val="FFFFFF"/>
                    </a:solidFill>
                  </a:tcPr>
                </a:tc>
                <a:extLst>
                  <a:ext uri="{0D108BD9-81ED-4DB2-BD59-A6C34878D82A}">
                    <a16:rowId xmlns:a16="http://schemas.microsoft.com/office/drawing/2014/main" val="10005"/>
                  </a:ext>
                </a:extLst>
              </a:tr>
              <a:tr h="493776">
                <a:tc>
                  <a:txBody>
                    <a:bodyPr/>
                    <a:lstStyle/>
                    <a:p>
                      <a:pPr algn="ctr">
                        <a:lnSpc>
                          <a:spcPct val="105000"/>
                        </a:lnSpc>
                      </a:pPr>
                      <a:r>
                        <a:rPr sz="1400" b="0">
                          <a:solidFill>
                            <a:srgbClr val="2B3440"/>
                          </a:solidFill>
                          <a:latin typeface="Calibri"/>
                        </a:rPr>
                        <a:t>S02</a:t>
                      </a:r>
                    </a:p>
                  </a:txBody>
                  <a:tcPr marL="100584" marR="73152" marT="41148" marB="41148" anchor="ctr">
                    <a:solidFill>
                      <a:srgbClr val="F4F7FA"/>
                    </a:solidFill>
                  </a:tcPr>
                </a:tc>
                <a:tc>
                  <a:txBody>
                    <a:bodyPr/>
                    <a:lstStyle/>
                    <a:p>
                      <a:pPr algn="l">
                        <a:lnSpc>
                          <a:spcPct val="105000"/>
                        </a:lnSpc>
                      </a:pPr>
                      <a:r>
                        <a:rPr sz="1400" b="0">
                          <a:solidFill>
                            <a:srgbClr val="2B3440"/>
                          </a:solidFill>
                          <a:latin typeface="Calibri"/>
                        </a:rPr>
                        <a:t>Inbound Processing</a:t>
                      </a:r>
                    </a:p>
                  </a:txBody>
                  <a:tcPr marL="100584" marR="73152" marT="41148" marB="41148" anchor="ctr">
                    <a:solidFill>
                      <a:srgbClr val="F4F7FA"/>
                    </a:solidFill>
                  </a:tcPr>
                </a:tc>
                <a:tc>
                  <a:txBody>
                    <a:bodyPr/>
                    <a:lstStyle/>
                    <a:p>
                      <a:pPr algn="l">
                        <a:lnSpc>
                          <a:spcPct val="105000"/>
                        </a:lnSpc>
                      </a:pPr>
                      <a:r>
                        <a:rPr sz="1400" b="0">
                          <a:solidFill>
                            <a:srgbClr val="2B3440"/>
                          </a:solidFill>
                          <a:latin typeface="Calibri"/>
                        </a:rPr>
                        <a:t>Warehouse và các bên liên quan</a:t>
                      </a:r>
                    </a:p>
                  </a:txBody>
                  <a:tcPr marL="100584" marR="73152" marT="41148" marB="41148" anchor="ctr">
                    <a:solidFill>
                      <a:srgbClr val="F4F7FA"/>
                    </a:solidFill>
                  </a:tcPr>
                </a:tc>
                <a:tc>
                  <a:txBody>
                    <a:bodyPr/>
                    <a:lstStyle/>
                    <a:p>
                      <a:pPr algn="l">
                        <a:lnSpc>
                          <a:spcPct val="105000"/>
                        </a:lnSpc>
                      </a:pPr>
                      <a:r>
                        <a:rPr sz="1400" b="0" dirty="0">
                          <a:solidFill>
                            <a:srgbClr val="2B3440"/>
                          </a:solidFill>
                          <a:latin typeface="Calibri"/>
                        </a:rPr>
                        <a:t>Inbound Delivery, </a:t>
                      </a:r>
                      <a:r>
                        <a:rPr sz="1400" b="0" dirty="0" err="1">
                          <a:solidFill>
                            <a:srgbClr val="2B3440"/>
                          </a:solidFill>
                          <a:latin typeface="Calibri"/>
                        </a:rPr>
                        <a:t>nhận</a:t>
                      </a:r>
                      <a:r>
                        <a:rPr sz="1400" b="0" dirty="0">
                          <a:solidFill>
                            <a:srgbClr val="2B3440"/>
                          </a:solidFill>
                          <a:latin typeface="Calibri"/>
                        </a:rPr>
                        <a:t> </a:t>
                      </a:r>
                      <a:r>
                        <a:rPr sz="1400" b="0" dirty="0" err="1">
                          <a:solidFill>
                            <a:srgbClr val="2B3440"/>
                          </a:solidFill>
                          <a:latin typeface="Calibri"/>
                        </a:rPr>
                        <a:t>hàng</a:t>
                      </a:r>
                      <a:r>
                        <a:rPr sz="1400" b="0" dirty="0">
                          <a:solidFill>
                            <a:srgbClr val="2B3440"/>
                          </a:solidFill>
                          <a:latin typeface="Calibri"/>
                        </a:rPr>
                        <a:t> </a:t>
                      </a:r>
                      <a:r>
                        <a:rPr sz="1400" b="0" dirty="0" err="1">
                          <a:solidFill>
                            <a:srgbClr val="2B3440"/>
                          </a:solidFill>
                          <a:latin typeface="Calibri"/>
                        </a:rPr>
                        <a:t>và</a:t>
                      </a:r>
                      <a:r>
                        <a:rPr sz="1400" b="0" dirty="0">
                          <a:solidFill>
                            <a:srgbClr val="2B3440"/>
                          </a:solidFill>
                          <a:latin typeface="Calibri"/>
                        </a:rPr>
                        <a:t> Goods Receipt</a:t>
                      </a:r>
                    </a:p>
                  </a:txBody>
                  <a:tcPr marL="100584" marR="73152" marT="41148" marB="41148" anchor="ctr">
                    <a:solidFill>
                      <a:srgbClr val="F4F7FA"/>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5895881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CHƯƠNG 3 · 3.3.3 DANH SÁCH CÂU HỎI PHỎNG VẤN</a:t>
            </a:r>
          </a:p>
        </p:txBody>
      </p:sp>
      <p:sp>
        <p:nvSpPr>
          <p:cNvPr id="3" name="TextBox 2"/>
          <p:cNvSpPr txBox="1"/>
          <p:nvPr/>
        </p:nvSpPr>
        <p:spPr>
          <a:xfrm>
            <a:off x="658368" y="640080"/>
            <a:ext cx="10874959" cy="603504"/>
          </a:xfrm>
          <a:prstGeom prst="rect">
            <a:avLst/>
          </a:prstGeom>
          <a:noFill/>
        </p:spPr>
        <p:txBody>
          <a:bodyPr wrap="square" lIns="0" tIns="0" rIns="0" bIns="0" anchor="t">
            <a:spAutoFit/>
          </a:bodyPr>
          <a:lstStyle/>
          <a:p>
            <a:pPr algn="l">
              <a:lnSpc>
                <a:spcPct val="105000"/>
              </a:lnSpc>
            </a:pPr>
            <a:r>
              <a:rPr sz="2500" b="1" i="0">
                <a:solidFill>
                  <a:srgbClr val="0A2540"/>
                </a:solidFill>
                <a:latin typeface="Calibri"/>
              </a:rPr>
              <a:t>BỘ CÂU HỎI ĐỊNH TÍNH</a:t>
            </a: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371600"/>
            <a:ext cx="10874959" cy="217880"/>
          </a:xfrm>
          <a:prstGeom prst="rect">
            <a:avLst/>
          </a:prstGeom>
          <a:noFill/>
        </p:spPr>
        <p:txBody>
          <a:bodyPr wrap="square" lIns="0" tIns="0" rIns="0" bIns="0" anchor="t">
            <a:spAutoFit/>
          </a:bodyPr>
          <a:lstStyle/>
          <a:p>
            <a:pPr algn="l">
              <a:lnSpc>
                <a:spcPct val="118000"/>
              </a:lnSpc>
            </a:pPr>
            <a:r>
              <a:rPr sz="1200" b="0" i="1">
                <a:solidFill>
                  <a:srgbClr val="6B7784"/>
                </a:solidFill>
                <a:latin typeface="Calibri"/>
              </a:rPr>
              <a:t>Bảng 3.4 — câu hỏi có cấu trúc   |   Bảng 3.5 — câu hỏi không có cấu trúc</a:t>
            </a:r>
          </a:p>
        </p:txBody>
      </p:sp>
      <p:sp>
        <p:nvSpPr>
          <p:cNvPr id="7" name="TextBox 6"/>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8" name="TextBox 7"/>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31</a:t>
            </a:r>
          </a:p>
        </p:txBody>
      </p:sp>
      <p:sp>
        <p:nvSpPr>
          <p:cNvPr id="9" name="Rectangle 8"/>
          <p:cNvSpPr/>
          <p:nvPr/>
        </p:nvSpPr>
        <p:spPr>
          <a:xfrm>
            <a:off x="658368" y="1755648"/>
            <a:ext cx="5300319" cy="4572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0" name="TextBox 9"/>
          <p:cNvSpPr txBox="1"/>
          <p:nvPr/>
        </p:nvSpPr>
        <p:spPr>
          <a:xfrm>
            <a:off x="877824" y="1891915"/>
            <a:ext cx="4861407" cy="184666"/>
          </a:xfrm>
          <a:prstGeom prst="rect">
            <a:avLst/>
          </a:prstGeom>
          <a:noFill/>
        </p:spPr>
        <p:txBody>
          <a:bodyPr wrap="square" lIns="0" tIns="0" rIns="0" bIns="0" anchor="ctr">
            <a:spAutoFit/>
          </a:bodyPr>
          <a:lstStyle/>
          <a:p>
            <a:pPr algn="l">
              <a:lnSpc>
                <a:spcPct val="100000"/>
              </a:lnSpc>
            </a:pPr>
            <a:r>
              <a:rPr sz="1200" b="1" i="0">
                <a:solidFill>
                  <a:srgbClr val="FFFFFF"/>
                </a:solidFill>
                <a:latin typeface="Calibri"/>
              </a:rPr>
              <a:t>a.  CÓ CẤU TRÚC</a:t>
            </a:r>
          </a:p>
        </p:txBody>
      </p:sp>
      <p:sp>
        <p:nvSpPr>
          <p:cNvPr id="11" name="TextBox 10"/>
          <p:cNvSpPr txBox="1"/>
          <p:nvPr/>
        </p:nvSpPr>
        <p:spPr>
          <a:xfrm>
            <a:off x="3581247" y="1891915"/>
            <a:ext cx="2157984" cy="184666"/>
          </a:xfrm>
          <a:prstGeom prst="rect">
            <a:avLst/>
          </a:prstGeom>
          <a:noFill/>
        </p:spPr>
        <p:txBody>
          <a:bodyPr wrap="square" lIns="0" tIns="0" rIns="0" bIns="0" anchor="ctr">
            <a:spAutoFit/>
          </a:bodyPr>
          <a:lstStyle/>
          <a:p>
            <a:pPr algn="r">
              <a:lnSpc>
                <a:spcPct val="100000"/>
              </a:lnSpc>
            </a:pPr>
            <a:r>
              <a:rPr sz="1200" b="1" i="0">
                <a:solidFill>
                  <a:srgbClr val="FFFFFF"/>
                </a:solidFill>
                <a:latin typeface="Calibri"/>
              </a:rPr>
              <a:t>BẢNG 3.4</a:t>
            </a:r>
          </a:p>
        </p:txBody>
      </p:sp>
      <p:sp>
        <p:nvSpPr>
          <p:cNvPr id="12" name="Rectangle 11"/>
          <p:cNvSpPr/>
          <p:nvPr/>
        </p:nvSpPr>
        <p:spPr>
          <a:xfrm>
            <a:off x="658368" y="2304288"/>
            <a:ext cx="5300319" cy="731520"/>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3" name="Rectangle 12"/>
          <p:cNvSpPr/>
          <p:nvPr/>
        </p:nvSpPr>
        <p:spPr>
          <a:xfrm>
            <a:off x="658368" y="2304288"/>
            <a:ext cx="50292" cy="73152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4" name="TextBox 13"/>
          <p:cNvSpPr txBox="1"/>
          <p:nvPr/>
        </p:nvSpPr>
        <p:spPr>
          <a:xfrm>
            <a:off x="859536" y="2577715"/>
            <a:ext cx="420624" cy="184666"/>
          </a:xfrm>
          <a:prstGeom prst="rect">
            <a:avLst/>
          </a:prstGeom>
          <a:noFill/>
        </p:spPr>
        <p:txBody>
          <a:bodyPr wrap="square" lIns="0" tIns="0" rIns="0" bIns="0" anchor="ctr">
            <a:spAutoFit/>
          </a:bodyPr>
          <a:lstStyle/>
          <a:p>
            <a:pPr algn="ctr">
              <a:lnSpc>
                <a:spcPct val="100000"/>
              </a:lnSpc>
            </a:pPr>
            <a:r>
              <a:rPr sz="1200" b="1" i="0">
                <a:solidFill>
                  <a:srgbClr val="0A2540"/>
                </a:solidFill>
                <a:latin typeface="Calibri"/>
              </a:rPr>
              <a:t>1</a:t>
            </a:r>
          </a:p>
        </p:txBody>
      </p:sp>
      <p:sp>
        <p:nvSpPr>
          <p:cNvPr id="15" name="TextBox 14"/>
          <p:cNvSpPr txBox="1"/>
          <p:nvPr/>
        </p:nvSpPr>
        <p:spPr>
          <a:xfrm>
            <a:off x="1371600" y="2386584"/>
            <a:ext cx="4385919" cy="670055"/>
          </a:xfrm>
          <a:prstGeom prst="rect">
            <a:avLst/>
          </a:prstGeom>
          <a:noFill/>
        </p:spPr>
        <p:txBody>
          <a:bodyPr wrap="square" lIns="0" tIns="0" rIns="0" bIns="0" anchor="t">
            <a:spAutoFit/>
          </a:bodyPr>
          <a:lstStyle/>
          <a:p>
            <a:pPr algn="l">
              <a:lnSpc>
                <a:spcPct val="116000"/>
              </a:lnSpc>
            </a:pPr>
            <a:r>
              <a:rPr sz="1200" b="0" i="0">
                <a:solidFill>
                  <a:srgbClr val="2B3440"/>
                </a:solidFill>
                <a:latin typeface="Calibri"/>
              </a:rPr>
              <a:t>Anh/chị đánh giá mức độ cần thiết của các hoạt động hiện tại trong quy trình như thế nào?</a:t>
            </a:r>
          </a:p>
          <a:p>
            <a:pPr algn="l">
              <a:lnSpc>
                <a:spcPct val="110000"/>
              </a:lnSpc>
              <a:spcBef>
                <a:spcPts val="300"/>
              </a:spcBef>
            </a:pPr>
            <a:r>
              <a:rPr sz="1200" b="1" i="0">
                <a:solidFill>
                  <a:srgbClr val="6B7784"/>
                </a:solidFill>
                <a:latin typeface="Calibri"/>
              </a:rPr>
              <a:t>▸  Rất cần thiết → Không cần thiết</a:t>
            </a:r>
          </a:p>
        </p:txBody>
      </p:sp>
      <p:sp>
        <p:nvSpPr>
          <p:cNvPr id="16" name="Rectangle 15"/>
          <p:cNvSpPr/>
          <p:nvPr/>
        </p:nvSpPr>
        <p:spPr>
          <a:xfrm>
            <a:off x="658368" y="3090672"/>
            <a:ext cx="5300319" cy="731520"/>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7" name="Rectangle 16"/>
          <p:cNvSpPr/>
          <p:nvPr/>
        </p:nvSpPr>
        <p:spPr>
          <a:xfrm>
            <a:off x="658368" y="3090672"/>
            <a:ext cx="50292" cy="73152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8" name="TextBox 17"/>
          <p:cNvSpPr txBox="1"/>
          <p:nvPr/>
        </p:nvSpPr>
        <p:spPr>
          <a:xfrm>
            <a:off x="859536" y="3364099"/>
            <a:ext cx="420624" cy="184666"/>
          </a:xfrm>
          <a:prstGeom prst="rect">
            <a:avLst/>
          </a:prstGeom>
          <a:noFill/>
        </p:spPr>
        <p:txBody>
          <a:bodyPr wrap="square" lIns="0" tIns="0" rIns="0" bIns="0" anchor="ctr">
            <a:spAutoFit/>
          </a:bodyPr>
          <a:lstStyle/>
          <a:p>
            <a:pPr algn="ctr">
              <a:lnSpc>
                <a:spcPct val="100000"/>
              </a:lnSpc>
            </a:pPr>
            <a:r>
              <a:rPr sz="1200" b="1" i="0">
                <a:solidFill>
                  <a:srgbClr val="0A2540"/>
                </a:solidFill>
                <a:latin typeface="Calibri"/>
              </a:rPr>
              <a:t>2</a:t>
            </a:r>
          </a:p>
        </p:txBody>
      </p:sp>
      <p:sp>
        <p:nvSpPr>
          <p:cNvPr id="19" name="TextBox 18"/>
          <p:cNvSpPr txBox="1"/>
          <p:nvPr/>
        </p:nvSpPr>
        <p:spPr>
          <a:xfrm>
            <a:off x="1371600" y="3172968"/>
            <a:ext cx="4385919" cy="670055"/>
          </a:xfrm>
          <a:prstGeom prst="rect">
            <a:avLst/>
          </a:prstGeom>
          <a:noFill/>
        </p:spPr>
        <p:txBody>
          <a:bodyPr wrap="square" lIns="0" tIns="0" rIns="0" bIns="0" anchor="t">
            <a:spAutoFit/>
          </a:bodyPr>
          <a:lstStyle/>
          <a:p>
            <a:pPr algn="l">
              <a:lnSpc>
                <a:spcPct val="116000"/>
              </a:lnSpc>
            </a:pPr>
            <a:r>
              <a:rPr sz="1200" b="0" i="0">
                <a:solidFill>
                  <a:srgbClr val="2B3440"/>
                </a:solidFill>
                <a:latin typeface="Calibri"/>
              </a:rPr>
              <a:t>Mức độ thường xuyên phải chuyển giao thông tin, chứng từ hoặc công việc giữa các bên trong quá trình xử lý?</a:t>
            </a:r>
          </a:p>
          <a:p>
            <a:pPr algn="l">
              <a:lnSpc>
                <a:spcPct val="110000"/>
              </a:lnSpc>
              <a:spcBef>
                <a:spcPts val="300"/>
              </a:spcBef>
            </a:pPr>
            <a:r>
              <a:rPr sz="1200" b="1" i="0">
                <a:solidFill>
                  <a:srgbClr val="6B7784"/>
                </a:solidFill>
                <a:latin typeface="Calibri"/>
              </a:rPr>
              <a:t>▸  Rất thường xuyên → Không xảy ra</a:t>
            </a:r>
          </a:p>
        </p:txBody>
      </p:sp>
      <p:sp>
        <p:nvSpPr>
          <p:cNvPr id="20" name="Rectangle 19"/>
          <p:cNvSpPr/>
          <p:nvPr/>
        </p:nvSpPr>
        <p:spPr>
          <a:xfrm>
            <a:off x="658368" y="3877056"/>
            <a:ext cx="5300319" cy="731520"/>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1" name="Rectangle 20"/>
          <p:cNvSpPr/>
          <p:nvPr/>
        </p:nvSpPr>
        <p:spPr>
          <a:xfrm>
            <a:off x="658368" y="3877056"/>
            <a:ext cx="50292" cy="73152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2" name="TextBox 21"/>
          <p:cNvSpPr txBox="1"/>
          <p:nvPr/>
        </p:nvSpPr>
        <p:spPr>
          <a:xfrm>
            <a:off x="859536" y="4150483"/>
            <a:ext cx="420624" cy="184666"/>
          </a:xfrm>
          <a:prstGeom prst="rect">
            <a:avLst/>
          </a:prstGeom>
          <a:noFill/>
        </p:spPr>
        <p:txBody>
          <a:bodyPr wrap="square" lIns="0" tIns="0" rIns="0" bIns="0" anchor="ctr">
            <a:spAutoFit/>
          </a:bodyPr>
          <a:lstStyle/>
          <a:p>
            <a:pPr algn="ctr">
              <a:lnSpc>
                <a:spcPct val="100000"/>
              </a:lnSpc>
            </a:pPr>
            <a:r>
              <a:rPr sz="1200" b="1" i="0">
                <a:solidFill>
                  <a:srgbClr val="0A2540"/>
                </a:solidFill>
                <a:latin typeface="Calibri"/>
              </a:rPr>
              <a:t>3</a:t>
            </a:r>
          </a:p>
        </p:txBody>
      </p:sp>
      <p:sp>
        <p:nvSpPr>
          <p:cNvPr id="23" name="TextBox 22"/>
          <p:cNvSpPr txBox="1"/>
          <p:nvPr/>
        </p:nvSpPr>
        <p:spPr>
          <a:xfrm>
            <a:off x="1371600" y="3959352"/>
            <a:ext cx="4385919" cy="670055"/>
          </a:xfrm>
          <a:prstGeom prst="rect">
            <a:avLst/>
          </a:prstGeom>
          <a:noFill/>
        </p:spPr>
        <p:txBody>
          <a:bodyPr wrap="square" lIns="0" tIns="0" rIns="0" bIns="0" anchor="t">
            <a:spAutoFit/>
          </a:bodyPr>
          <a:lstStyle/>
          <a:p>
            <a:pPr algn="l">
              <a:lnSpc>
                <a:spcPct val="116000"/>
              </a:lnSpc>
            </a:pPr>
            <a:r>
              <a:rPr sz="1200" b="0" i="0">
                <a:solidFill>
                  <a:srgbClr val="2B3440"/>
                </a:solidFill>
                <a:latin typeface="Calibri"/>
              </a:rPr>
              <a:t>Mức độ thường xuyên phải chờ thông tin, phản hồi, xác nhận hoặc phê duyệt từ bên khác?</a:t>
            </a:r>
          </a:p>
          <a:p>
            <a:pPr algn="l">
              <a:lnSpc>
                <a:spcPct val="110000"/>
              </a:lnSpc>
              <a:spcBef>
                <a:spcPts val="300"/>
              </a:spcBef>
            </a:pPr>
            <a:r>
              <a:rPr sz="1200" b="1" i="0">
                <a:solidFill>
                  <a:srgbClr val="6B7784"/>
                </a:solidFill>
                <a:latin typeface="Calibri"/>
              </a:rPr>
              <a:t>▸  Rất thường xuyên → Không xảy ra</a:t>
            </a:r>
          </a:p>
        </p:txBody>
      </p:sp>
      <p:sp>
        <p:nvSpPr>
          <p:cNvPr id="24" name="Rectangle 23"/>
          <p:cNvSpPr/>
          <p:nvPr/>
        </p:nvSpPr>
        <p:spPr>
          <a:xfrm>
            <a:off x="658368" y="4663440"/>
            <a:ext cx="5300319" cy="731520"/>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5" name="Rectangle 24"/>
          <p:cNvSpPr/>
          <p:nvPr/>
        </p:nvSpPr>
        <p:spPr>
          <a:xfrm>
            <a:off x="658368" y="4663440"/>
            <a:ext cx="50292" cy="73152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6" name="TextBox 25"/>
          <p:cNvSpPr txBox="1"/>
          <p:nvPr/>
        </p:nvSpPr>
        <p:spPr>
          <a:xfrm>
            <a:off x="859536" y="4936867"/>
            <a:ext cx="420624" cy="184666"/>
          </a:xfrm>
          <a:prstGeom prst="rect">
            <a:avLst/>
          </a:prstGeom>
          <a:noFill/>
        </p:spPr>
        <p:txBody>
          <a:bodyPr wrap="square" lIns="0" tIns="0" rIns="0" bIns="0" anchor="ctr">
            <a:spAutoFit/>
          </a:bodyPr>
          <a:lstStyle/>
          <a:p>
            <a:pPr algn="ctr">
              <a:lnSpc>
                <a:spcPct val="100000"/>
              </a:lnSpc>
            </a:pPr>
            <a:r>
              <a:rPr sz="1200" b="1" i="0">
                <a:solidFill>
                  <a:srgbClr val="0A2540"/>
                </a:solidFill>
                <a:latin typeface="Calibri"/>
              </a:rPr>
              <a:t>4</a:t>
            </a:r>
          </a:p>
        </p:txBody>
      </p:sp>
      <p:sp>
        <p:nvSpPr>
          <p:cNvPr id="27" name="TextBox 26"/>
          <p:cNvSpPr txBox="1"/>
          <p:nvPr/>
        </p:nvSpPr>
        <p:spPr>
          <a:xfrm>
            <a:off x="1371600" y="4745736"/>
            <a:ext cx="4385919" cy="670055"/>
          </a:xfrm>
          <a:prstGeom prst="rect">
            <a:avLst/>
          </a:prstGeom>
          <a:noFill/>
        </p:spPr>
        <p:txBody>
          <a:bodyPr wrap="square" lIns="0" tIns="0" rIns="0" bIns="0" anchor="t">
            <a:spAutoFit/>
          </a:bodyPr>
          <a:lstStyle/>
          <a:p>
            <a:pPr algn="l">
              <a:lnSpc>
                <a:spcPct val="116000"/>
              </a:lnSpc>
            </a:pPr>
            <a:r>
              <a:rPr sz="1200" b="0" i="0">
                <a:solidFill>
                  <a:srgbClr val="2B3440"/>
                </a:solidFill>
                <a:latin typeface="Calibri"/>
              </a:rPr>
              <a:t>Mức độ thường xuyên phải bổ sung, điều chỉnh hoặc thực hiện lại công việc đã xử lý?</a:t>
            </a:r>
          </a:p>
          <a:p>
            <a:pPr algn="l">
              <a:lnSpc>
                <a:spcPct val="110000"/>
              </a:lnSpc>
              <a:spcBef>
                <a:spcPts val="300"/>
              </a:spcBef>
            </a:pPr>
            <a:r>
              <a:rPr sz="1200" b="1" i="0">
                <a:solidFill>
                  <a:srgbClr val="6B7784"/>
                </a:solidFill>
                <a:latin typeface="Calibri"/>
              </a:rPr>
              <a:t>▸  Rất thường xuyên → Không xảy ra</a:t>
            </a:r>
          </a:p>
        </p:txBody>
      </p:sp>
      <p:sp>
        <p:nvSpPr>
          <p:cNvPr id="28" name="Rectangle 27"/>
          <p:cNvSpPr/>
          <p:nvPr/>
        </p:nvSpPr>
        <p:spPr>
          <a:xfrm>
            <a:off x="658368" y="5449824"/>
            <a:ext cx="5300319" cy="731520"/>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9" name="Rectangle 28"/>
          <p:cNvSpPr/>
          <p:nvPr/>
        </p:nvSpPr>
        <p:spPr>
          <a:xfrm>
            <a:off x="658368" y="5449824"/>
            <a:ext cx="50292" cy="73152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0" name="TextBox 29"/>
          <p:cNvSpPr txBox="1"/>
          <p:nvPr/>
        </p:nvSpPr>
        <p:spPr>
          <a:xfrm>
            <a:off x="859536" y="5723251"/>
            <a:ext cx="420624" cy="184666"/>
          </a:xfrm>
          <a:prstGeom prst="rect">
            <a:avLst/>
          </a:prstGeom>
          <a:noFill/>
        </p:spPr>
        <p:txBody>
          <a:bodyPr wrap="square" lIns="0" tIns="0" rIns="0" bIns="0" anchor="ctr">
            <a:spAutoFit/>
          </a:bodyPr>
          <a:lstStyle/>
          <a:p>
            <a:pPr algn="ctr">
              <a:lnSpc>
                <a:spcPct val="100000"/>
              </a:lnSpc>
            </a:pPr>
            <a:r>
              <a:rPr sz="1200" b="1" i="0">
                <a:solidFill>
                  <a:srgbClr val="0A2540"/>
                </a:solidFill>
                <a:latin typeface="Calibri"/>
              </a:rPr>
              <a:t>5</a:t>
            </a:r>
          </a:p>
        </p:txBody>
      </p:sp>
      <p:sp>
        <p:nvSpPr>
          <p:cNvPr id="31" name="TextBox 30"/>
          <p:cNvSpPr txBox="1"/>
          <p:nvPr/>
        </p:nvSpPr>
        <p:spPr>
          <a:xfrm>
            <a:off x="1371600" y="5532120"/>
            <a:ext cx="4385919" cy="670055"/>
          </a:xfrm>
          <a:prstGeom prst="rect">
            <a:avLst/>
          </a:prstGeom>
          <a:noFill/>
        </p:spPr>
        <p:txBody>
          <a:bodyPr wrap="square" lIns="0" tIns="0" rIns="0" bIns="0" anchor="t">
            <a:spAutoFit/>
          </a:bodyPr>
          <a:lstStyle/>
          <a:p>
            <a:pPr algn="l">
              <a:lnSpc>
                <a:spcPct val="116000"/>
              </a:lnSpc>
            </a:pPr>
            <a:r>
              <a:rPr sz="1200" b="0" i="0">
                <a:solidFill>
                  <a:srgbClr val="2B3440"/>
                </a:solidFill>
                <a:latin typeface="Calibri"/>
              </a:rPr>
              <a:t>Anh/chị đánh giá mức độ ảnh hưởng của các vấn đề phát sinh đến hiệu quả chung của quy trình?</a:t>
            </a:r>
          </a:p>
          <a:p>
            <a:pPr algn="l">
              <a:lnSpc>
                <a:spcPct val="110000"/>
              </a:lnSpc>
              <a:spcBef>
                <a:spcPts val="300"/>
              </a:spcBef>
            </a:pPr>
            <a:r>
              <a:rPr sz="1200" b="1" i="0">
                <a:solidFill>
                  <a:srgbClr val="6B7784"/>
                </a:solidFill>
                <a:latin typeface="Calibri"/>
              </a:rPr>
              <a:t>▸  Rất lớn → Không đáng kể</a:t>
            </a:r>
          </a:p>
        </p:txBody>
      </p:sp>
      <p:sp>
        <p:nvSpPr>
          <p:cNvPr id="32" name="Rectangle 31"/>
          <p:cNvSpPr/>
          <p:nvPr/>
        </p:nvSpPr>
        <p:spPr>
          <a:xfrm>
            <a:off x="6233007" y="1755648"/>
            <a:ext cx="5300319" cy="457200"/>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3" name="TextBox 32"/>
          <p:cNvSpPr txBox="1"/>
          <p:nvPr/>
        </p:nvSpPr>
        <p:spPr>
          <a:xfrm>
            <a:off x="6452463" y="1891915"/>
            <a:ext cx="4861407" cy="184666"/>
          </a:xfrm>
          <a:prstGeom prst="rect">
            <a:avLst/>
          </a:prstGeom>
          <a:noFill/>
        </p:spPr>
        <p:txBody>
          <a:bodyPr wrap="square" lIns="0" tIns="0" rIns="0" bIns="0" anchor="ctr">
            <a:spAutoFit/>
          </a:bodyPr>
          <a:lstStyle/>
          <a:p>
            <a:pPr algn="l">
              <a:lnSpc>
                <a:spcPct val="100000"/>
              </a:lnSpc>
            </a:pPr>
            <a:r>
              <a:rPr sz="1200" b="1" i="0">
                <a:solidFill>
                  <a:srgbClr val="FFFFFF"/>
                </a:solidFill>
                <a:latin typeface="Calibri"/>
              </a:rPr>
              <a:t>b.  KHÔNG CÓ CẤU TRÚC</a:t>
            </a:r>
          </a:p>
        </p:txBody>
      </p:sp>
      <p:sp>
        <p:nvSpPr>
          <p:cNvPr id="34" name="TextBox 33"/>
          <p:cNvSpPr txBox="1"/>
          <p:nvPr/>
        </p:nvSpPr>
        <p:spPr>
          <a:xfrm>
            <a:off x="9155887" y="1891915"/>
            <a:ext cx="2157984" cy="184666"/>
          </a:xfrm>
          <a:prstGeom prst="rect">
            <a:avLst/>
          </a:prstGeom>
          <a:noFill/>
        </p:spPr>
        <p:txBody>
          <a:bodyPr wrap="square" lIns="0" tIns="0" rIns="0" bIns="0" anchor="ctr">
            <a:spAutoFit/>
          </a:bodyPr>
          <a:lstStyle/>
          <a:p>
            <a:pPr algn="r">
              <a:lnSpc>
                <a:spcPct val="100000"/>
              </a:lnSpc>
            </a:pPr>
            <a:r>
              <a:rPr sz="1200" b="1" i="0">
                <a:solidFill>
                  <a:srgbClr val="FFFFFF"/>
                </a:solidFill>
                <a:latin typeface="Calibri"/>
              </a:rPr>
              <a:t>BẢNG 3.5</a:t>
            </a:r>
          </a:p>
        </p:txBody>
      </p:sp>
      <p:sp>
        <p:nvSpPr>
          <p:cNvPr id="35" name="Rectangle 34"/>
          <p:cNvSpPr/>
          <p:nvPr/>
        </p:nvSpPr>
        <p:spPr>
          <a:xfrm>
            <a:off x="6233007" y="2304288"/>
            <a:ext cx="5300319" cy="731520"/>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6" name="Rectangle 35"/>
          <p:cNvSpPr/>
          <p:nvPr/>
        </p:nvSpPr>
        <p:spPr>
          <a:xfrm>
            <a:off x="6233007" y="2304288"/>
            <a:ext cx="50292" cy="731520"/>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7" name="TextBox 36"/>
          <p:cNvSpPr txBox="1"/>
          <p:nvPr/>
        </p:nvSpPr>
        <p:spPr>
          <a:xfrm>
            <a:off x="6434175" y="2577715"/>
            <a:ext cx="420624" cy="184666"/>
          </a:xfrm>
          <a:prstGeom prst="rect">
            <a:avLst/>
          </a:prstGeom>
          <a:noFill/>
        </p:spPr>
        <p:txBody>
          <a:bodyPr wrap="square" lIns="0" tIns="0" rIns="0" bIns="0" anchor="ctr">
            <a:spAutoFit/>
          </a:bodyPr>
          <a:lstStyle/>
          <a:p>
            <a:pPr algn="ctr">
              <a:lnSpc>
                <a:spcPct val="100000"/>
              </a:lnSpc>
            </a:pPr>
            <a:r>
              <a:rPr sz="1200" b="1" i="0">
                <a:solidFill>
                  <a:srgbClr val="0096D6"/>
                </a:solidFill>
                <a:latin typeface="Calibri"/>
              </a:rPr>
              <a:t>1</a:t>
            </a:r>
          </a:p>
        </p:txBody>
      </p:sp>
      <p:sp>
        <p:nvSpPr>
          <p:cNvPr id="38" name="TextBox 37"/>
          <p:cNvSpPr txBox="1"/>
          <p:nvPr/>
        </p:nvSpPr>
        <p:spPr>
          <a:xfrm>
            <a:off x="6946239" y="2386584"/>
            <a:ext cx="4385919" cy="642676"/>
          </a:xfrm>
          <a:prstGeom prst="rect">
            <a:avLst/>
          </a:prstGeom>
          <a:noFill/>
        </p:spPr>
        <p:txBody>
          <a:bodyPr wrap="square" lIns="0" tIns="0" rIns="0" bIns="0" anchor="t">
            <a:spAutoFit/>
          </a:bodyPr>
          <a:lstStyle/>
          <a:p>
            <a:pPr algn="l">
              <a:lnSpc>
                <a:spcPct val="116000"/>
              </a:lnSpc>
            </a:pPr>
            <a:r>
              <a:rPr sz="1200" b="0" i="0">
                <a:solidFill>
                  <a:srgbClr val="2B3440"/>
                </a:solidFill>
                <a:latin typeface="Calibri"/>
              </a:rPr>
              <a:t>Những hoạt động nào trực tiếp tạo ra giá trị cho kết quả cuối cùng và những hoạt động nào chủ yếu phục vụ kiểm soát hoặc hỗ trợ nội bộ? Vì sao?</a:t>
            </a:r>
          </a:p>
        </p:txBody>
      </p:sp>
      <p:sp>
        <p:nvSpPr>
          <p:cNvPr id="39" name="Rectangle 38"/>
          <p:cNvSpPr/>
          <p:nvPr/>
        </p:nvSpPr>
        <p:spPr>
          <a:xfrm>
            <a:off x="6233007" y="3090672"/>
            <a:ext cx="5300319" cy="731520"/>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0" name="Rectangle 39"/>
          <p:cNvSpPr/>
          <p:nvPr/>
        </p:nvSpPr>
        <p:spPr>
          <a:xfrm>
            <a:off x="6233007" y="3090672"/>
            <a:ext cx="50292" cy="731520"/>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1" name="TextBox 40"/>
          <p:cNvSpPr txBox="1"/>
          <p:nvPr/>
        </p:nvSpPr>
        <p:spPr>
          <a:xfrm>
            <a:off x="6434175" y="3364099"/>
            <a:ext cx="420624" cy="184666"/>
          </a:xfrm>
          <a:prstGeom prst="rect">
            <a:avLst/>
          </a:prstGeom>
          <a:noFill/>
        </p:spPr>
        <p:txBody>
          <a:bodyPr wrap="square" lIns="0" tIns="0" rIns="0" bIns="0" anchor="ctr">
            <a:spAutoFit/>
          </a:bodyPr>
          <a:lstStyle/>
          <a:p>
            <a:pPr algn="ctr">
              <a:lnSpc>
                <a:spcPct val="100000"/>
              </a:lnSpc>
            </a:pPr>
            <a:r>
              <a:rPr sz="1200" b="1" i="0">
                <a:solidFill>
                  <a:srgbClr val="0096D6"/>
                </a:solidFill>
                <a:latin typeface="Calibri"/>
              </a:rPr>
              <a:t>2</a:t>
            </a:r>
          </a:p>
        </p:txBody>
      </p:sp>
      <p:sp>
        <p:nvSpPr>
          <p:cNvPr id="42" name="TextBox 41"/>
          <p:cNvSpPr txBox="1"/>
          <p:nvPr/>
        </p:nvSpPr>
        <p:spPr>
          <a:xfrm>
            <a:off x="6946239" y="3172968"/>
            <a:ext cx="4385919" cy="428451"/>
          </a:xfrm>
          <a:prstGeom prst="rect">
            <a:avLst/>
          </a:prstGeom>
          <a:noFill/>
        </p:spPr>
        <p:txBody>
          <a:bodyPr wrap="square" lIns="0" tIns="0" rIns="0" bIns="0" anchor="t">
            <a:spAutoFit/>
          </a:bodyPr>
          <a:lstStyle/>
          <a:p>
            <a:pPr algn="l">
              <a:lnSpc>
                <a:spcPct val="116000"/>
              </a:lnSpc>
            </a:pPr>
            <a:r>
              <a:rPr sz="1200" b="0" i="0">
                <a:solidFill>
                  <a:srgbClr val="2B3440"/>
                </a:solidFill>
                <a:latin typeface="Calibri"/>
              </a:rPr>
              <a:t>Những bước nào thường phát sinh chuyển giao thông tin, chứng từ hoặc trách nhiệm giữa các bên và gặp khó khăn gì?</a:t>
            </a:r>
          </a:p>
        </p:txBody>
      </p:sp>
      <p:sp>
        <p:nvSpPr>
          <p:cNvPr id="43" name="Rectangle 42"/>
          <p:cNvSpPr/>
          <p:nvPr/>
        </p:nvSpPr>
        <p:spPr>
          <a:xfrm>
            <a:off x="6233007" y="3877056"/>
            <a:ext cx="5300319" cy="731520"/>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4" name="Rectangle 43"/>
          <p:cNvSpPr/>
          <p:nvPr/>
        </p:nvSpPr>
        <p:spPr>
          <a:xfrm>
            <a:off x="6233007" y="3877056"/>
            <a:ext cx="50292" cy="731520"/>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5" name="TextBox 44"/>
          <p:cNvSpPr txBox="1"/>
          <p:nvPr/>
        </p:nvSpPr>
        <p:spPr>
          <a:xfrm>
            <a:off x="6434175" y="4150483"/>
            <a:ext cx="420624" cy="184666"/>
          </a:xfrm>
          <a:prstGeom prst="rect">
            <a:avLst/>
          </a:prstGeom>
          <a:noFill/>
        </p:spPr>
        <p:txBody>
          <a:bodyPr wrap="square" lIns="0" tIns="0" rIns="0" bIns="0" anchor="ctr">
            <a:spAutoFit/>
          </a:bodyPr>
          <a:lstStyle/>
          <a:p>
            <a:pPr algn="ctr">
              <a:lnSpc>
                <a:spcPct val="100000"/>
              </a:lnSpc>
            </a:pPr>
            <a:r>
              <a:rPr sz="1200" b="1" i="0">
                <a:solidFill>
                  <a:srgbClr val="0096D6"/>
                </a:solidFill>
                <a:latin typeface="Calibri"/>
              </a:rPr>
              <a:t>3</a:t>
            </a:r>
          </a:p>
        </p:txBody>
      </p:sp>
      <p:sp>
        <p:nvSpPr>
          <p:cNvPr id="46" name="TextBox 45"/>
          <p:cNvSpPr txBox="1"/>
          <p:nvPr/>
        </p:nvSpPr>
        <p:spPr>
          <a:xfrm>
            <a:off x="6946239" y="3959352"/>
            <a:ext cx="4385919" cy="428451"/>
          </a:xfrm>
          <a:prstGeom prst="rect">
            <a:avLst/>
          </a:prstGeom>
          <a:noFill/>
        </p:spPr>
        <p:txBody>
          <a:bodyPr wrap="square" lIns="0" tIns="0" rIns="0" bIns="0" anchor="t">
            <a:spAutoFit/>
          </a:bodyPr>
          <a:lstStyle/>
          <a:p>
            <a:pPr algn="l">
              <a:lnSpc>
                <a:spcPct val="116000"/>
              </a:lnSpc>
            </a:pPr>
            <a:r>
              <a:rPr sz="1200" b="0" i="0">
                <a:solidFill>
                  <a:srgbClr val="2B3440"/>
                </a:solidFill>
                <a:latin typeface="Calibri"/>
              </a:rPr>
              <a:t>Những hoạt động nào thường phải chờ thông tin, phản hồi, xác nhận, phê duyệt trước khi có thể tiếp tục?</a:t>
            </a:r>
          </a:p>
        </p:txBody>
      </p:sp>
      <p:sp>
        <p:nvSpPr>
          <p:cNvPr id="47" name="Rectangle 46"/>
          <p:cNvSpPr/>
          <p:nvPr/>
        </p:nvSpPr>
        <p:spPr>
          <a:xfrm>
            <a:off x="6233007" y="4663440"/>
            <a:ext cx="5300319" cy="731520"/>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8" name="Rectangle 47"/>
          <p:cNvSpPr/>
          <p:nvPr/>
        </p:nvSpPr>
        <p:spPr>
          <a:xfrm>
            <a:off x="6233007" y="4663440"/>
            <a:ext cx="50292" cy="731520"/>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9" name="TextBox 48"/>
          <p:cNvSpPr txBox="1"/>
          <p:nvPr/>
        </p:nvSpPr>
        <p:spPr>
          <a:xfrm>
            <a:off x="6434175" y="4936867"/>
            <a:ext cx="420624" cy="184666"/>
          </a:xfrm>
          <a:prstGeom prst="rect">
            <a:avLst/>
          </a:prstGeom>
          <a:noFill/>
        </p:spPr>
        <p:txBody>
          <a:bodyPr wrap="square" lIns="0" tIns="0" rIns="0" bIns="0" anchor="ctr">
            <a:spAutoFit/>
          </a:bodyPr>
          <a:lstStyle/>
          <a:p>
            <a:pPr algn="ctr">
              <a:lnSpc>
                <a:spcPct val="100000"/>
              </a:lnSpc>
            </a:pPr>
            <a:r>
              <a:rPr sz="1200" b="1" i="0">
                <a:solidFill>
                  <a:srgbClr val="0096D6"/>
                </a:solidFill>
                <a:latin typeface="Calibri"/>
              </a:rPr>
              <a:t>4</a:t>
            </a:r>
          </a:p>
        </p:txBody>
      </p:sp>
      <p:sp>
        <p:nvSpPr>
          <p:cNvPr id="50" name="TextBox 49"/>
          <p:cNvSpPr txBox="1"/>
          <p:nvPr/>
        </p:nvSpPr>
        <p:spPr>
          <a:xfrm>
            <a:off x="6946239" y="4745736"/>
            <a:ext cx="4385919" cy="428451"/>
          </a:xfrm>
          <a:prstGeom prst="rect">
            <a:avLst/>
          </a:prstGeom>
          <a:noFill/>
        </p:spPr>
        <p:txBody>
          <a:bodyPr wrap="square" lIns="0" tIns="0" rIns="0" bIns="0" anchor="t">
            <a:spAutoFit/>
          </a:bodyPr>
          <a:lstStyle/>
          <a:p>
            <a:pPr algn="l">
              <a:lnSpc>
                <a:spcPct val="116000"/>
              </a:lnSpc>
            </a:pPr>
            <a:r>
              <a:rPr sz="1200" b="0" i="0">
                <a:solidFill>
                  <a:srgbClr val="2B3440"/>
                </a:solidFill>
                <a:latin typeface="Calibri"/>
              </a:rPr>
              <a:t>Những trường hợp nào thường làm công việc phải được bổ sung, điều chỉnh, kiểm tra lại hoặc thực hiện lại?</a:t>
            </a:r>
          </a:p>
        </p:txBody>
      </p:sp>
      <p:sp>
        <p:nvSpPr>
          <p:cNvPr id="51" name="Rectangle 50"/>
          <p:cNvSpPr/>
          <p:nvPr/>
        </p:nvSpPr>
        <p:spPr>
          <a:xfrm>
            <a:off x="6233007" y="5449824"/>
            <a:ext cx="5300319" cy="731520"/>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52" name="Rectangle 51"/>
          <p:cNvSpPr/>
          <p:nvPr/>
        </p:nvSpPr>
        <p:spPr>
          <a:xfrm>
            <a:off x="6233007" y="5449824"/>
            <a:ext cx="50292" cy="731520"/>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53" name="TextBox 52"/>
          <p:cNvSpPr txBox="1"/>
          <p:nvPr/>
        </p:nvSpPr>
        <p:spPr>
          <a:xfrm>
            <a:off x="6434175" y="5723251"/>
            <a:ext cx="420624" cy="184666"/>
          </a:xfrm>
          <a:prstGeom prst="rect">
            <a:avLst/>
          </a:prstGeom>
          <a:noFill/>
        </p:spPr>
        <p:txBody>
          <a:bodyPr wrap="square" lIns="0" tIns="0" rIns="0" bIns="0" anchor="ctr">
            <a:spAutoFit/>
          </a:bodyPr>
          <a:lstStyle/>
          <a:p>
            <a:pPr algn="ctr">
              <a:lnSpc>
                <a:spcPct val="100000"/>
              </a:lnSpc>
            </a:pPr>
            <a:r>
              <a:rPr sz="1200" b="1" i="0">
                <a:solidFill>
                  <a:srgbClr val="0096D6"/>
                </a:solidFill>
                <a:latin typeface="Calibri"/>
              </a:rPr>
              <a:t>5</a:t>
            </a:r>
          </a:p>
        </p:txBody>
      </p:sp>
      <p:sp>
        <p:nvSpPr>
          <p:cNvPr id="54" name="TextBox 53"/>
          <p:cNvSpPr txBox="1"/>
          <p:nvPr/>
        </p:nvSpPr>
        <p:spPr>
          <a:xfrm>
            <a:off x="6946239" y="5532120"/>
            <a:ext cx="4385919" cy="428451"/>
          </a:xfrm>
          <a:prstGeom prst="rect">
            <a:avLst/>
          </a:prstGeom>
          <a:noFill/>
        </p:spPr>
        <p:txBody>
          <a:bodyPr wrap="square" lIns="0" tIns="0" rIns="0" bIns="0" anchor="t">
            <a:spAutoFit/>
          </a:bodyPr>
          <a:lstStyle/>
          <a:p>
            <a:pPr algn="l">
              <a:lnSpc>
                <a:spcPct val="116000"/>
              </a:lnSpc>
            </a:pPr>
            <a:r>
              <a:rPr sz="1200" b="0" i="0">
                <a:solidFill>
                  <a:srgbClr val="2B3440"/>
                </a:solidFill>
                <a:latin typeface="Calibri"/>
              </a:rPr>
              <a:t>Nguyên nhân chính dẫn đến các vấn đề hoặc sự chậm trễ là gì? Hoạt động nào nên được ưu tiên cải tiến và vì sao?</a:t>
            </a:r>
          </a:p>
        </p:txBody>
      </p:sp>
    </p:spTree>
    <p:extLst>
      <p:ext uri="{BB962C8B-B14F-4D97-AF65-F5344CB8AC3E}">
        <p14:creationId xmlns:p14="http://schemas.microsoft.com/office/powerpoint/2010/main" val="24405488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CHƯƠNG 3 · 3.3.3 DANH SÁCH CÂU HỎI PHỎNG VẤN</a:t>
            </a:r>
          </a:p>
        </p:txBody>
      </p:sp>
      <p:sp>
        <p:nvSpPr>
          <p:cNvPr id="3" name="TextBox 2"/>
          <p:cNvSpPr txBox="1"/>
          <p:nvPr/>
        </p:nvSpPr>
        <p:spPr>
          <a:xfrm>
            <a:off x="658368" y="640080"/>
            <a:ext cx="10874959" cy="603504"/>
          </a:xfrm>
          <a:prstGeom prst="rect">
            <a:avLst/>
          </a:prstGeom>
          <a:noFill/>
        </p:spPr>
        <p:txBody>
          <a:bodyPr wrap="square" lIns="0" tIns="0" rIns="0" bIns="0" anchor="t">
            <a:spAutoFit/>
          </a:bodyPr>
          <a:lstStyle/>
          <a:p>
            <a:pPr algn="l">
              <a:lnSpc>
                <a:spcPct val="105000"/>
              </a:lnSpc>
            </a:pPr>
            <a:r>
              <a:rPr sz="2500" b="1" i="0">
                <a:solidFill>
                  <a:srgbClr val="0A2540"/>
                </a:solidFill>
                <a:latin typeface="Calibri"/>
              </a:rPr>
              <a:t>BỘ CÂU HỎI ĐỊNH LƯỢNG</a:t>
            </a: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 name="TextBox 5"/>
          <p:cNvSpPr txBox="1"/>
          <p:nvPr/>
        </p:nvSpPr>
        <p:spPr>
          <a:xfrm>
            <a:off x="658368" y="1371600"/>
            <a:ext cx="10874959" cy="254237"/>
          </a:xfrm>
          <a:prstGeom prst="rect">
            <a:avLst/>
          </a:prstGeom>
          <a:noFill/>
        </p:spPr>
        <p:txBody>
          <a:bodyPr wrap="square" lIns="0" tIns="0" rIns="0" bIns="0" anchor="t">
            <a:spAutoFit/>
          </a:bodyPr>
          <a:lstStyle/>
          <a:p>
            <a:pPr algn="l">
              <a:lnSpc>
                <a:spcPct val="118000"/>
              </a:lnSpc>
            </a:pPr>
            <a:r>
              <a:rPr sz="1400" b="0" i="1">
                <a:solidFill>
                  <a:srgbClr val="6B7784"/>
                </a:solidFill>
                <a:latin typeface="Calibri"/>
              </a:rPr>
              <a:t>Bảng 3.6 — câu hỏi có cấu trúc   |   Bảng 3.7 — câu hỏi không có cấu trúc</a:t>
            </a:r>
          </a:p>
        </p:txBody>
      </p:sp>
      <p:sp>
        <p:nvSpPr>
          <p:cNvPr id="7" name="TextBox 6"/>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8" name="TextBox 7"/>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32</a:t>
            </a:r>
          </a:p>
        </p:txBody>
      </p:sp>
      <p:sp>
        <p:nvSpPr>
          <p:cNvPr id="9" name="Rectangle 8"/>
          <p:cNvSpPr/>
          <p:nvPr/>
        </p:nvSpPr>
        <p:spPr>
          <a:xfrm>
            <a:off x="658368" y="1755648"/>
            <a:ext cx="5300319" cy="4572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 name="TextBox 9"/>
          <p:cNvSpPr txBox="1"/>
          <p:nvPr/>
        </p:nvSpPr>
        <p:spPr>
          <a:xfrm>
            <a:off x="877824" y="1876526"/>
            <a:ext cx="4861407" cy="215444"/>
          </a:xfrm>
          <a:prstGeom prst="rect">
            <a:avLst/>
          </a:prstGeom>
          <a:noFill/>
        </p:spPr>
        <p:txBody>
          <a:bodyPr wrap="square" lIns="0" tIns="0" rIns="0" bIns="0" anchor="ctr">
            <a:spAutoFit/>
          </a:bodyPr>
          <a:lstStyle/>
          <a:p>
            <a:pPr algn="l">
              <a:lnSpc>
                <a:spcPct val="100000"/>
              </a:lnSpc>
            </a:pPr>
            <a:r>
              <a:rPr sz="1400" b="1" i="0">
                <a:solidFill>
                  <a:srgbClr val="FFFFFF"/>
                </a:solidFill>
                <a:latin typeface="Calibri"/>
              </a:rPr>
              <a:t>c.  CÓ CẤU TRÚC</a:t>
            </a:r>
          </a:p>
        </p:txBody>
      </p:sp>
      <p:sp>
        <p:nvSpPr>
          <p:cNvPr id="11" name="TextBox 10"/>
          <p:cNvSpPr txBox="1"/>
          <p:nvPr/>
        </p:nvSpPr>
        <p:spPr>
          <a:xfrm>
            <a:off x="3581247" y="1876526"/>
            <a:ext cx="2157984" cy="215444"/>
          </a:xfrm>
          <a:prstGeom prst="rect">
            <a:avLst/>
          </a:prstGeom>
          <a:noFill/>
        </p:spPr>
        <p:txBody>
          <a:bodyPr wrap="square" lIns="0" tIns="0" rIns="0" bIns="0" anchor="ctr">
            <a:spAutoFit/>
          </a:bodyPr>
          <a:lstStyle/>
          <a:p>
            <a:pPr algn="r">
              <a:lnSpc>
                <a:spcPct val="100000"/>
              </a:lnSpc>
            </a:pPr>
            <a:r>
              <a:rPr sz="1400" b="1" i="0">
                <a:solidFill>
                  <a:srgbClr val="FFFFFF"/>
                </a:solidFill>
                <a:latin typeface="Calibri"/>
              </a:rPr>
              <a:t>BẢNG 3.6</a:t>
            </a:r>
          </a:p>
        </p:txBody>
      </p:sp>
      <p:sp>
        <p:nvSpPr>
          <p:cNvPr id="12" name="Rectangle 11"/>
          <p:cNvSpPr/>
          <p:nvPr/>
        </p:nvSpPr>
        <p:spPr>
          <a:xfrm>
            <a:off x="658368" y="2304288"/>
            <a:ext cx="5300319" cy="731520"/>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3" name="Rectangle 12"/>
          <p:cNvSpPr/>
          <p:nvPr/>
        </p:nvSpPr>
        <p:spPr>
          <a:xfrm>
            <a:off x="658368" y="2304288"/>
            <a:ext cx="50292" cy="73152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4" name="TextBox 13"/>
          <p:cNvSpPr txBox="1"/>
          <p:nvPr/>
        </p:nvSpPr>
        <p:spPr>
          <a:xfrm>
            <a:off x="859536" y="2562326"/>
            <a:ext cx="420624" cy="215444"/>
          </a:xfrm>
          <a:prstGeom prst="rect">
            <a:avLst/>
          </a:prstGeom>
          <a:noFill/>
        </p:spPr>
        <p:txBody>
          <a:bodyPr wrap="square" lIns="0" tIns="0" rIns="0" bIns="0" anchor="ctr">
            <a:spAutoFit/>
          </a:bodyPr>
          <a:lstStyle/>
          <a:p>
            <a:pPr algn="ctr">
              <a:lnSpc>
                <a:spcPct val="100000"/>
              </a:lnSpc>
            </a:pPr>
            <a:r>
              <a:rPr sz="1400" b="1" i="0">
                <a:solidFill>
                  <a:srgbClr val="0A2540"/>
                </a:solidFill>
                <a:latin typeface="Calibri"/>
              </a:rPr>
              <a:t>1</a:t>
            </a:r>
          </a:p>
        </p:txBody>
      </p:sp>
      <p:sp>
        <p:nvSpPr>
          <p:cNvPr id="15" name="TextBox 14"/>
          <p:cNvSpPr txBox="1"/>
          <p:nvPr/>
        </p:nvSpPr>
        <p:spPr>
          <a:xfrm>
            <a:off x="1371600" y="2386584"/>
            <a:ext cx="4385919" cy="775340"/>
          </a:xfrm>
          <a:prstGeom prst="rect">
            <a:avLst/>
          </a:prstGeom>
          <a:noFill/>
        </p:spPr>
        <p:txBody>
          <a:bodyPr wrap="square" lIns="0" tIns="0" rIns="0" bIns="0" anchor="t">
            <a:spAutoFit/>
          </a:bodyPr>
          <a:lstStyle/>
          <a:p>
            <a:pPr algn="l">
              <a:lnSpc>
                <a:spcPct val="116000"/>
              </a:lnSpc>
            </a:pPr>
            <a:r>
              <a:rPr sz="1400" b="0" i="0">
                <a:solidFill>
                  <a:srgbClr val="2B3440"/>
                </a:solidFill>
                <a:latin typeface="Calibri"/>
              </a:rPr>
              <a:t>Trung bình mỗi tháng có bao nhiêu yêu cầu / giao dịch thuộc quy trình được xử lý?</a:t>
            </a:r>
          </a:p>
          <a:p>
            <a:pPr algn="l">
              <a:lnSpc>
                <a:spcPct val="110000"/>
              </a:lnSpc>
              <a:spcBef>
                <a:spcPts val="300"/>
              </a:spcBef>
            </a:pPr>
            <a:r>
              <a:rPr sz="1400" b="1" i="0">
                <a:solidFill>
                  <a:srgbClr val="6B7784"/>
                </a:solidFill>
                <a:latin typeface="Calibri"/>
              </a:rPr>
              <a:t>▸  _____ yêu cầu / tháng</a:t>
            </a:r>
          </a:p>
        </p:txBody>
      </p:sp>
      <p:sp>
        <p:nvSpPr>
          <p:cNvPr id="16" name="Rectangle 15"/>
          <p:cNvSpPr/>
          <p:nvPr/>
        </p:nvSpPr>
        <p:spPr>
          <a:xfrm>
            <a:off x="658368" y="3090672"/>
            <a:ext cx="5300319" cy="731520"/>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7" name="Rectangle 16"/>
          <p:cNvSpPr/>
          <p:nvPr/>
        </p:nvSpPr>
        <p:spPr>
          <a:xfrm>
            <a:off x="658368" y="3090672"/>
            <a:ext cx="50292" cy="73152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8" name="TextBox 17"/>
          <p:cNvSpPr txBox="1"/>
          <p:nvPr/>
        </p:nvSpPr>
        <p:spPr>
          <a:xfrm>
            <a:off x="859536" y="3348710"/>
            <a:ext cx="420624" cy="215444"/>
          </a:xfrm>
          <a:prstGeom prst="rect">
            <a:avLst/>
          </a:prstGeom>
          <a:noFill/>
        </p:spPr>
        <p:txBody>
          <a:bodyPr wrap="square" lIns="0" tIns="0" rIns="0" bIns="0" anchor="ctr">
            <a:spAutoFit/>
          </a:bodyPr>
          <a:lstStyle/>
          <a:p>
            <a:pPr algn="ctr">
              <a:lnSpc>
                <a:spcPct val="100000"/>
              </a:lnSpc>
            </a:pPr>
            <a:r>
              <a:rPr sz="1400" b="1" i="0">
                <a:solidFill>
                  <a:srgbClr val="0A2540"/>
                </a:solidFill>
                <a:latin typeface="Calibri"/>
              </a:rPr>
              <a:t>2</a:t>
            </a:r>
          </a:p>
        </p:txBody>
      </p:sp>
      <p:sp>
        <p:nvSpPr>
          <p:cNvPr id="19" name="TextBox 18"/>
          <p:cNvSpPr txBox="1"/>
          <p:nvPr/>
        </p:nvSpPr>
        <p:spPr>
          <a:xfrm>
            <a:off x="1371600" y="3172968"/>
            <a:ext cx="4385919" cy="775340"/>
          </a:xfrm>
          <a:prstGeom prst="rect">
            <a:avLst/>
          </a:prstGeom>
          <a:noFill/>
        </p:spPr>
        <p:txBody>
          <a:bodyPr wrap="square" lIns="0" tIns="0" rIns="0" bIns="0" anchor="t">
            <a:spAutoFit/>
          </a:bodyPr>
          <a:lstStyle/>
          <a:p>
            <a:pPr algn="l">
              <a:lnSpc>
                <a:spcPct val="116000"/>
              </a:lnSpc>
            </a:pPr>
            <a:r>
              <a:rPr sz="1400" b="0" i="0">
                <a:solidFill>
                  <a:srgbClr val="2B3440"/>
                </a:solidFill>
                <a:latin typeface="Calibri"/>
              </a:rPr>
              <a:t>Thời gian trung bình từ khi một yêu cầu bắt đầu đến khi hoàn thành là bao lâu?</a:t>
            </a:r>
          </a:p>
          <a:p>
            <a:pPr algn="l">
              <a:lnSpc>
                <a:spcPct val="110000"/>
              </a:lnSpc>
              <a:spcBef>
                <a:spcPts val="300"/>
              </a:spcBef>
            </a:pPr>
            <a:r>
              <a:rPr sz="1400" b="1" i="0">
                <a:solidFill>
                  <a:srgbClr val="6B7784"/>
                </a:solidFill>
                <a:latin typeface="Calibri"/>
              </a:rPr>
              <a:t>▸  _____ giờ / ngày</a:t>
            </a:r>
          </a:p>
        </p:txBody>
      </p:sp>
      <p:sp>
        <p:nvSpPr>
          <p:cNvPr id="20" name="Rectangle 19"/>
          <p:cNvSpPr/>
          <p:nvPr/>
        </p:nvSpPr>
        <p:spPr>
          <a:xfrm>
            <a:off x="658368" y="3877056"/>
            <a:ext cx="5300319" cy="731520"/>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1" name="Rectangle 20"/>
          <p:cNvSpPr/>
          <p:nvPr/>
        </p:nvSpPr>
        <p:spPr>
          <a:xfrm>
            <a:off x="658368" y="3877056"/>
            <a:ext cx="50292" cy="73152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2" name="TextBox 21"/>
          <p:cNvSpPr txBox="1"/>
          <p:nvPr/>
        </p:nvSpPr>
        <p:spPr>
          <a:xfrm>
            <a:off x="859536" y="4135094"/>
            <a:ext cx="420624" cy="215444"/>
          </a:xfrm>
          <a:prstGeom prst="rect">
            <a:avLst/>
          </a:prstGeom>
          <a:noFill/>
        </p:spPr>
        <p:txBody>
          <a:bodyPr wrap="square" lIns="0" tIns="0" rIns="0" bIns="0" anchor="ctr">
            <a:spAutoFit/>
          </a:bodyPr>
          <a:lstStyle/>
          <a:p>
            <a:pPr algn="ctr">
              <a:lnSpc>
                <a:spcPct val="100000"/>
              </a:lnSpc>
            </a:pPr>
            <a:r>
              <a:rPr sz="1400" b="1" i="0">
                <a:solidFill>
                  <a:srgbClr val="0A2540"/>
                </a:solidFill>
                <a:latin typeface="Calibri"/>
              </a:rPr>
              <a:t>3</a:t>
            </a:r>
          </a:p>
        </p:txBody>
      </p:sp>
      <p:sp>
        <p:nvSpPr>
          <p:cNvPr id="23" name="TextBox 22"/>
          <p:cNvSpPr txBox="1"/>
          <p:nvPr/>
        </p:nvSpPr>
        <p:spPr>
          <a:xfrm>
            <a:off x="1371600" y="3959352"/>
            <a:ext cx="4385919" cy="775340"/>
          </a:xfrm>
          <a:prstGeom prst="rect">
            <a:avLst/>
          </a:prstGeom>
          <a:noFill/>
        </p:spPr>
        <p:txBody>
          <a:bodyPr wrap="square" lIns="0" tIns="0" rIns="0" bIns="0" anchor="t">
            <a:spAutoFit/>
          </a:bodyPr>
          <a:lstStyle/>
          <a:p>
            <a:pPr algn="l">
              <a:lnSpc>
                <a:spcPct val="116000"/>
              </a:lnSpc>
            </a:pPr>
            <a:r>
              <a:rPr sz="1400" b="0" i="0">
                <a:solidFill>
                  <a:srgbClr val="2B3440"/>
                </a:solidFill>
                <a:latin typeface="Calibri"/>
              </a:rPr>
              <a:t>Trong tổng thời gian trên, thời gian thực tế dành cho việc xử lý công việc khoảng bao lâu?</a:t>
            </a:r>
          </a:p>
          <a:p>
            <a:pPr algn="l">
              <a:lnSpc>
                <a:spcPct val="110000"/>
              </a:lnSpc>
              <a:spcBef>
                <a:spcPts val="300"/>
              </a:spcBef>
            </a:pPr>
            <a:r>
              <a:rPr sz="1400" b="1" i="0">
                <a:solidFill>
                  <a:srgbClr val="6B7784"/>
                </a:solidFill>
                <a:latin typeface="Calibri"/>
              </a:rPr>
              <a:t>▸  _____ giờ / ngày</a:t>
            </a:r>
          </a:p>
        </p:txBody>
      </p:sp>
      <p:sp>
        <p:nvSpPr>
          <p:cNvPr id="24" name="Rectangle 23"/>
          <p:cNvSpPr/>
          <p:nvPr/>
        </p:nvSpPr>
        <p:spPr>
          <a:xfrm>
            <a:off x="658368" y="4663440"/>
            <a:ext cx="5300319" cy="731520"/>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5" name="Rectangle 24"/>
          <p:cNvSpPr/>
          <p:nvPr/>
        </p:nvSpPr>
        <p:spPr>
          <a:xfrm>
            <a:off x="658368" y="4663440"/>
            <a:ext cx="50292" cy="73152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6" name="TextBox 25"/>
          <p:cNvSpPr txBox="1"/>
          <p:nvPr/>
        </p:nvSpPr>
        <p:spPr>
          <a:xfrm>
            <a:off x="859536" y="4921478"/>
            <a:ext cx="420624" cy="215444"/>
          </a:xfrm>
          <a:prstGeom prst="rect">
            <a:avLst/>
          </a:prstGeom>
          <a:noFill/>
        </p:spPr>
        <p:txBody>
          <a:bodyPr wrap="square" lIns="0" tIns="0" rIns="0" bIns="0" anchor="ctr">
            <a:spAutoFit/>
          </a:bodyPr>
          <a:lstStyle/>
          <a:p>
            <a:pPr algn="ctr">
              <a:lnSpc>
                <a:spcPct val="100000"/>
              </a:lnSpc>
            </a:pPr>
            <a:r>
              <a:rPr sz="1400" b="1" i="0">
                <a:solidFill>
                  <a:srgbClr val="0A2540"/>
                </a:solidFill>
                <a:latin typeface="Calibri"/>
              </a:rPr>
              <a:t>4</a:t>
            </a:r>
          </a:p>
        </p:txBody>
      </p:sp>
      <p:sp>
        <p:nvSpPr>
          <p:cNvPr id="27" name="TextBox 26"/>
          <p:cNvSpPr txBox="1"/>
          <p:nvPr/>
        </p:nvSpPr>
        <p:spPr>
          <a:xfrm>
            <a:off x="1371600" y="4745736"/>
            <a:ext cx="4385919" cy="775340"/>
          </a:xfrm>
          <a:prstGeom prst="rect">
            <a:avLst/>
          </a:prstGeom>
          <a:noFill/>
        </p:spPr>
        <p:txBody>
          <a:bodyPr wrap="square" lIns="0" tIns="0" rIns="0" bIns="0" anchor="t">
            <a:spAutoFit/>
          </a:bodyPr>
          <a:lstStyle/>
          <a:p>
            <a:pPr algn="l">
              <a:lnSpc>
                <a:spcPct val="116000"/>
              </a:lnSpc>
            </a:pPr>
            <a:r>
              <a:rPr sz="1400" b="0" i="0">
                <a:solidFill>
                  <a:srgbClr val="2B3440"/>
                </a:solidFill>
                <a:latin typeface="Calibri"/>
              </a:rPr>
              <a:t>Trong 100 yêu cầu, bao nhiêu trường hợp phải bổ sung, sửa đổi hoặc thực hiện lại ít nhất một bước?</a:t>
            </a:r>
          </a:p>
          <a:p>
            <a:pPr algn="l">
              <a:lnSpc>
                <a:spcPct val="110000"/>
              </a:lnSpc>
              <a:spcBef>
                <a:spcPts val="300"/>
              </a:spcBef>
            </a:pPr>
            <a:r>
              <a:rPr sz="1400" b="1" i="0">
                <a:solidFill>
                  <a:srgbClr val="6B7784"/>
                </a:solidFill>
                <a:latin typeface="Calibri"/>
              </a:rPr>
              <a:t>▸  _____ / 100 yêu cầu</a:t>
            </a:r>
          </a:p>
        </p:txBody>
      </p:sp>
      <p:sp>
        <p:nvSpPr>
          <p:cNvPr id="28" name="Rectangle 27"/>
          <p:cNvSpPr/>
          <p:nvPr/>
        </p:nvSpPr>
        <p:spPr>
          <a:xfrm>
            <a:off x="658368" y="5449824"/>
            <a:ext cx="5300319" cy="731520"/>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9" name="Rectangle 28"/>
          <p:cNvSpPr/>
          <p:nvPr/>
        </p:nvSpPr>
        <p:spPr>
          <a:xfrm>
            <a:off x="658368" y="5449824"/>
            <a:ext cx="50292" cy="73152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0" name="TextBox 29"/>
          <p:cNvSpPr txBox="1"/>
          <p:nvPr/>
        </p:nvSpPr>
        <p:spPr>
          <a:xfrm>
            <a:off x="859536" y="5707862"/>
            <a:ext cx="420624" cy="215444"/>
          </a:xfrm>
          <a:prstGeom prst="rect">
            <a:avLst/>
          </a:prstGeom>
          <a:noFill/>
        </p:spPr>
        <p:txBody>
          <a:bodyPr wrap="square" lIns="0" tIns="0" rIns="0" bIns="0" anchor="ctr">
            <a:spAutoFit/>
          </a:bodyPr>
          <a:lstStyle/>
          <a:p>
            <a:pPr algn="ctr">
              <a:lnSpc>
                <a:spcPct val="100000"/>
              </a:lnSpc>
            </a:pPr>
            <a:r>
              <a:rPr sz="1400" b="1" i="0">
                <a:solidFill>
                  <a:srgbClr val="0A2540"/>
                </a:solidFill>
                <a:latin typeface="Calibri"/>
              </a:rPr>
              <a:t>5</a:t>
            </a:r>
          </a:p>
        </p:txBody>
      </p:sp>
      <p:sp>
        <p:nvSpPr>
          <p:cNvPr id="31" name="TextBox 30"/>
          <p:cNvSpPr txBox="1"/>
          <p:nvPr/>
        </p:nvSpPr>
        <p:spPr>
          <a:xfrm>
            <a:off x="1371600" y="5532120"/>
            <a:ext cx="4385919" cy="775340"/>
          </a:xfrm>
          <a:prstGeom prst="rect">
            <a:avLst/>
          </a:prstGeom>
          <a:noFill/>
        </p:spPr>
        <p:txBody>
          <a:bodyPr wrap="square" lIns="0" tIns="0" rIns="0" bIns="0" anchor="t">
            <a:spAutoFit/>
          </a:bodyPr>
          <a:lstStyle/>
          <a:p>
            <a:pPr algn="l">
              <a:lnSpc>
                <a:spcPct val="116000"/>
              </a:lnSpc>
            </a:pPr>
            <a:r>
              <a:rPr sz="1400" b="0" i="0">
                <a:solidFill>
                  <a:srgbClr val="2B3440"/>
                </a:solidFill>
                <a:latin typeface="Calibri"/>
              </a:rPr>
              <a:t>Trong 100 yêu cầu, bao nhiêu trường hợp được hoàn thành đúng thời hạn hoặc SLA áp dụng?</a:t>
            </a:r>
          </a:p>
          <a:p>
            <a:pPr algn="l">
              <a:lnSpc>
                <a:spcPct val="110000"/>
              </a:lnSpc>
              <a:spcBef>
                <a:spcPts val="300"/>
              </a:spcBef>
            </a:pPr>
            <a:r>
              <a:rPr sz="1400" b="1" i="0">
                <a:solidFill>
                  <a:srgbClr val="6B7784"/>
                </a:solidFill>
                <a:latin typeface="Calibri"/>
              </a:rPr>
              <a:t>▸  _____ / 100 yêu cầu</a:t>
            </a:r>
          </a:p>
        </p:txBody>
      </p:sp>
      <p:sp>
        <p:nvSpPr>
          <p:cNvPr id="32" name="Rectangle 31"/>
          <p:cNvSpPr/>
          <p:nvPr/>
        </p:nvSpPr>
        <p:spPr>
          <a:xfrm>
            <a:off x="6233007" y="1755648"/>
            <a:ext cx="5300319" cy="457200"/>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3" name="TextBox 32"/>
          <p:cNvSpPr txBox="1"/>
          <p:nvPr/>
        </p:nvSpPr>
        <p:spPr>
          <a:xfrm>
            <a:off x="6452463" y="1876526"/>
            <a:ext cx="4861407" cy="215444"/>
          </a:xfrm>
          <a:prstGeom prst="rect">
            <a:avLst/>
          </a:prstGeom>
          <a:noFill/>
        </p:spPr>
        <p:txBody>
          <a:bodyPr wrap="square" lIns="0" tIns="0" rIns="0" bIns="0" anchor="ctr">
            <a:spAutoFit/>
          </a:bodyPr>
          <a:lstStyle/>
          <a:p>
            <a:pPr algn="l">
              <a:lnSpc>
                <a:spcPct val="100000"/>
              </a:lnSpc>
            </a:pPr>
            <a:r>
              <a:rPr sz="1400" b="1" i="0">
                <a:solidFill>
                  <a:srgbClr val="0A2540"/>
                </a:solidFill>
                <a:latin typeface="Calibri"/>
              </a:rPr>
              <a:t>d.  KHÔNG CÓ CẤU TRÚC</a:t>
            </a:r>
          </a:p>
        </p:txBody>
      </p:sp>
      <p:sp>
        <p:nvSpPr>
          <p:cNvPr id="34" name="TextBox 33"/>
          <p:cNvSpPr txBox="1"/>
          <p:nvPr/>
        </p:nvSpPr>
        <p:spPr>
          <a:xfrm>
            <a:off x="9155887" y="1876526"/>
            <a:ext cx="2157984" cy="215444"/>
          </a:xfrm>
          <a:prstGeom prst="rect">
            <a:avLst/>
          </a:prstGeom>
          <a:noFill/>
        </p:spPr>
        <p:txBody>
          <a:bodyPr wrap="square" lIns="0" tIns="0" rIns="0" bIns="0" anchor="ctr">
            <a:spAutoFit/>
          </a:bodyPr>
          <a:lstStyle/>
          <a:p>
            <a:pPr algn="r">
              <a:lnSpc>
                <a:spcPct val="100000"/>
              </a:lnSpc>
            </a:pPr>
            <a:r>
              <a:rPr sz="1400" b="1" i="0">
                <a:solidFill>
                  <a:srgbClr val="0A2540"/>
                </a:solidFill>
                <a:latin typeface="Calibri"/>
              </a:rPr>
              <a:t>BẢNG 3.7</a:t>
            </a:r>
          </a:p>
        </p:txBody>
      </p:sp>
      <p:sp>
        <p:nvSpPr>
          <p:cNvPr id="35" name="Rectangle 34"/>
          <p:cNvSpPr/>
          <p:nvPr/>
        </p:nvSpPr>
        <p:spPr>
          <a:xfrm>
            <a:off x="6233007" y="2304288"/>
            <a:ext cx="5300319" cy="731520"/>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6" name="Rectangle 35"/>
          <p:cNvSpPr/>
          <p:nvPr/>
        </p:nvSpPr>
        <p:spPr>
          <a:xfrm>
            <a:off x="6233007" y="2304288"/>
            <a:ext cx="50292" cy="731520"/>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7" name="TextBox 36"/>
          <p:cNvSpPr txBox="1"/>
          <p:nvPr/>
        </p:nvSpPr>
        <p:spPr>
          <a:xfrm>
            <a:off x="6434175" y="2562326"/>
            <a:ext cx="420624" cy="215444"/>
          </a:xfrm>
          <a:prstGeom prst="rect">
            <a:avLst/>
          </a:prstGeom>
          <a:noFill/>
        </p:spPr>
        <p:txBody>
          <a:bodyPr wrap="square" lIns="0" tIns="0" rIns="0" bIns="0" anchor="ctr">
            <a:spAutoFit/>
          </a:bodyPr>
          <a:lstStyle/>
          <a:p>
            <a:pPr algn="ctr">
              <a:lnSpc>
                <a:spcPct val="100000"/>
              </a:lnSpc>
            </a:pPr>
            <a:r>
              <a:rPr sz="1400" b="1" i="0">
                <a:solidFill>
                  <a:srgbClr val="0A2540"/>
                </a:solidFill>
                <a:latin typeface="Calibri"/>
              </a:rPr>
              <a:t>1</a:t>
            </a:r>
          </a:p>
        </p:txBody>
      </p:sp>
      <p:sp>
        <p:nvSpPr>
          <p:cNvPr id="38" name="TextBox 37"/>
          <p:cNvSpPr txBox="1"/>
          <p:nvPr/>
        </p:nvSpPr>
        <p:spPr>
          <a:xfrm>
            <a:off x="6946239" y="2386584"/>
            <a:ext cx="4385919" cy="499880"/>
          </a:xfrm>
          <a:prstGeom prst="rect">
            <a:avLst/>
          </a:prstGeom>
          <a:noFill/>
        </p:spPr>
        <p:txBody>
          <a:bodyPr wrap="square" lIns="0" tIns="0" rIns="0" bIns="0" anchor="t">
            <a:spAutoFit/>
          </a:bodyPr>
          <a:lstStyle/>
          <a:p>
            <a:pPr algn="l">
              <a:lnSpc>
                <a:spcPct val="116000"/>
              </a:lnSpc>
            </a:pPr>
            <a:r>
              <a:rPr sz="1400" b="0" i="0">
                <a:solidFill>
                  <a:srgbClr val="2B3440"/>
                </a:solidFill>
                <a:latin typeface="Calibri"/>
              </a:rPr>
              <a:t>Những bước nào chiếm nhiều thời gian nhất trong quy trình và thời gian trung bình của từng bước khoảng bao lâu?</a:t>
            </a:r>
          </a:p>
        </p:txBody>
      </p:sp>
      <p:sp>
        <p:nvSpPr>
          <p:cNvPr id="39" name="Rectangle 38"/>
          <p:cNvSpPr/>
          <p:nvPr/>
        </p:nvSpPr>
        <p:spPr>
          <a:xfrm>
            <a:off x="6233007" y="3090672"/>
            <a:ext cx="5300319" cy="731520"/>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40" name="Rectangle 39"/>
          <p:cNvSpPr/>
          <p:nvPr/>
        </p:nvSpPr>
        <p:spPr>
          <a:xfrm>
            <a:off x="6233007" y="3090672"/>
            <a:ext cx="50292" cy="731520"/>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41" name="TextBox 40"/>
          <p:cNvSpPr txBox="1"/>
          <p:nvPr/>
        </p:nvSpPr>
        <p:spPr>
          <a:xfrm>
            <a:off x="6434175" y="3348710"/>
            <a:ext cx="420624" cy="215444"/>
          </a:xfrm>
          <a:prstGeom prst="rect">
            <a:avLst/>
          </a:prstGeom>
          <a:noFill/>
        </p:spPr>
        <p:txBody>
          <a:bodyPr wrap="square" lIns="0" tIns="0" rIns="0" bIns="0" anchor="ctr">
            <a:spAutoFit/>
          </a:bodyPr>
          <a:lstStyle/>
          <a:p>
            <a:pPr algn="ctr">
              <a:lnSpc>
                <a:spcPct val="100000"/>
              </a:lnSpc>
            </a:pPr>
            <a:r>
              <a:rPr sz="1400" b="1" i="0">
                <a:solidFill>
                  <a:srgbClr val="0A2540"/>
                </a:solidFill>
                <a:latin typeface="Calibri"/>
              </a:rPr>
              <a:t>2</a:t>
            </a:r>
          </a:p>
        </p:txBody>
      </p:sp>
      <p:sp>
        <p:nvSpPr>
          <p:cNvPr id="42" name="TextBox 41"/>
          <p:cNvSpPr txBox="1"/>
          <p:nvPr/>
        </p:nvSpPr>
        <p:spPr>
          <a:xfrm>
            <a:off x="6946239" y="3172968"/>
            <a:ext cx="4385919" cy="499880"/>
          </a:xfrm>
          <a:prstGeom prst="rect">
            <a:avLst/>
          </a:prstGeom>
          <a:noFill/>
        </p:spPr>
        <p:txBody>
          <a:bodyPr wrap="square" lIns="0" tIns="0" rIns="0" bIns="0" anchor="t">
            <a:spAutoFit/>
          </a:bodyPr>
          <a:lstStyle/>
          <a:p>
            <a:pPr algn="l">
              <a:lnSpc>
                <a:spcPct val="116000"/>
              </a:lnSpc>
            </a:pPr>
            <a:r>
              <a:rPr sz="1400" b="0" i="0">
                <a:solidFill>
                  <a:srgbClr val="2B3440"/>
                </a:solidFill>
                <a:latin typeface="Calibri"/>
              </a:rPr>
              <a:t>Những bước nào thường phát sinh thời gian chờ và thời gian chờ trung bình tại từng bước khoảng bao lâu?</a:t>
            </a:r>
          </a:p>
        </p:txBody>
      </p:sp>
      <p:sp>
        <p:nvSpPr>
          <p:cNvPr id="43" name="Rectangle 42"/>
          <p:cNvSpPr/>
          <p:nvPr/>
        </p:nvSpPr>
        <p:spPr>
          <a:xfrm>
            <a:off x="6233007" y="3877056"/>
            <a:ext cx="5300319" cy="731520"/>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44" name="Rectangle 43"/>
          <p:cNvSpPr/>
          <p:nvPr/>
        </p:nvSpPr>
        <p:spPr>
          <a:xfrm>
            <a:off x="6233007" y="3877056"/>
            <a:ext cx="50292" cy="731520"/>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45" name="TextBox 44"/>
          <p:cNvSpPr txBox="1"/>
          <p:nvPr/>
        </p:nvSpPr>
        <p:spPr>
          <a:xfrm>
            <a:off x="6434175" y="4135094"/>
            <a:ext cx="420624" cy="215444"/>
          </a:xfrm>
          <a:prstGeom prst="rect">
            <a:avLst/>
          </a:prstGeom>
          <a:noFill/>
        </p:spPr>
        <p:txBody>
          <a:bodyPr wrap="square" lIns="0" tIns="0" rIns="0" bIns="0" anchor="ctr">
            <a:spAutoFit/>
          </a:bodyPr>
          <a:lstStyle/>
          <a:p>
            <a:pPr algn="ctr">
              <a:lnSpc>
                <a:spcPct val="100000"/>
              </a:lnSpc>
            </a:pPr>
            <a:r>
              <a:rPr sz="1400" b="1" i="0">
                <a:solidFill>
                  <a:srgbClr val="0A2540"/>
                </a:solidFill>
                <a:latin typeface="Calibri"/>
              </a:rPr>
              <a:t>3</a:t>
            </a:r>
          </a:p>
        </p:txBody>
      </p:sp>
      <p:sp>
        <p:nvSpPr>
          <p:cNvPr id="46" name="TextBox 45"/>
          <p:cNvSpPr txBox="1"/>
          <p:nvPr/>
        </p:nvSpPr>
        <p:spPr>
          <a:xfrm>
            <a:off x="6946239" y="3959352"/>
            <a:ext cx="4385919" cy="499880"/>
          </a:xfrm>
          <a:prstGeom prst="rect">
            <a:avLst/>
          </a:prstGeom>
          <a:noFill/>
        </p:spPr>
        <p:txBody>
          <a:bodyPr wrap="square" lIns="0" tIns="0" rIns="0" bIns="0" anchor="t">
            <a:spAutoFit/>
          </a:bodyPr>
          <a:lstStyle/>
          <a:p>
            <a:pPr algn="l">
              <a:lnSpc>
                <a:spcPct val="116000"/>
              </a:lnSpc>
            </a:pPr>
            <a:r>
              <a:rPr sz="1400" b="0" i="0">
                <a:solidFill>
                  <a:srgbClr val="2B3440"/>
                </a:solidFill>
                <a:latin typeface="Calibri"/>
              </a:rPr>
              <a:t>Khi một yêu cầu phải bổ sung, sửa đổi hoặc thực hiện lại, trung bình phát sinh thêm bao nhiêu thời gian xử lý?</a:t>
            </a:r>
          </a:p>
        </p:txBody>
      </p:sp>
      <p:sp>
        <p:nvSpPr>
          <p:cNvPr id="47" name="Rectangle 46"/>
          <p:cNvSpPr/>
          <p:nvPr/>
        </p:nvSpPr>
        <p:spPr>
          <a:xfrm>
            <a:off x="6233007" y="4663440"/>
            <a:ext cx="5300319" cy="731520"/>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48" name="Rectangle 47"/>
          <p:cNvSpPr/>
          <p:nvPr/>
        </p:nvSpPr>
        <p:spPr>
          <a:xfrm>
            <a:off x="6233007" y="4663440"/>
            <a:ext cx="50292" cy="731520"/>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49" name="TextBox 48"/>
          <p:cNvSpPr txBox="1"/>
          <p:nvPr/>
        </p:nvSpPr>
        <p:spPr>
          <a:xfrm>
            <a:off x="6434175" y="4921478"/>
            <a:ext cx="420624" cy="215444"/>
          </a:xfrm>
          <a:prstGeom prst="rect">
            <a:avLst/>
          </a:prstGeom>
          <a:noFill/>
        </p:spPr>
        <p:txBody>
          <a:bodyPr wrap="square" lIns="0" tIns="0" rIns="0" bIns="0" anchor="ctr">
            <a:spAutoFit/>
          </a:bodyPr>
          <a:lstStyle/>
          <a:p>
            <a:pPr algn="ctr">
              <a:lnSpc>
                <a:spcPct val="100000"/>
              </a:lnSpc>
            </a:pPr>
            <a:r>
              <a:rPr sz="1400" b="1" i="0">
                <a:solidFill>
                  <a:srgbClr val="0A2540"/>
                </a:solidFill>
                <a:latin typeface="Calibri"/>
              </a:rPr>
              <a:t>4</a:t>
            </a:r>
          </a:p>
        </p:txBody>
      </p:sp>
      <p:sp>
        <p:nvSpPr>
          <p:cNvPr id="50" name="TextBox 49"/>
          <p:cNvSpPr txBox="1"/>
          <p:nvPr/>
        </p:nvSpPr>
        <p:spPr>
          <a:xfrm>
            <a:off x="6946239" y="4745736"/>
            <a:ext cx="4385919" cy="499880"/>
          </a:xfrm>
          <a:prstGeom prst="rect">
            <a:avLst/>
          </a:prstGeom>
          <a:noFill/>
        </p:spPr>
        <p:txBody>
          <a:bodyPr wrap="square" lIns="0" tIns="0" rIns="0" bIns="0" anchor="t">
            <a:spAutoFit/>
          </a:bodyPr>
          <a:lstStyle/>
          <a:p>
            <a:pPr algn="l">
              <a:lnSpc>
                <a:spcPct val="116000"/>
              </a:lnSpc>
            </a:pPr>
            <a:r>
              <a:rPr sz="1400" b="0" i="0">
                <a:solidFill>
                  <a:srgbClr val="2B3440"/>
                </a:solidFill>
                <a:latin typeface="Calibri"/>
              </a:rPr>
              <a:t>Với một yêu cầu điển hình, có bao nhiêu người tham gia xử lý và tổng số giờ công sử dụng khoảng bao nhiêu?</a:t>
            </a:r>
          </a:p>
        </p:txBody>
      </p:sp>
      <p:sp>
        <p:nvSpPr>
          <p:cNvPr id="51" name="Rectangle 50"/>
          <p:cNvSpPr/>
          <p:nvPr/>
        </p:nvSpPr>
        <p:spPr>
          <a:xfrm>
            <a:off x="6233007" y="5449824"/>
            <a:ext cx="5300319" cy="731520"/>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2" name="Rectangle 51"/>
          <p:cNvSpPr/>
          <p:nvPr/>
        </p:nvSpPr>
        <p:spPr>
          <a:xfrm>
            <a:off x="6233007" y="5449824"/>
            <a:ext cx="50292" cy="731520"/>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3" name="TextBox 52"/>
          <p:cNvSpPr txBox="1"/>
          <p:nvPr/>
        </p:nvSpPr>
        <p:spPr>
          <a:xfrm>
            <a:off x="6434175" y="5707862"/>
            <a:ext cx="420624" cy="215444"/>
          </a:xfrm>
          <a:prstGeom prst="rect">
            <a:avLst/>
          </a:prstGeom>
          <a:noFill/>
        </p:spPr>
        <p:txBody>
          <a:bodyPr wrap="square" lIns="0" tIns="0" rIns="0" bIns="0" anchor="ctr">
            <a:spAutoFit/>
          </a:bodyPr>
          <a:lstStyle/>
          <a:p>
            <a:pPr algn="ctr">
              <a:lnSpc>
                <a:spcPct val="100000"/>
              </a:lnSpc>
            </a:pPr>
            <a:r>
              <a:rPr sz="1400" b="1" i="0">
                <a:solidFill>
                  <a:srgbClr val="0A2540"/>
                </a:solidFill>
                <a:latin typeface="Calibri"/>
              </a:rPr>
              <a:t>5</a:t>
            </a:r>
          </a:p>
        </p:txBody>
      </p:sp>
      <p:sp>
        <p:nvSpPr>
          <p:cNvPr id="54" name="TextBox 53"/>
          <p:cNvSpPr txBox="1"/>
          <p:nvPr/>
        </p:nvSpPr>
        <p:spPr>
          <a:xfrm>
            <a:off x="6946239" y="5532120"/>
            <a:ext cx="4385919" cy="499880"/>
          </a:xfrm>
          <a:prstGeom prst="rect">
            <a:avLst/>
          </a:prstGeom>
          <a:noFill/>
        </p:spPr>
        <p:txBody>
          <a:bodyPr wrap="square" lIns="0" tIns="0" rIns="0" bIns="0" anchor="t">
            <a:spAutoFit/>
          </a:bodyPr>
          <a:lstStyle/>
          <a:p>
            <a:pPr algn="l">
              <a:lnSpc>
                <a:spcPct val="116000"/>
              </a:lnSpc>
            </a:pPr>
            <a:r>
              <a:rPr sz="1400" b="0" i="0">
                <a:solidFill>
                  <a:srgbClr val="2B3440"/>
                </a:solidFill>
                <a:latin typeface="Calibri"/>
              </a:rPr>
              <a:t>Chi phí hoặc nguồn lực phát sinh chủ yếu nằm ở những hoạt động nào và giá trị ước tính khoảng bao nhiêu?</a:t>
            </a:r>
          </a:p>
        </p:txBody>
      </p:sp>
    </p:spTree>
    <p:extLst>
      <p:ext uri="{BB962C8B-B14F-4D97-AF65-F5344CB8AC3E}">
        <p14:creationId xmlns:p14="http://schemas.microsoft.com/office/powerpoint/2010/main" val="28745145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CHƯƠNG 3 · 3.4.1 TIÊU CHÍ LỰA CHỌN</a:t>
            </a:r>
          </a:p>
        </p:txBody>
      </p:sp>
      <p:sp>
        <p:nvSpPr>
          <p:cNvPr id="3" name="TextBox 2"/>
          <p:cNvSpPr txBox="1"/>
          <p:nvPr/>
        </p:nvSpPr>
        <p:spPr>
          <a:xfrm>
            <a:off x="658368" y="640080"/>
            <a:ext cx="10874959" cy="603504"/>
          </a:xfrm>
          <a:prstGeom prst="rect">
            <a:avLst/>
          </a:prstGeom>
          <a:noFill/>
        </p:spPr>
        <p:txBody>
          <a:bodyPr wrap="square" lIns="0" tIns="0" rIns="0" bIns="0" anchor="t">
            <a:spAutoFit/>
          </a:bodyPr>
          <a:lstStyle/>
          <a:p>
            <a:pPr algn="l">
              <a:lnSpc>
                <a:spcPct val="105000"/>
              </a:lnSpc>
            </a:pPr>
            <a:r>
              <a:rPr sz="2500" b="1" i="0">
                <a:solidFill>
                  <a:srgbClr val="0A2540"/>
                </a:solidFill>
                <a:latin typeface="Calibri"/>
              </a:rPr>
              <a:t>05 TIÊU CHÍ SÀNG LỌC QUY TRÌNH PHÂN TÍCH CHUYÊN SÂU</a:t>
            </a: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371600"/>
            <a:ext cx="10874959" cy="254237"/>
          </a:xfrm>
          <a:prstGeom prst="rect">
            <a:avLst/>
          </a:prstGeom>
          <a:noFill/>
        </p:spPr>
        <p:txBody>
          <a:bodyPr wrap="square" lIns="0" tIns="0" rIns="0" bIns="0" anchor="t">
            <a:spAutoFit/>
          </a:bodyPr>
          <a:lstStyle/>
          <a:p>
            <a:pPr algn="l">
              <a:lnSpc>
                <a:spcPct val="118000"/>
              </a:lnSpc>
            </a:pPr>
            <a:r>
              <a:rPr sz="1400" b="0" i="1">
                <a:solidFill>
                  <a:srgbClr val="6B7784"/>
                </a:solidFill>
                <a:latin typeface="Calibri"/>
              </a:rPr>
              <a:t>Bảng 3.8 — Bộ tiêu chí thống nhất, thay cho việc lựa chọn dựa trên nhận định chủ quan</a:t>
            </a:r>
          </a:p>
        </p:txBody>
      </p:sp>
      <p:sp>
        <p:nvSpPr>
          <p:cNvPr id="7" name="TextBox 6"/>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8" name="TextBox 7"/>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33</a:t>
            </a:r>
          </a:p>
        </p:txBody>
      </p:sp>
      <p:sp>
        <p:nvSpPr>
          <p:cNvPr id="9" name="Rectangle 8"/>
          <p:cNvSpPr/>
          <p:nvPr/>
        </p:nvSpPr>
        <p:spPr>
          <a:xfrm>
            <a:off x="658368" y="1883664"/>
            <a:ext cx="2014057" cy="2834640"/>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 name="Rectangle 9"/>
          <p:cNvSpPr/>
          <p:nvPr/>
        </p:nvSpPr>
        <p:spPr>
          <a:xfrm>
            <a:off x="658368" y="1883664"/>
            <a:ext cx="2014057" cy="50292"/>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 name="TextBox 10"/>
          <p:cNvSpPr txBox="1"/>
          <p:nvPr/>
        </p:nvSpPr>
        <p:spPr>
          <a:xfrm>
            <a:off x="859536" y="2084832"/>
            <a:ext cx="1611721" cy="215444"/>
          </a:xfrm>
          <a:prstGeom prst="rect">
            <a:avLst/>
          </a:prstGeom>
          <a:noFill/>
        </p:spPr>
        <p:txBody>
          <a:bodyPr wrap="square" lIns="0" tIns="0" rIns="0" bIns="0" anchor="t">
            <a:spAutoFit/>
          </a:bodyPr>
          <a:lstStyle/>
          <a:p>
            <a:pPr algn="l">
              <a:lnSpc>
                <a:spcPct val="100000"/>
              </a:lnSpc>
            </a:pPr>
            <a:r>
              <a:rPr sz="1400" b="1" i="0">
                <a:solidFill>
                  <a:srgbClr val="0096D6"/>
                </a:solidFill>
                <a:latin typeface="Calibri"/>
              </a:rPr>
              <a:t>01</a:t>
            </a:r>
          </a:p>
        </p:txBody>
      </p:sp>
      <p:sp>
        <p:nvSpPr>
          <p:cNvPr id="12" name="TextBox 11"/>
          <p:cNvSpPr txBox="1"/>
          <p:nvPr/>
        </p:nvSpPr>
        <p:spPr>
          <a:xfrm>
            <a:off x="859536" y="2487168"/>
            <a:ext cx="1648297" cy="232692"/>
          </a:xfrm>
          <a:prstGeom prst="rect">
            <a:avLst/>
          </a:prstGeom>
          <a:noFill/>
        </p:spPr>
        <p:txBody>
          <a:bodyPr wrap="square" lIns="0" tIns="0" rIns="0" bIns="0" anchor="t">
            <a:spAutoFit/>
          </a:bodyPr>
          <a:lstStyle/>
          <a:p>
            <a:pPr algn="l">
              <a:lnSpc>
                <a:spcPct val="108000"/>
              </a:lnSpc>
            </a:pPr>
            <a:r>
              <a:rPr sz="1400" b="1" i="0">
                <a:solidFill>
                  <a:srgbClr val="0A2540"/>
                </a:solidFill>
                <a:latin typeface="Calibri"/>
              </a:rPr>
              <a:t>MỨC ĐỘ TƯƠNG TÁC</a:t>
            </a:r>
          </a:p>
        </p:txBody>
      </p:sp>
      <p:sp>
        <p:nvSpPr>
          <p:cNvPr id="13" name="TextBox 12"/>
          <p:cNvSpPr txBox="1"/>
          <p:nvPr/>
        </p:nvSpPr>
        <p:spPr>
          <a:xfrm>
            <a:off x="859536" y="3255264"/>
            <a:ext cx="1648297" cy="1371600"/>
          </a:xfrm>
          <a:prstGeom prst="rect">
            <a:avLst/>
          </a:prstGeom>
          <a:noFill/>
        </p:spPr>
        <p:txBody>
          <a:bodyPr wrap="square" lIns="0" tIns="0" rIns="0" bIns="0" anchor="t">
            <a:spAutoFit/>
          </a:bodyPr>
          <a:lstStyle/>
          <a:p>
            <a:pPr algn="l">
              <a:lnSpc>
                <a:spcPct val="124000"/>
              </a:lnSpc>
            </a:pPr>
            <a:r>
              <a:rPr sz="1400" b="0" i="0">
                <a:solidFill>
                  <a:srgbClr val="2B3440"/>
                </a:solidFill>
                <a:latin typeface="Calibri"/>
              </a:rPr>
              <a:t>Quy trình có sự tham gia và phối hợp của nhiều vai trò hoặc bộ phận trong quá trình thực hiện.</a:t>
            </a:r>
          </a:p>
        </p:txBody>
      </p:sp>
      <p:sp>
        <p:nvSpPr>
          <p:cNvPr id="14" name="Rectangle 13"/>
          <p:cNvSpPr/>
          <p:nvPr/>
        </p:nvSpPr>
        <p:spPr>
          <a:xfrm>
            <a:off x="2873593" y="1883664"/>
            <a:ext cx="2014057" cy="2834640"/>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5" name="Rectangle 14"/>
          <p:cNvSpPr/>
          <p:nvPr/>
        </p:nvSpPr>
        <p:spPr>
          <a:xfrm>
            <a:off x="2873593" y="1883664"/>
            <a:ext cx="2014057" cy="50292"/>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6" name="TextBox 15"/>
          <p:cNvSpPr txBox="1"/>
          <p:nvPr/>
        </p:nvSpPr>
        <p:spPr>
          <a:xfrm>
            <a:off x="3074761" y="2084832"/>
            <a:ext cx="1611721" cy="215444"/>
          </a:xfrm>
          <a:prstGeom prst="rect">
            <a:avLst/>
          </a:prstGeom>
          <a:noFill/>
        </p:spPr>
        <p:txBody>
          <a:bodyPr wrap="square" lIns="0" tIns="0" rIns="0" bIns="0" anchor="t">
            <a:spAutoFit/>
          </a:bodyPr>
          <a:lstStyle/>
          <a:p>
            <a:pPr algn="l">
              <a:lnSpc>
                <a:spcPct val="100000"/>
              </a:lnSpc>
            </a:pPr>
            <a:r>
              <a:rPr sz="1400" b="1" i="0">
                <a:solidFill>
                  <a:srgbClr val="0096D6"/>
                </a:solidFill>
                <a:latin typeface="Calibri"/>
              </a:rPr>
              <a:t>02</a:t>
            </a:r>
          </a:p>
        </p:txBody>
      </p:sp>
      <p:sp>
        <p:nvSpPr>
          <p:cNvPr id="17" name="TextBox 16"/>
          <p:cNvSpPr txBox="1"/>
          <p:nvPr/>
        </p:nvSpPr>
        <p:spPr>
          <a:xfrm>
            <a:off x="3074761" y="2487168"/>
            <a:ext cx="1648297" cy="465384"/>
          </a:xfrm>
          <a:prstGeom prst="rect">
            <a:avLst/>
          </a:prstGeom>
          <a:noFill/>
        </p:spPr>
        <p:txBody>
          <a:bodyPr wrap="square" lIns="0" tIns="0" rIns="0" bIns="0" anchor="t">
            <a:spAutoFit/>
          </a:bodyPr>
          <a:lstStyle/>
          <a:p>
            <a:pPr algn="l">
              <a:lnSpc>
                <a:spcPct val="108000"/>
              </a:lnSpc>
            </a:pPr>
            <a:r>
              <a:rPr sz="1400" b="1" i="0">
                <a:solidFill>
                  <a:srgbClr val="0A2540"/>
                </a:solidFill>
                <a:latin typeface="Calibri"/>
              </a:rPr>
              <a:t>MỨC ĐỘ CHUYỂN GIAO</a:t>
            </a:r>
          </a:p>
        </p:txBody>
      </p:sp>
      <p:sp>
        <p:nvSpPr>
          <p:cNvPr id="18" name="TextBox 17"/>
          <p:cNvSpPr txBox="1"/>
          <p:nvPr/>
        </p:nvSpPr>
        <p:spPr>
          <a:xfrm>
            <a:off x="3074761" y="3255264"/>
            <a:ext cx="1648297" cy="1371600"/>
          </a:xfrm>
          <a:prstGeom prst="rect">
            <a:avLst/>
          </a:prstGeom>
          <a:noFill/>
        </p:spPr>
        <p:txBody>
          <a:bodyPr wrap="square" lIns="0" tIns="0" rIns="0" bIns="0" anchor="t">
            <a:spAutoFit/>
          </a:bodyPr>
          <a:lstStyle/>
          <a:p>
            <a:pPr algn="l">
              <a:lnSpc>
                <a:spcPct val="124000"/>
              </a:lnSpc>
            </a:pPr>
            <a:r>
              <a:rPr sz="1400" b="0" i="0">
                <a:solidFill>
                  <a:srgbClr val="2B3440"/>
                </a:solidFill>
                <a:latin typeface="Calibri"/>
              </a:rPr>
              <a:t>Có các điểm bàn giao thông tin, chứng từ hoặc trách nhiệm giữa các đối tượng tham gia.</a:t>
            </a:r>
          </a:p>
        </p:txBody>
      </p:sp>
      <p:sp>
        <p:nvSpPr>
          <p:cNvPr id="19" name="Rectangle 18"/>
          <p:cNvSpPr/>
          <p:nvPr/>
        </p:nvSpPr>
        <p:spPr>
          <a:xfrm>
            <a:off x="5088818" y="1883664"/>
            <a:ext cx="2014057" cy="2834640"/>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0" name="Rectangle 19"/>
          <p:cNvSpPr/>
          <p:nvPr/>
        </p:nvSpPr>
        <p:spPr>
          <a:xfrm>
            <a:off x="5088818" y="1883664"/>
            <a:ext cx="2014057" cy="50292"/>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1" name="TextBox 20"/>
          <p:cNvSpPr txBox="1"/>
          <p:nvPr/>
        </p:nvSpPr>
        <p:spPr>
          <a:xfrm>
            <a:off x="5289986" y="2084832"/>
            <a:ext cx="1611721" cy="215444"/>
          </a:xfrm>
          <a:prstGeom prst="rect">
            <a:avLst/>
          </a:prstGeom>
          <a:noFill/>
        </p:spPr>
        <p:txBody>
          <a:bodyPr wrap="square" lIns="0" tIns="0" rIns="0" bIns="0" anchor="t">
            <a:spAutoFit/>
          </a:bodyPr>
          <a:lstStyle/>
          <a:p>
            <a:pPr algn="l">
              <a:lnSpc>
                <a:spcPct val="100000"/>
              </a:lnSpc>
            </a:pPr>
            <a:r>
              <a:rPr sz="1400" b="1" i="0">
                <a:solidFill>
                  <a:srgbClr val="0096D6"/>
                </a:solidFill>
                <a:latin typeface="Calibri"/>
              </a:rPr>
              <a:t>03</a:t>
            </a:r>
          </a:p>
        </p:txBody>
      </p:sp>
      <p:sp>
        <p:nvSpPr>
          <p:cNvPr id="22" name="TextBox 21"/>
          <p:cNvSpPr txBox="1"/>
          <p:nvPr/>
        </p:nvSpPr>
        <p:spPr>
          <a:xfrm>
            <a:off x="5289986" y="2487168"/>
            <a:ext cx="1648297" cy="465384"/>
          </a:xfrm>
          <a:prstGeom prst="rect">
            <a:avLst/>
          </a:prstGeom>
          <a:noFill/>
        </p:spPr>
        <p:txBody>
          <a:bodyPr wrap="square" lIns="0" tIns="0" rIns="0" bIns="0" anchor="t">
            <a:spAutoFit/>
          </a:bodyPr>
          <a:lstStyle/>
          <a:p>
            <a:pPr algn="l">
              <a:lnSpc>
                <a:spcPct val="108000"/>
              </a:lnSpc>
            </a:pPr>
            <a:r>
              <a:rPr sz="1400" b="1" i="0">
                <a:solidFill>
                  <a:srgbClr val="0A2540"/>
                </a:solidFill>
                <a:latin typeface="Calibri"/>
              </a:rPr>
              <a:t>KHẢ NĂNG PHÁT SINH CHỜ</a:t>
            </a:r>
          </a:p>
        </p:txBody>
      </p:sp>
      <p:sp>
        <p:nvSpPr>
          <p:cNvPr id="23" name="TextBox 22"/>
          <p:cNvSpPr txBox="1"/>
          <p:nvPr/>
        </p:nvSpPr>
        <p:spPr>
          <a:xfrm>
            <a:off x="5289986" y="3255264"/>
            <a:ext cx="1648297" cy="1371600"/>
          </a:xfrm>
          <a:prstGeom prst="rect">
            <a:avLst/>
          </a:prstGeom>
          <a:noFill/>
        </p:spPr>
        <p:txBody>
          <a:bodyPr wrap="square" lIns="0" tIns="0" rIns="0" bIns="0" anchor="t">
            <a:spAutoFit/>
          </a:bodyPr>
          <a:lstStyle/>
          <a:p>
            <a:pPr algn="l">
              <a:lnSpc>
                <a:spcPct val="124000"/>
              </a:lnSpc>
            </a:pPr>
            <a:r>
              <a:rPr sz="1400" b="0" i="0">
                <a:solidFill>
                  <a:srgbClr val="2B3440"/>
                </a:solidFill>
                <a:latin typeface="Calibri"/>
              </a:rPr>
              <a:t>Có hoạt động chờ xử lý, chờ phản hồi, chờ phê duyệt hoặc phụ thuộc vào hoạt động khác.</a:t>
            </a:r>
          </a:p>
        </p:txBody>
      </p:sp>
      <p:sp>
        <p:nvSpPr>
          <p:cNvPr id="24" name="Rectangle 23"/>
          <p:cNvSpPr/>
          <p:nvPr/>
        </p:nvSpPr>
        <p:spPr>
          <a:xfrm>
            <a:off x="7304044" y="1883664"/>
            <a:ext cx="2014057" cy="2834640"/>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5" name="Rectangle 24"/>
          <p:cNvSpPr/>
          <p:nvPr/>
        </p:nvSpPr>
        <p:spPr>
          <a:xfrm>
            <a:off x="7304044" y="1883664"/>
            <a:ext cx="2014057" cy="50292"/>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6" name="TextBox 25"/>
          <p:cNvSpPr txBox="1"/>
          <p:nvPr/>
        </p:nvSpPr>
        <p:spPr>
          <a:xfrm>
            <a:off x="7505212" y="2084832"/>
            <a:ext cx="1611721" cy="215444"/>
          </a:xfrm>
          <a:prstGeom prst="rect">
            <a:avLst/>
          </a:prstGeom>
          <a:noFill/>
        </p:spPr>
        <p:txBody>
          <a:bodyPr wrap="square" lIns="0" tIns="0" rIns="0" bIns="0" anchor="t">
            <a:spAutoFit/>
          </a:bodyPr>
          <a:lstStyle/>
          <a:p>
            <a:pPr algn="l">
              <a:lnSpc>
                <a:spcPct val="100000"/>
              </a:lnSpc>
            </a:pPr>
            <a:r>
              <a:rPr sz="1400" b="1" i="0">
                <a:solidFill>
                  <a:srgbClr val="0096D6"/>
                </a:solidFill>
                <a:latin typeface="Calibri"/>
              </a:rPr>
              <a:t>04</a:t>
            </a:r>
          </a:p>
        </p:txBody>
      </p:sp>
      <p:sp>
        <p:nvSpPr>
          <p:cNvPr id="27" name="TextBox 26"/>
          <p:cNvSpPr txBox="1"/>
          <p:nvPr/>
        </p:nvSpPr>
        <p:spPr>
          <a:xfrm>
            <a:off x="7505212" y="2487168"/>
            <a:ext cx="1648297" cy="465384"/>
          </a:xfrm>
          <a:prstGeom prst="rect">
            <a:avLst/>
          </a:prstGeom>
          <a:noFill/>
        </p:spPr>
        <p:txBody>
          <a:bodyPr wrap="square" lIns="0" tIns="0" rIns="0" bIns="0" anchor="t">
            <a:spAutoFit/>
          </a:bodyPr>
          <a:lstStyle/>
          <a:p>
            <a:pPr algn="l">
              <a:lnSpc>
                <a:spcPct val="108000"/>
              </a:lnSpc>
            </a:pPr>
            <a:r>
              <a:rPr sz="1400" b="1" i="0">
                <a:solidFill>
                  <a:srgbClr val="0A2540"/>
                </a:solidFill>
                <a:latin typeface="Calibri"/>
              </a:rPr>
              <a:t>KHẢ NĂNG ĐỊNH LƯỢNG</a:t>
            </a:r>
          </a:p>
        </p:txBody>
      </p:sp>
      <p:sp>
        <p:nvSpPr>
          <p:cNvPr id="28" name="TextBox 27"/>
          <p:cNvSpPr txBox="1"/>
          <p:nvPr/>
        </p:nvSpPr>
        <p:spPr>
          <a:xfrm>
            <a:off x="7505212" y="3255264"/>
            <a:ext cx="1648297" cy="1371600"/>
          </a:xfrm>
          <a:prstGeom prst="rect">
            <a:avLst/>
          </a:prstGeom>
          <a:noFill/>
        </p:spPr>
        <p:txBody>
          <a:bodyPr wrap="square" lIns="0" tIns="0" rIns="0" bIns="0" anchor="t">
            <a:spAutoFit/>
          </a:bodyPr>
          <a:lstStyle/>
          <a:p>
            <a:pPr algn="l">
              <a:lnSpc>
                <a:spcPct val="124000"/>
              </a:lnSpc>
            </a:pPr>
            <a:r>
              <a:rPr sz="1400" b="0" i="0">
                <a:solidFill>
                  <a:srgbClr val="2B3440"/>
                </a:solidFill>
                <a:latin typeface="Calibri"/>
              </a:rPr>
              <a:t>Có thể xác định hoặc thu thập chỉ số về thời gian, chi phí, khối lượng xử lý và chất lượng.</a:t>
            </a:r>
          </a:p>
        </p:txBody>
      </p:sp>
      <p:sp>
        <p:nvSpPr>
          <p:cNvPr id="29" name="Rectangle 28"/>
          <p:cNvSpPr/>
          <p:nvPr/>
        </p:nvSpPr>
        <p:spPr>
          <a:xfrm>
            <a:off x="9519269" y="1883664"/>
            <a:ext cx="2014057" cy="2834640"/>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0" name="Rectangle 29"/>
          <p:cNvSpPr/>
          <p:nvPr/>
        </p:nvSpPr>
        <p:spPr>
          <a:xfrm>
            <a:off x="9519269" y="1883664"/>
            <a:ext cx="2014057" cy="50292"/>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1" name="TextBox 30"/>
          <p:cNvSpPr txBox="1"/>
          <p:nvPr/>
        </p:nvSpPr>
        <p:spPr>
          <a:xfrm>
            <a:off x="9720437" y="2084832"/>
            <a:ext cx="1611721" cy="215444"/>
          </a:xfrm>
          <a:prstGeom prst="rect">
            <a:avLst/>
          </a:prstGeom>
          <a:noFill/>
        </p:spPr>
        <p:txBody>
          <a:bodyPr wrap="square" lIns="0" tIns="0" rIns="0" bIns="0" anchor="t">
            <a:spAutoFit/>
          </a:bodyPr>
          <a:lstStyle/>
          <a:p>
            <a:pPr algn="l">
              <a:lnSpc>
                <a:spcPct val="100000"/>
              </a:lnSpc>
            </a:pPr>
            <a:r>
              <a:rPr sz="1400" b="1" i="0">
                <a:solidFill>
                  <a:srgbClr val="0096D6"/>
                </a:solidFill>
                <a:latin typeface="Calibri"/>
              </a:rPr>
              <a:t>05</a:t>
            </a:r>
          </a:p>
        </p:txBody>
      </p:sp>
      <p:sp>
        <p:nvSpPr>
          <p:cNvPr id="32" name="TextBox 31"/>
          <p:cNvSpPr txBox="1"/>
          <p:nvPr/>
        </p:nvSpPr>
        <p:spPr>
          <a:xfrm>
            <a:off x="9720437" y="2487168"/>
            <a:ext cx="1648297" cy="232692"/>
          </a:xfrm>
          <a:prstGeom prst="rect">
            <a:avLst/>
          </a:prstGeom>
          <a:noFill/>
        </p:spPr>
        <p:txBody>
          <a:bodyPr wrap="square" lIns="0" tIns="0" rIns="0" bIns="0" anchor="t">
            <a:spAutoFit/>
          </a:bodyPr>
          <a:lstStyle/>
          <a:p>
            <a:pPr algn="l">
              <a:lnSpc>
                <a:spcPct val="108000"/>
              </a:lnSpc>
            </a:pPr>
            <a:r>
              <a:rPr sz="1400" b="1" i="0">
                <a:solidFill>
                  <a:srgbClr val="0A2540"/>
                </a:solidFill>
                <a:latin typeface="Calibri"/>
              </a:rPr>
              <a:t>TIỀM NĂNG CẢI TIẾN</a:t>
            </a:r>
          </a:p>
        </p:txBody>
      </p:sp>
      <p:sp>
        <p:nvSpPr>
          <p:cNvPr id="33" name="TextBox 32"/>
          <p:cNvSpPr txBox="1"/>
          <p:nvPr/>
        </p:nvSpPr>
        <p:spPr>
          <a:xfrm>
            <a:off x="9720437" y="3255264"/>
            <a:ext cx="1648297" cy="1371600"/>
          </a:xfrm>
          <a:prstGeom prst="rect">
            <a:avLst/>
          </a:prstGeom>
          <a:noFill/>
        </p:spPr>
        <p:txBody>
          <a:bodyPr wrap="square" lIns="0" tIns="0" rIns="0" bIns="0" anchor="t">
            <a:spAutoFit/>
          </a:bodyPr>
          <a:lstStyle/>
          <a:p>
            <a:pPr algn="l">
              <a:lnSpc>
                <a:spcPct val="124000"/>
              </a:lnSpc>
            </a:pPr>
            <a:r>
              <a:rPr sz="1400" b="0" i="0">
                <a:solidFill>
                  <a:srgbClr val="2B3440"/>
                </a:solidFill>
                <a:latin typeface="Calibri"/>
              </a:rPr>
              <a:t>Có hoạt động hoặc điểm tương tác xem xét được dưới góc độ giá trị gia tăng và lãng phí.</a:t>
            </a:r>
          </a:p>
        </p:txBody>
      </p:sp>
      <p:sp>
        <p:nvSpPr>
          <p:cNvPr id="34" name="Rectangle 33"/>
          <p:cNvSpPr/>
          <p:nvPr/>
        </p:nvSpPr>
        <p:spPr>
          <a:xfrm>
            <a:off x="658368" y="5010912"/>
            <a:ext cx="10874959" cy="786384"/>
          </a:xfrm>
          <a:prstGeom prst="rect">
            <a:avLst/>
          </a:prstGeom>
          <a:solidFill>
            <a:srgbClr val="E9F3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5" name="Rectangle 34"/>
          <p:cNvSpPr/>
          <p:nvPr/>
        </p:nvSpPr>
        <p:spPr>
          <a:xfrm>
            <a:off x="658368" y="5010912"/>
            <a:ext cx="50292" cy="786384"/>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6" name="TextBox 35"/>
          <p:cNvSpPr txBox="1"/>
          <p:nvPr/>
        </p:nvSpPr>
        <p:spPr>
          <a:xfrm>
            <a:off x="950976" y="5134799"/>
            <a:ext cx="10280599" cy="538609"/>
          </a:xfrm>
          <a:prstGeom prst="rect">
            <a:avLst/>
          </a:prstGeom>
          <a:noFill/>
        </p:spPr>
        <p:txBody>
          <a:bodyPr wrap="square" lIns="0" tIns="0" rIns="0" bIns="0" anchor="ctr">
            <a:spAutoFit/>
          </a:bodyPr>
          <a:lstStyle/>
          <a:p>
            <a:pPr algn="l">
              <a:lnSpc>
                <a:spcPct val="125000"/>
              </a:lnSpc>
            </a:pPr>
            <a:r>
              <a:rPr sz="1400" b="1" i="0">
                <a:solidFill>
                  <a:srgbClr val="0A2540"/>
                </a:solidFill>
                <a:latin typeface="Calibri"/>
              </a:rPr>
              <a:t>Tiêu chí 01 – 02 – 03 phản ánh ĐỘ PHỨC TẠP VẬN HÀNH;  tiêu chí 04 – 05 phản ánh KHẢ NĂNG PHÂN TÍCH VÀ CẢI TIẾN. Một quy trình chỉ phù hợp khi mạnh ở cả hai nhóm tiêu chí.</a:t>
            </a:r>
          </a:p>
        </p:txBody>
      </p:sp>
    </p:spTree>
    <p:extLst>
      <p:ext uri="{BB962C8B-B14F-4D97-AF65-F5344CB8AC3E}">
        <p14:creationId xmlns:p14="http://schemas.microsoft.com/office/powerpoint/2010/main" val="40785476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CHƯƠNG 3 · 3.4.2 ĐÁNH GIÁ VÀ KẾT QUẢ</a:t>
            </a:r>
          </a:p>
        </p:txBody>
      </p:sp>
      <p:sp>
        <p:nvSpPr>
          <p:cNvPr id="3" name="TextBox 2"/>
          <p:cNvSpPr txBox="1"/>
          <p:nvPr/>
        </p:nvSpPr>
        <p:spPr>
          <a:xfrm>
            <a:off x="658368" y="640080"/>
            <a:ext cx="10874959" cy="603504"/>
          </a:xfrm>
          <a:prstGeom prst="rect">
            <a:avLst/>
          </a:prstGeom>
          <a:noFill/>
        </p:spPr>
        <p:txBody>
          <a:bodyPr wrap="square" lIns="0" tIns="0" rIns="0" bIns="0" anchor="t">
            <a:spAutoFit/>
          </a:bodyPr>
          <a:lstStyle/>
          <a:p>
            <a:pPr algn="l">
              <a:lnSpc>
                <a:spcPct val="105000"/>
              </a:lnSpc>
            </a:pPr>
            <a:r>
              <a:rPr sz="2500" b="1" i="0">
                <a:solidFill>
                  <a:srgbClr val="0A2540"/>
                </a:solidFill>
                <a:latin typeface="Calibri"/>
              </a:rPr>
              <a:t>MA TRẬN ĐÁNH GIÁ 06 QUY TRÌNH THEO 05 TIÊU CHÍ</a:t>
            </a: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371600"/>
            <a:ext cx="10874959" cy="254237"/>
          </a:xfrm>
          <a:prstGeom prst="rect">
            <a:avLst/>
          </a:prstGeom>
          <a:noFill/>
        </p:spPr>
        <p:txBody>
          <a:bodyPr wrap="square" lIns="0" tIns="0" rIns="0" bIns="0" anchor="t">
            <a:spAutoFit/>
          </a:bodyPr>
          <a:lstStyle/>
          <a:p>
            <a:pPr algn="l">
              <a:lnSpc>
                <a:spcPct val="118000"/>
              </a:lnSpc>
            </a:pPr>
            <a:r>
              <a:rPr sz="1400" b="0" i="1">
                <a:solidFill>
                  <a:srgbClr val="6B7784"/>
                </a:solidFill>
                <a:latin typeface="Calibri"/>
              </a:rPr>
              <a:t>Bảng 3.9 — Đánh giá mức độ phù hợp cho phân tích chuyên sâu (thang Cao – Trung bình – Thấp)</a:t>
            </a:r>
          </a:p>
        </p:txBody>
      </p:sp>
      <p:sp>
        <p:nvSpPr>
          <p:cNvPr id="7" name="TextBox 6"/>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8" name="TextBox 7"/>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34</a:t>
            </a:r>
          </a:p>
        </p:txBody>
      </p:sp>
      <p:graphicFrame>
        <p:nvGraphicFramePr>
          <p:cNvPr id="9" name="Table 8"/>
          <p:cNvGraphicFramePr>
            <a:graphicFrameLocks noGrp="1"/>
          </p:cNvGraphicFramePr>
          <p:nvPr>
            <p:extLst/>
          </p:nvPr>
        </p:nvGraphicFramePr>
        <p:xfrm>
          <a:off x="658368" y="1865376"/>
          <a:ext cx="10884103" cy="3090672"/>
        </p:xfrm>
        <a:graphic>
          <a:graphicData uri="http://schemas.openxmlformats.org/drawingml/2006/table">
            <a:tbl>
              <a:tblPr firstRow="1">
                <a:tableStyleId>{5C22544A-7EE6-4342-B048-85BDC9FD1C3A}</a:tableStyleId>
              </a:tblPr>
              <a:tblGrid>
                <a:gridCol w="3383280">
                  <a:extLst>
                    <a:ext uri="{9D8B030D-6E8A-4147-A177-3AD203B41FA5}">
                      <a16:colId xmlns:a16="http://schemas.microsoft.com/office/drawing/2014/main" val="20000"/>
                    </a:ext>
                  </a:extLst>
                </a:gridCol>
                <a:gridCol w="1499616">
                  <a:extLst>
                    <a:ext uri="{9D8B030D-6E8A-4147-A177-3AD203B41FA5}">
                      <a16:colId xmlns:a16="http://schemas.microsoft.com/office/drawing/2014/main" val="20001"/>
                    </a:ext>
                  </a:extLst>
                </a:gridCol>
                <a:gridCol w="1499616">
                  <a:extLst>
                    <a:ext uri="{9D8B030D-6E8A-4147-A177-3AD203B41FA5}">
                      <a16:colId xmlns:a16="http://schemas.microsoft.com/office/drawing/2014/main" val="20002"/>
                    </a:ext>
                  </a:extLst>
                </a:gridCol>
                <a:gridCol w="1499616">
                  <a:extLst>
                    <a:ext uri="{9D8B030D-6E8A-4147-A177-3AD203B41FA5}">
                      <a16:colId xmlns:a16="http://schemas.microsoft.com/office/drawing/2014/main" val="20003"/>
                    </a:ext>
                  </a:extLst>
                </a:gridCol>
                <a:gridCol w="1563624">
                  <a:extLst>
                    <a:ext uri="{9D8B030D-6E8A-4147-A177-3AD203B41FA5}">
                      <a16:colId xmlns:a16="http://schemas.microsoft.com/office/drawing/2014/main" val="20004"/>
                    </a:ext>
                  </a:extLst>
                </a:gridCol>
                <a:gridCol w="1438351">
                  <a:extLst>
                    <a:ext uri="{9D8B030D-6E8A-4147-A177-3AD203B41FA5}">
                      <a16:colId xmlns:a16="http://schemas.microsoft.com/office/drawing/2014/main" val="20005"/>
                    </a:ext>
                  </a:extLst>
                </a:gridCol>
              </a:tblGrid>
              <a:tr h="566928">
                <a:tc>
                  <a:txBody>
                    <a:bodyPr/>
                    <a:lstStyle/>
                    <a:p>
                      <a:pPr algn="ctr">
                        <a:lnSpc>
                          <a:spcPct val="105000"/>
                        </a:lnSpc>
                      </a:pPr>
                      <a:r>
                        <a:rPr sz="1000" b="1">
                          <a:solidFill>
                            <a:srgbClr val="FFFFFF"/>
                          </a:solidFill>
                          <a:latin typeface="Calibri"/>
                        </a:rPr>
                        <a:t>QUY TRÌNH</a:t>
                      </a:r>
                    </a:p>
                  </a:txBody>
                  <a:tcPr marL="100584" marR="73152" marT="41148" marB="41148" anchor="ctr">
                    <a:solidFill>
                      <a:srgbClr val="0A2540"/>
                    </a:solidFill>
                  </a:tcPr>
                </a:tc>
                <a:tc>
                  <a:txBody>
                    <a:bodyPr/>
                    <a:lstStyle/>
                    <a:p>
                      <a:pPr algn="ctr">
                        <a:lnSpc>
                          <a:spcPct val="105000"/>
                        </a:lnSpc>
                      </a:pPr>
                      <a:r>
                        <a:rPr sz="1000" b="1">
                          <a:solidFill>
                            <a:srgbClr val="FFFFFF"/>
                          </a:solidFill>
                          <a:latin typeface="Calibri"/>
                        </a:rPr>
                        <a:t>Tương tác
giữa các bên</a:t>
                      </a:r>
                    </a:p>
                  </a:txBody>
                  <a:tcPr marL="100584" marR="73152" marT="41148" marB="41148" anchor="ctr">
                    <a:solidFill>
                      <a:srgbClr val="0A2540"/>
                    </a:solidFill>
                  </a:tcPr>
                </a:tc>
                <a:tc>
                  <a:txBody>
                    <a:bodyPr/>
                    <a:lstStyle/>
                    <a:p>
                      <a:pPr algn="ctr">
                        <a:lnSpc>
                          <a:spcPct val="105000"/>
                        </a:lnSpc>
                      </a:pPr>
                      <a:r>
                        <a:rPr sz="1000" b="1">
                          <a:solidFill>
                            <a:srgbClr val="FFFFFF"/>
                          </a:solidFill>
                          <a:latin typeface="Calibri"/>
                        </a:rPr>
                        <a:t>Chuyển giao
công việc</a:t>
                      </a:r>
                    </a:p>
                  </a:txBody>
                  <a:tcPr marL="100584" marR="73152" marT="41148" marB="41148" anchor="ctr">
                    <a:solidFill>
                      <a:srgbClr val="0A2540"/>
                    </a:solidFill>
                  </a:tcPr>
                </a:tc>
                <a:tc>
                  <a:txBody>
                    <a:bodyPr/>
                    <a:lstStyle/>
                    <a:p>
                      <a:pPr algn="ctr">
                        <a:lnSpc>
                          <a:spcPct val="105000"/>
                        </a:lnSpc>
                      </a:pPr>
                      <a:r>
                        <a:rPr sz="1000" b="1">
                          <a:solidFill>
                            <a:srgbClr val="FFFFFF"/>
                          </a:solidFill>
                          <a:latin typeface="Calibri"/>
                        </a:rPr>
                        <a:t>Khả năng
phát sinh chờ</a:t>
                      </a:r>
                    </a:p>
                  </a:txBody>
                  <a:tcPr marL="100584" marR="73152" marT="41148" marB="41148" anchor="ctr">
                    <a:solidFill>
                      <a:srgbClr val="0A2540"/>
                    </a:solidFill>
                  </a:tcPr>
                </a:tc>
                <a:tc>
                  <a:txBody>
                    <a:bodyPr/>
                    <a:lstStyle/>
                    <a:p>
                      <a:pPr algn="ctr">
                        <a:lnSpc>
                          <a:spcPct val="105000"/>
                        </a:lnSpc>
                      </a:pPr>
                      <a:r>
                        <a:rPr sz="1000" b="1">
                          <a:solidFill>
                            <a:srgbClr val="FFFFFF"/>
                          </a:solidFill>
                          <a:latin typeface="Calibri"/>
                        </a:rPr>
                        <a:t>Khả năng phân
tích định lượng</a:t>
                      </a:r>
                    </a:p>
                  </a:txBody>
                  <a:tcPr marL="100584" marR="73152" marT="41148" marB="41148" anchor="ctr">
                    <a:solidFill>
                      <a:srgbClr val="0A2540"/>
                    </a:solidFill>
                  </a:tcPr>
                </a:tc>
                <a:tc>
                  <a:txBody>
                    <a:bodyPr/>
                    <a:lstStyle/>
                    <a:p>
                      <a:pPr algn="ctr">
                        <a:lnSpc>
                          <a:spcPct val="105000"/>
                        </a:lnSpc>
                      </a:pPr>
                      <a:r>
                        <a:rPr sz="1000" b="1">
                          <a:solidFill>
                            <a:srgbClr val="FFFFFF"/>
                          </a:solidFill>
                          <a:latin typeface="Calibri"/>
                        </a:rPr>
                        <a:t>Tiềm năng
cải tiến</a:t>
                      </a:r>
                    </a:p>
                  </a:txBody>
                  <a:tcPr marL="100584" marR="73152" marT="41148" marB="41148" anchor="ctr">
                    <a:solidFill>
                      <a:srgbClr val="0A2540"/>
                    </a:solidFill>
                  </a:tcPr>
                </a:tc>
                <a:extLst>
                  <a:ext uri="{0D108BD9-81ED-4DB2-BD59-A6C34878D82A}">
                    <a16:rowId xmlns:a16="http://schemas.microsoft.com/office/drawing/2014/main" val="10000"/>
                  </a:ext>
                </a:extLst>
              </a:tr>
              <a:tr h="420624">
                <a:tc>
                  <a:txBody>
                    <a:bodyPr/>
                    <a:lstStyle/>
                    <a:p>
                      <a:pPr algn="ctr">
                        <a:lnSpc>
                          <a:spcPct val="105000"/>
                        </a:lnSpc>
                      </a:pPr>
                      <a:r>
                        <a:rPr sz="1019" b="1">
                          <a:solidFill>
                            <a:srgbClr val="2B3440"/>
                          </a:solidFill>
                          <a:latin typeface="Calibri"/>
                        </a:rPr>
                        <a:t>M01  Business Planning</a:t>
                      </a:r>
                    </a:p>
                  </a:txBody>
                  <a:tcPr marL="100584" marR="73152" marT="41148" marB="41148" anchor="ctr">
                    <a:solidFill>
                      <a:srgbClr val="FFFFFF"/>
                    </a:solidFill>
                  </a:tcPr>
                </a:tc>
                <a:tc>
                  <a:txBody>
                    <a:bodyPr/>
                    <a:lstStyle/>
                    <a:p>
                      <a:pPr algn="l">
                        <a:lnSpc>
                          <a:spcPct val="105000"/>
                        </a:lnSpc>
                      </a:pPr>
                      <a:r>
                        <a:rPr sz="1019" b="1">
                          <a:solidFill>
                            <a:srgbClr val="006B5C"/>
                          </a:solidFill>
                          <a:latin typeface="Calibri"/>
                        </a:rPr>
                        <a:t>Cao</a:t>
                      </a:r>
                    </a:p>
                  </a:txBody>
                  <a:tcPr marL="100584" marR="73152" marT="41148" marB="41148" anchor="ctr">
                    <a:solidFill>
                      <a:srgbClr val="E7F7F3"/>
                    </a:solidFill>
                  </a:tcPr>
                </a:tc>
                <a:tc>
                  <a:txBody>
                    <a:bodyPr/>
                    <a:lstStyle/>
                    <a:p>
                      <a:pPr algn="l">
                        <a:lnSpc>
                          <a:spcPct val="105000"/>
                        </a:lnSpc>
                      </a:pPr>
                      <a:r>
                        <a:rPr sz="1019" b="1">
                          <a:solidFill>
                            <a:srgbClr val="B54A08"/>
                          </a:solidFill>
                          <a:latin typeface="Calibri"/>
                        </a:rPr>
                        <a:t>Trung bình</a:t>
                      </a:r>
                    </a:p>
                  </a:txBody>
                  <a:tcPr marL="100584" marR="73152" marT="41148" marB="41148" anchor="ctr">
                    <a:solidFill>
                      <a:srgbClr val="FFF6E8"/>
                    </a:solidFill>
                  </a:tcPr>
                </a:tc>
                <a:tc>
                  <a:txBody>
                    <a:bodyPr/>
                    <a:lstStyle/>
                    <a:p>
                      <a:pPr algn="l">
                        <a:lnSpc>
                          <a:spcPct val="105000"/>
                        </a:lnSpc>
                      </a:pPr>
                      <a:r>
                        <a:rPr sz="1019" b="1" dirty="0" err="1">
                          <a:solidFill>
                            <a:srgbClr val="B54A08"/>
                          </a:solidFill>
                          <a:latin typeface="Calibri"/>
                        </a:rPr>
                        <a:t>Trung</a:t>
                      </a:r>
                      <a:r>
                        <a:rPr sz="1019" b="1" dirty="0">
                          <a:solidFill>
                            <a:srgbClr val="B54A08"/>
                          </a:solidFill>
                          <a:latin typeface="Calibri"/>
                        </a:rPr>
                        <a:t> </a:t>
                      </a:r>
                      <a:r>
                        <a:rPr sz="1019" b="1" dirty="0" err="1">
                          <a:solidFill>
                            <a:srgbClr val="B54A08"/>
                          </a:solidFill>
                          <a:latin typeface="Calibri"/>
                        </a:rPr>
                        <a:t>bình</a:t>
                      </a:r>
                      <a:endParaRPr sz="1019" b="1" dirty="0">
                        <a:solidFill>
                          <a:srgbClr val="B54A08"/>
                        </a:solidFill>
                        <a:latin typeface="Calibri"/>
                      </a:endParaRPr>
                    </a:p>
                  </a:txBody>
                  <a:tcPr marL="100584" marR="73152" marT="41148" marB="41148" anchor="ctr">
                    <a:solidFill>
                      <a:srgbClr val="FFF6E8"/>
                    </a:solidFill>
                  </a:tcPr>
                </a:tc>
                <a:tc>
                  <a:txBody>
                    <a:bodyPr/>
                    <a:lstStyle/>
                    <a:p>
                      <a:pPr algn="l">
                        <a:lnSpc>
                          <a:spcPct val="105000"/>
                        </a:lnSpc>
                      </a:pPr>
                      <a:r>
                        <a:rPr sz="1019" b="1">
                          <a:solidFill>
                            <a:srgbClr val="D92D20"/>
                          </a:solidFill>
                          <a:latin typeface="Calibri"/>
                        </a:rPr>
                        <a:t>Thấp</a:t>
                      </a:r>
                    </a:p>
                  </a:txBody>
                  <a:tcPr marL="100584" marR="73152" marT="41148" marB="41148" anchor="ctr">
                    <a:solidFill>
                      <a:srgbClr val="FEF3F2"/>
                    </a:solidFill>
                  </a:tcPr>
                </a:tc>
                <a:tc>
                  <a:txBody>
                    <a:bodyPr/>
                    <a:lstStyle/>
                    <a:p>
                      <a:pPr algn="l">
                        <a:lnSpc>
                          <a:spcPct val="105000"/>
                        </a:lnSpc>
                      </a:pPr>
                      <a:r>
                        <a:rPr sz="1019" b="1">
                          <a:solidFill>
                            <a:srgbClr val="B54A08"/>
                          </a:solidFill>
                          <a:latin typeface="Calibri"/>
                        </a:rPr>
                        <a:t>Trung bình</a:t>
                      </a:r>
                    </a:p>
                  </a:txBody>
                  <a:tcPr marL="100584" marR="73152" marT="41148" marB="41148" anchor="ctr">
                    <a:solidFill>
                      <a:srgbClr val="FFF6E8"/>
                    </a:solidFill>
                  </a:tcPr>
                </a:tc>
                <a:extLst>
                  <a:ext uri="{0D108BD9-81ED-4DB2-BD59-A6C34878D82A}">
                    <a16:rowId xmlns:a16="http://schemas.microsoft.com/office/drawing/2014/main" val="10001"/>
                  </a:ext>
                </a:extLst>
              </a:tr>
              <a:tr h="420624">
                <a:tc>
                  <a:txBody>
                    <a:bodyPr/>
                    <a:lstStyle/>
                    <a:p>
                      <a:pPr algn="ctr">
                        <a:lnSpc>
                          <a:spcPct val="105000"/>
                        </a:lnSpc>
                      </a:pPr>
                      <a:r>
                        <a:rPr sz="1019" b="1">
                          <a:solidFill>
                            <a:srgbClr val="2B3440"/>
                          </a:solidFill>
                          <a:latin typeface="Calibri"/>
                        </a:rPr>
                        <a:t>M02  Customer Complaint Management</a:t>
                      </a:r>
                    </a:p>
                  </a:txBody>
                  <a:tcPr marL="100584" marR="73152" marT="41148" marB="41148" anchor="ctr">
                    <a:solidFill>
                      <a:srgbClr val="F4F7FA"/>
                    </a:solidFill>
                  </a:tcPr>
                </a:tc>
                <a:tc>
                  <a:txBody>
                    <a:bodyPr/>
                    <a:lstStyle/>
                    <a:p>
                      <a:pPr algn="l">
                        <a:lnSpc>
                          <a:spcPct val="105000"/>
                        </a:lnSpc>
                      </a:pPr>
                      <a:r>
                        <a:rPr sz="1019" b="1">
                          <a:solidFill>
                            <a:srgbClr val="006B5C"/>
                          </a:solidFill>
                          <a:latin typeface="Calibri"/>
                        </a:rPr>
                        <a:t>Cao</a:t>
                      </a:r>
                    </a:p>
                  </a:txBody>
                  <a:tcPr marL="100584" marR="73152" marT="41148" marB="41148" anchor="ctr">
                    <a:solidFill>
                      <a:srgbClr val="E7F7F3"/>
                    </a:solidFill>
                  </a:tcPr>
                </a:tc>
                <a:tc>
                  <a:txBody>
                    <a:bodyPr/>
                    <a:lstStyle/>
                    <a:p>
                      <a:pPr algn="l">
                        <a:lnSpc>
                          <a:spcPct val="105000"/>
                        </a:lnSpc>
                      </a:pPr>
                      <a:r>
                        <a:rPr sz="1019" b="1">
                          <a:solidFill>
                            <a:srgbClr val="006B5C"/>
                          </a:solidFill>
                          <a:latin typeface="Calibri"/>
                        </a:rPr>
                        <a:t>Cao</a:t>
                      </a:r>
                    </a:p>
                  </a:txBody>
                  <a:tcPr marL="100584" marR="73152" marT="41148" marB="41148" anchor="ctr">
                    <a:solidFill>
                      <a:srgbClr val="E7F7F3"/>
                    </a:solidFill>
                  </a:tcPr>
                </a:tc>
                <a:tc>
                  <a:txBody>
                    <a:bodyPr/>
                    <a:lstStyle/>
                    <a:p>
                      <a:pPr algn="l">
                        <a:lnSpc>
                          <a:spcPct val="105000"/>
                        </a:lnSpc>
                      </a:pPr>
                      <a:r>
                        <a:rPr sz="1019" b="1" dirty="0">
                          <a:solidFill>
                            <a:srgbClr val="006B5C"/>
                          </a:solidFill>
                          <a:latin typeface="Calibri"/>
                        </a:rPr>
                        <a:t>Cao</a:t>
                      </a:r>
                    </a:p>
                  </a:txBody>
                  <a:tcPr marL="100584" marR="73152" marT="41148" marB="41148" anchor="ctr">
                    <a:solidFill>
                      <a:srgbClr val="E7F7F3"/>
                    </a:solidFill>
                  </a:tcPr>
                </a:tc>
                <a:tc>
                  <a:txBody>
                    <a:bodyPr/>
                    <a:lstStyle/>
                    <a:p>
                      <a:pPr algn="l">
                        <a:lnSpc>
                          <a:spcPct val="105000"/>
                        </a:lnSpc>
                      </a:pPr>
                      <a:r>
                        <a:rPr sz="1019" b="1">
                          <a:solidFill>
                            <a:srgbClr val="B54A08"/>
                          </a:solidFill>
                          <a:latin typeface="Calibri"/>
                        </a:rPr>
                        <a:t>Trung bình</a:t>
                      </a:r>
                    </a:p>
                  </a:txBody>
                  <a:tcPr marL="100584" marR="73152" marT="41148" marB="41148" anchor="ctr">
                    <a:solidFill>
                      <a:srgbClr val="FFF6E8"/>
                    </a:solidFill>
                  </a:tcPr>
                </a:tc>
                <a:tc>
                  <a:txBody>
                    <a:bodyPr/>
                    <a:lstStyle/>
                    <a:p>
                      <a:pPr algn="l">
                        <a:lnSpc>
                          <a:spcPct val="105000"/>
                        </a:lnSpc>
                      </a:pPr>
                      <a:r>
                        <a:rPr sz="1019" b="1">
                          <a:solidFill>
                            <a:srgbClr val="006B5C"/>
                          </a:solidFill>
                          <a:latin typeface="Calibri"/>
                        </a:rPr>
                        <a:t>Cao</a:t>
                      </a:r>
                    </a:p>
                  </a:txBody>
                  <a:tcPr marL="100584" marR="73152" marT="41148" marB="41148" anchor="ctr">
                    <a:solidFill>
                      <a:srgbClr val="E7F7F3"/>
                    </a:solidFill>
                  </a:tcPr>
                </a:tc>
                <a:extLst>
                  <a:ext uri="{0D108BD9-81ED-4DB2-BD59-A6C34878D82A}">
                    <a16:rowId xmlns:a16="http://schemas.microsoft.com/office/drawing/2014/main" val="10002"/>
                  </a:ext>
                </a:extLst>
              </a:tr>
              <a:tr h="420624">
                <a:tc>
                  <a:txBody>
                    <a:bodyPr/>
                    <a:lstStyle/>
                    <a:p>
                      <a:pPr algn="ctr">
                        <a:lnSpc>
                          <a:spcPct val="105000"/>
                        </a:lnSpc>
                      </a:pPr>
                      <a:r>
                        <a:rPr sz="1019" b="1">
                          <a:solidFill>
                            <a:srgbClr val="2B3440"/>
                          </a:solidFill>
                          <a:latin typeface="Calibri"/>
                        </a:rPr>
                        <a:t>C02  Order Management (OTC)</a:t>
                      </a:r>
                    </a:p>
                  </a:txBody>
                  <a:tcPr marL="100584" marR="73152" marT="41148" marB="41148" anchor="ctr">
                    <a:solidFill>
                      <a:srgbClr val="FFFFFF"/>
                    </a:solidFill>
                  </a:tcPr>
                </a:tc>
                <a:tc>
                  <a:txBody>
                    <a:bodyPr/>
                    <a:lstStyle/>
                    <a:p>
                      <a:pPr algn="l">
                        <a:lnSpc>
                          <a:spcPct val="105000"/>
                        </a:lnSpc>
                      </a:pPr>
                      <a:r>
                        <a:rPr sz="1019" b="1">
                          <a:solidFill>
                            <a:srgbClr val="B54A08"/>
                          </a:solidFill>
                          <a:latin typeface="Calibri"/>
                        </a:rPr>
                        <a:t>Trung bình</a:t>
                      </a:r>
                    </a:p>
                  </a:txBody>
                  <a:tcPr marL="100584" marR="73152" marT="41148" marB="41148" anchor="ctr">
                    <a:solidFill>
                      <a:srgbClr val="FFF6E8"/>
                    </a:solidFill>
                  </a:tcPr>
                </a:tc>
                <a:tc>
                  <a:txBody>
                    <a:bodyPr/>
                    <a:lstStyle/>
                    <a:p>
                      <a:pPr algn="l">
                        <a:lnSpc>
                          <a:spcPct val="105000"/>
                        </a:lnSpc>
                      </a:pPr>
                      <a:r>
                        <a:rPr sz="1019" b="1">
                          <a:solidFill>
                            <a:srgbClr val="B54A08"/>
                          </a:solidFill>
                          <a:latin typeface="Calibri"/>
                        </a:rPr>
                        <a:t>Trung bình</a:t>
                      </a:r>
                    </a:p>
                  </a:txBody>
                  <a:tcPr marL="100584" marR="73152" marT="41148" marB="41148" anchor="ctr">
                    <a:solidFill>
                      <a:srgbClr val="FFF6E8"/>
                    </a:solidFill>
                  </a:tcPr>
                </a:tc>
                <a:tc>
                  <a:txBody>
                    <a:bodyPr/>
                    <a:lstStyle/>
                    <a:p>
                      <a:pPr algn="l">
                        <a:lnSpc>
                          <a:spcPct val="105000"/>
                        </a:lnSpc>
                      </a:pPr>
                      <a:r>
                        <a:rPr sz="1019" b="1">
                          <a:solidFill>
                            <a:srgbClr val="B54A08"/>
                          </a:solidFill>
                          <a:latin typeface="Calibri"/>
                        </a:rPr>
                        <a:t>Trung bình</a:t>
                      </a:r>
                    </a:p>
                  </a:txBody>
                  <a:tcPr marL="100584" marR="73152" marT="41148" marB="41148" anchor="ctr">
                    <a:solidFill>
                      <a:srgbClr val="FFF6E8"/>
                    </a:solidFill>
                  </a:tcPr>
                </a:tc>
                <a:tc>
                  <a:txBody>
                    <a:bodyPr/>
                    <a:lstStyle/>
                    <a:p>
                      <a:pPr algn="l">
                        <a:lnSpc>
                          <a:spcPct val="105000"/>
                        </a:lnSpc>
                      </a:pPr>
                      <a:r>
                        <a:rPr sz="1019" b="1">
                          <a:solidFill>
                            <a:srgbClr val="006B5C"/>
                          </a:solidFill>
                          <a:latin typeface="Calibri"/>
                        </a:rPr>
                        <a:t>Cao</a:t>
                      </a:r>
                    </a:p>
                  </a:txBody>
                  <a:tcPr marL="100584" marR="73152" marT="41148" marB="41148" anchor="ctr">
                    <a:solidFill>
                      <a:srgbClr val="E7F7F3"/>
                    </a:solidFill>
                  </a:tcPr>
                </a:tc>
                <a:tc>
                  <a:txBody>
                    <a:bodyPr/>
                    <a:lstStyle/>
                    <a:p>
                      <a:pPr algn="l">
                        <a:lnSpc>
                          <a:spcPct val="105000"/>
                        </a:lnSpc>
                      </a:pPr>
                      <a:r>
                        <a:rPr sz="1019" b="1">
                          <a:solidFill>
                            <a:srgbClr val="B54A08"/>
                          </a:solidFill>
                          <a:latin typeface="Calibri"/>
                        </a:rPr>
                        <a:t>Trung bình</a:t>
                      </a:r>
                    </a:p>
                  </a:txBody>
                  <a:tcPr marL="100584" marR="73152" marT="41148" marB="41148" anchor="ctr">
                    <a:solidFill>
                      <a:srgbClr val="FFF6E8"/>
                    </a:solidFill>
                  </a:tcPr>
                </a:tc>
                <a:extLst>
                  <a:ext uri="{0D108BD9-81ED-4DB2-BD59-A6C34878D82A}">
                    <a16:rowId xmlns:a16="http://schemas.microsoft.com/office/drawing/2014/main" val="10003"/>
                  </a:ext>
                </a:extLst>
              </a:tr>
              <a:tr h="420624">
                <a:tc>
                  <a:txBody>
                    <a:bodyPr/>
                    <a:lstStyle/>
                    <a:p>
                      <a:pPr algn="ctr">
                        <a:lnSpc>
                          <a:spcPct val="105000"/>
                        </a:lnSpc>
                      </a:pPr>
                      <a:r>
                        <a:rPr sz="1019" b="1">
                          <a:solidFill>
                            <a:srgbClr val="2B3440"/>
                          </a:solidFill>
                          <a:latin typeface="Calibri"/>
                        </a:rPr>
                        <a:t>C03  Service Order Management</a:t>
                      </a:r>
                    </a:p>
                  </a:txBody>
                  <a:tcPr marL="100584" marR="73152" marT="41148" marB="41148" anchor="ctr">
                    <a:solidFill>
                      <a:srgbClr val="E3F0F9"/>
                    </a:solidFill>
                  </a:tcPr>
                </a:tc>
                <a:tc>
                  <a:txBody>
                    <a:bodyPr/>
                    <a:lstStyle/>
                    <a:p>
                      <a:pPr algn="l">
                        <a:lnSpc>
                          <a:spcPct val="105000"/>
                        </a:lnSpc>
                      </a:pPr>
                      <a:r>
                        <a:rPr sz="1019" b="1">
                          <a:solidFill>
                            <a:srgbClr val="006B5C"/>
                          </a:solidFill>
                          <a:latin typeface="Calibri"/>
                        </a:rPr>
                        <a:t>Cao</a:t>
                      </a:r>
                    </a:p>
                  </a:txBody>
                  <a:tcPr marL="100584" marR="73152" marT="41148" marB="41148" anchor="ctr">
                    <a:solidFill>
                      <a:srgbClr val="E7F7F3"/>
                    </a:solidFill>
                  </a:tcPr>
                </a:tc>
                <a:tc>
                  <a:txBody>
                    <a:bodyPr/>
                    <a:lstStyle/>
                    <a:p>
                      <a:pPr algn="l">
                        <a:lnSpc>
                          <a:spcPct val="105000"/>
                        </a:lnSpc>
                      </a:pPr>
                      <a:r>
                        <a:rPr sz="1019" b="1">
                          <a:solidFill>
                            <a:srgbClr val="006B5C"/>
                          </a:solidFill>
                          <a:latin typeface="Calibri"/>
                        </a:rPr>
                        <a:t>Cao</a:t>
                      </a:r>
                    </a:p>
                  </a:txBody>
                  <a:tcPr marL="100584" marR="73152" marT="41148" marB="41148" anchor="ctr">
                    <a:solidFill>
                      <a:srgbClr val="E7F7F3"/>
                    </a:solidFill>
                  </a:tcPr>
                </a:tc>
                <a:tc>
                  <a:txBody>
                    <a:bodyPr/>
                    <a:lstStyle/>
                    <a:p>
                      <a:pPr algn="l">
                        <a:lnSpc>
                          <a:spcPct val="105000"/>
                        </a:lnSpc>
                      </a:pPr>
                      <a:r>
                        <a:rPr sz="1019" b="1">
                          <a:solidFill>
                            <a:srgbClr val="006B5C"/>
                          </a:solidFill>
                          <a:latin typeface="Calibri"/>
                        </a:rPr>
                        <a:t>Cao</a:t>
                      </a:r>
                    </a:p>
                  </a:txBody>
                  <a:tcPr marL="100584" marR="73152" marT="41148" marB="41148" anchor="ctr">
                    <a:solidFill>
                      <a:srgbClr val="E7F7F3"/>
                    </a:solidFill>
                  </a:tcPr>
                </a:tc>
                <a:tc>
                  <a:txBody>
                    <a:bodyPr/>
                    <a:lstStyle/>
                    <a:p>
                      <a:pPr algn="l">
                        <a:lnSpc>
                          <a:spcPct val="105000"/>
                        </a:lnSpc>
                      </a:pPr>
                      <a:r>
                        <a:rPr sz="1019" b="1">
                          <a:solidFill>
                            <a:srgbClr val="006B5C"/>
                          </a:solidFill>
                          <a:latin typeface="Calibri"/>
                        </a:rPr>
                        <a:t>Cao</a:t>
                      </a:r>
                    </a:p>
                  </a:txBody>
                  <a:tcPr marL="100584" marR="73152" marT="41148" marB="41148" anchor="ctr">
                    <a:solidFill>
                      <a:srgbClr val="E7F7F3"/>
                    </a:solidFill>
                  </a:tcPr>
                </a:tc>
                <a:tc>
                  <a:txBody>
                    <a:bodyPr/>
                    <a:lstStyle/>
                    <a:p>
                      <a:pPr algn="l">
                        <a:lnSpc>
                          <a:spcPct val="105000"/>
                        </a:lnSpc>
                      </a:pPr>
                      <a:r>
                        <a:rPr sz="1019" b="1">
                          <a:solidFill>
                            <a:srgbClr val="006B5C"/>
                          </a:solidFill>
                          <a:latin typeface="Calibri"/>
                        </a:rPr>
                        <a:t>Cao</a:t>
                      </a:r>
                    </a:p>
                  </a:txBody>
                  <a:tcPr marL="100584" marR="73152" marT="41148" marB="41148" anchor="ctr">
                    <a:solidFill>
                      <a:srgbClr val="E7F7F3"/>
                    </a:solidFill>
                  </a:tcPr>
                </a:tc>
                <a:extLst>
                  <a:ext uri="{0D108BD9-81ED-4DB2-BD59-A6C34878D82A}">
                    <a16:rowId xmlns:a16="http://schemas.microsoft.com/office/drawing/2014/main" val="10004"/>
                  </a:ext>
                </a:extLst>
              </a:tr>
              <a:tr h="420624">
                <a:tc>
                  <a:txBody>
                    <a:bodyPr/>
                    <a:lstStyle/>
                    <a:p>
                      <a:pPr algn="ctr">
                        <a:lnSpc>
                          <a:spcPct val="105000"/>
                        </a:lnSpc>
                      </a:pPr>
                      <a:r>
                        <a:rPr sz="1019" b="1">
                          <a:solidFill>
                            <a:srgbClr val="2B3440"/>
                          </a:solidFill>
                          <a:latin typeface="Calibri"/>
                        </a:rPr>
                        <a:t>S01  Procurement Management</a:t>
                      </a:r>
                    </a:p>
                  </a:txBody>
                  <a:tcPr marL="100584" marR="73152" marT="41148" marB="41148" anchor="ctr">
                    <a:solidFill>
                      <a:srgbClr val="E3F0F9"/>
                    </a:solidFill>
                  </a:tcPr>
                </a:tc>
                <a:tc>
                  <a:txBody>
                    <a:bodyPr/>
                    <a:lstStyle/>
                    <a:p>
                      <a:pPr algn="l">
                        <a:lnSpc>
                          <a:spcPct val="105000"/>
                        </a:lnSpc>
                      </a:pPr>
                      <a:r>
                        <a:rPr sz="1019" b="1">
                          <a:solidFill>
                            <a:srgbClr val="006B5C"/>
                          </a:solidFill>
                          <a:latin typeface="Calibri"/>
                        </a:rPr>
                        <a:t>Cao</a:t>
                      </a:r>
                    </a:p>
                  </a:txBody>
                  <a:tcPr marL="100584" marR="73152" marT="41148" marB="41148" anchor="ctr">
                    <a:solidFill>
                      <a:srgbClr val="E7F7F3"/>
                    </a:solidFill>
                  </a:tcPr>
                </a:tc>
                <a:tc>
                  <a:txBody>
                    <a:bodyPr/>
                    <a:lstStyle/>
                    <a:p>
                      <a:pPr algn="l">
                        <a:lnSpc>
                          <a:spcPct val="105000"/>
                        </a:lnSpc>
                      </a:pPr>
                      <a:r>
                        <a:rPr sz="1019" b="1">
                          <a:solidFill>
                            <a:srgbClr val="006B5C"/>
                          </a:solidFill>
                          <a:latin typeface="Calibri"/>
                        </a:rPr>
                        <a:t>Cao</a:t>
                      </a:r>
                    </a:p>
                  </a:txBody>
                  <a:tcPr marL="100584" marR="73152" marT="41148" marB="41148" anchor="ctr">
                    <a:solidFill>
                      <a:srgbClr val="E7F7F3"/>
                    </a:solidFill>
                  </a:tcPr>
                </a:tc>
                <a:tc>
                  <a:txBody>
                    <a:bodyPr/>
                    <a:lstStyle/>
                    <a:p>
                      <a:pPr algn="l">
                        <a:lnSpc>
                          <a:spcPct val="105000"/>
                        </a:lnSpc>
                      </a:pPr>
                      <a:r>
                        <a:rPr sz="1019" b="1">
                          <a:solidFill>
                            <a:srgbClr val="006B5C"/>
                          </a:solidFill>
                          <a:latin typeface="Calibri"/>
                        </a:rPr>
                        <a:t>Cao</a:t>
                      </a:r>
                    </a:p>
                  </a:txBody>
                  <a:tcPr marL="100584" marR="73152" marT="41148" marB="41148" anchor="ctr">
                    <a:solidFill>
                      <a:srgbClr val="E7F7F3"/>
                    </a:solidFill>
                  </a:tcPr>
                </a:tc>
                <a:tc>
                  <a:txBody>
                    <a:bodyPr/>
                    <a:lstStyle/>
                    <a:p>
                      <a:pPr algn="l">
                        <a:lnSpc>
                          <a:spcPct val="105000"/>
                        </a:lnSpc>
                      </a:pPr>
                      <a:r>
                        <a:rPr sz="1019" b="1">
                          <a:solidFill>
                            <a:srgbClr val="006B5C"/>
                          </a:solidFill>
                          <a:latin typeface="Calibri"/>
                        </a:rPr>
                        <a:t>Cao</a:t>
                      </a:r>
                    </a:p>
                  </a:txBody>
                  <a:tcPr marL="100584" marR="73152" marT="41148" marB="41148" anchor="ctr">
                    <a:solidFill>
                      <a:srgbClr val="E7F7F3"/>
                    </a:solidFill>
                  </a:tcPr>
                </a:tc>
                <a:tc>
                  <a:txBody>
                    <a:bodyPr/>
                    <a:lstStyle/>
                    <a:p>
                      <a:pPr algn="l">
                        <a:lnSpc>
                          <a:spcPct val="105000"/>
                        </a:lnSpc>
                      </a:pPr>
                      <a:r>
                        <a:rPr sz="1019" b="1">
                          <a:solidFill>
                            <a:srgbClr val="006B5C"/>
                          </a:solidFill>
                          <a:latin typeface="Calibri"/>
                        </a:rPr>
                        <a:t>Cao</a:t>
                      </a:r>
                    </a:p>
                  </a:txBody>
                  <a:tcPr marL="100584" marR="73152" marT="41148" marB="41148" anchor="ctr">
                    <a:solidFill>
                      <a:srgbClr val="E7F7F3"/>
                    </a:solidFill>
                  </a:tcPr>
                </a:tc>
                <a:extLst>
                  <a:ext uri="{0D108BD9-81ED-4DB2-BD59-A6C34878D82A}">
                    <a16:rowId xmlns:a16="http://schemas.microsoft.com/office/drawing/2014/main" val="10005"/>
                  </a:ext>
                </a:extLst>
              </a:tr>
              <a:tr h="420624">
                <a:tc>
                  <a:txBody>
                    <a:bodyPr/>
                    <a:lstStyle/>
                    <a:p>
                      <a:pPr algn="ctr">
                        <a:lnSpc>
                          <a:spcPct val="105000"/>
                        </a:lnSpc>
                      </a:pPr>
                      <a:r>
                        <a:rPr sz="1019" b="1">
                          <a:solidFill>
                            <a:srgbClr val="2B3440"/>
                          </a:solidFill>
                          <a:latin typeface="Calibri"/>
                        </a:rPr>
                        <a:t>S02  Inbound Processing</a:t>
                      </a:r>
                    </a:p>
                  </a:txBody>
                  <a:tcPr marL="100584" marR="73152" marT="41148" marB="41148" anchor="ctr">
                    <a:solidFill>
                      <a:srgbClr val="F4F7FA"/>
                    </a:solidFill>
                  </a:tcPr>
                </a:tc>
                <a:tc>
                  <a:txBody>
                    <a:bodyPr/>
                    <a:lstStyle/>
                    <a:p>
                      <a:pPr algn="l">
                        <a:lnSpc>
                          <a:spcPct val="105000"/>
                        </a:lnSpc>
                      </a:pPr>
                      <a:r>
                        <a:rPr sz="1019" b="1">
                          <a:solidFill>
                            <a:srgbClr val="B54A08"/>
                          </a:solidFill>
                          <a:latin typeface="Calibri"/>
                        </a:rPr>
                        <a:t>Trung bình</a:t>
                      </a:r>
                    </a:p>
                  </a:txBody>
                  <a:tcPr marL="100584" marR="73152" marT="41148" marB="41148" anchor="ctr">
                    <a:solidFill>
                      <a:srgbClr val="FFF6E8"/>
                    </a:solidFill>
                  </a:tcPr>
                </a:tc>
                <a:tc>
                  <a:txBody>
                    <a:bodyPr/>
                    <a:lstStyle/>
                    <a:p>
                      <a:pPr algn="l">
                        <a:lnSpc>
                          <a:spcPct val="105000"/>
                        </a:lnSpc>
                      </a:pPr>
                      <a:r>
                        <a:rPr sz="1019" b="1">
                          <a:solidFill>
                            <a:srgbClr val="B54A08"/>
                          </a:solidFill>
                          <a:latin typeface="Calibri"/>
                        </a:rPr>
                        <a:t>Trung bình</a:t>
                      </a:r>
                    </a:p>
                  </a:txBody>
                  <a:tcPr marL="100584" marR="73152" marT="41148" marB="41148" anchor="ctr">
                    <a:solidFill>
                      <a:srgbClr val="FFF6E8"/>
                    </a:solidFill>
                  </a:tcPr>
                </a:tc>
                <a:tc>
                  <a:txBody>
                    <a:bodyPr/>
                    <a:lstStyle/>
                    <a:p>
                      <a:pPr algn="l">
                        <a:lnSpc>
                          <a:spcPct val="105000"/>
                        </a:lnSpc>
                      </a:pPr>
                      <a:r>
                        <a:rPr sz="1019" b="1">
                          <a:solidFill>
                            <a:srgbClr val="B54A08"/>
                          </a:solidFill>
                          <a:latin typeface="Calibri"/>
                        </a:rPr>
                        <a:t>Trung bình</a:t>
                      </a:r>
                    </a:p>
                  </a:txBody>
                  <a:tcPr marL="100584" marR="73152" marT="41148" marB="41148" anchor="ctr">
                    <a:solidFill>
                      <a:srgbClr val="FFF6E8"/>
                    </a:solidFill>
                  </a:tcPr>
                </a:tc>
                <a:tc>
                  <a:txBody>
                    <a:bodyPr/>
                    <a:lstStyle/>
                    <a:p>
                      <a:pPr algn="l">
                        <a:lnSpc>
                          <a:spcPct val="105000"/>
                        </a:lnSpc>
                      </a:pPr>
                      <a:r>
                        <a:rPr sz="1019" b="1">
                          <a:solidFill>
                            <a:srgbClr val="006B5C"/>
                          </a:solidFill>
                          <a:latin typeface="Calibri"/>
                        </a:rPr>
                        <a:t>Cao</a:t>
                      </a:r>
                    </a:p>
                  </a:txBody>
                  <a:tcPr marL="100584" marR="73152" marT="41148" marB="41148" anchor="ctr">
                    <a:solidFill>
                      <a:srgbClr val="E7F7F3"/>
                    </a:solidFill>
                  </a:tcPr>
                </a:tc>
                <a:tc>
                  <a:txBody>
                    <a:bodyPr/>
                    <a:lstStyle/>
                    <a:p>
                      <a:pPr algn="l">
                        <a:lnSpc>
                          <a:spcPct val="105000"/>
                        </a:lnSpc>
                      </a:pPr>
                      <a:r>
                        <a:rPr sz="1019" b="1" dirty="0" err="1">
                          <a:solidFill>
                            <a:srgbClr val="B54A08"/>
                          </a:solidFill>
                          <a:latin typeface="Calibri"/>
                        </a:rPr>
                        <a:t>Trung</a:t>
                      </a:r>
                      <a:r>
                        <a:rPr sz="1019" b="1" dirty="0">
                          <a:solidFill>
                            <a:srgbClr val="B54A08"/>
                          </a:solidFill>
                          <a:latin typeface="Calibri"/>
                        </a:rPr>
                        <a:t> </a:t>
                      </a:r>
                      <a:r>
                        <a:rPr sz="1019" b="1" dirty="0" err="1">
                          <a:solidFill>
                            <a:srgbClr val="B54A08"/>
                          </a:solidFill>
                          <a:latin typeface="Calibri"/>
                        </a:rPr>
                        <a:t>bình</a:t>
                      </a:r>
                      <a:endParaRPr sz="1019" b="1" dirty="0">
                        <a:solidFill>
                          <a:srgbClr val="B54A08"/>
                        </a:solidFill>
                        <a:latin typeface="Calibri"/>
                      </a:endParaRPr>
                    </a:p>
                  </a:txBody>
                  <a:tcPr marL="100584" marR="73152" marT="41148" marB="41148" anchor="ctr">
                    <a:solidFill>
                      <a:srgbClr val="FFF6E8"/>
                    </a:solidFill>
                  </a:tcPr>
                </a:tc>
                <a:extLst>
                  <a:ext uri="{0D108BD9-81ED-4DB2-BD59-A6C34878D82A}">
                    <a16:rowId xmlns:a16="http://schemas.microsoft.com/office/drawing/2014/main" val="10006"/>
                  </a:ext>
                </a:extLst>
              </a:tr>
            </a:tbl>
          </a:graphicData>
        </a:graphic>
      </p:graphicFrame>
      <p:sp>
        <p:nvSpPr>
          <p:cNvPr id="10" name="Rectangle 9"/>
          <p:cNvSpPr/>
          <p:nvPr/>
        </p:nvSpPr>
        <p:spPr>
          <a:xfrm>
            <a:off x="521207" y="3694176"/>
            <a:ext cx="64008" cy="420624"/>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 name="Rectangle 10"/>
          <p:cNvSpPr/>
          <p:nvPr/>
        </p:nvSpPr>
        <p:spPr>
          <a:xfrm>
            <a:off x="521207" y="4114800"/>
            <a:ext cx="64008" cy="420624"/>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2" name="Rectangle 11"/>
          <p:cNvSpPr/>
          <p:nvPr/>
        </p:nvSpPr>
        <p:spPr>
          <a:xfrm>
            <a:off x="658368" y="5047488"/>
            <a:ext cx="256032" cy="219456"/>
          </a:xfrm>
          <a:prstGeom prst="rect">
            <a:avLst/>
          </a:prstGeom>
          <a:solidFill>
            <a:srgbClr val="E7F7F3"/>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3" name="TextBox 12"/>
          <p:cNvSpPr txBox="1"/>
          <p:nvPr/>
        </p:nvSpPr>
        <p:spPr>
          <a:xfrm>
            <a:off x="1005840" y="5047488"/>
            <a:ext cx="1005840" cy="219456"/>
          </a:xfrm>
          <a:prstGeom prst="rect">
            <a:avLst/>
          </a:prstGeom>
          <a:noFill/>
        </p:spPr>
        <p:txBody>
          <a:bodyPr wrap="square" lIns="0" tIns="0" rIns="0" bIns="0" anchor="ctr">
            <a:spAutoFit/>
          </a:bodyPr>
          <a:lstStyle/>
          <a:p>
            <a:pPr algn="l">
              <a:lnSpc>
                <a:spcPct val="100000"/>
              </a:lnSpc>
            </a:pPr>
            <a:r>
              <a:rPr sz="1400" b="1" i="0">
                <a:solidFill>
                  <a:srgbClr val="006B5C"/>
                </a:solidFill>
                <a:latin typeface="Calibri"/>
              </a:rPr>
              <a:t>Cao</a:t>
            </a:r>
          </a:p>
        </p:txBody>
      </p:sp>
      <p:sp>
        <p:nvSpPr>
          <p:cNvPr id="14" name="Rectangle 13"/>
          <p:cNvSpPr/>
          <p:nvPr/>
        </p:nvSpPr>
        <p:spPr>
          <a:xfrm>
            <a:off x="2075688" y="5047488"/>
            <a:ext cx="256032" cy="219456"/>
          </a:xfrm>
          <a:prstGeom prst="rect">
            <a:avLst/>
          </a:prstGeom>
          <a:solidFill>
            <a:srgbClr val="FFF6E8"/>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5" name="TextBox 14"/>
          <p:cNvSpPr txBox="1"/>
          <p:nvPr/>
        </p:nvSpPr>
        <p:spPr>
          <a:xfrm>
            <a:off x="2423160" y="5047488"/>
            <a:ext cx="1005840" cy="219456"/>
          </a:xfrm>
          <a:prstGeom prst="rect">
            <a:avLst/>
          </a:prstGeom>
          <a:noFill/>
        </p:spPr>
        <p:txBody>
          <a:bodyPr wrap="square" lIns="0" tIns="0" rIns="0" bIns="0" anchor="ctr">
            <a:spAutoFit/>
          </a:bodyPr>
          <a:lstStyle/>
          <a:p>
            <a:pPr algn="l">
              <a:lnSpc>
                <a:spcPct val="100000"/>
              </a:lnSpc>
            </a:pPr>
            <a:r>
              <a:rPr sz="1400" b="1" i="0">
                <a:solidFill>
                  <a:srgbClr val="B54A08"/>
                </a:solidFill>
                <a:latin typeface="Calibri"/>
              </a:rPr>
              <a:t>Trung bình</a:t>
            </a:r>
          </a:p>
        </p:txBody>
      </p:sp>
      <p:sp>
        <p:nvSpPr>
          <p:cNvPr id="16" name="Rectangle 15"/>
          <p:cNvSpPr/>
          <p:nvPr/>
        </p:nvSpPr>
        <p:spPr>
          <a:xfrm>
            <a:off x="3493008" y="5047488"/>
            <a:ext cx="256032" cy="219456"/>
          </a:xfrm>
          <a:prstGeom prst="rect">
            <a:avLst/>
          </a:prstGeom>
          <a:solidFill>
            <a:srgbClr val="FEF3F2"/>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7" name="TextBox 16"/>
          <p:cNvSpPr txBox="1"/>
          <p:nvPr/>
        </p:nvSpPr>
        <p:spPr>
          <a:xfrm>
            <a:off x="3840480" y="5047488"/>
            <a:ext cx="1005840" cy="219456"/>
          </a:xfrm>
          <a:prstGeom prst="rect">
            <a:avLst/>
          </a:prstGeom>
          <a:noFill/>
        </p:spPr>
        <p:txBody>
          <a:bodyPr wrap="square" lIns="0" tIns="0" rIns="0" bIns="0" anchor="ctr">
            <a:spAutoFit/>
          </a:bodyPr>
          <a:lstStyle/>
          <a:p>
            <a:pPr algn="l">
              <a:lnSpc>
                <a:spcPct val="100000"/>
              </a:lnSpc>
            </a:pPr>
            <a:r>
              <a:rPr sz="1400" b="1" i="0">
                <a:solidFill>
                  <a:srgbClr val="D92D20"/>
                </a:solidFill>
                <a:latin typeface="Calibri"/>
              </a:rPr>
              <a:t>Thấp</a:t>
            </a:r>
          </a:p>
        </p:txBody>
      </p:sp>
      <p:sp>
        <p:nvSpPr>
          <p:cNvPr id="18" name="TextBox 17"/>
          <p:cNvSpPr txBox="1"/>
          <p:nvPr/>
        </p:nvSpPr>
        <p:spPr>
          <a:xfrm>
            <a:off x="5230368" y="5047488"/>
            <a:ext cx="6302959" cy="219456"/>
          </a:xfrm>
          <a:prstGeom prst="rect">
            <a:avLst/>
          </a:prstGeom>
          <a:noFill/>
        </p:spPr>
        <p:txBody>
          <a:bodyPr wrap="square" lIns="0" tIns="0" rIns="0" bIns="0" anchor="ctr">
            <a:spAutoFit/>
          </a:bodyPr>
          <a:lstStyle/>
          <a:p>
            <a:pPr algn="l">
              <a:lnSpc>
                <a:spcPct val="100000"/>
              </a:lnSpc>
            </a:pPr>
            <a:r>
              <a:rPr sz="1400" b="1" i="0">
                <a:solidFill>
                  <a:srgbClr val="0A2540"/>
                </a:solidFill>
                <a:latin typeface="Calibri"/>
              </a:rPr>
              <a:t>▌  Hàng được tô nền xanh là 02 quy trình đạt mức Cao ở toàn bộ 05 tiêu chí</a:t>
            </a:r>
          </a:p>
        </p:txBody>
      </p:sp>
      <p:sp>
        <p:nvSpPr>
          <p:cNvPr id="19" name="Rectangle 18"/>
          <p:cNvSpPr/>
          <p:nvPr/>
        </p:nvSpPr>
        <p:spPr>
          <a:xfrm>
            <a:off x="658368" y="5431536"/>
            <a:ext cx="10874959" cy="475488"/>
          </a:xfrm>
          <a:prstGeom prst="rect">
            <a:avLst/>
          </a:prstGeom>
          <a:solidFill>
            <a:srgbClr val="E9F3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0" name="TextBox 19"/>
          <p:cNvSpPr txBox="1"/>
          <p:nvPr/>
        </p:nvSpPr>
        <p:spPr>
          <a:xfrm>
            <a:off x="914400" y="5545400"/>
            <a:ext cx="10372039" cy="247760"/>
          </a:xfrm>
          <a:prstGeom prst="rect">
            <a:avLst/>
          </a:prstGeom>
          <a:noFill/>
        </p:spPr>
        <p:txBody>
          <a:bodyPr wrap="square" lIns="0" tIns="0" rIns="0" bIns="0" anchor="ctr">
            <a:spAutoFit/>
          </a:bodyPr>
          <a:lstStyle/>
          <a:p>
            <a:pPr algn="l">
              <a:lnSpc>
                <a:spcPct val="115000"/>
              </a:lnSpc>
            </a:pPr>
            <a:r>
              <a:rPr sz="1400" b="0" i="1">
                <a:solidFill>
                  <a:srgbClr val="6B7784"/>
                </a:solidFill>
                <a:latin typeface="Calibri"/>
              </a:rPr>
              <a:t>Ghi chú: mức độ Cao – Trung bình – Thấp được đánh giá tương đối, dựa trên đặc điểm các quy trình đã khảo sát và mô hình hóa.</a:t>
            </a:r>
          </a:p>
        </p:txBody>
      </p:sp>
    </p:spTree>
    <p:extLst>
      <p:ext uri="{BB962C8B-B14F-4D97-AF65-F5344CB8AC3E}">
        <p14:creationId xmlns:p14="http://schemas.microsoft.com/office/powerpoint/2010/main" val="12288098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CHƯƠNG 3 · 3.4.2 ĐÁNH GIÁ VÀ KẾT QUẢ</a:t>
            </a:r>
          </a:p>
        </p:txBody>
      </p:sp>
      <p:sp>
        <p:nvSpPr>
          <p:cNvPr id="3" name="TextBox 2"/>
          <p:cNvSpPr txBox="1"/>
          <p:nvPr/>
        </p:nvSpPr>
        <p:spPr>
          <a:xfrm>
            <a:off x="658368" y="640080"/>
            <a:ext cx="10874959" cy="603504"/>
          </a:xfrm>
          <a:prstGeom prst="rect">
            <a:avLst/>
          </a:prstGeom>
          <a:noFill/>
        </p:spPr>
        <p:txBody>
          <a:bodyPr wrap="square" lIns="0" tIns="0" rIns="0" bIns="0" anchor="t">
            <a:spAutoFit/>
          </a:bodyPr>
          <a:lstStyle/>
          <a:p>
            <a:pPr algn="l">
              <a:lnSpc>
                <a:spcPct val="105000"/>
              </a:lnSpc>
            </a:pPr>
            <a:r>
              <a:rPr sz="2500" b="1" i="0">
                <a:solidFill>
                  <a:srgbClr val="0A2540"/>
                </a:solidFill>
                <a:latin typeface="Calibri"/>
              </a:rPr>
              <a:t>02 QUY TRÌNH ĐƯỢC CHỌN PHÂN TÍCH CHUYÊN SÂU</a:t>
            </a: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7" name="TextBox 6"/>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35</a:t>
            </a:r>
          </a:p>
        </p:txBody>
      </p:sp>
      <p:sp>
        <p:nvSpPr>
          <p:cNvPr id="8" name="Rectangle 7"/>
          <p:cNvSpPr/>
          <p:nvPr/>
        </p:nvSpPr>
        <p:spPr>
          <a:xfrm>
            <a:off x="658368" y="1664208"/>
            <a:ext cx="5367528" cy="3271776"/>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9" name="Rectangle 8"/>
          <p:cNvSpPr/>
          <p:nvPr/>
        </p:nvSpPr>
        <p:spPr>
          <a:xfrm>
            <a:off x="658368" y="1664208"/>
            <a:ext cx="5367528" cy="54864"/>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 name="Rectangle 9"/>
          <p:cNvSpPr/>
          <p:nvPr/>
        </p:nvSpPr>
        <p:spPr>
          <a:xfrm>
            <a:off x="914400" y="1883664"/>
            <a:ext cx="859536" cy="420624"/>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 name="TextBox 10"/>
          <p:cNvSpPr txBox="1"/>
          <p:nvPr/>
        </p:nvSpPr>
        <p:spPr>
          <a:xfrm>
            <a:off x="914400" y="1986254"/>
            <a:ext cx="859536" cy="215444"/>
          </a:xfrm>
          <a:prstGeom prst="rect">
            <a:avLst/>
          </a:prstGeom>
          <a:noFill/>
        </p:spPr>
        <p:txBody>
          <a:bodyPr wrap="square" lIns="0" tIns="0" rIns="0" bIns="0" anchor="ctr">
            <a:spAutoFit/>
          </a:bodyPr>
          <a:lstStyle/>
          <a:p>
            <a:pPr algn="ctr">
              <a:lnSpc>
                <a:spcPct val="100000"/>
              </a:lnSpc>
            </a:pPr>
            <a:r>
              <a:rPr sz="1400" b="1" i="0">
                <a:solidFill>
                  <a:srgbClr val="FFFFFF"/>
                </a:solidFill>
                <a:latin typeface="Calibri"/>
              </a:rPr>
              <a:t>C03</a:t>
            </a:r>
          </a:p>
        </p:txBody>
      </p:sp>
      <p:sp>
        <p:nvSpPr>
          <p:cNvPr id="12" name="TextBox 11"/>
          <p:cNvSpPr txBox="1"/>
          <p:nvPr/>
        </p:nvSpPr>
        <p:spPr>
          <a:xfrm>
            <a:off x="1901952" y="1865376"/>
            <a:ext cx="3931920" cy="467307"/>
          </a:xfrm>
          <a:prstGeom prst="rect">
            <a:avLst/>
          </a:prstGeom>
          <a:noFill/>
        </p:spPr>
        <p:txBody>
          <a:bodyPr wrap="square" lIns="0" tIns="0" rIns="0" bIns="0" anchor="t">
            <a:spAutoFit/>
          </a:bodyPr>
          <a:lstStyle/>
          <a:p>
            <a:pPr algn="l">
              <a:lnSpc>
                <a:spcPct val="105000"/>
              </a:lnSpc>
            </a:pPr>
            <a:r>
              <a:rPr sz="1400" b="1" i="0">
                <a:solidFill>
                  <a:srgbClr val="0A2540"/>
                </a:solidFill>
                <a:latin typeface="Calibri"/>
              </a:rPr>
              <a:t>QUẢN LÝ DỊCH VỤ VÀ SỬA CHỮA</a:t>
            </a:r>
          </a:p>
          <a:p>
            <a:pPr algn="l">
              <a:lnSpc>
                <a:spcPct val="100000"/>
              </a:lnSpc>
              <a:spcBef>
                <a:spcPts val="200"/>
              </a:spcBef>
            </a:pPr>
            <a:r>
              <a:rPr sz="1400" b="0" i="1">
                <a:solidFill>
                  <a:srgbClr val="6B7784"/>
                </a:solidFill>
                <a:latin typeface="Calibri"/>
              </a:rPr>
              <a:t>Service Order Management  ·  Nhóm Cốt lõi</a:t>
            </a:r>
          </a:p>
        </p:txBody>
      </p:sp>
      <p:sp>
        <p:nvSpPr>
          <p:cNvPr id="13" name="TextBox 12"/>
          <p:cNvSpPr txBox="1"/>
          <p:nvPr/>
        </p:nvSpPr>
        <p:spPr>
          <a:xfrm>
            <a:off x="932688" y="2615184"/>
            <a:ext cx="4846320" cy="2177647"/>
          </a:xfrm>
          <a:prstGeom prst="rect">
            <a:avLst/>
          </a:prstGeom>
          <a:noFill/>
        </p:spPr>
        <p:txBody>
          <a:bodyPr wrap="square" lIns="0" tIns="0" rIns="0" bIns="0" anchor="t">
            <a:spAutoFit/>
          </a:bodyPr>
          <a:lstStyle/>
          <a:p>
            <a:pPr algn="l">
              <a:lnSpc>
                <a:spcPct val="124000"/>
              </a:lnSpc>
              <a:spcAft>
                <a:spcPts val="800"/>
              </a:spcAft>
            </a:pPr>
            <a:r>
              <a:rPr sz="1400" b="0" i="0" dirty="0">
                <a:solidFill>
                  <a:srgbClr val="2B3440"/>
                </a:solidFill>
                <a:latin typeface="Calibri"/>
              </a:rPr>
              <a:t>•  </a:t>
            </a:r>
            <a:r>
              <a:rPr sz="1400" b="0" i="0" dirty="0" err="1">
                <a:solidFill>
                  <a:srgbClr val="2B3440"/>
                </a:solidFill>
                <a:latin typeface="Calibri"/>
              </a:rPr>
              <a:t>Nhiều</a:t>
            </a:r>
            <a:r>
              <a:rPr sz="1400" b="0" i="0" dirty="0">
                <a:solidFill>
                  <a:srgbClr val="2B3440"/>
                </a:solidFill>
                <a:latin typeface="Calibri"/>
              </a:rPr>
              <a:t> </a:t>
            </a:r>
            <a:r>
              <a:rPr sz="1400" b="0" i="0" dirty="0" err="1">
                <a:solidFill>
                  <a:srgbClr val="2B3440"/>
                </a:solidFill>
                <a:latin typeface="Calibri"/>
              </a:rPr>
              <a:t>điểm</a:t>
            </a:r>
            <a:r>
              <a:rPr sz="1400" b="0" i="0" dirty="0">
                <a:solidFill>
                  <a:srgbClr val="2B3440"/>
                </a:solidFill>
                <a:latin typeface="Calibri"/>
              </a:rPr>
              <a:t> </a:t>
            </a:r>
            <a:r>
              <a:rPr sz="1400" b="0" i="0" dirty="0" err="1">
                <a:solidFill>
                  <a:srgbClr val="2B3440"/>
                </a:solidFill>
                <a:latin typeface="Calibri"/>
              </a:rPr>
              <a:t>tương</a:t>
            </a:r>
            <a:r>
              <a:rPr sz="1400" b="0" i="0" dirty="0">
                <a:solidFill>
                  <a:srgbClr val="2B3440"/>
                </a:solidFill>
                <a:latin typeface="Calibri"/>
              </a:rPr>
              <a:t> </a:t>
            </a:r>
            <a:r>
              <a:rPr sz="1400" b="0" i="0" dirty="0" err="1">
                <a:solidFill>
                  <a:srgbClr val="2B3440"/>
                </a:solidFill>
                <a:latin typeface="Calibri"/>
              </a:rPr>
              <a:t>tác</a:t>
            </a:r>
            <a:r>
              <a:rPr sz="1400" b="0" i="0" dirty="0">
                <a:solidFill>
                  <a:srgbClr val="2B3440"/>
                </a:solidFill>
                <a:latin typeface="Calibri"/>
              </a:rPr>
              <a:t> </a:t>
            </a:r>
            <a:r>
              <a:rPr sz="1400" b="0" i="0" dirty="0" err="1">
                <a:solidFill>
                  <a:srgbClr val="2B3440"/>
                </a:solidFill>
                <a:latin typeface="Calibri"/>
              </a:rPr>
              <a:t>và</a:t>
            </a:r>
            <a:r>
              <a:rPr sz="1400" b="0" i="0" dirty="0">
                <a:solidFill>
                  <a:srgbClr val="2B3440"/>
                </a:solidFill>
                <a:latin typeface="Calibri"/>
              </a:rPr>
              <a:t> </a:t>
            </a:r>
            <a:r>
              <a:rPr sz="1400" b="0" i="0" dirty="0" err="1">
                <a:solidFill>
                  <a:srgbClr val="2B3440"/>
                </a:solidFill>
                <a:latin typeface="Calibri"/>
              </a:rPr>
              <a:t>chuyển</a:t>
            </a:r>
            <a:r>
              <a:rPr sz="1400" b="0" i="0" dirty="0">
                <a:solidFill>
                  <a:srgbClr val="2B3440"/>
                </a:solidFill>
                <a:latin typeface="Calibri"/>
              </a:rPr>
              <a:t> </a:t>
            </a:r>
            <a:r>
              <a:rPr sz="1400" b="0" i="0" dirty="0" err="1">
                <a:solidFill>
                  <a:srgbClr val="2B3440"/>
                </a:solidFill>
                <a:latin typeface="Calibri"/>
              </a:rPr>
              <a:t>giao</a:t>
            </a:r>
            <a:r>
              <a:rPr sz="1400" b="0" i="0" dirty="0">
                <a:solidFill>
                  <a:srgbClr val="2B3440"/>
                </a:solidFill>
                <a:latin typeface="Calibri"/>
              </a:rPr>
              <a:t> </a:t>
            </a:r>
            <a:r>
              <a:rPr sz="1400" b="0" i="0" dirty="0" err="1">
                <a:solidFill>
                  <a:srgbClr val="2B3440"/>
                </a:solidFill>
                <a:latin typeface="Calibri"/>
              </a:rPr>
              <a:t>giữa</a:t>
            </a:r>
            <a:r>
              <a:rPr sz="1400" b="0" i="0" dirty="0">
                <a:solidFill>
                  <a:srgbClr val="2B3440"/>
                </a:solidFill>
                <a:latin typeface="Calibri"/>
              </a:rPr>
              <a:t> </a:t>
            </a:r>
            <a:r>
              <a:rPr sz="1400" b="0" i="0" dirty="0" err="1">
                <a:solidFill>
                  <a:srgbClr val="2B3440"/>
                </a:solidFill>
                <a:latin typeface="Calibri"/>
              </a:rPr>
              <a:t>khách</a:t>
            </a:r>
            <a:r>
              <a:rPr sz="1400" b="0" i="0" dirty="0">
                <a:solidFill>
                  <a:srgbClr val="2B3440"/>
                </a:solidFill>
                <a:latin typeface="Calibri"/>
              </a:rPr>
              <a:t> </a:t>
            </a:r>
            <a:r>
              <a:rPr sz="1400" b="0" i="0" dirty="0" err="1">
                <a:solidFill>
                  <a:srgbClr val="2B3440"/>
                </a:solidFill>
                <a:latin typeface="Calibri"/>
              </a:rPr>
              <a:t>hàng</a:t>
            </a:r>
            <a:r>
              <a:rPr sz="1400" b="0" i="0" dirty="0">
                <a:solidFill>
                  <a:srgbClr val="2B3440"/>
                </a:solidFill>
                <a:latin typeface="Calibri"/>
              </a:rPr>
              <a:t>, Service Admin </a:t>
            </a:r>
            <a:r>
              <a:rPr sz="1400" b="0" i="0" dirty="0" err="1">
                <a:solidFill>
                  <a:srgbClr val="2B3440"/>
                </a:solidFill>
                <a:latin typeface="Calibri"/>
              </a:rPr>
              <a:t>và</a:t>
            </a:r>
            <a:r>
              <a:rPr sz="1400" b="0" i="0" dirty="0">
                <a:solidFill>
                  <a:srgbClr val="2B3440"/>
                </a:solidFill>
                <a:latin typeface="Calibri"/>
              </a:rPr>
              <a:t> Technical Service.</a:t>
            </a:r>
          </a:p>
          <a:p>
            <a:pPr algn="l">
              <a:lnSpc>
                <a:spcPct val="124000"/>
              </a:lnSpc>
              <a:spcAft>
                <a:spcPts val="800"/>
              </a:spcAft>
            </a:pPr>
            <a:r>
              <a:rPr sz="1400" b="0" i="0" dirty="0">
                <a:solidFill>
                  <a:srgbClr val="2B3440"/>
                </a:solidFill>
                <a:latin typeface="Calibri"/>
              </a:rPr>
              <a:t>•  </a:t>
            </a:r>
            <a:r>
              <a:rPr sz="1400" b="0" i="0" dirty="0" err="1">
                <a:solidFill>
                  <a:srgbClr val="2B3440"/>
                </a:solidFill>
                <a:latin typeface="Calibri"/>
              </a:rPr>
              <a:t>Chuỗi</a:t>
            </a:r>
            <a:r>
              <a:rPr sz="1400" b="0" i="0" dirty="0">
                <a:solidFill>
                  <a:srgbClr val="2B3440"/>
                </a:solidFill>
                <a:latin typeface="Calibri"/>
              </a:rPr>
              <a:t> </a:t>
            </a:r>
            <a:r>
              <a:rPr sz="1400" b="0" i="0" dirty="0" err="1">
                <a:solidFill>
                  <a:srgbClr val="2B3440"/>
                </a:solidFill>
                <a:latin typeface="Calibri"/>
              </a:rPr>
              <a:t>xử</a:t>
            </a:r>
            <a:r>
              <a:rPr sz="1400" b="0" i="0" dirty="0">
                <a:solidFill>
                  <a:srgbClr val="2B3440"/>
                </a:solidFill>
                <a:latin typeface="Calibri"/>
              </a:rPr>
              <a:t> </a:t>
            </a:r>
            <a:r>
              <a:rPr sz="1400" b="0" i="0" dirty="0" err="1">
                <a:solidFill>
                  <a:srgbClr val="2B3440"/>
                </a:solidFill>
                <a:latin typeface="Calibri"/>
              </a:rPr>
              <a:t>lý</a:t>
            </a:r>
            <a:r>
              <a:rPr sz="1400" b="0" i="0" dirty="0">
                <a:solidFill>
                  <a:srgbClr val="2B3440"/>
                </a:solidFill>
                <a:latin typeface="Calibri"/>
              </a:rPr>
              <a:t> </a:t>
            </a:r>
            <a:r>
              <a:rPr sz="1400" b="0" i="0" dirty="0" err="1">
                <a:solidFill>
                  <a:srgbClr val="2B3440"/>
                </a:solidFill>
                <a:latin typeface="Calibri"/>
              </a:rPr>
              <a:t>dài</a:t>
            </a:r>
            <a:r>
              <a:rPr sz="1400" b="0" i="0" dirty="0">
                <a:solidFill>
                  <a:srgbClr val="2B3440"/>
                </a:solidFill>
                <a:latin typeface="Calibri"/>
              </a:rPr>
              <a:t>: </a:t>
            </a:r>
            <a:r>
              <a:rPr sz="1400" b="0" i="0" dirty="0" err="1">
                <a:solidFill>
                  <a:srgbClr val="2B3440"/>
                </a:solidFill>
                <a:latin typeface="Calibri"/>
              </a:rPr>
              <a:t>tiếp</a:t>
            </a:r>
            <a:r>
              <a:rPr sz="1400" b="0" i="0" dirty="0">
                <a:solidFill>
                  <a:srgbClr val="2B3440"/>
                </a:solidFill>
                <a:latin typeface="Calibri"/>
              </a:rPr>
              <a:t> </a:t>
            </a:r>
            <a:r>
              <a:rPr sz="1400" b="0" i="0" dirty="0" err="1">
                <a:solidFill>
                  <a:srgbClr val="2B3440"/>
                </a:solidFill>
                <a:latin typeface="Calibri"/>
              </a:rPr>
              <a:t>nhận</a:t>
            </a:r>
            <a:r>
              <a:rPr sz="1400" b="0" i="0" dirty="0">
                <a:solidFill>
                  <a:srgbClr val="2B3440"/>
                </a:solidFill>
                <a:latin typeface="Calibri"/>
              </a:rPr>
              <a:t> </a:t>
            </a:r>
            <a:r>
              <a:rPr sz="1400" b="0" i="0" dirty="0" err="1">
                <a:solidFill>
                  <a:srgbClr val="2B3440"/>
                </a:solidFill>
                <a:latin typeface="Calibri"/>
              </a:rPr>
              <a:t>yêu</a:t>
            </a:r>
            <a:r>
              <a:rPr sz="1400" b="0" i="0" dirty="0">
                <a:solidFill>
                  <a:srgbClr val="2B3440"/>
                </a:solidFill>
                <a:latin typeface="Calibri"/>
              </a:rPr>
              <a:t> </a:t>
            </a:r>
            <a:r>
              <a:rPr sz="1400" b="0" i="0" dirty="0" err="1">
                <a:solidFill>
                  <a:srgbClr val="2B3440"/>
                </a:solidFill>
                <a:latin typeface="Calibri"/>
              </a:rPr>
              <a:t>cầu</a:t>
            </a:r>
            <a:r>
              <a:rPr sz="1400" b="0" i="0" dirty="0">
                <a:solidFill>
                  <a:srgbClr val="2B3440"/>
                </a:solidFill>
                <a:latin typeface="Calibri"/>
              </a:rPr>
              <a:t> → </a:t>
            </a:r>
            <a:r>
              <a:rPr sz="1400" b="0" i="0" dirty="0" err="1">
                <a:solidFill>
                  <a:srgbClr val="2B3440"/>
                </a:solidFill>
                <a:latin typeface="Calibri"/>
              </a:rPr>
              <a:t>báo</a:t>
            </a:r>
            <a:r>
              <a:rPr sz="1400" b="0" i="0" dirty="0">
                <a:solidFill>
                  <a:srgbClr val="2B3440"/>
                </a:solidFill>
                <a:latin typeface="Calibri"/>
              </a:rPr>
              <a:t> </a:t>
            </a:r>
            <a:r>
              <a:rPr sz="1400" b="0" i="0" dirty="0" err="1">
                <a:solidFill>
                  <a:srgbClr val="2B3440"/>
                </a:solidFill>
                <a:latin typeface="Calibri"/>
              </a:rPr>
              <a:t>giá</a:t>
            </a:r>
            <a:r>
              <a:rPr sz="1400" b="0" i="0" dirty="0">
                <a:solidFill>
                  <a:srgbClr val="2B3440"/>
                </a:solidFill>
                <a:latin typeface="Calibri"/>
              </a:rPr>
              <a:t> → Service / Repair Order → </a:t>
            </a:r>
            <a:r>
              <a:rPr sz="1400" b="0" i="0" dirty="0" err="1">
                <a:solidFill>
                  <a:srgbClr val="2B3440"/>
                </a:solidFill>
                <a:latin typeface="Calibri"/>
              </a:rPr>
              <a:t>hoàn</a:t>
            </a:r>
            <a:r>
              <a:rPr sz="1400" b="0" i="0" dirty="0">
                <a:solidFill>
                  <a:srgbClr val="2B3440"/>
                </a:solidFill>
                <a:latin typeface="Calibri"/>
              </a:rPr>
              <a:t> </a:t>
            </a:r>
            <a:r>
              <a:rPr sz="1400" b="0" i="0" dirty="0" err="1">
                <a:solidFill>
                  <a:srgbClr val="2B3440"/>
                </a:solidFill>
                <a:latin typeface="Calibri"/>
              </a:rPr>
              <a:t>tất</a:t>
            </a:r>
            <a:r>
              <a:rPr sz="1400" b="0" i="0" dirty="0">
                <a:solidFill>
                  <a:srgbClr val="2B3440"/>
                </a:solidFill>
                <a:latin typeface="Calibri"/>
              </a:rPr>
              <a:t> </a:t>
            </a:r>
            <a:r>
              <a:rPr sz="1400" b="0" i="0" dirty="0" err="1">
                <a:solidFill>
                  <a:srgbClr val="2B3440"/>
                </a:solidFill>
                <a:latin typeface="Calibri"/>
              </a:rPr>
              <a:t>dịch</a:t>
            </a:r>
            <a:r>
              <a:rPr sz="1400" b="0" i="0" dirty="0">
                <a:solidFill>
                  <a:srgbClr val="2B3440"/>
                </a:solidFill>
                <a:latin typeface="Calibri"/>
              </a:rPr>
              <a:t> </a:t>
            </a:r>
            <a:r>
              <a:rPr sz="1400" b="0" i="0" dirty="0" err="1">
                <a:solidFill>
                  <a:srgbClr val="2B3440"/>
                </a:solidFill>
                <a:latin typeface="Calibri"/>
              </a:rPr>
              <a:t>vụ</a:t>
            </a:r>
            <a:r>
              <a:rPr sz="1400" b="0" i="0" dirty="0">
                <a:solidFill>
                  <a:srgbClr val="2B3440"/>
                </a:solidFill>
                <a:latin typeface="Calibri"/>
              </a:rPr>
              <a:t>.</a:t>
            </a:r>
          </a:p>
          <a:p>
            <a:pPr algn="l">
              <a:lnSpc>
                <a:spcPct val="124000"/>
              </a:lnSpc>
              <a:spcAft>
                <a:spcPts val="800"/>
              </a:spcAft>
            </a:pPr>
            <a:r>
              <a:rPr sz="1400" b="0" i="0" dirty="0">
                <a:solidFill>
                  <a:srgbClr val="2B3440"/>
                </a:solidFill>
                <a:latin typeface="Calibri"/>
              </a:rPr>
              <a:t>•  </a:t>
            </a:r>
            <a:r>
              <a:rPr sz="1400" b="0" i="0" dirty="0" err="1">
                <a:solidFill>
                  <a:srgbClr val="2B3440"/>
                </a:solidFill>
                <a:latin typeface="Calibri"/>
              </a:rPr>
              <a:t>Đo</a:t>
            </a:r>
            <a:r>
              <a:rPr sz="1400" b="0" i="0" dirty="0">
                <a:solidFill>
                  <a:srgbClr val="2B3440"/>
                </a:solidFill>
                <a:latin typeface="Calibri"/>
              </a:rPr>
              <a:t> </a:t>
            </a:r>
            <a:r>
              <a:rPr sz="1400" b="0" i="0" dirty="0" err="1">
                <a:solidFill>
                  <a:srgbClr val="2B3440"/>
                </a:solidFill>
                <a:latin typeface="Calibri"/>
              </a:rPr>
              <a:t>lường</a:t>
            </a:r>
            <a:r>
              <a:rPr sz="1400" b="0" i="0" dirty="0">
                <a:solidFill>
                  <a:srgbClr val="2B3440"/>
                </a:solidFill>
                <a:latin typeface="Calibri"/>
              </a:rPr>
              <a:t> </a:t>
            </a:r>
            <a:r>
              <a:rPr sz="1400" b="0" i="0" dirty="0" err="1">
                <a:solidFill>
                  <a:srgbClr val="2B3440"/>
                </a:solidFill>
                <a:latin typeface="Calibri"/>
              </a:rPr>
              <a:t>được</a:t>
            </a:r>
            <a:r>
              <a:rPr sz="1400" b="0" i="0" dirty="0">
                <a:solidFill>
                  <a:srgbClr val="2B3440"/>
                </a:solidFill>
                <a:latin typeface="Calibri"/>
              </a:rPr>
              <a:t> </a:t>
            </a:r>
            <a:r>
              <a:rPr sz="1400" b="0" i="0" dirty="0" err="1">
                <a:solidFill>
                  <a:srgbClr val="2B3440"/>
                </a:solidFill>
                <a:latin typeface="Calibri"/>
              </a:rPr>
              <a:t>thời</a:t>
            </a:r>
            <a:r>
              <a:rPr sz="1400" b="0" i="0" dirty="0">
                <a:solidFill>
                  <a:srgbClr val="2B3440"/>
                </a:solidFill>
                <a:latin typeface="Calibri"/>
              </a:rPr>
              <a:t> </a:t>
            </a:r>
            <a:r>
              <a:rPr sz="1400" b="0" i="0" dirty="0" err="1">
                <a:solidFill>
                  <a:srgbClr val="2B3440"/>
                </a:solidFill>
                <a:latin typeface="Calibri"/>
              </a:rPr>
              <a:t>gian</a:t>
            </a:r>
            <a:r>
              <a:rPr sz="1400" b="0" i="0" dirty="0">
                <a:solidFill>
                  <a:srgbClr val="2B3440"/>
                </a:solidFill>
                <a:latin typeface="Calibri"/>
              </a:rPr>
              <a:t> </a:t>
            </a:r>
            <a:r>
              <a:rPr sz="1400" b="0" i="0" dirty="0" err="1">
                <a:solidFill>
                  <a:srgbClr val="2B3440"/>
                </a:solidFill>
                <a:latin typeface="Calibri"/>
              </a:rPr>
              <a:t>phản</a:t>
            </a:r>
            <a:r>
              <a:rPr sz="1400" b="0" i="0" dirty="0">
                <a:solidFill>
                  <a:srgbClr val="2B3440"/>
                </a:solidFill>
                <a:latin typeface="Calibri"/>
              </a:rPr>
              <a:t> </a:t>
            </a:r>
            <a:r>
              <a:rPr sz="1400" b="0" i="0" dirty="0" err="1">
                <a:solidFill>
                  <a:srgbClr val="2B3440"/>
                </a:solidFill>
                <a:latin typeface="Calibri"/>
              </a:rPr>
              <a:t>hồi</a:t>
            </a:r>
            <a:r>
              <a:rPr sz="1400" b="0" i="0" dirty="0">
                <a:solidFill>
                  <a:srgbClr val="2B3440"/>
                </a:solidFill>
                <a:latin typeface="Calibri"/>
              </a:rPr>
              <a:t>, </a:t>
            </a:r>
            <a:r>
              <a:rPr sz="1400" b="0" i="0" dirty="0" err="1">
                <a:solidFill>
                  <a:srgbClr val="2B3440"/>
                </a:solidFill>
                <a:latin typeface="Calibri"/>
              </a:rPr>
              <a:t>thời</a:t>
            </a:r>
            <a:r>
              <a:rPr sz="1400" b="0" i="0" dirty="0">
                <a:solidFill>
                  <a:srgbClr val="2B3440"/>
                </a:solidFill>
                <a:latin typeface="Calibri"/>
              </a:rPr>
              <a:t> </a:t>
            </a:r>
            <a:r>
              <a:rPr sz="1400" b="0" i="0" dirty="0" err="1">
                <a:solidFill>
                  <a:srgbClr val="2B3440"/>
                </a:solidFill>
                <a:latin typeface="Calibri"/>
              </a:rPr>
              <a:t>gian</a:t>
            </a:r>
            <a:r>
              <a:rPr sz="1400" b="0" i="0" dirty="0">
                <a:solidFill>
                  <a:srgbClr val="2B3440"/>
                </a:solidFill>
                <a:latin typeface="Calibri"/>
              </a:rPr>
              <a:t> </a:t>
            </a:r>
            <a:r>
              <a:rPr sz="1400" b="0" i="0" dirty="0" err="1">
                <a:solidFill>
                  <a:srgbClr val="2B3440"/>
                </a:solidFill>
                <a:latin typeface="Calibri"/>
              </a:rPr>
              <a:t>sửa</a:t>
            </a:r>
            <a:r>
              <a:rPr sz="1400" b="0" i="0" dirty="0">
                <a:solidFill>
                  <a:srgbClr val="2B3440"/>
                </a:solidFill>
                <a:latin typeface="Calibri"/>
              </a:rPr>
              <a:t> </a:t>
            </a:r>
            <a:r>
              <a:rPr sz="1400" b="0" i="0" dirty="0" err="1">
                <a:solidFill>
                  <a:srgbClr val="2B3440"/>
                </a:solidFill>
                <a:latin typeface="Calibri"/>
              </a:rPr>
              <a:t>chữa</a:t>
            </a:r>
            <a:r>
              <a:rPr sz="1400" b="0" i="0" dirty="0">
                <a:solidFill>
                  <a:srgbClr val="2B3440"/>
                </a:solidFill>
                <a:latin typeface="Calibri"/>
              </a:rPr>
              <a:t> </a:t>
            </a:r>
            <a:r>
              <a:rPr sz="1400" b="0" i="0" dirty="0" err="1">
                <a:solidFill>
                  <a:srgbClr val="2B3440"/>
                </a:solidFill>
                <a:latin typeface="Calibri"/>
              </a:rPr>
              <a:t>và</a:t>
            </a:r>
            <a:r>
              <a:rPr sz="1400" b="0" i="0" dirty="0">
                <a:solidFill>
                  <a:srgbClr val="2B3440"/>
                </a:solidFill>
                <a:latin typeface="Calibri"/>
              </a:rPr>
              <a:t> chi </a:t>
            </a:r>
            <a:r>
              <a:rPr sz="1400" b="0" i="0" dirty="0" err="1">
                <a:solidFill>
                  <a:srgbClr val="2B3440"/>
                </a:solidFill>
                <a:latin typeface="Calibri"/>
              </a:rPr>
              <a:t>phí</a:t>
            </a:r>
            <a:r>
              <a:rPr sz="1400" b="0" i="0" dirty="0">
                <a:solidFill>
                  <a:srgbClr val="2B3440"/>
                </a:solidFill>
                <a:latin typeface="Calibri"/>
              </a:rPr>
              <a:t> </a:t>
            </a:r>
            <a:r>
              <a:rPr sz="1400" b="0" i="0" dirty="0" err="1">
                <a:solidFill>
                  <a:srgbClr val="2B3440"/>
                </a:solidFill>
                <a:latin typeface="Calibri"/>
              </a:rPr>
              <a:t>dịch</a:t>
            </a:r>
            <a:r>
              <a:rPr sz="1400" b="0" i="0" dirty="0">
                <a:solidFill>
                  <a:srgbClr val="2B3440"/>
                </a:solidFill>
                <a:latin typeface="Calibri"/>
              </a:rPr>
              <a:t> </a:t>
            </a:r>
            <a:r>
              <a:rPr sz="1400" b="0" i="0" dirty="0" err="1">
                <a:solidFill>
                  <a:srgbClr val="2B3440"/>
                </a:solidFill>
                <a:latin typeface="Calibri"/>
              </a:rPr>
              <a:t>vụ</a:t>
            </a:r>
            <a:r>
              <a:rPr sz="1400" b="0" i="0" dirty="0">
                <a:solidFill>
                  <a:srgbClr val="2B3440"/>
                </a:solidFill>
                <a:latin typeface="Calibri"/>
              </a:rPr>
              <a:t>.</a:t>
            </a:r>
          </a:p>
          <a:p>
            <a:pPr algn="l">
              <a:lnSpc>
                <a:spcPct val="124000"/>
              </a:lnSpc>
              <a:spcAft>
                <a:spcPts val="800"/>
              </a:spcAft>
            </a:pPr>
            <a:r>
              <a:rPr sz="1400" b="0" i="0" dirty="0">
                <a:solidFill>
                  <a:srgbClr val="2B3440"/>
                </a:solidFill>
                <a:latin typeface="Calibri"/>
              </a:rPr>
              <a:t>•  </a:t>
            </a:r>
            <a:r>
              <a:rPr sz="1400" b="0" i="0" dirty="0" err="1">
                <a:solidFill>
                  <a:srgbClr val="2B3440"/>
                </a:solidFill>
                <a:latin typeface="Calibri"/>
              </a:rPr>
              <a:t>Quyết</a:t>
            </a:r>
            <a:r>
              <a:rPr sz="1400" b="0" i="0" dirty="0">
                <a:solidFill>
                  <a:srgbClr val="2B3440"/>
                </a:solidFill>
                <a:latin typeface="Calibri"/>
              </a:rPr>
              <a:t> </a:t>
            </a:r>
            <a:r>
              <a:rPr sz="1400" b="0" i="0" dirty="0" err="1">
                <a:solidFill>
                  <a:srgbClr val="2B3440"/>
                </a:solidFill>
                <a:latin typeface="Calibri"/>
              </a:rPr>
              <a:t>định</a:t>
            </a:r>
            <a:r>
              <a:rPr sz="1400" b="0" i="0" dirty="0">
                <a:solidFill>
                  <a:srgbClr val="2B3440"/>
                </a:solidFill>
                <a:latin typeface="Calibri"/>
              </a:rPr>
              <a:t> </a:t>
            </a:r>
            <a:r>
              <a:rPr sz="1400" b="0" i="0" dirty="0" err="1">
                <a:solidFill>
                  <a:srgbClr val="2B3440"/>
                </a:solidFill>
                <a:latin typeface="Calibri"/>
              </a:rPr>
              <a:t>trực</a:t>
            </a:r>
            <a:r>
              <a:rPr sz="1400" b="0" i="0" dirty="0">
                <a:solidFill>
                  <a:srgbClr val="2B3440"/>
                </a:solidFill>
                <a:latin typeface="Calibri"/>
              </a:rPr>
              <a:t> </a:t>
            </a:r>
            <a:r>
              <a:rPr sz="1400" b="0" i="0" dirty="0" err="1">
                <a:solidFill>
                  <a:srgbClr val="2B3440"/>
                </a:solidFill>
                <a:latin typeface="Calibri"/>
              </a:rPr>
              <a:t>tiếp</a:t>
            </a:r>
            <a:r>
              <a:rPr sz="1400" b="0" i="0" dirty="0">
                <a:solidFill>
                  <a:srgbClr val="2B3440"/>
                </a:solidFill>
                <a:latin typeface="Calibri"/>
              </a:rPr>
              <a:t> </a:t>
            </a:r>
            <a:r>
              <a:rPr sz="1400" b="0" i="0" dirty="0" err="1">
                <a:solidFill>
                  <a:srgbClr val="2B3440"/>
                </a:solidFill>
                <a:latin typeface="Calibri"/>
              </a:rPr>
              <a:t>uy</a:t>
            </a:r>
            <a:r>
              <a:rPr sz="1400" b="0" i="0" dirty="0">
                <a:solidFill>
                  <a:srgbClr val="2B3440"/>
                </a:solidFill>
                <a:latin typeface="Calibri"/>
              </a:rPr>
              <a:t> </a:t>
            </a:r>
            <a:r>
              <a:rPr sz="1400" b="0" i="0" dirty="0" err="1">
                <a:solidFill>
                  <a:srgbClr val="2B3440"/>
                </a:solidFill>
                <a:latin typeface="Calibri"/>
              </a:rPr>
              <a:t>tín</a:t>
            </a:r>
            <a:r>
              <a:rPr sz="1400" b="0" i="0" dirty="0">
                <a:solidFill>
                  <a:srgbClr val="2B3440"/>
                </a:solidFill>
                <a:latin typeface="Calibri"/>
              </a:rPr>
              <a:t> </a:t>
            </a:r>
            <a:r>
              <a:rPr sz="1400" b="0" i="0" dirty="0" err="1">
                <a:solidFill>
                  <a:srgbClr val="2B3440"/>
                </a:solidFill>
                <a:latin typeface="Calibri"/>
              </a:rPr>
              <a:t>sau</a:t>
            </a:r>
            <a:r>
              <a:rPr sz="1400" b="0" i="0" dirty="0">
                <a:solidFill>
                  <a:srgbClr val="2B3440"/>
                </a:solidFill>
                <a:latin typeface="Calibri"/>
              </a:rPr>
              <a:t> </a:t>
            </a:r>
            <a:r>
              <a:rPr sz="1400" b="0" i="0" dirty="0" err="1">
                <a:solidFill>
                  <a:srgbClr val="2B3440"/>
                </a:solidFill>
                <a:latin typeface="Calibri"/>
              </a:rPr>
              <a:t>bán</a:t>
            </a:r>
            <a:r>
              <a:rPr sz="1400" b="0" i="0" dirty="0">
                <a:solidFill>
                  <a:srgbClr val="2B3440"/>
                </a:solidFill>
                <a:latin typeface="Calibri"/>
              </a:rPr>
              <a:t> </a:t>
            </a:r>
            <a:r>
              <a:rPr sz="1400" b="0" i="0" dirty="0" err="1">
                <a:solidFill>
                  <a:srgbClr val="2B3440"/>
                </a:solidFill>
                <a:latin typeface="Calibri"/>
              </a:rPr>
              <a:t>hàng</a:t>
            </a:r>
            <a:r>
              <a:rPr sz="1400" b="0" i="0" dirty="0">
                <a:solidFill>
                  <a:srgbClr val="2B3440"/>
                </a:solidFill>
                <a:latin typeface="Calibri"/>
              </a:rPr>
              <a:t> </a:t>
            </a:r>
            <a:r>
              <a:rPr sz="1400" b="0" i="0" dirty="0" err="1">
                <a:solidFill>
                  <a:srgbClr val="2B3440"/>
                </a:solidFill>
                <a:latin typeface="Calibri"/>
              </a:rPr>
              <a:t>của</a:t>
            </a:r>
            <a:r>
              <a:rPr sz="1400" b="0" i="0" dirty="0">
                <a:solidFill>
                  <a:srgbClr val="2B3440"/>
                </a:solidFill>
                <a:latin typeface="Calibri"/>
              </a:rPr>
              <a:t> </a:t>
            </a:r>
            <a:r>
              <a:rPr sz="1400" b="0" i="0" dirty="0" err="1">
                <a:solidFill>
                  <a:srgbClr val="2B3440"/>
                </a:solidFill>
                <a:latin typeface="Calibri"/>
              </a:rPr>
              <a:t>doanh</a:t>
            </a:r>
            <a:r>
              <a:rPr sz="1400" b="0" i="0" dirty="0">
                <a:solidFill>
                  <a:srgbClr val="2B3440"/>
                </a:solidFill>
                <a:latin typeface="Calibri"/>
              </a:rPr>
              <a:t> </a:t>
            </a:r>
            <a:r>
              <a:rPr sz="1400" b="0" i="0" dirty="0" err="1">
                <a:solidFill>
                  <a:srgbClr val="2B3440"/>
                </a:solidFill>
                <a:latin typeface="Calibri"/>
              </a:rPr>
              <a:t>nghiệp</a:t>
            </a:r>
            <a:r>
              <a:rPr sz="1400" b="0" i="0" dirty="0">
                <a:solidFill>
                  <a:srgbClr val="2B3440"/>
                </a:solidFill>
                <a:latin typeface="Calibri"/>
              </a:rPr>
              <a:t>.</a:t>
            </a:r>
          </a:p>
        </p:txBody>
      </p:sp>
      <p:sp>
        <p:nvSpPr>
          <p:cNvPr id="14" name="Rectangle 13"/>
          <p:cNvSpPr/>
          <p:nvPr/>
        </p:nvSpPr>
        <p:spPr>
          <a:xfrm>
            <a:off x="6199632" y="1664208"/>
            <a:ext cx="5367528" cy="3271776"/>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5" name="Rectangle 14"/>
          <p:cNvSpPr/>
          <p:nvPr/>
        </p:nvSpPr>
        <p:spPr>
          <a:xfrm>
            <a:off x="6199632" y="1664208"/>
            <a:ext cx="5367528" cy="54864"/>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6" name="Rectangle 15"/>
          <p:cNvSpPr/>
          <p:nvPr/>
        </p:nvSpPr>
        <p:spPr>
          <a:xfrm>
            <a:off x="6455664" y="1883664"/>
            <a:ext cx="859536" cy="420624"/>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7" name="TextBox 16"/>
          <p:cNvSpPr txBox="1"/>
          <p:nvPr/>
        </p:nvSpPr>
        <p:spPr>
          <a:xfrm>
            <a:off x="6455664" y="1986254"/>
            <a:ext cx="859536" cy="215444"/>
          </a:xfrm>
          <a:prstGeom prst="rect">
            <a:avLst/>
          </a:prstGeom>
          <a:noFill/>
        </p:spPr>
        <p:txBody>
          <a:bodyPr wrap="square" lIns="0" tIns="0" rIns="0" bIns="0" anchor="ctr">
            <a:spAutoFit/>
          </a:bodyPr>
          <a:lstStyle/>
          <a:p>
            <a:pPr algn="ctr">
              <a:lnSpc>
                <a:spcPct val="100000"/>
              </a:lnSpc>
            </a:pPr>
            <a:r>
              <a:rPr sz="1400" b="1" i="0">
                <a:solidFill>
                  <a:srgbClr val="0A2540"/>
                </a:solidFill>
                <a:latin typeface="Calibri"/>
              </a:rPr>
              <a:t>S01</a:t>
            </a:r>
          </a:p>
        </p:txBody>
      </p:sp>
      <p:sp>
        <p:nvSpPr>
          <p:cNvPr id="18" name="TextBox 17"/>
          <p:cNvSpPr txBox="1"/>
          <p:nvPr/>
        </p:nvSpPr>
        <p:spPr>
          <a:xfrm>
            <a:off x="7443216" y="1865376"/>
            <a:ext cx="3931920" cy="467307"/>
          </a:xfrm>
          <a:prstGeom prst="rect">
            <a:avLst/>
          </a:prstGeom>
          <a:noFill/>
        </p:spPr>
        <p:txBody>
          <a:bodyPr wrap="square" lIns="0" tIns="0" rIns="0" bIns="0" anchor="t">
            <a:spAutoFit/>
          </a:bodyPr>
          <a:lstStyle/>
          <a:p>
            <a:pPr algn="l">
              <a:lnSpc>
                <a:spcPct val="105000"/>
              </a:lnSpc>
            </a:pPr>
            <a:r>
              <a:rPr sz="1400" b="1" i="0">
                <a:solidFill>
                  <a:srgbClr val="0A2540"/>
                </a:solidFill>
                <a:latin typeface="Calibri"/>
              </a:rPr>
              <a:t>QUẢN LÝ MUA HÀNG VÀ CUNG ỨNG</a:t>
            </a:r>
          </a:p>
          <a:p>
            <a:pPr algn="l">
              <a:lnSpc>
                <a:spcPct val="100000"/>
              </a:lnSpc>
              <a:spcBef>
                <a:spcPts val="200"/>
              </a:spcBef>
            </a:pPr>
            <a:r>
              <a:rPr sz="1400" b="0" i="1">
                <a:solidFill>
                  <a:srgbClr val="6B7784"/>
                </a:solidFill>
                <a:latin typeface="Calibri"/>
              </a:rPr>
              <a:t>Procurement Management  ·  Nhóm Hỗ trợ</a:t>
            </a:r>
          </a:p>
        </p:txBody>
      </p:sp>
      <p:sp>
        <p:nvSpPr>
          <p:cNvPr id="19" name="TextBox 18"/>
          <p:cNvSpPr txBox="1"/>
          <p:nvPr/>
        </p:nvSpPr>
        <p:spPr>
          <a:xfrm>
            <a:off x="6473952" y="2615184"/>
            <a:ext cx="4846320" cy="2177647"/>
          </a:xfrm>
          <a:prstGeom prst="rect">
            <a:avLst/>
          </a:prstGeom>
          <a:noFill/>
        </p:spPr>
        <p:txBody>
          <a:bodyPr wrap="square" lIns="0" tIns="0" rIns="0" bIns="0" anchor="t">
            <a:spAutoFit/>
          </a:bodyPr>
          <a:lstStyle/>
          <a:p>
            <a:pPr algn="l">
              <a:lnSpc>
                <a:spcPct val="124000"/>
              </a:lnSpc>
              <a:spcAft>
                <a:spcPts val="800"/>
              </a:spcAft>
            </a:pPr>
            <a:r>
              <a:rPr sz="1400" b="0" i="0">
                <a:solidFill>
                  <a:srgbClr val="2B3440"/>
                </a:solidFill>
                <a:latin typeface="Calibri"/>
              </a:rPr>
              <a:t>•  Chu trình Source-to-Pay đi qua nhiều bộ phận: Requester – Buyer – Approver – Supplier.</a:t>
            </a:r>
          </a:p>
          <a:p>
            <a:pPr algn="l">
              <a:lnSpc>
                <a:spcPct val="124000"/>
              </a:lnSpc>
              <a:spcAft>
                <a:spcPts val="800"/>
              </a:spcAft>
            </a:pPr>
            <a:r>
              <a:rPr sz="1400" b="0" i="0">
                <a:solidFill>
                  <a:srgbClr val="2B3440"/>
                </a:solidFill>
                <a:latin typeface="Calibri"/>
              </a:rPr>
              <a:t>•  Thường phát sinh chờ đợi ở khâu phê duyệt PR và xác nhận PO từ nhà cung cấp.</a:t>
            </a:r>
          </a:p>
          <a:p>
            <a:pPr algn="l">
              <a:lnSpc>
                <a:spcPct val="124000"/>
              </a:lnSpc>
              <a:spcAft>
                <a:spcPts val="800"/>
              </a:spcAft>
            </a:pPr>
            <a:r>
              <a:rPr sz="1400" b="0" i="0">
                <a:solidFill>
                  <a:srgbClr val="2B3440"/>
                </a:solidFill>
                <a:latin typeface="Calibri"/>
              </a:rPr>
              <a:t>•  Có sẵn dữ liệu định lượng: số PR/PO, lead time, tỷ lệ PR bị trả lại.</a:t>
            </a:r>
          </a:p>
          <a:p>
            <a:pPr algn="l">
              <a:lnSpc>
                <a:spcPct val="124000"/>
              </a:lnSpc>
              <a:spcAft>
                <a:spcPts val="800"/>
              </a:spcAft>
            </a:pPr>
            <a:r>
              <a:rPr sz="1400" b="0" i="0">
                <a:solidFill>
                  <a:srgbClr val="2B3440"/>
                </a:solidFill>
                <a:latin typeface="Calibri"/>
              </a:rPr>
              <a:t>•  Là quy trình nền cho toàn bộ chuỗi cung ứng và hoạt động nhập kho.</a:t>
            </a:r>
          </a:p>
        </p:txBody>
      </p:sp>
      <p:sp>
        <p:nvSpPr>
          <p:cNvPr id="20" name="Rectangle 19"/>
          <p:cNvSpPr/>
          <p:nvPr/>
        </p:nvSpPr>
        <p:spPr>
          <a:xfrm>
            <a:off x="658368" y="5120640"/>
            <a:ext cx="10874959" cy="950976"/>
          </a:xfrm>
          <a:prstGeom prst="rect">
            <a:avLst/>
          </a:prstGeom>
          <a:solidFill>
            <a:srgbClr val="FFF6E8"/>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1" name="Rectangle 20"/>
          <p:cNvSpPr/>
          <p:nvPr/>
        </p:nvSpPr>
        <p:spPr>
          <a:xfrm>
            <a:off x="658368" y="5120640"/>
            <a:ext cx="50292" cy="950976"/>
          </a:xfrm>
          <a:prstGeom prst="rect">
            <a:avLst/>
          </a:prstGeom>
          <a:solidFill>
            <a:srgbClr val="B54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2" name="TextBox 21"/>
          <p:cNvSpPr txBox="1"/>
          <p:nvPr/>
        </p:nvSpPr>
        <p:spPr>
          <a:xfrm>
            <a:off x="950976" y="5178449"/>
            <a:ext cx="10280599" cy="835357"/>
          </a:xfrm>
          <a:prstGeom prst="rect">
            <a:avLst/>
          </a:prstGeom>
          <a:noFill/>
        </p:spPr>
        <p:txBody>
          <a:bodyPr wrap="square" lIns="0" tIns="0" rIns="0" bIns="0" anchor="ctr">
            <a:spAutoFit/>
          </a:bodyPr>
          <a:lstStyle/>
          <a:p>
            <a:pPr algn="l">
              <a:lnSpc>
                <a:spcPct val="100000"/>
              </a:lnSpc>
            </a:pPr>
            <a:r>
              <a:rPr sz="1400" b="1" i="0" dirty="0">
                <a:solidFill>
                  <a:srgbClr val="B54A08"/>
                </a:solidFill>
                <a:latin typeface="Calibri"/>
              </a:rPr>
              <a:t>VÌ SAO KHÔNG CHỌN M02 – CUSTOMER COMPLAINT MANAGEMENT?</a:t>
            </a:r>
          </a:p>
          <a:p>
            <a:pPr algn="l">
              <a:lnSpc>
                <a:spcPct val="126000"/>
              </a:lnSpc>
              <a:spcBef>
                <a:spcPts val="600"/>
              </a:spcBef>
            </a:pPr>
            <a:r>
              <a:rPr sz="1400" b="0" i="0" dirty="0">
                <a:solidFill>
                  <a:srgbClr val="2B3440"/>
                </a:solidFill>
                <a:latin typeface="Calibri"/>
              </a:rPr>
              <a:t>M02 </a:t>
            </a:r>
            <a:r>
              <a:rPr sz="1400" b="0" i="0" dirty="0" err="1">
                <a:solidFill>
                  <a:srgbClr val="2B3440"/>
                </a:solidFill>
                <a:latin typeface="Calibri"/>
              </a:rPr>
              <a:t>đạt</a:t>
            </a:r>
            <a:r>
              <a:rPr sz="1400" b="0" i="0" dirty="0">
                <a:solidFill>
                  <a:srgbClr val="2B3440"/>
                </a:solidFill>
                <a:latin typeface="Calibri"/>
              </a:rPr>
              <a:t> </a:t>
            </a:r>
            <a:r>
              <a:rPr sz="1400" b="0" i="0" dirty="0" err="1">
                <a:solidFill>
                  <a:srgbClr val="2B3440"/>
                </a:solidFill>
                <a:latin typeface="Calibri"/>
              </a:rPr>
              <a:t>mức</a:t>
            </a:r>
            <a:r>
              <a:rPr sz="1400" b="0" i="0" dirty="0">
                <a:solidFill>
                  <a:srgbClr val="2B3440"/>
                </a:solidFill>
                <a:latin typeface="Calibri"/>
              </a:rPr>
              <a:t> Cao ở 04/05 </a:t>
            </a:r>
            <a:r>
              <a:rPr sz="1400" b="0" i="0" dirty="0" err="1">
                <a:solidFill>
                  <a:srgbClr val="2B3440"/>
                </a:solidFill>
                <a:latin typeface="Calibri"/>
              </a:rPr>
              <a:t>tiêu</a:t>
            </a:r>
            <a:r>
              <a:rPr sz="1400" b="0" i="0" dirty="0">
                <a:solidFill>
                  <a:srgbClr val="2B3440"/>
                </a:solidFill>
                <a:latin typeface="Calibri"/>
              </a:rPr>
              <a:t> </a:t>
            </a:r>
            <a:r>
              <a:rPr sz="1400" b="0" i="0" dirty="0" err="1">
                <a:solidFill>
                  <a:srgbClr val="2B3440"/>
                </a:solidFill>
                <a:latin typeface="Calibri"/>
              </a:rPr>
              <a:t>chí</a:t>
            </a:r>
            <a:r>
              <a:rPr sz="1400" b="0" i="0" dirty="0">
                <a:solidFill>
                  <a:srgbClr val="2B3440"/>
                </a:solidFill>
                <a:latin typeface="Calibri"/>
              </a:rPr>
              <a:t> </a:t>
            </a:r>
            <a:r>
              <a:rPr sz="1400" b="0" i="0" dirty="0" err="1">
                <a:solidFill>
                  <a:srgbClr val="2B3440"/>
                </a:solidFill>
                <a:latin typeface="Calibri"/>
              </a:rPr>
              <a:t>và</a:t>
            </a:r>
            <a:r>
              <a:rPr sz="1400" b="0" i="0" dirty="0">
                <a:solidFill>
                  <a:srgbClr val="2B3440"/>
                </a:solidFill>
                <a:latin typeface="Calibri"/>
              </a:rPr>
              <a:t> </a:t>
            </a:r>
            <a:r>
              <a:rPr sz="1400" b="0" i="0" dirty="0" err="1">
                <a:solidFill>
                  <a:srgbClr val="2B3440"/>
                </a:solidFill>
                <a:latin typeface="Calibri"/>
              </a:rPr>
              <a:t>là</a:t>
            </a:r>
            <a:r>
              <a:rPr sz="1400" b="0" i="0" dirty="0">
                <a:solidFill>
                  <a:srgbClr val="2B3440"/>
                </a:solidFill>
                <a:latin typeface="Calibri"/>
              </a:rPr>
              <a:t> </a:t>
            </a:r>
            <a:r>
              <a:rPr sz="1400" b="0" i="0" dirty="0" err="1">
                <a:solidFill>
                  <a:srgbClr val="2B3440"/>
                </a:solidFill>
                <a:latin typeface="Calibri"/>
              </a:rPr>
              <a:t>ứng</a:t>
            </a:r>
            <a:r>
              <a:rPr sz="1400" b="0" i="0" dirty="0">
                <a:solidFill>
                  <a:srgbClr val="2B3440"/>
                </a:solidFill>
                <a:latin typeface="Calibri"/>
              </a:rPr>
              <a:t> </a:t>
            </a:r>
            <a:r>
              <a:rPr sz="1400" b="0" i="0" dirty="0" err="1">
                <a:solidFill>
                  <a:srgbClr val="2B3440"/>
                </a:solidFill>
                <a:latin typeface="Calibri"/>
              </a:rPr>
              <a:t>viên</a:t>
            </a:r>
            <a:r>
              <a:rPr sz="1400" b="0" i="0" dirty="0">
                <a:solidFill>
                  <a:srgbClr val="2B3440"/>
                </a:solidFill>
                <a:latin typeface="Calibri"/>
              </a:rPr>
              <a:t> </a:t>
            </a:r>
            <a:r>
              <a:rPr sz="1400" b="0" i="0" dirty="0" err="1">
                <a:solidFill>
                  <a:srgbClr val="2B3440"/>
                </a:solidFill>
                <a:latin typeface="Calibri"/>
              </a:rPr>
              <a:t>sát</a:t>
            </a:r>
            <a:r>
              <a:rPr sz="1400" b="0" i="0" dirty="0">
                <a:solidFill>
                  <a:srgbClr val="2B3440"/>
                </a:solidFill>
                <a:latin typeface="Calibri"/>
              </a:rPr>
              <a:t> </a:t>
            </a:r>
            <a:r>
              <a:rPr sz="1400" b="0" i="0" dirty="0" err="1">
                <a:solidFill>
                  <a:srgbClr val="2B3440"/>
                </a:solidFill>
                <a:latin typeface="Calibri"/>
              </a:rPr>
              <a:t>nút</a:t>
            </a:r>
            <a:r>
              <a:rPr sz="1400" b="0" i="0" dirty="0">
                <a:solidFill>
                  <a:srgbClr val="2B3440"/>
                </a:solidFill>
                <a:latin typeface="Calibri"/>
              </a:rPr>
              <a:t>. </a:t>
            </a:r>
            <a:r>
              <a:rPr sz="1400" b="0" i="0" dirty="0" err="1">
                <a:solidFill>
                  <a:srgbClr val="2B3440"/>
                </a:solidFill>
                <a:latin typeface="Calibri"/>
              </a:rPr>
              <a:t>Điểm</a:t>
            </a:r>
            <a:r>
              <a:rPr sz="1400" b="0" i="0" dirty="0">
                <a:solidFill>
                  <a:srgbClr val="2B3440"/>
                </a:solidFill>
                <a:latin typeface="Calibri"/>
              </a:rPr>
              <a:t> </a:t>
            </a:r>
            <a:r>
              <a:rPr sz="1400" b="0" i="0" dirty="0" err="1">
                <a:solidFill>
                  <a:srgbClr val="2B3440"/>
                </a:solidFill>
                <a:latin typeface="Calibri"/>
              </a:rPr>
              <a:t>khác</a:t>
            </a:r>
            <a:r>
              <a:rPr sz="1400" b="0" i="0" dirty="0">
                <a:solidFill>
                  <a:srgbClr val="2B3440"/>
                </a:solidFill>
                <a:latin typeface="Calibri"/>
              </a:rPr>
              <a:t> </a:t>
            </a:r>
            <a:r>
              <a:rPr sz="1400" b="0" i="0" dirty="0" err="1">
                <a:solidFill>
                  <a:srgbClr val="2B3440"/>
                </a:solidFill>
                <a:latin typeface="Calibri"/>
              </a:rPr>
              <a:t>biệt</a:t>
            </a:r>
            <a:r>
              <a:rPr sz="1400" b="0" i="0" dirty="0">
                <a:solidFill>
                  <a:srgbClr val="2B3440"/>
                </a:solidFill>
                <a:latin typeface="Calibri"/>
              </a:rPr>
              <a:t> </a:t>
            </a:r>
            <a:r>
              <a:rPr sz="1400" b="0" i="0" dirty="0" err="1">
                <a:solidFill>
                  <a:srgbClr val="2B3440"/>
                </a:solidFill>
                <a:latin typeface="Calibri"/>
              </a:rPr>
              <a:t>duy</a:t>
            </a:r>
            <a:r>
              <a:rPr sz="1400" b="0" i="0" dirty="0">
                <a:solidFill>
                  <a:srgbClr val="2B3440"/>
                </a:solidFill>
                <a:latin typeface="Calibri"/>
              </a:rPr>
              <a:t> </a:t>
            </a:r>
            <a:r>
              <a:rPr sz="1400" b="0" i="0" dirty="0" err="1">
                <a:solidFill>
                  <a:srgbClr val="2B3440"/>
                </a:solidFill>
                <a:latin typeface="Calibri"/>
              </a:rPr>
              <a:t>nhất</a:t>
            </a:r>
            <a:r>
              <a:rPr sz="1400" b="0" i="0" dirty="0">
                <a:solidFill>
                  <a:srgbClr val="2B3440"/>
                </a:solidFill>
                <a:latin typeface="Calibri"/>
              </a:rPr>
              <a:t> </a:t>
            </a:r>
            <a:r>
              <a:rPr sz="1400" b="0" i="0" dirty="0" err="1">
                <a:solidFill>
                  <a:srgbClr val="2B3440"/>
                </a:solidFill>
                <a:latin typeface="Calibri"/>
              </a:rPr>
              <a:t>nằm</a:t>
            </a:r>
            <a:r>
              <a:rPr sz="1400" b="0" i="0" dirty="0">
                <a:solidFill>
                  <a:srgbClr val="2B3440"/>
                </a:solidFill>
                <a:latin typeface="Calibri"/>
              </a:rPr>
              <a:t> ở </a:t>
            </a:r>
            <a:r>
              <a:rPr sz="1400" b="0" i="0" dirty="0" err="1">
                <a:solidFill>
                  <a:srgbClr val="2B3440"/>
                </a:solidFill>
                <a:latin typeface="Calibri"/>
              </a:rPr>
              <a:t>tiêu</a:t>
            </a:r>
            <a:r>
              <a:rPr sz="1400" b="0" i="0" dirty="0">
                <a:solidFill>
                  <a:srgbClr val="2B3440"/>
                </a:solidFill>
                <a:latin typeface="Calibri"/>
              </a:rPr>
              <a:t> </a:t>
            </a:r>
            <a:r>
              <a:rPr sz="1400" b="0" i="0" dirty="0" err="1">
                <a:solidFill>
                  <a:srgbClr val="2B3440"/>
                </a:solidFill>
                <a:latin typeface="Calibri"/>
              </a:rPr>
              <a:t>chí</a:t>
            </a:r>
            <a:r>
              <a:rPr sz="1400" b="0" i="0" dirty="0">
                <a:solidFill>
                  <a:srgbClr val="2B3440"/>
                </a:solidFill>
                <a:latin typeface="Calibri"/>
              </a:rPr>
              <a:t> “</a:t>
            </a:r>
            <a:r>
              <a:rPr sz="1400" b="0" i="0" dirty="0" err="1">
                <a:solidFill>
                  <a:srgbClr val="2B3440"/>
                </a:solidFill>
                <a:latin typeface="Calibri"/>
              </a:rPr>
              <a:t>Khả</a:t>
            </a:r>
            <a:r>
              <a:rPr sz="1400" b="0" i="0" dirty="0">
                <a:solidFill>
                  <a:srgbClr val="2B3440"/>
                </a:solidFill>
                <a:latin typeface="Calibri"/>
              </a:rPr>
              <a:t> </a:t>
            </a:r>
            <a:r>
              <a:rPr sz="1400" b="0" i="0" dirty="0" err="1">
                <a:solidFill>
                  <a:srgbClr val="2B3440"/>
                </a:solidFill>
                <a:latin typeface="Calibri"/>
              </a:rPr>
              <a:t>năng</a:t>
            </a:r>
            <a:r>
              <a:rPr sz="1400" b="0" i="0" dirty="0">
                <a:solidFill>
                  <a:srgbClr val="2B3440"/>
                </a:solidFill>
                <a:latin typeface="Calibri"/>
              </a:rPr>
              <a:t> </a:t>
            </a:r>
            <a:r>
              <a:rPr sz="1400" b="0" i="0" dirty="0" err="1">
                <a:solidFill>
                  <a:srgbClr val="2B3440"/>
                </a:solidFill>
                <a:latin typeface="Calibri"/>
              </a:rPr>
              <a:t>phân</a:t>
            </a:r>
            <a:r>
              <a:rPr sz="1400" b="0" i="0" dirty="0">
                <a:solidFill>
                  <a:srgbClr val="2B3440"/>
                </a:solidFill>
                <a:latin typeface="Calibri"/>
              </a:rPr>
              <a:t> </a:t>
            </a:r>
            <a:r>
              <a:rPr sz="1400" b="0" i="0" dirty="0" err="1">
                <a:solidFill>
                  <a:srgbClr val="2B3440"/>
                </a:solidFill>
                <a:latin typeface="Calibri"/>
              </a:rPr>
              <a:t>tích</a:t>
            </a:r>
            <a:r>
              <a:rPr sz="1400" b="0" i="0" dirty="0">
                <a:solidFill>
                  <a:srgbClr val="2B3440"/>
                </a:solidFill>
                <a:latin typeface="Calibri"/>
              </a:rPr>
              <a:t> </a:t>
            </a:r>
            <a:r>
              <a:rPr sz="1400" b="0" i="0" dirty="0" err="1">
                <a:solidFill>
                  <a:srgbClr val="2B3440"/>
                </a:solidFill>
                <a:latin typeface="Calibri"/>
              </a:rPr>
              <a:t>định</a:t>
            </a:r>
            <a:r>
              <a:rPr sz="1400" b="0" i="0" dirty="0">
                <a:solidFill>
                  <a:srgbClr val="2B3440"/>
                </a:solidFill>
                <a:latin typeface="Calibri"/>
              </a:rPr>
              <a:t> </a:t>
            </a:r>
            <a:r>
              <a:rPr sz="1400" b="0" i="0" dirty="0" err="1">
                <a:solidFill>
                  <a:srgbClr val="2B3440"/>
                </a:solidFill>
                <a:latin typeface="Calibri"/>
              </a:rPr>
              <a:t>lượng</a:t>
            </a:r>
            <a:r>
              <a:rPr sz="1400" b="0" i="0" dirty="0">
                <a:solidFill>
                  <a:srgbClr val="2B3440"/>
                </a:solidFill>
                <a:latin typeface="Calibri"/>
              </a:rPr>
              <a:t>” (</a:t>
            </a:r>
            <a:r>
              <a:rPr sz="1400" b="0" i="0" dirty="0" err="1">
                <a:solidFill>
                  <a:srgbClr val="2B3440"/>
                </a:solidFill>
                <a:latin typeface="Calibri"/>
              </a:rPr>
              <a:t>Trung</a:t>
            </a:r>
            <a:r>
              <a:rPr sz="1400" b="0" i="0" dirty="0">
                <a:solidFill>
                  <a:srgbClr val="2B3440"/>
                </a:solidFill>
                <a:latin typeface="Calibri"/>
              </a:rPr>
              <a:t> </a:t>
            </a:r>
            <a:r>
              <a:rPr sz="1400" b="0" i="0" dirty="0" err="1">
                <a:solidFill>
                  <a:srgbClr val="2B3440"/>
                </a:solidFill>
                <a:latin typeface="Calibri"/>
              </a:rPr>
              <a:t>bình</a:t>
            </a:r>
            <a:r>
              <a:rPr sz="1400" b="0" i="0" dirty="0">
                <a:solidFill>
                  <a:srgbClr val="2B3440"/>
                </a:solidFill>
                <a:latin typeface="Calibri"/>
              </a:rPr>
              <a:t>): </a:t>
            </a:r>
            <a:r>
              <a:rPr sz="1400" b="0" i="0" dirty="0" err="1">
                <a:solidFill>
                  <a:srgbClr val="2B3440"/>
                </a:solidFill>
                <a:latin typeface="Calibri"/>
              </a:rPr>
              <a:t>dữ</a:t>
            </a:r>
            <a:r>
              <a:rPr sz="1400" b="0" i="0" dirty="0">
                <a:solidFill>
                  <a:srgbClr val="2B3440"/>
                </a:solidFill>
                <a:latin typeface="Calibri"/>
              </a:rPr>
              <a:t> </a:t>
            </a:r>
            <a:r>
              <a:rPr sz="1400" b="0" i="0" dirty="0" err="1">
                <a:solidFill>
                  <a:srgbClr val="2B3440"/>
                </a:solidFill>
                <a:latin typeface="Calibri"/>
              </a:rPr>
              <a:t>liệu</a:t>
            </a:r>
            <a:r>
              <a:rPr sz="1400" b="0" i="0" dirty="0">
                <a:solidFill>
                  <a:srgbClr val="2B3440"/>
                </a:solidFill>
                <a:latin typeface="Calibri"/>
              </a:rPr>
              <a:t> complaint </a:t>
            </a:r>
            <a:r>
              <a:rPr sz="1400" b="0" i="0" dirty="0" err="1">
                <a:solidFill>
                  <a:srgbClr val="2B3440"/>
                </a:solidFill>
                <a:latin typeface="Calibri"/>
              </a:rPr>
              <a:t>mang</a:t>
            </a:r>
            <a:r>
              <a:rPr sz="1400" b="0" i="0" dirty="0">
                <a:solidFill>
                  <a:srgbClr val="2B3440"/>
                </a:solidFill>
                <a:latin typeface="Calibri"/>
              </a:rPr>
              <a:t> </a:t>
            </a:r>
            <a:r>
              <a:rPr sz="1400" b="0" i="0" dirty="0" err="1">
                <a:solidFill>
                  <a:srgbClr val="2B3440"/>
                </a:solidFill>
                <a:latin typeface="Calibri"/>
              </a:rPr>
              <a:t>tính</a:t>
            </a:r>
            <a:r>
              <a:rPr sz="1400" b="0" i="0" dirty="0">
                <a:solidFill>
                  <a:srgbClr val="2B3440"/>
                </a:solidFill>
                <a:latin typeface="Calibri"/>
              </a:rPr>
              <a:t> </a:t>
            </a:r>
            <a:r>
              <a:rPr sz="1400" b="0" i="0" dirty="0" err="1">
                <a:solidFill>
                  <a:srgbClr val="2B3440"/>
                </a:solidFill>
                <a:latin typeface="Calibri"/>
              </a:rPr>
              <a:t>vụ</a:t>
            </a:r>
            <a:r>
              <a:rPr sz="1400" b="0" i="0" dirty="0">
                <a:solidFill>
                  <a:srgbClr val="2B3440"/>
                </a:solidFill>
                <a:latin typeface="Calibri"/>
              </a:rPr>
              <a:t> </a:t>
            </a:r>
            <a:r>
              <a:rPr sz="1400" b="0" i="0" dirty="0" err="1">
                <a:solidFill>
                  <a:srgbClr val="2B3440"/>
                </a:solidFill>
                <a:latin typeface="Calibri"/>
              </a:rPr>
              <a:t>việc</a:t>
            </a:r>
            <a:r>
              <a:rPr sz="1400" b="0" i="0" dirty="0">
                <a:solidFill>
                  <a:srgbClr val="2B3440"/>
                </a:solidFill>
                <a:latin typeface="Calibri"/>
              </a:rPr>
              <a:t>, </a:t>
            </a:r>
            <a:r>
              <a:rPr sz="1400" b="0" i="0" dirty="0" err="1">
                <a:solidFill>
                  <a:srgbClr val="2B3440"/>
                </a:solidFill>
                <a:latin typeface="Calibri"/>
              </a:rPr>
              <a:t>khó</a:t>
            </a:r>
            <a:r>
              <a:rPr sz="1400" b="0" i="0" dirty="0">
                <a:solidFill>
                  <a:srgbClr val="2B3440"/>
                </a:solidFill>
                <a:latin typeface="Calibri"/>
              </a:rPr>
              <a:t> </a:t>
            </a:r>
            <a:r>
              <a:rPr sz="1400" b="0" i="0" dirty="0" err="1">
                <a:solidFill>
                  <a:srgbClr val="2B3440"/>
                </a:solidFill>
                <a:latin typeface="Calibri"/>
              </a:rPr>
              <a:t>thu</a:t>
            </a:r>
            <a:r>
              <a:rPr sz="1400" b="0" i="0" dirty="0">
                <a:solidFill>
                  <a:srgbClr val="2B3440"/>
                </a:solidFill>
                <a:latin typeface="Calibri"/>
              </a:rPr>
              <a:t> </a:t>
            </a:r>
            <a:r>
              <a:rPr sz="1400" b="0" i="0" dirty="0" err="1">
                <a:solidFill>
                  <a:srgbClr val="2B3440"/>
                </a:solidFill>
                <a:latin typeface="Calibri"/>
              </a:rPr>
              <a:t>thập</a:t>
            </a:r>
            <a:r>
              <a:rPr sz="1400" b="0" i="0" dirty="0">
                <a:solidFill>
                  <a:srgbClr val="2B3440"/>
                </a:solidFill>
                <a:latin typeface="Calibri"/>
              </a:rPr>
              <a:t> </a:t>
            </a:r>
            <a:r>
              <a:rPr sz="1400" b="0" i="0" dirty="0" err="1">
                <a:solidFill>
                  <a:srgbClr val="2B3440"/>
                </a:solidFill>
                <a:latin typeface="Calibri"/>
              </a:rPr>
              <a:t>chỉ</a:t>
            </a:r>
            <a:r>
              <a:rPr sz="1400" b="0" i="0" dirty="0">
                <a:solidFill>
                  <a:srgbClr val="2B3440"/>
                </a:solidFill>
                <a:latin typeface="Calibri"/>
              </a:rPr>
              <a:t> </a:t>
            </a:r>
            <a:r>
              <a:rPr sz="1400" b="0" i="0" dirty="0" err="1">
                <a:solidFill>
                  <a:srgbClr val="2B3440"/>
                </a:solidFill>
                <a:latin typeface="Calibri"/>
              </a:rPr>
              <a:t>số</a:t>
            </a:r>
            <a:r>
              <a:rPr sz="1400" b="0" i="0" dirty="0">
                <a:solidFill>
                  <a:srgbClr val="2B3440"/>
                </a:solidFill>
                <a:latin typeface="Calibri"/>
              </a:rPr>
              <a:t> Cycle Time – Cost – Rework </a:t>
            </a:r>
            <a:r>
              <a:rPr sz="1400" b="0" i="0" dirty="0" err="1">
                <a:solidFill>
                  <a:srgbClr val="2B3440"/>
                </a:solidFill>
                <a:latin typeface="Calibri"/>
              </a:rPr>
              <a:t>đủ</a:t>
            </a:r>
            <a:r>
              <a:rPr sz="1400" b="0" i="0" dirty="0">
                <a:solidFill>
                  <a:srgbClr val="2B3440"/>
                </a:solidFill>
                <a:latin typeface="Calibri"/>
              </a:rPr>
              <a:t> tin </a:t>
            </a:r>
            <a:r>
              <a:rPr sz="1400" b="0" i="0" dirty="0" err="1">
                <a:solidFill>
                  <a:srgbClr val="2B3440"/>
                </a:solidFill>
                <a:latin typeface="Calibri"/>
              </a:rPr>
              <a:t>cậy</a:t>
            </a:r>
            <a:r>
              <a:rPr sz="1400" b="0" i="0" dirty="0">
                <a:solidFill>
                  <a:srgbClr val="2B3440"/>
                </a:solidFill>
                <a:latin typeface="Calibri"/>
              </a:rPr>
              <a:t> </a:t>
            </a:r>
            <a:r>
              <a:rPr sz="1400" b="0" i="0" dirty="0" err="1">
                <a:solidFill>
                  <a:srgbClr val="2B3440"/>
                </a:solidFill>
                <a:latin typeface="Calibri"/>
              </a:rPr>
              <a:t>cho</a:t>
            </a:r>
            <a:r>
              <a:rPr sz="1400" b="0" i="0" dirty="0">
                <a:solidFill>
                  <a:srgbClr val="2B3440"/>
                </a:solidFill>
                <a:latin typeface="Calibri"/>
              </a:rPr>
              <a:t> </a:t>
            </a:r>
            <a:r>
              <a:rPr sz="1400" b="0" i="0" dirty="0" err="1">
                <a:solidFill>
                  <a:srgbClr val="2B3440"/>
                </a:solidFill>
                <a:latin typeface="Calibri"/>
              </a:rPr>
              <a:t>phân</a:t>
            </a:r>
            <a:r>
              <a:rPr sz="1400" b="0" i="0" dirty="0">
                <a:solidFill>
                  <a:srgbClr val="2B3440"/>
                </a:solidFill>
                <a:latin typeface="Calibri"/>
              </a:rPr>
              <a:t> </a:t>
            </a:r>
            <a:r>
              <a:rPr sz="1400" b="0" i="0" dirty="0" err="1">
                <a:solidFill>
                  <a:srgbClr val="2B3440"/>
                </a:solidFill>
                <a:latin typeface="Calibri"/>
              </a:rPr>
              <a:t>tích</a:t>
            </a:r>
            <a:r>
              <a:rPr sz="1400" b="0" i="0" dirty="0">
                <a:solidFill>
                  <a:srgbClr val="2B3440"/>
                </a:solidFill>
                <a:latin typeface="Calibri"/>
              </a:rPr>
              <a:t> </a:t>
            </a:r>
            <a:r>
              <a:rPr sz="1400" b="0" i="0" dirty="0" err="1">
                <a:solidFill>
                  <a:srgbClr val="2B3440"/>
                </a:solidFill>
                <a:latin typeface="Calibri"/>
              </a:rPr>
              <a:t>định</a:t>
            </a:r>
            <a:r>
              <a:rPr sz="1400" b="0" i="0" dirty="0">
                <a:solidFill>
                  <a:srgbClr val="2B3440"/>
                </a:solidFill>
                <a:latin typeface="Calibri"/>
              </a:rPr>
              <a:t> </a:t>
            </a:r>
            <a:r>
              <a:rPr sz="1400" b="0" i="0" dirty="0" err="1">
                <a:solidFill>
                  <a:srgbClr val="2B3440"/>
                </a:solidFill>
                <a:latin typeface="Calibri"/>
              </a:rPr>
              <a:t>lượng</a:t>
            </a:r>
            <a:r>
              <a:rPr sz="1400" b="0" i="0" dirty="0">
                <a:solidFill>
                  <a:srgbClr val="2B3440"/>
                </a:solidFill>
                <a:latin typeface="Calibri"/>
              </a:rPr>
              <a:t> ở </a:t>
            </a:r>
            <a:r>
              <a:rPr sz="1400" b="0" i="0" dirty="0" err="1">
                <a:solidFill>
                  <a:srgbClr val="2B3440"/>
                </a:solidFill>
                <a:latin typeface="Calibri"/>
              </a:rPr>
              <a:t>Chương</a:t>
            </a:r>
            <a:r>
              <a:rPr sz="1400" b="0" i="0" dirty="0">
                <a:solidFill>
                  <a:srgbClr val="2B3440"/>
                </a:solidFill>
                <a:latin typeface="Calibri"/>
              </a:rPr>
              <a:t> 4.</a:t>
            </a:r>
          </a:p>
        </p:txBody>
      </p:sp>
    </p:spTree>
    <p:extLst>
      <p:ext uri="{BB962C8B-B14F-4D97-AF65-F5344CB8AC3E}">
        <p14:creationId xmlns:p14="http://schemas.microsoft.com/office/powerpoint/2010/main" val="25352780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Rectangle 1"/>
          <p:cNvSpPr/>
          <p:nvPr/>
        </p:nvSpPr>
        <p:spPr>
          <a:xfrm>
            <a:off x="0" y="0"/>
            <a:ext cx="182880" cy="6858000"/>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863840" y="0"/>
            <a:ext cx="4325112" cy="6858000"/>
          </a:xfrm>
          <a:prstGeom prst="rect">
            <a:avLst/>
          </a:prstGeom>
          <a:solidFill>
            <a:srgbClr val="1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0" y="1874519"/>
            <a:ext cx="3657600" cy="2926080"/>
          </a:xfrm>
          <a:prstGeom prst="rect">
            <a:avLst/>
          </a:prstGeom>
          <a:noFill/>
        </p:spPr>
        <p:txBody>
          <a:bodyPr wrap="square" lIns="0" tIns="0" rIns="0" bIns="0" anchor="t">
            <a:spAutoFit/>
          </a:bodyPr>
          <a:lstStyle/>
          <a:p>
            <a:pPr algn="ctr">
              <a:lnSpc>
                <a:spcPct val="90000"/>
              </a:lnSpc>
            </a:pPr>
            <a:r>
              <a:rPr sz="15000" b="1" i="0">
                <a:solidFill>
                  <a:srgbClr val="1E4E77"/>
                </a:solidFill>
                <a:latin typeface="Calibri"/>
              </a:rPr>
              <a:t>04</a:t>
            </a:r>
          </a:p>
        </p:txBody>
      </p:sp>
      <p:sp>
        <p:nvSpPr>
          <p:cNvPr id="5" name="TextBox 4"/>
          <p:cNvSpPr txBox="1"/>
          <p:nvPr/>
        </p:nvSpPr>
        <p:spPr>
          <a:xfrm>
            <a:off x="1051560" y="2331720"/>
            <a:ext cx="6583680" cy="215444"/>
          </a:xfrm>
          <a:prstGeom prst="rect">
            <a:avLst/>
          </a:prstGeom>
          <a:noFill/>
        </p:spPr>
        <p:txBody>
          <a:bodyPr wrap="square" lIns="0" tIns="0" rIns="0" bIns="0" anchor="t">
            <a:spAutoFit/>
          </a:bodyPr>
          <a:lstStyle/>
          <a:p>
            <a:pPr algn="l">
              <a:lnSpc>
                <a:spcPct val="100000"/>
              </a:lnSpc>
            </a:pPr>
            <a:r>
              <a:rPr sz="1400" b="1" i="0" dirty="0">
                <a:solidFill>
                  <a:srgbClr val="00C2A8"/>
                </a:solidFill>
                <a:latin typeface="Calibri"/>
              </a:rPr>
              <a:t>PHẦN 4 · PROCESS ANALYSIS</a:t>
            </a:r>
          </a:p>
        </p:txBody>
      </p:sp>
      <p:sp>
        <p:nvSpPr>
          <p:cNvPr id="6" name="TextBox 5"/>
          <p:cNvSpPr txBox="1"/>
          <p:nvPr/>
        </p:nvSpPr>
        <p:spPr>
          <a:xfrm>
            <a:off x="1051560" y="2724912"/>
            <a:ext cx="6583680" cy="1005840"/>
          </a:xfrm>
          <a:prstGeom prst="rect">
            <a:avLst/>
          </a:prstGeom>
          <a:noFill/>
        </p:spPr>
        <p:txBody>
          <a:bodyPr wrap="square" lIns="0" tIns="0" rIns="0" bIns="0" anchor="t">
            <a:spAutoFit/>
          </a:bodyPr>
          <a:lstStyle/>
          <a:p>
            <a:pPr algn="l">
              <a:lnSpc>
                <a:spcPct val="106000"/>
              </a:lnSpc>
            </a:pPr>
            <a:r>
              <a:rPr sz="3200" b="1" i="0">
                <a:solidFill>
                  <a:srgbClr val="FFFFFF"/>
                </a:solidFill>
                <a:latin typeface="Calibri"/>
              </a:rPr>
              <a:t>Phân tích chuyên sâu 02 quy trình</a:t>
            </a:r>
          </a:p>
        </p:txBody>
      </p:sp>
      <p:sp>
        <p:nvSpPr>
          <p:cNvPr id="7" name="Rectangle 6"/>
          <p:cNvSpPr/>
          <p:nvPr/>
        </p:nvSpPr>
        <p:spPr>
          <a:xfrm>
            <a:off x="1051560" y="3858768"/>
            <a:ext cx="1005840" cy="45720"/>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4096512"/>
            <a:ext cx="6492240" cy="560153"/>
          </a:xfrm>
          <a:prstGeom prst="rect">
            <a:avLst/>
          </a:prstGeom>
          <a:noFill/>
        </p:spPr>
        <p:txBody>
          <a:bodyPr wrap="square" lIns="0" tIns="0" rIns="0" bIns="0" anchor="t">
            <a:spAutoFit/>
          </a:bodyPr>
          <a:lstStyle/>
          <a:p>
            <a:pPr algn="l">
              <a:lnSpc>
                <a:spcPct val="130000"/>
              </a:lnSpc>
            </a:pPr>
            <a:r>
              <a:rPr sz="1400" b="0" i="0" dirty="0">
                <a:solidFill>
                  <a:srgbClr val="B6C9D8"/>
                </a:solidFill>
                <a:latin typeface="Calibri"/>
              </a:rPr>
              <a:t>C03 Service Order Management  ·  S01 Procurement Management  —  </a:t>
            </a:r>
            <a:r>
              <a:rPr sz="1400" b="0" i="0" dirty="0" err="1">
                <a:solidFill>
                  <a:srgbClr val="B6C9D8"/>
                </a:solidFill>
                <a:latin typeface="Calibri"/>
              </a:rPr>
              <a:t>phân</a:t>
            </a:r>
            <a:r>
              <a:rPr sz="1400" b="0" i="0" dirty="0">
                <a:solidFill>
                  <a:srgbClr val="B6C9D8"/>
                </a:solidFill>
                <a:latin typeface="Calibri"/>
              </a:rPr>
              <a:t> </a:t>
            </a:r>
            <a:r>
              <a:rPr sz="1400" b="0" i="0" dirty="0" err="1">
                <a:solidFill>
                  <a:srgbClr val="B6C9D8"/>
                </a:solidFill>
                <a:latin typeface="Calibri"/>
              </a:rPr>
              <a:t>tích</a:t>
            </a:r>
            <a:r>
              <a:rPr sz="1400" b="0" i="0" dirty="0">
                <a:solidFill>
                  <a:srgbClr val="B6C9D8"/>
                </a:solidFill>
                <a:latin typeface="Calibri"/>
              </a:rPr>
              <a:t> </a:t>
            </a:r>
            <a:r>
              <a:rPr sz="1400" b="0" i="0" dirty="0" err="1">
                <a:solidFill>
                  <a:srgbClr val="B6C9D8"/>
                </a:solidFill>
                <a:latin typeface="Calibri"/>
              </a:rPr>
              <a:t>định</a:t>
            </a:r>
            <a:r>
              <a:rPr sz="1400" b="0" i="0" dirty="0">
                <a:solidFill>
                  <a:srgbClr val="B6C9D8"/>
                </a:solidFill>
                <a:latin typeface="Calibri"/>
              </a:rPr>
              <a:t> </a:t>
            </a:r>
            <a:r>
              <a:rPr sz="1400" b="0" i="0" dirty="0" err="1">
                <a:solidFill>
                  <a:srgbClr val="B6C9D8"/>
                </a:solidFill>
                <a:latin typeface="Calibri"/>
              </a:rPr>
              <a:t>tính</a:t>
            </a:r>
            <a:r>
              <a:rPr sz="1400" b="0" i="0" dirty="0">
                <a:solidFill>
                  <a:srgbClr val="B6C9D8"/>
                </a:solidFill>
                <a:latin typeface="Calibri"/>
              </a:rPr>
              <a:t> </a:t>
            </a:r>
            <a:r>
              <a:rPr sz="1400" b="0" i="0" dirty="0" err="1">
                <a:solidFill>
                  <a:srgbClr val="B6C9D8"/>
                </a:solidFill>
                <a:latin typeface="Calibri"/>
              </a:rPr>
              <a:t>và</a:t>
            </a:r>
            <a:r>
              <a:rPr sz="1400" b="0" i="0" dirty="0">
                <a:solidFill>
                  <a:srgbClr val="B6C9D8"/>
                </a:solidFill>
                <a:latin typeface="Calibri"/>
              </a:rPr>
              <a:t> </a:t>
            </a:r>
            <a:r>
              <a:rPr sz="1400" b="0" i="0" dirty="0" err="1">
                <a:solidFill>
                  <a:srgbClr val="B6C9D8"/>
                </a:solidFill>
                <a:latin typeface="Calibri"/>
              </a:rPr>
              <a:t>định</a:t>
            </a:r>
            <a:r>
              <a:rPr sz="1400" b="0" i="0" dirty="0">
                <a:solidFill>
                  <a:srgbClr val="B6C9D8"/>
                </a:solidFill>
                <a:latin typeface="Calibri"/>
              </a:rPr>
              <a:t> </a:t>
            </a:r>
            <a:r>
              <a:rPr sz="1400" b="0" i="0" dirty="0" err="1">
                <a:solidFill>
                  <a:srgbClr val="B6C9D8"/>
                </a:solidFill>
                <a:latin typeface="Calibri"/>
              </a:rPr>
              <a:t>lượng</a:t>
            </a:r>
            <a:endParaRPr sz="1400" b="0" i="0" dirty="0">
              <a:solidFill>
                <a:srgbClr val="B6C9D8"/>
              </a:solidFill>
              <a:latin typeface="Calibri"/>
            </a:endParaRPr>
          </a:p>
        </p:txBody>
      </p:sp>
      <p:sp>
        <p:nvSpPr>
          <p:cNvPr id="9" name="TextBox 8"/>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8FA6BC"/>
                </a:solidFill>
                <a:latin typeface="Calibri"/>
              </a:rPr>
              <a:t>SOLVENTUM VIỆT NAM  ·  HỆ THỐNG QUẢN TRỊ QUY TRÌNH NGHIỆP VỤ</a:t>
            </a:r>
          </a:p>
        </p:txBody>
      </p:sp>
      <p:sp>
        <p:nvSpPr>
          <p:cNvPr id="10" name="TextBox 9"/>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C2A8"/>
                </a:solidFill>
                <a:latin typeface="Calibri"/>
              </a:rPr>
              <a:t>36</a:t>
            </a:r>
          </a:p>
        </p:txBody>
      </p:sp>
    </p:spTree>
    <p:extLst>
      <p:ext uri="{BB962C8B-B14F-4D97-AF65-F5344CB8AC3E}">
        <p14:creationId xmlns:p14="http://schemas.microsoft.com/office/powerpoint/2010/main" val="1780827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CHƯƠNG 4 · 4.1 PHƯƠNG PHÁP VÀ NỘI DUNG</a:t>
            </a:r>
          </a:p>
        </p:txBody>
      </p:sp>
      <p:sp>
        <p:nvSpPr>
          <p:cNvPr id="3" name="TextBox 2"/>
          <p:cNvSpPr txBox="1"/>
          <p:nvPr/>
        </p:nvSpPr>
        <p:spPr>
          <a:xfrm>
            <a:off x="658368" y="640080"/>
            <a:ext cx="10874959" cy="603504"/>
          </a:xfrm>
          <a:prstGeom prst="rect">
            <a:avLst/>
          </a:prstGeom>
          <a:noFill/>
        </p:spPr>
        <p:txBody>
          <a:bodyPr wrap="square" lIns="0" tIns="0" rIns="0" bIns="0" anchor="t">
            <a:spAutoFit/>
          </a:bodyPr>
          <a:lstStyle/>
          <a:p>
            <a:pPr algn="l">
              <a:lnSpc>
                <a:spcPct val="105000"/>
              </a:lnSpc>
            </a:pPr>
            <a:r>
              <a:rPr sz="2500" b="1" i="0">
                <a:solidFill>
                  <a:srgbClr val="0A2540"/>
                </a:solidFill>
                <a:latin typeface="Calibri"/>
              </a:rPr>
              <a:t>KHUNG PHÂN TÍCH ÁP DỤNG CHO CẢ HAI QUY TRÌNH</a:t>
            </a: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7" name="TextBox 6"/>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37</a:t>
            </a:r>
          </a:p>
        </p:txBody>
      </p:sp>
      <p:sp>
        <p:nvSpPr>
          <p:cNvPr id="8" name="Rectangle 7"/>
          <p:cNvSpPr/>
          <p:nvPr/>
        </p:nvSpPr>
        <p:spPr>
          <a:xfrm>
            <a:off x="658368" y="1737360"/>
            <a:ext cx="5230368" cy="3145536"/>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9" name="Rectangle 8"/>
          <p:cNvSpPr/>
          <p:nvPr/>
        </p:nvSpPr>
        <p:spPr>
          <a:xfrm>
            <a:off x="658368" y="1737360"/>
            <a:ext cx="5230368" cy="50292"/>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 name="TextBox 9"/>
          <p:cNvSpPr txBox="1"/>
          <p:nvPr/>
        </p:nvSpPr>
        <p:spPr>
          <a:xfrm>
            <a:off x="932688" y="1956816"/>
            <a:ext cx="4663440" cy="215444"/>
          </a:xfrm>
          <a:prstGeom prst="rect">
            <a:avLst/>
          </a:prstGeom>
          <a:noFill/>
        </p:spPr>
        <p:txBody>
          <a:bodyPr wrap="square" lIns="0" tIns="0" rIns="0" bIns="0" anchor="t">
            <a:spAutoFit/>
          </a:bodyPr>
          <a:lstStyle/>
          <a:p>
            <a:pPr algn="l">
              <a:lnSpc>
                <a:spcPct val="100000"/>
              </a:lnSpc>
            </a:pPr>
            <a:r>
              <a:rPr sz="1400" b="1" i="0">
                <a:solidFill>
                  <a:srgbClr val="0A2540"/>
                </a:solidFill>
                <a:latin typeface="Calibri"/>
              </a:rPr>
              <a:t>4.1.1  PHÂN TÍCH ĐỊNH TÍNH</a:t>
            </a:r>
          </a:p>
        </p:txBody>
      </p:sp>
      <p:sp>
        <p:nvSpPr>
          <p:cNvPr id="11" name="TextBox 10"/>
          <p:cNvSpPr txBox="1"/>
          <p:nvPr/>
        </p:nvSpPr>
        <p:spPr>
          <a:xfrm>
            <a:off x="932688" y="2377440"/>
            <a:ext cx="4663440" cy="786384"/>
          </a:xfrm>
          <a:prstGeom prst="rect">
            <a:avLst/>
          </a:prstGeom>
          <a:noFill/>
        </p:spPr>
        <p:txBody>
          <a:bodyPr wrap="square" lIns="0" tIns="0" rIns="0" bIns="0" anchor="t">
            <a:spAutoFit/>
          </a:bodyPr>
          <a:lstStyle/>
          <a:p>
            <a:pPr algn="l">
              <a:lnSpc>
                <a:spcPct val="105000"/>
              </a:lnSpc>
            </a:pPr>
            <a:r>
              <a:rPr sz="1400" b="1" i="0">
                <a:solidFill>
                  <a:srgbClr val="0096D6"/>
                </a:solidFill>
                <a:latin typeface="Calibri"/>
              </a:rPr>
              <a:t>▪  Giá trị gia tăng   —   Value-added Analysis</a:t>
            </a:r>
          </a:p>
          <a:p>
            <a:pPr algn="l">
              <a:lnSpc>
                <a:spcPct val="120000"/>
              </a:lnSpc>
              <a:spcBef>
                <a:spcPts val="300"/>
              </a:spcBef>
            </a:pPr>
            <a:r>
              <a:rPr sz="1400" b="0" i="0">
                <a:solidFill>
                  <a:srgbClr val="2B3440"/>
                </a:solidFill>
                <a:latin typeface="Calibri"/>
              </a:rPr>
              <a:t>     Phân loại từng hoạt động thành VA – BVA – NVA, kèm mô tả và hướng khắc phục.</a:t>
            </a:r>
          </a:p>
        </p:txBody>
      </p:sp>
      <p:sp>
        <p:nvSpPr>
          <p:cNvPr id="12" name="TextBox 11"/>
          <p:cNvSpPr txBox="1"/>
          <p:nvPr/>
        </p:nvSpPr>
        <p:spPr>
          <a:xfrm>
            <a:off x="932688" y="3200400"/>
            <a:ext cx="4663440" cy="786384"/>
          </a:xfrm>
          <a:prstGeom prst="rect">
            <a:avLst/>
          </a:prstGeom>
          <a:noFill/>
        </p:spPr>
        <p:txBody>
          <a:bodyPr wrap="square" lIns="0" tIns="0" rIns="0" bIns="0" anchor="t">
            <a:spAutoFit/>
          </a:bodyPr>
          <a:lstStyle/>
          <a:p>
            <a:pPr algn="l">
              <a:lnSpc>
                <a:spcPct val="105000"/>
              </a:lnSpc>
            </a:pPr>
            <a:r>
              <a:rPr sz="1400" b="1" i="0">
                <a:solidFill>
                  <a:srgbClr val="0096D6"/>
                </a:solidFill>
                <a:latin typeface="Calibri"/>
              </a:rPr>
              <a:t>▪  Sự lãng phí   —   Waste Analysis</a:t>
            </a:r>
          </a:p>
          <a:p>
            <a:pPr algn="l">
              <a:lnSpc>
                <a:spcPct val="120000"/>
              </a:lnSpc>
              <a:spcBef>
                <a:spcPts val="300"/>
              </a:spcBef>
            </a:pPr>
            <a:r>
              <a:rPr sz="1400" b="0" i="0">
                <a:solidFill>
                  <a:srgbClr val="2B3440"/>
                </a:solidFill>
                <a:latin typeface="Calibri"/>
              </a:rPr>
              <a:t>     Nhận diện ba dạng Move – Hold – Overdo và vị trí phát sinh trên mô hình.</a:t>
            </a:r>
          </a:p>
        </p:txBody>
      </p:sp>
      <p:sp>
        <p:nvSpPr>
          <p:cNvPr id="13" name="TextBox 12"/>
          <p:cNvSpPr txBox="1"/>
          <p:nvPr/>
        </p:nvSpPr>
        <p:spPr>
          <a:xfrm>
            <a:off x="932688" y="4023360"/>
            <a:ext cx="4663440" cy="786384"/>
          </a:xfrm>
          <a:prstGeom prst="rect">
            <a:avLst/>
          </a:prstGeom>
          <a:noFill/>
        </p:spPr>
        <p:txBody>
          <a:bodyPr wrap="square" lIns="0" tIns="0" rIns="0" bIns="0" anchor="t">
            <a:spAutoFit/>
          </a:bodyPr>
          <a:lstStyle/>
          <a:p>
            <a:pPr algn="l">
              <a:lnSpc>
                <a:spcPct val="105000"/>
              </a:lnSpc>
            </a:pPr>
            <a:r>
              <a:rPr sz="1400" b="1" i="0">
                <a:solidFill>
                  <a:srgbClr val="0096D6"/>
                </a:solidFill>
                <a:latin typeface="Calibri"/>
              </a:rPr>
              <a:t>▪  Các bên liên quan   —   Stakeholder Analysis</a:t>
            </a:r>
          </a:p>
          <a:p>
            <a:pPr algn="l">
              <a:lnSpc>
                <a:spcPct val="120000"/>
              </a:lnSpc>
              <a:spcBef>
                <a:spcPts val="300"/>
              </a:spcBef>
            </a:pPr>
            <a:r>
              <a:rPr sz="1400" b="0" i="0">
                <a:solidFill>
                  <a:srgbClr val="2B3440"/>
                </a:solidFill>
                <a:latin typeface="Calibri"/>
              </a:rPr>
              <a:t>     Chọn Pareto Chart / Root-cause / Fishbone tùy đặc điểm vấn đề được nhận diện.</a:t>
            </a:r>
          </a:p>
        </p:txBody>
      </p:sp>
      <p:sp>
        <p:nvSpPr>
          <p:cNvPr id="14" name="Rectangle 13"/>
          <p:cNvSpPr/>
          <p:nvPr/>
        </p:nvSpPr>
        <p:spPr>
          <a:xfrm>
            <a:off x="6327648" y="1737360"/>
            <a:ext cx="5202936" cy="3145536"/>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5" name="Rectangle 14"/>
          <p:cNvSpPr/>
          <p:nvPr/>
        </p:nvSpPr>
        <p:spPr>
          <a:xfrm>
            <a:off x="6327648" y="1737360"/>
            <a:ext cx="5202936" cy="50292"/>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6" name="TextBox 15"/>
          <p:cNvSpPr txBox="1"/>
          <p:nvPr/>
        </p:nvSpPr>
        <p:spPr>
          <a:xfrm>
            <a:off x="6601968" y="1956816"/>
            <a:ext cx="4663440" cy="215444"/>
          </a:xfrm>
          <a:prstGeom prst="rect">
            <a:avLst/>
          </a:prstGeom>
          <a:noFill/>
        </p:spPr>
        <p:txBody>
          <a:bodyPr wrap="square" lIns="0" tIns="0" rIns="0" bIns="0" anchor="t">
            <a:spAutoFit/>
          </a:bodyPr>
          <a:lstStyle/>
          <a:p>
            <a:pPr algn="l">
              <a:lnSpc>
                <a:spcPct val="100000"/>
              </a:lnSpc>
            </a:pPr>
            <a:r>
              <a:rPr sz="1400" b="1" i="0">
                <a:solidFill>
                  <a:srgbClr val="0A2540"/>
                </a:solidFill>
                <a:latin typeface="Calibri"/>
              </a:rPr>
              <a:t>4.1.2  PHÂN TÍCH ĐỊNH LƯỢNG</a:t>
            </a:r>
          </a:p>
        </p:txBody>
      </p:sp>
      <p:sp>
        <p:nvSpPr>
          <p:cNvPr id="17" name="TextBox 16"/>
          <p:cNvSpPr txBox="1"/>
          <p:nvPr/>
        </p:nvSpPr>
        <p:spPr>
          <a:xfrm>
            <a:off x="6601968" y="2377440"/>
            <a:ext cx="4663440" cy="786384"/>
          </a:xfrm>
          <a:prstGeom prst="rect">
            <a:avLst/>
          </a:prstGeom>
          <a:noFill/>
        </p:spPr>
        <p:txBody>
          <a:bodyPr wrap="square" lIns="0" tIns="0" rIns="0" bIns="0" anchor="t">
            <a:spAutoFit/>
          </a:bodyPr>
          <a:lstStyle/>
          <a:p>
            <a:pPr algn="l">
              <a:lnSpc>
                <a:spcPct val="105000"/>
              </a:lnSpc>
            </a:pPr>
            <a:r>
              <a:rPr sz="1400" b="1" i="0">
                <a:solidFill>
                  <a:srgbClr val="0A2540"/>
                </a:solidFill>
                <a:latin typeface="Calibri"/>
              </a:rPr>
              <a:t>▪  Thời gian   —   Time</a:t>
            </a:r>
          </a:p>
          <a:p>
            <a:pPr algn="l">
              <a:lnSpc>
                <a:spcPct val="120000"/>
              </a:lnSpc>
              <a:spcBef>
                <a:spcPts val="300"/>
              </a:spcBef>
            </a:pPr>
            <a:r>
              <a:rPr sz="1400" b="0" i="0">
                <a:solidFill>
                  <a:srgbClr val="2B3440"/>
                </a:solidFill>
                <a:latin typeface="Calibri"/>
              </a:rPr>
              <a:t>     Thời gian thực hiện, thời gian chờ và thời gian phát sinh do bổ sung hoặc xử lý lại.</a:t>
            </a:r>
          </a:p>
        </p:txBody>
      </p:sp>
      <p:sp>
        <p:nvSpPr>
          <p:cNvPr id="18" name="TextBox 17"/>
          <p:cNvSpPr txBox="1"/>
          <p:nvPr/>
        </p:nvSpPr>
        <p:spPr>
          <a:xfrm>
            <a:off x="6601968" y="3200400"/>
            <a:ext cx="4663440" cy="786384"/>
          </a:xfrm>
          <a:prstGeom prst="rect">
            <a:avLst/>
          </a:prstGeom>
          <a:noFill/>
        </p:spPr>
        <p:txBody>
          <a:bodyPr wrap="square" lIns="0" tIns="0" rIns="0" bIns="0" anchor="t">
            <a:spAutoFit/>
          </a:bodyPr>
          <a:lstStyle/>
          <a:p>
            <a:pPr algn="l">
              <a:lnSpc>
                <a:spcPct val="105000"/>
              </a:lnSpc>
            </a:pPr>
            <a:r>
              <a:rPr sz="1400" b="1" i="0">
                <a:solidFill>
                  <a:srgbClr val="0A2540"/>
                </a:solidFill>
                <a:latin typeface="Calibri"/>
              </a:rPr>
              <a:t>▪  Chất lượng   —   Quality</a:t>
            </a:r>
          </a:p>
          <a:p>
            <a:pPr algn="l">
              <a:lnSpc>
                <a:spcPct val="120000"/>
              </a:lnSpc>
              <a:spcBef>
                <a:spcPts val="300"/>
              </a:spcBef>
            </a:pPr>
            <a:r>
              <a:rPr sz="1400" b="0" i="0">
                <a:solidFill>
                  <a:srgbClr val="2B3440"/>
                </a:solidFill>
                <a:latin typeface="Calibri"/>
              </a:rPr>
              <a:t>     Tỷ lệ hoàn thành đúng hạn, tỷ lệ sai sót, tỷ lệ bổ sung thông tin, tỷ lệ xử lý lại.</a:t>
            </a:r>
          </a:p>
        </p:txBody>
      </p:sp>
      <p:sp>
        <p:nvSpPr>
          <p:cNvPr id="19" name="TextBox 18"/>
          <p:cNvSpPr txBox="1"/>
          <p:nvPr/>
        </p:nvSpPr>
        <p:spPr>
          <a:xfrm>
            <a:off x="6601968" y="4023360"/>
            <a:ext cx="4663440" cy="786384"/>
          </a:xfrm>
          <a:prstGeom prst="rect">
            <a:avLst/>
          </a:prstGeom>
          <a:noFill/>
        </p:spPr>
        <p:txBody>
          <a:bodyPr wrap="square" lIns="0" tIns="0" rIns="0" bIns="0" anchor="t">
            <a:spAutoFit/>
          </a:bodyPr>
          <a:lstStyle/>
          <a:p>
            <a:pPr algn="l">
              <a:lnSpc>
                <a:spcPct val="105000"/>
              </a:lnSpc>
            </a:pPr>
            <a:r>
              <a:rPr sz="1400" b="1" i="0">
                <a:solidFill>
                  <a:srgbClr val="0A2540"/>
                </a:solidFill>
                <a:latin typeface="Calibri"/>
              </a:rPr>
              <a:t>▪  Chi phí   —   Cost</a:t>
            </a:r>
          </a:p>
          <a:p>
            <a:pPr algn="l">
              <a:lnSpc>
                <a:spcPct val="120000"/>
              </a:lnSpc>
              <a:spcBef>
                <a:spcPts val="300"/>
              </a:spcBef>
            </a:pPr>
            <a:r>
              <a:rPr sz="1400" b="0" i="0">
                <a:solidFill>
                  <a:srgbClr val="2B3440"/>
                </a:solidFill>
                <a:latin typeface="Calibri"/>
              </a:rPr>
              <a:t>     Chi phí và nguồn lực sử dụng, bao gồm giờ công và các chi phí xác định được.</a:t>
            </a:r>
          </a:p>
        </p:txBody>
      </p:sp>
      <p:sp>
        <p:nvSpPr>
          <p:cNvPr id="20" name="Rectangle 19"/>
          <p:cNvSpPr/>
          <p:nvPr/>
        </p:nvSpPr>
        <p:spPr>
          <a:xfrm>
            <a:off x="658368" y="5047488"/>
            <a:ext cx="10874959" cy="749808"/>
          </a:xfrm>
          <a:prstGeom prst="rect">
            <a:avLst/>
          </a:prstGeom>
          <a:solidFill>
            <a:srgbClr val="E9F3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1" name="Rectangle 20"/>
          <p:cNvSpPr/>
          <p:nvPr/>
        </p:nvSpPr>
        <p:spPr>
          <a:xfrm>
            <a:off x="658368" y="5047488"/>
            <a:ext cx="50292" cy="749808"/>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2" name="TextBox 21"/>
          <p:cNvSpPr txBox="1"/>
          <p:nvPr/>
        </p:nvSpPr>
        <p:spPr>
          <a:xfrm>
            <a:off x="950976" y="5150907"/>
            <a:ext cx="10280599" cy="542969"/>
          </a:xfrm>
          <a:prstGeom prst="rect">
            <a:avLst/>
          </a:prstGeom>
          <a:noFill/>
        </p:spPr>
        <p:txBody>
          <a:bodyPr wrap="square" lIns="0" tIns="0" rIns="0" bIns="0" anchor="ctr">
            <a:spAutoFit/>
          </a:bodyPr>
          <a:lstStyle/>
          <a:p>
            <a:pPr algn="l">
              <a:lnSpc>
                <a:spcPct val="126000"/>
              </a:lnSpc>
            </a:pPr>
            <a:r>
              <a:rPr sz="1400" b="0" i="0">
                <a:solidFill>
                  <a:srgbClr val="2B3440"/>
                </a:solidFill>
                <a:latin typeface="Calibri"/>
              </a:rPr>
              <a:t>Dữ liệu phân tích khai thác từ các nguồn bằng chứng và thông tin thu thập trong Process Discovery ở Chương 3. Trường hợp chưa có số liệu thực tế đầy đủ, giá trị được ước lượng theo cấu trúc luồng của mô hình BPMN.</a:t>
            </a:r>
          </a:p>
        </p:txBody>
      </p:sp>
    </p:spTree>
    <p:extLst>
      <p:ext uri="{BB962C8B-B14F-4D97-AF65-F5344CB8AC3E}">
        <p14:creationId xmlns:p14="http://schemas.microsoft.com/office/powerpoint/2010/main" val="12769560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CHƯƠNG 4 · 4.2.1 TỔNG QUAN QUY TRÌNH PHÂN TÍCH</a:t>
            </a:r>
          </a:p>
        </p:txBody>
      </p:sp>
      <p:sp>
        <p:nvSpPr>
          <p:cNvPr id="3" name="TextBox 2"/>
          <p:cNvSpPr txBox="1"/>
          <p:nvPr/>
        </p:nvSpPr>
        <p:spPr>
          <a:xfrm>
            <a:off x="658368" y="640080"/>
            <a:ext cx="10874959" cy="603504"/>
          </a:xfrm>
          <a:prstGeom prst="rect">
            <a:avLst/>
          </a:prstGeom>
          <a:noFill/>
        </p:spPr>
        <p:txBody>
          <a:bodyPr wrap="square" lIns="0" tIns="0" rIns="0" bIns="0" anchor="t">
            <a:spAutoFit/>
          </a:bodyPr>
          <a:lstStyle/>
          <a:p>
            <a:pPr algn="l">
              <a:lnSpc>
                <a:spcPct val="105000"/>
              </a:lnSpc>
            </a:pPr>
            <a:r>
              <a:rPr sz="2500" b="1" i="0">
                <a:solidFill>
                  <a:srgbClr val="0A2540"/>
                </a:solidFill>
                <a:latin typeface="Calibri"/>
              </a:rPr>
              <a:t>C03 — SERVICE ORDER MANAGEMENT</a:t>
            </a: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371600"/>
            <a:ext cx="10874959" cy="254237"/>
          </a:xfrm>
          <a:prstGeom prst="rect">
            <a:avLst/>
          </a:prstGeom>
          <a:noFill/>
        </p:spPr>
        <p:txBody>
          <a:bodyPr wrap="square" lIns="0" tIns="0" rIns="0" bIns="0" anchor="t">
            <a:spAutoFit/>
          </a:bodyPr>
          <a:lstStyle/>
          <a:p>
            <a:pPr algn="l">
              <a:lnSpc>
                <a:spcPct val="118000"/>
              </a:lnSpc>
            </a:pPr>
            <a:r>
              <a:rPr sz="1400" b="0" i="1" dirty="0" err="1">
                <a:solidFill>
                  <a:srgbClr val="6B7784"/>
                </a:solidFill>
                <a:latin typeface="Calibri"/>
              </a:rPr>
              <a:t>Quản</a:t>
            </a:r>
            <a:r>
              <a:rPr sz="1400" b="0" i="1" dirty="0">
                <a:solidFill>
                  <a:srgbClr val="6B7784"/>
                </a:solidFill>
                <a:latin typeface="Calibri"/>
              </a:rPr>
              <a:t> </a:t>
            </a:r>
            <a:r>
              <a:rPr sz="1400" b="0" i="1" dirty="0" err="1">
                <a:solidFill>
                  <a:srgbClr val="6B7784"/>
                </a:solidFill>
                <a:latin typeface="Calibri"/>
              </a:rPr>
              <a:t>lý</a:t>
            </a:r>
            <a:r>
              <a:rPr sz="1400" b="0" i="1" dirty="0">
                <a:solidFill>
                  <a:srgbClr val="6B7784"/>
                </a:solidFill>
                <a:latin typeface="Calibri"/>
              </a:rPr>
              <a:t> </a:t>
            </a:r>
            <a:r>
              <a:rPr sz="1400" b="0" i="1" dirty="0" err="1">
                <a:solidFill>
                  <a:srgbClr val="6B7784"/>
                </a:solidFill>
                <a:latin typeface="Calibri"/>
              </a:rPr>
              <a:t>dịch</a:t>
            </a:r>
            <a:r>
              <a:rPr sz="1400" b="0" i="1" dirty="0">
                <a:solidFill>
                  <a:srgbClr val="6B7784"/>
                </a:solidFill>
                <a:latin typeface="Calibri"/>
              </a:rPr>
              <a:t> </a:t>
            </a:r>
            <a:r>
              <a:rPr sz="1400" b="0" i="1" dirty="0" err="1">
                <a:solidFill>
                  <a:srgbClr val="6B7784"/>
                </a:solidFill>
                <a:latin typeface="Calibri"/>
              </a:rPr>
              <a:t>vụ</a:t>
            </a:r>
            <a:r>
              <a:rPr sz="1400" b="0" i="1" dirty="0">
                <a:solidFill>
                  <a:srgbClr val="6B7784"/>
                </a:solidFill>
                <a:latin typeface="Calibri"/>
              </a:rPr>
              <a:t> </a:t>
            </a:r>
            <a:r>
              <a:rPr sz="1400" b="0" i="1" dirty="0" err="1">
                <a:solidFill>
                  <a:srgbClr val="6B7784"/>
                </a:solidFill>
                <a:latin typeface="Calibri"/>
              </a:rPr>
              <a:t>và</a:t>
            </a:r>
            <a:r>
              <a:rPr sz="1400" b="0" i="1" dirty="0">
                <a:solidFill>
                  <a:srgbClr val="6B7784"/>
                </a:solidFill>
                <a:latin typeface="Calibri"/>
              </a:rPr>
              <a:t> </a:t>
            </a:r>
            <a:r>
              <a:rPr sz="1400" b="0" i="1" dirty="0" err="1">
                <a:solidFill>
                  <a:srgbClr val="6B7784"/>
                </a:solidFill>
                <a:latin typeface="Calibri"/>
              </a:rPr>
              <a:t>sửa</a:t>
            </a:r>
            <a:r>
              <a:rPr sz="1400" b="0" i="1" dirty="0">
                <a:solidFill>
                  <a:srgbClr val="6B7784"/>
                </a:solidFill>
                <a:latin typeface="Calibri"/>
              </a:rPr>
              <a:t> </a:t>
            </a:r>
            <a:r>
              <a:rPr sz="1400" b="0" i="1" dirty="0" err="1">
                <a:solidFill>
                  <a:srgbClr val="6B7784"/>
                </a:solidFill>
                <a:latin typeface="Calibri"/>
              </a:rPr>
              <a:t>chữa</a:t>
            </a:r>
            <a:r>
              <a:rPr sz="1400" b="0" i="1" dirty="0">
                <a:solidFill>
                  <a:srgbClr val="6B7784"/>
                </a:solidFill>
                <a:latin typeface="Calibri"/>
              </a:rPr>
              <a:t>  ·  </a:t>
            </a:r>
            <a:r>
              <a:rPr sz="1400" b="0" i="1" dirty="0" err="1">
                <a:solidFill>
                  <a:srgbClr val="6B7784"/>
                </a:solidFill>
                <a:latin typeface="Calibri"/>
              </a:rPr>
              <a:t>Nhóm</a:t>
            </a:r>
            <a:r>
              <a:rPr sz="1400" b="0" i="1" dirty="0">
                <a:solidFill>
                  <a:srgbClr val="6B7784"/>
                </a:solidFill>
                <a:latin typeface="Calibri"/>
              </a:rPr>
              <a:t> </a:t>
            </a:r>
            <a:r>
              <a:rPr sz="1400" b="0" i="1" dirty="0" err="1">
                <a:solidFill>
                  <a:srgbClr val="6B7784"/>
                </a:solidFill>
                <a:latin typeface="Calibri"/>
              </a:rPr>
              <a:t>quy</a:t>
            </a:r>
            <a:r>
              <a:rPr sz="1400" b="0" i="1" dirty="0">
                <a:solidFill>
                  <a:srgbClr val="6B7784"/>
                </a:solidFill>
                <a:latin typeface="Calibri"/>
              </a:rPr>
              <a:t> </a:t>
            </a:r>
            <a:r>
              <a:rPr sz="1400" b="0" i="1" dirty="0" err="1">
                <a:solidFill>
                  <a:srgbClr val="6B7784"/>
                </a:solidFill>
                <a:latin typeface="Calibri"/>
              </a:rPr>
              <a:t>trình</a:t>
            </a:r>
            <a:r>
              <a:rPr sz="1400" b="0" i="1" dirty="0">
                <a:solidFill>
                  <a:srgbClr val="6B7784"/>
                </a:solidFill>
                <a:latin typeface="Calibri"/>
              </a:rPr>
              <a:t> </a:t>
            </a:r>
            <a:r>
              <a:rPr sz="1400" b="0" i="1" dirty="0" err="1">
                <a:solidFill>
                  <a:srgbClr val="6B7784"/>
                </a:solidFill>
                <a:latin typeface="Calibri"/>
              </a:rPr>
              <a:t>cốt</a:t>
            </a:r>
            <a:r>
              <a:rPr sz="1400" b="0" i="1" dirty="0">
                <a:solidFill>
                  <a:srgbClr val="6B7784"/>
                </a:solidFill>
                <a:latin typeface="Calibri"/>
              </a:rPr>
              <a:t> </a:t>
            </a:r>
            <a:r>
              <a:rPr sz="1400" b="0" i="1" dirty="0" err="1">
                <a:solidFill>
                  <a:srgbClr val="6B7784"/>
                </a:solidFill>
                <a:latin typeface="Calibri"/>
              </a:rPr>
              <a:t>lõi</a:t>
            </a:r>
            <a:endParaRPr sz="1400" b="0" i="1" dirty="0">
              <a:solidFill>
                <a:srgbClr val="6B7784"/>
              </a:solidFill>
              <a:latin typeface="Calibri"/>
            </a:endParaRPr>
          </a:p>
        </p:txBody>
      </p:sp>
      <p:sp>
        <p:nvSpPr>
          <p:cNvPr id="7" name="TextBox 6"/>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8" name="TextBox 7"/>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38</a:t>
            </a:r>
          </a:p>
        </p:txBody>
      </p:sp>
      <p:sp>
        <p:nvSpPr>
          <p:cNvPr id="9" name="Rectangle 8"/>
          <p:cNvSpPr/>
          <p:nvPr/>
        </p:nvSpPr>
        <p:spPr>
          <a:xfrm>
            <a:off x="658368" y="1755648"/>
            <a:ext cx="2554147" cy="1700784"/>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 name="Rectangle 9"/>
          <p:cNvSpPr/>
          <p:nvPr/>
        </p:nvSpPr>
        <p:spPr>
          <a:xfrm>
            <a:off x="658368" y="1755648"/>
            <a:ext cx="2554147" cy="50292"/>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 name="TextBox 10"/>
          <p:cNvSpPr txBox="1"/>
          <p:nvPr/>
        </p:nvSpPr>
        <p:spPr>
          <a:xfrm>
            <a:off x="859536" y="1956816"/>
            <a:ext cx="2170099" cy="226216"/>
          </a:xfrm>
          <a:prstGeom prst="rect">
            <a:avLst/>
          </a:prstGeom>
          <a:noFill/>
        </p:spPr>
        <p:txBody>
          <a:bodyPr wrap="square" lIns="0" tIns="0" rIns="0" bIns="0" anchor="t">
            <a:spAutoFit/>
          </a:bodyPr>
          <a:lstStyle/>
          <a:p>
            <a:pPr algn="l">
              <a:lnSpc>
                <a:spcPct val="105000"/>
              </a:lnSpc>
            </a:pPr>
            <a:r>
              <a:rPr sz="1400" b="1" i="0">
                <a:solidFill>
                  <a:srgbClr val="0A2540"/>
                </a:solidFill>
                <a:latin typeface="Calibri"/>
              </a:rPr>
              <a:t>Service Admin</a:t>
            </a:r>
          </a:p>
        </p:txBody>
      </p:sp>
      <p:sp>
        <p:nvSpPr>
          <p:cNvPr id="12" name="TextBox 11"/>
          <p:cNvSpPr txBox="1"/>
          <p:nvPr/>
        </p:nvSpPr>
        <p:spPr>
          <a:xfrm>
            <a:off x="859536" y="2340864"/>
            <a:ext cx="2170099" cy="788486"/>
          </a:xfrm>
          <a:prstGeom prst="rect">
            <a:avLst/>
          </a:prstGeom>
          <a:noFill/>
        </p:spPr>
        <p:txBody>
          <a:bodyPr wrap="square" lIns="0" tIns="0" rIns="0" bIns="0" anchor="t">
            <a:spAutoFit/>
          </a:bodyPr>
          <a:lstStyle/>
          <a:p>
            <a:pPr algn="l">
              <a:lnSpc>
                <a:spcPct val="122000"/>
              </a:lnSpc>
            </a:pPr>
            <a:r>
              <a:rPr sz="1400" b="0" i="0">
                <a:solidFill>
                  <a:srgbClr val="2B3440"/>
                </a:solidFill>
                <a:latin typeface="Calibri"/>
              </a:rPr>
              <a:t>Tiếp nhận, xác minh yêu cầu, xác định phạm vi, lập báo giá, tạo và đóng Service Order.</a:t>
            </a:r>
          </a:p>
        </p:txBody>
      </p:sp>
      <p:sp>
        <p:nvSpPr>
          <p:cNvPr id="13" name="Rectangle 12"/>
          <p:cNvSpPr/>
          <p:nvPr/>
        </p:nvSpPr>
        <p:spPr>
          <a:xfrm>
            <a:off x="3431971" y="1755648"/>
            <a:ext cx="2554147" cy="1700784"/>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4" name="Rectangle 13"/>
          <p:cNvSpPr/>
          <p:nvPr/>
        </p:nvSpPr>
        <p:spPr>
          <a:xfrm>
            <a:off x="3431971" y="1755648"/>
            <a:ext cx="2554147" cy="50292"/>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5" name="TextBox 14"/>
          <p:cNvSpPr txBox="1"/>
          <p:nvPr/>
        </p:nvSpPr>
        <p:spPr>
          <a:xfrm>
            <a:off x="3633139" y="1956816"/>
            <a:ext cx="2170099" cy="226216"/>
          </a:xfrm>
          <a:prstGeom prst="rect">
            <a:avLst/>
          </a:prstGeom>
          <a:noFill/>
        </p:spPr>
        <p:txBody>
          <a:bodyPr wrap="square" lIns="0" tIns="0" rIns="0" bIns="0" anchor="t">
            <a:spAutoFit/>
          </a:bodyPr>
          <a:lstStyle/>
          <a:p>
            <a:pPr algn="l">
              <a:lnSpc>
                <a:spcPct val="105000"/>
              </a:lnSpc>
            </a:pPr>
            <a:r>
              <a:rPr sz="1400" b="1" i="0">
                <a:solidFill>
                  <a:srgbClr val="0A2540"/>
                </a:solidFill>
                <a:latin typeface="Calibri"/>
              </a:rPr>
              <a:t>Service Engineer</a:t>
            </a:r>
          </a:p>
        </p:txBody>
      </p:sp>
      <p:sp>
        <p:nvSpPr>
          <p:cNvPr id="16" name="TextBox 15"/>
          <p:cNvSpPr txBox="1"/>
          <p:nvPr/>
        </p:nvSpPr>
        <p:spPr>
          <a:xfrm>
            <a:off x="3633139" y="2340864"/>
            <a:ext cx="2170099" cy="788486"/>
          </a:xfrm>
          <a:prstGeom prst="rect">
            <a:avLst/>
          </a:prstGeom>
          <a:noFill/>
        </p:spPr>
        <p:txBody>
          <a:bodyPr wrap="square" lIns="0" tIns="0" rIns="0" bIns="0" anchor="t">
            <a:spAutoFit/>
          </a:bodyPr>
          <a:lstStyle/>
          <a:p>
            <a:pPr algn="l">
              <a:lnSpc>
                <a:spcPct val="122000"/>
              </a:lnSpc>
            </a:pPr>
            <a:r>
              <a:rPr sz="1400" b="0" i="0">
                <a:solidFill>
                  <a:srgbClr val="2B3440"/>
                </a:solidFill>
                <a:latin typeface="Calibri"/>
              </a:rPr>
              <a:t>Đánh giá tình trạng thiết bị, hỗ trợ từ xa, kiểm tra hiện trường, thực hiện dịch vụ.</a:t>
            </a:r>
          </a:p>
        </p:txBody>
      </p:sp>
      <p:sp>
        <p:nvSpPr>
          <p:cNvPr id="17" name="Rectangle 16"/>
          <p:cNvSpPr/>
          <p:nvPr/>
        </p:nvSpPr>
        <p:spPr>
          <a:xfrm>
            <a:off x="6205575" y="1755648"/>
            <a:ext cx="2554147" cy="1700784"/>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8" name="Rectangle 17"/>
          <p:cNvSpPr/>
          <p:nvPr/>
        </p:nvSpPr>
        <p:spPr>
          <a:xfrm>
            <a:off x="6205575" y="1755648"/>
            <a:ext cx="2554147" cy="50292"/>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9" name="TextBox 18"/>
          <p:cNvSpPr txBox="1"/>
          <p:nvPr/>
        </p:nvSpPr>
        <p:spPr>
          <a:xfrm>
            <a:off x="6406743" y="1956816"/>
            <a:ext cx="2170099" cy="226216"/>
          </a:xfrm>
          <a:prstGeom prst="rect">
            <a:avLst/>
          </a:prstGeom>
          <a:noFill/>
        </p:spPr>
        <p:txBody>
          <a:bodyPr wrap="square" lIns="0" tIns="0" rIns="0" bIns="0" anchor="t">
            <a:spAutoFit/>
          </a:bodyPr>
          <a:lstStyle/>
          <a:p>
            <a:pPr algn="l">
              <a:lnSpc>
                <a:spcPct val="105000"/>
              </a:lnSpc>
            </a:pPr>
            <a:r>
              <a:rPr sz="1400" b="1" i="0">
                <a:solidFill>
                  <a:srgbClr val="0A2540"/>
                </a:solidFill>
                <a:latin typeface="Calibri"/>
              </a:rPr>
              <a:t>Distributor</a:t>
            </a:r>
          </a:p>
        </p:txBody>
      </p:sp>
      <p:sp>
        <p:nvSpPr>
          <p:cNvPr id="20" name="TextBox 19"/>
          <p:cNvSpPr txBox="1"/>
          <p:nvPr/>
        </p:nvSpPr>
        <p:spPr>
          <a:xfrm>
            <a:off x="6406743" y="2340864"/>
            <a:ext cx="2170099" cy="788486"/>
          </a:xfrm>
          <a:prstGeom prst="rect">
            <a:avLst/>
          </a:prstGeom>
          <a:noFill/>
        </p:spPr>
        <p:txBody>
          <a:bodyPr wrap="square" lIns="0" tIns="0" rIns="0" bIns="0" anchor="t">
            <a:spAutoFit/>
          </a:bodyPr>
          <a:lstStyle/>
          <a:p>
            <a:pPr algn="l">
              <a:lnSpc>
                <a:spcPct val="122000"/>
              </a:lnSpc>
            </a:pPr>
            <a:r>
              <a:rPr sz="1400" b="0" i="0">
                <a:solidFill>
                  <a:srgbClr val="2B3440"/>
                </a:solidFill>
                <a:latin typeface="Calibri"/>
              </a:rPr>
              <a:t>Thực hiện thủ tục thương mại và xác nhận báo giá với Hospital/End-user.</a:t>
            </a:r>
          </a:p>
        </p:txBody>
      </p:sp>
      <p:sp>
        <p:nvSpPr>
          <p:cNvPr id="21" name="Rectangle 20"/>
          <p:cNvSpPr/>
          <p:nvPr/>
        </p:nvSpPr>
        <p:spPr>
          <a:xfrm>
            <a:off x="8979179" y="1755648"/>
            <a:ext cx="2554147" cy="1700784"/>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2" name="Rectangle 21"/>
          <p:cNvSpPr/>
          <p:nvPr/>
        </p:nvSpPr>
        <p:spPr>
          <a:xfrm>
            <a:off x="8979179" y="1755648"/>
            <a:ext cx="2554147" cy="50292"/>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3" name="TextBox 22"/>
          <p:cNvSpPr txBox="1"/>
          <p:nvPr/>
        </p:nvSpPr>
        <p:spPr>
          <a:xfrm>
            <a:off x="9180347" y="1956816"/>
            <a:ext cx="2170099" cy="226216"/>
          </a:xfrm>
          <a:prstGeom prst="rect">
            <a:avLst/>
          </a:prstGeom>
          <a:noFill/>
        </p:spPr>
        <p:txBody>
          <a:bodyPr wrap="square" lIns="0" tIns="0" rIns="0" bIns="0" anchor="t">
            <a:spAutoFit/>
          </a:bodyPr>
          <a:lstStyle/>
          <a:p>
            <a:pPr algn="l">
              <a:lnSpc>
                <a:spcPct val="105000"/>
              </a:lnSpc>
            </a:pPr>
            <a:r>
              <a:rPr sz="1400" b="1" i="0">
                <a:solidFill>
                  <a:srgbClr val="0A2540"/>
                </a:solidFill>
                <a:latin typeface="Calibri"/>
              </a:rPr>
              <a:t>Hospital / End-user</a:t>
            </a:r>
          </a:p>
        </p:txBody>
      </p:sp>
      <p:sp>
        <p:nvSpPr>
          <p:cNvPr id="24" name="TextBox 23"/>
          <p:cNvSpPr txBox="1"/>
          <p:nvPr/>
        </p:nvSpPr>
        <p:spPr>
          <a:xfrm>
            <a:off x="9180347" y="2340864"/>
            <a:ext cx="2170099" cy="788486"/>
          </a:xfrm>
          <a:prstGeom prst="rect">
            <a:avLst/>
          </a:prstGeom>
          <a:noFill/>
        </p:spPr>
        <p:txBody>
          <a:bodyPr wrap="square" lIns="0" tIns="0" rIns="0" bIns="0" anchor="t">
            <a:spAutoFit/>
          </a:bodyPr>
          <a:lstStyle/>
          <a:p>
            <a:pPr algn="l">
              <a:lnSpc>
                <a:spcPct val="122000"/>
              </a:lnSpc>
            </a:pPr>
            <a:r>
              <a:rPr sz="1400" b="0" i="0">
                <a:solidFill>
                  <a:srgbClr val="2B3440"/>
                </a:solidFill>
                <a:latin typeface="Calibri"/>
              </a:rPr>
              <a:t>Gửi yêu cầu dịch vụ, phối hợp kiểm tra và xác nhận kết quả sau khi hoàn thành.</a:t>
            </a:r>
          </a:p>
        </p:txBody>
      </p:sp>
      <p:sp>
        <p:nvSpPr>
          <p:cNvPr id="25" name="TextBox 24"/>
          <p:cNvSpPr txBox="1"/>
          <p:nvPr/>
        </p:nvSpPr>
        <p:spPr>
          <a:xfrm>
            <a:off x="658368" y="3639312"/>
            <a:ext cx="10874959" cy="215444"/>
          </a:xfrm>
          <a:prstGeom prst="rect">
            <a:avLst/>
          </a:prstGeom>
          <a:noFill/>
        </p:spPr>
        <p:txBody>
          <a:bodyPr wrap="square" lIns="0" tIns="0" rIns="0" bIns="0" anchor="t">
            <a:spAutoFit/>
          </a:bodyPr>
          <a:lstStyle/>
          <a:p>
            <a:pPr algn="l">
              <a:lnSpc>
                <a:spcPct val="100000"/>
              </a:lnSpc>
            </a:pPr>
            <a:r>
              <a:rPr sz="1400" b="1" i="0">
                <a:solidFill>
                  <a:srgbClr val="0096D6"/>
                </a:solidFill>
                <a:latin typeface="Calibri"/>
              </a:rPr>
              <a:t>QUY TRÌNH CÓ NHIỀU NHÁNH XỬ LÝ KHÁC NHAU</a:t>
            </a:r>
          </a:p>
        </p:txBody>
      </p:sp>
      <p:sp>
        <p:nvSpPr>
          <p:cNvPr id="26" name="Rectangle 25"/>
          <p:cNvSpPr/>
          <p:nvPr/>
        </p:nvSpPr>
        <p:spPr>
          <a:xfrm>
            <a:off x="658368" y="3986784"/>
            <a:ext cx="2554147" cy="1060704"/>
          </a:xfrm>
          <a:prstGeom prst="rect">
            <a:avLst/>
          </a:prstGeom>
          <a:solidFill>
            <a:srgbClr val="E9F3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7" name="TextBox 26"/>
          <p:cNvSpPr txBox="1"/>
          <p:nvPr/>
        </p:nvSpPr>
        <p:spPr>
          <a:xfrm>
            <a:off x="859536" y="4133087"/>
            <a:ext cx="2170099" cy="215444"/>
          </a:xfrm>
          <a:prstGeom prst="rect">
            <a:avLst/>
          </a:prstGeom>
          <a:noFill/>
        </p:spPr>
        <p:txBody>
          <a:bodyPr wrap="square" lIns="0" tIns="0" rIns="0" bIns="0" anchor="t">
            <a:spAutoFit/>
          </a:bodyPr>
          <a:lstStyle/>
          <a:p>
            <a:pPr algn="l">
              <a:lnSpc>
                <a:spcPct val="100000"/>
              </a:lnSpc>
            </a:pPr>
            <a:r>
              <a:rPr sz="1400" b="1" i="0">
                <a:solidFill>
                  <a:srgbClr val="0A2540"/>
                </a:solidFill>
                <a:latin typeface="Calibri"/>
              </a:rPr>
              <a:t>Remote Support</a:t>
            </a:r>
          </a:p>
        </p:txBody>
      </p:sp>
      <p:sp>
        <p:nvSpPr>
          <p:cNvPr id="28" name="TextBox 27"/>
          <p:cNvSpPr txBox="1"/>
          <p:nvPr/>
        </p:nvSpPr>
        <p:spPr>
          <a:xfrm>
            <a:off x="859536" y="4425696"/>
            <a:ext cx="2170099" cy="517065"/>
          </a:xfrm>
          <a:prstGeom prst="rect">
            <a:avLst/>
          </a:prstGeom>
          <a:noFill/>
        </p:spPr>
        <p:txBody>
          <a:bodyPr wrap="square" lIns="0" tIns="0" rIns="0" bIns="0" anchor="t">
            <a:spAutoFit/>
          </a:bodyPr>
          <a:lstStyle/>
          <a:p>
            <a:pPr algn="l">
              <a:lnSpc>
                <a:spcPct val="120000"/>
              </a:lnSpc>
            </a:pPr>
            <a:r>
              <a:rPr sz="1400" b="0" i="0">
                <a:solidFill>
                  <a:srgbClr val="2B3440"/>
                </a:solidFill>
                <a:latin typeface="Calibri"/>
              </a:rPr>
              <a:t>Xử lý thành công từ xa, không cần triển khai hiện trường.</a:t>
            </a:r>
          </a:p>
        </p:txBody>
      </p:sp>
      <p:sp>
        <p:nvSpPr>
          <p:cNvPr id="29" name="Rectangle 28"/>
          <p:cNvSpPr/>
          <p:nvPr/>
        </p:nvSpPr>
        <p:spPr>
          <a:xfrm>
            <a:off x="3431971" y="3986784"/>
            <a:ext cx="2554147" cy="1060704"/>
          </a:xfrm>
          <a:prstGeom prst="rect">
            <a:avLst/>
          </a:prstGeom>
          <a:solidFill>
            <a:srgbClr val="E9F3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0" name="TextBox 29"/>
          <p:cNvSpPr txBox="1"/>
          <p:nvPr/>
        </p:nvSpPr>
        <p:spPr>
          <a:xfrm>
            <a:off x="3633139" y="4133087"/>
            <a:ext cx="2170099" cy="215444"/>
          </a:xfrm>
          <a:prstGeom prst="rect">
            <a:avLst/>
          </a:prstGeom>
          <a:noFill/>
        </p:spPr>
        <p:txBody>
          <a:bodyPr wrap="square" lIns="0" tIns="0" rIns="0" bIns="0" anchor="t">
            <a:spAutoFit/>
          </a:bodyPr>
          <a:lstStyle/>
          <a:p>
            <a:pPr algn="l">
              <a:lnSpc>
                <a:spcPct val="100000"/>
              </a:lnSpc>
            </a:pPr>
            <a:r>
              <a:rPr sz="1400" b="1" i="0">
                <a:solidFill>
                  <a:srgbClr val="0A2540"/>
                </a:solidFill>
                <a:latin typeface="Calibri"/>
              </a:rPr>
              <a:t>Onsite / Service</a:t>
            </a:r>
          </a:p>
        </p:txBody>
      </p:sp>
      <p:sp>
        <p:nvSpPr>
          <p:cNvPr id="31" name="TextBox 30"/>
          <p:cNvSpPr txBox="1"/>
          <p:nvPr/>
        </p:nvSpPr>
        <p:spPr>
          <a:xfrm>
            <a:off x="3633139" y="4425696"/>
            <a:ext cx="2170099" cy="517065"/>
          </a:xfrm>
          <a:prstGeom prst="rect">
            <a:avLst/>
          </a:prstGeom>
          <a:noFill/>
        </p:spPr>
        <p:txBody>
          <a:bodyPr wrap="square" lIns="0" tIns="0" rIns="0" bIns="0" anchor="t">
            <a:spAutoFit/>
          </a:bodyPr>
          <a:lstStyle/>
          <a:p>
            <a:pPr algn="l">
              <a:lnSpc>
                <a:spcPct val="120000"/>
              </a:lnSpc>
            </a:pPr>
            <a:r>
              <a:rPr sz="1400" b="0" i="0">
                <a:solidFill>
                  <a:srgbClr val="2B3440"/>
                </a:solidFill>
                <a:latin typeface="Calibri"/>
              </a:rPr>
              <a:t>Cần kiểm tra và thực hiện dịch vụ tại hiện trường.</a:t>
            </a:r>
          </a:p>
        </p:txBody>
      </p:sp>
      <p:sp>
        <p:nvSpPr>
          <p:cNvPr id="32" name="Rectangle 31"/>
          <p:cNvSpPr/>
          <p:nvPr/>
        </p:nvSpPr>
        <p:spPr>
          <a:xfrm>
            <a:off x="6205575" y="3986784"/>
            <a:ext cx="2554147" cy="1060704"/>
          </a:xfrm>
          <a:prstGeom prst="rect">
            <a:avLst/>
          </a:prstGeom>
          <a:solidFill>
            <a:srgbClr val="E9F3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3" name="TextBox 32"/>
          <p:cNvSpPr txBox="1"/>
          <p:nvPr/>
        </p:nvSpPr>
        <p:spPr>
          <a:xfrm>
            <a:off x="6406743" y="4133087"/>
            <a:ext cx="2170099" cy="215444"/>
          </a:xfrm>
          <a:prstGeom prst="rect">
            <a:avLst/>
          </a:prstGeom>
          <a:noFill/>
        </p:spPr>
        <p:txBody>
          <a:bodyPr wrap="square" lIns="0" tIns="0" rIns="0" bIns="0" anchor="t">
            <a:spAutoFit/>
          </a:bodyPr>
          <a:lstStyle/>
          <a:p>
            <a:pPr algn="l">
              <a:lnSpc>
                <a:spcPct val="100000"/>
              </a:lnSpc>
            </a:pPr>
            <a:r>
              <a:rPr sz="1400" b="1" i="0">
                <a:solidFill>
                  <a:srgbClr val="0A2540"/>
                </a:solidFill>
                <a:latin typeface="Calibri"/>
              </a:rPr>
              <a:t>Warranty / No-charge</a:t>
            </a:r>
          </a:p>
        </p:txBody>
      </p:sp>
      <p:sp>
        <p:nvSpPr>
          <p:cNvPr id="34" name="TextBox 33"/>
          <p:cNvSpPr txBox="1"/>
          <p:nvPr/>
        </p:nvSpPr>
        <p:spPr>
          <a:xfrm>
            <a:off x="6406743" y="4425696"/>
            <a:ext cx="2170099" cy="775597"/>
          </a:xfrm>
          <a:prstGeom prst="rect">
            <a:avLst/>
          </a:prstGeom>
          <a:noFill/>
        </p:spPr>
        <p:txBody>
          <a:bodyPr wrap="square" lIns="0" tIns="0" rIns="0" bIns="0" anchor="t">
            <a:spAutoFit/>
          </a:bodyPr>
          <a:lstStyle/>
          <a:p>
            <a:pPr algn="l">
              <a:lnSpc>
                <a:spcPct val="120000"/>
              </a:lnSpc>
            </a:pPr>
            <a:r>
              <a:rPr sz="1400" b="0" i="0">
                <a:solidFill>
                  <a:srgbClr val="2B3440"/>
                </a:solidFill>
                <a:latin typeface="Calibri"/>
              </a:rPr>
              <a:t>Dịch vụ trong phạm vi bảo hành, không phát sinh báo giá.</a:t>
            </a:r>
          </a:p>
        </p:txBody>
      </p:sp>
      <p:sp>
        <p:nvSpPr>
          <p:cNvPr id="35" name="Rectangle 34"/>
          <p:cNvSpPr/>
          <p:nvPr/>
        </p:nvSpPr>
        <p:spPr>
          <a:xfrm>
            <a:off x="8979179" y="3986784"/>
            <a:ext cx="2554147" cy="1060704"/>
          </a:xfrm>
          <a:prstGeom prst="rect">
            <a:avLst/>
          </a:prstGeom>
          <a:solidFill>
            <a:srgbClr val="E9F3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6" name="TextBox 35"/>
          <p:cNvSpPr txBox="1"/>
          <p:nvPr/>
        </p:nvSpPr>
        <p:spPr>
          <a:xfrm>
            <a:off x="9180347" y="4133087"/>
            <a:ext cx="2170099" cy="215444"/>
          </a:xfrm>
          <a:prstGeom prst="rect">
            <a:avLst/>
          </a:prstGeom>
          <a:noFill/>
        </p:spPr>
        <p:txBody>
          <a:bodyPr wrap="square" lIns="0" tIns="0" rIns="0" bIns="0" anchor="t">
            <a:spAutoFit/>
          </a:bodyPr>
          <a:lstStyle/>
          <a:p>
            <a:pPr algn="l">
              <a:lnSpc>
                <a:spcPct val="100000"/>
              </a:lnSpc>
            </a:pPr>
            <a:r>
              <a:rPr sz="1400" b="1" i="0">
                <a:solidFill>
                  <a:srgbClr val="0A2540"/>
                </a:solidFill>
                <a:latin typeface="Calibri"/>
              </a:rPr>
              <a:t>Chargeable</a:t>
            </a:r>
          </a:p>
        </p:txBody>
      </p:sp>
      <p:sp>
        <p:nvSpPr>
          <p:cNvPr id="37" name="TextBox 36"/>
          <p:cNvSpPr txBox="1"/>
          <p:nvPr/>
        </p:nvSpPr>
        <p:spPr>
          <a:xfrm>
            <a:off x="9180347" y="4425696"/>
            <a:ext cx="2170099" cy="517065"/>
          </a:xfrm>
          <a:prstGeom prst="rect">
            <a:avLst/>
          </a:prstGeom>
          <a:noFill/>
        </p:spPr>
        <p:txBody>
          <a:bodyPr wrap="square" lIns="0" tIns="0" rIns="0" bIns="0" anchor="t">
            <a:spAutoFit/>
          </a:bodyPr>
          <a:lstStyle/>
          <a:p>
            <a:pPr algn="l">
              <a:lnSpc>
                <a:spcPct val="120000"/>
              </a:lnSpc>
            </a:pPr>
            <a:r>
              <a:rPr sz="1400" b="0" i="0">
                <a:solidFill>
                  <a:srgbClr val="2B3440"/>
                </a:solidFill>
                <a:latin typeface="Calibri"/>
              </a:rPr>
              <a:t>Dịch vụ có tính phí, phải chờ Distributor xác nhận báo giá.</a:t>
            </a:r>
          </a:p>
        </p:txBody>
      </p:sp>
      <p:sp>
        <p:nvSpPr>
          <p:cNvPr id="38" name="Rectangle 37"/>
          <p:cNvSpPr/>
          <p:nvPr/>
        </p:nvSpPr>
        <p:spPr>
          <a:xfrm>
            <a:off x="658368" y="5212080"/>
            <a:ext cx="10874959" cy="585216"/>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9" name="Rectangle 38"/>
          <p:cNvSpPr/>
          <p:nvPr/>
        </p:nvSpPr>
        <p:spPr>
          <a:xfrm>
            <a:off x="658368" y="5212080"/>
            <a:ext cx="50292" cy="585216"/>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40" name="TextBox 39"/>
          <p:cNvSpPr txBox="1"/>
          <p:nvPr/>
        </p:nvSpPr>
        <p:spPr>
          <a:xfrm>
            <a:off x="950976" y="5386194"/>
            <a:ext cx="10280599" cy="236988"/>
          </a:xfrm>
          <a:prstGeom prst="rect">
            <a:avLst/>
          </a:prstGeom>
          <a:noFill/>
        </p:spPr>
        <p:txBody>
          <a:bodyPr wrap="square" lIns="0" tIns="0" rIns="0" bIns="0" anchor="ctr">
            <a:spAutoFit/>
          </a:bodyPr>
          <a:lstStyle/>
          <a:p>
            <a:pPr algn="l">
              <a:lnSpc>
                <a:spcPct val="110000"/>
              </a:lnSpc>
            </a:pPr>
            <a:r>
              <a:rPr sz="1400" b="1" i="0">
                <a:solidFill>
                  <a:srgbClr val="00C2A8"/>
                </a:solidFill>
                <a:latin typeface="Calibri"/>
              </a:rPr>
              <a:t>Nhiều điểm tương tác và chuyển giao thông tin  →  dễ phát sinh thời gian chờ, bổ sung thông tin và xử lý lại.</a:t>
            </a:r>
          </a:p>
        </p:txBody>
      </p:sp>
    </p:spTree>
    <p:extLst>
      <p:ext uri="{BB962C8B-B14F-4D97-AF65-F5344CB8AC3E}">
        <p14:creationId xmlns:p14="http://schemas.microsoft.com/office/powerpoint/2010/main" val="7170263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CHƯƠNG 4 · 4.2.2A PHÂN TÍCH GIÁ TRỊ GIA TĂNG</a:t>
            </a:r>
          </a:p>
        </p:txBody>
      </p:sp>
      <p:sp>
        <p:nvSpPr>
          <p:cNvPr id="3" name="TextBox 2"/>
          <p:cNvSpPr txBox="1"/>
          <p:nvPr/>
        </p:nvSpPr>
        <p:spPr>
          <a:xfrm>
            <a:off x="658368" y="640080"/>
            <a:ext cx="10874959" cy="603504"/>
          </a:xfrm>
          <a:prstGeom prst="rect">
            <a:avLst/>
          </a:prstGeom>
          <a:noFill/>
        </p:spPr>
        <p:txBody>
          <a:bodyPr wrap="square" lIns="0" tIns="0" rIns="0" bIns="0" anchor="t">
            <a:spAutoFit/>
          </a:bodyPr>
          <a:lstStyle/>
          <a:p>
            <a:pPr algn="l">
              <a:lnSpc>
                <a:spcPct val="105000"/>
              </a:lnSpc>
            </a:pPr>
            <a:r>
              <a:rPr sz="2500" b="1" i="0">
                <a:solidFill>
                  <a:srgbClr val="0A2540"/>
                </a:solidFill>
                <a:latin typeface="Calibri"/>
              </a:rPr>
              <a:t>PHÂN LOẠI VA – BVA – NVA CỦA SERVICE ORDER MANAGEMENT</a:t>
            </a: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371600"/>
            <a:ext cx="10874959" cy="274320"/>
          </a:xfrm>
          <a:prstGeom prst="rect">
            <a:avLst/>
          </a:prstGeom>
          <a:noFill/>
        </p:spPr>
        <p:txBody>
          <a:bodyPr wrap="square" lIns="0" tIns="0" rIns="0" bIns="0" anchor="t">
            <a:spAutoFit/>
          </a:bodyPr>
          <a:lstStyle/>
          <a:p>
            <a:pPr algn="l">
              <a:lnSpc>
                <a:spcPct val="118000"/>
              </a:lnSpc>
            </a:pPr>
            <a:r>
              <a:rPr sz="1100" b="0" i="1">
                <a:solidFill>
                  <a:srgbClr val="6B7784"/>
                </a:solidFill>
                <a:latin typeface="Calibri"/>
              </a:rPr>
              <a:t>Bảng 4.1 — 10 hoạt động chính:  04 hoạt động VA  ·  06 hoạt động BVA  ·  0 hoạt động NVA</a:t>
            </a:r>
          </a:p>
        </p:txBody>
      </p:sp>
      <p:sp>
        <p:nvSpPr>
          <p:cNvPr id="7" name="TextBox 6"/>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8" name="TextBox 7"/>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39</a:t>
            </a:r>
          </a:p>
        </p:txBody>
      </p:sp>
      <p:graphicFrame>
        <p:nvGraphicFramePr>
          <p:cNvPr id="9" name="Table 8"/>
          <p:cNvGraphicFramePr>
            <a:graphicFrameLocks noGrp="1"/>
          </p:cNvGraphicFramePr>
          <p:nvPr/>
        </p:nvGraphicFramePr>
        <p:xfrm>
          <a:off x="658368" y="1810512"/>
          <a:ext cx="10874959" cy="3675888"/>
        </p:xfrm>
        <a:graphic>
          <a:graphicData uri="http://schemas.openxmlformats.org/drawingml/2006/table">
            <a:tbl>
              <a:tblPr firstRow="1">
                <a:tableStyleId>{5C22544A-7EE6-4342-B048-85BDC9FD1C3A}</a:tableStyleId>
              </a:tblPr>
              <a:tblGrid>
                <a:gridCol w="658368">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2078431">
                  <a:extLst>
                    <a:ext uri="{9D8B030D-6E8A-4147-A177-3AD203B41FA5}">
                      <a16:colId xmlns:a16="http://schemas.microsoft.com/office/drawing/2014/main" val="20003"/>
                    </a:ext>
                  </a:extLst>
                </a:gridCol>
              </a:tblGrid>
              <a:tr h="384048">
                <a:tc>
                  <a:txBody>
                    <a:bodyPr/>
                    <a:lstStyle/>
                    <a:p>
                      <a:pPr algn="ctr">
                        <a:lnSpc>
                          <a:spcPct val="105000"/>
                        </a:lnSpc>
                      </a:pPr>
                      <a:r>
                        <a:rPr sz="1000" b="1">
                          <a:solidFill>
                            <a:srgbClr val="FFFFFF"/>
                          </a:solidFill>
                          <a:latin typeface="Calibri"/>
                        </a:rPr>
                        <a:t>STT</a:t>
                      </a:r>
                    </a:p>
                  </a:txBody>
                  <a:tcPr marL="100584" marR="73152" marT="41148" marB="41148" anchor="ctr">
                    <a:solidFill>
                      <a:srgbClr val="0A2540"/>
                    </a:solidFill>
                  </a:tcPr>
                </a:tc>
                <a:tc>
                  <a:txBody>
                    <a:bodyPr/>
                    <a:lstStyle/>
                    <a:p>
                      <a:pPr algn="ctr">
                        <a:lnSpc>
                          <a:spcPct val="105000"/>
                        </a:lnSpc>
                      </a:pPr>
                      <a:r>
                        <a:rPr sz="1000" b="1">
                          <a:solidFill>
                            <a:srgbClr val="FFFFFF"/>
                          </a:solidFill>
                          <a:latin typeface="Calibri"/>
                        </a:rPr>
                        <a:t>HOẠT ĐỘNG</a:t>
                      </a:r>
                    </a:p>
                  </a:txBody>
                  <a:tcPr marL="100584" marR="73152" marT="41148" marB="41148" anchor="ctr">
                    <a:solidFill>
                      <a:srgbClr val="0A2540"/>
                    </a:solidFill>
                  </a:tcPr>
                </a:tc>
                <a:tc>
                  <a:txBody>
                    <a:bodyPr/>
                    <a:lstStyle/>
                    <a:p>
                      <a:pPr algn="ctr">
                        <a:lnSpc>
                          <a:spcPct val="105000"/>
                        </a:lnSpc>
                      </a:pPr>
                      <a:r>
                        <a:rPr sz="1000" b="1">
                          <a:solidFill>
                            <a:srgbClr val="FFFFFF"/>
                          </a:solidFill>
                          <a:latin typeface="Calibri"/>
                        </a:rPr>
                        <a:t>ĐỐI TƯỢNG THỰC HIỆN</a:t>
                      </a:r>
                    </a:p>
                  </a:txBody>
                  <a:tcPr marL="100584" marR="73152" marT="41148" marB="41148" anchor="ctr">
                    <a:solidFill>
                      <a:srgbClr val="0A2540"/>
                    </a:solidFill>
                  </a:tcPr>
                </a:tc>
                <a:tc>
                  <a:txBody>
                    <a:bodyPr/>
                    <a:lstStyle/>
                    <a:p>
                      <a:pPr algn="ctr">
                        <a:lnSpc>
                          <a:spcPct val="105000"/>
                        </a:lnSpc>
                      </a:pPr>
                      <a:r>
                        <a:rPr sz="1000" b="1">
                          <a:solidFill>
                            <a:srgbClr val="FFFFFF"/>
                          </a:solidFill>
                          <a:latin typeface="Calibri"/>
                        </a:rPr>
                        <a:t>PHÂN LOẠI</a:t>
                      </a:r>
                    </a:p>
                  </a:txBody>
                  <a:tcPr marL="100584" marR="73152" marT="41148" marB="41148" anchor="ctr">
                    <a:solidFill>
                      <a:srgbClr val="0A2540"/>
                    </a:solidFill>
                  </a:tcPr>
                </a:tc>
                <a:extLst>
                  <a:ext uri="{0D108BD9-81ED-4DB2-BD59-A6C34878D82A}">
                    <a16:rowId xmlns:a16="http://schemas.microsoft.com/office/drawing/2014/main" val="10000"/>
                  </a:ext>
                </a:extLst>
              </a:tr>
              <a:tr h="329184">
                <a:tc>
                  <a:txBody>
                    <a:bodyPr/>
                    <a:lstStyle/>
                    <a:p>
                      <a:pPr algn="ctr">
                        <a:lnSpc>
                          <a:spcPct val="105000"/>
                        </a:lnSpc>
                      </a:pPr>
                      <a:r>
                        <a:rPr sz="980" b="0">
                          <a:solidFill>
                            <a:srgbClr val="2B3440"/>
                          </a:solidFill>
                          <a:latin typeface="Calibri"/>
                        </a:rPr>
                        <a:t>1</a:t>
                      </a:r>
                    </a:p>
                  </a:txBody>
                  <a:tcPr marL="100584" marR="73152" marT="41148" marB="41148" anchor="ctr">
                    <a:solidFill>
                      <a:srgbClr val="FFFFFF"/>
                    </a:solidFill>
                  </a:tcPr>
                </a:tc>
                <a:tc>
                  <a:txBody>
                    <a:bodyPr/>
                    <a:lstStyle/>
                    <a:p>
                      <a:pPr algn="l">
                        <a:lnSpc>
                          <a:spcPct val="105000"/>
                        </a:lnSpc>
                      </a:pPr>
                      <a:r>
                        <a:rPr sz="980" b="0">
                          <a:solidFill>
                            <a:srgbClr val="2B3440"/>
                          </a:solidFill>
                          <a:latin typeface="Calibri"/>
                        </a:rPr>
                        <a:t>Tiếp nhận và xác minh yêu cầu dịch vụ</a:t>
                      </a:r>
                    </a:p>
                  </a:txBody>
                  <a:tcPr marL="100584" marR="73152" marT="41148" marB="41148" anchor="ctr">
                    <a:solidFill>
                      <a:srgbClr val="FFFFFF"/>
                    </a:solidFill>
                  </a:tcPr>
                </a:tc>
                <a:tc>
                  <a:txBody>
                    <a:bodyPr/>
                    <a:lstStyle/>
                    <a:p>
                      <a:pPr algn="l">
                        <a:lnSpc>
                          <a:spcPct val="105000"/>
                        </a:lnSpc>
                      </a:pPr>
                      <a:r>
                        <a:rPr sz="980" b="0">
                          <a:solidFill>
                            <a:srgbClr val="2B3440"/>
                          </a:solidFill>
                          <a:latin typeface="Calibri"/>
                        </a:rPr>
                        <a:t>Service Admin</a:t>
                      </a:r>
                    </a:p>
                  </a:txBody>
                  <a:tcPr marL="100584" marR="73152" marT="41148" marB="41148" anchor="ctr">
                    <a:solidFill>
                      <a:srgbClr val="FFFFFF"/>
                    </a:solidFill>
                  </a:tcPr>
                </a:tc>
                <a:tc>
                  <a:txBody>
                    <a:bodyPr/>
                    <a:lstStyle/>
                    <a:p>
                      <a:pPr algn="l">
                        <a:lnSpc>
                          <a:spcPct val="105000"/>
                        </a:lnSpc>
                      </a:pPr>
                      <a:r>
                        <a:rPr sz="980" b="1">
                          <a:solidFill>
                            <a:srgbClr val="B54A08"/>
                          </a:solidFill>
                          <a:latin typeface="Calibri"/>
                        </a:rPr>
                        <a:t>BVA</a:t>
                      </a:r>
                    </a:p>
                  </a:txBody>
                  <a:tcPr marL="100584" marR="73152" marT="41148" marB="41148" anchor="ctr">
                    <a:solidFill>
                      <a:srgbClr val="FFF6E8"/>
                    </a:solidFill>
                  </a:tcPr>
                </a:tc>
                <a:extLst>
                  <a:ext uri="{0D108BD9-81ED-4DB2-BD59-A6C34878D82A}">
                    <a16:rowId xmlns:a16="http://schemas.microsoft.com/office/drawing/2014/main" val="10001"/>
                  </a:ext>
                </a:extLst>
              </a:tr>
              <a:tr h="329184">
                <a:tc>
                  <a:txBody>
                    <a:bodyPr/>
                    <a:lstStyle/>
                    <a:p>
                      <a:pPr algn="ctr">
                        <a:lnSpc>
                          <a:spcPct val="105000"/>
                        </a:lnSpc>
                      </a:pPr>
                      <a:r>
                        <a:rPr sz="980" b="0">
                          <a:solidFill>
                            <a:srgbClr val="2B3440"/>
                          </a:solidFill>
                          <a:latin typeface="Calibri"/>
                        </a:rPr>
                        <a:t>2</a:t>
                      </a:r>
                    </a:p>
                  </a:txBody>
                  <a:tcPr marL="100584" marR="73152" marT="41148" marB="41148" anchor="ctr">
                    <a:solidFill>
                      <a:srgbClr val="F4F7FA"/>
                    </a:solidFill>
                  </a:tcPr>
                </a:tc>
                <a:tc>
                  <a:txBody>
                    <a:bodyPr/>
                    <a:lstStyle/>
                    <a:p>
                      <a:pPr algn="l">
                        <a:lnSpc>
                          <a:spcPct val="105000"/>
                        </a:lnSpc>
                      </a:pPr>
                      <a:r>
                        <a:rPr sz="980" b="0">
                          <a:solidFill>
                            <a:srgbClr val="2B3440"/>
                          </a:solidFill>
                          <a:latin typeface="Calibri"/>
                        </a:rPr>
                        <a:t>Đánh giá sơ bộ tình trạng thiết bị</a:t>
                      </a:r>
                    </a:p>
                  </a:txBody>
                  <a:tcPr marL="100584" marR="73152" marT="41148" marB="41148" anchor="ctr">
                    <a:solidFill>
                      <a:srgbClr val="F4F7FA"/>
                    </a:solidFill>
                  </a:tcPr>
                </a:tc>
                <a:tc>
                  <a:txBody>
                    <a:bodyPr/>
                    <a:lstStyle/>
                    <a:p>
                      <a:pPr algn="l">
                        <a:lnSpc>
                          <a:spcPct val="105000"/>
                        </a:lnSpc>
                      </a:pPr>
                      <a:r>
                        <a:rPr sz="980" b="0">
                          <a:solidFill>
                            <a:srgbClr val="2B3440"/>
                          </a:solidFill>
                          <a:latin typeface="Calibri"/>
                        </a:rPr>
                        <a:t>Service Engineer</a:t>
                      </a:r>
                    </a:p>
                  </a:txBody>
                  <a:tcPr marL="100584" marR="73152" marT="41148" marB="41148" anchor="ctr">
                    <a:solidFill>
                      <a:srgbClr val="F4F7FA"/>
                    </a:solidFill>
                  </a:tcPr>
                </a:tc>
                <a:tc>
                  <a:txBody>
                    <a:bodyPr/>
                    <a:lstStyle/>
                    <a:p>
                      <a:pPr algn="l">
                        <a:lnSpc>
                          <a:spcPct val="105000"/>
                        </a:lnSpc>
                      </a:pPr>
                      <a:r>
                        <a:rPr sz="980" b="1">
                          <a:solidFill>
                            <a:srgbClr val="006B5C"/>
                          </a:solidFill>
                          <a:latin typeface="Calibri"/>
                        </a:rPr>
                        <a:t>VA</a:t>
                      </a:r>
                    </a:p>
                  </a:txBody>
                  <a:tcPr marL="100584" marR="73152" marT="41148" marB="41148" anchor="ctr">
                    <a:solidFill>
                      <a:srgbClr val="E7F7F3"/>
                    </a:solidFill>
                  </a:tcPr>
                </a:tc>
                <a:extLst>
                  <a:ext uri="{0D108BD9-81ED-4DB2-BD59-A6C34878D82A}">
                    <a16:rowId xmlns:a16="http://schemas.microsoft.com/office/drawing/2014/main" val="10002"/>
                  </a:ext>
                </a:extLst>
              </a:tr>
              <a:tr h="329184">
                <a:tc>
                  <a:txBody>
                    <a:bodyPr/>
                    <a:lstStyle/>
                    <a:p>
                      <a:pPr algn="ctr">
                        <a:lnSpc>
                          <a:spcPct val="105000"/>
                        </a:lnSpc>
                      </a:pPr>
                      <a:r>
                        <a:rPr sz="980" b="0">
                          <a:solidFill>
                            <a:srgbClr val="2B3440"/>
                          </a:solidFill>
                          <a:latin typeface="Calibri"/>
                        </a:rPr>
                        <a:t>3</a:t>
                      </a:r>
                    </a:p>
                  </a:txBody>
                  <a:tcPr marL="100584" marR="73152" marT="41148" marB="41148" anchor="ctr">
                    <a:solidFill>
                      <a:srgbClr val="FFFFFF"/>
                    </a:solidFill>
                  </a:tcPr>
                </a:tc>
                <a:tc>
                  <a:txBody>
                    <a:bodyPr/>
                    <a:lstStyle/>
                    <a:p>
                      <a:pPr algn="l">
                        <a:lnSpc>
                          <a:spcPct val="105000"/>
                        </a:lnSpc>
                      </a:pPr>
                      <a:r>
                        <a:rPr sz="980" b="0">
                          <a:solidFill>
                            <a:srgbClr val="2B3440"/>
                          </a:solidFill>
                          <a:latin typeface="Calibri"/>
                        </a:rPr>
                        <a:t>Hỗ trợ kỹ thuật từ xa</a:t>
                      </a:r>
                    </a:p>
                  </a:txBody>
                  <a:tcPr marL="100584" marR="73152" marT="41148" marB="41148" anchor="ctr">
                    <a:solidFill>
                      <a:srgbClr val="FFFFFF"/>
                    </a:solidFill>
                  </a:tcPr>
                </a:tc>
                <a:tc>
                  <a:txBody>
                    <a:bodyPr/>
                    <a:lstStyle/>
                    <a:p>
                      <a:pPr algn="l">
                        <a:lnSpc>
                          <a:spcPct val="105000"/>
                        </a:lnSpc>
                      </a:pPr>
                      <a:r>
                        <a:rPr sz="980" b="0">
                          <a:solidFill>
                            <a:srgbClr val="2B3440"/>
                          </a:solidFill>
                          <a:latin typeface="Calibri"/>
                        </a:rPr>
                        <a:t>Service Engineer / Hospital-End User</a:t>
                      </a:r>
                    </a:p>
                  </a:txBody>
                  <a:tcPr marL="100584" marR="73152" marT="41148" marB="41148" anchor="ctr">
                    <a:solidFill>
                      <a:srgbClr val="FFFFFF"/>
                    </a:solidFill>
                  </a:tcPr>
                </a:tc>
                <a:tc>
                  <a:txBody>
                    <a:bodyPr/>
                    <a:lstStyle/>
                    <a:p>
                      <a:pPr algn="l">
                        <a:lnSpc>
                          <a:spcPct val="105000"/>
                        </a:lnSpc>
                      </a:pPr>
                      <a:r>
                        <a:rPr sz="980" b="1">
                          <a:solidFill>
                            <a:srgbClr val="006B5C"/>
                          </a:solidFill>
                          <a:latin typeface="Calibri"/>
                        </a:rPr>
                        <a:t>VA</a:t>
                      </a:r>
                    </a:p>
                  </a:txBody>
                  <a:tcPr marL="100584" marR="73152" marT="41148" marB="41148" anchor="ctr">
                    <a:solidFill>
                      <a:srgbClr val="E7F7F3"/>
                    </a:solidFill>
                  </a:tcPr>
                </a:tc>
                <a:extLst>
                  <a:ext uri="{0D108BD9-81ED-4DB2-BD59-A6C34878D82A}">
                    <a16:rowId xmlns:a16="http://schemas.microsoft.com/office/drawing/2014/main" val="10003"/>
                  </a:ext>
                </a:extLst>
              </a:tr>
              <a:tr h="329184">
                <a:tc>
                  <a:txBody>
                    <a:bodyPr/>
                    <a:lstStyle/>
                    <a:p>
                      <a:pPr algn="ctr">
                        <a:lnSpc>
                          <a:spcPct val="105000"/>
                        </a:lnSpc>
                      </a:pPr>
                      <a:r>
                        <a:rPr sz="980" b="0">
                          <a:solidFill>
                            <a:srgbClr val="2B3440"/>
                          </a:solidFill>
                          <a:latin typeface="Calibri"/>
                        </a:rPr>
                        <a:t>4</a:t>
                      </a:r>
                    </a:p>
                  </a:txBody>
                  <a:tcPr marL="100584" marR="73152" marT="41148" marB="41148" anchor="ctr">
                    <a:solidFill>
                      <a:srgbClr val="F4F7FA"/>
                    </a:solidFill>
                  </a:tcPr>
                </a:tc>
                <a:tc>
                  <a:txBody>
                    <a:bodyPr/>
                    <a:lstStyle/>
                    <a:p>
                      <a:pPr algn="l">
                        <a:lnSpc>
                          <a:spcPct val="105000"/>
                        </a:lnSpc>
                      </a:pPr>
                      <a:r>
                        <a:rPr sz="980" b="0">
                          <a:solidFill>
                            <a:srgbClr val="2B3440"/>
                          </a:solidFill>
                          <a:latin typeface="Calibri"/>
                        </a:rPr>
                        <a:t>Kiểm tra và đánh giá thiết bị tại hiện trường</a:t>
                      </a:r>
                    </a:p>
                  </a:txBody>
                  <a:tcPr marL="100584" marR="73152" marT="41148" marB="41148" anchor="ctr">
                    <a:solidFill>
                      <a:srgbClr val="F4F7FA"/>
                    </a:solidFill>
                  </a:tcPr>
                </a:tc>
                <a:tc>
                  <a:txBody>
                    <a:bodyPr/>
                    <a:lstStyle/>
                    <a:p>
                      <a:pPr algn="l">
                        <a:lnSpc>
                          <a:spcPct val="105000"/>
                        </a:lnSpc>
                      </a:pPr>
                      <a:r>
                        <a:rPr sz="980" b="0">
                          <a:solidFill>
                            <a:srgbClr val="2B3440"/>
                          </a:solidFill>
                          <a:latin typeface="Calibri"/>
                        </a:rPr>
                        <a:t>Service Engineer</a:t>
                      </a:r>
                    </a:p>
                  </a:txBody>
                  <a:tcPr marL="100584" marR="73152" marT="41148" marB="41148" anchor="ctr">
                    <a:solidFill>
                      <a:srgbClr val="F4F7FA"/>
                    </a:solidFill>
                  </a:tcPr>
                </a:tc>
                <a:tc>
                  <a:txBody>
                    <a:bodyPr/>
                    <a:lstStyle/>
                    <a:p>
                      <a:pPr algn="l">
                        <a:lnSpc>
                          <a:spcPct val="105000"/>
                        </a:lnSpc>
                      </a:pPr>
                      <a:r>
                        <a:rPr sz="980" b="1">
                          <a:solidFill>
                            <a:srgbClr val="006B5C"/>
                          </a:solidFill>
                          <a:latin typeface="Calibri"/>
                        </a:rPr>
                        <a:t>VA</a:t>
                      </a:r>
                    </a:p>
                  </a:txBody>
                  <a:tcPr marL="100584" marR="73152" marT="41148" marB="41148" anchor="ctr">
                    <a:solidFill>
                      <a:srgbClr val="E7F7F3"/>
                    </a:solidFill>
                  </a:tcPr>
                </a:tc>
                <a:extLst>
                  <a:ext uri="{0D108BD9-81ED-4DB2-BD59-A6C34878D82A}">
                    <a16:rowId xmlns:a16="http://schemas.microsoft.com/office/drawing/2014/main" val="10004"/>
                  </a:ext>
                </a:extLst>
              </a:tr>
              <a:tr h="329184">
                <a:tc>
                  <a:txBody>
                    <a:bodyPr/>
                    <a:lstStyle/>
                    <a:p>
                      <a:pPr algn="ctr">
                        <a:lnSpc>
                          <a:spcPct val="105000"/>
                        </a:lnSpc>
                      </a:pPr>
                      <a:r>
                        <a:rPr sz="980" b="0">
                          <a:solidFill>
                            <a:srgbClr val="2B3440"/>
                          </a:solidFill>
                          <a:latin typeface="Calibri"/>
                        </a:rPr>
                        <a:t>5</a:t>
                      </a:r>
                    </a:p>
                  </a:txBody>
                  <a:tcPr marL="100584" marR="73152" marT="41148" marB="41148" anchor="ctr">
                    <a:solidFill>
                      <a:srgbClr val="FFFFFF"/>
                    </a:solidFill>
                  </a:tcPr>
                </a:tc>
                <a:tc>
                  <a:txBody>
                    <a:bodyPr/>
                    <a:lstStyle/>
                    <a:p>
                      <a:pPr algn="l">
                        <a:lnSpc>
                          <a:spcPct val="105000"/>
                        </a:lnSpc>
                      </a:pPr>
                      <a:r>
                        <a:rPr sz="980" b="0">
                          <a:solidFill>
                            <a:srgbClr val="2B3440"/>
                          </a:solidFill>
                          <a:latin typeface="Calibri"/>
                        </a:rPr>
                        <a:t>Xác định phạm vi và điều kiện dịch vụ</a:t>
                      </a:r>
                    </a:p>
                  </a:txBody>
                  <a:tcPr marL="100584" marR="73152" marT="41148" marB="41148" anchor="ctr">
                    <a:solidFill>
                      <a:srgbClr val="FFFFFF"/>
                    </a:solidFill>
                  </a:tcPr>
                </a:tc>
                <a:tc>
                  <a:txBody>
                    <a:bodyPr/>
                    <a:lstStyle/>
                    <a:p>
                      <a:pPr algn="l">
                        <a:lnSpc>
                          <a:spcPct val="105000"/>
                        </a:lnSpc>
                      </a:pPr>
                      <a:r>
                        <a:rPr sz="980" b="0">
                          <a:solidFill>
                            <a:srgbClr val="2B3440"/>
                          </a:solidFill>
                          <a:latin typeface="Calibri"/>
                        </a:rPr>
                        <a:t>Service Admin</a:t>
                      </a:r>
                    </a:p>
                  </a:txBody>
                  <a:tcPr marL="100584" marR="73152" marT="41148" marB="41148" anchor="ctr">
                    <a:solidFill>
                      <a:srgbClr val="FFFFFF"/>
                    </a:solidFill>
                  </a:tcPr>
                </a:tc>
                <a:tc>
                  <a:txBody>
                    <a:bodyPr/>
                    <a:lstStyle/>
                    <a:p>
                      <a:pPr algn="l">
                        <a:lnSpc>
                          <a:spcPct val="105000"/>
                        </a:lnSpc>
                      </a:pPr>
                      <a:r>
                        <a:rPr sz="980" b="1">
                          <a:solidFill>
                            <a:srgbClr val="B54A08"/>
                          </a:solidFill>
                          <a:latin typeface="Calibri"/>
                        </a:rPr>
                        <a:t>BVA</a:t>
                      </a:r>
                    </a:p>
                  </a:txBody>
                  <a:tcPr marL="100584" marR="73152" marT="41148" marB="41148" anchor="ctr">
                    <a:solidFill>
                      <a:srgbClr val="FFF6E8"/>
                    </a:solidFill>
                  </a:tcPr>
                </a:tc>
                <a:extLst>
                  <a:ext uri="{0D108BD9-81ED-4DB2-BD59-A6C34878D82A}">
                    <a16:rowId xmlns:a16="http://schemas.microsoft.com/office/drawing/2014/main" val="10005"/>
                  </a:ext>
                </a:extLst>
              </a:tr>
              <a:tr h="329184">
                <a:tc>
                  <a:txBody>
                    <a:bodyPr/>
                    <a:lstStyle/>
                    <a:p>
                      <a:pPr algn="ctr">
                        <a:lnSpc>
                          <a:spcPct val="105000"/>
                        </a:lnSpc>
                      </a:pPr>
                      <a:r>
                        <a:rPr sz="980" b="0">
                          <a:solidFill>
                            <a:srgbClr val="2B3440"/>
                          </a:solidFill>
                          <a:latin typeface="Calibri"/>
                        </a:rPr>
                        <a:t>6</a:t>
                      </a:r>
                    </a:p>
                  </a:txBody>
                  <a:tcPr marL="100584" marR="73152" marT="41148" marB="41148" anchor="ctr">
                    <a:solidFill>
                      <a:srgbClr val="F4F7FA"/>
                    </a:solidFill>
                  </a:tcPr>
                </a:tc>
                <a:tc>
                  <a:txBody>
                    <a:bodyPr/>
                    <a:lstStyle/>
                    <a:p>
                      <a:pPr algn="l">
                        <a:lnSpc>
                          <a:spcPct val="105000"/>
                        </a:lnSpc>
                      </a:pPr>
                      <a:r>
                        <a:rPr sz="980" b="0">
                          <a:solidFill>
                            <a:srgbClr val="2B3440"/>
                          </a:solidFill>
                          <a:latin typeface="Calibri"/>
                        </a:rPr>
                        <a:t>Lập và xác nhận báo giá dịch vụ</a:t>
                      </a:r>
                    </a:p>
                  </a:txBody>
                  <a:tcPr marL="100584" marR="73152" marT="41148" marB="41148" anchor="ctr">
                    <a:solidFill>
                      <a:srgbClr val="F4F7FA"/>
                    </a:solidFill>
                  </a:tcPr>
                </a:tc>
                <a:tc>
                  <a:txBody>
                    <a:bodyPr/>
                    <a:lstStyle/>
                    <a:p>
                      <a:pPr algn="l">
                        <a:lnSpc>
                          <a:spcPct val="105000"/>
                        </a:lnSpc>
                      </a:pPr>
                      <a:r>
                        <a:rPr sz="980" b="0">
                          <a:solidFill>
                            <a:srgbClr val="2B3440"/>
                          </a:solidFill>
                          <a:latin typeface="Calibri"/>
                        </a:rPr>
                        <a:t>Service Admin / Distributor</a:t>
                      </a:r>
                    </a:p>
                  </a:txBody>
                  <a:tcPr marL="100584" marR="73152" marT="41148" marB="41148" anchor="ctr">
                    <a:solidFill>
                      <a:srgbClr val="F4F7FA"/>
                    </a:solidFill>
                  </a:tcPr>
                </a:tc>
                <a:tc>
                  <a:txBody>
                    <a:bodyPr/>
                    <a:lstStyle/>
                    <a:p>
                      <a:pPr algn="l">
                        <a:lnSpc>
                          <a:spcPct val="105000"/>
                        </a:lnSpc>
                      </a:pPr>
                      <a:r>
                        <a:rPr sz="980" b="1">
                          <a:solidFill>
                            <a:srgbClr val="B54A08"/>
                          </a:solidFill>
                          <a:latin typeface="Calibri"/>
                        </a:rPr>
                        <a:t>BVA</a:t>
                      </a:r>
                    </a:p>
                  </a:txBody>
                  <a:tcPr marL="100584" marR="73152" marT="41148" marB="41148" anchor="ctr">
                    <a:solidFill>
                      <a:srgbClr val="FFF6E8"/>
                    </a:solidFill>
                  </a:tcPr>
                </a:tc>
                <a:extLst>
                  <a:ext uri="{0D108BD9-81ED-4DB2-BD59-A6C34878D82A}">
                    <a16:rowId xmlns:a16="http://schemas.microsoft.com/office/drawing/2014/main" val="10006"/>
                  </a:ext>
                </a:extLst>
              </a:tr>
              <a:tr h="329184">
                <a:tc>
                  <a:txBody>
                    <a:bodyPr/>
                    <a:lstStyle/>
                    <a:p>
                      <a:pPr algn="ctr">
                        <a:lnSpc>
                          <a:spcPct val="105000"/>
                        </a:lnSpc>
                      </a:pPr>
                      <a:r>
                        <a:rPr sz="980" b="0">
                          <a:solidFill>
                            <a:srgbClr val="2B3440"/>
                          </a:solidFill>
                          <a:latin typeface="Calibri"/>
                        </a:rPr>
                        <a:t>7</a:t>
                      </a:r>
                    </a:p>
                  </a:txBody>
                  <a:tcPr marL="100584" marR="73152" marT="41148" marB="41148" anchor="ctr">
                    <a:solidFill>
                      <a:srgbClr val="FFFFFF"/>
                    </a:solidFill>
                  </a:tcPr>
                </a:tc>
                <a:tc>
                  <a:txBody>
                    <a:bodyPr/>
                    <a:lstStyle/>
                    <a:p>
                      <a:pPr algn="l">
                        <a:lnSpc>
                          <a:spcPct val="105000"/>
                        </a:lnSpc>
                      </a:pPr>
                      <a:r>
                        <a:rPr sz="980" b="0">
                          <a:solidFill>
                            <a:srgbClr val="2B3440"/>
                          </a:solidFill>
                          <a:latin typeface="Calibri"/>
                        </a:rPr>
                        <a:t>Tạo và hoàn thiện Service Order</a:t>
                      </a:r>
                    </a:p>
                  </a:txBody>
                  <a:tcPr marL="100584" marR="73152" marT="41148" marB="41148" anchor="ctr">
                    <a:solidFill>
                      <a:srgbClr val="FFFFFF"/>
                    </a:solidFill>
                  </a:tcPr>
                </a:tc>
                <a:tc>
                  <a:txBody>
                    <a:bodyPr/>
                    <a:lstStyle/>
                    <a:p>
                      <a:pPr algn="l">
                        <a:lnSpc>
                          <a:spcPct val="105000"/>
                        </a:lnSpc>
                      </a:pPr>
                      <a:r>
                        <a:rPr sz="980" b="0">
                          <a:solidFill>
                            <a:srgbClr val="2B3440"/>
                          </a:solidFill>
                          <a:latin typeface="Calibri"/>
                        </a:rPr>
                        <a:t>Service Admin</a:t>
                      </a:r>
                    </a:p>
                  </a:txBody>
                  <a:tcPr marL="100584" marR="73152" marT="41148" marB="41148" anchor="ctr">
                    <a:solidFill>
                      <a:srgbClr val="FFFFFF"/>
                    </a:solidFill>
                  </a:tcPr>
                </a:tc>
                <a:tc>
                  <a:txBody>
                    <a:bodyPr/>
                    <a:lstStyle/>
                    <a:p>
                      <a:pPr algn="l">
                        <a:lnSpc>
                          <a:spcPct val="105000"/>
                        </a:lnSpc>
                      </a:pPr>
                      <a:r>
                        <a:rPr sz="980" b="1">
                          <a:solidFill>
                            <a:srgbClr val="B54A08"/>
                          </a:solidFill>
                          <a:latin typeface="Calibri"/>
                        </a:rPr>
                        <a:t>BVA</a:t>
                      </a:r>
                    </a:p>
                  </a:txBody>
                  <a:tcPr marL="100584" marR="73152" marT="41148" marB="41148" anchor="ctr">
                    <a:solidFill>
                      <a:srgbClr val="FFF6E8"/>
                    </a:solidFill>
                  </a:tcPr>
                </a:tc>
                <a:extLst>
                  <a:ext uri="{0D108BD9-81ED-4DB2-BD59-A6C34878D82A}">
                    <a16:rowId xmlns:a16="http://schemas.microsoft.com/office/drawing/2014/main" val="10007"/>
                  </a:ext>
                </a:extLst>
              </a:tr>
              <a:tr h="329184">
                <a:tc>
                  <a:txBody>
                    <a:bodyPr/>
                    <a:lstStyle/>
                    <a:p>
                      <a:pPr algn="ctr">
                        <a:lnSpc>
                          <a:spcPct val="105000"/>
                        </a:lnSpc>
                      </a:pPr>
                      <a:r>
                        <a:rPr sz="980" b="0">
                          <a:solidFill>
                            <a:srgbClr val="2B3440"/>
                          </a:solidFill>
                          <a:latin typeface="Calibri"/>
                        </a:rPr>
                        <a:t>8</a:t>
                      </a:r>
                    </a:p>
                  </a:txBody>
                  <a:tcPr marL="100584" marR="73152" marT="41148" marB="41148" anchor="ctr">
                    <a:solidFill>
                      <a:srgbClr val="F4F7FA"/>
                    </a:solidFill>
                  </a:tcPr>
                </a:tc>
                <a:tc>
                  <a:txBody>
                    <a:bodyPr/>
                    <a:lstStyle/>
                    <a:p>
                      <a:pPr algn="l">
                        <a:lnSpc>
                          <a:spcPct val="105000"/>
                        </a:lnSpc>
                      </a:pPr>
                      <a:r>
                        <a:rPr sz="980" b="0">
                          <a:solidFill>
                            <a:srgbClr val="2B3440"/>
                          </a:solidFill>
                          <a:latin typeface="Calibri"/>
                        </a:rPr>
                        <a:t>Thực hiện dịch vụ kỹ thuật</a:t>
                      </a:r>
                    </a:p>
                  </a:txBody>
                  <a:tcPr marL="100584" marR="73152" marT="41148" marB="41148" anchor="ctr">
                    <a:solidFill>
                      <a:srgbClr val="F4F7FA"/>
                    </a:solidFill>
                  </a:tcPr>
                </a:tc>
                <a:tc>
                  <a:txBody>
                    <a:bodyPr/>
                    <a:lstStyle/>
                    <a:p>
                      <a:pPr algn="l">
                        <a:lnSpc>
                          <a:spcPct val="105000"/>
                        </a:lnSpc>
                      </a:pPr>
                      <a:r>
                        <a:rPr sz="980" b="0">
                          <a:solidFill>
                            <a:srgbClr val="2B3440"/>
                          </a:solidFill>
                          <a:latin typeface="Calibri"/>
                        </a:rPr>
                        <a:t>Service Engineer</a:t>
                      </a:r>
                    </a:p>
                  </a:txBody>
                  <a:tcPr marL="100584" marR="73152" marT="41148" marB="41148" anchor="ctr">
                    <a:solidFill>
                      <a:srgbClr val="F4F7FA"/>
                    </a:solidFill>
                  </a:tcPr>
                </a:tc>
                <a:tc>
                  <a:txBody>
                    <a:bodyPr/>
                    <a:lstStyle/>
                    <a:p>
                      <a:pPr algn="l">
                        <a:lnSpc>
                          <a:spcPct val="105000"/>
                        </a:lnSpc>
                      </a:pPr>
                      <a:r>
                        <a:rPr sz="980" b="1">
                          <a:solidFill>
                            <a:srgbClr val="006B5C"/>
                          </a:solidFill>
                          <a:latin typeface="Calibri"/>
                        </a:rPr>
                        <a:t>VA</a:t>
                      </a:r>
                    </a:p>
                  </a:txBody>
                  <a:tcPr marL="100584" marR="73152" marT="41148" marB="41148" anchor="ctr">
                    <a:solidFill>
                      <a:srgbClr val="E7F7F3"/>
                    </a:solidFill>
                  </a:tcPr>
                </a:tc>
                <a:extLst>
                  <a:ext uri="{0D108BD9-81ED-4DB2-BD59-A6C34878D82A}">
                    <a16:rowId xmlns:a16="http://schemas.microsoft.com/office/drawing/2014/main" val="10008"/>
                  </a:ext>
                </a:extLst>
              </a:tr>
              <a:tr h="329184">
                <a:tc>
                  <a:txBody>
                    <a:bodyPr/>
                    <a:lstStyle/>
                    <a:p>
                      <a:pPr algn="ctr">
                        <a:lnSpc>
                          <a:spcPct val="105000"/>
                        </a:lnSpc>
                      </a:pPr>
                      <a:r>
                        <a:rPr sz="980" b="0">
                          <a:solidFill>
                            <a:srgbClr val="2B3440"/>
                          </a:solidFill>
                          <a:latin typeface="Calibri"/>
                        </a:rPr>
                        <a:t>9</a:t>
                      </a:r>
                    </a:p>
                  </a:txBody>
                  <a:tcPr marL="100584" marR="73152" marT="41148" marB="41148" anchor="ctr">
                    <a:solidFill>
                      <a:srgbClr val="FFFFFF"/>
                    </a:solidFill>
                  </a:tcPr>
                </a:tc>
                <a:tc>
                  <a:txBody>
                    <a:bodyPr/>
                    <a:lstStyle/>
                    <a:p>
                      <a:pPr algn="l">
                        <a:lnSpc>
                          <a:spcPct val="105000"/>
                        </a:lnSpc>
                      </a:pPr>
                      <a:r>
                        <a:rPr sz="980" b="0">
                          <a:solidFill>
                            <a:srgbClr val="2B3440"/>
                          </a:solidFill>
                          <a:latin typeface="Calibri"/>
                        </a:rPr>
                        <a:t>Lập Service Report và xác nhận kết quả dịch vụ</a:t>
                      </a:r>
                    </a:p>
                  </a:txBody>
                  <a:tcPr marL="100584" marR="73152" marT="41148" marB="41148" anchor="ctr">
                    <a:solidFill>
                      <a:srgbClr val="FFFFFF"/>
                    </a:solidFill>
                  </a:tcPr>
                </a:tc>
                <a:tc>
                  <a:txBody>
                    <a:bodyPr/>
                    <a:lstStyle/>
                    <a:p>
                      <a:pPr algn="l">
                        <a:lnSpc>
                          <a:spcPct val="105000"/>
                        </a:lnSpc>
                      </a:pPr>
                      <a:r>
                        <a:rPr sz="980" b="0">
                          <a:solidFill>
                            <a:srgbClr val="2B3440"/>
                          </a:solidFill>
                          <a:latin typeface="Calibri"/>
                        </a:rPr>
                        <a:t>Service Engineer / Hospital-End User</a:t>
                      </a:r>
                    </a:p>
                  </a:txBody>
                  <a:tcPr marL="100584" marR="73152" marT="41148" marB="41148" anchor="ctr">
                    <a:solidFill>
                      <a:srgbClr val="FFFFFF"/>
                    </a:solidFill>
                  </a:tcPr>
                </a:tc>
                <a:tc>
                  <a:txBody>
                    <a:bodyPr/>
                    <a:lstStyle/>
                    <a:p>
                      <a:pPr algn="l">
                        <a:lnSpc>
                          <a:spcPct val="105000"/>
                        </a:lnSpc>
                      </a:pPr>
                      <a:r>
                        <a:rPr sz="980" b="1">
                          <a:solidFill>
                            <a:srgbClr val="B54A08"/>
                          </a:solidFill>
                          <a:latin typeface="Calibri"/>
                        </a:rPr>
                        <a:t>BVA</a:t>
                      </a:r>
                    </a:p>
                  </a:txBody>
                  <a:tcPr marL="100584" marR="73152" marT="41148" marB="41148" anchor="ctr">
                    <a:solidFill>
                      <a:srgbClr val="FFF6E8"/>
                    </a:solidFill>
                  </a:tcPr>
                </a:tc>
                <a:extLst>
                  <a:ext uri="{0D108BD9-81ED-4DB2-BD59-A6C34878D82A}">
                    <a16:rowId xmlns:a16="http://schemas.microsoft.com/office/drawing/2014/main" val="10009"/>
                  </a:ext>
                </a:extLst>
              </a:tr>
              <a:tr h="329184">
                <a:tc>
                  <a:txBody>
                    <a:bodyPr/>
                    <a:lstStyle/>
                    <a:p>
                      <a:pPr algn="ctr">
                        <a:lnSpc>
                          <a:spcPct val="105000"/>
                        </a:lnSpc>
                      </a:pPr>
                      <a:r>
                        <a:rPr sz="980" b="0">
                          <a:solidFill>
                            <a:srgbClr val="2B3440"/>
                          </a:solidFill>
                          <a:latin typeface="Calibri"/>
                        </a:rPr>
                        <a:t>10</a:t>
                      </a:r>
                    </a:p>
                  </a:txBody>
                  <a:tcPr marL="100584" marR="73152" marT="41148" marB="41148" anchor="ctr">
                    <a:solidFill>
                      <a:srgbClr val="F4F7FA"/>
                    </a:solidFill>
                  </a:tcPr>
                </a:tc>
                <a:tc>
                  <a:txBody>
                    <a:bodyPr/>
                    <a:lstStyle/>
                    <a:p>
                      <a:pPr algn="l">
                        <a:lnSpc>
                          <a:spcPct val="105000"/>
                        </a:lnSpc>
                      </a:pPr>
                      <a:r>
                        <a:rPr sz="980" b="0">
                          <a:solidFill>
                            <a:srgbClr val="2B3440"/>
                          </a:solidFill>
                          <a:latin typeface="Calibri"/>
                        </a:rPr>
                        <a:t>Hoàn tất Service Order và cập nhật lịch sử dịch vụ</a:t>
                      </a:r>
                    </a:p>
                  </a:txBody>
                  <a:tcPr marL="100584" marR="73152" marT="41148" marB="41148" anchor="ctr">
                    <a:solidFill>
                      <a:srgbClr val="F4F7FA"/>
                    </a:solidFill>
                  </a:tcPr>
                </a:tc>
                <a:tc>
                  <a:txBody>
                    <a:bodyPr/>
                    <a:lstStyle/>
                    <a:p>
                      <a:pPr algn="l">
                        <a:lnSpc>
                          <a:spcPct val="105000"/>
                        </a:lnSpc>
                      </a:pPr>
                      <a:r>
                        <a:rPr sz="980" b="0">
                          <a:solidFill>
                            <a:srgbClr val="2B3440"/>
                          </a:solidFill>
                          <a:latin typeface="Calibri"/>
                        </a:rPr>
                        <a:t>Service Admin</a:t>
                      </a:r>
                    </a:p>
                  </a:txBody>
                  <a:tcPr marL="100584" marR="73152" marT="41148" marB="41148" anchor="ctr">
                    <a:solidFill>
                      <a:srgbClr val="F4F7FA"/>
                    </a:solidFill>
                  </a:tcPr>
                </a:tc>
                <a:tc>
                  <a:txBody>
                    <a:bodyPr/>
                    <a:lstStyle/>
                    <a:p>
                      <a:pPr algn="l">
                        <a:lnSpc>
                          <a:spcPct val="105000"/>
                        </a:lnSpc>
                      </a:pPr>
                      <a:r>
                        <a:rPr sz="980" b="1" dirty="0">
                          <a:solidFill>
                            <a:srgbClr val="B54A08"/>
                          </a:solidFill>
                          <a:latin typeface="Calibri"/>
                        </a:rPr>
                        <a:t>BVA</a:t>
                      </a:r>
                    </a:p>
                  </a:txBody>
                  <a:tcPr marL="100584" marR="73152" marT="41148" marB="41148" anchor="ctr">
                    <a:solidFill>
                      <a:srgbClr val="FFF6E8"/>
                    </a:solidFill>
                  </a:tcPr>
                </a:tc>
                <a:extLst>
                  <a:ext uri="{0D108BD9-81ED-4DB2-BD59-A6C34878D82A}">
                    <a16:rowId xmlns:a16="http://schemas.microsoft.com/office/drawing/2014/main" val="10010"/>
                  </a:ext>
                </a:extLst>
              </a:tr>
            </a:tbl>
          </a:graphicData>
        </a:graphic>
      </p:graphicFrame>
      <p:sp>
        <p:nvSpPr>
          <p:cNvPr id="10" name="TextBox 9"/>
          <p:cNvSpPr txBox="1"/>
          <p:nvPr/>
        </p:nvSpPr>
        <p:spPr>
          <a:xfrm>
            <a:off x="658368" y="5650992"/>
            <a:ext cx="10874959" cy="384048"/>
          </a:xfrm>
          <a:prstGeom prst="rect">
            <a:avLst/>
          </a:prstGeom>
          <a:noFill/>
        </p:spPr>
        <p:txBody>
          <a:bodyPr wrap="square" lIns="0" tIns="0" rIns="0" bIns="0" anchor="t">
            <a:spAutoFit/>
          </a:bodyPr>
          <a:lstStyle/>
          <a:p>
            <a:pPr algn="l">
              <a:lnSpc>
                <a:spcPct val="120000"/>
              </a:lnSpc>
            </a:pPr>
            <a:r>
              <a:rPr sz="1050" b="1" i="0">
                <a:solidFill>
                  <a:srgbClr val="0A2540"/>
                </a:solidFill>
                <a:latin typeface="Calibri"/>
              </a:rPr>
              <a:t>Không có hoạt động NVA thuần túy: các bước BVA đều cần thiết để kiểm soát phạm vi, chi phí và truy vết dịch vụ — cơ hội cải tiến nằm ở cách thực hiện, không phải ở việc loại bỏ hoạt động.</a:t>
            </a:r>
          </a:p>
        </p:txBody>
      </p:sp>
    </p:spTree>
    <p:extLst>
      <p:ext uri="{BB962C8B-B14F-4D97-AF65-F5344CB8AC3E}">
        <p14:creationId xmlns:p14="http://schemas.microsoft.com/office/powerpoint/2010/main" val="13965541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CHƯƠNG 4 · 4.2.2B PHÂN TÍCH SỰ LÃNG PHÍ</a:t>
            </a:r>
          </a:p>
        </p:txBody>
      </p:sp>
      <p:sp>
        <p:nvSpPr>
          <p:cNvPr id="3" name="TextBox 2"/>
          <p:cNvSpPr txBox="1"/>
          <p:nvPr/>
        </p:nvSpPr>
        <p:spPr>
          <a:xfrm>
            <a:off x="658368" y="640080"/>
            <a:ext cx="10874959" cy="603504"/>
          </a:xfrm>
          <a:prstGeom prst="rect">
            <a:avLst/>
          </a:prstGeom>
          <a:noFill/>
        </p:spPr>
        <p:txBody>
          <a:bodyPr wrap="square" lIns="0" tIns="0" rIns="0" bIns="0" anchor="t">
            <a:spAutoFit/>
          </a:bodyPr>
          <a:lstStyle/>
          <a:p>
            <a:pPr algn="l">
              <a:lnSpc>
                <a:spcPct val="105000"/>
              </a:lnSpc>
            </a:pPr>
            <a:r>
              <a:rPr sz="2500" b="1" i="0">
                <a:solidFill>
                  <a:srgbClr val="0A2540"/>
                </a:solidFill>
                <a:latin typeface="Calibri"/>
              </a:rPr>
              <a:t>LÃNG PHÍ MOVE – HOLD – OVERDO</a:t>
            </a: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371600"/>
            <a:ext cx="10874959" cy="274320"/>
          </a:xfrm>
          <a:prstGeom prst="rect">
            <a:avLst/>
          </a:prstGeom>
          <a:noFill/>
        </p:spPr>
        <p:txBody>
          <a:bodyPr wrap="square" lIns="0" tIns="0" rIns="0" bIns="0" anchor="t">
            <a:spAutoFit/>
          </a:bodyPr>
          <a:lstStyle/>
          <a:p>
            <a:pPr algn="l">
              <a:lnSpc>
                <a:spcPct val="118000"/>
              </a:lnSpc>
            </a:pPr>
            <a:r>
              <a:rPr sz="1100" b="0" i="1">
                <a:solidFill>
                  <a:srgbClr val="6B7784"/>
                </a:solidFill>
                <a:latin typeface="Calibri"/>
              </a:rPr>
              <a:t>Bảng 4.2 — 07 điểm phát sinh lãng phí trong quy trình Service Order Management</a:t>
            </a:r>
          </a:p>
        </p:txBody>
      </p:sp>
      <p:sp>
        <p:nvSpPr>
          <p:cNvPr id="7" name="TextBox 6"/>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8" name="TextBox 7"/>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41</a:t>
            </a:r>
          </a:p>
        </p:txBody>
      </p:sp>
      <p:sp>
        <p:nvSpPr>
          <p:cNvPr id="9" name="Rectangle 8"/>
          <p:cNvSpPr/>
          <p:nvPr/>
        </p:nvSpPr>
        <p:spPr>
          <a:xfrm>
            <a:off x="658368" y="1755648"/>
            <a:ext cx="3466490" cy="786384"/>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58368" y="1755648"/>
            <a:ext cx="50292" cy="786384"/>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77824" y="1865376"/>
            <a:ext cx="2194560" cy="274320"/>
          </a:xfrm>
          <a:prstGeom prst="rect">
            <a:avLst/>
          </a:prstGeom>
          <a:noFill/>
        </p:spPr>
        <p:txBody>
          <a:bodyPr wrap="square" lIns="0" tIns="0" rIns="0" bIns="0" anchor="t">
            <a:spAutoFit/>
          </a:bodyPr>
          <a:lstStyle/>
          <a:p>
            <a:pPr algn="l">
              <a:lnSpc>
                <a:spcPct val="100000"/>
              </a:lnSpc>
            </a:pPr>
            <a:r>
              <a:rPr sz="1250" b="1" i="0">
                <a:solidFill>
                  <a:srgbClr val="0096D6"/>
                </a:solidFill>
                <a:latin typeface="Calibri"/>
              </a:rPr>
              <a:t>MOVE   ·   02 điểm</a:t>
            </a:r>
          </a:p>
        </p:txBody>
      </p:sp>
      <p:sp>
        <p:nvSpPr>
          <p:cNvPr id="12" name="TextBox 11"/>
          <p:cNvSpPr txBox="1"/>
          <p:nvPr/>
        </p:nvSpPr>
        <p:spPr>
          <a:xfrm>
            <a:off x="877824" y="2176272"/>
            <a:ext cx="3064154" cy="292608"/>
          </a:xfrm>
          <a:prstGeom prst="rect">
            <a:avLst/>
          </a:prstGeom>
          <a:noFill/>
        </p:spPr>
        <p:txBody>
          <a:bodyPr wrap="square" lIns="0" tIns="0" rIns="0" bIns="0" anchor="t">
            <a:spAutoFit/>
          </a:bodyPr>
          <a:lstStyle/>
          <a:p>
            <a:pPr algn="l">
              <a:lnSpc>
                <a:spcPct val="115000"/>
              </a:lnSpc>
            </a:pPr>
            <a:r>
              <a:rPr sz="950" b="0" i="0">
                <a:solidFill>
                  <a:srgbClr val="2B3440"/>
                </a:solidFill>
                <a:latin typeface="Calibri"/>
              </a:rPr>
              <a:t>Chuyển giao và trao đổi thông tin qua lại giữa các bên</a:t>
            </a:r>
          </a:p>
        </p:txBody>
      </p:sp>
      <p:sp>
        <p:nvSpPr>
          <p:cNvPr id="13" name="Rectangle 12"/>
          <p:cNvSpPr/>
          <p:nvPr/>
        </p:nvSpPr>
        <p:spPr>
          <a:xfrm>
            <a:off x="4362602" y="1755648"/>
            <a:ext cx="3466490" cy="786384"/>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62602" y="1755648"/>
            <a:ext cx="50292" cy="786384"/>
          </a:xfrm>
          <a:prstGeom prst="rect">
            <a:avLst/>
          </a:prstGeom>
          <a:solidFill>
            <a:srgbClr val="B54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82058" y="1865376"/>
            <a:ext cx="2194560" cy="274320"/>
          </a:xfrm>
          <a:prstGeom prst="rect">
            <a:avLst/>
          </a:prstGeom>
          <a:noFill/>
        </p:spPr>
        <p:txBody>
          <a:bodyPr wrap="square" lIns="0" tIns="0" rIns="0" bIns="0" anchor="t">
            <a:spAutoFit/>
          </a:bodyPr>
          <a:lstStyle/>
          <a:p>
            <a:pPr algn="l">
              <a:lnSpc>
                <a:spcPct val="100000"/>
              </a:lnSpc>
            </a:pPr>
            <a:r>
              <a:rPr sz="1250" b="1" i="0">
                <a:solidFill>
                  <a:srgbClr val="B54A08"/>
                </a:solidFill>
                <a:latin typeface="Calibri"/>
              </a:rPr>
              <a:t>HOLD   ·   02 điểm</a:t>
            </a:r>
          </a:p>
        </p:txBody>
      </p:sp>
      <p:sp>
        <p:nvSpPr>
          <p:cNvPr id="16" name="TextBox 15"/>
          <p:cNvSpPr txBox="1"/>
          <p:nvPr/>
        </p:nvSpPr>
        <p:spPr>
          <a:xfrm>
            <a:off x="4582058" y="2176272"/>
            <a:ext cx="3064154" cy="292608"/>
          </a:xfrm>
          <a:prstGeom prst="rect">
            <a:avLst/>
          </a:prstGeom>
          <a:noFill/>
        </p:spPr>
        <p:txBody>
          <a:bodyPr wrap="square" lIns="0" tIns="0" rIns="0" bIns="0" anchor="t">
            <a:spAutoFit/>
          </a:bodyPr>
          <a:lstStyle/>
          <a:p>
            <a:pPr algn="l">
              <a:lnSpc>
                <a:spcPct val="115000"/>
              </a:lnSpc>
            </a:pPr>
            <a:r>
              <a:rPr sz="950" b="0" i="0">
                <a:solidFill>
                  <a:srgbClr val="2B3440"/>
                </a:solidFill>
                <a:latin typeface="Calibri"/>
              </a:rPr>
              <a:t>Chờ xác nhận báo giá và chờ xác nhận khi phạm vi thay đổi</a:t>
            </a:r>
          </a:p>
        </p:txBody>
      </p:sp>
      <p:sp>
        <p:nvSpPr>
          <p:cNvPr id="17" name="Rectangle 16"/>
          <p:cNvSpPr/>
          <p:nvPr/>
        </p:nvSpPr>
        <p:spPr>
          <a:xfrm>
            <a:off x="8066836" y="1755648"/>
            <a:ext cx="3466490" cy="786384"/>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66836" y="1755648"/>
            <a:ext cx="50292" cy="786384"/>
          </a:xfrm>
          <a:prstGeom prst="rect">
            <a:avLst/>
          </a:prstGeom>
          <a:solidFill>
            <a:srgbClr val="D92D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86292" y="1865376"/>
            <a:ext cx="2194560" cy="274320"/>
          </a:xfrm>
          <a:prstGeom prst="rect">
            <a:avLst/>
          </a:prstGeom>
          <a:noFill/>
        </p:spPr>
        <p:txBody>
          <a:bodyPr wrap="square" lIns="0" tIns="0" rIns="0" bIns="0" anchor="t">
            <a:spAutoFit/>
          </a:bodyPr>
          <a:lstStyle/>
          <a:p>
            <a:pPr algn="l">
              <a:lnSpc>
                <a:spcPct val="100000"/>
              </a:lnSpc>
            </a:pPr>
            <a:r>
              <a:rPr sz="1250" b="1" i="0">
                <a:solidFill>
                  <a:srgbClr val="D92D20"/>
                </a:solidFill>
                <a:latin typeface="Calibri"/>
              </a:rPr>
              <a:t>OVERDO   ·   03 điểm</a:t>
            </a:r>
          </a:p>
        </p:txBody>
      </p:sp>
      <p:sp>
        <p:nvSpPr>
          <p:cNvPr id="20" name="TextBox 19"/>
          <p:cNvSpPr txBox="1"/>
          <p:nvPr/>
        </p:nvSpPr>
        <p:spPr>
          <a:xfrm>
            <a:off x="8286292" y="2176272"/>
            <a:ext cx="3064154" cy="292608"/>
          </a:xfrm>
          <a:prstGeom prst="rect">
            <a:avLst/>
          </a:prstGeom>
          <a:noFill/>
        </p:spPr>
        <p:txBody>
          <a:bodyPr wrap="square" lIns="0" tIns="0" rIns="0" bIns="0" anchor="t">
            <a:spAutoFit/>
          </a:bodyPr>
          <a:lstStyle/>
          <a:p>
            <a:pPr algn="l">
              <a:lnSpc>
                <a:spcPct val="115000"/>
              </a:lnSpc>
            </a:pPr>
            <a:r>
              <a:rPr sz="950" b="0" i="0">
                <a:solidFill>
                  <a:srgbClr val="2B3440"/>
                </a:solidFill>
                <a:latin typeface="Calibri"/>
              </a:rPr>
              <a:t>Bổ sung, xác minh lại và nhập liệu lặp tại nhiều hồ sơ</a:t>
            </a:r>
          </a:p>
        </p:txBody>
      </p:sp>
      <p:graphicFrame>
        <p:nvGraphicFramePr>
          <p:cNvPr id="21" name="Table 20"/>
          <p:cNvGraphicFramePr>
            <a:graphicFrameLocks noGrp="1"/>
          </p:cNvGraphicFramePr>
          <p:nvPr/>
        </p:nvGraphicFramePr>
        <p:xfrm>
          <a:off x="658368" y="2688336"/>
          <a:ext cx="10874959" cy="3328416"/>
        </p:xfrm>
        <a:graphic>
          <a:graphicData uri="http://schemas.openxmlformats.org/drawingml/2006/table">
            <a:tbl>
              <a:tblPr firstRow="1">
                <a:tableStyleId>{5C22544A-7EE6-4342-B048-85BDC9FD1C3A}</a:tableStyleId>
              </a:tblPr>
              <a:tblGrid>
                <a:gridCol w="603504">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1133856">
                  <a:extLst>
                    <a:ext uri="{9D8B030D-6E8A-4147-A177-3AD203B41FA5}">
                      <a16:colId xmlns:a16="http://schemas.microsoft.com/office/drawing/2014/main" val="20002"/>
                    </a:ext>
                  </a:extLst>
                </a:gridCol>
                <a:gridCol w="5754319">
                  <a:extLst>
                    <a:ext uri="{9D8B030D-6E8A-4147-A177-3AD203B41FA5}">
                      <a16:colId xmlns:a16="http://schemas.microsoft.com/office/drawing/2014/main" val="20003"/>
                    </a:ext>
                  </a:extLst>
                </a:gridCol>
              </a:tblGrid>
              <a:tr h="384048">
                <a:tc>
                  <a:txBody>
                    <a:bodyPr/>
                    <a:lstStyle/>
                    <a:p>
                      <a:pPr algn="ctr">
                        <a:lnSpc>
                          <a:spcPct val="105000"/>
                        </a:lnSpc>
                      </a:pPr>
                      <a:r>
                        <a:rPr sz="1000" b="1">
                          <a:solidFill>
                            <a:srgbClr val="FFFFFF"/>
                          </a:solidFill>
                          <a:latin typeface="Calibri"/>
                        </a:rPr>
                        <a:t>STT</a:t>
                      </a:r>
                    </a:p>
                  </a:txBody>
                  <a:tcPr marL="100584" marR="73152" marT="41148" marB="41148" anchor="ctr">
                    <a:solidFill>
                      <a:srgbClr val="0A2540"/>
                    </a:solidFill>
                  </a:tcPr>
                </a:tc>
                <a:tc>
                  <a:txBody>
                    <a:bodyPr/>
                    <a:lstStyle/>
                    <a:p>
                      <a:pPr algn="ctr">
                        <a:lnSpc>
                          <a:spcPct val="105000"/>
                        </a:lnSpc>
                      </a:pPr>
                      <a:r>
                        <a:rPr sz="1000" b="1">
                          <a:solidFill>
                            <a:srgbClr val="FFFFFF"/>
                          </a:solidFill>
                          <a:latin typeface="Calibri"/>
                        </a:rPr>
                        <a:t>VỊ TRÍ PHÁT SINH</a:t>
                      </a:r>
                    </a:p>
                  </a:txBody>
                  <a:tcPr marL="100584" marR="73152" marT="41148" marB="41148" anchor="ctr">
                    <a:solidFill>
                      <a:srgbClr val="0A2540"/>
                    </a:solidFill>
                  </a:tcPr>
                </a:tc>
                <a:tc>
                  <a:txBody>
                    <a:bodyPr/>
                    <a:lstStyle/>
                    <a:p>
                      <a:pPr algn="ctr">
                        <a:lnSpc>
                          <a:spcPct val="105000"/>
                        </a:lnSpc>
                      </a:pPr>
                      <a:r>
                        <a:rPr sz="1000" b="1">
                          <a:solidFill>
                            <a:srgbClr val="FFFFFF"/>
                          </a:solidFill>
                          <a:latin typeface="Calibri"/>
                        </a:rPr>
                        <a:t>LOẠI</a:t>
                      </a:r>
                    </a:p>
                  </a:txBody>
                  <a:tcPr marL="100584" marR="73152" marT="41148" marB="41148" anchor="ctr">
                    <a:solidFill>
                      <a:srgbClr val="0A2540"/>
                    </a:solidFill>
                  </a:tcPr>
                </a:tc>
                <a:tc>
                  <a:txBody>
                    <a:bodyPr/>
                    <a:lstStyle/>
                    <a:p>
                      <a:pPr algn="ctr">
                        <a:lnSpc>
                          <a:spcPct val="105000"/>
                        </a:lnSpc>
                      </a:pPr>
                      <a:r>
                        <a:rPr sz="1000" b="1">
                          <a:solidFill>
                            <a:srgbClr val="FFFFFF"/>
                          </a:solidFill>
                          <a:latin typeface="Calibri"/>
                        </a:rPr>
                        <a:t>MÔ TẢ NGẮN</a:t>
                      </a:r>
                    </a:p>
                  </a:txBody>
                  <a:tcPr marL="100584" marR="73152" marT="41148" marB="41148" anchor="ctr">
                    <a:solidFill>
                      <a:srgbClr val="0A2540"/>
                    </a:solidFill>
                  </a:tcPr>
                </a:tc>
                <a:extLst>
                  <a:ext uri="{0D108BD9-81ED-4DB2-BD59-A6C34878D82A}">
                    <a16:rowId xmlns:a16="http://schemas.microsoft.com/office/drawing/2014/main" val="10000"/>
                  </a:ext>
                </a:extLst>
              </a:tr>
              <a:tr h="420624">
                <a:tc>
                  <a:txBody>
                    <a:bodyPr/>
                    <a:lstStyle/>
                    <a:p>
                      <a:pPr algn="ctr">
                        <a:lnSpc>
                          <a:spcPct val="105000"/>
                        </a:lnSpc>
                      </a:pPr>
                      <a:r>
                        <a:rPr sz="950" b="0">
                          <a:solidFill>
                            <a:srgbClr val="2B3440"/>
                          </a:solidFill>
                          <a:latin typeface="Calibri"/>
                        </a:rPr>
                        <a:t>1</a:t>
                      </a:r>
                    </a:p>
                  </a:txBody>
                  <a:tcPr marL="100584" marR="73152" marT="41148" marB="41148" anchor="ctr">
                    <a:solidFill>
                      <a:srgbClr val="FFFFFF"/>
                    </a:solidFill>
                  </a:tcPr>
                </a:tc>
                <a:tc>
                  <a:txBody>
                    <a:bodyPr/>
                    <a:lstStyle/>
                    <a:p>
                      <a:pPr algn="l">
                        <a:lnSpc>
                          <a:spcPct val="105000"/>
                        </a:lnSpc>
                      </a:pPr>
                      <a:r>
                        <a:rPr sz="950" b="0">
                          <a:solidFill>
                            <a:srgbClr val="2B3440"/>
                          </a:solidFill>
                          <a:latin typeface="Calibri"/>
                        </a:rPr>
                        <a:t>Tiếp nhận và xác minh yêu cầu dịch vụ</a:t>
                      </a:r>
                    </a:p>
                  </a:txBody>
                  <a:tcPr marL="100584" marR="73152" marT="41148" marB="41148" anchor="ctr">
                    <a:solidFill>
                      <a:srgbClr val="FFFFFF"/>
                    </a:solidFill>
                  </a:tcPr>
                </a:tc>
                <a:tc>
                  <a:txBody>
                    <a:bodyPr/>
                    <a:lstStyle/>
                    <a:p>
                      <a:pPr algn="l">
                        <a:lnSpc>
                          <a:spcPct val="105000"/>
                        </a:lnSpc>
                      </a:pPr>
                      <a:r>
                        <a:rPr sz="950" b="1">
                          <a:solidFill>
                            <a:srgbClr val="D92D20"/>
                          </a:solidFill>
                          <a:latin typeface="Calibri"/>
                        </a:rPr>
                        <a:t>Overdo</a:t>
                      </a:r>
                    </a:p>
                  </a:txBody>
                  <a:tcPr marL="100584" marR="73152" marT="41148" marB="41148" anchor="ctr">
                    <a:solidFill>
                      <a:srgbClr val="FEF3F2"/>
                    </a:solidFill>
                  </a:tcPr>
                </a:tc>
                <a:tc>
                  <a:txBody>
                    <a:bodyPr/>
                    <a:lstStyle/>
                    <a:p>
                      <a:pPr algn="l">
                        <a:lnSpc>
                          <a:spcPct val="105000"/>
                        </a:lnSpc>
                      </a:pPr>
                      <a:r>
                        <a:rPr sz="950" b="0">
                          <a:solidFill>
                            <a:srgbClr val="2B3440"/>
                          </a:solidFill>
                          <a:latin typeface="Calibri"/>
                        </a:rPr>
                        <a:t>Thông tin khách hàng, thiết bị, bảo hành chưa đủ → phải liên hệ bổ sung, xác minh lại.</a:t>
                      </a:r>
                    </a:p>
                  </a:txBody>
                  <a:tcPr marL="100584" marR="73152" marT="41148" marB="41148" anchor="ctr">
                    <a:solidFill>
                      <a:srgbClr val="FFFFFF"/>
                    </a:solidFill>
                  </a:tcPr>
                </a:tc>
                <a:extLst>
                  <a:ext uri="{0D108BD9-81ED-4DB2-BD59-A6C34878D82A}">
                    <a16:rowId xmlns:a16="http://schemas.microsoft.com/office/drawing/2014/main" val="10001"/>
                  </a:ext>
                </a:extLst>
              </a:tr>
              <a:tr h="420624">
                <a:tc>
                  <a:txBody>
                    <a:bodyPr/>
                    <a:lstStyle/>
                    <a:p>
                      <a:pPr algn="ctr">
                        <a:lnSpc>
                          <a:spcPct val="105000"/>
                        </a:lnSpc>
                      </a:pPr>
                      <a:r>
                        <a:rPr sz="950" b="0">
                          <a:solidFill>
                            <a:srgbClr val="2B3440"/>
                          </a:solidFill>
                          <a:latin typeface="Calibri"/>
                        </a:rPr>
                        <a:t>2</a:t>
                      </a:r>
                    </a:p>
                  </a:txBody>
                  <a:tcPr marL="100584" marR="73152" marT="41148" marB="41148" anchor="ctr">
                    <a:solidFill>
                      <a:srgbClr val="F4F7FA"/>
                    </a:solidFill>
                  </a:tcPr>
                </a:tc>
                <a:tc>
                  <a:txBody>
                    <a:bodyPr/>
                    <a:lstStyle/>
                    <a:p>
                      <a:pPr algn="l">
                        <a:lnSpc>
                          <a:spcPct val="105000"/>
                        </a:lnSpc>
                      </a:pPr>
                      <a:r>
                        <a:rPr sz="950" b="0">
                          <a:solidFill>
                            <a:srgbClr val="2B3440"/>
                          </a:solidFill>
                          <a:latin typeface="Calibri"/>
                        </a:rPr>
                        <a:t>Chuyển thông tin Service Admin → Service Engineer</a:t>
                      </a:r>
                    </a:p>
                  </a:txBody>
                  <a:tcPr marL="100584" marR="73152" marT="41148" marB="41148" anchor="ctr">
                    <a:solidFill>
                      <a:srgbClr val="F4F7FA"/>
                    </a:solidFill>
                  </a:tcPr>
                </a:tc>
                <a:tc>
                  <a:txBody>
                    <a:bodyPr/>
                    <a:lstStyle/>
                    <a:p>
                      <a:pPr algn="l">
                        <a:lnSpc>
                          <a:spcPct val="105000"/>
                        </a:lnSpc>
                      </a:pPr>
                      <a:r>
                        <a:rPr sz="950" b="1">
                          <a:solidFill>
                            <a:srgbClr val="0096D6"/>
                          </a:solidFill>
                          <a:latin typeface="Calibri"/>
                        </a:rPr>
                        <a:t>Move</a:t>
                      </a:r>
                    </a:p>
                  </a:txBody>
                  <a:tcPr marL="100584" marR="73152" marT="41148" marB="41148" anchor="ctr">
                    <a:solidFill>
                      <a:srgbClr val="E9F3FA"/>
                    </a:solidFill>
                  </a:tcPr>
                </a:tc>
                <a:tc>
                  <a:txBody>
                    <a:bodyPr/>
                    <a:lstStyle/>
                    <a:p>
                      <a:pPr algn="l">
                        <a:lnSpc>
                          <a:spcPct val="105000"/>
                        </a:lnSpc>
                      </a:pPr>
                      <a:r>
                        <a:rPr sz="950" b="0">
                          <a:solidFill>
                            <a:srgbClr val="2B3440"/>
                          </a:solidFill>
                          <a:latin typeface="Calibri"/>
                        </a:rPr>
                        <a:t>Thông tin phân tán, phát sinh trao đổi qua lại để làm rõ yêu cầu.</a:t>
                      </a:r>
                    </a:p>
                  </a:txBody>
                  <a:tcPr marL="100584" marR="73152" marT="41148" marB="41148" anchor="ctr">
                    <a:solidFill>
                      <a:srgbClr val="F4F7FA"/>
                    </a:solidFill>
                  </a:tcPr>
                </a:tc>
                <a:extLst>
                  <a:ext uri="{0D108BD9-81ED-4DB2-BD59-A6C34878D82A}">
                    <a16:rowId xmlns:a16="http://schemas.microsoft.com/office/drawing/2014/main" val="10002"/>
                  </a:ext>
                </a:extLst>
              </a:tr>
              <a:tr h="420624">
                <a:tc>
                  <a:txBody>
                    <a:bodyPr/>
                    <a:lstStyle/>
                    <a:p>
                      <a:pPr algn="ctr">
                        <a:lnSpc>
                          <a:spcPct val="105000"/>
                        </a:lnSpc>
                      </a:pPr>
                      <a:r>
                        <a:rPr sz="950" b="0">
                          <a:solidFill>
                            <a:srgbClr val="2B3440"/>
                          </a:solidFill>
                          <a:latin typeface="Calibri"/>
                        </a:rPr>
                        <a:t>3</a:t>
                      </a:r>
                    </a:p>
                  </a:txBody>
                  <a:tcPr marL="100584" marR="73152" marT="41148" marB="41148" anchor="ctr">
                    <a:solidFill>
                      <a:srgbClr val="FFFFFF"/>
                    </a:solidFill>
                  </a:tcPr>
                </a:tc>
                <a:tc>
                  <a:txBody>
                    <a:bodyPr/>
                    <a:lstStyle/>
                    <a:p>
                      <a:pPr algn="l">
                        <a:lnSpc>
                          <a:spcPct val="105000"/>
                        </a:lnSpc>
                      </a:pPr>
                      <a:r>
                        <a:rPr sz="950" b="0">
                          <a:solidFill>
                            <a:srgbClr val="2B3440"/>
                          </a:solidFill>
                          <a:latin typeface="Calibri"/>
                        </a:rPr>
                        <a:t>Hỗ trợ kỹ thuật từ xa với Hospital / End-user</a:t>
                      </a:r>
                    </a:p>
                  </a:txBody>
                  <a:tcPr marL="100584" marR="73152" marT="41148" marB="41148" anchor="ctr">
                    <a:solidFill>
                      <a:srgbClr val="FFFFFF"/>
                    </a:solidFill>
                  </a:tcPr>
                </a:tc>
                <a:tc>
                  <a:txBody>
                    <a:bodyPr/>
                    <a:lstStyle/>
                    <a:p>
                      <a:pPr algn="l">
                        <a:lnSpc>
                          <a:spcPct val="105000"/>
                        </a:lnSpc>
                      </a:pPr>
                      <a:r>
                        <a:rPr sz="950" b="1">
                          <a:solidFill>
                            <a:srgbClr val="0096D6"/>
                          </a:solidFill>
                          <a:latin typeface="Calibri"/>
                        </a:rPr>
                        <a:t>Move</a:t>
                      </a:r>
                    </a:p>
                  </a:txBody>
                  <a:tcPr marL="100584" marR="73152" marT="41148" marB="41148" anchor="ctr">
                    <a:solidFill>
                      <a:srgbClr val="E9F3FA"/>
                    </a:solidFill>
                  </a:tcPr>
                </a:tc>
                <a:tc>
                  <a:txBody>
                    <a:bodyPr/>
                    <a:lstStyle/>
                    <a:p>
                      <a:pPr algn="l">
                        <a:lnSpc>
                          <a:spcPct val="105000"/>
                        </a:lnSpc>
                      </a:pPr>
                      <a:r>
                        <a:rPr sz="950" b="0">
                          <a:solidFill>
                            <a:srgbClr val="2B3440"/>
                          </a:solidFill>
                          <a:latin typeface="Calibri"/>
                        </a:rPr>
                        <a:t>Trao đổi nhiều lượt để thu thập tình trạng thiết bị và xác nhận kết quả.</a:t>
                      </a:r>
                    </a:p>
                  </a:txBody>
                  <a:tcPr marL="100584" marR="73152" marT="41148" marB="41148" anchor="ctr">
                    <a:solidFill>
                      <a:srgbClr val="FFFFFF"/>
                    </a:solidFill>
                  </a:tcPr>
                </a:tc>
                <a:extLst>
                  <a:ext uri="{0D108BD9-81ED-4DB2-BD59-A6C34878D82A}">
                    <a16:rowId xmlns:a16="http://schemas.microsoft.com/office/drawing/2014/main" val="10003"/>
                  </a:ext>
                </a:extLst>
              </a:tr>
              <a:tr h="420624">
                <a:tc>
                  <a:txBody>
                    <a:bodyPr/>
                    <a:lstStyle/>
                    <a:p>
                      <a:pPr algn="ctr">
                        <a:lnSpc>
                          <a:spcPct val="105000"/>
                        </a:lnSpc>
                      </a:pPr>
                      <a:r>
                        <a:rPr sz="950" b="0">
                          <a:solidFill>
                            <a:srgbClr val="2B3440"/>
                          </a:solidFill>
                          <a:latin typeface="Calibri"/>
                        </a:rPr>
                        <a:t>4</a:t>
                      </a:r>
                    </a:p>
                  </a:txBody>
                  <a:tcPr marL="100584" marR="73152" marT="41148" marB="41148" anchor="ctr">
                    <a:solidFill>
                      <a:srgbClr val="F4F7FA"/>
                    </a:solidFill>
                  </a:tcPr>
                </a:tc>
                <a:tc>
                  <a:txBody>
                    <a:bodyPr/>
                    <a:lstStyle/>
                    <a:p>
                      <a:pPr algn="l">
                        <a:lnSpc>
                          <a:spcPct val="105000"/>
                        </a:lnSpc>
                      </a:pPr>
                      <a:r>
                        <a:rPr sz="950" b="0">
                          <a:solidFill>
                            <a:srgbClr val="2B3440"/>
                          </a:solidFill>
                          <a:latin typeface="Calibri"/>
                        </a:rPr>
                        <a:t>Chờ xác nhận báo giá dịch vụ</a:t>
                      </a:r>
                    </a:p>
                  </a:txBody>
                  <a:tcPr marL="100584" marR="73152" marT="41148" marB="41148" anchor="ctr">
                    <a:solidFill>
                      <a:srgbClr val="F4F7FA"/>
                    </a:solidFill>
                  </a:tcPr>
                </a:tc>
                <a:tc>
                  <a:txBody>
                    <a:bodyPr/>
                    <a:lstStyle/>
                    <a:p>
                      <a:pPr algn="l">
                        <a:lnSpc>
                          <a:spcPct val="105000"/>
                        </a:lnSpc>
                      </a:pPr>
                      <a:r>
                        <a:rPr sz="950" b="1">
                          <a:solidFill>
                            <a:srgbClr val="B54A08"/>
                          </a:solidFill>
                          <a:latin typeface="Calibri"/>
                        </a:rPr>
                        <a:t>Hold</a:t>
                      </a:r>
                    </a:p>
                  </a:txBody>
                  <a:tcPr marL="100584" marR="73152" marT="41148" marB="41148" anchor="ctr">
                    <a:solidFill>
                      <a:srgbClr val="FFF6E8"/>
                    </a:solidFill>
                  </a:tcPr>
                </a:tc>
                <a:tc>
                  <a:txBody>
                    <a:bodyPr/>
                    <a:lstStyle/>
                    <a:p>
                      <a:pPr algn="l">
                        <a:lnSpc>
                          <a:spcPct val="105000"/>
                        </a:lnSpc>
                      </a:pPr>
                      <a:r>
                        <a:rPr sz="950" b="0">
                          <a:solidFill>
                            <a:srgbClr val="2B3440"/>
                          </a:solidFill>
                          <a:latin typeface="Calibri"/>
                        </a:rPr>
                        <a:t>Công việc có tính phí phải chờ Distributor làm thủ tục thương mại và phản hồi.</a:t>
                      </a:r>
                    </a:p>
                  </a:txBody>
                  <a:tcPr marL="100584" marR="73152" marT="41148" marB="41148" anchor="ctr">
                    <a:solidFill>
                      <a:srgbClr val="F4F7FA"/>
                    </a:solidFill>
                  </a:tcPr>
                </a:tc>
                <a:extLst>
                  <a:ext uri="{0D108BD9-81ED-4DB2-BD59-A6C34878D82A}">
                    <a16:rowId xmlns:a16="http://schemas.microsoft.com/office/drawing/2014/main" val="10004"/>
                  </a:ext>
                </a:extLst>
              </a:tr>
              <a:tr h="420624">
                <a:tc>
                  <a:txBody>
                    <a:bodyPr/>
                    <a:lstStyle/>
                    <a:p>
                      <a:pPr algn="ctr">
                        <a:lnSpc>
                          <a:spcPct val="105000"/>
                        </a:lnSpc>
                      </a:pPr>
                      <a:r>
                        <a:rPr sz="950" b="0">
                          <a:solidFill>
                            <a:srgbClr val="2B3440"/>
                          </a:solidFill>
                          <a:latin typeface="Calibri"/>
                        </a:rPr>
                        <a:t>5</a:t>
                      </a:r>
                    </a:p>
                  </a:txBody>
                  <a:tcPr marL="100584" marR="73152" marT="41148" marB="41148" anchor="ctr">
                    <a:solidFill>
                      <a:srgbClr val="FFFFFF"/>
                    </a:solidFill>
                  </a:tcPr>
                </a:tc>
                <a:tc>
                  <a:txBody>
                    <a:bodyPr/>
                    <a:lstStyle/>
                    <a:p>
                      <a:pPr algn="l">
                        <a:lnSpc>
                          <a:spcPct val="105000"/>
                        </a:lnSpc>
                      </a:pPr>
                      <a:r>
                        <a:rPr sz="950" b="0">
                          <a:solidFill>
                            <a:srgbClr val="2B3440"/>
                          </a:solidFill>
                          <a:latin typeface="Calibri"/>
                        </a:rPr>
                        <a:t>Phát sinh công việc ngoài phạm vi đã xác định</a:t>
                      </a:r>
                    </a:p>
                  </a:txBody>
                  <a:tcPr marL="100584" marR="73152" marT="41148" marB="41148" anchor="ctr">
                    <a:solidFill>
                      <a:srgbClr val="FFFFFF"/>
                    </a:solidFill>
                  </a:tcPr>
                </a:tc>
                <a:tc>
                  <a:txBody>
                    <a:bodyPr/>
                    <a:lstStyle/>
                    <a:p>
                      <a:pPr algn="l">
                        <a:lnSpc>
                          <a:spcPct val="105000"/>
                        </a:lnSpc>
                      </a:pPr>
                      <a:r>
                        <a:rPr sz="950" b="1">
                          <a:solidFill>
                            <a:srgbClr val="B54A08"/>
                          </a:solidFill>
                          <a:latin typeface="Calibri"/>
                        </a:rPr>
                        <a:t>Hold</a:t>
                      </a:r>
                    </a:p>
                  </a:txBody>
                  <a:tcPr marL="100584" marR="73152" marT="41148" marB="41148" anchor="ctr">
                    <a:solidFill>
                      <a:srgbClr val="FFF6E8"/>
                    </a:solidFill>
                  </a:tcPr>
                </a:tc>
                <a:tc>
                  <a:txBody>
                    <a:bodyPr/>
                    <a:lstStyle/>
                    <a:p>
                      <a:pPr algn="l">
                        <a:lnSpc>
                          <a:spcPct val="105000"/>
                        </a:lnSpc>
                      </a:pPr>
                      <a:r>
                        <a:rPr sz="950" b="0">
                          <a:solidFill>
                            <a:srgbClr val="2B3440"/>
                          </a:solidFill>
                          <a:latin typeface="Calibri"/>
                        </a:rPr>
                        <a:t>Phải tạm dừng để ghi nhận và xác nhận lại phạm vi trước khi tiếp tục.</a:t>
                      </a:r>
                    </a:p>
                  </a:txBody>
                  <a:tcPr marL="100584" marR="73152" marT="41148" marB="41148" anchor="ctr">
                    <a:solidFill>
                      <a:srgbClr val="FFFFFF"/>
                    </a:solidFill>
                  </a:tcPr>
                </a:tc>
                <a:extLst>
                  <a:ext uri="{0D108BD9-81ED-4DB2-BD59-A6C34878D82A}">
                    <a16:rowId xmlns:a16="http://schemas.microsoft.com/office/drawing/2014/main" val="10005"/>
                  </a:ext>
                </a:extLst>
              </a:tr>
              <a:tr h="420624">
                <a:tc>
                  <a:txBody>
                    <a:bodyPr/>
                    <a:lstStyle/>
                    <a:p>
                      <a:pPr algn="ctr">
                        <a:lnSpc>
                          <a:spcPct val="105000"/>
                        </a:lnSpc>
                      </a:pPr>
                      <a:r>
                        <a:rPr sz="950" b="0">
                          <a:solidFill>
                            <a:srgbClr val="2B3440"/>
                          </a:solidFill>
                          <a:latin typeface="Calibri"/>
                        </a:rPr>
                        <a:t>6</a:t>
                      </a:r>
                    </a:p>
                  </a:txBody>
                  <a:tcPr marL="100584" marR="73152" marT="41148" marB="41148" anchor="ctr">
                    <a:solidFill>
                      <a:srgbClr val="F4F7FA"/>
                    </a:solidFill>
                  </a:tcPr>
                </a:tc>
                <a:tc>
                  <a:txBody>
                    <a:bodyPr/>
                    <a:lstStyle/>
                    <a:p>
                      <a:pPr algn="l">
                        <a:lnSpc>
                          <a:spcPct val="105000"/>
                        </a:lnSpc>
                      </a:pPr>
                      <a:r>
                        <a:rPr sz="950" b="0">
                          <a:solidFill>
                            <a:srgbClr val="2B3440"/>
                          </a:solidFill>
                          <a:latin typeface="Calibri"/>
                        </a:rPr>
                        <a:t>Kết quả dịch vụ chưa đạt yêu cầu</a:t>
                      </a:r>
                    </a:p>
                  </a:txBody>
                  <a:tcPr marL="100584" marR="73152" marT="41148" marB="41148" anchor="ctr">
                    <a:solidFill>
                      <a:srgbClr val="F4F7FA"/>
                    </a:solidFill>
                  </a:tcPr>
                </a:tc>
                <a:tc>
                  <a:txBody>
                    <a:bodyPr/>
                    <a:lstStyle/>
                    <a:p>
                      <a:pPr algn="l">
                        <a:lnSpc>
                          <a:spcPct val="105000"/>
                        </a:lnSpc>
                      </a:pPr>
                      <a:r>
                        <a:rPr sz="950" b="1">
                          <a:solidFill>
                            <a:srgbClr val="D92D20"/>
                          </a:solidFill>
                          <a:latin typeface="Calibri"/>
                        </a:rPr>
                        <a:t>Overdo</a:t>
                      </a:r>
                    </a:p>
                  </a:txBody>
                  <a:tcPr marL="100584" marR="73152" marT="41148" marB="41148" anchor="ctr">
                    <a:solidFill>
                      <a:srgbClr val="FEF3F2"/>
                    </a:solidFill>
                  </a:tcPr>
                </a:tc>
                <a:tc>
                  <a:txBody>
                    <a:bodyPr/>
                    <a:lstStyle/>
                    <a:p>
                      <a:pPr algn="l">
                        <a:lnSpc>
                          <a:spcPct val="105000"/>
                        </a:lnSpc>
                      </a:pPr>
                      <a:r>
                        <a:rPr sz="950" b="0">
                          <a:solidFill>
                            <a:srgbClr val="2B3440"/>
                          </a:solidFill>
                          <a:latin typeface="Calibri"/>
                        </a:rPr>
                        <a:t>Quay lại đánh giá hoặc tiếp tục xử lý — phát sinh công việc lặp lại (rework).</a:t>
                      </a:r>
                    </a:p>
                  </a:txBody>
                  <a:tcPr marL="100584" marR="73152" marT="41148" marB="41148" anchor="ctr">
                    <a:solidFill>
                      <a:srgbClr val="F4F7FA"/>
                    </a:solidFill>
                  </a:tcPr>
                </a:tc>
                <a:extLst>
                  <a:ext uri="{0D108BD9-81ED-4DB2-BD59-A6C34878D82A}">
                    <a16:rowId xmlns:a16="http://schemas.microsoft.com/office/drawing/2014/main" val="10006"/>
                  </a:ext>
                </a:extLst>
              </a:tr>
              <a:tr h="420624">
                <a:tc>
                  <a:txBody>
                    <a:bodyPr/>
                    <a:lstStyle/>
                    <a:p>
                      <a:pPr algn="ctr">
                        <a:lnSpc>
                          <a:spcPct val="105000"/>
                        </a:lnSpc>
                      </a:pPr>
                      <a:r>
                        <a:rPr sz="950" b="0">
                          <a:solidFill>
                            <a:srgbClr val="2B3440"/>
                          </a:solidFill>
                          <a:latin typeface="Calibri"/>
                        </a:rPr>
                        <a:t>7</a:t>
                      </a:r>
                    </a:p>
                  </a:txBody>
                  <a:tcPr marL="100584" marR="73152" marT="41148" marB="41148" anchor="ctr">
                    <a:solidFill>
                      <a:srgbClr val="FFFFFF"/>
                    </a:solidFill>
                  </a:tcPr>
                </a:tc>
                <a:tc>
                  <a:txBody>
                    <a:bodyPr/>
                    <a:lstStyle/>
                    <a:p>
                      <a:pPr algn="l">
                        <a:lnSpc>
                          <a:spcPct val="105000"/>
                        </a:lnSpc>
                      </a:pPr>
                      <a:r>
                        <a:rPr sz="950" b="0">
                          <a:solidFill>
                            <a:srgbClr val="2B3440"/>
                          </a:solidFill>
                          <a:latin typeface="Calibri"/>
                        </a:rPr>
                        <a:t>Hoàn thiện Service Report, Service Order, lịch sử</a:t>
                      </a:r>
                    </a:p>
                  </a:txBody>
                  <a:tcPr marL="100584" marR="73152" marT="41148" marB="41148" anchor="ctr">
                    <a:solidFill>
                      <a:srgbClr val="FFFFFF"/>
                    </a:solidFill>
                  </a:tcPr>
                </a:tc>
                <a:tc>
                  <a:txBody>
                    <a:bodyPr/>
                    <a:lstStyle/>
                    <a:p>
                      <a:pPr algn="l">
                        <a:lnSpc>
                          <a:spcPct val="105000"/>
                        </a:lnSpc>
                      </a:pPr>
                      <a:r>
                        <a:rPr sz="950" b="1">
                          <a:solidFill>
                            <a:srgbClr val="D92D20"/>
                          </a:solidFill>
                          <a:latin typeface="Calibri"/>
                        </a:rPr>
                        <a:t>Overdo</a:t>
                      </a:r>
                    </a:p>
                  </a:txBody>
                  <a:tcPr marL="100584" marR="73152" marT="41148" marB="41148" anchor="ctr">
                    <a:solidFill>
                      <a:srgbClr val="FEF3F2"/>
                    </a:solidFill>
                  </a:tcPr>
                </a:tc>
                <a:tc>
                  <a:txBody>
                    <a:bodyPr/>
                    <a:lstStyle/>
                    <a:p>
                      <a:pPr algn="l">
                        <a:lnSpc>
                          <a:spcPct val="105000"/>
                        </a:lnSpc>
                      </a:pPr>
                      <a:r>
                        <a:rPr sz="950" b="0" dirty="0" err="1">
                          <a:solidFill>
                            <a:srgbClr val="2B3440"/>
                          </a:solidFill>
                          <a:latin typeface="Calibri"/>
                        </a:rPr>
                        <a:t>Cùng</a:t>
                      </a:r>
                      <a:r>
                        <a:rPr sz="950" b="0" dirty="0">
                          <a:solidFill>
                            <a:srgbClr val="2B3440"/>
                          </a:solidFill>
                          <a:latin typeface="Calibri"/>
                        </a:rPr>
                        <a:t> </a:t>
                      </a:r>
                      <a:r>
                        <a:rPr sz="950" b="0" dirty="0" err="1">
                          <a:solidFill>
                            <a:srgbClr val="2B3440"/>
                          </a:solidFill>
                          <a:latin typeface="Calibri"/>
                        </a:rPr>
                        <a:t>một</a:t>
                      </a:r>
                      <a:r>
                        <a:rPr sz="950" b="0" dirty="0">
                          <a:solidFill>
                            <a:srgbClr val="2B3440"/>
                          </a:solidFill>
                          <a:latin typeface="Calibri"/>
                        </a:rPr>
                        <a:t> </a:t>
                      </a:r>
                      <a:r>
                        <a:rPr sz="950" b="0" dirty="0" err="1">
                          <a:solidFill>
                            <a:srgbClr val="2B3440"/>
                          </a:solidFill>
                          <a:latin typeface="Calibri"/>
                        </a:rPr>
                        <a:t>thông</a:t>
                      </a:r>
                      <a:r>
                        <a:rPr sz="950" b="0" dirty="0">
                          <a:solidFill>
                            <a:srgbClr val="2B3440"/>
                          </a:solidFill>
                          <a:latin typeface="Calibri"/>
                        </a:rPr>
                        <a:t> tin </a:t>
                      </a:r>
                      <a:r>
                        <a:rPr sz="950" b="0" dirty="0" err="1">
                          <a:solidFill>
                            <a:srgbClr val="2B3440"/>
                          </a:solidFill>
                          <a:latin typeface="Calibri"/>
                        </a:rPr>
                        <a:t>phải</a:t>
                      </a:r>
                      <a:r>
                        <a:rPr sz="950" b="0" dirty="0">
                          <a:solidFill>
                            <a:srgbClr val="2B3440"/>
                          </a:solidFill>
                          <a:latin typeface="Calibri"/>
                        </a:rPr>
                        <a:t> </a:t>
                      </a:r>
                      <a:r>
                        <a:rPr sz="950" b="0" dirty="0" err="1">
                          <a:solidFill>
                            <a:srgbClr val="2B3440"/>
                          </a:solidFill>
                          <a:latin typeface="Calibri"/>
                        </a:rPr>
                        <a:t>nhập</a:t>
                      </a:r>
                      <a:r>
                        <a:rPr sz="950" b="0" dirty="0">
                          <a:solidFill>
                            <a:srgbClr val="2B3440"/>
                          </a:solidFill>
                          <a:latin typeface="Calibri"/>
                        </a:rPr>
                        <a:t> </a:t>
                      </a:r>
                      <a:r>
                        <a:rPr sz="950" b="0" dirty="0" err="1">
                          <a:solidFill>
                            <a:srgbClr val="2B3440"/>
                          </a:solidFill>
                          <a:latin typeface="Calibri"/>
                        </a:rPr>
                        <a:t>tại</a:t>
                      </a:r>
                      <a:r>
                        <a:rPr sz="950" b="0" dirty="0">
                          <a:solidFill>
                            <a:srgbClr val="2B3440"/>
                          </a:solidFill>
                          <a:latin typeface="Calibri"/>
                        </a:rPr>
                        <a:t> </a:t>
                      </a:r>
                      <a:r>
                        <a:rPr sz="950" b="0" dirty="0" err="1">
                          <a:solidFill>
                            <a:srgbClr val="2B3440"/>
                          </a:solidFill>
                          <a:latin typeface="Calibri"/>
                        </a:rPr>
                        <a:t>nhiều</a:t>
                      </a:r>
                      <a:r>
                        <a:rPr sz="950" b="0" dirty="0">
                          <a:solidFill>
                            <a:srgbClr val="2B3440"/>
                          </a:solidFill>
                          <a:latin typeface="Calibri"/>
                        </a:rPr>
                        <a:t> </a:t>
                      </a:r>
                      <a:r>
                        <a:rPr sz="950" b="0" dirty="0" err="1">
                          <a:solidFill>
                            <a:srgbClr val="2B3440"/>
                          </a:solidFill>
                          <a:latin typeface="Calibri"/>
                        </a:rPr>
                        <a:t>hồ</a:t>
                      </a:r>
                      <a:r>
                        <a:rPr sz="950" b="0" dirty="0">
                          <a:solidFill>
                            <a:srgbClr val="2B3440"/>
                          </a:solidFill>
                          <a:latin typeface="Calibri"/>
                        </a:rPr>
                        <a:t> </a:t>
                      </a:r>
                      <a:r>
                        <a:rPr sz="950" b="0" dirty="0" err="1">
                          <a:solidFill>
                            <a:srgbClr val="2B3440"/>
                          </a:solidFill>
                          <a:latin typeface="Calibri"/>
                        </a:rPr>
                        <a:t>sơ</a:t>
                      </a:r>
                      <a:r>
                        <a:rPr sz="950" b="0" dirty="0">
                          <a:solidFill>
                            <a:srgbClr val="2B3440"/>
                          </a:solidFill>
                          <a:latin typeface="Calibri"/>
                        </a:rPr>
                        <a:t> → </a:t>
                      </a:r>
                      <a:r>
                        <a:rPr sz="950" b="0" dirty="0" err="1">
                          <a:solidFill>
                            <a:srgbClr val="2B3440"/>
                          </a:solidFill>
                          <a:latin typeface="Calibri"/>
                        </a:rPr>
                        <a:t>nguy</a:t>
                      </a:r>
                      <a:r>
                        <a:rPr sz="950" b="0" dirty="0">
                          <a:solidFill>
                            <a:srgbClr val="2B3440"/>
                          </a:solidFill>
                          <a:latin typeface="Calibri"/>
                        </a:rPr>
                        <a:t> </a:t>
                      </a:r>
                      <a:r>
                        <a:rPr sz="950" b="0" dirty="0" err="1">
                          <a:solidFill>
                            <a:srgbClr val="2B3440"/>
                          </a:solidFill>
                          <a:latin typeface="Calibri"/>
                        </a:rPr>
                        <a:t>cơ</a:t>
                      </a:r>
                      <a:r>
                        <a:rPr sz="950" b="0" dirty="0">
                          <a:solidFill>
                            <a:srgbClr val="2B3440"/>
                          </a:solidFill>
                          <a:latin typeface="Calibri"/>
                        </a:rPr>
                        <a:t> </a:t>
                      </a:r>
                      <a:r>
                        <a:rPr sz="950" b="0" dirty="0" err="1">
                          <a:solidFill>
                            <a:srgbClr val="2B3440"/>
                          </a:solidFill>
                          <a:latin typeface="Calibri"/>
                        </a:rPr>
                        <a:t>nhập</a:t>
                      </a:r>
                      <a:r>
                        <a:rPr sz="950" b="0" dirty="0">
                          <a:solidFill>
                            <a:srgbClr val="2B3440"/>
                          </a:solidFill>
                          <a:latin typeface="Calibri"/>
                        </a:rPr>
                        <a:t> </a:t>
                      </a:r>
                      <a:r>
                        <a:rPr sz="950" b="0" dirty="0" err="1">
                          <a:solidFill>
                            <a:srgbClr val="2B3440"/>
                          </a:solidFill>
                          <a:latin typeface="Calibri"/>
                        </a:rPr>
                        <a:t>liệu</a:t>
                      </a:r>
                      <a:r>
                        <a:rPr sz="950" b="0" dirty="0">
                          <a:solidFill>
                            <a:srgbClr val="2B3440"/>
                          </a:solidFill>
                          <a:latin typeface="Calibri"/>
                        </a:rPr>
                        <a:t> </a:t>
                      </a:r>
                      <a:r>
                        <a:rPr sz="950" b="0" dirty="0" err="1">
                          <a:solidFill>
                            <a:srgbClr val="2B3440"/>
                          </a:solidFill>
                          <a:latin typeface="Calibri"/>
                        </a:rPr>
                        <a:t>lặp</a:t>
                      </a:r>
                      <a:r>
                        <a:rPr sz="950" b="0" dirty="0">
                          <a:solidFill>
                            <a:srgbClr val="2B3440"/>
                          </a:solidFill>
                          <a:latin typeface="Calibri"/>
                        </a:rPr>
                        <a:t>.</a:t>
                      </a:r>
                    </a:p>
                  </a:txBody>
                  <a:tcPr marL="100584" marR="73152" marT="41148" marB="41148" anchor="ctr">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2144683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CHƯƠNG 4 · 4.2.2C PHÂN TÍCH CÁC BÊN LIÊN QUAN</a:t>
            </a:r>
          </a:p>
        </p:txBody>
      </p:sp>
      <p:sp>
        <p:nvSpPr>
          <p:cNvPr id="3" name="TextBox 2"/>
          <p:cNvSpPr txBox="1"/>
          <p:nvPr/>
        </p:nvSpPr>
        <p:spPr>
          <a:xfrm>
            <a:off x="658368" y="640080"/>
            <a:ext cx="10874959" cy="603504"/>
          </a:xfrm>
          <a:prstGeom prst="rect">
            <a:avLst/>
          </a:prstGeom>
          <a:noFill/>
        </p:spPr>
        <p:txBody>
          <a:bodyPr wrap="square" lIns="0" tIns="0" rIns="0" bIns="0" anchor="t">
            <a:spAutoFit/>
          </a:bodyPr>
          <a:lstStyle/>
          <a:p>
            <a:pPr algn="l">
              <a:lnSpc>
                <a:spcPct val="105000"/>
              </a:lnSpc>
            </a:pPr>
            <a:r>
              <a:rPr sz="2500" b="1" i="0">
                <a:solidFill>
                  <a:srgbClr val="0A2540"/>
                </a:solidFill>
                <a:latin typeface="Calibri"/>
              </a:rPr>
              <a:t>PHÂN TÍCH NGUYÊN NHÂN GỐC RỄ</a:t>
            </a: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7" name="TextBox 6"/>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43</a:t>
            </a:r>
          </a:p>
        </p:txBody>
      </p:sp>
      <p:sp>
        <p:nvSpPr>
          <p:cNvPr id="8" name="Rectangle 7"/>
          <p:cNvSpPr/>
          <p:nvPr/>
        </p:nvSpPr>
        <p:spPr>
          <a:xfrm>
            <a:off x="658368" y="1737360"/>
            <a:ext cx="10874959" cy="859536"/>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58368" y="1737360"/>
            <a:ext cx="50292" cy="859536"/>
          </a:xfrm>
          <a:prstGeom prst="rect">
            <a:avLst/>
          </a:prstGeom>
          <a:solidFill>
            <a:srgbClr val="D92D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50976" y="1737360"/>
            <a:ext cx="10280599" cy="859536"/>
          </a:xfrm>
          <a:prstGeom prst="rect">
            <a:avLst/>
          </a:prstGeom>
          <a:noFill/>
        </p:spPr>
        <p:txBody>
          <a:bodyPr wrap="square" lIns="0" tIns="0" rIns="0" bIns="0" anchor="ctr">
            <a:spAutoFit/>
          </a:bodyPr>
          <a:lstStyle/>
          <a:p>
            <a:pPr algn="l">
              <a:lnSpc>
                <a:spcPct val="100000"/>
              </a:lnSpc>
            </a:pPr>
            <a:r>
              <a:rPr sz="1000" b="1" i="0">
                <a:solidFill>
                  <a:srgbClr val="00C2A8"/>
                </a:solidFill>
                <a:latin typeface="Calibri"/>
              </a:rPr>
              <a:t>VẤN ĐỀ TRUNG TÂM</a:t>
            </a:r>
          </a:p>
          <a:p>
            <a:pPr algn="l">
              <a:lnSpc>
                <a:spcPct val="100000"/>
              </a:lnSpc>
              <a:spcBef>
                <a:spcPts val="400"/>
              </a:spcBef>
            </a:pPr>
            <a:r>
              <a:rPr sz="1700" b="1" i="0">
                <a:solidFill>
                  <a:srgbClr val="FFFFFF"/>
                </a:solidFill>
                <a:latin typeface="Calibri"/>
              </a:rPr>
              <a:t>“Thời gian xử lý Service Order có thể bị kéo dài.”</a:t>
            </a:r>
          </a:p>
        </p:txBody>
      </p:sp>
      <p:sp>
        <p:nvSpPr>
          <p:cNvPr id="11" name="Rectangle 10"/>
          <p:cNvSpPr/>
          <p:nvPr/>
        </p:nvSpPr>
        <p:spPr>
          <a:xfrm>
            <a:off x="658368" y="2798064"/>
            <a:ext cx="2554147" cy="2157984"/>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58368" y="2798064"/>
            <a:ext cx="2554147" cy="50292"/>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9536" y="2980944"/>
            <a:ext cx="2170099" cy="443711"/>
          </a:xfrm>
          <a:prstGeom prst="rect">
            <a:avLst/>
          </a:prstGeom>
          <a:noFill/>
        </p:spPr>
        <p:txBody>
          <a:bodyPr wrap="square" lIns="0" tIns="0" rIns="0" bIns="0" anchor="t">
            <a:spAutoFit/>
          </a:bodyPr>
          <a:lstStyle/>
          <a:p>
            <a:pPr algn="l">
              <a:lnSpc>
                <a:spcPct val="100000"/>
              </a:lnSpc>
            </a:pPr>
            <a:r>
              <a:rPr sz="1400" b="1" i="0" dirty="0">
                <a:solidFill>
                  <a:srgbClr val="0096D6"/>
                </a:solidFill>
                <a:latin typeface="Calibri"/>
              </a:rPr>
              <a:t>PEOPLE</a:t>
            </a:r>
          </a:p>
          <a:p>
            <a:pPr algn="l">
              <a:lnSpc>
                <a:spcPct val="100000"/>
              </a:lnSpc>
              <a:spcBef>
                <a:spcPts val="100"/>
              </a:spcBef>
            </a:pPr>
            <a:r>
              <a:rPr sz="1400" b="0" i="1" dirty="0">
                <a:solidFill>
                  <a:srgbClr val="6B7784"/>
                </a:solidFill>
                <a:latin typeface="Calibri"/>
              </a:rPr>
              <a:t>Con </a:t>
            </a:r>
            <a:r>
              <a:rPr sz="1400" b="0" i="1" dirty="0" err="1">
                <a:solidFill>
                  <a:srgbClr val="6B7784"/>
                </a:solidFill>
                <a:latin typeface="Calibri"/>
              </a:rPr>
              <a:t>người</a:t>
            </a:r>
            <a:endParaRPr sz="1400" b="0" i="1" dirty="0">
              <a:solidFill>
                <a:srgbClr val="6B7784"/>
              </a:solidFill>
              <a:latin typeface="Calibri"/>
            </a:endParaRPr>
          </a:p>
        </p:txBody>
      </p:sp>
      <p:sp>
        <p:nvSpPr>
          <p:cNvPr id="14" name="TextBox 13"/>
          <p:cNvSpPr txBox="1"/>
          <p:nvPr/>
        </p:nvSpPr>
        <p:spPr>
          <a:xfrm>
            <a:off x="859536" y="3505078"/>
            <a:ext cx="2170099" cy="1435521"/>
          </a:xfrm>
          <a:prstGeom prst="rect">
            <a:avLst/>
          </a:prstGeom>
          <a:noFill/>
        </p:spPr>
        <p:txBody>
          <a:bodyPr wrap="square" lIns="0" tIns="0" rIns="0" bIns="0" anchor="t">
            <a:spAutoFit/>
          </a:bodyPr>
          <a:lstStyle/>
          <a:p>
            <a:pPr algn="l">
              <a:lnSpc>
                <a:spcPct val="118000"/>
              </a:lnSpc>
              <a:spcAft>
                <a:spcPts val="500"/>
              </a:spcAft>
            </a:pPr>
            <a:r>
              <a:rPr sz="1200" b="0" i="0" dirty="0">
                <a:solidFill>
                  <a:srgbClr val="2B3440"/>
                </a:solidFill>
                <a:latin typeface="Calibri"/>
              </a:rPr>
              <a:t>•  Service Admin </a:t>
            </a:r>
            <a:r>
              <a:rPr sz="1200" b="0" i="0" dirty="0" err="1">
                <a:solidFill>
                  <a:srgbClr val="2B3440"/>
                </a:solidFill>
                <a:latin typeface="Calibri"/>
              </a:rPr>
              <a:t>cần</a:t>
            </a:r>
            <a:r>
              <a:rPr sz="1200" b="0" i="0" dirty="0">
                <a:solidFill>
                  <a:srgbClr val="2B3440"/>
                </a:solidFill>
                <a:latin typeface="Calibri"/>
              </a:rPr>
              <a:t> </a:t>
            </a:r>
            <a:r>
              <a:rPr sz="1200" b="0" i="0" dirty="0" err="1">
                <a:solidFill>
                  <a:srgbClr val="2B3440"/>
                </a:solidFill>
                <a:latin typeface="Calibri"/>
              </a:rPr>
              <a:t>kiến</a:t>
            </a:r>
            <a:r>
              <a:rPr sz="1200" b="0" i="0" dirty="0">
                <a:solidFill>
                  <a:srgbClr val="2B3440"/>
                </a:solidFill>
                <a:latin typeface="Calibri"/>
              </a:rPr>
              <a:t> </a:t>
            </a:r>
            <a:r>
              <a:rPr sz="1200" b="0" i="0" dirty="0" err="1">
                <a:solidFill>
                  <a:srgbClr val="2B3440"/>
                </a:solidFill>
                <a:latin typeface="Calibri"/>
              </a:rPr>
              <a:t>thức</a:t>
            </a:r>
            <a:r>
              <a:rPr sz="1200" b="0" i="0" dirty="0">
                <a:solidFill>
                  <a:srgbClr val="2B3440"/>
                </a:solidFill>
                <a:latin typeface="Calibri"/>
              </a:rPr>
              <a:t> </a:t>
            </a:r>
            <a:r>
              <a:rPr sz="1200" b="0" i="0" dirty="0" err="1">
                <a:solidFill>
                  <a:srgbClr val="2B3440"/>
                </a:solidFill>
                <a:latin typeface="Calibri"/>
              </a:rPr>
              <a:t>kỹ</a:t>
            </a:r>
            <a:r>
              <a:rPr sz="1200" b="0" i="0" dirty="0">
                <a:solidFill>
                  <a:srgbClr val="2B3440"/>
                </a:solidFill>
                <a:latin typeface="Calibri"/>
              </a:rPr>
              <a:t> </a:t>
            </a:r>
            <a:r>
              <a:rPr sz="1200" b="0" i="0" dirty="0" err="1">
                <a:solidFill>
                  <a:srgbClr val="2B3440"/>
                </a:solidFill>
                <a:latin typeface="Calibri"/>
              </a:rPr>
              <a:t>thuật</a:t>
            </a:r>
            <a:r>
              <a:rPr sz="1200" b="0" i="0" dirty="0">
                <a:solidFill>
                  <a:srgbClr val="2B3440"/>
                </a:solidFill>
                <a:latin typeface="Calibri"/>
              </a:rPr>
              <a:t> </a:t>
            </a:r>
            <a:r>
              <a:rPr sz="1200" b="0" i="0" dirty="0" err="1">
                <a:solidFill>
                  <a:srgbClr val="2B3440"/>
                </a:solidFill>
                <a:latin typeface="Calibri"/>
              </a:rPr>
              <a:t>để</a:t>
            </a:r>
            <a:r>
              <a:rPr sz="1200" b="0" i="0" dirty="0">
                <a:solidFill>
                  <a:srgbClr val="2B3440"/>
                </a:solidFill>
                <a:latin typeface="Calibri"/>
              </a:rPr>
              <a:t> </a:t>
            </a:r>
            <a:r>
              <a:rPr sz="1200" b="0" i="0" dirty="0" err="1">
                <a:solidFill>
                  <a:srgbClr val="2B3440"/>
                </a:solidFill>
                <a:latin typeface="Calibri"/>
              </a:rPr>
              <a:t>hiểu</a:t>
            </a:r>
            <a:r>
              <a:rPr sz="1200" b="0" i="0" dirty="0">
                <a:solidFill>
                  <a:srgbClr val="2B3440"/>
                </a:solidFill>
                <a:latin typeface="Calibri"/>
              </a:rPr>
              <a:t> </a:t>
            </a:r>
            <a:r>
              <a:rPr sz="1200" b="0" i="0" dirty="0" err="1">
                <a:solidFill>
                  <a:srgbClr val="2B3440"/>
                </a:solidFill>
                <a:latin typeface="Calibri"/>
              </a:rPr>
              <a:t>đúng</a:t>
            </a:r>
            <a:r>
              <a:rPr sz="1200" b="0" i="0" dirty="0">
                <a:solidFill>
                  <a:srgbClr val="2B3440"/>
                </a:solidFill>
                <a:latin typeface="Calibri"/>
              </a:rPr>
              <a:t> </a:t>
            </a:r>
            <a:r>
              <a:rPr sz="1200" b="0" i="0" dirty="0" err="1">
                <a:solidFill>
                  <a:srgbClr val="2B3440"/>
                </a:solidFill>
                <a:latin typeface="Calibri"/>
              </a:rPr>
              <a:t>yêu</a:t>
            </a:r>
            <a:r>
              <a:rPr sz="1200" b="0" i="0" dirty="0">
                <a:solidFill>
                  <a:srgbClr val="2B3440"/>
                </a:solidFill>
                <a:latin typeface="Calibri"/>
              </a:rPr>
              <a:t> </a:t>
            </a:r>
            <a:r>
              <a:rPr sz="1200" b="0" i="0" dirty="0" err="1">
                <a:solidFill>
                  <a:srgbClr val="2B3440"/>
                </a:solidFill>
                <a:latin typeface="Calibri"/>
              </a:rPr>
              <a:t>cầu</a:t>
            </a:r>
            <a:r>
              <a:rPr sz="1200" b="0" i="0" dirty="0">
                <a:solidFill>
                  <a:srgbClr val="2B3440"/>
                </a:solidFill>
                <a:latin typeface="Calibri"/>
              </a:rPr>
              <a:t>.</a:t>
            </a:r>
          </a:p>
          <a:p>
            <a:pPr algn="l">
              <a:lnSpc>
                <a:spcPct val="118000"/>
              </a:lnSpc>
              <a:spcAft>
                <a:spcPts val="500"/>
              </a:spcAft>
            </a:pPr>
            <a:r>
              <a:rPr sz="1200" b="0" i="0" dirty="0">
                <a:solidFill>
                  <a:srgbClr val="2B3440"/>
                </a:solidFill>
                <a:latin typeface="Calibri"/>
              </a:rPr>
              <a:t>•  </a:t>
            </a:r>
            <a:r>
              <a:rPr sz="1200" b="0" i="0" dirty="0" err="1">
                <a:solidFill>
                  <a:srgbClr val="2B3440"/>
                </a:solidFill>
                <a:latin typeface="Calibri"/>
              </a:rPr>
              <a:t>Phụ</a:t>
            </a:r>
            <a:r>
              <a:rPr sz="1200" b="0" i="0" dirty="0">
                <a:solidFill>
                  <a:srgbClr val="2B3440"/>
                </a:solidFill>
                <a:latin typeface="Calibri"/>
              </a:rPr>
              <a:t> </a:t>
            </a:r>
            <a:r>
              <a:rPr sz="1200" b="0" i="0" dirty="0" err="1">
                <a:solidFill>
                  <a:srgbClr val="2B3440"/>
                </a:solidFill>
                <a:latin typeface="Calibri"/>
              </a:rPr>
              <a:t>thuộc</a:t>
            </a:r>
            <a:r>
              <a:rPr sz="1200" b="0" i="0" dirty="0">
                <a:solidFill>
                  <a:srgbClr val="2B3440"/>
                </a:solidFill>
                <a:latin typeface="Calibri"/>
              </a:rPr>
              <a:t> </a:t>
            </a:r>
            <a:r>
              <a:rPr sz="1200" b="0" i="0" dirty="0" err="1">
                <a:solidFill>
                  <a:srgbClr val="2B3440"/>
                </a:solidFill>
                <a:latin typeface="Calibri"/>
              </a:rPr>
              <a:t>kinh</a:t>
            </a:r>
            <a:r>
              <a:rPr sz="1200" b="0" i="0" dirty="0">
                <a:solidFill>
                  <a:srgbClr val="2B3440"/>
                </a:solidFill>
                <a:latin typeface="Calibri"/>
              </a:rPr>
              <a:t> </a:t>
            </a:r>
            <a:r>
              <a:rPr sz="1200" b="0" i="0" dirty="0" err="1">
                <a:solidFill>
                  <a:srgbClr val="2B3440"/>
                </a:solidFill>
                <a:latin typeface="Calibri"/>
              </a:rPr>
              <a:t>nghiệm</a:t>
            </a:r>
            <a:r>
              <a:rPr sz="1200" b="0" i="0" dirty="0">
                <a:solidFill>
                  <a:srgbClr val="2B3440"/>
                </a:solidFill>
                <a:latin typeface="Calibri"/>
              </a:rPr>
              <a:t> </a:t>
            </a:r>
            <a:r>
              <a:rPr sz="1200" b="0" i="0" dirty="0" err="1">
                <a:solidFill>
                  <a:srgbClr val="2B3440"/>
                </a:solidFill>
                <a:latin typeface="Calibri"/>
              </a:rPr>
              <a:t>của</a:t>
            </a:r>
            <a:r>
              <a:rPr sz="1200" b="0" i="0" dirty="0">
                <a:solidFill>
                  <a:srgbClr val="2B3440"/>
                </a:solidFill>
                <a:latin typeface="Calibri"/>
              </a:rPr>
              <a:t> </a:t>
            </a:r>
            <a:r>
              <a:rPr sz="1200" b="0" i="0" dirty="0" err="1">
                <a:solidFill>
                  <a:srgbClr val="2B3440"/>
                </a:solidFill>
                <a:latin typeface="Calibri"/>
              </a:rPr>
              <a:t>từng</a:t>
            </a:r>
            <a:r>
              <a:rPr sz="1200" b="0" i="0" dirty="0">
                <a:solidFill>
                  <a:srgbClr val="2B3440"/>
                </a:solidFill>
                <a:latin typeface="Calibri"/>
              </a:rPr>
              <a:t> Service Engineer.</a:t>
            </a:r>
          </a:p>
          <a:p>
            <a:pPr algn="l">
              <a:lnSpc>
                <a:spcPct val="118000"/>
              </a:lnSpc>
              <a:spcAft>
                <a:spcPts val="500"/>
              </a:spcAft>
            </a:pPr>
            <a:r>
              <a:rPr sz="1200" b="0" i="0" dirty="0">
                <a:solidFill>
                  <a:srgbClr val="2B3440"/>
                </a:solidFill>
                <a:latin typeface="Calibri"/>
              </a:rPr>
              <a:t>•  </a:t>
            </a:r>
            <a:r>
              <a:rPr sz="1200" b="0" i="0" dirty="0" err="1">
                <a:solidFill>
                  <a:srgbClr val="2B3440"/>
                </a:solidFill>
                <a:latin typeface="Calibri"/>
              </a:rPr>
              <a:t>Phối</a:t>
            </a:r>
            <a:r>
              <a:rPr sz="1200" b="0" i="0" dirty="0">
                <a:solidFill>
                  <a:srgbClr val="2B3440"/>
                </a:solidFill>
                <a:latin typeface="Calibri"/>
              </a:rPr>
              <a:t> </a:t>
            </a:r>
            <a:r>
              <a:rPr sz="1200" b="0" i="0" dirty="0" err="1">
                <a:solidFill>
                  <a:srgbClr val="2B3440"/>
                </a:solidFill>
                <a:latin typeface="Calibri"/>
              </a:rPr>
              <a:t>hợp</a:t>
            </a:r>
            <a:r>
              <a:rPr sz="1200" b="0" i="0" dirty="0">
                <a:solidFill>
                  <a:srgbClr val="2B3440"/>
                </a:solidFill>
                <a:latin typeface="Calibri"/>
              </a:rPr>
              <a:t> </a:t>
            </a:r>
            <a:r>
              <a:rPr sz="1200" b="0" i="0" dirty="0" err="1">
                <a:solidFill>
                  <a:srgbClr val="2B3440"/>
                </a:solidFill>
                <a:latin typeface="Calibri"/>
              </a:rPr>
              <a:t>giữa</a:t>
            </a:r>
            <a:r>
              <a:rPr sz="1200" b="0" i="0" dirty="0">
                <a:solidFill>
                  <a:srgbClr val="2B3440"/>
                </a:solidFill>
                <a:latin typeface="Calibri"/>
              </a:rPr>
              <a:t> </a:t>
            </a:r>
            <a:r>
              <a:rPr sz="1200" b="0" i="0" dirty="0" err="1">
                <a:solidFill>
                  <a:srgbClr val="2B3440"/>
                </a:solidFill>
                <a:latin typeface="Calibri"/>
              </a:rPr>
              <a:t>nhiều</a:t>
            </a:r>
            <a:r>
              <a:rPr sz="1200" b="0" i="0" dirty="0">
                <a:solidFill>
                  <a:srgbClr val="2B3440"/>
                </a:solidFill>
                <a:latin typeface="Calibri"/>
              </a:rPr>
              <a:t> </a:t>
            </a:r>
            <a:r>
              <a:rPr sz="1200" b="0" i="0" dirty="0" err="1">
                <a:solidFill>
                  <a:srgbClr val="2B3440"/>
                </a:solidFill>
                <a:latin typeface="Calibri"/>
              </a:rPr>
              <a:t>bên</a:t>
            </a:r>
            <a:r>
              <a:rPr sz="1200" b="0" i="0" dirty="0">
                <a:solidFill>
                  <a:srgbClr val="2B3440"/>
                </a:solidFill>
                <a:latin typeface="Calibri"/>
              </a:rPr>
              <a:t> </a:t>
            </a:r>
            <a:r>
              <a:rPr sz="1200" b="0" i="0" dirty="0" err="1">
                <a:solidFill>
                  <a:srgbClr val="2B3440"/>
                </a:solidFill>
                <a:latin typeface="Calibri"/>
              </a:rPr>
              <a:t>chưa</a:t>
            </a:r>
            <a:r>
              <a:rPr sz="1200" b="0" i="0" dirty="0">
                <a:solidFill>
                  <a:srgbClr val="2B3440"/>
                </a:solidFill>
                <a:latin typeface="Calibri"/>
              </a:rPr>
              <a:t> </a:t>
            </a:r>
            <a:r>
              <a:rPr sz="1200" b="0" i="0" dirty="0" err="1">
                <a:solidFill>
                  <a:srgbClr val="2B3440"/>
                </a:solidFill>
                <a:latin typeface="Calibri"/>
              </a:rPr>
              <a:t>đồng</a:t>
            </a:r>
            <a:r>
              <a:rPr sz="1200" b="0" i="0" dirty="0">
                <a:solidFill>
                  <a:srgbClr val="2B3440"/>
                </a:solidFill>
                <a:latin typeface="Calibri"/>
              </a:rPr>
              <a:t> </a:t>
            </a:r>
            <a:r>
              <a:rPr sz="1200" b="0" i="0" dirty="0" err="1">
                <a:solidFill>
                  <a:srgbClr val="2B3440"/>
                </a:solidFill>
                <a:latin typeface="Calibri"/>
              </a:rPr>
              <a:t>đều</a:t>
            </a:r>
            <a:r>
              <a:rPr sz="1200" b="0" i="0" dirty="0">
                <a:solidFill>
                  <a:srgbClr val="2B3440"/>
                </a:solidFill>
                <a:latin typeface="Calibri"/>
              </a:rPr>
              <a:t>.</a:t>
            </a:r>
          </a:p>
        </p:txBody>
      </p:sp>
      <p:sp>
        <p:nvSpPr>
          <p:cNvPr id="15" name="Rectangle 14"/>
          <p:cNvSpPr/>
          <p:nvPr/>
        </p:nvSpPr>
        <p:spPr>
          <a:xfrm>
            <a:off x="3431971" y="2798064"/>
            <a:ext cx="2554147" cy="2157984"/>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431971" y="2798064"/>
            <a:ext cx="2554147" cy="50292"/>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33139" y="2980944"/>
            <a:ext cx="2170099" cy="443711"/>
          </a:xfrm>
          <a:prstGeom prst="rect">
            <a:avLst/>
          </a:prstGeom>
          <a:noFill/>
        </p:spPr>
        <p:txBody>
          <a:bodyPr wrap="square" lIns="0" tIns="0" rIns="0" bIns="0" anchor="t">
            <a:spAutoFit/>
          </a:bodyPr>
          <a:lstStyle/>
          <a:p>
            <a:pPr algn="l">
              <a:lnSpc>
                <a:spcPct val="100000"/>
              </a:lnSpc>
            </a:pPr>
            <a:r>
              <a:rPr sz="1400" b="1" i="0">
                <a:solidFill>
                  <a:srgbClr val="0096D6"/>
                </a:solidFill>
                <a:latin typeface="Calibri"/>
              </a:rPr>
              <a:t>INFORMATION</a:t>
            </a:r>
          </a:p>
          <a:p>
            <a:pPr algn="l">
              <a:lnSpc>
                <a:spcPct val="100000"/>
              </a:lnSpc>
              <a:spcBef>
                <a:spcPts val="100"/>
              </a:spcBef>
            </a:pPr>
            <a:r>
              <a:rPr sz="1400" b="0" i="1">
                <a:solidFill>
                  <a:srgbClr val="6B7784"/>
                </a:solidFill>
                <a:latin typeface="Calibri"/>
              </a:rPr>
              <a:t>Thông tin</a:t>
            </a:r>
          </a:p>
        </p:txBody>
      </p:sp>
      <p:sp>
        <p:nvSpPr>
          <p:cNvPr id="18" name="TextBox 17"/>
          <p:cNvSpPr txBox="1"/>
          <p:nvPr/>
        </p:nvSpPr>
        <p:spPr>
          <a:xfrm>
            <a:off x="3633139" y="3505078"/>
            <a:ext cx="2170099" cy="1435521"/>
          </a:xfrm>
          <a:prstGeom prst="rect">
            <a:avLst/>
          </a:prstGeom>
          <a:noFill/>
        </p:spPr>
        <p:txBody>
          <a:bodyPr wrap="square" lIns="0" tIns="0" rIns="0" bIns="0" anchor="t">
            <a:spAutoFit/>
          </a:bodyPr>
          <a:lstStyle/>
          <a:p>
            <a:pPr algn="l">
              <a:lnSpc>
                <a:spcPct val="118000"/>
              </a:lnSpc>
              <a:spcAft>
                <a:spcPts val="500"/>
              </a:spcAft>
            </a:pPr>
            <a:r>
              <a:rPr sz="1200" b="0" i="0">
                <a:solidFill>
                  <a:srgbClr val="2B3440"/>
                </a:solidFill>
                <a:latin typeface="Calibri"/>
              </a:rPr>
              <a:t>•  Yêu cầu dịch vụ ban đầu thiếu thông tin bắt buộc.</a:t>
            </a:r>
          </a:p>
          <a:p>
            <a:pPr algn="l">
              <a:lnSpc>
                <a:spcPct val="118000"/>
              </a:lnSpc>
              <a:spcAft>
                <a:spcPts val="500"/>
              </a:spcAft>
            </a:pPr>
            <a:r>
              <a:rPr sz="1200" b="0" i="0">
                <a:solidFill>
                  <a:srgbClr val="2B3440"/>
                </a:solidFill>
                <a:latin typeface="Calibri"/>
              </a:rPr>
              <a:t>•  Mã lỗi và thuật ngữ kỹ thuật chưa thống nhất.</a:t>
            </a:r>
          </a:p>
          <a:p>
            <a:pPr algn="l">
              <a:lnSpc>
                <a:spcPct val="118000"/>
              </a:lnSpc>
              <a:spcAft>
                <a:spcPts val="500"/>
              </a:spcAft>
            </a:pPr>
            <a:r>
              <a:rPr sz="1200" b="0" i="0">
                <a:solidFill>
                  <a:srgbClr val="2B3440"/>
                </a:solidFill>
                <a:latin typeface="Calibri"/>
              </a:rPr>
              <a:t>•  Thông tin phân tán ở nhiều hồ sơ khác nhau.</a:t>
            </a:r>
          </a:p>
        </p:txBody>
      </p:sp>
      <p:sp>
        <p:nvSpPr>
          <p:cNvPr id="19" name="Rectangle 18"/>
          <p:cNvSpPr/>
          <p:nvPr/>
        </p:nvSpPr>
        <p:spPr>
          <a:xfrm>
            <a:off x="6205575" y="2798064"/>
            <a:ext cx="2554147" cy="2157984"/>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05575" y="2798064"/>
            <a:ext cx="2554147" cy="50292"/>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6743" y="2980944"/>
            <a:ext cx="2170099" cy="443711"/>
          </a:xfrm>
          <a:prstGeom prst="rect">
            <a:avLst/>
          </a:prstGeom>
          <a:noFill/>
        </p:spPr>
        <p:txBody>
          <a:bodyPr wrap="square" lIns="0" tIns="0" rIns="0" bIns="0" anchor="t">
            <a:spAutoFit/>
          </a:bodyPr>
          <a:lstStyle/>
          <a:p>
            <a:pPr algn="l">
              <a:lnSpc>
                <a:spcPct val="100000"/>
              </a:lnSpc>
            </a:pPr>
            <a:r>
              <a:rPr sz="1400" b="1" i="0">
                <a:solidFill>
                  <a:srgbClr val="0096D6"/>
                </a:solidFill>
                <a:latin typeface="Calibri"/>
              </a:rPr>
              <a:t>PROCESS</a:t>
            </a:r>
          </a:p>
          <a:p>
            <a:pPr algn="l">
              <a:lnSpc>
                <a:spcPct val="100000"/>
              </a:lnSpc>
              <a:spcBef>
                <a:spcPts val="100"/>
              </a:spcBef>
            </a:pPr>
            <a:r>
              <a:rPr sz="1400" b="0" i="1">
                <a:solidFill>
                  <a:srgbClr val="6B7784"/>
                </a:solidFill>
                <a:latin typeface="Calibri"/>
              </a:rPr>
              <a:t>Quy trình</a:t>
            </a:r>
          </a:p>
        </p:txBody>
      </p:sp>
      <p:sp>
        <p:nvSpPr>
          <p:cNvPr id="22" name="TextBox 21"/>
          <p:cNvSpPr txBox="1"/>
          <p:nvPr/>
        </p:nvSpPr>
        <p:spPr>
          <a:xfrm>
            <a:off x="6406743" y="3505078"/>
            <a:ext cx="2170099" cy="1435521"/>
          </a:xfrm>
          <a:prstGeom prst="rect">
            <a:avLst/>
          </a:prstGeom>
          <a:noFill/>
        </p:spPr>
        <p:txBody>
          <a:bodyPr wrap="square" lIns="0" tIns="0" rIns="0" bIns="0" anchor="t">
            <a:spAutoFit/>
          </a:bodyPr>
          <a:lstStyle/>
          <a:p>
            <a:pPr algn="l">
              <a:lnSpc>
                <a:spcPct val="118000"/>
              </a:lnSpc>
              <a:spcAft>
                <a:spcPts val="500"/>
              </a:spcAft>
            </a:pPr>
            <a:r>
              <a:rPr sz="1200" b="0" i="0">
                <a:solidFill>
                  <a:srgbClr val="2B3440"/>
                </a:solidFill>
                <a:latin typeface="Calibri"/>
              </a:rPr>
              <a:t>•  Chưa có thời hạn phản hồi cho khâu xác nhận báo giá.</a:t>
            </a:r>
          </a:p>
          <a:p>
            <a:pPr algn="l">
              <a:lnSpc>
                <a:spcPct val="118000"/>
              </a:lnSpc>
              <a:spcAft>
                <a:spcPts val="500"/>
              </a:spcAft>
            </a:pPr>
            <a:r>
              <a:rPr sz="1200" b="0" i="0">
                <a:solidFill>
                  <a:srgbClr val="2B3440"/>
                </a:solidFill>
                <a:latin typeface="Calibri"/>
              </a:rPr>
              <a:t>•  Cơ chế xử lý phát sinh ngoài phạm vi chưa rõ ràng.</a:t>
            </a:r>
          </a:p>
          <a:p>
            <a:pPr algn="l">
              <a:lnSpc>
                <a:spcPct val="118000"/>
              </a:lnSpc>
              <a:spcAft>
                <a:spcPts val="500"/>
              </a:spcAft>
            </a:pPr>
            <a:r>
              <a:rPr sz="1200" b="0" i="0">
                <a:solidFill>
                  <a:srgbClr val="2B3440"/>
                </a:solidFill>
                <a:latin typeface="Calibri"/>
              </a:rPr>
              <a:t>•  Thiếu bước kiểm tra sau sửa chữa trước khi bàn giao.</a:t>
            </a:r>
          </a:p>
        </p:txBody>
      </p:sp>
      <p:sp>
        <p:nvSpPr>
          <p:cNvPr id="23" name="Rectangle 22"/>
          <p:cNvSpPr/>
          <p:nvPr/>
        </p:nvSpPr>
        <p:spPr>
          <a:xfrm>
            <a:off x="8979179" y="2798064"/>
            <a:ext cx="2554147" cy="2157984"/>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979179" y="2798064"/>
            <a:ext cx="2554147" cy="50292"/>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80347" y="2980944"/>
            <a:ext cx="2170099" cy="443711"/>
          </a:xfrm>
          <a:prstGeom prst="rect">
            <a:avLst/>
          </a:prstGeom>
          <a:noFill/>
        </p:spPr>
        <p:txBody>
          <a:bodyPr wrap="square" lIns="0" tIns="0" rIns="0" bIns="0" anchor="t">
            <a:spAutoFit/>
          </a:bodyPr>
          <a:lstStyle/>
          <a:p>
            <a:pPr algn="l">
              <a:lnSpc>
                <a:spcPct val="100000"/>
              </a:lnSpc>
            </a:pPr>
            <a:r>
              <a:rPr sz="1400" b="1" i="0">
                <a:solidFill>
                  <a:srgbClr val="0096D6"/>
                </a:solidFill>
                <a:latin typeface="Calibri"/>
              </a:rPr>
              <a:t>TOOLS / SYSTEM</a:t>
            </a:r>
          </a:p>
          <a:p>
            <a:pPr algn="l">
              <a:lnSpc>
                <a:spcPct val="100000"/>
              </a:lnSpc>
              <a:spcBef>
                <a:spcPts val="100"/>
              </a:spcBef>
            </a:pPr>
            <a:r>
              <a:rPr sz="1400" b="0" i="1">
                <a:solidFill>
                  <a:srgbClr val="6B7784"/>
                </a:solidFill>
                <a:latin typeface="Calibri"/>
              </a:rPr>
              <a:t>Công cụ – Hệ thống</a:t>
            </a:r>
          </a:p>
        </p:txBody>
      </p:sp>
      <p:sp>
        <p:nvSpPr>
          <p:cNvPr id="26" name="TextBox 25"/>
          <p:cNvSpPr txBox="1"/>
          <p:nvPr/>
        </p:nvSpPr>
        <p:spPr>
          <a:xfrm>
            <a:off x="9180347" y="3505078"/>
            <a:ext cx="2170099" cy="1435521"/>
          </a:xfrm>
          <a:prstGeom prst="rect">
            <a:avLst/>
          </a:prstGeom>
          <a:noFill/>
        </p:spPr>
        <p:txBody>
          <a:bodyPr wrap="square" lIns="0" tIns="0" rIns="0" bIns="0" anchor="t">
            <a:spAutoFit/>
          </a:bodyPr>
          <a:lstStyle/>
          <a:p>
            <a:pPr algn="l">
              <a:lnSpc>
                <a:spcPct val="118000"/>
              </a:lnSpc>
              <a:spcAft>
                <a:spcPts val="500"/>
              </a:spcAft>
            </a:pPr>
            <a:r>
              <a:rPr sz="1200" b="0" i="0">
                <a:solidFill>
                  <a:srgbClr val="2B3440"/>
                </a:solidFill>
                <a:latin typeface="Calibri"/>
              </a:rPr>
              <a:t>•  Chưa có hồ sơ Service Request dùng chung.</a:t>
            </a:r>
          </a:p>
          <a:p>
            <a:pPr algn="l">
              <a:lnSpc>
                <a:spcPct val="118000"/>
              </a:lnSpc>
              <a:spcAft>
                <a:spcPts val="500"/>
              </a:spcAft>
            </a:pPr>
            <a:r>
              <a:rPr sz="1200" b="0" i="0">
                <a:solidFill>
                  <a:srgbClr val="2B3440"/>
                </a:solidFill>
                <a:latin typeface="Calibri"/>
              </a:rPr>
              <a:t>•  Trạng thái theo dõi báo giá chưa được thiết lập.</a:t>
            </a:r>
          </a:p>
          <a:p>
            <a:pPr algn="l">
              <a:lnSpc>
                <a:spcPct val="118000"/>
              </a:lnSpc>
              <a:spcAft>
                <a:spcPts val="500"/>
              </a:spcAft>
            </a:pPr>
            <a:r>
              <a:rPr sz="1200" b="0" i="0">
                <a:solidFill>
                  <a:srgbClr val="2B3440"/>
                </a:solidFill>
                <a:latin typeface="Calibri"/>
              </a:rPr>
              <a:t>•  Dữ liệu chưa liên kết, phải nhập lại nhiều lần.</a:t>
            </a:r>
          </a:p>
        </p:txBody>
      </p:sp>
      <p:sp>
        <p:nvSpPr>
          <p:cNvPr id="27" name="Rectangle 26"/>
          <p:cNvSpPr/>
          <p:nvPr/>
        </p:nvSpPr>
        <p:spPr>
          <a:xfrm>
            <a:off x="658368" y="5120640"/>
            <a:ext cx="10874959" cy="676656"/>
          </a:xfrm>
          <a:prstGeom prst="rect">
            <a:avLst/>
          </a:prstGeom>
          <a:solidFill>
            <a:srgbClr val="E9F3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58368" y="5120640"/>
            <a:ext cx="50292" cy="676656"/>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50976" y="5329702"/>
            <a:ext cx="10280599" cy="258532"/>
          </a:xfrm>
          <a:prstGeom prst="rect">
            <a:avLst/>
          </a:prstGeom>
          <a:noFill/>
        </p:spPr>
        <p:txBody>
          <a:bodyPr wrap="square" lIns="0" tIns="0" rIns="0" bIns="0" anchor="ctr">
            <a:spAutoFit/>
          </a:bodyPr>
          <a:lstStyle/>
          <a:p>
            <a:pPr algn="l">
              <a:lnSpc>
                <a:spcPct val="120000"/>
              </a:lnSpc>
            </a:pPr>
            <a:r>
              <a:rPr sz="1400" b="1" i="0" dirty="0" err="1">
                <a:solidFill>
                  <a:srgbClr val="0A2540"/>
                </a:solidFill>
                <a:latin typeface="Calibri"/>
              </a:rPr>
              <a:t>Kéo</a:t>
            </a:r>
            <a:r>
              <a:rPr sz="1400" b="1" i="0" dirty="0">
                <a:solidFill>
                  <a:srgbClr val="0A2540"/>
                </a:solidFill>
                <a:latin typeface="Calibri"/>
              </a:rPr>
              <a:t> </a:t>
            </a:r>
            <a:r>
              <a:rPr sz="1400" b="1" i="0" dirty="0" err="1">
                <a:solidFill>
                  <a:srgbClr val="0A2540"/>
                </a:solidFill>
                <a:latin typeface="Calibri"/>
              </a:rPr>
              <a:t>dài</a:t>
            </a:r>
            <a:r>
              <a:rPr sz="1400" b="1" i="0" dirty="0">
                <a:solidFill>
                  <a:srgbClr val="0A2540"/>
                </a:solidFill>
                <a:latin typeface="Calibri"/>
              </a:rPr>
              <a:t> </a:t>
            </a:r>
            <a:r>
              <a:rPr sz="1400" b="1" i="0" dirty="0" err="1">
                <a:solidFill>
                  <a:srgbClr val="0A2540"/>
                </a:solidFill>
                <a:latin typeface="Calibri"/>
              </a:rPr>
              <a:t>thời</a:t>
            </a:r>
            <a:r>
              <a:rPr sz="1400" b="1" i="0" dirty="0">
                <a:solidFill>
                  <a:srgbClr val="0A2540"/>
                </a:solidFill>
                <a:latin typeface="Calibri"/>
              </a:rPr>
              <a:t> </a:t>
            </a:r>
            <a:r>
              <a:rPr sz="1400" b="1" i="0" dirty="0" err="1">
                <a:solidFill>
                  <a:srgbClr val="0A2540"/>
                </a:solidFill>
                <a:latin typeface="Calibri"/>
              </a:rPr>
              <a:t>gian</a:t>
            </a:r>
            <a:r>
              <a:rPr sz="1400" b="1" i="0" dirty="0">
                <a:solidFill>
                  <a:srgbClr val="0A2540"/>
                </a:solidFill>
                <a:latin typeface="Calibri"/>
              </a:rPr>
              <a:t> KHÔNG </a:t>
            </a:r>
            <a:r>
              <a:rPr sz="1400" b="1" i="0" dirty="0" err="1">
                <a:solidFill>
                  <a:srgbClr val="0A2540"/>
                </a:solidFill>
                <a:latin typeface="Calibri"/>
              </a:rPr>
              <a:t>bắt</a:t>
            </a:r>
            <a:r>
              <a:rPr sz="1400" b="1" i="0" dirty="0">
                <a:solidFill>
                  <a:srgbClr val="0A2540"/>
                </a:solidFill>
                <a:latin typeface="Calibri"/>
              </a:rPr>
              <a:t> </a:t>
            </a:r>
            <a:r>
              <a:rPr sz="1400" b="1" i="0" dirty="0" err="1">
                <a:solidFill>
                  <a:srgbClr val="0A2540"/>
                </a:solidFill>
                <a:latin typeface="Calibri"/>
              </a:rPr>
              <a:t>nguồn</a:t>
            </a:r>
            <a:r>
              <a:rPr sz="1400" b="1" i="0" dirty="0">
                <a:solidFill>
                  <a:srgbClr val="0A2540"/>
                </a:solidFill>
                <a:latin typeface="Calibri"/>
              </a:rPr>
              <a:t> </a:t>
            </a:r>
            <a:r>
              <a:rPr sz="1400" b="1" i="0" dirty="0" err="1">
                <a:solidFill>
                  <a:srgbClr val="0A2540"/>
                </a:solidFill>
                <a:latin typeface="Calibri"/>
              </a:rPr>
              <a:t>từ</a:t>
            </a:r>
            <a:r>
              <a:rPr sz="1400" b="1" i="0" dirty="0">
                <a:solidFill>
                  <a:srgbClr val="0A2540"/>
                </a:solidFill>
                <a:latin typeface="Calibri"/>
              </a:rPr>
              <a:t> </a:t>
            </a:r>
            <a:r>
              <a:rPr sz="1400" b="1" i="0" dirty="0" err="1">
                <a:solidFill>
                  <a:srgbClr val="0A2540"/>
                </a:solidFill>
                <a:latin typeface="Calibri"/>
              </a:rPr>
              <a:t>thời</a:t>
            </a:r>
            <a:r>
              <a:rPr sz="1400" b="1" i="0" dirty="0">
                <a:solidFill>
                  <a:srgbClr val="0A2540"/>
                </a:solidFill>
                <a:latin typeface="Calibri"/>
              </a:rPr>
              <a:t> </a:t>
            </a:r>
            <a:r>
              <a:rPr sz="1400" b="1" i="0" dirty="0" err="1">
                <a:solidFill>
                  <a:srgbClr val="0A2540"/>
                </a:solidFill>
                <a:latin typeface="Calibri"/>
              </a:rPr>
              <a:t>gian</a:t>
            </a:r>
            <a:r>
              <a:rPr sz="1400" b="1" i="0" dirty="0">
                <a:solidFill>
                  <a:srgbClr val="0A2540"/>
                </a:solidFill>
                <a:latin typeface="Calibri"/>
              </a:rPr>
              <a:t> </a:t>
            </a:r>
            <a:r>
              <a:rPr sz="1400" b="1" i="0" dirty="0" err="1">
                <a:solidFill>
                  <a:srgbClr val="0A2540"/>
                </a:solidFill>
                <a:latin typeface="Calibri"/>
              </a:rPr>
              <a:t>thực</a:t>
            </a:r>
            <a:r>
              <a:rPr sz="1400" b="1" i="0" dirty="0">
                <a:solidFill>
                  <a:srgbClr val="0A2540"/>
                </a:solidFill>
                <a:latin typeface="Calibri"/>
              </a:rPr>
              <a:t> </a:t>
            </a:r>
            <a:r>
              <a:rPr sz="1400" b="1" i="0" dirty="0" err="1">
                <a:solidFill>
                  <a:srgbClr val="0A2540"/>
                </a:solidFill>
                <a:latin typeface="Calibri"/>
              </a:rPr>
              <a:t>hiện</a:t>
            </a:r>
            <a:r>
              <a:rPr sz="1400" b="1" i="0" dirty="0">
                <a:solidFill>
                  <a:srgbClr val="0A2540"/>
                </a:solidFill>
                <a:latin typeface="Calibri"/>
              </a:rPr>
              <a:t> </a:t>
            </a:r>
            <a:r>
              <a:rPr sz="1400" b="1" i="0" dirty="0" err="1">
                <a:solidFill>
                  <a:srgbClr val="0A2540"/>
                </a:solidFill>
                <a:latin typeface="Calibri"/>
              </a:rPr>
              <a:t>công</a:t>
            </a:r>
            <a:r>
              <a:rPr sz="1400" b="1" i="0" dirty="0">
                <a:solidFill>
                  <a:srgbClr val="0A2540"/>
                </a:solidFill>
                <a:latin typeface="Calibri"/>
              </a:rPr>
              <a:t> </a:t>
            </a:r>
            <a:r>
              <a:rPr sz="1400" b="1" i="0" dirty="0" err="1">
                <a:solidFill>
                  <a:srgbClr val="0A2540"/>
                </a:solidFill>
                <a:latin typeface="Calibri"/>
              </a:rPr>
              <a:t>việc</a:t>
            </a:r>
            <a:r>
              <a:rPr sz="1400" b="1" i="0" dirty="0">
                <a:solidFill>
                  <a:srgbClr val="0A2540"/>
                </a:solidFill>
                <a:latin typeface="Calibri"/>
              </a:rPr>
              <a:t> </a:t>
            </a:r>
            <a:r>
              <a:rPr sz="1400" b="1" i="0" dirty="0" err="1">
                <a:solidFill>
                  <a:srgbClr val="0A2540"/>
                </a:solidFill>
                <a:latin typeface="Calibri"/>
              </a:rPr>
              <a:t>kỹ</a:t>
            </a:r>
            <a:r>
              <a:rPr sz="1400" b="1" i="0" dirty="0">
                <a:solidFill>
                  <a:srgbClr val="0A2540"/>
                </a:solidFill>
                <a:latin typeface="Calibri"/>
              </a:rPr>
              <a:t> </a:t>
            </a:r>
            <a:r>
              <a:rPr sz="1400" b="1" i="0" dirty="0" err="1">
                <a:solidFill>
                  <a:srgbClr val="0A2540"/>
                </a:solidFill>
                <a:latin typeface="Calibri"/>
              </a:rPr>
              <a:t>thuật</a:t>
            </a:r>
            <a:r>
              <a:rPr sz="1400" b="1" i="0" dirty="0">
                <a:solidFill>
                  <a:srgbClr val="0A2540"/>
                </a:solidFill>
                <a:latin typeface="Calibri"/>
              </a:rPr>
              <a:t>, </a:t>
            </a:r>
            <a:r>
              <a:rPr sz="1400" b="1" i="0" dirty="0" err="1">
                <a:solidFill>
                  <a:srgbClr val="0A2540"/>
                </a:solidFill>
                <a:latin typeface="Calibri"/>
              </a:rPr>
              <a:t>mà</a:t>
            </a:r>
            <a:r>
              <a:rPr sz="1400" b="1" i="0" dirty="0">
                <a:solidFill>
                  <a:srgbClr val="0A2540"/>
                </a:solidFill>
                <a:latin typeface="Calibri"/>
              </a:rPr>
              <a:t> </a:t>
            </a:r>
            <a:r>
              <a:rPr sz="1400" b="1" i="0" dirty="0" err="1">
                <a:solidFill>
                  <a:srgbClr val="0A2540"/>
                </a:solidFill>
                <a:latin typeface="Calibri"/>
              </a:rPr>
              <a:t>từ</a:t>
            </a:r>
            <a:r>
              <a:rPr sz="1400" b="1" i="0" dirty="0">
                <a:solidFill>
                  <a:srgbClr val="0A2540"/>
                </a:solidFill>
                <a:latin typeface="Calibri"/>
              </a:rPr>
              <a:t> </a:t>
            </a:r>
            <a:r>
              <a:rPr sz="1400" b="1" i="0" dirty="0" err="1">
                <a:solidFill>
                  <a:srgbClr val="0A2540"/>
                </a:solidFill>
                <a:latin typeface="Calibri"/>
              </a:rPr>
              <a:t>các</a:t>
            </a:r>
            <a:r>
              <a:rPr sz="1400" b="1" i="0" dirty="0">
                <a:solidFill>
                  <a:srgbClr val="0A2540"/>
                </a:solidFill>
                <a:latin typeface="Calibri"/>
              </a:rPr>
              <a:t> </a:t>
            </a:r>
            <a:r>
              <a:rPr sz="1400" b="1" i="0" dirty="0" err="1">
                <a:solidFill>
                  <a:srgbClr val="0A2540"/>
                </a:solidFill>
                <a:latin typeface="Calibri"/>
              </a:rPr>
              <a:t>điểm</a:t>
            </a:r>
            <a:r>
              <a:rPr sz="1400" b="1" i="0" dirty="0">
                <a:solidFill>
                  <a:srgbClr val="0A2540"/>
                </a:solidFill>
                <a:latin typeface="Calibri"/>
              </a:rPr>
              <a:t> </a:t>
            </a:r>
            <a:r>
              <a:rPr sz="1400" b="1" i="0" dirty="0" err="1">
                <a:solidFill>
                  <a:srgbClr val="0A2540"/>
                </a:solidFill>
                <a:latin typeface="Calibri"/>
              </a:rPr>
              <a:t>phối</a:t>
            </a:r>
            <a:r>
              <a:rPr sz="1400" b="1" i="0" dirty="0">
                <a:solidFill>
                  <a:srgbClr val="0A2540"/>
                </a:solidFill>
                <a:latin typeface="Calibri"/>
              </a:rPr>
              <a:t> </a:t>
            </a:r>
            <a:r>
              <a:rPr sz="1400" b="1" i="0" dirty="0" err="1">
                <a:solidFill>
                  <a:srgbClr val="0A2540"/>
                </a:solidFill>
                <a:latin typeface="Calibri"/>
              </a:rPr>
              <a:t>hợp</a:t>
            </a:r>
            <a:r>
              <a:rPr sz="1400" b="1" i="0" dirty="0">
                <a:solidFill>
                  <a:srgbClr val="0A2540"/>
                </a:solidFill>
                <a:latin typeface="Calibri"/>
              </a:rPr>
              <a:t> </a:t>
            </a:r>
            <a:r>
              <a:rPr sz="1400" b="1" i="0" dirty="0" err="1">
                <a:solidFill>
                  <a:srgbClr val="0A2540"/>
                </a:solidFill>
                <a:latin typeface="Calibri"/>
              </a:rPr>
              <a:t>giữa</a:t>
            </a:r>
            <a:r>
              <a:rPr sz="1400" b="1" i="0" dirty="0">
                <a:solidFill>
                  <a:srgbClr val="0A2540"/>
                </a:solidFill>
                <a:latin typeface="Calibri"/>
              </a:rPr>
              <a:t> </a:t>
            </a:r>
            <a:r>
              <a:rPr sz="1400" b="1" i="0" dirty="0" err="1">
                <a:solidFill>
                  <a:srgbClr val="0A2540"/>
                </a:solidFill>
                <a:latin typeface="Calibri"/>
              </a:rPr>
              <a:t>những</a:t>
            </a:r>
            <a:r>
              <a:rPr sz="1400" b="1" i="0" dirty="0">
                <a:solidFill>
                  <a:srgbClr val="0A2540"/>
                </a:solidFill>
                <a:latin typeface="Calibri"/>
              </a:rPr>
              <a:t> </a:t>
            </a:r>
            <a:r>
              <a:rPr sz="1400" b="1" i="0" dirty="0" err="1">
                <a:solidFill>
                  <a:srgbClr val="0A2540"/>
                </a:solidFill>
                <a:latin typeface="Calibri"/>
              </a:rPr>
              <a:t>bên</a:t>
            </a:r>
            <a:r>
              <a:rPr sz="1400" b="1" i="0" dirty="0">
                <a:solidFill>
                  <a:srgbClr val="0A2540"/>
                </a:solidFill>
                <a:latin typeface="Calibri"/>
              </a:rPr>
              <a:t> </a:t>
            </a:r>
            <a:r>
              <a:rPr sz="1400" b="1" i="0" dirty="0" err="1">
                <a:solidFill>
                  <a:srgbClr val="0A2540"/>
                </a:solidFill>
                <a:latin typeface="Calibri"/>
              </a:rPr>
              <a:t>liên</a:t>
            </a:r>
            <a:r>
              <a:rPr sz="1400" b="1" i="0" dirty="0">
                <a:solidFill>
                  <a:srgbClr val="0A2540"/>
                </a:solidFill>
                <a:latin typeface="Calibri"/>
              </a:rPr>
              <a:t> </a:t>
            </a:r>
            <a:r>
              <a:rPr sz="1400" b="1" i="0" dirty="0" err="1">
                <a:solidFill>
                  <a:srgbClr val="0A2540"/>
                </a:solidFill>
                <a:latin typeface="Calibri"/>
              </a:rPr>
              <a:t>quan</a:t>
            </a:r>
            <a:r>
              <a:rPr sz="1400" b="1" i="0" dirty="0">
                <a:solidFill>
                  <a:srgbClr val="0A2540"/>
                </a:solidFill>
                <a:latin typeface="Calibri"/>
              </a:rPr>
              <a:t>.</a:t>
            </a:r>
          </a:p>
        </p:txBody>
      </p:sp>
    </p:spTree>
    <p:extLst>
      <p:ext uri="{BB962C8B-B14F-4D97-AF65-F5344CB8AC3E}">
        <p14:creationId xmlns:p14="http://schemas.microsoft.com/office/powerpoint/2010/main" val="7680049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82880" cy="859536"/>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75488" y="137160"/>
            <a:ext cx="7955279" cy="256032"/>
          </a:xfrm>
          <a:prstGeom prst="rect">
            <a:avLst/>
          </a:prstGeom>
          <a:noFill/>
        </p:spPr>
        <p:txBody>
          <a:bodyPr wrap="square" lIns="0" tIns="0" rIns="0" bIns="0" anchor="t">
            <a:spAutoFit/>
          </a:bodyPr>
          <a:lstStyle/>
          <a:p>
            <a:pPr algn="l">
              <a:lnSpc>
                <a:spcPct val="100000"/>
              </a:lnSpc>
            </a:pPr>
            <a:r>
              <a:rPr sz="950" b="1" i="0">
                <a:solidFill>
                  <a:srgbClr val="00C2A8"/>
                </a:solidFill>
                <a:latin typeface="Calibri"/>
              </a:rPr>
              <a:t>CHƯƠNG 4 · 4.2.2C PHÂN TÍCH CÁC BÊN LIÊN QUAN</a:t>
            </a:r>
          </a:p>
        </p:txBody>
      </p:sp>
      <p:sp>
        <p:nvSpPr>
          <p:cNvPr id="5" name="TextBox 4"/>
          <p:cNvSpPr txBox="1"/>
          <p:nvPr/>
        </p:nvSpPr>
        <p:spPr>
          <a:xfrm>
            <a:off x="475488" y="411480"/>
            <a:ext cx="7955279" cy="329184"/>
          </a:xfrm>
          <a:prstGeom prst="rect">
            <a:avLst/>
          </a:prstGeom>
          <a:noFill/>
        </p:spPr>
        <p:txBody>
          <a:bodyPr wrap="square" lIns="0" tIns="0" rIns="0" bIns="0" anchor="t">
            <a:spAutoFit/>
          </a:bodyPr>
          <a:lstStyle/>
          <a:p>
            <a:pPr algn="l">
              <a:lnSpc>
                <a:spcPct val="100000"/>
              </a:lnSpc>
            </a:pPr>
            <a:r>
              <a:rPr sz="1700" b="1" i="0">
                <a:solidFill>
                  <a:srgbClr val="FFFFFF"/>
                </a:solidFill>
                <a:latin typeface="Calibri"/>
              </a:rPr>
              <a:t>C03 — Sơ đồ xương cá (Fishbone Diagram)</a:t>
            </a:r>
          </a:p>
        </p:txBody>
      </p:sp>
      <p:sp>
        <p:nvSpPr>
          <p:cNvPr id="6" name="TextBox 5"/>
          <p:cNvSpPr txBox="1"/>
          <p:nvPr/>
        </p:nvSpPr>
        <p:spPr>
          <a:xfrm>
            <a:off x="8595360" y="265176"/>
            <a:ext cx="3154680" cy="329184"/>
          </a:xfrm>
          <a:prstGeom prst="rect">
            <a:avLst/>
          </a:prstGeom>
          <a:noFill/>
        </p:spPr>
        <p:txBody>
          <a:bodyPr wrap="square" lIns="0" tIns="0" rIns="0" bIns="0" anchor="ctr">
            <a:spAutoFit/>
          </a:bodyPr>
          <a:lstStyle/>
          <a:p>
            <a:pPr algn="r">
              <a:lnSpc>
                <a:spcPct val="100000"/>
              </a:lnSpc>
            </a:pPr>
            <a:r>
              <a:rPr sz="1400" b="1" i="0">
                <a:solidFill>
                  <a:srgbClr val="00C2A8"/>
                </a:solidFill>
                <a:latin typeface="Calibri"/>
              </a:rPr>
              <a:t>Hình 4.3</a:t>
            </a:r>
          </a:p>
        </p:txBody>
      </p:sp>
      <p:sp>
        <p:nvSpPr>
          <p:cNvPr id="8" name="TextBox 7"/>
          <p:cNvSpPr txBox="1"/>
          <p:nvPr/>
        </p:nvSpPr>
        <p:spPr>
          <a:xfrm>
            <a:off x="548640" y="5913110"/>
            <a:ext cx="11091672" cy="233205"/>
          </a:xfrm>
          <a:prstGeom prst="rect">
            <a:avLst/>
          </a:prstGeom>
          <a:noFill/>
        </p:spPr>
        <p:txBody>
          <a:bodyPr wrap="square" lIns="0" tIns="0" rIns="0" bIns="0" anchor="ctr">
            <a:spAutoFit/>
          </a:bodyPr>
          <a:lstStyle/>
          <a:p>
            <a:pPr algn="ctr">
              <a:lnSpc>
                <a:spcPct val="115000"/>
              </a:lnSpc>
              <a:spcBef>
                <a:spcPts val="600"/>
              </a:spcBef>
            </a:pPr>
            <a:r>
              <a:rPr sz="1400" i="1" dirty="0" err="1" smtClean="0">
                <a:latin typeface="Calibri"/>
              </a:rPr>
              <a:t>Hình</a:t>
            </a:r>
            <a:r>
              <a:rPr sz="1400" i="1" dirty="0" smtClean="0">
                <a:latin typeface="Calibri"/>
              </a:rPr>
              <a:t> </a:t>
            </a:r>
            <a:r>
              <a:rPr sz="1400" i="1" dirty="0">
                <a:latin typeface="Calibri"/>
              </a:rPr>
              <a:t>4.3 — </a:t>
            </a:r>
            <a:r>
              <a:rPr sz="1400" i="1" dirty="0" err="1">
                <a:latin typeface="Calibri"/>
              </a:rPr>
              <a:t>Mô</a:t>
            </a:r>
            <a:r>
              <a:rPr sz="1400" i="1" dirty="0">
                <a:latin typeface="Calibri"/>
              </a:rPr>
              <a:t> </a:t>
            </a:r>
            <a:r>
              <a:rPr sz="1400" i="1" dirty="0" err="1">
                <a:latin typeface="Calibri"/>
              </a:rPr>
              <a:t>hình</a:t>
            </a:r>
            <a:r>
              <a:rPr sz="1400" i="1" dirty="0">
                <a:latin typeface="Calibri"/>
              </a:rPr>
              <a:t> </a:t>
            </a:r>
            <a:r>
              <a:rPr sz="1400" i="1" dirty="0" err="1">
                <a:latin typeface="Calibri"/>
              </a:rPr>
              <a:t>xương</a:t>
            </a:r>
            <a:r>
              <a:rPr sz="1400" i="1" dirty="0">
                <a:latin typeface="Calibri"/>
              </a:rPr>
              <a:t> </a:t>
            </a:r>
            <a:r>
              <a:rPr sz="1400" i="1" dirty="0" err="1">
                <a:latin typeface="Calibri"/>
              </a:rPr>
              <a:t>cá</a:t>
            </a:r>
            <a:r>
              <a:rPr sz="1400" i="1" dirty="0">
                <a:latin typeface="Calibri"/>
              </a:rPr>
              <a:t> </a:t>
            </a:r>
            <a:r>
              <a:rPr sz="1400" i="1" dirty="0" err="1">
                <a:latin typeface="Calibri"/>
              </a:rPr>
              <a:t>phân</a:t>
            </a:r>
            <a:r>
              <a:rPr sz="1400" i="1" dirty="0">
                <a:latin typeface="Calibri"/>
              </a:rPr>
              <a:t> </a:t>
            </a:r>
            <a:r>
              <a:rPr sz="1400" i="1" dirty="0" err="1">
                <a:latin typeface="Calibri"/>
              </a:rPr>
              <a:t>tích</a:t>
            </a:r>
            <a:r>
              <a:rPr sz="1400" i="1" dirty="0">
                <a:latin typeface="Calibri"/>
              </a:rPr>
              <a:t> </a:t>
            </a:r>
            <a:r>
              <a:rPr sz="1400" i="1" dirty="0" err="1">
                <a:latin typeface="Calibri"/>
              </a:rPr>
              <a:t>nguyên</a:t>
            </a:r>
            <a:r>
              <a:rPr sz="1400" i="1" dirty="0">
                <a:latin typeface="Calibri"/>
              </a:rPr>
              <a:t> </a:t>
            </a:r>
            <a:r>
              <a:rPr sz="1400" i="1" dirty="0" err="1">
                <a:latin typeface="Calibri"/>
              </a:rPr>
              <a:t>nhân</a:t>
            </a:r>
            <a:r>
              <a:rPr sz="1400" i="1" dirty="0">
                <a:latin typeface="Calibri"/>
              </a:rPr>
              <a:t> </a:t>
            </a:r>
            <a:r>
              <a:rPr sz="1400" i="1" dirty="0" err="1">
                <a:latin typeface="Calibri"/>
              </a:rPr>
              <a:t>kéo</a:t>
            </a:r>
            <a:r>
              <a:rPr sz="1400" i="1" dirty="0">
                <a:latin typeface="Calibri"/>
              </a:rPr>
              <a:t> </a:t>
            </a:r>
            <a:r>
              <a:rPr sz="1400" i="1" dirty="0" err="1">
                <a:latin typeface="Calibri"/>
              </a:rPr>
              <a:t>dài</a:t>
            </a:r>
            <a:r>
              <a:rPr sz="1400" i="1" dirty="0">
                <a:latin typeface="Calibri"/>
              </a:rPr>
              <a:t> </a:t>
            </a:r>
            <a:r>
              <a:rPr sz="1400" i="1" dirty="0" err="1">
                <a:latin typeface="Calibri"/>
              </a:rPr>
              <a:t>thời</a:t>
            </a:r>
            <a:r>
              <a:rPr sz="1400" i="1" dirty="0">
                <a:latin typeface="Calibri"/>
              </a:rPr>
              <a:t> </a:t>
            </a:r>
            <a:r>
              <a:rPr sz="1400" i="1" dirty="0" err="1">
                <a:latin typeface="Calibri"/>
              </a:rPr>
              <a:t>gian</a:t>
            </a:r>
            <a:r>
              <a:rPr sz="1400" i="1" dirty="0">
                <a:latin typeface="Calibri"/>
              </a:rPr>
              <a:t> </a:t>
            </a:r>
            <a:r>
              <a:rPr sz="1400" i="1" dirty="0" err="1">
                <a:latin typeface="Calibri"/>
              </a:rPr>
              <a:t>xử</a:t>
            </a:r>
            <a:r>
              <a:rPr sz="1400" i="1" dirty="0">
                <a:latin typeface="Calibri"/>
              </a:rPr>
              <a:t> </a:t>
            </a:r>
            <a:r>
              <a:rPr sz="1400" i="1" dirty="0" err="1">
                <a:latin typeface="Calibri"/>
              </a:rPr>
              <a:t>lý</a:t>
            </a:r>
            <a:r>
              <a:rPr sz="1400" i="1" dirty="0">
                <a:latin typeface="Calibri"/>
              </a:rPr>
              <a:t> Service </a:t>
            </a:r>
            <a:r>
              <a:rPr sz="1400" i="1" dirty="0" smtClean="0">
                <a:latin typeface="Calibri"/>
              </a:rPr>
              <a:t>Order</a:t>
            </a:r>
            <a:endParaRPr sz="1400" i="1" dirty="0">
              <a:latin typeface="Calibri"/>
            </a:endParaRPr>
          </a:p>
        </p:txBody>
      </p:sp>
      <p:sp>
        <p:nvSpPr>
          <p:cNvPr id="9" name="TextBox 8"/>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10" name="TextBox 9"/>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44</a:t>
            </a:r>
          </a:p>
        </p:txBody>
      </p:sp>
      <p:pic>
        <p:nvPicPr>
          <p:cNvPr id="11" name="Picture 10"/>
          <p:cNvPicPr/>
          <p:nvPr/>
        </p:nvPicPr>
        <p:blipFill>
          <a:blip r:embed="rId2" cstate="print">
            <a:extLst>
              <a:ext uri="{28A0092B-C50C-407E-A947-70E740481C1C}">
                <a14:useLocalDpi xmlns:a14="http://schemas.microsoft.com/office/drawing/2010/main" val="0"/>
              </a:ext>
            </a:extLst>
          </a:blip>
          <a:stretch>
            <a:fillRect/>
          </a:stretch>
        </p:blipFill>
        <p:spPr>
          <a:xfrm>
            <a:off x="2467897" y="1086933"/>
            <a:ext cx="7448460" cy="4444108"/>
          </a:xfrm>
          <a:prstGeom prst="rect">
            <a:avLst/>
          </a:prstGeom>
        </p:spPr>
      </p:pic>
    </p:spTree>
    <p:extLst>
      <p:ext uri="{BB962C8B-B14F-4D97-AF65-F5344CB8AC3E}">
        <p14:creationId xmlns:p14="http://schemas.microsoft.com/office/powerpoint/2010/main" val="32384910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CHƯƠNG 4 · 4.2.3A PHÂN TÍCH THỜI GIAN (TIME)</a:t>
            </a:r>
          </a:p>
        </p:txBody>
      </p:sp>
      <p:sp>
        <p:nvSpPr>
          <p:cNvPr id="3" name="TextBox 2"/>
          <p:cNvSpPr txBox="1"/>
          <p:nvPr/>
        </p:nvSpPr>
        <p:spPr>
          <a:xfrm>
            <a:off x="658368" y="640080"/>
            <a:ext cx="10874959" cy="603504"/>
          </a:xfrm>
          <a:prstGeom prst="rect">
            <a:avLst/>
          </a:prstGeom>
          <a:noFill/>
        </p:spPr>
        <p:txBody>
          <a:bodyPr wrap="square" lIns="0" tIns="0" rIns="0" bIns="0" anchor="t">
            <a:spAutoFit/>
          </a:bodyPr>
          <a:lstStyle/>
          <a:p>
            <a:pPr algn="l">
              <a:lnSpc>
                <a:spcPct val="105000"/>
              </a:lnSpc>
            </a:pPr>
            <a:r>
              <a:rPr sz="2500" b="1" i="0">
                <a:solidFill>
                  <a:srgbClr val="0A2540"/>
                </a:solidFill>
                <a:latin typeface="Calibri"/>
              </a:rPr>
              <a:t>DỮ LIỆU THỜI GIAN CỦA QUY TRÌNH</a:t>
            </a: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371600"/>
            <a:ext cx="10874959" cy="274320"/>
          </a:xfrm>
          <a:prstGeom prst="rect">
            <a:avLst/>
          </a:prstGeom>
          <a:noFill/>
        </p:spPr>
        <p:txBody>
          <a:bodyPr wrap="square" lIns="0" tIns="0" rIns="0" bIns="0" anchor="t">
            <a:spAutoFit/>
          </a:bodyPr>
          <a:lstStyle/>
          <a:p>
            <a:pPr algn="l">
              <a:lnSpc>
                <a:spcPct val="118000"/>
              </a:lnSpc>
            </a:pPr>
            <a:r>
              <a:rPr sz="1100" b="0" i="1">
                <a:solidFill>
                  <a:srgbClr val="6B7784"/>
                </a:solidFill>
                <a:latin typeface="Calibri"/>
              </a:rPr>
              <a:t>Bảng 4.3 — Processing Time và Waiting Time theo từng hoạt động  ·  01 ngày làm việc = 08 giờ</a:t>
            </a:r>
          </a:p>
        </p:txBody>
      </p:sp>
      <p:sp>
        <p:nvSpPr>
          <p:cNvPr id="7" name="TextBox 6"/>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8" name="TextBox 7"/>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45</a:t>
            </a:r>
          </a:p>
        </p:txBody>
      </p:sp>
      <p:graphicFrame>
        <p:nvGraphicFramePr>
          <p:cNvPr id="9" name="Table 8"/>
          <p:cNvGraphicFramePr>
            <a:graphicFrameLocks noGrp="1"/>
          </p:cNvGraphicFramePr>
          <p:nvPr/>
        </p:nvGraphicFramePr>
        <p:xfrm>
          <a:off x="658368" y="1828800"/>
          <a:ext cx="5299862" cy="3182112"/>
        </p:xfrm>
        <a:graphic>
          <a:graphicData uri="http://schemas.openxmlformats.org/drawingml/2006/table">
            <a:tbl>
              <a:tblPr firstRow="1">
                <a:tableStyleId>{5C22544A-7EE6-4342-B048-85BDC9FD1C3A}</a:tableStyleId>
              </a:tblPr>
              <a:tblGrid>
                <a:gridCol w="475488">
                  <a:extLst>
                    <a:ext uri="{9D8B030D-6E8A-4147-A177-3AD203B41FA5}">
                      <a16:colId xmlns:a16="http://schemas.microsoft.com/office/drawing/2014/main" val="20000"/>
                    </a:ext>
                  </a:extLst>
                </a:gridCol>
                <a:gridCol w="3072384">
                  <a:extLst>
                    <a:ext uri="{9D8B030D-6E8A-4147-A177-3AD203B41FA5}">
                      <a16:colId xmlns:a16="http://schemas.microsoft.com/office/drawing/2014/main" val="20001"/>
                    </a:ext>
                  </a:extLst>
                </a:gridCol>
                <a:gridCol w="896112">
                  <a:extLst>
                    <a:ext uri="{9D8B030D-6E8A-4147-A177-3AD203B41FA5}">
                      <a16:colId xmlns:a16="http://schemas.microsoft.com/office/drawing/2014/main" val="20002"/>
                    </a:ext>
                  </a:extLst>
                </a:gridCol>
                <a:gridCol w="855878">
                  <a:extLst>
                    <a:ext uri="{9D8B030D-6E8A-4147-A177-3AD203B41FA5}">
                      <a16:colId xmlns:a16="http://schemas.microsoft.com/office/drawing/2014/main" val="20003"/>
                    </a:ext>
                  </a:extLst>
                </a:gridCol>
              </a:tblGrid>
              <a:tr h="365760">
                <a:tc>
                  <a:txBody>
                    <a:bodyPr/>
                    <a:lstStyle/>
                    <a:p>
                      <a:pPr algn="ctr">
                        <a:lnSpc>
                          <a:spcPct val="105000"/>
                        </a:lnSpc>
                      </a:pPr>
                      <a:r>
                        <a:rPr sz="950" b="1">
                          <a:solidFill>
                            <a:srgbClr val="FFFFFF"/>
                          </a:solidFill>
                          <a:latin typeface="Calibri"/>
                        </a:rPr>
                        <a:t>STT</a:t>
                      </a:r>
                    </a:p>
                  </a:txBody>
                  <a:tcPr marL="100584" marR="73152" marT="41148" marB="41148" anchor="ctr">
                    <a:solidFill>
                      <a:srgbClr val="0A2540"/>
                    </a:solidFill>
                  </a:tcPr>
                </a:tc>
                <a:tc>
                  <a:txBody>
                    <a:bodyPr/>
                    <a:lstStyle/>
                    <a:p>
                      <a:pPr algn="ctr">
                        <a:lnSpc>
                          <a:spcPct val="105000"/>
                        </a:lnSpc>
                      </a:pPr>
                      <a:r>
                        <a:rPr sz="950" b="1">
                          <a:solidFill>
                            <a:srgbClr val="FFFFFF"/>
                          </a:solidFill>
                          <a:latin typeface="Calibri"/>
                        </a:rPr>
                        <a:t>HOẠT ĐỘNG / GIAI ĐOẠN</a:t>
                      </a:r>
                    </a:p>
                  </a:txBody>
                  <a:tcPr marL="100584" marR="73152" marT="41148" marB="41148" anchor="ctr">
                    <a:solidFill>
                      <a:srgbClr val="0A2540"/>
                    </a:solidFill>
                  </a:tcPr>
                </a:tc>
                <a:tc>
                  <a:txBody>
                    <a:bodyPr/>
                    <a:lstStyle/>
                    <a:p>
                      <a:pPr algn="ctr">
                        <a:lnSpc>
                          <a:spcPct val="105000"/>
                        </a:lnSpc>
                      </a:pPr>
                      <a:r>
                        <a:rPr sz="950" b="1">
                          <a:solidFill>
                            <a:srgbClr val="FFFFFF"/>
                          </a:solidFill>
                          <a:latin typeface="Calibri"/>
                        </a:rPr>
                        <a:t>PT</a:t>
                      </a:r>
                    </a:p>
                  </a:txBody>
                  <a:tcPr marL="100584" marR="73152" marT="41148" marB="41148" anchor="ctr">
                    <a:solidFill>
                      <a:srgbClr val="0A2540"/>
                    </a:solidFill>
                  </a:tcPr>
                </a:tc>
                <a:tc>
                  <a:txBody>
                    <a:bodyPr/>
                    <a:lstStyle/>
                    <a:p>
                      <a:pPr algn="ctr">
                        <a:lnSpc>
                          <a:spcPct val="105000"/>
                        </a:lnSpc>
                      </a:pPr>
                      <a:r>
                        <a:rPr sz="950" b="1">
                          <a:solidFill>
                            <a:srgbClr val="FFFFFF"/>
                          </a:solidFill>
                          <a:latin typeface="Calibri"/>
                        </a:rPr>
                        <a:t>WT</a:t>
                      </a:r>
                    </a:p>
                  </a:txBody>
                  <a:tcPr marL="100584" marR="73152" marT="41148" marB="41148" anchor="ctr">
                    <a:solidFill>
                      <a:srgbClr val="0A2540"/>
                    </a:solidFill>
                  </a:tcPr>
                </a:tc>
                <a:extLst>
                  <a:ext uri="{0D108BD9-81ED-4DB2-BD59-A6C34878D82A}">
                    <a16:rowId xmlns:a16="http://schemas.microsoft.com/office/drawing/2014/main" val="10000"/>
                  </a:ext>
                </a:extLst>
              </a:tr>
              <a:tr h="402336">
                <a:tc>
                  <a:txBody>
                    <a:bodyPr/>
                    <a:lstStyle/>
                    <a:p>
                      <a:pPr algn="ctr">
                        <a:lnSpc>
                          <a:spcPct val="105000"/>
                        </a:lnSpc>
                      </a:pPr>
                      <a:r>
                        <a:rPr sz="950" b="0">
                          <a:solidFill>
                            <a:srgbClr val="2B3440"/>
                          </a:solidFill>
                          <a:latin typeface="Calibri"/>
                        </a:rPr>
                        <a:t>1</a:t>
                      </a:r>
                    </a:p>
                  </a:txBody>
                  <a:tcPr marL="100584" marR="73152" marT="41148" marB="41148" anchor="ctr">
                    <a:solidFill>
                      <a:srgbClr val="FFFFFF"/>
                    </a:solidFill>
                  </a:tcPr>
                </a:tc>
                <a:tc>
                  <a:txBody>
                    <a:bodyPr/>
                    <a:lstStyle/>
                    <a:p>
                      <a:pPr algn="l">
                        <a:lnSpc>
                          <a:spcPct val="105000"/>
                        </a:lnSpc>
                      </a:pPr>
                      <a:r>
                        <a:rPr sz="950" b="0">
                          <a:solidFill>
                            <a:srgbClr val="2B3440"/>
                          </a:solidFill>
                          <a:latin typeface="Calibri"/>
                        </a:rPr>
                        <a:t>Tiếp nhận yêu cầu dịch vụ</a:t>
                      </a:r>
                    </a:p>
                  </a:txBody>
                  <a:tcPr marL="100584" marR="73152" marT="41148" marB="41148" anchor="ctr">
                    <a:solidFill>
                      <a:srgbClr val="FFFFFF"/>
                    </a:solidFill>
                  </a:tcPr>
                </a:tc>
                <a:tc>
                  <a:txBody>
                    <a:bodyPr/>
                    <a:lstStyle/>
                    <a:p>
                      <a:pPr algn="l">
                        <a:lnSpc>
                          <a:spcPct val="105000"/>
                        </a:lnSpc>
                      </a:pPr>
                      <a:r>
                        <a:rPr sz="950" b="0">
                          <a:solidFill>
                            <a:srgbClr val="2B3440"/>
                          </a:solidFill>
                          <a:latin typeface="Calibri"/>
                        </a:rPr>
                        <a:t>0,5 giờ</a:t>
                      </a:r>
                    </a:p>
                  </a:txBody>
                  <a:tcPr marL="100584" marR="73152" marT="41148" marB="41148" anchor="ctr">
                    <a:solidFill>
                      <a:srgbClr val="FFFFFF"/>
                    </a:solidFill>
                  </a:tcPr>
                </a:tc>
                <a:tc>
                  <a:txBody>
                    <a:bodyPr/>
                    <a:lstStyle/>
                    <a:p>
                      <a:pPr algn="l">
                        <a:lnSpc>
                          <a:spcPct val="105000"/>
                        </a:lnSpc>
                      </a:pPr>
                      <a:r>
                        <a:rPr sz="950" b="0">
                          <a:solidFill>
                            <a:srgbClr val="2B3440"/>
                          </a:solidFill>
                          <a:latin typeface="Calibri"/>
                        </a:rPr>
                        <a:t>–</a:t>
                      </a:r>
                    </a:p>
                  </a:txBody>
                  <a:tcPr marL="100584" marR="73152" marT="41148" marB="41148" anchor="ctr">
                    <a:solidFill>
                      <a:srgbClr val="FFFFFF"/>
                    </a:solidFill>
                  </a:tcPr>
                </a:tc>
                <a:extLst>
                  <a:ext uri="{0D108BD9-81ED-4DB2-BD59-A6C34878D82A}">
                    <a16:rowId xmlns:a16="http://schemas.microsoft.com/office/drawing/2014/main" val="10001"/>
                  </a:ext>
                </a:extLst>
              </a:tr>
              <a:tr h="402336">
                <a:tc>
                  <a:txBody>
                    <a:bodyPr/>
                    <a:lstStyle/>
                    <a:p>
                      <a:pPr algn="ctr">
                        <a:lnSpc>
                          <a:spcPct val="105000"/>
                        </a:lnSpc>
                      </a:pPr>
                      <a:r>
                        <a:rPr sz="950" b="0">
                          <a:solidFill>
                            <a:srgbClr val="2B3440"/>
                          </a:solidFill>
                          <a:latin typeface="Calibri"/>
                        </a:rPr>
                        <a:t>2</a:t>
                      </a:r>
                    </a:p>
                  </a:txBody>
                  <a:tcPr marL="100584" marR="73152" marT="41148" marB="41148" anchor="ctr">
                    <a:solidFill>
                      <a:srgbClr val="F4F7FA"/>
                    </a:solidFill>
                  </a:tcPr>
                </a:tc>
                <a:tc>
                  <a:txBody>
                    <a:bodyPr/>
                    <a:lstStyle/>
                    <a:p>
                      <a:pPr algn="l">
                        <a:lnSpc>
                          <a:spcPct val="105000"/>
                        </a:lnSpc>
                      </a:pPr>
                      <a:r>
                        <a:rPr sz="950" b="0">
                          <a:solidFill>
                            <a:srgbClr val="2B3440"/>
                          </a:solidFill>
                          <a:latin typeface="Calibri"/>
                        </a:rPr>
                        <a:t>Xác minh và bổ sung thông tin</a:t>
                      </a:r>
                    </a:p>
                  </a:txBody>
                  <a:tcPr marL="100584" marR="73152" marT="41148" marB="41148" anchor="ctr">
                    <a:solidFill>
                      <a:srgbClr val="F4F7FA"/>
                    </a:solidFill>
                  </a:tcPr>
                </a:tc>
                <a:tc>
                  <a:txBody>
                    <a:bodyPr/>
                    <a:lstStyle/>
                    <a:p>
                      <a:pPr algn="l">
                        <a:lnSpc>
                          <a:spcPct val="105000"/>
                        </a:lnSpc>
                      </a:pPr>
                      <a:r>
                        <a:rPr sz="950" b="0">
                          <a:solidFill>
                            <a:srgbClr val="2B3440"/>
                          </a:solidFill>
                          <a:latin typeface="Calibri"/>
                        </a:rPr>
                        <a:t>1,0 giờ</a:t>
                      </a:r>
                    </a:p>
                  </a:txBody>
                  <a:tcPr marL="100584" marR="73152" marT="41148" marB="41148" anchor="ctr">
                    <a:solidFill>
                      <a:srgbClr val="F4F7FA"/>
                    </a:solidFill>
                  </a:tcPr>
                </a:tc>
                <a:tc>
                  <a:txBody>
                    <a:bodyPr/>
                    <a:lstStyle/>
                    <a:p>
                      <a:pPr algn="l">
                        <a:lnSpc>
                          <a:spcPct val="105000"/>
                        </a:lnSpc>
                      </a:pPr>
                      <a:r>
                        <a:rPr sz="950" b="1">
                          <a:solidFill>
                            <a:srgbClr val="B54A08"/>
                          </a:solidFill>
                          <a:latin typeface="Calibri"/>
                        </a:rPr>
                        <a:t>4,0 giờ</a:t>
                      </a:r>
                    </a:p>
                  </a:txBody>
                  <a:tcPr marL="100584" marR="73152" marT="41148" marB="41148" anchor="ctr">
                    <a:solidFill>
                      <a:srgbClr val="FFF6E8"/>
                    </a:solidFill>
                  </a:tcPr>
                </a:tc>
                <a:extLst>
                  <a:ext uri="{0D108BD9-81ED-4DB2-BD59-A6C34878D82A}">
                    <a16:rowId xmlns:a16="http://schemas.microsoft.com/office/drawing/2014/main" val="10002"/>
                  </a:ext>
                </a:extLst>
              </a:tr>
              <a:tr h="402336">
                <a:tc>
                  <a:txBody>
                    <a:bodyPr/>
                    <a:lstStyle/>
                    <a:p>
                      <a:pPr algn="ctr">
                        <a:lnSpc>
                          <a:spcPct val="105000"/>
                        </a:lnSpc>
                      </a:pPr>
                      <a:r>
                        <a:rPr sz="950" b="0">
                          <a:solidFill>
                            <a:srgbClr val="2B3440"/>
                          </a:solidFill>
                          <a:latin typeface="Calibri"/>
                        </a:rPr>
                        <a:t>3</a:t>
                      </a:r>
                    </a:p>
                  </a:txBody>
                  <a:tcPr marL="100584" marR="73152" marT="41148" marB="41148" anchor="ctr">
                    <a:solidFill>
                      <a:srgbClr val="FFFFFF"/>
                    </a:solidFill>
                  </a:tcPr>
                </a:tc>
                <a:tc>
                  <a:txBody>
                    <a:bodyPr/>
                    <a:lstStyle/>
                    <a:p>
                      <a:pPr algn="l">
                        <a:lnSpc>
                          <a:spcPct val="105000"/>
                        </a:lnSpc>
                      </a:pPr>
                      <a:r>
                        <a:rPr sz="950" b="0">
                          <a:solidFill>
                            <a:srgbClr val="2B3440"/>
                          </a:solidFill>
                          <a:latin typeface="Calibri"/>
                        </a:rPr>
                        <a:t>Đánh giá sơ bộ tình trạng thiết bị</a:t>
                      </a:r>
                    </a:p>
                  </a:txBody>
                  <a:tcPr marL="100584" marR="73152" marT="41148" marB="41148" anchor="ctr">
                    <a:solidFill>
                      <a:srgbClr val="FFFFFF"/>
                    </a:solidFill>
                  </a:tcPr>
                </a:tc>
                <a:tc>
                  <a:txBody>
                    <a:bodyPr/>
                    <a:lstStyle/>
                    <a:p>
                      <a:pPr algn="l">
                        <a:lnSpc>
                          <a:spcPct val="105000"/>
                        </a:lnSpc>
                      </a:pPr>
                      <a:r>
                        <a:rPr sz="950" b="0">
                          <a:solidFill>
                            <a:srgbClr val="2B3440"/>
                          </a:solidFill>
                          <a:latin typeface="Calibri"/>
                        </a:rPr>
                        <a:t>1,0 giờ</a:t>
                      </a:r>
                    </a:p>
                  </a:txBody>
                  <a:tcPr marL="100584" marR="73152" marT="41148" marB="41148" anchor="ctr">
                    <a:solidFill>
                      <a:srgbClr val="FFFFFF"/>
                    </a:solidFill>
                  </a:tcPr>
                </a:tc>
                <a:tc>
                  <a:txBody>
                    <a:bodyPr/>
                    <a:lstStyle/>
                    <a:p>
                      <a:pPr algn="l">
                        <a:lnSpc>
                          <a:spcPct val="105000"/>
                        </a:lnSpc>
                      </a:pPr>
                      <a:r>
                        <a:rPr sz="950" b="0">
                          <a:solidFill>
                            <a:srgbClr val="2B3440"/>
                          </a:solidFill>
                          <a:latin typeface="Calibri"/>
                        </a:rPr>
                        <a:t>2,0 giờ</a:t>
                      </a:r>
                    </a:p>
                  </a:txBody>
                  <a:tcPr marL="100584" marR="73152" marT="41148" marB="41148" anchor="ctr">
                    <a:solidFill>
                      <a:srgbClr val="FFFFFF"/>
                    </a:solidFill>
                  </a:tcPr>
                </a:tc>
                <a:extLst>
                  <a:ext uri="{0D108BD9-81ED-4DB2-BD59-A6C34878D82A}">
                    <a16:rowId xmlns:a16="http://schemas.microsoft.com/office/drawing/2014/main" val="10003"/>
                  </a:ext>
                </a:extLst>
              </a:tr>
              <a:tr h="402336">
                <a:tc>
                  <a:txBody>
                    <a:bodyPr/>
                    <a:lstStyle/>
                    <a:p>
                      <a:pPr algn="ctr">
                        <a:lnSpc>
                          <a:spcPct val="105000"/>
                        </a:lnSpc>
                      </a:pPr>
                      <a:r>
                        <a:rPr sz="950" b="0">
                          <a:solidFill>
                            <a:srgbClr val="2B3440"/>
                          </a:solidFill>
                          <a:latin typeface="Calibri"/>
                        </a:rPr>
                        <a:t>4</a:t>
                      </a:r>
                    </a:p>
                  </a:txBody>
                  <a:tcPr marL="100584" marR="73152" marT="41148" marB="41148" anchor="ctr">
                    <a:solidFill>
                      <a:srgbClr val="F4F7FA"/>
                    </a:solidFill>
                  </a:tcPr>
                </a:tc>
                <a:tc>
                  <a:txBody>
                    <a:bodyPr/>
                    <a:lstStyle/>
                    <a:p>
                      <a:pPr algn="l">
                        <a:lnSpc>
                          <a:spcPct val="105000"/>
                        </a:lnSpc>
                      </a:pPr>
                      <a:r>
                        <a:rPr sz="950" b="0">
                          <a:solidFill>
                            <a:srgbClr val="2B3440"/>
                          </a:solidFill>
                          <a:latin typeface="Calibri"/>
                        </a:rPr>
                        <a:t>Hỗ trợ kỹ thuật từ xa</a:t>
                      </a:r>
                    </a:p>
                  </a:txBody>
                  <a:tcPr marL="100584" marR="73152" marT="41148" marB="41148" anchor="ctr">
                    <a:solidFill>
                      <a:srgbClr val="F4F7FA"/>
                    </a:solidFill>
                  </a:tcPr>
                </a:tc>
                <a:tc>
                  <a:txBody>
                    <a:bodyPr/>
                    <a:lstStyle/>
                    <a:p>
                      <a:pPr algn="l">
                        <a:lnSpc>
                          <a:spcPct val="105000"/>
                        </a:lnSpc>
                      </a:pPr>
                      <a:r>
                        <a:rPr sz="950" b="0">
                          <a:solidFill>
                            <a:srgbClr val="2B3440"/>
                          </a:solidFill>
                          <a:latin typeface="Calibri"/>
                        </a:rPr>
                        <a:t>1,5 giờ</a:t>
                      </a:r>
                    </a:p>
                  </a:txBody>
                  <a:tcPr marL="100584" marR="73152" marT="41148" marB="41148" anchor="ctr">
                    <a:solidFill>
                      <a:srgbClr val="F4F7FA"/>
                    </a:solidFill>
                  </a:tcPr>
                </a:tc>
                <a:tc>
                  <a:txBody>
                    <a:bodyPr/>
                    <a:lstStyle/>
                    <a:p>
                      <a:pPr algn="l">
                        <a:lnSpc>
                          <a:spcPct val="105000"/>
                        </a:lnSpc>
                      </a:pPr>
                      <a:r>
                        <a:rPr sz="950" b="0">
                          <a:solidFill>
                            <a:srgbClr val="2B3440"/>
                          </a:solidFill>
                          <a:latin typeface="Calibri"/>
                        </a:rPr>
                        <a:t>2,0 giờ</a:t>
                      </a:r>
                    </a:p>
                  </a:txBody>
                  <a:tcPr marL="100584" marR="73152" marT="41148" marB="41148" anchor="ctr">
                    <a:solidFill>
                      <a:srgbClr val="F4F7FA"/>
                    </a:solidFill>
                  </a:tcPr>
                </a:tc>
                <a:extLst>
                  <a:ext uri="{0D108BD9-81ED-4DB2-BD59-A6C34878D82A}">
                    <a16:rowId xmlns:a16="http://schemas.microsoft.com/office/drawing/2014/main" val="10004"/>
                  </a:ext>
                </a:extLst>
              </a:tr>
              <a:tr h="402336">
                <a:tc>
                  <a:txBody>
                    <a:bodyPr/>
                    <a:lstStyle/>
                    <a:p>
                      <a:pPr algn="ctr">
                        <a:lnSpc>
                          <a:spcPct val="105000"/>
                        </a:lnSpc>
                      </a:pPr>
                      <a:r>
                        <a:rPr sz="950" b="0">
                          <a:solidFill>
                            <a:srgbClr val="2B3440"/>
                          </a:solidFill>
                          <a:latin typeface="Calibri"/>
                        </a:rPr>
                        <a:t>5</a:t>
                      </a:r>
                    </a:p>
                  </a:txBody>
                  <a:tcPr marL="100584" marR="73152" marT="41148" marB="41148" anchor="ctr">
                    <a:solidFill>
                      <a:srgbClr val="FFFFFF"/>
                    </a:solidFill>
                  </a:tcPr>
                </a:tc>
                <a:tc>
                  <a:txBody>
                    <a:bodyPr/>
                    <a:lstStyle/>
                    <a:p>
                      <a:pPr algn="l">
                        <a:lnSpc>
                          <a:spcPct val="105000"/>
                        </a:lnSpc>
                      </a:pPr>
                      <a:r>
                        <a:rPr sz="950" b="0">
                          <a:solidFill>
                            <a:srgbClr val="2B3440"/>
                          </a:solidFill>
                          <a:latin typeface="Calibri"/>
                        </a:rPr>
                        <a:t>Điều phối và lên lịch onsite</a:t>
                      </a:r>
                    </a:p>
                  </a:txBody>
                  <a:tcPr marL="100584" marR="73152" marT="41148" marB="41148" anchor="ctr">
                    <a:solidFill>
                      <a:srgbClr val="FFFFFF"/>
                    </a:solidFill>
                  </a:tcPr>
                </a:tc>
                <a:tc>
                  <a:txBody>
                    <a:bodyPr/>
                    <a:lstStyle/>
                    <a:p>
                      <a:pPr algn="l">
                        <a:lnSpc>
                          <a:spcPct val="105000"/>
                        </a:lnSpc>
                      </a:pPr>
                      <a:r>
                        <a:rPr sz="950" b="0">
                          <a:solidFill>
                            <a:srgbClr val="2B3440"/>
                          </a:solidFill>
                          <a:latin typeface="Calibri"/>
                        </a:rPr>
                        <a:t>0,5 giờ</a:t>
                      </a:r>
                    </a:p>
                  </a:txBody>
                  <a:tcPr marL="100584" marR="73152" marT="41148" marB="41148" anchor="ctr">
                    <a:solidFill>
                      <a:srgbClr val="FFFFFF"/>
                    </a:solidFill>
                  </a:tcPr>
                </a:tc>
                <a:tc>
                  <a:txBody>
                    <a:bodyPr/>
                    <a:lstStyle/>
                    <a:p>
                      <a:pPr algn="l">
                        <a:lnSpc>
                          <a:spcPct val="105000"/>
                        </a:lnSpc>
                      </a:pPr>
                      <a:r>
                        <a:rPr sz="950" b="1">
                          <a:solidFill>
                            <a:srgbClr val="B54A08"/>
                          </a:solidFill>
                          <a:latin typeface="Calibri"/>
                        </a:rPr>
                        <a:t>8,0 giờ</a:t>
                      </a:r>
                    </a:p>
                  </a:txBody>
                  <a:tcPr marL="100584" marR="73152" marT="41148" marB="41148" anchor="ctr">
                    <a:solidFill>
                      <a:srgbClr val="FFF6E8"/>
                    </a:solidFill>
                  </a:tcPr>
                </a:tc>
                <a:extLst>
                  <a:ext uri="{0D108BD9-81ED-4DB2-BD59-A6C34878D82A}">
                    <a16:rowId xmlns:a16="http://schemas.microsoft.com/office/drawing/2014/main" val="10005"/>
                  </a:ext>
                </a:extLst>
              </a:tr>
              <a:tr h="402336">
                <a:tc>
                  <a:txBody>
                    <a:bodyPr/>
                    <a:lstStyle/>
                    <a:p>
                      <a:pPr algn="ctr">
                        <a:lnSpc>
                          <a:spcPct val="105000"/>
                        </a:lnSpc>
                      </a:pPr>
                      <a:r>
                        <a:rPr sz="950" b="0">
                          <a:solidFill>
                            <a:srgbClr val="2B3440"/>
                          </a:solidFill>
                          <a:latin typeface="Calibri"/>
                        </a:rPr>
                        <a:t>6</a:t>
                      </a:r>
                    </a:p>
                  </a:txBody>
                  <a:tcPr marL="100584" marR="73152" marT="41148" marB="41148" anchor="ctr">
                    <a:solidFill>
                      <a:srgbClr val="F4F7FA"/>
                    </a:solidFill>
                  </a:tcPr>
                </a:tc>
                <a:tc>
                  <a:txBody>
                    <a:bodyPr/>
                    <a:lstStyle/>
                    <a:p>
                      <a:pPr algn="l">
                        <a:lnSpc>
                          <a:spcPct val="105000"/>
                        </a:lnSpc>
                      </a:pPr>
                      <a:r>
                        <a:rPr sz="950" b="0">
                          <a:solidFill>
                            <a:srgbClr val="2B3440"/>
                          </a:solidFill>
                          <a:latin typeface="Calibri"/>
                        </a:rPr>
                        <a:t>Kiểm tra, chẩn đoán tại hiện trường</a:t>
                      </a:r>
                    </a:p>
                  </a:txBody>
                  <a:tcPr marL="100584" marR="73152" marT="41148" marB="41148" anchor="ctr">
                    <a:solidFill>
                      <a:srgbClr val="F4F7FA"/>
                    </a:solidFill>
                  </a:tcPr>
                </a:tc>
                <a:tc>
                  <a:txBody>
                    <a:bodyPr/>
                    <a:lstStyle/>
                    <a:p>
                      <a:pPr algn="l">
                        <a:lnSpc>
                          <a:spcPct val="105000"/>
                        </a:lnSpc>
                      </a:pPr>
                      <a:r>
                        <a:rPr sz="950" b="0">
                          <a:solidFill>
                            <a:srgbClr val="2B3440"/>
                          </a:solidFill>
                          <a:latin typeface="Calibri"/>
                        </a:rPr>
                        <a:t>3,0 giờ</a:t>
                      </a:r>
                    </a:p>
                  </a:txBody>
                  <a:tcPr marL="100584" marR="73152" marT="41148" marB="41148" anchor="ctr">
                    <a:solidFill>
                      <a:srgbClr val="F4F7FA"/>
                    </a:solidFill>
                  </a:tcPr>
                </a:tc>
                <a:tc>
                  <a:txBody>
                    <a:bodyPr/>
                    <a:lstStyle/>
                    <a:p>
                      <a:pPr algn="l">
                        <a:lnSpc>
                          <a:spcPct val="105000"/>
                        </a:lnSpc>
                      </a:pPr>
                      <a:r>
                        <a:rPr sz="950" b="0">
                          <a:solidFill>
                            <a:srgbClr val="2B3440"/>
                          </a:solidFill>
                          <a:latin typeface="Calibri"/>
                        </a:rPr>
                        <a:t>–</a:t>
                      </a:r>
                    </a:p>
                  </a:txBody>
                  <a:tcPr marL="100584" marR="73152" marT="41148" marB="41148" anchor="ctr">
                    <a:solidFill>
                      <a:srgbClr val="F4F7FA"/>
                    </a:solidFill>
                  </a:tcPr>
                </a:tc>
                <a:extLst>
                  <a:ext uri="{0D108BD9-81ED-4DB2-BD59-A6C34878D82A}">
                    <a16:rowId xmlns:a16="http://schemas.microsoft.com/office/drawing/2014/main" val="10006"/>
                  </a:ext>
                </a:extLst>
              </a:tr>
              <a:tr h="402336">
                <a:tc>
                  <a:txBody>
                    <a:bodyPr/>
                    <a:lstStyle/>
                    <a:p>
                      <a:pPr algn="ctr">
                        <a:lnSpc>
                          <a:spcPct val="105000"/>
                        </a:lnSpc>
                      </a:pPr>
                      <a:r>
                        <a:rPr sz="950" b="0">
                          <a:solidFill>
                            <a:srgbClr val="2B3440"/>
                          </a:solidFill>
                          <a:latin typeface="Calibri"/>
                        </a:rPr>
                        <a:t>7</a:t>
                      </a:r>
                    </a:p>
                  </a:txBody>
                  <a:tcPr marL="100584" marR="73152" marT="41148" marB="41148" anchor="ctr">
                    <a:solidFill>
                      <a:srgbClr val="FFFFFF"/>
                    </a:solidFill>
                  </a:tcPr>
                </a:tc>
                <a:tc>
                  <a:txBody>
                    <a:bodyPr/>
                    <a:lstStyle/>
                    <a:p>
                      <a:pPr algn="l">
                        <a:lnSpc>
                          <a:spcPct val="105000"/>
                        </a:lnSpc>
                      </a:pPr>
                      <a:r>
                        <a:rPr sz="950" b="0">
                          <a:solidFill>
                            <a:srgbClr val="2B3440"/>
                          </a:solidFill>
                          <a:latin typeface="Calibri"/>
                        </a:rPr>
                        <a:t>Xác định phạm vi và điều kiện dịch vụ</a:t>
                      </a:r>
                    </a:p>
                  </a:txBody>
                  <a:tcPr marL="100584" marR="73152" marT="41148" marB="41148" anchor="ctr">
                    <a:solidFill>
                      <a:srgbClr val="FFFFFF"/>
                    </a:solidFill>
                  </a:tcPr>
                </a:tc>
                <a:tc>
                  <a:txBody>
                    <a:bodyPr/>
                    <a:lstStyle/>
                    <a:p>
                      <a:pPr algn="l">
                        <a:lnSpc>
                          <a:spcPct val="105000"/>
                        </a:lnSpc>
                      </a:pPr>
                      <a:r>
                        <a:rPr sz="950" b="0">
                          <a:solidFill>
                            <a:srgbClr val="2B3440"/>
                          </a:solidFill>
                          <a:latin typeface="Calibri"/>
                        </a:rPr>
                        <a:t>1,0 giờ</a:t>
                      </a:r>
                    </a:p>
                  </a:txBody>
                  <a:tcPr marL="100584" marR="73152" marT="41148" marB="41148" anchor="ctr">
                    <a:solidFill>
                      <a:srgbClr val="FFFFFF"/>
                    </a:solidFill>
                  </a:tcPr>
                </a:tc>
                <a:tc>
                  <a:txBody>
                    <a:bodyPr/>
                    <a:lstStyle/>
                    <a:p>
                      <a:pPr algn="l">
                        <a:lnSpc>
                          <a:spcPct val="105000"/>
                        </a:lnSpc>
                      </a:pPr>
                      <a:r>
                        <a:rPr sz="950" b="0" dirty="0">
                          <a:solidFill>
                            <a:srgbClr val="2B3440"/>
                          </a:solidFill>
                          <a:latin typeface="Calibri"/>
                        </a:rPr>
                        <a:t>2,0 </a:t>
                      </a:r>
                      <a:r>
                        <a:rPr sz="950" b="0" dirty="0" err="1">
                          <a:solidFill>
                            <a:srgbClr val="2B3440"/>
                          </a:solidFill>
                          <a:latin typeface="Calibri"/>
                        </a:rPr>
                        <a:t>giờ</a:t>
                      </a:r>
                      <a:endParaRPr sz="950" b="0" dirty="0">
                        <a:solidFill>
                          <a:srgbClr val="2B3440"/>
                        </a:solidFill>
                        <a:latin typeface="Calibri"/>
                      </a:endParaRPr>
                    </a:p>
                  </a:txBody>
                  <a:tcPr marL="100584" marR="73152" marT="41148" marB="41148" anchor="ctr">
                    <a:solidFill>
                      <a:srgbClr val="FFFFFF"/>
                    </a:solidFill>
                  </a:tcPr>
                </a:tc>
                <a:extLst>
                  <a:ext uri="{0D108BD9-81ED-4DB2-BD59-A6C34878D82A}">
                    <a16:rowId xmlns:a16="http://schemas.microsoft.com/office/drawing/2014/main" val="10007"/>
                  </a:ext>
                </a:extLst>
              </a:tr>
            </a:tbl>
          </a:graphicData>
        </a:graphic>
      </p:graphicFrame>
      <p:graphicFrame>
        <p:nvGraphicFramePr>
          <p:cNvPr id="10" name="Table 9"/>
          <p:cNvGraphicFramePr>
            <a:graphicFrameLocks noGrp="1"/>
          </p:cNvGraphicFramePr>
          <p:nvPr/>
        </p:nvGraphicFramePr>
        <p:xfrm>
          <a:off x="6233007" y="1828800"/>
          <a:ext cx="5299862" cy="3182112"/>
        </p:xfrm>
        <a:graphic>
          <a:graphicData uri="http://schemas.openxmlformats.org/drawingml/2006/table">
            <a:tbl>
              <a:tblPr firstRow="1">
                <a:tableStyleId>{5C22544A-7EE6-4342-B048-85BDC9FD1C3A}</a:tableStyleId>
              </a:tblPr>
              <a:tblGrid>
                <a:gridCol w="475488">
                  <a:extLst>
                    <a:ext uri="{9D8B030D-6E8A-4147-A177-3AD203B41FA5}">
                      <a16:colId xmlns:a16="http://schemas.microsoft.com/office/drawing/2014/main" val="20000"/>
                    </a:ext>
                  </a:extLst>
                </a:gridCol>
                <a:gridCol w="3072384">
                  <a:extLst>
                    <a:ext uri="{9D8B030D-6E8A-4147-A177-3AD203B41FA5}">
                      <a16:colId xmlns:a16="http://schemas.microsoft.com/office/drawing/2014/main" val="20001"/>
                    </a:ext>
                  </a:extLst>
                </a:gridCol>
                <a:gridCol w="896112">
                  <a:extLst>
                    <a:ext uri="{9D8B030D-6E8A-4147-A177-3AD203B41FA5}">
                      <a16:colId xmlns:a16="http://schemas.microsoft.com/office/drawing/2014/main" val="20002"/>
                    </a:ext>
                  </a:extLst>
                </a:gridCol>
                <a:gridCol w="855878">
                  <a:extLst>
                    <a:ext uri="{9D8B030D-6E8A-4147-A177-3AD203B41FA5}">
                      <a16:colId xmlns:a16="http://schemas.microsoft.com/office/drawing/2014/main" val="20003"/>
                    </a:ext>
                  </a:extLst>
                </a:gridCol>
              </a:tblGrid>
              <a:tr h="365760">
                <a:tc>
                  <a:txBody>
                    <a:bodyPr/>
                    <a:lstStyle/>
                    <a:p>
                      <a:pPr algn="ctr">
                        <a:lnSpc>
                          <a:spcPct val="105000"/>
                        </a:lnSpc>
                      </a:pPr>
                      <a:r>
                        <a:rPr sz="950" b="1">
                          <a:solidFill>
                            <a:srgbClr val="FFFFFF"/>
                          </a:solidFill>
                          <a:latin typeface="Calibri"/>
                        </a:rPr>
                        <a:t>STT</a:t>
                      </a:r>
                    </a:p>
                  </a:txBody>
                  <a:tcPr marL="100584" marR="73152" marT="41148" marB="41148" anchor="ctr">
                    <a:solidFill>
                      <a:srgbClr val="0A2540"/>
                    </a:solidFill>
                  </a:tcPr>
                </a:tc>
                <a:tc>
                  <a:txBody>
                    <a:bodyPr/>
                    <a:lstStyle/>
                    <a:p>
                      <a:pPr algn="ctr">
                        <a:lnSpc>
                          <a:spcPct val="105000"/>
                        </a:lnSpc>
                      </a:pPr>
                      <a:r>
                        <a:rPr sz="950" b="1">
                          <a:solidFill>
                            <a:srgbClr val="FFFFFF"/>
                          </a:solidFill>
                          <a:latin typeface="Calibri"/>
                        </a:rPr>
                        <a:t>HOẠT ĐỘNG / GIAI ĐOẠN</a:t>
                      </a:r>
                    </a:p>
                  </a:txBody>
                  <a:tcPr marL="100584" marR="73152" marT="41148" marB="41148" anchor="ctr">
                    <a:solidFill>
                      <a:srgbClr val="0A2540"/>
                    </a:solidFill>
                  </a:tcPr>
                </a:tc>
                <a:tc>
                  <a:txBody>
                    <a:bodyPr/>
                    <a:lstStyle/>
                    <a:p>
                      <a:pPr algn="ctr">
                        <a:lnSpc>
                          <a:spcPct val="105000"/>
                        </a:lnSpc>
                      </a:pPr>
                      <a:r>
                        <a:rPr sz="950" b="1">
                          <a:solidFill>
                            <a:srgbClr val="FFFFFF"/>
                          </a:solidFill>
                          <a:latin typeface="Calibri"/>
                        </a:rPr>
                        <a:t>PT</a:t>
                      </a:r>
                    </a:p>
                  </a:txBody>
                  <a:tcPr marL="100584" marR="73152" marT="41148" marB="41148" anchor="ctr">
                    <a:solidFill>
                      <a:srgbClr val="0A2540"/>
                    </a:solidFill>
                  </a:tcPr>
                </a:tc>
                <a:tc>
                  <a:txBody>
                    <a:bodyPr/>
                    <a:lstStyle/>
                    <a:p>
                      <a:pPr algn="ctr">
                        <a:lnSpc>
                          <a:spcPct val="105000"/>
                        </a:lnSpc>
                      </a:pPr>
                      <a:r>
                        <a:rPr sz="950" b="1">
                          <a:solidFill>
                            <a:srgbClr val="FFFFFF"/>
                          </a:solidFill>
                          <a:latin typeface="Calibri"/>
                        </a:rPr>
                        <a:t>WT</a:t>
                      </a:r>
                    </a:p>
                  </a:txBody>
                  <a:tcPr marL="100584" marR="73152" marT="41148" marB="41148" anchor="ctr">
                    <a:solidFill>
                      <a:srgbClr val="0A2540"/>
                    </a:solidFill>
                  </a:tcPr>
                </a:tc>
                <a:extLst>
                  <a:ext uri="{0D108BD9-81ED-4DB2-BD59-A6C34878D82A}">
                    <a16:rowId xmlns:a16="http://schemas.microsoft.com/office/drawing/2014/main" val="10000"/>
                  </a:ext>
                </a:extLst>
              </a:tr>
              <a:tr h="402336">
                <a:tc>
                  <a:txBody>
                    <a:bodyPr/>
                    <a:lstStyle/>
                    <a:p>
                      <a:pPr algn="ctr">
                        <a:lnSpc>
                          <a:spcPct val="105000"/>
                        </a:lnSpc>
                      </a:pPr>
                      <a:r>
                        <a:rPr sz="950" b="0">
                          <a:solidFill>
                            <a:srgbClr val="2B3440"/>
                          </a:solidFill>
                          <a:latin typeface="Calibri"/>
                        </a:rPr>
                        <a:t>8</a:t>
                      </a:r>
                    </a:p>
                  </a:txBody>
                  <a:tcPr marL="100584" marR="73152" marT="41148" marB="41148" anchor="ctr">
                    <a:solidFill>
                      <a:srgbClr val="FFFFFF"/>
                    </a:solidFill>
                  </a:tcPr>
                </a:tc>
                <a:tc>
                  <a:txBody>
                    <a:bodyPr/>
                    <a:lstStyle/>
                    <a:p>
                      <a:pPr algn="l">
                        <a:lnSpc>
                          <a:spcPct val="105000"/>
                        </a:lnSpc>
                      </a:pPr>
                      <a:r>
                        <a:rPr sz="950" b="0">
                          <a:solidFill>
                            <a:srgbClr val="2B3440"/>
                          </a:solidFill>
                          <a:latin typeface="Calibri"/>
                        </a:rPr>
                        <a:t>Chuẩn bị báo giá (dịch vụ có tính phí)</a:t>
                      </a:r>
                    </a:p>
                  </a:txBody>
                  <a:tcPr marL="100584" marR="73152" marT="41148" marB="41148" anchor="ctr">
                    <a:solidFill>
                      <a:srgbClr val="FFFFFF"/>
                    </a:solidFill>
                  </a:tcPr>
                </a:tc>
                <a:tc>
                  <a:txBody>
                    <a:bodyPr/>
                    <a:lstStyle/>
                    <a:p>
                      <a:pPr algn="l">
                        <a:lnSpc>
                          <a:spcPct val="105000"/>
                        </a:lnSpc>
                      </a:pPr>
                      <a:r>
                        <a:rPr sz="950" b="0">
                          <a:solidFill>
                            <a:srgbClr val="2B3440"/>
                          </a:solidFill>
                          <a:latin typeface="Calibri"/>
                        </a:rPr>
                        <a:t>2,0 giờ</a:t>
                      </a:r>
                    </a:p>
                  </a:txBody>
                  <a:tcPr marL="100584" marR="73152" marT="41148" marB="41148" anchor="ctr">
                    <a:solidFill>
                      <a:srgbClr val="FFFFFF"/>
                    </a:solidFill>
                  </a:tcPr>
                </a:tc>
                <a:tc>
                  <a:txBody>
                    <a:bodyPr/>
                    <a:lstStyle/>
                    <a:p>
                      <a:pPr algn="l">
                        <a:lnSpc>
                          <a:spcPct val="105000"/>
                        </a:lnSpc>
                      </a:pPr>
                      <a:r>
                        <a:rPr sz="950" b="0">
                          <a:solidFill>
                            <a:srgbClr val="2B3440"/>
                          </a:solidFill>
                          <a:latin typeface="Calibri"/>
                        </a:rPr>
                        <a:t>–</a:t>
                      </a:r>
                    </a:p>
                  </a:txBody>
                  <a:tcPr marL="100584" marR="73152" marT="41148" marB="41148" anchor="ctr">
                    <a:solidFill>
                      <a:srgbClr val="FFFFFF"/>
                    </a:solidFill>
                  </a:tcPr>
                </a:tc>
                <a:extLst>
                  <a:ext uri="{0D108BD9-81ED-4DB2-BD59-A6C34878D82A}">
                    <a16:rowId xmlns:a16="http://schemas.microsoft.com/office/drawing/2014/main" val="10001"/>
                  </a:ext>
                </a:extLst>
              </a:tr>
              <a:tr h="402336">
                <a:tc>
                  <a:txBody>
                    <a:bodyPr/>
                    <a:lstStyle/>
                    <a:p>
                      <a:pPr algn="ctr">
                        <a:lnSpc>
                          <a:spcPct val="105000"/>
                        </a:lnSpc>
                      </a:pPr>
                      <a:r>
                        <a:rPr sz="950" b="0">
                          <a:solidFill>
                            <a:srgbClr val="2B3440"/>
                          </a:solidFill>
                          <a:latin typeface="Calibri"/>
                        </a:rPr>
                        <a:t>9</a:t>
                      </a:r>
                    </a:p>
                  </a:txBody>
                  <a:tcPr marL="100584" marR="73152" marT="41148" marB="41148" anchor="ctr">
                    <a:solidFill>
                      <a:srgbClr val="F4F7FA"/>
                    </a:solidFill>
                  </a:tcPr>
                </a:tc>
                <a:tc>
                  <a:txBody>
                    <a:bodyPr/>
                    <a:lstStyle/>
                    <a:p>
                      <a:pPr algn="l">
                        <a:lnSpc>
                          <a:spcPct val="105000"/>
                        </a:lnSpc>
                      </a:pPr>
                      <a:r>
                        <a:rPr sz="950" b="0">
                          <a:solidFill>
                            <a:srgbClr val="2B3440"/>
                          </a:solidFill>
                          <a:latin typeface="Calibri"/>
                        </a:rPr>
                        <a:t>Distributor / Hospital xác nhận báo giá</a:t>
                      </a:r>
                    </a:p>
                  </a:txBody>
                  <a:tcPr marL="100584" marR="73152" marT="41148" marB="41148" anchor="ctr">
                    <a:solidFill>
                      <a:srgbClr val="F4F7FA"/>
                    </a:solidFill>
                  </a:tcPr>
                </a:tc>
                <a:tc>
                  <a:txBody>
                    <a:bodyPr/>
                    <a:lstStyle/>
                    <a:p>
                      <a:pPr algn="l">
                        <a:lnSpc>
                          <a:spcPct val="105000"/>
                        </a:lnSpc>
                      </a:pPr>
                      <a:r>
                        <a:rPr sz="950" b="0">
                          <a:solidFill>
                            <a:srgbClr val="2B3440"/>
                          </a:solidFill>
                          <a:latin typeface="Calibri"/>
                        </a:rPr>
                        <a:t>–</a:t>
                      </a:r>
                    </a:p>
                  </a:txBody>
                  <a:tcPr marL="100584" marR="73152" marT="41148" marB="41148" anchor="ctr">
                    <a:solidFill>
                      <a:srgbClr val="F4F7FA"/>
                    </a:solidFill>
                  </a:tcPr>
                </a:tc>
                <a:tc>
                  <a:txBody>
                    <a:bodyPr/>
                    <a:lstStyle/>
                    <a:p>
                      <a:pPr algn="l">
                        <a:lnSpc>
                          <a:spcPct val="105000"/>
                        </a:lnSpc>
                      </a:pPr>
                      <a:r>
                        <a:rPr sz="950" b="1">
                          <a:solidFill>
                            <a:srgbClr val="D92D20"/>
                          </a:solidFill>
                          <a:latin typeface="Calibri"/>
                        </a:rPr>
                        <a:t>16,0 giờ</a:t>
                      </a:r>
                    </a:p>
                  </a:txBody>
                  <a:tcPr marL="100584" marR="73152" marT="41148" marB="41148" anchor="ctr">
                    <a:solidFill>
                      <a:srgbClr val="FEF3F2"/>
                    </a:solidFill>
                  </a:tcPr>
                </a:tc>
                <a:extLst>
                  <a:ext uri="{0D108BD9-81ED-4DB2-BD59-A6C34878D82A}">
                    <a16:rowId xmlns:a16="http://schemas.microsoft.com/office/drawing/2014/main" val="10002"/>
                  </a:ext>
                </a:extLst>
              </a:tr>
              <a:tr h="402336">
                <a:tc>
                  <a:txBody>
                    <a:bodyPr/>
                    <a:lstStyle/>
                    <a:p>
                      <a:pPr algn="ctr">
                        <a:lnSpc>
                          <a:spcPct val="105000"/>
                        </a:lnSpc>
                      </a:pPr>
                      <a:r>
                        <a:rPr sz="950" b="0">
                          <a:solidFill>
                            <a:srgbClr val="2B3440"/>
                          </a:solidFill>
                          <a:latin typeface="Calibri"/>
                        </a:rPr>
                        <a:t>10</a:t>
                      </a:r>
                    </a:p>
                  </a:txBody>
                  <a:tcPr marL="100584" marR="73152" marT="41148" marB="41148" anchor="ctr">
                    <a:solidFill>
                      <a:srgbClr val="FFFFFF"/>
                    </a:solidFill>
                  </a:tcPr>
                </a:tc>
                <a:tc>
                  <a:txBody>
                    <a:bodyPr/>
                    <a:lstStyle/>
                    <a:p>
                      <a:pPr algn="l">
                        <a:lnSpc>
                          <a:spcPct val="105000"/>
                        </a:lnSpc>
                      </a:pPr>
                      <a:r>
                        <a:rPr sz="950" b="0">
                          <a:solidFill>
                            <a:srgbClr val="2B3440"/>
                          </a:solidFill>
                          <a:latin typeface="Calibri"/>
                        </a:rPr>
                        <a:t>Tạo và hoàn thiện Service Order</a:t>
                      </a:r>
                    </a:p>
                  </a:txBody>
                  <a:tcPr marL="100584" marR="73152" marT="41148" marB="41148" anchor="ctr">
                    <a:solidFill>
                      <a:srgbClr val="FFFFFF"/>
                    </a:solidFill>
                  </a:tcPr>
                </a:tc>
                <a:tc>
                  <a:txBody>
                    <a:bodyPr/>
                    <a:lstStyle/>
                    <a:p>
                      <a:pPr algn="l">
                        <a:lnSpc>
                          <a:spcPct val="105000"/>
                        </a:lnSpc>
                      </a:pPr>
                      <a:r>
                        <a:rPr sz="950" b="0">
                          <a:solidFill>
                            <a:srgbClr val="2B3440"/>
                          </a:solidFill>
                          <a:latin typeface="Calibri"/>
                        </a:rPr>
                        <a:t>0,5 giờ</a:t>
                      </a:r>
                    </a:p>
                  </a:txBody>
                  <a:tcPr marL="100584" marR="73152" marT="41148" marB="41148" anchor="ctr">
                    <a:solidFill>
                      <a:srgbClr val="FFFFFF"/>
                    </a:solidFill>
                  </a:tcPr>
                </a:tc>
                <a:tc>
                  <a:txBody>
                    <a:bodyPr/>
                    <a:lstStyle/>
                    <a:p>
                      <a:pPr algn="l">
                        <a:lnSpc>
                          <a:spcPct val="105000"/>
                        </a:lnSpc>
                      </a:pPr>
                      <a:r>
                        <a:rPr sz="950" b="0">
                          <a:solidFill>
                            <a:srgbClr val="2B3440"/>
                          </a:solidFill>
                          <a:latin typeface="Calibri"/>
                        </a:rPr>
                        <a:t>–</a:t>
                      </a:r>
                    </a:p>
                  </a:txBody>
                  <a:tcPr marL="100584" marR="73152" marT="41148" marB="41148" anchor="ctr">
                    <a:solidFill>
                      <a:srgbClr val="FFFFFF"/>
                    </a:solidFill>
                  </a:tcPr>
                </a:tc>
                <a:extLst>
                  <a:ext uri="{0D108BD9-81ED-4DB2-BD59-A6C34878D82A}">
                    <a16:rowId xmlns:a16="http://schemas.microsoft.com/office/drawing/2014/main" val="10003"/>
                  </a:ext>
                </a:extLst>
              </a:tr>
              <a:tr h="402336">
                <a:tc>
                  <a:txBody>
                    <a:bodyPr/>
                    <a:lstStyle/>
                    <a:p>
                      <a:pPr algn="ctr">
                        <a:lnSpc>
                          <a:spcPct val="105000"/>
                        </a:lnSpc>
                      </a:pPr>
                      <a:r>
                        <a:rPr sz="950" b="0">
                          <a:solidFill>
                            <a:srgbClr val="2B3440"/>
                          </a:solidFill>
                          <a:latin typeface="Calibri"/>
                        </a:rPr>
                        <a:t>11</a:t>
                      </a:r>
                    </a:p>
                  </a:txBody>
                  <a:tcPr marL="100584" marR="73152" marT="41148" marB="41148" anchor="ctr">
                    <a:solidFill>
                      <a:srgbClr val="F4F7FA"/>
                    </a:solidFill>
                  </a:tcPr>
                </a:tc>
                <a:tc>
                  <a:txBody>
                    <a:bodyPr/>
                    <a:lstStyle/>
                    <a:p>
                      <a:pPr algn="l">
                        <a:lnSpc>
                          <a:spcPct val="105000"/>
                        </a:lnSpc>
                      </a:pPr>
                      <a:r>
                        <a:rPr sz="950" b="0">
                          <a:solidFill>
                            <a:srgbClr val="2B3440"/>
                          </a:solidFill>
                          <a:latin typeface="Calibri"/>
                        </a:rPr>
                        <a:t>Thực hiện dịch vụ kỹ thuật</a:t>
                      </a:r>
                    </a:p>
                  </a:txBody>
                  <a:tcPr marL="100584" marR="73152" marT="41148" marB="41148" anchor="ctr">
                    <a:solidFill>
                      <a:srgbClr val="F4F7FA"/>
                    </a:solidFill>
                  </a:tcPr>
                </a:tc>
                <a:tc>
                  <a:txBody>
                    <a:bodyPr/>
                    <a:lstStyle/>
                    <a:p>
                      <a:pPr algn="l">
                        <a:lnSpc>
                          <a:spcPct val="105000"/>
                        </a:lnSpc>
                      </a:pPr>
                      <a:r>
                        <a:rPr sz="950" b="1">
                          <a:solidFill>
                            <a:srgbClr val="006B5C"/>
                          </a:solidFill>
                          <a:latin typeface="Calibri"/>
                        </a:rPr>
                        <a:t>16,0 giờ</a:t>
                      </a:r>
                    </a:p>
                  </a:txBody>
                  <a:tcPr marL="100584" marR="73152" marT="41148" marB="41148" anchor="ctr">
                    <a:solidFill>
                      <a:srgbClr val="E7F7F3"/>
                    </a:solidFill>
                  </a:tcPr>
                </a:tc>
                <a:tc>
                  <a:txBody>
                    <a:bodyPr/>
                    <a:lstStyle/>
                    <a:p>
                      <a:pPr algn="l">
                        <a:lnSpc>
                          <a:spcPct val="105000"/>
                        </a:lnSpc>
                      </a:pPr>
                      <a:r>
                        <a:rPr sz="950" b="0">
                          <a:solidFill>
                            <a:srgbClr val="2B3440"/>
                          </a:solidFill>
                          <a:latin typeface="Calibri"/>
                        </a:rPr>
                        <a:t>–</a:t>
                      </a:r>
                    </a:p>
                  </a:txBody>
                  <a:tcPr marL="100584" marR="73152" marT="41148" marB="41148" anchor="ctr">
                    <a:solidFill>
                      <a:srgbClr val="F4F7FA"/>
                    </a:solidFill>
                  </a:tcPr>
                </a:tc>
                <a:extLst>
                  <a:ext uri="{0D108BD9-81ED-4DB2-BD59-A6C34878D82A}">
                    <a16:rowId xmlns:a16="http://schemas.microsoft.com/office/drawing/2014/main" val="10004"/>
                  </a:ext>
                </a:extLst>
              </a:tr>
              <a:tr h="402336">
                <a:tc>
                  <a:txBody>
                    <a:bodyPr/>
                    <a:lstStyle/>
                    <a:p>
                      <a:pPr algn="ctr">
                        <a:lnSpc>
                          <a:spcPct val="105000"/>
                        </a:lnSpc>
                      </a:pPr>
                      <a:r>
                        <a:rPr sz="950" b="0">
                          <a:solidFill>
                            <a:srgbClr val="2B3440"/>
                          </a:solidFill>
                          <a:latin typeface="Calibri"/>
                        </a:rPr>
                        <a:t>12</a:t>
                      </a:r>
                    </a:p>
                  </a:txBody>
                  <a:tcPr marL="100584" marR="73152" marT="41148" marB="41148" anchor="ctr">
                    <a:solidFill>
                      <a:srgbClr val="FFFFFF"/>
                    </a:solidFill>
                  </a:tcPr>
                </a:tc>
                <a:tc>
                  <a:txBody>
                    <a:bodyPr/>
                    <a:lstStyle/>
                    <a:p>
                      <a:pPr algn="l">
                        <a:lnSpc>
                          <a:spcPct val="105000"/>
                        </a:lnSpc>
                      </a:pPr>
                      <a:r>
                        <a:rPr sz="950" b="0">
                          <a:solidFill>
                            <a:srgbClr val="2B3440"/>
                          </a:solidFill>
                          <a:latin typeface="Calibri"/>
                        </a:rPr>
                        <a:t>Lập Service Report</a:t>
                      </a:r>
                    </a:p>
                  </a:txBody>
                  <a:tcPr marL="100584" marR="73152" marT="41148" marB="41148" anchor="ctr">
                    <a:solidFill>
                      <a:srgbClr val="FFFFFF"/>
                    </a:solidFill>
                  </a:tcPr>
                </a:tc>
                <a:tc>
                  <a:txBody>
                    <a:bodyPr/>
                    <a:lstStyle/>
                    <a:p>
                      <a:pPr algn="l">
                        <a:lnSpc>
                          <a:spcPct val="105000"/>
                        </a:lnSpc>
                      </a:pPr>
                      <a:r>
                        <a:rPr sz="950" b="0">
                          <a:solidFill>
                            <a:srgbClr val="2B3440"/>
                          </a:solidFill>
                          <a:latin typeface="Calibri"/>
                        </a:rPr>
                        <a:t>1,0 giờ</a:t>
                      </a:r>
                    </a:p>
                  </a:txBody>
                  <a:tcPr marL="100584" marR="73152" marT="41148" marB="41148" anchor="ctr">
                    <a:solidFill>
                      <a:srgbClr val="FFFFFF"/>
                    </a:solidFill>
                  </a:tcPr>
                </a:tc>
                <a:tc>
                  <a:txBody>
                    <a:bodyPr/>
                    <a:lstStyle/>
                    <a:p>
                      <a:pPr algn="l">
                        <a:lnSpc>
                          <a:spcPct val="105000"/>
                        </a:lnSpc>
                      </a:pPr>
                      <a:r>
                        <a:rPr sz="950" b="0">
                          <a:solidFill>
                            <a:srgbClr val="2B3440"/>
                          </a:solidFill>
                          <a:latin typeface="Calibri"/>
                        </a:rPr>
                        <a:t>–</a:t>
                      </a:r>
                    </a:p>
                  </a:txBody>
                  <a:tcPr marL="100584" marR="73152" marT="41148" marB="41148" anchor="ctr">
                    <a:solidFill>
                      <a:srgbClr val="FFFFFF"/>
                    </a:solidFill>
                  </a:tcPr>
                </a:tc>
                <a:extLst>
                  <a:ext uri="{0D108BD9-81ED-4DB2-BD59-A6C34878D82A}">
                    <a16:rowId xmlns:a16="http://schemas.microsoft.com/office/drawing/2014/main" val="10005"/>
                  </a:ext>
                </a:extLst>
              </a:tr>
              <a:tr h="402336">
                <a:tc>
                  <a:txBody>
                    <a:bodyPr/>
                    <a:lstStyle/>
                    <a:p>
                      <a:pPr algn="ctr">
                        <a:lnSpc>
                          <a:spcPct val="105000"/>
                        </a:lnSpc>
                      </a:pPr>
                      <a:r>
                        <a:rPr sz="950" b="0">
                          <a:solidFill>
                            <a:srgbClr val="2B3440"/>
                          </a:solidFill>
                          <a:latin typeface="Calibri"/>
                        </a:rPr>
                        <a:t>13</a:t>
                      </a:r>
                    </a:p>
                  </a:txBody>
                  <a:tcPr marL="100584" marR="73152" marT="41148" marB="41148" anchor="ctr">
                    <a:solidFill>
                      <a:srgbClr val="F4F7FA"/>
                    </a:solidFill>
                  </a:tcPr>
                </a:tc>
                <a:tc>
                  <a:txBody>
                    <a:bodyPr/>
                    <a:lstStyle/>
                    <a:p>
                      <a:pPr algn="l">
                        <a:lnSpc>
                          <a:spcPct val="105000"/>
                        </a:lnSpc>
                      </a:pPr>
                      <a:r>
                        <a:rPr sz="950" b="0">
                          <a:solidFill>
                            <a:srgbClr val="2B3440"/>
                          </a:solidFill>
                          <a:latin typeface="Calibri"/>
                        </a:rPr>
                        <a:t>Hospital / End-user xác nhận kết quả</a:t>
                      </a:r>
                    </a:p>
                  </a:txBody>
                  <a:tcPr marL="100584" marR="73152" marT="41148" marB="41148" anchor="ctr">
                    <a:solidFill>
                      <a:srgbClr val="F4F7FA"/>
                    </a:solidFill>
                  </a:tcPr>
                </a:tc>
                <a:tc>
                  <a:txBody>
                    <a:bodyPr/>
                    <a:lstStyle/>
                    <a:p>
                      <a:pPr algn="l">
                        <a:lnSpc>
                          <a:spcPct val="105000"/>
                        </a:lnSpc>
                      </a:pPr>
                      <a:r>
                        <a:rPr sz="950" b="0">
                          <a:solidFill>
                            <a:srgbClr val="2B3440"/>
                          </a:solidFill>
                          <a:latin typeface="Calibri"/>
                        </a:rPr>
                        <a:t>0,5 giờ</a:t>
                      </a:r>
                    </a:p>
                  </a:txBody>
                  <a:tcPr marL="100584" marR="73152" marT="41148" marB="41148" anchor="ctr">
                    <a:solidFill>
                      <a:srgbClr val="F4F7FA"/>
                    </a:solidFill>
                  </a:tcPr>
                </a:tc>
                <a:tc>
                  <a:txBody>
                    <a:bodyPr/>
                    <a:lstStyle/>
                    <a:p>
                      <a:pPr algn="l">
                        <a:lnSpc>
                          <a:spcPct val="105000"/>
                        </a:lnSpc>
                      </a:pPr>
                      <a:r>
                        <a:rPr sz="950" b="1">
                          <a:solidFill>
                            <a:srgbClr val="B54A08"/>
                          </a:solidFill>
                          <a:latin typeface="Calibri"/>
                        </a:rPr>
                        <a:t>8,0 giờ</a:t>
                      </a:r>
                    </a:p>
                  </a:txBody>
                  <a:tcPr marL="100584" marR="73152" marT="41148" marB="41148" anchor="ctr">
                    <a:solidFill>
                      <a:srgbClr val="FFF6E8"/>
                    </a:solidFill>
                  </a:tcPr>
                </a:tc>
                <a:extLst>
                  <a:ext uri="{0D108BD9-81ED-4DB2-BD59-A6C34878D82A}">
                    <a16:rowId xmlns:a16="http://schemas.microsoft.com/office/drawing/2014/main" val="10006"/>
                  </a:ext>
                </a:extLst>
              </a:tr>
              <a:tr h="402336">
                <a:tc>
                  <a:txBody>
                    <a:bodyPr/>
                    <a:lstStyle/>
                    <a:p>
                      <a:pPr algn="ctr">
                        <a:lnSpc>
                          <a:spcPct val="105000"/>
                        </a:lnSpc>
                      </a:pPr>
                      <a:r>
                        <a:rPr sz="950" b="0">
                          <a:solidFill>
                            <a:srgbClr val="2B3440"/>
                          </a:solidFill>
                          <a:latin typeface="Calibri"/>
                        </a:rPr>
                        <a:t>14</a:t>
                      </a:r>
                    </a:p>
                  </a:txBody>
                  <a:tcPr marL="100584" marR="73152" marT="41148" marB="41148" anchor="ctr">
                    <a:solidFill>
                      <a:srgbClr val="FFFFFF"/>
                    </a:solidFill>
                  </a:tcPr>
                </a:tc>
                <a:tc>
                  <a:txBody>
                    <a:bodyPr/>
                    <a:lstStyle/>
                    <a:p>
                      <a:pPr algn="l">
                        <a:lnSpc>
                          <a:spcPct val="105000"/>
                        </a:lnSpc>
                      </a:pPr>
                      <a:r>
                        <a:rPr sz="950" b="0">
                          <a:solidFill>
                            <a:srgbClr val="2B3440"/>
                          </a:solidFill>
                          <a:latin typeface="Calibri"/>
                        </a:rPr>
                        <a:t>Hoàn tất Service Order, cập nhật lịch sử</a:t>
                      </a:r>
                    </a:p>
                  </a:txBody>
                  <a:tcPr marL="100584" marR="73152" marT="41148" marB="41148" anchor="ctr">
                    <a:solidFill>
                      <a:srgbClr val="FFFFFF"/>
                    </a:solidFill>
                  </a:tcPr>
                </a:tc>
                <a:tc>
                  <a:txBody>
                    <a:bodyPr/>
                    <a:lstStyle/>
                    <a:p>
                      <a:pPr algn="l">
                        <a:lnSpc>
                          <a:spcPct val="105000"/>
                        </a:lnSpc>
                      </a:pPr>
                      <a:r>
                        <a:rPr sz="950" b="0">
                          <a:solidFill>
                            <a:srgbClr val="2B3440"/>
                          </a:solidFill>
                          <a:latin typeface="Calibri"/>
                        </a:rPr>
                        <a:t>0,5 giờ</a:t>
                      </a:r>
                    </a:p>
                  </a:txBody>
                  <a:tcPr marL="100584" marR="73152" marT="41148" marB="41148" anchor="ctr">
                    <a:solidFill>
                      <a:srgbClr val="FFFFFF"/>
                    </a:solidFill>
                  </a:tcPr>
                </a:tc>
                <a:tc>
                  <a:txBody>
                    <a:bodyPr/>
                    <a:lstStyle/>
                    <a:p>
                      <a:pPr algn="l">
                        <a:lnSpc>
                          <a:spcPct val="105000"/>
                        </a:lnSpc>
                      </a:pPr>
                      <a:r>
                        <a:rPr sz="950" b="0" dirty="0">
                          <a:solidFill>
                            <a:srgbClr val="2B3440"/>
                          </a:solidFill>
                          <a:latin typeface="Calibri"/>
                        </a:rPr>
                        <a:t>–</a:t>
                      </a:r>
                    </a:p>
                  </a:txBody>
                  <a:tcPr marL="100584" marR="73152" marT="41148" marB="41148" anchor="ctr">
                    <a:solidFill>
                      <a:srgbClr val="FFFFFF"/>
                    </a:solidFill>
                  </a:tcPr>
                </a:tc>
                <a:extLst>
                  <a:ext uri="{0D108BD9-81ED-4DB2-BD59-A6C34878D82A}">
                    <a16:rowId xmlns:a16="http://schemas.microsoft.com/office/drawing/2014/main" val="10007"/>
                  </a:ext>
                </a:extLst>
              </a:tr>
            </a:tbl>
          </a:graphicData>
        </a:graphic>
      </p:graphicFrame>
      <p:sp>
        <p:nvSpPr>
          <p:cNvPr id="11" name="Rectangle 10"/>
          <p:cNvSpPr/>
          <p:nvPr/>
        </p:nvSpPr>
        <p:spPr>
          <a:xfrm>
            <a:off x="658368" y="5010912"/>
            <a:ext cx="10874959" cy="786384"/>
          </a:xfrm>
          <a:prstGeom prst="rect">
            <a:avLst/>
          </a:prstGeom>
          <a:solidFill>
            <a:srgbClr val="E9F3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58368" y="5010912"/>
            <a:ext cx="50292" cy="786384"/>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50976" y="5010912"/>
            <a:ext cx="10280599" cy="786384"/>
          </a:xfrm>
          <a:prstGeom prst="rect">
            <a:avLst/>
          </a:prstGeom>
          <a:noFill/>
        </p:spPr>
        <p:txBody>
          <a:bodyPr wrap="square" lIns="0" tIns="0" rIns="0" bIns="0" anchor="ctr">
            <a:spAutoFit/>
          </a:bodyPr>
          <a:lstStyle/>
          <a:p>
            <a:pPr algn="l">
              <a:lnSpc>
                <a:spcPct val="126000"/>
              </a:lnSpc>
            </a:pPr>
            <a:r>
              <a:rPr sz="1080" b="0" i="0">
                <a:solidFill>
                  <a:srgbClr val="2B3440"/>
                </a:solidFill>
                <a:latin typeface="Calibri"/>
              </a:rPr>
              <a:t>PT = Processing Time  ·  WT = Waiting Time.   Thực hiện dịch vụ kỹ thuật chiếm PT lớn nhất (16 giờ ≈ 2 ngày). Waiting Time lớn nhất nằm ở khâu xác nhận báo giá (16 giờ), lên lịch onsite (8 giờ) và xác nhận kết quả (8 giờ).</a:t>
            </a:r>
          </a:p>
        </p:txBody>
      </p:sp>
    </p:spTree>
    <p:extLst>
      <p:ext uri="{BB962C8B-B14F-4D97-AF65-F5344CB8AC3E}">
        <p14:creationId xmlns:p14="http://schemas.microsoft.com/office/powerpoint/2010/main" val="34793871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CHƯƠNG 4 · 4.2.3A PHÂN TÍCH THỜI GIAN (TIME)</a:t>
            </a:r>
          </a:p>
        </p:txBody>
      </p:sp>
      <p:sp>
        <p:nvSpPr>
          <p:cNvPr id="3" name="TextBox 2"/>
          <p:cNvSpPr txBox="1"/>
          <p:nvPr/>
        </p:nvSpPr>
        <p:spPr>
          <a:xfrm>
            <a:off x="658368" y="640080"/>
            <a:ext cx="10874959" cy="603504"/>
          </a:xfrm>
          <a:prstGeom prst="rect">
            <a:avLst/>
          </a:prstGeom>
          <a:noFill/>
        </p:spPr>
        <p:txBody>
          <a:bodyPr wrap="square" lIns="0" tIns="0" rIns="0" bIns="0" anchor="t">
            <a:spAutoFit/>
          </a:bodyPr>
          <a:lstStyle/>
          <a:p>
            <a:pPr algn="l">
              <a:lnSpc>
                <a:spcPct val="105000"/>
              </a:lnSpc>
            </a:pPr>
            <a:r>
              <a:rPr sz="2500" b="1" i="0">
                <a:solidFill>
                  <a:srgbClr val="0A2540"/>
                </a:solidFill>
                <a:latin typeface="Calibri"/>
              </a:rPr>
              <a:t>KẾT QUẢ FLOW ANALYSIS</a:t>
            </a: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371600"/>
            <a:ext cx="10874959" cy="238079"/>
          </a:xfrm>
          <a:prstGeom prst="rect">
            <a:avLst/>
          </a:prstGeom>
          <a:noFill/>
        </p:spPr>
        <p:txBody>
          <a:bodyPr wrap="square" lIns="0" tIns="0" rIns="0" bIns="0" anchor="t">
            <a:spAutoFit/>
          </a:bodyPr>
          <a:lstStyle/>
          <a:p>
            <a:pPr algn="l">
              <a:lnSpc>
                <a:spcPct val="118000"/>
              </a:lnSpc>
            </a:pPr>
            <a:r>
              <a:rPr sz="1400" b="0" i="1" dirty="0">
                <a:solidFill>
                  <a:srgbClr val="6B7784"/>
                </a:solidFill>
                <a:latin typeface="Calibri"/>
              </a:rPr>
              <a:t>Cycle Time </a:t>
            </a:r>
            <a:r>
              <a:rPr sz="1400" b="0" i="1" dirty="0" err="1">
                <a:solidFill>
                  <a:srgbClr val="6B7784"/>
                </a:solidFill>
                <a:latin typeface="Calibri"/>
              </a:rPr>
              <a:t>tính</a:t>
            </a:r>
            <a:r>
              <a:rPr sz="1400" b="0" i="1" dirty="0">
                <a:solidFill>
                  <a:srgbClr val="6B7784"/>
                </a:solidFill>
                <a:latin typeface="Calibri"/>
              </a:rPr>
              <a:t> </a:t>
            </a:r>
            <a:r>
              <a:rPr sz="1400" b="0" i="1" dirty="0" err="1">
                <a:solidFill>
                  <a:srgbClr val="6B7784"/>
                </a:solidFill>
                <a:latin typeface="Calibri"/>
              </a:rPr>
              <a:t>theo</a:t>
            </a:r>
            <a:r>
              <a:rPr sz="1400" b="0" i="1" dirty="0">
                <a:solidFill>
                  <a:srgbClr val="6B7784"/>
                </a:solidFill>
                <a:latin typeface="Calibri"/>
              </a:rPr>
              <a:t> </a:t>
            </a:r>
            <a:r>
              <a:rPr sz="1400" b="0" i="1" dirty="0" err="1">
                <a:solidFill>
                  <a:srgbClr val="6B7784"/>
                </a:solidFill>
                <a:latin typeface="Calibri"/>
              </a:rPr>
              <a:t>cấu</a:t>
            </a:r>
            <a:r>
              <a:rPr sz="1400" b="0" i="1" dirty="0">
                <a:solidFill>
                  <a:srgbClr val="6B7784"/>
                </a:solidFill>
                <a:latin typeface="Calibri"/>
              </a:rPr>
              <a:t> </a:t>
            </a:r>
            <a:r>
              <a:rPr sz="1400" b="0" i="1" dirty="0" err="1">
                <a:solidFill>
                  <a:srgbClr val="6B7784"/>
                </a:solidFill>
                <a:latin typeface="Calibri"/>
              </a:rPr>
              <a:t>trúc</a:t>
            </a:r>
            <a:r>
              <a:rPr sz="1400" b="0" i="1" dirty="0">
                <a:solidFill>
                  <a:srgbClr val="6B7784"/>
                </a:solidFill>
                <a:latin typeface="Calibri"/>
              </a:rPr>
              <a:t> </a:t>
            </a:r>
            <a:r>
              <a:rPr sz="1400" b="0" i="1" dirty="0" err="1">
                <a:solidFill>
                  <a:srgbClr val="6B7784"/>
                </a:solidFill>
                <a:latin typeface="Calibri"/>
              </a:rPr>
              <a:t>luồng</a:t>
            </a:r>
            <a:r>
              <a:rPr sz="1400" b="0" i="1" dirty="0">
                <a:solidFill>
                  <a:srgbClr val="6B7784"/>
                </a:solidFill>
                <a:latin typeface="Calibri"/>
              </a:rPr>
              <a:t> </a:t>
            </a:r>
            <a:r>
              <a:rPr sz="1400" b="0" i="1" dirty="0" err="1">
                <a:solidFill>
                  <a:srgbClr val="6B7784"/>
                </a:solidFill>
                <a:latin typeface="Calibri"/>
              </a:rPr>
              <a:t>của</a:t>
            </a:r>
            <a:r>
              <a:rPr sz="1400" b="0" i="1" dirty="0">
                <a:solidFill>
                  <a:srgbClr val="6B7784"/>
                </a:solidFill>
                <a:latin typeface="Calibri"/>
              </a:rPr>
              <a:t> </a:t>
            </a:r>
            <a:r>
              <a:rPr sz="1400" b="0" i="1" dirty="0" err="1">
                <a:solidFill>
                  <a:srgbClr val="6B7784"/>
                </a:solidFill>
                <a:latin typeface="Calibri"/>
              </a:rPr>
              <a:t>mô</a:t>
            </a:r>
            <a:r>
              <a:rPr sz="1400" b="0" i="1" dirty="0">
                <a:solidFill>
                  <a:srgbClr val="6B7784"/>
                </a:solidFill>
                <a:latin typeface="Calibri"/>
              </a:rPr>
              <a:t> </a:t>
            </a:r>
            <a:r>
              <a:rPr sz="1400" b="0" i="1" dirty="0" err="1">
                <a:solidFill>
                  <a:srgbClr val="6B7784"/>
                </a:solidFill>
                <a:latin typeface="Calibri"/>
              </a:rPr>
              <a:t>hình</a:t>
            </a:r>
            <a:r>
              <a:rPr sz="1400" b="0" i="1" dirty="0">
                <a:solidFill>
                  <a:srgbClr val="6B7784"/>
                </a:solidFill>
                <a:latin typeface="Calibri"/>
              </a:rPr>
              <a:t> BPMN </a:t>
            </a:r>
            <a:r>
              <a:rPr sz="1400" b="0" i="1" dirty="0" err="1">
                <a:solidFill>
                  <a:srgbClr val="6B7784"/>
                </a:solidFill>
                <a:latin typeface="Calibri"/>
              </a:rPr>
              <a:t>và</a:t>
            </a:r>
            <a:r>
              <a:rPr sz="1400" b="0" i="1" dirty="0">
                <a:solidFill>
                  <a:srgbClr val="6B7784"/>
                </a:solidFill>
                <a:latin typeface="Calibri"/>
              </a:rPr>
              <a:t> </a:t>
            </a:r>
            <a:r>
              <a:rPr sz="1400" b="0" i="1" dirty="0" err="1">
                <a:solidFill>
                  <a:srgbClr val="6B7784"/>
                </a:solidFill>
                <a:latin typeface="Calibri"/>
              </a:rPr>
              <a:t>xác</a:t>
            </a:r>
            <a:r>
              <a:rPr sz="1400" b="0" i="1" dirty="0">
                <a:solidFill>
                  <a:srgbClr val="6B7784"/>
                </a:solidFill>
                <a:latin typeface="Calibri"/>
              </a:rPr>
              <a:t> </a:t>
            </a:r>
            <a:r>
              <a:rPr sz="1400" b="0" i="1" dirty="0" err="1">
                <a:solidFill>
                  <a:srgbClr val="6B7784"/>
                </a:solidFill>
                <a:latin typeface="Calibri"/>
              </a:rPr>
              <a:t>suất</a:t>
            </a:r>
            <a:r>
              <a:rPr sz="1400" b="0" i="1" dirty="0">
                <a:solidFill>
                  <a:srgbClr val="6B7784"/>
                </a:solidFill>
                <a:latin typeface="Calibri"/>
              </a:rPr>
              <a:t> </a:t>
            </a:r>
            <a:r>
              <a:rPr sz="1400" b="0" i="1" dirty="0" err="1">
                <a:solidFill>
                  <a:srgbClr val="6B7784"/>
                </a:solidFill>
                <a:latin typeface="Calibri"/>
              </a:rPr>
              <a:t>từng</a:t>
            </a:r>
            <a:r>
              <a:rPr sz="1400" b="0" i="1" dirty="0">
                <a:solidFill>
                  <a:srgbClr val="6B7784"/>
                </a:solidFill>
                <a:latin typeface="Calibri"/>
              </a:rPr>
              <a:t> </a:t>
            </a:r>
            <a:r>
              <a:rPr sz="1400" b="0" i="1" dirty="0" err="1">
                <a:solidFill>
                  <a:srgbClr val="6B7784"/>
                </a:solidFill>
                <a:latin typeface="Calibri"/>
              </a:rPr>
              <a:t>nhánh</a:t>
            </a:r>
            <a:endParaRPr sz="1400" b="0" i="1" dirty="0">
              <a:solidFill>
                <a:srgbClr val="6B7784"/>
              </a:solidFill>
              <a:latin typeface="Calibri"/>
            </a:endParaRPr>
          </a:p>
        </p:txBody>
      </p:sp>
      <p:sp>
        <p:nvSpPr>
          <p:cNvPr id="7" name="TextBox 6"/>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8" name="TextBox 7"/>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46</a:t>
            </a:r>
          </a:p>
        </p:txBody>
      </p:sp>
      <p:sp>
        <p:nvSpPr>
          <p:cNvPr id="9" name="Rectangle 8"/>
          <p:cNvSpPr/>
          <p:nvPr/>
        </p:nvSpPr>
        <p:spPr>
          <a:xfrm>
            <a:off x="658368" y="1755648"/>
            <a:ext cx="2554147" cy="1627632"/>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58368" y="1755648"/>
            <a:ext cx="2554147" cy="50292"/>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1938528"/>
            <a:ext cx="2170099" cy="438912"/>
          </a:xfrm>
          <a:prstGeom prst="rect">
            <a:avLst/>
          </a:prstGeom>
          <a:noFill/>
        </p:spPr>
        <p:txBody>
          <a:bodyPr wrap="square" lIns="0" tIns="0" rIns="0" bIns="0" anchor="t">
            <a:spAutoFit/>
          </a:bodyPr>
          <a:lstStyle/>
          <a:p>
            <a:pPr algn="l">
              <a:lnSpc>
                <a:spcPct val="100000"/>
              </a:lnSpc>
            </a:pPr>
            <a:r>
              <a:rPr sz="2600" b="1" i="0">
                <a:solidFill>
                  <a:srgbClr val="0A2540"/>
                </a:solidFill>
                <a:latin typeface="Calibri"/>
              </a:rPr>
              <a:t>≈ 5,5</a:t>
            </a:r>
          </a:p>
        </p:txBody>
      </p:sp>
      <p:sp>
        <p:nvSpPr>
          <p:cNvPr id="12" name="TextBox 11"/>
          <p:cNvSpPr txBox="1"/>
          <p:nvPr/>
        </p:nvSpPr>
        <p:spPr>
          <a:xfrm>
            <a:off x="859536" y="2432304"/>
            <a:ext cx="2170099" cy="215444"/>
          </a:xfrm>
          <a:prstGeom prst="rect">
            <a:avLst/>
          </a:prstGeom>
          <a:noFill/>
        </p:spPr>
        <p:txBody>
          <a:bodyPr wrap="square" lIns="0" tIns="0" rIns="0" bIns="0" anchor="t">
            <a:spAutoFit/>
          </a:bodyPr>
          <a:lstStyle/>
          <a:p>
            <a:pPr algn="l">
              <a:lnSpc>
                <a:spcPct val="100000"/>
              </a:lnSpc>
            </a:pPr>
            <a:r>
              <a:rPr sz="1400" b="1" i="0">
                <a:solidFill>
                  <a:srgbClr val="0096D6"/>
                </a:solidFill>
                <a:latin typeface="Calibri"/>
              </a:rPr>
              <a:t>ngày làm việc</a:t>
            </a:r>
          </a:p>
        </p:txBody>
      </p:sp>
      <p:sp>
        <p:nvSpPr>
          <p:cNvPr id="13" name="TextBox 12"/>
          <p:cNvSpPr txBox="1"/>
          <p:nvPr/>
        </p:nvSpPr>
        <p:spPr>
          <a:xfrm>
            <a:off x="859536" y="2706624"/>
            <a:ext cx="2170099" cy="443198"/>
          </a:xfrm>
          <a:prstGeom prst="rect">
            <a:avLst/>
          </a:prstGeom>
          <a:noFill/>
        </p:spPr>
        <p:txBody>
          <a:bodyPr wrap="square" lIns="0" tIns="0" rIns="0" bIns="0" anchor="t">
            <a:spAutoFit/>
          </a:bodyPr>
          <a:lstStyle/>
          <a:p>
            <a:pPr algn="l">
              <a:lnSpc>
                <a:spcPct val="120000"/>
              </a:lnSpc>
            </a:pPr>
            <a:r>
              <a:rPr sz="1200" b="0" i="0">
                <a:solidFill>
                  <a:srgbClr val="6B7784"/>
                </a:solidFill>
                <a:latin typeface="Calibri"/>
              </a:rPr>
              <a:t>Cycle Time trung bình cho một Service Order</a:t>
            </a:r>
          </a:p>
        </p:txBody>
      </p:sp>
      <p:sp>
        <p:nvSpPr>
          <p:cNvPr id="14" name="Rectangle 13"/>
          <p:cNvSpPr/>
          <p:nvPr/>
        </p:nvSpPr>
        <p:spPr>
          <a:xfrm>
            <a:off x="3431971" y="1755648"/>
            <a:ext cx="2554147" cy="1627632"/>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431971" y="1755648"/>
            <a:ext cx="2554147" cy="50292"/>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33139" y="1938528"/>
            <a:ext cx="2170099" cy="438912"/>
          </a:xfrm>
          <a:prstGeom prst="rect">
            <a:avLst/>
          </a:prstGeom>
          <a:noFill/>
        </p:spPr>
        <p:txBody>
          <a:bodyPr wrap="square" lIns="0" tIns="0" rIns="0" bIns="0" anchor="t">
            <a:spAutoFit/>
          </a:bodyPr>
          <a:lstStyle/>
          <a:p>
            <a:pPr algn="l">
              <a:lnSpc>
                <a:spcPct val="100000"/>
              </a:lnSpc>
            </a:pPr>
            <a:r>
              <a:rPr sz="2600" b="1" i="0">
                <a:solidFill>
                  <a:srgbClr val="0A2540"/>
                </a:solidFill>
                <a:latin typeface="Calibri"/>
              </a:rPr>
              <a:t>≈ 49,7%</a:t>
            </a:r>
          </a:p>
        </p:txBody>
      </p:sp>
      <p:sp>
        <p:nvSpPr>
          <p:cNvPr id="17" name="TextBox 16"/>
          <p:cNvSpPr txBox="1"/>
          <p:nvPr/>
        </p:nvSpPr>
        <p:spPr>
          <a:xfrm>
            <a:off x="3633139" y="2432304"/>
            <a:ext cx="2170099" cy="215444"/>
          </a:xfrm>
          <a:prstGeom prst="rect">
            <a:avLst/>
          </a:prstGeom>
          <a:noFill/>
        </p:spPr>
        <p:txBody>
          <a:bodyPr wrap="square" lIns="0" tIns="0" rIns="0" bIns="0" anchor="t">
            <a:spAutoFit/>
          </a:bodyPr>
          <a:lstStyle/>
          <a:p>
            <a:pPr algn="l">
              <a:lnSpc>
                <a:spcPct val="100000"/>
              </a:lnSpc>
            </a:pPr>
            <a:r>
              <a:rPr sz="1400" b="1" i="0">
                <a:solidFill>
                  <a:srgbClr val="00C2A8"/>
                </a:solidFill>
                <a:latin typeface="Calibri"/>
              </a:rPr>
              <a:t>Cycle Time Efficiency</a:t>
            </a:r>
          </a:p>
        </p:txBody>
      </p:sp>
      <p:sp>
        <p:nvSpPr>
          <p:cNvPr id="18" name="TextBox 17"/>
          <p:cNvSpPr txBox="1"/>
          <p:nvPr/>
        </p:nvSpPr>
        <p:spPr>
          <a:xfrm>
            <a:off x="3633139" y="2706624"/>
            <a:ext cx="2170099" cy="443198"/>
          </a:xfrm>
          <a:prstGeom prst="rect">
            <a:avLst/>
          </a:prstGeom>
          <a:noFill/>
        </p:spPr>
        <p:txBody>
          <a:bodyPr wrap="square" lIns="0" tIns="0" rIns="0" bIns="0" anchor="t">
            <a:spAutoFit/>
          </a:bodyPr>
          <a:lstStyle/>
          <a:p>
            <a:pPr algn="l">
              <a:lnSpc>
                <a:spcPct val="120000"/>
              </a:lnSpc>
            </a:pPr>
            <a:r>
              <a:rPr sz="1200" b="0" i="0">
                <a:solidFill>
                  <a:srgbClr val="6B7784"/>
                </a:solidFill>
                <a:latin typeface="Calibri"/>
              </a:rPr>
              <a:t>Tỷ trọng thời gian thực sự dùng để xử lý công việc</a:t>
            </a:r>
          </a:p>
        </p:txBody>
      </p:sp>
      <p:sp>
        <p:nvSpPr>
          <p:cNvPr id="19" name="Rectangle 18"/>
          <p:cNvSpPr/>
          <p:nvPr/>
        </p:nvSpPr>
        <p:spPr>
          <a:xfrm>
            <a:off x="6205575" y="1755648"/>
            <a:ext cx="2554147" cy="1627632"/>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05575" y="1755648"/>
            <a:ext cx="2554147" cy="50292"/>
          </a:xfrm>
          <a:prstGeom prst="rect">
            <a:avLst/>
          </a:prstGeom>
          <a:solidFill>
            <a:srgbClr val="D92D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6743" y="1938528"/>
            <a:ext cx="2170099" cy="438912"/>
          </a:xfrm>
          <a:prstGeom prst="rect">
            <a:avLst/>
          </a:prstGeom>
          <a:noFill/>
        </p:spPr>
        <p:txBody>
          <a:bodyPr wrap="square" lIns="0" tIns="0" rIns="0" bIns="0" anchor="t">
            <a:spAutoFit/>
          </a:bodyPr>
          <a:lstStyle/>
          <a:p>
            <a:pPr algn="l">
              <a:lnSpc>
                <a:spcPct val="100000"/>
              </a:lnSpc>
            </a:pPr>
            <a:r>
              <a:rPr sz="2600" b="1" i="0">
                <a:solidFill>
                  <a:srgbClr val="0A2540"/>
                </a:solidFill>
                <a:latin typeface="Calibri"/>
              </a:rPr>
              <a:t>≈ 7,63</a:t>
            </a:r>
          </a:p>
        </p:txBody>
      </p:sp>
      <p:sp>
        <p:nvSpPr>
          <p:cNvPr id="22" name="TextBox 21"/>
          <p:cNvSpPr txBox="1"/>
          <p:nvPr/>
        </p:nvSpPr>
        <p:spPr>
          <a:xfrm>
            <a:off x="6406743" y="2432304"/>
            <a:ext cx="2170099" cy="215444"/>
          </a:xfrm>
          <a:prstGeom prst="rect">
            <a:avLst/>
          </a:prstGeom>
          <a:noFill/>
        </p:spPr>
        <p:txBody>
          <a:bodyPr wrap="square" lIns="0" tIns="0" rIns="0" bIns="0" anchor="t">
            <a:spAutoFit/>
          </a:bodyPr>
          <a:lstStyle/>
          <a:p>
            <a:pPr algn="l">
              <a:lnSpc>
                <a:spcPct val="100000"/>
              </a:lnSpc>
            </a:pPr>
            <a:r>
              <a:rPr sz="1400" b="1" i="0">
                <a:solidFill>
                  <a:srgbClr val="D92D20"/>
                </a:solidFill>
                <a:latin typeface="Calibri"/>
              </a:rPr>
              <a:t>ngày — nhánh Chargeable</a:t>
            </a:r>
          </a:p>
        </p:txBody>
      </p:sp>
      <p:sp>
        <p:nvSpPr>
          <p:cNvPr id="23" name="TextBox 22"/>
          <p:cNvSpPr txBox="1"/>
          <p:nvPr/>
        </p:nvSpPr>
        <p:spPr>
          <a:xfrm>
            <a:off x="6406743" y="2706624"/>
            <a:ext cx="2170099" cy="443198"/>
          </a:xfrm>
          <a:prstGeom prst="rect">
            <a:avLst/>
          </a:prstGeom>
          <a:noFill/>
        </p:spPr>
        <p:txBody>
          <a:bodyPr wrap="square" lIns="0" tIns="0" rIns="0" bIns="0" anchor="t">
            <a:spAutoFit/>
          </a:bodyPr>
          <a:lstStyle/>
          <a:p>
            <a:pPr algn="l">
              <a:lnSpc>
                <a:spcPct val="120000"/>
              </a:lnSpc>
            </a:pPr>
            <a:r>
              <a:rPr sz="1200" b="0" i="0">
                <a:solidFill>
                  <a:srgbClr val="6B7784"/>
                </a:solidFill>
                <a:latin typeface="Calibri"/>
              </a:rPr>
              <a:t>Cao hơn đáng kể do Waiting Time chờ xác nhận báo giá</a:t>
            </a:r>
          </a:p>
        </p:txBody>
      </p:sp>
      <p:sp>
        <p:nvSpPr>
          <p:cNvPr id="24" name="Rectangle 23"/>
          <p:cNvSpPr/>
          <p:nvPr/>
        </p:nvSpPr>
        <p:spPr>
          <a:xfrm>
            <a:off x="8979179" y="1755648"/>
            <a:ext cx="2554147" cy="1627632"/>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979179" y="1755648"/>
            <a:ext cx="2554147" cy="50292"/>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80347" y="1938528"/>
            <a:ext cx="2170099" cy="438912"/>
          </a:xfrm>
          <a:prstGeom prst="rect">
            <a:avLst/>
          </a:prstGeom>
          <a:noFill/>
        </p:spPr>
        <p:txBody>
          <a:bodyPr wrap="square" lIns="0" tIns="0" rIns="0" bIns="0" anchor="t">
            <a:spAutoFit/>
          </a:bodyPr>
          <a:lstStyle/>
          <a:p>
            <a:pPr algn="l">
              <a:lnSpc>
                <a:spcPct val="100000"/>
              </a:lnSpc>
            </a:pPr>
            <a:r>
              <a:rPr sz="2600" b="1" i="0">
                <a:solidFill>
                  <a:srgbClr val="0A2540"/>
                </a:solidFill>
                <a:latin typeface="Calibri"/>
              </a:rPr>
              <a:t>≈ 5,38</a:t>
            </a:r>
          </a:p>
        </p:txBody>
      </p:sp>
      <p:sp>
        <p:nvSpPr>
          <p:cNvPr id="27" name="TextBox 26"/>
          <p:cNvSpPr txBox="1"/>
          <p:nvPr/>
        </p:nvSpPr>
        <p:spPr>
          <a:xfrm>
            <a:off x="9180347" y="2432304"/>
            <a:ext cx="2170099" cy="215444"/>
          </a:xfrm>
          <a:prstGeom prst="rect">
            <a:avLst/>
          </a:prstGeom>
          <a:noFill/>
        </p:spPr>
        <p:txBody>
          <a:bodyPr wrap="square" lIns="0" tIns="0" rIns="0" bIns="0" anchor="t">
            <a:spAutoFit/>
          </a:bodyPr>
          <a:lstStyle/>
          <a:p>
            <a:pPr algn="l">
              <a:lnSpc>
                <a:spcPct val="100000"/>
              </a:lnSpc>
            </a:pPr>
            <a:r>
              <a:rPr sz="1400" b="1" i="0" dirty="0" err="1">
                <a:solidFill>
                  <a:srgbClr val="0096D6"/>
                </a:solidFill>
                <a:latin typeface="Calibri"/>
              </a:rPr>
              <a:t>ngày</a:t>
            </a:r>
            <a:r>
              <a:rPr sz="1400" b="1" i="0" dirty="0">
                <a:solidFill>
                  <a:srgbClr val="0096D6"/>
                </a:solidFill>
                <a:latin typeface="Calibri"/>
              </a:rPr>
              <a:t> — </a:t>
            </a:r>
            <a:r>
              <a:rPr sz="1400" b="1" i="0" dirty="0" err="1">
                <a:solidFill>
                  <a:srgbClr val="0096D6"/>
                </a:solidFill>
                <a:latin typeface="Calibri"/>
              </a:rPr>
              <a:t>nhánh</a:t>
            </a:r>
            <a:r>
              <a:rPr sz="1400" b="1" i="0" dirty="0">
                <a:solidFill>
                  <a:srgbClr val="0096D6"/>
                </a:solidFill>
                <a:latin typeface="Calibri"/>
              </a:rPr>
              <a:t> Warranty</a:t>
            </a:r>
          </a:p>
        </p:txBody>
      </p:sp>
      <p:sp>
        <p:nvSpPr>
          <p:cNvPr id="28" name="TextBox 27"/>
          <p:cNvSpPr txBox="1"/>
          <p:nvPr/>
        </p:nvSpPr>
        <p:spPr>
          <a:xfrm>
            <a:off x="9180347" y="2706624"/>
            <a:ext cx="2170099" cy="443198"/>
          </a:xfrm>
          <a:prstGeom prst="rect">
            <a:avLst/>
          </a:prstGeom>
          <a:noFill/>
        </p:spPr>
        <p:txBody>
          <a:bodyPr wrap="square" lIns="0" tIns="0" rIns="0" bIns="0" anchor="t">
            <a:spAutoFit/>
          </a:bodyPr>
          <a:lstStyle/>
          <a:p>
            <a:pPr algn="l">
              <a:lnSpc>
                <a:spcPct val="120000"/>
              </a:lnSpc>
            </a:pPr>
            <a:r>
              <a:rPr sz="1200" b="0" i="0">
                <a:solidFill>
                  <a:srgbClr val="6B7784"/>
                </a:solidFill>
                <a:latin typeface="Calibri"/>
              </a:rPr>
              <a:t>Không phát sinh báo giá nên rút ngắn được thời gian chờ</a:t>
            </a:r>
          </a:p>
        </p:txBody>
      </p:sp>
      <p:sp>
        <p:nvSpPr>
          <p:cNvPr id="29" name="TextBox 28"/>
          <p:cNvSpPr txBox="1"/>
          <p:nvPr/>
        </p:nvSpPr>
        <p:spPr>
          <a:xfrm>
            <a:off x="658368" y="3566160"/>
            <a:ext cx="5230368" cy="274320"/>
          </a:xfrm>
          <a:prstGeom prst="rect">
            <a:avLst/>
          </a:prstGeom>
          <a:noFill/>
        </p:spPr>
        <p:txBody>
          <a:bodyPr wrap="square" lIns="0" tIns="0" rIns="0" bIns="0" anchor="t">
            <a:spAutoFit/>
          </a:bodyPr>
          <a:lstStyle/>
          <a:p>
            <a:pPr algn="l">
              <a:lnSpc>
                <a:spcPct val="100000"/>
              </a:lnSpc>
            </a:pPr>
            <a:r>
              <a:rPr sz="1100" b="1" i="0">
                <a:solidFill>
                  <a:srgbClr val="0096D6"/>
                </a:solidFill>
                <a:latin typeface="Calibri"/>
              </a:rPr>
              <a:t>BẢNG 4.4 — TỶ LỆ CÁC NHÁNH XỬ LÝ</a:t>
            </a:r>
          </a:p>
        </p:txBody>
      </p:sp>
      <p:graphicFrame>
        <p:nvGraphicFramePr>
          <p:cNvPr id="30" name="Table 29"/>
          <p:cNvGraphicFramePr>
            <a:graphicFrameLocks noGrp="1"/>
          </p:cNvGraphicFramePr>
          <p:nvPr/>
        </p:nvGraphicFramePr>
        <p:xfrm>
          <a:off x="658368" y="3895344"/>
          <a:ext cx="5230368" cy="2084832"/>
        </p:xfrm>
        <a:graphic>
          <a:graphicData uri="http://schemas.openxmlformats.org/drawingml/2006/table">
            <a:tbl>
              <a:tblPr firstRow="1">
                <a:tableStyleId>{5C22544A-7EE6-4342-B048-85BDC9FD1C3A}</a:tableStyleId>
              </a:tblPr>
              <a:tblGrid>
                <a:gridCol w="3931920">
                  <a:extLst>
                    <a:ext uri="{9D8B030D-6E8A-4147-A177-3AD203B41FA5}">
                      <a16:colId xmlns:a16="http://schemas.microsoft.com/office/drawing/2014/main" val="20000"/>
                    </a:ext>
                  </a:extLst>
                </a:gridCol>
                <a:gridCol w="1298448">
                  <a:extLst>
                    <a:ext uri="{9D8B030D-6E8A-4147-A177-3AD203B41FA5}">
                      <a16:colId xmlns:a16="http://schemas.microsoft.com/office/drawing/2014/main" val="20001"/>
                    </a:ext>
                  </a:extLst>
                </a:gridCol>
              </a:tblGrid>
              <a:tr h="329184">
                <a:tc>
                  <a:txBody>
                    <a:bodyPr/>
                    <a:lstStyle/>
                    <a:p>
                      <a:pPr algn="ctr">
                        <a:lnSpc>
                          <a:spcPct val="105000"/>
                        </a:lnSpc>
                      </a:pPr>
                      <a:r>
                        <a:rPr sz="1200" b="1" dirty="0">
                          <a:solidFill>
                            <a:srgbClr val="FFFFFF"/>
                          </a:solidFill>
                          <a:latin typeface="Calibri"/>
                        </a:rPr>
                        <a:t>NHÁNH XỬ LÝ</a:t>
                      </a:r>
                    </a:p>
                  </a:txBody>
                  <a:tcPr marL="100584" marR="73152" marT="41148" marB="41148" anchor="ctr">
                    <a:solidFill>
                      <a:srgbClr val="0A2540"/>
                    </a:solidFill>
                  </a:tcPr>
                </a:tc>
                <a:tc>
                  <a:txBody>
                    <a:bodyPr/>
                    <a:lstStyle/>
                    <a:p>
                      <a:pPr algn="ctr">
                        <a:lnSpc>
                          <a:spcPct val="105000"/>
                        </a:lnSpc>
                      </a:pPr>
                      <a:r>
                        <a:rPr sz="1200" b="1" dirty="0">
                          <a:solidFill>
                            <a:srgbClr val="FFFFFF"/>
                          </a:solidFill>
                          <a:latin typeface="Calibri"/>
                        </a:rPr>
                        <a:t>TỶ LỆ</a:t>
                      </a:r>
                    </a:p>
                  </a:txBody>
                  <a:tcPr marL="100584" marR="73152" marT="41148" marB="41148" anchor="ctr">
                    <a:solidFill>
                      <a:srgbClr val="0A2540"/>
                    </a:solidFill>
                  </a:tcPr>
                </a:tc>
                <a:extLst>
                  <a:ext uri="{0D108BD9-81ED-4DB2-BD59-A6C34878D82A}">
                    <a16:rowId xmlns:a16="http://schemas.microsoft.com/office/drawing/2014/main" val="10000"/>
                  </a:ext>
                </a:extLst>
              </a:tr>
              <a:tr h="292608">
                <a:tc>
                  <a:txBody>
                    <a:bodyPr/>
                    <a:lstStyle/>
                    <a:p>
                      <a:pPr algn="ctr">
                        <a:lnSpc>
                          <a:spcPct val="105000"/>
                        </a:lnSpc>
                      </a:pPr>
                      <a:r>
                        <a:rPr sz="1200" b="0" dirty="0" err="1">
                          <a:solidFill>
                            <a:srgbClr val="2B3440"/>
                          </a:solidFill>
                          <a:latin typeface="Calibri"/>
                        </a:rPr>
                        <a:t>Xử</a:t>
                      </a:r>
                      <a:r>
                        <a:rPr sz="1200" b="0" dirty="0">
                          <a:solidFill>
                            <a:srgbClr val="2B3440"/>
                          </a:solidFill>
                          <a:latin typeface="Calibri"/>
                        </a:rPr>
                        <a:t> </a:t>
                      </a:r>
                      <a:r>
                        <a:rPr sz="1200" b="0" dirty="0" err="1">
                          <a:solidFill>
                            <a:srgbClr val="2B3440"/>
                          </a:solidFill>
                          <a:latin typeface="Calibri"/>
                        </a:rPr>
                        <a:t>lý</a:t>
                      </a:r>
                      <a:r>
                        <a:rPr sz="1200" b="0" dirty="0">
                          <a:solidFill>
                            <a:srgbClr val="2B3440"/>
                          </a:solidFill>
                          <a:latin typeface="Calibri"/>
                        </a:rPr>
                        <a:t> </a:t>
                      </a:r>
                      <a:r>
                        <a:rPr sz="1200" b="0" dirty="0" err="1">
                          <a:solidFill>
                            <a:srgbClr val="2B3440"/>
                          </a:solidFill>
                          <a:latin typeface="Calibri"/>
                        </a:rPr>
                        <a:t>thành</a:t>
                      </a:r>
                      <a:r>
                        <a:rPr sz="1200" b="0" dirty="0">
                          <a:solidFill>
                            <a:srgbClr val="2B3440"/>
                          </a:solidFill>
                          <a:latin typeface="Calibri"/>
                        </a:rPr>
                        <a:t> </a:t>
                      </a:r>
                      <a:r>
                        <a:rPr sz="1200" b="0" dirty="0" err="1">
                          <a:solidFill>
                            <a:srgbClr val="2B3440"/>
                          </a:solidFill>
                          <a:latin typeface="Calibri"/>
                        </a:rPr>
                        <a:t>công</a:t>
                      </a:r>
                      <a:r>
                        <a:rPr sz="1200" b="0" dirty="0">
                          <a:solidFill>
                            <a:srgbClr val="2B3440"/>
                          </a:solidFill>
                          <a:latin typeface="Calibri"/>
                        </a:rPr>
                        <a:t> qua Remote Support</a:t>
                      </a:r>
                    </a:p>
                  </a:txBody>
                  <a:tcPr marL="100584" marR="73152" marT="41148" marB="41148" anchor="ctr">
                    <a:solidFill>
                      <a:srgbClr val="FFFFFF"/>
                    </a:solidFill>
                  </a:tcPr>
                </a:tc>
                <a:tc>
                  <a:txBody>
                    <a:bodyPr/>
                    <a:lstStyle/>
                    <a:p>
                      <a:pPr algn="l">
                        <a:lnSpc>
                          <a:spcPct val="105000"/>
                        </a:lnSpc>
                      </a:pPr>
                      <a:r>
                        <a:rPr sz="1200" b="0">
                          <a:solidFill>
                            <a:srgbClr val="2B3440"/>
                          </a:solidFill>
                          <a:latin typeface="Calibri"/>
                        </a:rPr>
                        <a:t>20%</a:t>
                      </a:r>
                    </a:p>
                  </a:txBody>
                  <a:tcPr marL="100584" marR="73152" marT="41148" marB="41148" anchor="ctr">
                    <a:solidFill>
                      <a:srgbClr val="FFFFFF"/>
                    </a:solidFill>
                  </a:tcPr>
                </a:tc>
                <a:extLst>
                  <a:ext uri="{0D108BD9-81ED-4DB2-BD59-A6C34878D82A}">
                    <a16:rowId xmlns:a16="http://schemas.microsoft.com/office/drawing/2014/main" val="10001"/>
                  </a:ext>
                </a:extLst>
              </a:tr>
              <a:tr h="292608">
                <a:tc>
                  <a:txBody>
                    <a:bodyPr/>
                    <a:lstStyle/>
                    <a:p>
                      <a:pPr algn="ctr">
                        <a:lnSpc>
                          <a:spcPct val="105000"/>
                        </a:lnSpc>
                      </a:pPr>
                      <a:r>
                        <a:rPr sz="1200" b="0">
                          <a:solidFill>
                            <a:srgbClr val="2B3440"/>
                          </a:solidFill>
                          <a:latin typeface="Calibri"/>
                        </a:rPr>
                        <a:t>Cần tiếp tục Onsite / Service</a:t>
                      </a:r>
                    </a:p>
                  </a:txBody>
                  <a:tcPr marL="100584" marR="73152" marT="41148" marB="41148" anchor="ctr">
                    <a:solidFill>
                      <a:srgbClr val="F4F7FA"/>
                    </a:solidFill>
                  </a:tcPr>
                </a:tc>
                <a:tc>
                  <a:txBody>
                    <a:bodyPr/>
                    <a:lstStyle/>
                    <a:p>
                      <a:pPr algn="l">
                        <a:lnSpc>
                          <a:spcPct val="105000"/>
                        </a:lnSpc>
                      </a:pPr>
                      <a:r>
                        <a:rPr sz="1200" b="0">
                          <a:solidFill>
                            <a:srgbClr val="2B3440"/>
                          </a:solidFill>
                          <a:latin typeface="Calibri"/>
                        </a:rPr>
                        <a:t>80%</a:t>
                      </a:r>
                    </a:p>
                  </a:txBody>
                  <a:tcPr marL="100584" marR="73152" marT="41148" marB="41148" anchor="ctr">
                    <a:solidFill>
                      <a:srgbClr val="F4F7FA"/>
                    </a:solidFill>
                  </a:tcPr>
                </a:tc>
                <a:extLst>
                  <a:ext uri="{0D108BD9-81ED-4DB2-BD59-A6C34878D82A}">
                    <a16:rowId xmlns:a16="http://schemas.microsoft.com/office/drawing/2014/main" val="10002"/>
                  </a:ext>
                </a:extLst>
              </a:tr>
              <a:tr h="292608">
                <a:tc>
                  <a:txBody>
                    <a:bodyPr/>
                    <a:lstStyle/>
                    <a:p>
                      <a:pPr algn="ctr">
                        <a:lnSpc>
                          <a:spcPct val="105000"/>
                        </a:lnSpc>
                      </a:pPr>
                      <a:r>
                        <a:rPr sz="1200" b="0">
                          <a:solidFill>
                            <a:srgbClr val="2B3440"/>
                          </a:solidFill>
                          <a:latin typeface="Calibri"/>
                        </a:rPr>
                        <a:t>Warranty / No-charge trong nhóm Onsite</a:t>
                      </a:r>
                    </a:p>
                  </a:txBody>
                  <a:tcPr marL="100584" marR="73152" marT="41148" marB="41148" anchor="ctr">
                    <a:solidFill>
                      <a:srgbClr val="FFFFFF"/>
                    </a:solidFill>
                  </a:tcPr>
                </a:tc>
                <a:tc>
                  <a:txBody>
                    <a:bodyPr/>
                    <a:lstStyle/>
                    <a:p>
                      <a:pPr algn="l">
                        <a:lnSpc>
                          <a:spcPct val="105000"/>
                        </a:lnSpc>
                      </a:pPr>
                      <a:r>
                        <a:rPr sz="1200" b="0">
                          <a:solidFill>
                            <a:srgbClr val="2B3440"/>
                          </a:solidFill>
                          <a:latin typeface="Calibri"/>
                        </a:rPr>
                        <a:t>60%</a:t>
                      </a:r>
                    </a:p>
                  </a:txBody>
                  <a:tcPr marL="100584" marR="73152" marT="41148" marB="41148" anchor="ctr">
                    <a:solidFill>
                      <a:srgbClr val="FFFFFF"/>
                    </a:solidFill>
                  </a:tcPr>
                </a:tc>
                <a:extLst>
                  <a:ext uri="{0D108BD9-81ED-4DB2-BD59-A6C34878D82A}">
                    <a16:rowId xmlns:a16="http://schemas.microsoft.com/office/drawing/2014/main" val="10003"/>
                  </a:ext>
                </a:extLst>
              </a:tr>
              <a:tr h="292608">
                <a:tc>
                  <a:txBody>
                    <a:bodyPr/>
                    <a:lstStyle/>
                    <a:p>
                      <a:pPr algn="ctr">
                        <a:lnSpc>
                          <a:spcPct val="105000"/>
                        </a:lnSpc>
                      </a:pPr>
                      <a:r>
                        <a:rPr sz="1200" b="0">
                          <a:solidFill>
                            <a:srgbClr val="2B3440"/>
                          </a:solidFill>
                          <a:latin typeface="Calibri"/>
                        </a:rPr>
                        <a:t>Chargeable trong nhóm Onsite</a:t>
                      </a:r>
                    </a:p>
                  </a:txBody>
                  <a:tcPr marL="100584" marR="73152" marT="41148" marB="41148" anchor="ctr">
                    <a:solidFill>
                      <a:srgbClr val="F4F7FA"/>
                    </a:solidFill>
                  </a:tcPr>
                </a:tc>
                <a:tc>
                  <a:txBody>
                    <a:bodyPr/>
                    <a:lstStyle/>
                    <a:p>
                      <a:pPr algn="l">
                        <a:lnSpc>
                          <a:spcPct val="105000"/>
                        </a:lnSpc>
                      </a:pPr>
                      <a:r>
                        <a:rPr sz="1200" b="0">
                          <a:solidFill>
                            <a:srgbClr val="2B3440"/>
                          </a:solidFill>
                          <a:latin typeface="Calibri"/>
                        </a:rPr>
                        <a:t>40%</a:t>
                      </a:r>
                    </a:p>
                  </a:txBody>
                  <a:tcPr marL="100584" marR="73152" marT="41148" marB="41148" anchor="ctr">
                    <a:solidFill>
                      <a:srgbClr val="F4F7FA"/>
                    </a:solidFill>
                  </a:tcPr>
                </a:tc>
                <a:extLst>
                  <a:ext uri="{0D108BD9-81ED-4DB2-BD59-A6C34878D82A}">
                    <a16:rowId xmlns:a16="http://schemas.microsoft.com/office/drawing/2014/main" val="10004"/>
                  </a:ext>
                </a:extLst>
              </a:tr>
              <a:tr h="292608">
                <a:tc>
                  <a:txBody>
                    <a:bodyPr/>
                    <a:lstStyle/>
                    <a:p>
                      <a:pPr algn="ctr">
                        <a:lnSpc>
                          <a:spcPct val="105000"/>
                        </a:lnSpc>
                      </a:pPr>
                      <a:r>
                        <a:rPr sz="1200" b="0">
                          <a:solidFill>
                            <a:srgbClr val="2B3440"/>
                          </a:solidFill>
                          <a:latin typeface="Calibri"/>
                        </a:rPr>
                        <a:t>Hoàn thành không cần xử lý lại</a:t>
                      </a:r>
                    </a:p>
                  </a:txBody>
                  <a:tcPr marL="100584" marR="73152" marT="41148" marB="41148" anchor="ctr">
                    <a:solidFill>
                      <a:srgbClr val="FFFFFF"/>
                    </a:solidFill>
                  </a:tcPr>
                </a:tc>
                <a:tc>
                  <a:txBody>
                    <a:bodyPr/>
                    <a:lstStyle/>
                    <a:p>
                      <a:pPr algn="l">
                        <a:lnSpc>
                          <a:spcPct val="105000"/>
                        </a:lnSpc>
                      </a:pPr>
                      <a:r>
                        <a:rPr sz="1200" b="0">
                          <a:solidFill>
                            <a:srgbClr val="2B3440"/>
                          </a:solidFill>
                          <a:latin typeface="Calibri"/>
                        </a:rPr>
                        <a:t>90%</a:t>
                      </a:r>
                    </a:p>
                  </a:txBody>
                  <a:tcPr marL="100584" marR="73152" marT="41148" marB="41148" anchor="ctr">
                    <a:solidFill>
                      <a:srgbClr val="FFFFFF"/>
                    </a:solidFill>
                  </a:tcPr>
                </a:tc>
                <a:extLst>
                  <a:ext uri="{0D108BD9-81ED-4DB2-BD59-A6C34878D82A}">
                    <a16:rowId xmlns:a16="http://schemas.microsoft.com/office/drawing/2014/main" val="10005"/>
                  </a:ext>
                </a:extLst>
              </a:tr>
              <a:tr h="292608">
                <a:tc>
                  <a:txBody>
                    <a:bodyPr/>
                    <a:lstStyle/>
                    <a:p>
                      <a:pPr algn="ctr">
                        <a:lnSpc>
                          <a:spcPct val="105000"/>
                        </a:lnSpc>
                      </a:pPr>
                      <a:r>
                        <a:rPr sz="1200" b="0">
                          <a:solidFill>
                            <a:srgbClr val="2B3440"/>
                          </a:solidFill>
                          <a:latin typeface="Calibri"/>
                        </a:rPr>
                        <a:t>Phát sinh xử lý lại — Rework</a:t>
                      </a:r>
                    </a:p>
                  </a:txBody>
                  <a:tcPr marL="100584" marR="73152" marT="41148" marB="41148" anchor="ctr">
                    <a:solidFill>
                      <a:srgbClr val="F4F7FA"/>
                    </a:solidFill>
                  </a:tcPr>
                </a:tc>
                <a:tc>
                  <a:txBody>
                    <a:bodyPr/>
                    <a:lstStyle/>
                    <a:p>
                      <a:pPr algn="l">
                        <a:lnSpc>
                          <a:spcPct val="105000"/>
                        </a:lnSpc>
                      </a:pPr>
                      <a:r>
                        <a:rPr sz="1200" b="0" dirty="0">
                          <a:solidFill>
                            <a:srgbClr val="2B3440"/>
                          </a:solidFill>
                          <a:latin typeface="Calibri"/>
                        </a:rPr>
                        <a:t>10%</a:t>
                      </a:r>
                    </a:p>
                  </a:txBody>
                  <a:tcPr marL="100584" marR="73152" marT="41148" marB="41148" anchor="ctr">
                    <a:solidFill>
                      <a:srgbClr val="F4F7FA"/>
                    </a:solidFill>
                  </a:tcPr>
                </a:tc>
                <a:extLst>
                  <a:ext uri="{0D108BD9-81ED-4DB2-BD59-A6C34878D82A}">
                    <a16:rowId xmlns:a16="http://schemas.microsoft.com/office/drawing/2014/main" val="10006"/>
                  </a:ext>
                </a:extLst>
              </a:tr>
            </a:tbl>
          </a:graphicData>
        </a:graphic>
      </p:graphicFrame>
      <p:sp>
        <p:nvSpPr>
          <p:cNvPr id="31" name="Rectangle 30"/>
          <p:cNvSpPr/>
          <p:nvPr/>
        </p:nvSpPr>
        <p:spPr>
          <a:xfrm>
            <a:off x="6327648" y="3566160"/>
            <a:ext cx="5202936" cy="2628900"/>
          </a:xfrm>
          <a:prstGeom prst="rect">
            <a:avLst/>
          </a:prstGeom>
          <a:solidFill>
            <a:srgbClr val="E9F3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327648" y="3566160"/>
            <a:ext cx="50292" cy="2231136"/>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601968" y="3749039"/>
            <a:ext cx="4663440" cy="274320"/>
          </a:xfrm>
          <a:prstGeom prst="rect">
            <a:avLst/>
          </a:prstGeom>
          <a:noFill/>
        </p:spPr>
        <p:txBody>
          <a:bodyPr wrap="square" lIns="0" tIns="0" rIns="0" bIns="0" anchor="t">
            <a:spAutoFit/>
          </a:bodyPr>
          <a:lstStyle/>
          <a:p>
            <a:pPr algn="l">
              <a:lnSpc>
                <a:spcPct val="100000"/>
              </a:lnSpc>
            </a:pPr>
            <a:r>
              <a:rPr sz="1100" b="1" i="0">
                <a:solidFill>
                  <a:srgbClr val="0A2540"/>
                </a:solidFill>
                <a:latin typeface="Calibri"/>
              </a:rPr>
              <a:t>Ý NGHĨA CỦA KẾT QUẢ</a:t>
            </a:r>
          </a:p>
        </p:txBody>
      </p:sp>
      <p:sp>
        <p:nvSpPr>
          <p:cNvPr id="34" name="TextBox 33"/>
          <p:cNvSpPr txBox="1"/>
          <p:nvPr/>
        </p:nvSpPr>
        <p:spPr>
          <a:xfrm>
            <a:off x="6601968" y="4078224"/>
            <a:ext cx="4663440" cy="2003625"/>
          </a:xfrm>
          <a:prstGeom prst="rect">
            <a:avLst/>
          </a:prstGeom>
          <a:noFill/>
        </p:spPr>
        <p:txBody>
          <a:bodyPr wrap="square" lIns="0" tIns="0" rIns="0" bIns="0" anchor="t">
            <a:spAutoFit/>
          </a:bodyPr>
          <a:lstStyle/>
          <a:p>
            <a:pPr algn="l">
              <a:lnSpc>
                <a:spcPct val="120000"/>
              </a:lnSpc>
              <a:spcAft>
                <a:spcPts val="600"/>
              </a:spcAft>
            </a:pPr>
            <a:r>
              <a:rPr sz="1200" b="0" i="0" dirty="0">
                <a:solidFill>
                  <a:srgbClr val="2B3440"/>
                </a:solidFill>
                <a:latin typeface="Calibri"/>
              </a:rPr>
              <a:t>•  </a:t>
            </a:r>
            <a:r>
              <a:rPr sz="1200" b="0" i="0" dirty="0" err="1">
                <a:solidFill>
                  <a:srgbClr val="2B3440"/>
                </a:solidFill>
                <a:latin typeface="Calibri"/>
              </a:rPr>
              <a:t>Hơn</a:t>
            </a:r>
            <a:r>
              <a:rPr sz="1200" b="0" i="0" dirty="0">
                <a:solidFill>
                  <a:srgbClr val="2B3440"/>
                </a:solidFill>
                <a:latin typeface="Calibri"/>
              </a:rPr>
              <a:t> 50% Cycle Time </a:t>
            </a:r>
            <a:r>
              <a:rPr sz="1200" b="0" i="0" dirty="0" err="1">
                <a:solidFill>
                  <a:srgbClr val="2B3440"/>
                </a:solidFill>
                <a:latin typeface="Calibri"/>
              </a:rPr>
              <a:t>là</a:t>
            </a:r>
            <a:r>
              <a:rPr sz="1200" b="0" i="0" dirty="0">
                <a:solidFill>
                  <a:srgbClr val="2B3440"/>
                </a:solidFill>
                <a:latin typeface="Calibri"/>
              </a:rPr>
              <a:t> </a:t>
            </a:r>
            <a:r>
              <a:rPr sz="1200" b="0" i="0" dirty="0" err="1">
                <a:solidFill>
                  <a:srgbClr val="2B3440"/>
                </a:solidFill>
                <a:latin typeface="Calibri"/>
              </a:rPr>
              <a:t>thời</a:t>
            </a:r>
            <a:r>
              <a:rPr sz="1200" b="0" i="0" dirty="0">
                <a:solidFill>
                  <a:srgbClr val="2B3440"/>
                </a:solidFill>
                <a:latin typeface="Calibri"/>
              </a:rPr>
              <a:t> </a:t>
            </a:r>
            <a:r>
              <a:rPr sz="1200" b="0" i="0" dirty="0" err="1">
                <a:solidFill>
                  <a:srgbClr val="2B3440"/>
                </a:solidFill>
                <a:latin typeface="Calibri"/>
              </a:rPr>
              <a:t>gian</a:t>
            </a:r>
            <a:r>
              <a:rPr sz="1200" b="0" i="0" dirty="0">
                <a:solidFill>
                  <a:srgbClr val="2B3440"/>
                </a:solidFill>
                <a:latin typeface="Calibri"/>
              </a:rPr>
              <a:t> </a:t>
            </a:r>
            <a:r>
              <a:rPr sz="1200" b="0" i="0" dirty="0" err="1">
                <a:solidFill>
                  <a:srgbClr val="2B3440"/>
                </a:solidFill>
                <a:latin typeface="Calibri"/>
              </a:rPr>
              <a:t>chờ</a:t>
            </a:r>
            <a:r>
              <a:rPr sz="1200" b="0" i="0" dirty="0">
                <a:solidFill>
                  <a:srgbClr val="2B3440"/>
                </a:solidFill>
                <a:latin typeface="Calibri"/>
              </a:rPr>
              <a:t> </a:t>
            </a:r>
            <a:r>
              <a:rPr sz="1200" b="0" i="0" dirty="0" err="1">
                <a:solidFill>
                  <a:srgbClr val="2B3440"/>
                </a:solidFill>
                <a:latin typeface="Calibri"/>
              </a:rPr>
              <a:t>và</a:t>
            </a:r>
            <a:r>
              <a:rPr sz="1200" b="0" i="0" dirty="0">
                <a:solidFill>
                  <a:srgbClr val="2B3440"/>
                </a:solidFill>
                <a:latin typeface="Calibri"/>
              </a:rPr>
              <a:t> </a:t>
            </a:r>
            <a:r>
              <a:rPr sz="1200" b="0" i="0" dirty="0" err="1">
                <a:solidFill>
                  <a:srgbClr val="2B3440"/>
                </a:solidFill>
                <a:latin typeface="Calibri"/>
              </a:rPr>
              <a:t>chuyển</a:t>
            </a:r>
            <a:r>
              <a:rPr sz="1200" b="0" i="0" dirty="0">
                <a:solidFill>
                  <a:srgbClr val="2B3440"/>
                </a:solidFill>
                <a:latin typeface="Calibri"/>
              </a:rPr>
              <a:t> </a:t>
            </a:r>
            <a:r>
              <a:rPr sz="1200" b="0" i="0" dirty="0" err="1">
                <a:solidFill>
                  <a:srgbClr val="2B3440"/>
                </a:solidFill>
                <a:latin typeface="Calibri"/>
              </a:rPr>
              <a:t>giao</a:t>
            </a:r>
            <a:r>
              <a:rPr sz="1200" b="0" i="0" dirty="0">
                <a:solidFill>
                  <a:srgbClr val="2B3440"/>
                </a:solidFill>
                <a:latin typeface="Calibri"/>
              </a:rPr>
              <a:t>, </a:t>
            </a:r>
            <a:r>
              <a:rPr sz="1200" b="0" i="0" dirty="0" err="1">
                <a:solidFill>
                  <a:srgbClr val="2B3440"/>
                </a:solidFill>
                <a:latin typeface="Calibri"/>
              </a:rPr>
              <a:t>không</a:t>
            </a:r>
            <a:r>
              <a:rPr sz="1200" b="0" i="0" dirty="0">
                <a:solidFill>
                  <a:srgbClr val="2B3440"/>
                </a:solidFill>
                <a:latin typeface="Calibri"/>
              </a:rPr>
              <a:t> </a:t>
            </a:r>
            <a:r>
              <a:rPr sz="1200" b="0" i="0" dirty="0" err="1">
                <a:solidFill>
                  <a:srgbClr val="2B3440"/>
                </a:solidFill>
                <a:latin typeface="Calibri"/>
              </a:rPr>
              <a:t>phải</a:t>
            </a:r>
            <a:r>
              <a:rPr sz="1200" b="0" i="0" dirty="0">
                <a:solidFill>
                  <a:srgbClr val="2B3440"/>
                </a:solidFill>
                <a:latin typeface="Calibri"/>
              </a:rPr>
              <a:t> </a:t>
            </a:r>
            <a:r>
              <a:rPr sz="1200" b="0" i="0" dirty="0" err="1">
                <a:solidFill>
                  <a:srgbClr val="2B3440"/>
                </a:solidFill>
                <a:latin typeface="Calibri"/>
              </a:rPr>
              <a:t>thời</a:t>
            </a:r>
            <a:r>
              <a:rPr sz="1200" b="0" i="0" dirty="0">
                <a:solidFill>
                  <a:srgbClr val="2B3440"/>
                </a:solidFill>
                <a:latin typeface="Calibri"/>
              </a:rPr>
              <a:t> </a:t>
            </a:r>
            <a:r>
              <a:rPr sz="1200" b="0" i="0" dirty="0" err="1">
                <a:solidFill>
                  <a:srgbClr val="2B3440"/>
                </a:solidFill>
                <a:latin typeface="Calibri"/>
              </a:rPr>
              <a:t>gian</a:t>
            </a:r>
            <a:r>
              <a:rPr sz="1200" b="0" i="0" dirty="0">
                <a:solidFill>
                  <a:srgbClr val="2B3440"/>
                </a:solidFill>
                <a:latin typeface="Calibri"/>
              </a:rPr>
              <a:t> </a:t>
            </a:r>
            <a:r>
              <a:rPr sz="1200" b="0" i="0" dirty="0" err="1">
                <a:solidFill>
                  <a:srgbClr val="2B3440"/>
                </a:solidFill>
                <a:latin typeface="Calibri"/>
              </a:rPr>
              <a:t>làm</a:t>
            </a:r>
            <a:r>
              <a:rPr sz="1200" b="0" i="0" dirty="0">
                <a:solidFill>
                  <a:srgbClr val="2B3440"/>
                </a:solidFill>
                <a:latin typeface="Calibri"/>
              </a:rPr>
              <a:t> </a:t>
            </a:r>
            <a:r>
              <a:rPr sz="1200" b="0" i="0" dirty="0" err="1">
                <a:solidFill>
                  <a:srgbClr val="2B3440"/>
                </a:solidFill>
                <a:latin typeface="Calibri"/>
              </a:rPr>
              <a:t>việc</a:t>
            </a:r>
            <a:r>
              <a:rPr sz="1200" b="0" i="0" dirty="0">
                <a:solidFill>
                  <a:srgbClr val="2B3440"/>
                </a:solidFill>
                <a:latin typeface="Calibri"/>
              </a:rPr>
              <a:t>.</a:t>
            </a:r>
          </a:p>
          <a:p>
            <a:pPr algn="l">
              <a:lnSpc>
                <a:spcPct val="120000"/>
              </a:lnSpc>
              <a:spcAft>
                <a:spcPts val="600"/>
              </a:spcAft>
            </a:pPr>
            <a:r>
              <a:rPr sz="1200" b="0" i="0" dirty="0">
                <a:solidFill>
                  <a:srgbClr val="2B3440"/>
                </a:solidFill>
                <a:latin typeface="Calibri"/>
              </a:rPr>
              <a:t>•  </a:t>
            </a:r>
            <a:r>
              <a:rPr sz="1200" b="0" i="0" dirty="0" err="1">
                <a:solidFill>
                  <a:srgbClr val="2B3440"/>
                </a:solidFill>
                <a:latin typeface="Calibri"/>
              </a:rPr>
              <a:t>Chênh</a:t>
            </a:r>
            <a:r>
              <a:rPr sz="1200" b="0" i="0" dirty="0">
                <a:solidFill>
                  <a:srgbClr val="2B3440"/>
                </a:solidFill>
                <a:latin typeface="Calibri"/>
              </a:rPr>
              <a:t> </a:t>
            </a:r>
            <a:r>
              <a:rPr sz="1200" b="0" i="0" dirty="0" err="1">
                <a:solidFill>
                  <a:srgbClr val="2B3440"/>
                </a:solidFill>
                <a:latin typeface="Calibri"/>
              </a:rPr>
              <a:t>lệch</a:t>
            </a:r>
            <a:r>
              <a:rPr sz="1200" b="0" i="0" dirty="0">
                <a:solidFill>
                  <a:srgbClr val="2B3440"/>
                </a:solidFill>
                <a:latin typeface="Calibri"/>
              </a:rPr>
              <a:t> 2,25 </a:t>
            </a:r>
            <a:r>
              <a:rPr sz="1200" b="0" i="0" dirty="0" err="1">
                <a:solidFill>
                  <a:srgbClr val="2B3440"/>
                </a:solidFill>
                <a:latin typeface="Calibri"/>
              </a:rPr>
              <a:t>ngày</a:t>
            </a:r>
            <a:r>
              <a:rPr sz="1200" b="0" i="0" dirty="0">
                <a:solidFill>
                  <a:srgbClr val="2B3440"/>
                </a:solidFill>
                <a:latin typeface="Calibri"/>
              </a:rPr>
              <a:t> </a:t>
            </a:r>
            <a:r>
              <a:rPr sz="1200" b="0" i="0" dirty="0" err="1">
                <a:solidFill>
                  <a:srgbClr val="2B3440"/>
                </a:solidFill>
                <a:latin typeface="Calibri"/>
              </a:rPr>
              <a:t>giữa</a:t>
            </a:r>
            <a:r>
              <a:rPr sz="1200" b="0" i="0" dirty="0">
                <a:solidFill>
                  <a:srgbClr val="2B3440"/>
                </a:solidFill>
                <a:latin typeface="Calibri"/>
              </a:rPr>
              <a:t> </a:t>
            </a:r>
            <a:r>
              <a:rPr sz="1200" b="0" i="0" dirty="0" err="1">
                <a:solidFill>
                  <a:srgbClr val="2B3440"/>
                </a:solidFill>
                <a:latin typeface="Calibri"/>
              </a:rPr>
              <a:t>nhánh</a:t>
            </a:r>
            <a:r>
              <a:rPr sz="1200" b="0" i="0" dirty="0">
                <a:solidFill>
                  <a:srgbClr val="2B3440"/>
                </a:solidFill>
                <a:latin typeface="Calibri"/>
              </a:rPr>
              <a:t> Chargeable </a:t>
            </a:r>
            <a:r>
              <a:rPr sz="1200" b="0" i="0" dirty="0" err="1">
                <a:solidFill>
                  <a:srgbClr val="2B3440"/>
                </a:solidFill>
                <a:latin typeface="Calibri"/>
              </a:rPr>
              <a:t>và</a:t>
            </a:r>
            <a:r>
              <a:rPr sz="1200" b="0" i="0" dirty="0">
                <a:solidFill>
                  <a:srgbClr val="2B3440"/>
                </a:solidFill>
                <a:latin typeface="Calibri"/>
              </a:rPr>
              <a:t> Warranty </a:t>
            </a:r>
            <a:r>
              <a:rPr sz="1200" b="0" i="0" dirty="0" err="1">
                <a:solidFill>
                  <a:srgbClr val="2B3440"/>
                </a:solidFill>
                <a:latin typeface="Calibri"/>
              </a:rPr>
              <a:t>gần</a:t>
            </a:r>
            <a:r>
              <a:rPr sz="1200" b="0" i="0" dirty="0">
                <a:solidFill>
                  <a:srgbClr val="2B3440"/>
                </a:solidFill>
                <a:latin typeface="Calibri"/>
              </a:rPr>
              <a:t> </a:t>
            </a:r>
            <a:r>
              <a:rPr sz="1200" b="0" i="0" dirty="0" err="1">
                <a:solidFill>
                  <a:srgbClr val="2B3440"/>
                </a:solidFill>
                <a:latin typeface="Calibri"/>
              </a:rPr>
              <a:t>như</a:t>
            </a:r>
            <a:r>
              <a:rPr sz="1200" b="0" i="0" dirty="0">
                <a:solidFill>
                  <a:srgbClr val="2B3440"/>
                </a:solidFill>
                <a:latin typeface="Calibri"/>
              </a:rPr>
              <a:t> </a:t>
            </a:r>
            <a:r>
              <a:rPr sz="1200" b="0" i="0" dirty="0" err="1">
                <a:solidFill>
                  <a:srgbClr val="2B3440"/>
                </a:solidFill>
                <a:latin typeface="Calibri"/>
              </a:rPr>
              <a:t>hoàn</a:t>
            </a:r>
            <a:r>
              <a:rPr sz="1200" b="0" i="0" dirty="0">
                <a:solidFill>
                  <a:srgbClr val="2B3440"/>
                </a:solidFill>
                <a:latin typeface="Calibri"/>
              </a:rPr>
              <a:t> </a:t>
            </a:r>
            <a:r>
              <a:rPr sz="1200" b="0" i="0" dirty="0" err="1">
                <a:solidFill>
                  <a:srgbClr val="2B3440"/>
                </a:solidFill>
                <a:latin typeface="Calibri"/>
              </a:rPr>
              <a:t>toàn</a:t>
            </a:r>
            <a:r>
              <a:rPr sz="1200" b="0" i="0" dirty="0">
                <a:solidFill>
                  <a:srgbClr val="2B3440"/>
                </a:solidFill>
                <a:latin typeface="Calibri"/>
              </a:rPr>
              <a:t> do Waiting Time.</a:t>
            </a:r>
          </a:p>
          <a:p>
            <a:pPr algn="l">
              <a:lnSpc>
                <a:spcPct val="120000"/>
              </a:lnSpc>
              <a:spcAft>
                <a:spcPts val="600"/>
              </a:spcAft>
            </a:pPr>
            <a:r>
              <a:rPr sz="1200" b="0" i="0" dirty="0">
                <a:solidFill>
                  <a:srgbClr val="2B3440"/>
                </a:solidFill>
                <a:latin typeface="Calibri"/>
              </a:rPr>
              <a:t>•  </a:t>
            </a:r>
            <a:r>
              <a:rPr sz="1200" b="0" i="0" dirty="0" err="1">
                <a:solidFill>
                  <a:srgbClr val="2B3440"/>
                </a:solidFill>
                <a:latin typeface="Calibri"/>
              </a:rPr>
              <a:t>Cơ</a:t>
            </a:r>
            <a:r>
              <a:rPr sz="1200" b="0" i="0" dirty="0">
                <a:solidFill>
                  <a:srgbClr val="2B3440"/>
                </a:solidFill>
                <a:latin typeface="Calibri"/>
              </a:rPr>
              <a:t> </a:t>
            </a:r>
            <a:r>
              <a:rPr sz="1200" b="0" i="0" dirty="0" err="1">
                <a:solidFill>
                  <a:srgbClr val="2B3440"/>
                </a:solidFill>
                <a:latin typeface="Calibri"/>
              </a:rPr>
              <a:t>hội</a:t>
            </a:r>
            <a:r>
              <a:rPr sz="1200" b="0" i="0" dirty="0">
                <a:solidFill>
                  <a:srgbClr val="2B3440"/>
                </a:solidFill>
                <a:latin typeface="Calibri"/>
              </a:rPr>
              <a:t> </a:t>
            </a:r>
            <a:r>
              <a:rPr sz="1200" b="0" i="0" dirty="0" err="1">
                <a:solidFill>
                  <a:srgbClr val="2B3440"/>
                </a:solidFill>
                <a:latin typeface="Calibri"/>
              </a:rPr>
              <a:t>cải</a:t>
            </a:r>
            <a:r>
              <a:rPr sz="1200" b="0" i="0" dirty="0">
                <a:solidFill>
                  <a:srgbClr val="2B3440"/>
                </a:solidFill>
                <a:latin typeface="Calibri"/>
              </a:rPr>
              <a:t> </a:t>
            </a:r>
            <a:r>
              <a:rPr sz="1200" b="0" i="0" dirty="0" err="1">
                <a:solidFill>
                  <a:srgbClr val="2B3440"/>
                </a:solidFill>
                <a:latin typeface="Calibri"/>
              </a:rPr>
              <a:t>tiến</a:t>
            </a:r>
            <a:r>
              <a:rPr sz="1200" b="0" i="0" dirty="0">
                <a:solidFill>
                  <a:srgbClr val="2B3440"/>
                </a:solidFill>
                <a:latin typeface="Calibri"/>
              </a:rPr>
              <a:t> </a:t>
            </a:r>
            <a:r>
              <a:rPr sz="1200" b="0" i="0" dirty="0" err="1">
                <a:solidFill>
                  <a:srgbClr val="2B3440"/>
                </a:solidFill>
                <a:latin typeface="Calibri"/>
              </a:rPr>
              <a:t>không</a:t>
            </a:r>
            <a:r>
              <a:rPr sz="1200" b="0" i="0" dirty="0">
                <a:solidFill>
                  <a:srgbClr val="2B3440"/>
                </a:solidFill>
                <a:latin typeface="Calibri"/>
              </a:rPr>
              <a:t> </a:t>
            </a:r>
            <a:r>
              <a:rPr sz="1200" b="0" i="0" dirty="0" err="1">
                <a:solidFill>
                  <a:srgbClr val="2B3440"/>
                </a:solidFill>
                <a:latin typeface="Calibri"/>
              </a:rPr>
              <a:t>nằm</a:t>
            </a:r>
            <a:r>
              <a:rPr sz="1200" b="0" i="0" dirty="0">
                <a:solidFill>
                  <a:srgbClr val="2B3440"/>
                </a:solidFill>
                <a:latin typeface="Calibri"/>
              </a:rPr>
              <a:t> ở 2 </a:t>
            </a:r>
            <a:r>
              <a:rPr sz="1200" b="0" i="0" dirty="0" err="1">
                <a:solidFill>
                  <a:srgbClr val="2B3440"/>
                </a:solidFill>
                <a:latin typeface="Calibri"/>
              </a:rPr>
              <a:t>ngày</a:t>
            </a:r>
            <a:r>
              <a:rPr sz="1200" b="0" i="0" dirty="0">
                <a:solidFill>
                  <a:srgbClr val="2B3440"/>
                </a:solidFill>
                <a:latin typeface="Calibri"/>
              </a:rPr>
              <a:t> </a:t>
            </a:r>
            <a:r>
              <a:rPr sz="1200" b="0" i="0" dirty="0" err="1">
                <a:solidFill>
                  <a:srgbClr val="2B3440"/>
                </a:solidFill>
                <a:latin typeface="Calibri"/>
              </a:rPr>
              <a:t>thực</a:t>
            </a:r>
            <a:r>
              <a:rPr sz="1200" b="0" i="0" dirty="0">
                <a:solidFill>
                  <a:srgbClr val="2B3440"/>
                </a:solidFill>
                <a:latin typeface="Calibri"/>
              </a:rPr>
              <a:t> </a:t>
            </a:r>
            <a:r>
              <a:rPr sz="1200" b="0" i="0" dirty="0" err="1">
                <a:solidFill>
                  <a:srgbClr val="2B3440"/>
                </a:solidFill>
                <a:latin typeface="Calibri"/>
              </a:rPr>
              <a:t>hiện</a:t>
            </a:r>
            <a:r>
              <a:rPr sz="1200" b="0" i="0" dirty="0">
                <a:solidFill>
                  <a:srgbClr val="2B3440"/>
                </a:solidFill>
                <a:latin typeface="Calibri"/>
              </a:rPr>
              <a:t> </a:t>
            </a:r>
            <a:r>
              <a:rPr sz="1200" b="0" i="0" dirty="0" err="1">
                <a:solidFill>
                  <a:srgbClr val="2B3440"/>
                </a:solidFill>
                <a:latin typeface="Calibri"/>
              </a:rPr>
              <a:t>kỹ</a:t>
            </a:r>
            <a:r>
              <a:rPr sz="1200" b="0" i="0" dirty="0">
                <a:solidFill>
                  <a:srgbClr val="2B3440"/>
                </a:solidFill>
                <a:latin typeface="Calibri"/>
              </a:rPr>
              <a:t> </a:t>
            </a:r>
            <a:r>
              <a:rPr sz="1200" b="0" i="0" dirty="0" err="1">
                <a:solidFill>
                  <a:srgbClr val="2B3440"/>
                </a:solidFill>
                <a:latin typeface="Calibri"/>
              </a:rPr>
              <a:t>thuật</a:t>
            </a:r>
            <a:r>
              <a:rPr sz="1200" b="0" i="0" dirty="0">
                <a:solidFill>
                  <a:srgbClr val="2B3440"/>
                </a:solidFill>
                <a:latin typeface="Calibri"/>
              </a:rPr>
              <a:t>, </a:t>
            </a:r>
            <a:r>
              <a:rPr sz="1200" b="0" i="0" dirty="0" err="1">
                <a:solidFill>
                  <a:srgbClr val="2B3440"/>
                </a:solidFill>
                <a:latin typeface="Calibri"/>
              </a:rPr>
              <a:t>mà</a:t>
            </a:r>
            <a:r>
              <a:rPr sz="1200" b="0" i="0" dirty="0">
                <a:solidFill>
                  <a:srgbClr val="2B3440"/>
                </a:solidFill>
                <a:latin typeface="Calibri"/>
              </a:rPr>
              <a:t> ở </a:t>
            </a:r>
            <a:r>
              <a:rPr sz="1200" b="0" i="0" dirty="0" err="1">
                <a:solidFill>
                  <a:srgbClr val="2B3440"/>
                </a:solidFill>
                <a:latin typeface="Calibri"/>
              </a:rPr>
              <a:t>khâu</a:t>
            </a:r>
            <a:r>
              <a:rPr sz="1200" b="0" i="0" dirty="0">
                <a:solidFill>
                  <a:srgbClr val="2B3440"/>
                </a:solidFill>
                <a:latin typeface="Calibri"/>
              </a:rPr>
              <a:t> </a:t>
            </a:r>
            <a:r>
              <a:rPr sz="1200" b="0" i="0" dirty="0" err="1">
                <a:solidFill>
                  <a:srgbClr val="2B3440"/>
                </a:solidFill>
                <a:latin typeface="Calibri"/>
              </a:rPr>
              <a:t>xác</a:t>
            </a:r>
            <a:r>
              <a:rPr sz="1200" b="0" i="0" dirty="0">
                <a:solidFill>
                  <a:srgbClr val="2B3440"/>
                </a:solidFill>
                <a:latin typeface="Calibri"/>
              </a:rPr>
              <a:t> </a:t>
            </a:r>
            <a:r>
              <a:rPr sz="1200" b="0" i="0" dirty="0" err="1">
                <a:solidFill>
                  <a:srgbClr val="2B3440"/>
                </a:solidFill>
                <a:latin typeface="Calibri"/>
              </a:rPr>
              <a:t>nhận</a:t>
            </a:r>
            <a:r>
              <a:rPr sz="1200" b="0" i="0" dirty="0">
                <a:solidFill>
                  <a:srgbClr val="2B3440"/>
                </a:solidFill>
                <a:latin typeface="Calibri"/>
              </a:rPr>
              <a:t> </a:t>
            </a:r>
            <a:r>
              <a:rPr sz="1200" b="0" i="0" dirty="0" err="1">
                <a:solidFill>
                  <a:srgbClr val="2B3440"/>
                </a:solidFill>
                <a:latin typeface="Calibri"/>
              </a:rPr>
              <a:t>báo</a:t>
            </a:r>
            <a:r>
              <a:rPr sz="1200" b="0" i="0" dirty="0">
                <a:solidFill>
                  <a:srgbClr val="2B3440"/>
                </a:solidFill>
                <a:latin typeface="Calibri"/>
              </a:rPr>
              <a:t> </a:t>
            </a:r>
            <a:r>
              <a:rPr sz="1200" b="0" i="0" dirty="0" err="1">
                <a:solidFill>
                  <a:srgbClr val="2B3440"/>
                </a:solidFill>
                <a:latin typeface="Calibri"/>
              </a:rPr>
              <a:t>giá</a:t>
            </a:r>
            <a:r>
              <a:rPr sz="1200" b="0" i="0" dirty="0">
                <a:solidFill>
                  <a:srgbClr val="2B3440"/>
                </a:solidFill>
                <a:latin typeface="Calibri"/>
              </a:rPr>
              <a:t>.</a:t>
            </a:r>
          </a:p>
          <a:p>
            <a:pPr algn="l">
              <a:lnSpc>
                <a:spcPct val="120000"/>
              </a:lnSpc>
              <a:spcAft>
                <a:spcPts val="600"/>
              </a:spcAft>
            </a:pPr>
            <a:r>
              <a:rPr sz="1200" b="0" i="0" dirty="0">
                <a:solidFill>
                  <a:srgbClr val="2B3440"/>
                </a:solidFill>
                <a:latin typeface="Calibri"/>
              </a:rPr>
              <a:t>•  Rework 10% </a:t>
            </a:r>
            <a:r>
              <a:rPr sz="1200" b="0" i="0" dirty="0" err="1">
                <a:solidFill>
                  <a:srgbClr val="2B3440"/>
                </a:solidFill>
                <a:latin typeface="Calibri"/>
              </a:rPr>
              <a:t>làm</a:t>
            </a:r>
            <a:r>
              <a:rPr sz="1200" b="0" i="0" dirty="0">
                <a:solidFill>
                  <a:srgbClr val="2B3440"/>
                </a:solidFill>
                <a:latin typeface="Calibri"/>
              </a:rPr>
              <a:t> </a:t>
            </a:r>
            <a:r>
              <a:rPr sz="1200" b="0" i="0" dirty="0" err="1">
                <a:solidFill>
                  <a:srgbClr val="2B3440"/>
                </a:solidFill>
                <a:latin typeface="Calibri"/>
              </a:rPr>
              <a:t>tăng</a:t>
            </a:r>
            <a:r>
              <a:rPr sz="1200" b="0" i="0" dirty="0">
                <a:solidFill>
                  <a:srgbClr val="2B3440"/>
                </a:solidFill>
                <a:latin typeface="Calibri"/>
              </a:rPr>
              <a:t> </a:t>
            </a:r>
            <a:r>
              <a:rPr sz="1200" b="0" i="0" dirty="0" err="1">
                <a:solidFill>
                  <a:srgbClr val="2B3440"/>
                </a:solidFill>
                <a:latin typeface="Calibri"/>
              </a:rPr>
              <a:t>thêm</a:t>
            </a:r>
            <a:r>
              <a:rPr sz="1200" b="0" i="0" dirty="0">
                <a:solidFill>
                  <a:srgbClr val="2B3440"/>
                </a:solidFill>
                <a:latin typeface="Calibri"/>
              </a:rPr>
              <a:t> </a:t>
            </a:r>
            <a:r>
              <a:rPr sz="1200" b="0" i="0" dirty="0" err="1">
                <a:solidFill>
                  <a:srgbClr val="2B3440"/>
                </a:solidFill>
                <a:latin typeface="Calibri"/>
              </a:rPr>
              <a:t>khoảng</a:t>
            </a:r>
            <a:r>
              <a:rPr sz="1200" b="0" i="0" dirty="0">
                <a:solidFill>
                  <a:srgbClr val="2B3440"/>
                </a:solidFill>
                <a:latin typeface="Calibri"/>
              </a:rPr>
              <a:t> 0,2 </a:t>
            </a:r>
            <a:r>
              <a:rPr sz="1200" b="0" i="0" dirty="0" err="1">
                <a:solidFill>
                  <a:srgbClr val="2B3440"/>
                </a:solidFill>
                <a:latin typeface="Calibri"/>
              </a:rPr>
              <a:t>ngày</a:t>
            </a:r>
            <a:r>
              <a:rPr sz="1200" b="0" i="0" dirty="0">
                <a:solidFill>
                  <a:srgbClr val="2B3440"/>
                </a:solidFill>
                <a:latin typeface="Calibri"/>
              </a:rPr>
              <a:t> </a:t>
            </a:r>
            <a:r>
              <a:rPr sz="1200" b="0" i="0" dirty="0" err="1">
                <a:solidFill>
                  <a:srgbClr val="2B3440"/>
                </a:solidFill>
                <a:latin typeface="Calibri"/>
              </a:rPr>
              <a:t>kỳ</a:t>
            </a:r>
            <a:r>
              <a:rPr sz="1200" b="0" i="0" dirty="0">
                <a:solidFill>
                  <a:srgbClr val="2B3440"/>
                </a:solidFill>
                <a:latin typeface="Calibri"/>
              </a:rPr>
              <a:t> </a:t>
            </a:r>
            <a:r>
              <a:rPr sz="1200" b="0" i="0" dirty="0" err="1">
                <a:solidFill>
                  <a:srgbClr val="2B3440"/>
                </a:solidFill>
                <a:latin typeface="Calibri"/>
              </a:rPr>
              <a:t>vọng</a:t>
            </a:r>
            <a:r>
              <a:rPr sz="1200" b="0" i="0" dirty="0">
                <a:solidFill>
                  <a:srgbClr val="2B3440"/>
                </a:solidFill>
                <a:latin typeface="Calibri"/>
              </a:rPr>
              <a:t> </a:t>
            </a:r>
            <a:r>
              <a:rPr sz="1200" b="0" i="0" dirty="0" err="1">
                <a:solidFill>
                  <a:srgbClr val="2B3440"/>
                </a:solidFill>
                <a:latin typeface="Calibri"/>
              </a:rPr>
              <a:t>cho</a:t>
            </a:r>
            <a:r>
              <a:rPr sz="1200" b="0" i="0" dirty="0">
                <a:solidFill>
                  <a:srgbClr val="2B3440"/>
                </a:solidFill>
                <a:latin typeface="Calibri"/>
              </a:rPr>
              <a:t> </a:t>
            </a:r>
            <a:r>
              <a:rPr sz="1200" b="0" i="0" dirty="0" err="1">
                <a:solidFill>
                  <a:srgbClr val="2B3440"/>
                </a:solidFill>
                <a:latin typeface="Calibri"/>
              </a:rPr>
              <a:t>mỗi</a:t>
            </a:r>
            <a:r>
              <a:rPr sz="1200" b="0" i="0" dirty="0">
                <a:solidFill>
                  <a:srgbClr val="2B3440"/>
                </a:solidFill>
                <a:latin typeface="Calibri"/>
              </a:rPr>
              <a:t> Service Order.</a:t>
            </a:r>
          </a:p>
        </p:txBody>
      </p:sp>
    </p:spTree>
    <p:extLst>
      <p:ext uri="{BB962C8B-B14F-4D97-AF65-F5344CB8AC3E}">
        <p14:creationId xmlns:p14="http://schemas.microsoft.com/office/powerpoint/2010/main" val="7337471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59536"/>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82880" cy="859536"/>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75488" y="137160"/>
            <a:ext cx="7955279" cy="256032"/>
          </a:xfrm>
          <a:prstGeom prst="rect">
            <a:avLst/>
          </a:prstGeom>
          <a:noFill/>
        </p:spPr>
        <p:txBody>
          <a:bodyPr wrap="square" lIns="0" tIns="0" rIns="0" bIns="0" anchor="t">
            <a:spAutoFit/>
          </a:bodyPr>
          <a:lstStyle/>
          <a:p>
            <a:pPr algn="l">
              <a:lnSpc>
                <a:spcPct val="100000"/>
              </a:lnSpc>
            </a:pPr>
            <a:r>
              <a:rPr sz="950" b="1" i="0">
                <a:solidFill>
                  <a:srgbClr val="00C2A8"/>
                </a:solidFill>
                <a:latin typeface="Calibri"/>
              </a:rPr>
              <a:t>CHƯƠNG 4 · 4.2.3A PHÂN TÍCH THỜI GIAN (TIME)</a:t>
            </a:r>
          </a:p>
        </p:txBody>
      </p:sp>
      <p:sp>
        <p:nvSpPr>
          <p:cNvPr id="5" name="TextBox 4"/>
          <p:cNvSpPr txBox="1"/>
          <p:nvPr/>
        </p:nvSpPr>
        <p:spPr>
          <a:xfrm>
            <a:off x="475488" y="411480"/>
            <a:ext cx="7955279" cy="329184"/>
          </a:xfrm>
          <a:prstGeom prst="rect">
            <a:avLst/>
          </a:prstGeom>
          <a:noFill/>
        </p:spPr>
        <p:txBody>
          <a:bodyPr wrap="square" lIns="0" tIns="0" rIns="0" bIns="0" anchor="t">
            <a:spAutoFit/>
          </a:bodyPr>
          <a:lstStyle/>
          <a:p>
            <a:pPr algn="l">
              <a:lnSpc>
                <a:spcPct val="100000"/>
              </a:lnSpc>
            </a:pPr>
            <a:r>
              <a:rPr sz="1700" b="1" i="0">
                <a:solidFill>
                  <a:srgbClr val="FFFFFF"/>
                </a:solidFill>
                <a:latin typeface="Calibri"/>
              </a:rPr>
              <a:t>C03 — Phân tích thời gian trên mô hình quy trình</a:t>
            </a:r>
          </a:p>
        </p:txBody>
      </p:sp>
      <p:sp>
        <p:nvSpPr>
          <p:cNvPr id="6" name="TextBox 5"/>
          <p:cNvSpPr txBox="1"/>
          <p:nvPr/>
        </p:nvSpPr>
        <p:spPr>
          <a:xfrm>
            <a:off x="8595360" y="265176"/>
            <a:ext cx="3154680" cy="329184"/>
          </a:xfrm>
          <a:prstGeom prst="rect">
            <a:avLst/>
          </a:prstGeom>
          <a:noFill/>
        </p:spPr>
        <p:txBody>
          <a:bodyPr wrap="square" lIns="0" tIns="0" rIns="0" bIns="0" anchor="ctr">
            <a:spAutoFit/>
          </a:bodyPr>
          <a:lstStyle/>
          <a:p>
            <a:pPr algn="r">
              <a:lnSpc>
                <a:spcPct val="100000"/>
              </a:lnSpc>
            </a:pPr>
            <a:r>
              <a:rPr sz="1400" b="1" i="0">
                <a:solidFill>
                  <a:srgbClr val="00C2A8"/>
                </a:solidFill>
                <a:latin typeface="Calibri"/>
              </a:rPr>
              <a:t>Hình 4.4</a:t>
            </a:r>
          </a:p>
        </p:txBody>
      </p:sp>
      <p:sp>
        <p:nvSpPr>
          <p:cNvPr id="9" name="TextBox 8"/>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10" name="TextBox 9"/>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47</a:t>
            </a:r>
          </a:p>
        </p:txBody>
      </p:sp>
    </p:spTree>
    <p:extLst>
      <p:ext uri="{BB962C8B-B14F-4D97-AF65-F5344CB8AC3E}">
        <p14:creationId xmlns:p14="http://schemas.microsoft.com/office/powerpoint/2010/main" val="6717584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CHƯƠNG 4 · 4.3 PHÂN TÍCH QUY TRÌNH THỨ HAI</a:t>
            </a:r>
          </a:p>
        </p:txBody>
      </p:sp>
      <p:sp>
        <p:nvSpPr>
          <p:cNvPr id="3" name="TextBox 2"/>
          <p:cNvSpPr txBox="1"/>
          <p:nvPr/>
        </p:nvSpPr>
        <p:spPr>
          <a:xfrm>
            <a:off x="658368" y="640080"/>
            <a:ext cx="10874959" cy="603504"/>
          </a:xfrm>
          <a:prstGeom prst="rect">
            <a:avLst/>
          </a:prstGeom>
          <a:noFill/>
        </p:spPr>
        <p:txBody>
          <a:bodyPr wrap="square" lIns="0" tIns="0" rIns="0" bIns="0" anchor="t">
            <a:spAutoFit/>
          </a:bodyPr>
          <a:lstStyle/>
          <a:p>
            <a:pPr algn="l">
              <a:lnSpc>
                <a:spcPct val="105000"/>
              </a:lnSpc>
            </a:pPr>
            <a:r>
              <a:rPr sz="2500" b="1" i="0">
                <a:solidFill>
                  <a:srgbClr val="0A2540"/>
                </a:solidFill>
                <a:latin typeface="Calibri"/>
              </a:rPr>
              <a:t>S01 — PROCUREMENT MANAGEMENT</a:t>
            </a: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371600"/>
            <a:ext cx="10874959" cy="274320"/>
          </a:xfrm>
          <a:prstGeom prst="rect">
            <a:avLst/>
          </a:prstGeom>
          <a:noFill/>
        </p:spPr>
        <p:txBody>
          <a:bodyPr wrap="square" lIns="0" tIns="0" rIns="0" bIns="0" anchor="t">
            <a:spAutoFit/>
          </a:bodyPr>
          <a:lstStyle/>
          <a:p>
            <a:pPr algn="l">
              <a:lnSpc>
                <a:spcPct val="118000"/>
              </a:lnSpc>
            </a:pPr>
            <a:r>
              <a:rPr sz="1100" b="0" i="1">
                <a:solidFill>
                  <a:srgbClr val="6B7784"/>
                </a:solidFill>
                <a:latin typeface="Calibri"/>
              </a:rPr>
              <a:t>Quản lý mua hàng và cung ứng  ·  Nhóm quy trình hỗ trợ</a:t>
            </a:r>
          </a:p>
        </p:txBody>
      </p:sp>
      <p:sp>
        <p:nvSpPr>
          <p:cNvPr id="7" name="TextBox 6"/>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8" name="TextBox 7"/>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48</a:t>
            </a:r>
          </a:p>
        </p:txBody>
      </p:sp>
      <p:sp>
        <p:nvSpPr>
          <p:cNvPr id="9" name="Rectangle 8"/>
          <p:cNvSpPr/>
          <p:nvPr/>
        </p:nvSpPr>
        <p:spPr>
          <a:xfrm>
            <a:off x="658368" y="1737360"/>
            <a:ext cx="5230368" cy="2706624"/>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 name="Rectangle 9"/>
          <p:cNvSpPr/>
          <p:nvPr/>
        </p:nvSpPr>
        <p:spPr>
          <a:xfrm>
            <a:off x="658368" y="1737360"/>
            <a:ext cx="5230368" cy="50292"/>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 name="TextBox 10"/>
          <p:cNvSpPr txBox="1"/>
          <p:nvPr/>
        </p:nvSpPr>
        <p:spPr>
          <a:xfrm>
            <a:off x="932688" y="1956816"/>
            <a:ext cx="4663440" cy="215444"/>
          </a:xfrm>
          <a:prstGeom prst="rect">
            <a:avLst/>
          </a:prstGeom>
          <a:noFill/>
        </p:spPr>
        <p:txBody>
          <a:bodyPr wrap="square" lIns="0" tIns="0" rIns="0" bIns="0" anchor="t">
            <a:spAutoFit/>
          </a:bodyPr>
          <a:lstStyle/>
          <a:p>
            <a:pPr algn="l">
              <a:lnSpc>
                <a:spcPct val="100000"/>
              </a:lnSpc>
            </a:pPr>
            <a:r>
              <a:rPr sz="1400" b="1" i="0">
                <a:solidFill>
                  <a:srgbClr val="0A2540"/>
                </a:solidFill>
                <a:latin typeface="Calibri"/>
              </a:rPr>
              <a:t>PHÂN TÍCH ĐỊNH TÍNH</a:t>
            </a:r>
          </a:p>
        </p:txBody>
      </p:sp>
      <p:sp>
        <p:nvSpPr>
          <p:cNvPr id="12" name="TextBox 11"/>
          <p:cNvSpPr txBox="1"/>
          <p:nvPr/>
        </p:nvSpPr>
        <p:spPr>
          <a:xfrm>
            <a:off x="932688" y="2359152"/>
            <a:ext cx="4663440" cy="1859227"/>
          </a:xfrm>
          <a:prstGeom prst="rect">
            <a:avLst/>
          </a:prstGeom>
          <a:noFill/>
        </p:spPr>
        <p:txBody>
          <a:bodyPr wrap="square" lIns="0" tIns="0" rIns="0" bIns="0" anchor="t">
            <a:spAutoFit/>
          </a:bodyPr>
          <a:lstStyle/>
          <a:p>
            <a:pPr algn="l">
              <a:lnSpc>
                <a:spcPct val="124000"/>
              </a:lnSpc>
              <a:spcAft>
                <a:spcPts val="1000"/>
              </a:spcAft>
            </a:pPr>
            <a:r>
              <a:rPr sz="1400" b="0" i="0">
                <a:solidFill>
                  <a:srgbClr val="2B3440"/>
                </a:solidFill>
                <a:latin typeface="Calibri"/>
              </a:rPr>
              <a:t>•  Phân loại hoạt động VA – BVA – NVA trên chu trình Source-to-Pay.</a:t>
            </a:r>
          </a:p>
          <a:p>
            <a:pPr algn="l">
              <a:lnSpc>
                <a:spcPct val="124000"/>
              </a:lnSpc>
              <a:spcAft>
                <a:spcPts val="1000"/>
              </a:spcAft>
            </a:pPr>
            <a:r>
              <a:rPr sz="1400" b="0" i="0">
                <a:solidFill>
                  <a:srgbClr val="2B3440"/>
                </a:solidFill>
                <a:latin typeface="Calibri"/>
              </a:rPr>
              <a:t>•  Nhận diện lãng phí Move – Hold – Overdo, tập trung ở khâu phê duyệt PR và xác nhận PO.</a:t>
            </a:r>
          </a:p>
          <a:p>
            <a:pPr algn="l">
              <a:lnSpc>
                <a:spcPct val="124000"/>
              </a:lnSpc>
              <a:spcAft>
                <a:spcPts val="1000"/>
              </a:spcAft>
            </a:pPr>
            <a:r>
              <a:rPr sz="1400" b="0" i="0">
                <a:solidFill>
                  <a:srgbClr val="2B3440"/>
                </a:solidFill>
                <a:latin typeface="Calibri"/>
              </a:rPr>
              <a:t>•  Phân tích nguyên nhân các điểm chậm trễ giữa Requester – Buyer – Approver – Supplier.</a:t>
            </a:r>
          </a:p>
        </p:txBody>
      </p:sp>
      <p:sp>
        <p:nvSpPr>
          <p:cNvPr id="13" name="Rectangle 12"/>
          <p:cNvSpPr/>
          <p:nvPr/>
        </p:nvSpPr>
        <p:spPr>
          <a:xfrm>
            <a:off x="6327648" y="1737360"/>
            <a:ext cx="5202936" cy="2706624"/>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4" name="Rectangle 13"/>
          <p:cNvSpPr/>
          <p:nvPr/>
        </p:nvSpPr>
        <p:spPr>
          <a:xfrm>
            <a:off x="6327648" y="1737360"/>
            <a:ext cx="5202936" cy="50292"/>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5" name="TextBox 14"/>
          <p:cNvSpPr txBox="1"/>
          <p:nvPr/>
        </p:nvSpPr>
        <p:spPr>
          <a:xfrm>
            <a:off x="6601968" y="1956816"/>
            <a:ext cx="4663440" cy="215444"/>
          </a:xfrm>
          <a:prstGeom prst="rect">
            <a:avLst/>
          </a:prstGeom>
          <a:noFill/>
        </p:spPr>
        <p:txBody>
          <a:bodyPr wrap="square" lIns="0" tIns="0" rIns="0" bIns="0" anchor="t">
            <a:spAutoFit/>
          </a:bodyPr>
          <a:lstStyle/>
          <a:p>
            <a:pPr algn="l">
              <a:lnSpc>
                <a:spcPct val="100000"/>
              </a:lnSpc>
            </a:pPr>
            <a:r>
              <a:rPr sz="1400" b="1" i="0">
                <a:solidFill>
                  <a:srgbClr val="0A2540"/>
                </a:solidFill>
                <a:latin typeface="Calibri"/>
              </a:rPr>
              <a:t>PHÂN TÍCH ĐỊNH LƯỢNG</a:t>
            </a:r>
          </a:p>
        </p:txBody>
      </p:sp>
      <p:sp>
        <p:nvSpPr>
          <p:cNvPr id="16" name="TextBox 15"/>
          <p:cNvSpPr txBox="1"/>
          <p:nvPr/>
        </p:nvSpPr>
        <p:spPr>
          <a:xfrm>
            <a:off x="6601968" y="2359152"/>
            <a:ext cx="4663440" cy="1859227"/>
          </a:xfrm>
          <a:prstGeom prst="rect">
            <a:avLst/>
          </a:prstGeom>
          <a:noFill/>
        </p:spPr>
        <p:txBody>
          <a:bodyPr wrap="square" lIns="0" tIns="0" rIns="0" bIns="0" anchor="t">
            <a:spAutoFit/>
          </a:bodyPr>
          <a:lstStyle/>
          <a:p>
            <a:pPr algn="l">
              <a:lnSpc>
                <a:spcPct val="124000"/>
              </a:lnSpc>
              <a:spcAft>
                <a:spcPts val="1000"/>
              </a:spcAft>
            </a:pPr>
            <a:r>
              <a:rPr sz="1400" b="0" i="0">
                <a:solidFill>
                  <a:srgbClr val="2B3440"/>
                </a:solidFill>
                <a:latin typeface="Calibri"/>
              </a:rPr>
              <a:t>•  Time — lead time PR → PO, thời gian chờ phê duyệt và chờ nhà cung cấp xác nhận.</a:t>
            </a:r>
          </a:p>
          <a:p>
            <a:pPr algn="l">
              <a:lnSpc>
                <a:spcPct val="124000"/>
              </a:lnSpc>
              <a:spcAft>
                <a:spcPts val="1000"/>
              </a:spcAft>
            </a:pPr>
            <a:r>
              <a:rPr sz="1400" b="0" i="0">
                <a:solidFill>
                  <a:srgbClr val="2B3440"/>
                </a:solidFill>
                <a:latin typeface="Calibri"/>
              </a:rPr>
              <a:t>•  Quality — tỷ lệ PR bị trả lại, tỷ lệ PO phải điều chỉnh, tỷ lệ giao đúng hạn.</a:t>
            </a:r>
          </a:p>
          <a:p>
            <a:pPr algn="l">
              <a:lnSpc>
                <a:spcPct val="124000"/>
              </a:lnSpc>
              <a:spcAft>
                <a:spcPts val="1000"/>
              </a:spcAft>
            </a:pPr>
            <a:r>
              <a:rPr sz="1400" b="0" i="0">
                <a:solidFill>
                  <a:srgbClr val="2B3440"/>
                </a:solidFill>
                <a:latin typeface="Calibri"/>
              </a:rPr>
              <a:t>•  Cost — giờ công xử lý một PR/PO và chi phí phát sinh do chậm cung ứng.</a:t>
            </a:r>
          </a:p>
        </p:txBody>
      </p:sp>
    </p:spTree>
    <p:extLst>
      <p:ext uri="{BB962C8B-B14F-4D97-AF65-F5344CB8AC3E}">
        <p14:creationId xmlns:p14="http://schemas.microsoft.com/office/powerpoint/2010/main" val="28357086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CHƯƠNG 4 · 4.4 TỔNG HỢP VÀ ĐỀ XUẤT</a:t>
            </a:r>
          </a:p>
        </p:txBody>
      </p:sp>
      <p:sp>
        <p:nvSpPr>
          <p:cNvPr id="3" name="TextBox 2"/>
          <p:cNvSpPr txBox="1"/>
          <p:nvPr/>
        </p:nvSpPr>
        <p:spPr>
          <a:xfrm>
            <a:off x="658368" y="640080"/>
            <a:ext cx="10874959" cy="603504"/>
          </a:xfrm>
          <a:prstGeom prst="rect">
            <a:avLst/>
          </a:prstGeom>
          <a:noFill/>
        </p:spPr>
        <p:txBody>
          <a:bodyPr wrap="square" lIns="0" tIns="0" rIns="0" bIns="0" anchor="t">
            <a:spAutoFit/>
          </a:bodyPr>
          <a:lstStyle/>
          <a:p>
            <a:pPr algn="l">
              <a:lnSpc>
                <a:spcPct val="105000"/>
              </a:lnSpc>
            </a:pPr>
            <a:r>
              <a:rPr sz="2500" b="1" i="0">
                <a:solidFill>
                  <a:srgbClr val="0A2540"/>
                </a:solidFill>
                <a:latin typeface="Calibri"/>
              </a:rPr>
              <a:t>ĐỀ XUẤT CẢI TIẾN CHO SERVICE ORDER MANAGEMENT</a:t>
            </a: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371600"/>
            <a:ext cx="10874959" cy="254237"/>
          </a:xfrm>
          <a:prstGeom prst="rect">
            <a:avLst/>
          </a:prstGeom>
          <a:noFill/>
        </p:spPr>
        <p:txBody>
          <a:bodyPr wrap="square" lIns="0" tIns="0" rIns="0" bIns="0" anchor="t">
            <a:spAutoFit/>
          </a:bodyPr>
          <a:lstStyle/>
          <a:p>
            <a:pPr algn="l">
              <a:lnSpc>
                <a:spcPct val="118000"/>
              </a:lnSpc>
            </a:pPr>
            <a:r>
              <a:rPr sz="1400" b="0" i="1" dirty="0" err="1">
                <a:solidFill>
                  <a:srgbClr val="6B7784"/>
                </a:solidFill>
                <a:latin typeface="Calibri"/>
              </a:rPr>
              <a:t>Rút</a:t>
            </a:r>
            <a:r>
              <a:rPr sz="1400" b="0" i="1" dirty="0">
                <a:solidFill>
                  <a:srgbClr val="6B7784"/>
                </a:solidFill>
                <a:latin typeface="Calibri"/>
              </a:rPr>
              <a:t> </a:t>
            </a:r>
            <a:r>
              <a:rPr sz="1400" b="0" i="1" dirty="0" err="1">
                <a:solidFill>
                  <a:srgbClr val="6B7784"/>
                </a:solidFill>
                <a:latin typeface="Calibri"/>
              </a:rPr>
              <a:t>ra</a:t>
            </a:r>
            <a:r>
              <a:rPr sz="1400" b="0" i="1" dirty="0">
                <a:solidFill>
                  <a:srgbClr val="6B7784"/>
                </a:solidFill>
                <a:latin typeface="Calibri"/>
              </a:rPr>
              <a:t> </a:t>
            </a:r>
            <a:r>
              <a:rPr sz="1400" b="0" i="1" dirty="0" err="1">
                <a:solidFill>
                  <a:srgbClr val="6B7784"/>
                </a:solidFill>
                <a:latin typeface="Calibri"/>
              </a:rPr>
              <a:t>từ</a:t>
            </a:r>
            <a:r>
              <a:rPr sz="1400" b="0" i="1" dirty="0">
                <a:solidFill>
                  <a:srgbClr val="6B7784"/>
                </a:solidFill>
                <a:latin typeface="Calibri"/>
              </a:rPr>
              <a:t> </a:t>
            </a:r>
            <a:r>
              <a:rPr sz="1400" b="0" i="1" dirty="0" err="1">
                <a:solidFill>
                  <a:srgbClr val="6B7784"/>
                </a:solidFill>
                <a:latin typeface="Calibri"/>
              </a:rPr>
              <a:t>cột</a:t>
            </a:r>
            <a:r>
              <a:rPr sz="1400" b="0" i="1" dirty="0">
                <a:solidFill>
                  <a:srgbClr val="6B7784"/>
                </a:solidFill>
                <a:latin typeface="Calibri"/>
              </a:rPr>
              <a:t> “</a:t>
            </a:r>
            <a:r>
              <a:rPr sz="1400" b="0" i="1" dirty="0" err="1">
                <a:solidFill>
                  <a:srgbClr val="6B7784"/>
                </a:solidFill>
                <a:latin typeface="Calibri"/>
              </a:rPr>
              <a:t>Hướng</a:t>
            </a:r>
            <a:r>
              <a:rPr sz="1400" b="0" i="1" dirty="0">
                <a:solidFill>
                  <a:srgbClr val="6B7784"/>
                </a:solidFill>
                <a:latin typeface="Calibri"/>
              </a:rPr>
              <a:t> </a:t>
            </a:r>
            <a:r>
              <a:rPr sz="1400" b="0" i="1" dirty="0" err="1">
                <a:solidFill>
                  <a:srgbClr val="6B7784"/>
                </a:solidFill>
                <a:latin typeface="Calibri"/>
              </a:rPr>
              <a:t>khắc</a:t>
            </a:r>
            <a:r>
              <a:rPr sz="1400" b="0" i="1" dirty="0">
                <a:solidFill>
                  <a:srgbClr val="6B7784"/>
                </a:solidFill>
                <a:latin typeface="Calibri"/>
              </a:rPr>
              <a:t> </a:t>
            </a:r>
            <a:r>
              <a:rPr sz="1400" b="0" i="1" dirty="0" err="1">
                <a:solidFill>
                  <a:srgbClr val="6B7784"/>
                </a:solidFill>
                <a:latin typeface="Calibri"/>
              </a:rPr>
              <a:t>phục</a:t>
            </a:r>
            <a:r>
              <a:rPr sz="1400" b="0" i="1" dirty="0">
                <a:solidFill>
                  <a:srgbClr val="6B7784"/>
                </a:solidFill>
                <a:latin typeface="Calibri"/>
              </a:rPr>
              <a:t>” </a:t>
            </a:r>
            <a:r>
              <a:rPr sz="1400" b="0" i="1" dirty="0" err="1">
                <a:solidFill>
                  <a:srgbClr val="6B7784"/>
                </a:solidFill>
                <a:latin typeface="Calibri"/>
              </a:rPr>
              <a:t>của</a:t>
            </a:r>
            <a:r>
              <a:rPr sz="1400" b="0" i="1" dirty="0">
                <a:solidFill>
                  <a:srgbClr val="6B7784"/>
                </a:solidFill>
                <a:latin typeface="Calibri"/>
              </a:rPr>
              <a:t> </a:t>
            </a:r>
            <a:r>
              <a:rPr sz="1400" b="0" i="1" dirty="0" err="1">
                <a:solidFill>
                  <a:srgbClr val="6B7784"/>
                </a:solidFill>
                <a:latin typeface="Calibri"/>
              </a:rPr>
              <a:t>Bảng</a:t>
            </a:r>
            <a:r>
              <a:rPr sz="1400" b="0" i="1" dirty="0">
                <a:solidFill>
                  <a:srgbClr val="6B7784"/>
                </a:solidFill>
                <a:latin typeface="Calibri"/>
              </a:rPr>
              <a:t> 4.1 </a:t>
            </a:r>
            <a:r>
              <a:rPr sz="1400" b="0" i="1" dirty="0" err="1">
                <a:solidFill>
                  <a:srgbClr val="6B7784"/>
                </a:solidFill>
                <a:latin typeface="Calibri"/>
              </a:rPr>
              <a:t>và</a:t>
            </a:r>
            <a:r>
              <a:rPr sz="1400" b="0" i="1" dirty="0">
                <a:solidFill>
                  <a:srgbClr val="6B7784"/>
                </a:solidFill>
                <a:latin typeface="Calibri"/>
              </a:rPr>
              <a:t> </a:t>
            </a:r>
            <a:r>
              <a:rPr sz="1400" b="0" i="1" dirty="0" err="1">
                <a:solidFill>
                  <a:srgbClr val="6B7784"/>
                </a:solidFill>
                <a:latin typeface="Calibri"/>
              </a:rPr>
              <a:t>Bảng</a:t>
            </a:r>
            <a:r>
              <a:rPr sz="1400" b="0" i="1" dirty="0">
                <a:solidFill>
                  <a:srgbClr val="6B7784"/>
                </a:solidFill>
                <a:latin typeface="Calibri"/>
              </a:rPr>
              <a:t> 4.2</a:t>
            </a:r>
          </a:p>
        </p:txBody>
      </p:sp>
      <p:sp>
        <p:nvSpPr>
          <p:cNvPr id="7" name="TextBox 6"/>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8" name="TextBox 7"/>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49</a:t>
            </a:r>
          </a:p>
        </p:txBody>
      </p:sp>
      <p:sp>
        <p:nvSpPr>
          <p:cNvPr id="9" name="Rectangle 8"/>
          <p:cNvSpPr/>
          <p:nvPr/>
        </p:nvSpPr>
        <p:spPr>
          <a:xfrm>
            <a:off x="658368" y="1792224"/>
            <a:ext cx="10874959" cy="749808"/>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0" name="Rectangle 9"/>
          <p:cNvSpPr/>
          <p:nvPr/>
        </p:nvSpPr>
        <p:spPr>
          <a:xfrm>
            <a:off x="658368" y="1792224"/>
            <a:ext cx="50292" cy="74980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1" name="TextBox 10"/>
          <p:cNvSpPr txBox="1"/>
          <p:nvPr/>
        </p:nvSpPr>
        <p:spPr>
          <a:xfrm>
            <a:off x="914400" y="2074795"/>
            <a:ext cx="475488" cy="184666"/>
          </a:xfrm>
          <a:prstGeom prst="rect">
            <a:avLst/>
          </a:prstGeom>
          <a:noFill/>
        </p:spPr>
        <p:txBody>
          <a:bodyPr wrap="square" lIns="0" tIns="0" rIns="0" bIns="0" anchor="ctr">
            <a:spAutoFit/>
          </a:bodyPr>
          <a:lstStyle/>
          <a:p>
            <a:pPr algn="l">
              <a:lnSpc>
                <a:spcPct val="100000"/>
              </a:lnSpc>
            </a:pPr>
            <a:r>
              <a:rPr sz="1200" b="1" i="0">
                <a:solidFill>
                  <a:srgbClr val="0096D6"/>
                </a:solidFill>
                <a:latin typeface="Calibri"/>
              </a:rPr>
              <a:t>01</a:t>
            </a:r>
          </a:p>
        </p:txBody>
      </p:sp>
      <p:sp>
        <p:nvSpPr>
          <p:cNvPr id="12" name="TextBox 11"/>
          <p:cNvSpPr txBox="1"/>
          <p:nvPr/>
        </p:nvSpPr>
        <p:spPr>
          <a:xfrm>
            <a:off x="1499616" y="1901952"/>
            <a:ext cx="3246120" cy="184666"/>
          </a:xfrm>
          <a:prstGeom prst="rect">
            <a:avLst/>
          </a:prstGeom>
          <a:noFill/>
        </p:spPr>
        <p:txBody>
          <a:bodyPr wrap="square" lIns="0" tIns="0" rIns="0" bIns="0" anchor="t">
            <a:spAutoFit/>
          </a:bodyPr>
          <a:lstStyle/>
          <a:p>
            <a:pPr algn="l">
              <a:lnSpc>
                <a:spcPct val="100000"/>
              </a:lnSpc>
            </a:pPr>
            <a:r>
              <a:rPr sz="1200" b="1" i="0">
                <a:solidFill>
                  <a:srgbClr val="0A2540"/>
                </a:solidFill>
                <a:latin typeface="Calibri"/>
              </a:rPr>
              <a:t>CHUẨN HÓA THÔNG TIN ĐẦU VÀO</a:t>
            </a:r>
          </a:p>
        </p:txBody>
      </p:sp>
      <p:sp>
        <p:nvSpPr>
          <p:cNvPr id="13" name="TextBox 12"/>
          <p:cNvSpPr txBox="1"/>
          <p:nvPr/>
        </p:nvSpPr>
        <p:spPr>
          <a:xfrm>
            <a:off x="1499616" y="2105248"/>
            <a:ext cx="6035040" cy="424732"/>
          </a:xfrm>
          <a:prstGeom prst="rect">
            <a:avLst/>
          </a:prstGeom>
          <a:noFill/>
        </p:spPr>
        <p:txBody>
          <a:bodyPr wrap="square" lIns="0" tIns="0" rIns="0" bIns="0" anchor="t">
            <a:spAutoFit/>
          </a:bodyPr>
          <a:lstStyle/>
          <a:p>
            <a:pPr algn="l">
              <a:lnSpc>
                <a:spcPct val="115000"/>
              </a:lnSpc>
            </a:pPr>
            <a:r>
              <a:rPr sz="1200" b="0" i="0" dirty="0" err="1">
                <a:solidFill>
                  <a:srgbClr val="2B3440"/>
                </a:solidFill>
                <a:latin typeface="Calibri"/>
              </a:rPr>
              <a:t>Mẫu</a:t>
            </a:r>
            <a:r>
              <a:rPr sz="1200" b="0" i="0" dirty="0">
                <a:solidFill>
                  <a:srgbClr val="2B3440"/>
                </a:solidFill>
                <a:latin typeface="Calibri"/>
              </a:rPr>
              <a:t> </a:t>
            </a:r>
            <a:r>
              <a:rPr sz="1200" b="0" i="0" dirty="0" err="1">
                <a:solidFill>
                  <a:srgbClr val="2B3440"/>
                </a:solidFill>
                <a:latin typeface="Calibri"/>
              </a:rPr>
              <a:t>tiếp</a:t>
            </a:r>
            <a:r>
              <a:rPr sz="1200" b="0" i="0" dirty="0">
                <a:solidFill>
                  <a:srgbClr val="2B3440"/>
                </a:solidFill>
                <a:latin typeface="Calibri"/>
              </a:rPr>
              <a:t> </a:t>
            </a:r>
            <a:r>
              <a:rPr sz="1200" b="0" i="0" dirty="0" err="1">
                <a:solidFill>
                  <a:srgbClr val="2B3440"/>
                </a:solidFill>
                <a:latin typeface="Calibri"/>
              </a:rPr>
              <a:t>nhận</a:t>
            </a:r>
            <a:r>
              <a:rPr sz="1200" b="0" i="0" dirty="0">
                <a:solidFill>
                  <a:srgbClr val="2B3440"/>
                </a:solidFill>
                <a:latin typeface="Calibri"/>
              </a:rPr>
              <a:t> </a:t>
            </a:r>
            <a:r>
              <a:rPr sz="1200" b="0" i="0" dirty="0" err="1">
                <a:solidFill>
                  <a:srgbClr val="2B3440"/>
                </a:solidFill>
                <a:latin typeface="Calibri"/>
              </a:rPr>
              <a:t>yêu</a:t>
            </a:r>
            <a:r>
              <a:rPr sz="1200" b="0" i="0" dirty="0">
                <a:solidFill>
                  <a:srgbClr val="2B3440"/>
                </a:solidFill>
                <a:latin typeface="Calibri"/>
              </a:rPr>
              <a:t> </a:t>
            </a:r>
            <a:r>
              <a:rPr sz="1200" b="0" i="0" dirty="0" err="1">
                <a:solidFill>
                  <a:srgbClr val="2B3440"/>
                </a:solidFill>
                <a:latin typeface="Calibri"/>
              </a:rPr>
              <a:t>cầu</a:t>
            </a:r>
            <a:r>
              <a:rPr sz="1200" b="0" i="0" dirty="0">
                <a:solidFill>
                  <a:srgbClr val="2B3440"/>
                </a:solidFill>
                <a:latin typeface="Calibri"/>
              </a:rPr>
              <a:t> </a:t>
            </a:r>
            <a:r>
              <a:rPr sz="1200" b="0" i="0" dirty="0" err="1">
                <a:solidFill>
                  <a:srgbClr val="2B3440"/>
                </a:solidFill>
                <a:latin typeface="Calibri"/>
              </a:rPr>
              <a:t>dịch</a:t>
            </a:r>
            <a:r>
              <a:rPr sz="1200" b="0" i="0" dirty="0">
                <a:solidFill>
                  <a:srgbClr val="2B3440"/>
                </a:solidFill>
                <a:latin typeface="Calibri"/>
              </a:rPr>
              <a:t> </a:t>
            </a:r>
            <a:r>
              <a:rPr sz="1200" b="0" i="0" dirty="0" err="1">
                <a:solidFill>
                  <a:srgbClr val="2B3440"/>
                </a:solidFill>
                <a:latin typeface="Calibri"/>
              </a:rPr>
              <a:t>vụ</a:t>
            </a:r>
            <a:r>
              <a:rPr sz="1200" b="0" i="0" dirty="0">
                <a:solidFill>
                  <a:srgbClr val="2B3440"/>
                </a:solidFill>
                <a:latin typeface="Calibri"/>
              </a:rPr>
              <a:t> </a:t>
            </a:r>
            <a:r>
              <a:rPr sz="1200" b="0" i="0" dirty="0" err="1">
                <a:solidFill>
                  <a:srgbClr val="2B3440"/>
                </a:solidFill>
                <a:latin typeface="Calibri"/>
              </a:rPr>
              <a:t>chuẩn</a:t>
            </a:r>
            <a:r>
              <a:rPr sz="1200" b="0" i="0" dirty="0">
                <a:solidFill>
                  <a:srgbClr val="2B3440"/>
                </a:solidFill>
                <a:latin typeface="Calibri"/>
              </a:rPr>
              <a:t>, </a:t>
            </a:r>
            <a:r>
              <a:rPr sz="1200" b="0" i="0" dirty="0" err="1">
                <a:solidFill>
                  <a:srgbClr val="2B3440"/>
                </a:solidFill>
                <a:latin typeface="Calibri"/>
              </a:rPr>
              <a:t>quy</a:t>
            </a:r>
            <a:r>
              <a:rPr sz="1200" b="0" i="0" dirty="0">
                <a:solidFill>
                  <a:srgbClr val="2B3440"/>
                </a:solidFill>
                <a:latin typeface="Calibri"/>
              </a:rPr>
              <a:t> </a:t>
            </a:r>
            <a:r>
              <a:rPr sz="1200" b="0" i="0" dirty="0" err="1">
                <a:solidFill>
                  <a:srgbClr val="2B3440"/>
                </a:solidFill>
                <a:latin typeface="Calibri"/>
              </a:rPr>
              <a:t>định</a:t>
            </a:r>
            <a:r>
              <a:rPr sz="1200" b="0" i="0" dirty="0">
                <a:solidFill>
                  <a:srgbClr val="2B3440"/>
                </a:solidFill>
                <a:latin typeface="Calibri"/>
              </a:rPr>
              <a:t> </a:t>
            </a:r>
            <a:r>
              <a:rPr sz="1200" b="0" i="0" dirty="0" err="1">
                <a:solidFill>
                  <a:srgbClr val="2B3440"/>
                </a:solidFill>
                <a:latin typeface="Calibri"/>
              </a:rPr>
              <a:t>thông</a:t>
            </a:r>
            <a:r>
              <a:rPr sz="1200" b="0" i="0" dirty="0">
                <a:solidFill>
                  <a:srgbClr val="2B3440"/>
                </a:solidFill>
                <a:latin typeface="Calibri"/>
              </a:rPr>
              <a:t> tin </a:t>
            </a:r>
            <a:r>
              <a:rPr sz="1200" b="0" i="0" dirty="0" err="1">
                <a:solidFill>
                  <a:srgbClr val="2B3440"/>
                </a:solidFill>
                <a:latin typeface="Calibri"/>
              </a:rPr>
              <a:t>bắt</a:t>
            </a:r>
            <a:r>
              <a:rPr sz="1200" b="0" i="0" dirty="0">
                <a:solidFill>
                  <a:srgbClr val="2B3440"/>
                </a:solidFill>
                <a:latin typeface="Calibri"/>
              </a:rPr>
              <a:t> </a:t>
            </a:r>
            <a:r>
              <a:rPr sz="1200" b="0" i="0" dirty="0" err="1">
                <a:solidFill>
                  <a:srgbClr val="2B3440"/>
                </a:solidFill>
                <a:latin typeface="Calibri"/>
              </a:rPr>
              <a:t>buộc</a:t>
            </a:r>
            <a:r>
              <a:rPr sz="1200" b="0" i="0" dirty="0">
                <a:solidFill>
                  <a:srgbClr val="2B3440"/>
                </a:solidFill>
                <a:latin typeface="Calibri"/>
              </a:rPr>
              <a:t>: </a:t>
            </a:r>
            <a:r>
              <a:rPr sz="1200" b="0" i="0" dirty="0" err="1">
                <a:solidFill>
                  <a:srgbClr val="2B3440"/>
                </a:solidFill>
                <a:latin typeface="Calibri"/>
              </a:rPr>
              <a:t>khách</a:t>
            </a:r>
            <a:r>
              <a:rPr sz="1200" b="0" i="0" dirty="0">
                <a:solidFill>
                  <a:srgbClr val="2B3440"/>
                </a:solidFill>
                <a:latin typeface="Calibri"/>
              </a:rPr>
              <a:t> </a:t>
            </a:r>
            <a:r>
              <a:rPr sz="1200" b="0" i="0" dirty="0" err="1">
                <a:solidFill>
                  <a:srgbClr val="2B3440"/>
                </a:solidFill>
                <a:latin typeface="Calibri"/>
              </a:rPr>
              <a:t>hàng</a:t>
            </a:r>
            <a:r>
              <a:rPr sz="1200" b="0" i="0" dirty="0">
                <a:solidFill>
                  <a:srgbClr val="2B3440"/>
                </a:solidFill>
                <a:latin typeface="Calibri"/>
              </a:rPr>
              <a:t>, </a:t>
            </a:r>
            <a:r>
              <a:rPr sz="1200" b="0" i="0" dirty="0" err="1">
                <a:solidFill>
                  <a:srgbClr val="2B3440"/>
                </a:solidFill>
                <a:latin typeface="Calibri"/>
              </a:rPr>
              <a:t>thiết</a:t>
            </a:r>
            <a:r>
              <a:rPr sz="1200" b="0" i="0" dirty="0">
                <a:solidFill>
                  <a:srgbClr val="2B3440"/>
                </a:solidFill>
                <a:latin typeface="Calibri"/>
              </a:rPr>
              <a:t> </a:t>
            </a:r>
            <a:r>
              <a:rPr sz="1200" b="0" i="0" dirty="0" err="1">
                <a:solidFill>
                  <a:srgbClr val="2B3440"/>
                </a:solidFill>
                <a:latin typeface="Calibri"/>
              </a:rPr>
              <a:t>bị</a:t>
            </a:r>
            <a:r>
              <a:rPr sz="1200" b="0" i="0" dirty="0">
                <a:solidFill>
                  <a:srgbClr val="2B3440"/>
                </a:solidFill>
                <a:latin typeface="Calibri"/>
              </a:rPr>
              <a:t>, serial number, </a:t>
            </a:r>
            <a:r>
              <a:rPr sz="1200" b="0" i="0" dirty="0" err="1">
                <a:solidFill>
                  <a:srgbClr val="2B3440"/>
                </a:solidFill>
                <a:latin typeface="Calibri"/>
              </a:rPr>
              <a:t>mô</a:t>
            </a:r>
            <a:r>
              <a:rPr sz="1200" b="0" i="0" dirty="0">
                <a:solidFill>
                  <a:srgbClr val="2B3440"/>
                </a:solidFill>
                <a:latin typeface="Calibri"/>
              </a:rPr>
              <a:t> </a:t>
            </a:r>
            <a:r>
              <a:rPr sz="1200" b="0" i="0" dirty="0" err="1">
                <a:solidFill>
                  <a:srgbClr val="2B3440"/>
                </a:solidFill>
                <a:latin typeface="Calibri"/>
              </a:rPr>
              <a:t>tả</a:t>
            </a:r>
            <a:r>
              <a:rPr sz="1200" b="0" i="0" dirty="0">
                <a:solidFill>
                  <a:srgbClr val="2B3440"/>
                </a:solidFill>
                <a:latin typeface="Calibri"/>
              </a:rPr>
              <a:t> </a:t>
            </a:r>
            <a:r>
              <a:rPr sz="1200" b="0" i="0" dirty="0" err="1">
                <a:solidFill>
                  <a:srgbClr val="2B3440"/>
                </a:solidFill>
                <a:latin typeface="Calibri"/>
              </a:rPr>
              <a:t>sự</a:t>
            </a:r>
            <a:r>
              <a:rPr sz="1200" b="0" i="0" dirty="0">
                <a:solidFill>
                  <a:srgbClr val="2B3440"/>
                </a:solidFill>
                <a:latin typeface="Calibri"/>
              </a:rPr>
              <a:t> </a:t>
            </a:r>
            <a:r>
              <a:rPr sz="1200" b="0" i="0" dirty="0" err="1">
                <a:solidFill>
                  <a:srgbClr val="2B3440"/>
                </a:solidFill>
                <a:latin typeface="Calibri"/>
              </a:rPr>
              <a:t>cố</a:t>
            </a:r>
            <a:r>
              <a:rPr sz="1200" b="0" i="0" dirty="0">
                <a:solidFill>
                  <a:srgbClr val="2B3440"/>
                </a:solidFill>
                <a:latin typeface="Calibri"/>
              </a:rPr>
              <a:t>, </a:t>
            </a:r>
            <a:r>
              <a:rPr sz="1200" b="0" i="0" dirty="0" err="1">
                <a:solidFill>
                  <a:srgbClr val="2B3440"/>
                </a:solidFill>
                <a:latin typeface="Calibri"/>
              </a:rPr>
              <a:t>hình</a:t>
            </a:r>
            <a:r>
              <a:rPr sz="1200" b="0" i="0" dirty="0">
                <a:solidFill>
                  <a:srgbClr val="2B3440"/>
                </a:solidFill>
                <a:latin typeface="Calibri"/>
              </a:rPr>
              <a:t> </a:t>
            </a:r>
            <a:r>
              <a:rPr sz="1200" b="0" i="0" dirty="0" err="1">
                <a:solidFill>
                  <a:srgbClr val="2B3440"/>
                </a:solidFill>
                <a:latin typeface="Calibri"/>
              </a:rPr>
              <a:t>ảnh</a:t>
            </a:r>
            <a:r>
              <a:rPr sz="1200" b="0" i="0" dirty="0">
                <a:solidFill>
                  <a:srgbClr val="2B3440"/>
                </a:solidFill>
                <a:latin typeface="Calibri"/>
              </a:rPr>
              <a:t> </a:t>
            </a:r>
            <a:r>
              <a:rPr sz="1200" b="0" i="0" dirty="0" err="1">
                <a:solidFill>
                  <a:srgbClr val="2B3440"/>
                </a:solidFill>
                <a:latin typeface="Calibri"/>
              </a:rPr>
              <a:t>đính</a:t>
            </a:r>
            <a:r>
              <a:rPr sz="1200" b="0" i="0" dirty="0">
                <a:solidFill>
                  <a:srgbClr val="2B3440"/>
                </a:solidFill>
                <a:latin typeface="Calibri"/>
              </a:rPr>
              <a:t> </a:t>
            </a:r>
            <a:r>
              <a:rPr sz="1200" b="0" i="0" dirty="0" err="1">
                <a:solidFill>
                  <a:srgbClr val="2B3440"/>
                </a:solidFill>
                <a:latin typeface="Calibri"/>
              </a:rPr>
              <a:t>kèm</a:t>
            </a:r>
            <a:r>
              <a:rPr sz="1200" b="0" i="0" dirty="0">
                <a:solidFill>
                  <a:srgbClr val="2B3440"/>
                </a:solidFill>
                <a:latin typeface="Calibri"/>
              </a:rPr>
              <a:t>.</a:t>
            </a:r>
          </a:p>
        </p:txBody>
      </p:sp>
      <p:sp>
        <p:nvSpPr>
          <p:cNvPr id="14" name="Rectangle 13"/>
          <p:cNvSpPr/>
          <p:nvPr/>
        </p:nvSpPr>
        <p:spPr>
          <a:xfrm>
            <a:off x="7845552" y="1975104"/>
            <a:ext cx="3566160" cy="384048"/>
          </a:xfrm>
          <a:prstGeom prst="rect">
            <a:avLst/>
          </a:prstGeom>
          <a:solidFill>
            <a:srgbClr val="E9F3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5" name="TextBox 14"/>
          <p:cNvSpPr txBox="1"/>
          <p:nvPr/>
        </p:nvSpPr>
        <p:spPr>
          <a:xfrm>
            <a:off x="7918704" y="2074795"/>
            <a:ext cx="3419856" cy="184666"/>
          </a:xfrm>
          <a:prstGeom prst="rect">
            <a:avLst/>
          </a:prstGeom>
          <a:noFill/>
        </p:spPr>
        <p:txBody>
          <a:bodyPr wrap="square" lIns="0" tIns="0" rIns="0" bIns="0" anchor="ctr">
            <a:spAutoFit/>
          </a:bodyPr>
          <a:lstStyle/>
          <a:p>
            <a:pPr algn="ctr">
              <a:lnSpc>
                <a:spcPct val="100000"/>
              </a:lnSpc>
            </a:pPr>
            <a:r>
              <a:rPr sz="1200" b="1" i="0">
                <a:solidFill>
                  <a:srgbClr val="0A2540"/>
                </a:solidFill>
                <a:latin typeface="Calibri"/>
              </a:rPr>
              <a:t>Giảm Overdo ở bước tiếp nhận</a:t>
            </a:r>
          </a:p>
        </p:txBody>
      </p:sp>
      <p:sp>
        <p:nvSpPr>
          <p:cNvPr id="16" name="Rectangle 15"/>
          <p:cNvSpPr/>
          <p:nvPr/>
        </p:nvSpPr>
        <p:spPr>
          <a:xfrm>
            <a:off x="658368" y="2615184"/>
            <a:ext cx="10874959" cy="749808"/>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7" name="Rectangle 16"/>
          <p:cNvSpPr/>
          <p:nvPr/>
        </p:nvSpPr>
        <p:spPr>
          <a:xfrm>
            <a:off x="658368" y="2615184"/>
            <a:ext cx="50292" cy="74980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8" name="TextBox 17"/>
          <p:cNvSpPr txBox="1"/>
          <p:nvPr/>
        </p:nvSpPr>
        <p:spPr>
          <a:xfrm>
            <a:off x="914400" y="2897755"/>
            <a:ext cx="475488" cy="184666"/>
          </a:xfrm>
          <a:prstGeom prst="rect">
            <a:avLst/>
          </a:prstGeom>
          <a:noFill/>
        </p:spPr>
        <p:txBody>
          <a:bodyPr wrap="square" lIns="0" tIns="0" rIns="0" bIns="0" anchor="ctr">
            <a:spAutoFit/>
          </a:bodyPr>
          <a:lstStyle/>
          <a:p>
            <a:pPr algn="l">
              <a:lnSpc>
                <a:spcPct val="100000"/>
              </a:lnSpc>
            </a:pPr>
            <a:r>
              <a:rPr sz="1200" b="1" i="0">
                <a:solidFill>
                  <a:srgbClr val="0096D6"/>
                </a:solidFill>
                <a:latin typeface="Calibri"/>
              </a:rPr>
              <a:t>02</a:t>
            </a:r>
          </a:p>
        </p:txBody>
      </p:sp>
      <p:sp>
        <p:nvSpPr>
          <p:cNvPr id="19" name="TextBox 18"/>
          <p:cNvSpPr txBox="1"/>
          <p:nvPr/>
        </p:nvSpPr>
        <p:spPr>
          <a:xfrm>
            <a:off x="1499616" y="2724912"/>
            <a:ext cx="3246120" cy="184666"/>
          </a:xfrm>
          <a:prstGeom prst="rect">
            <a:avLst/>
          </a:prstGeom>
          <a:noFill/>
        </p:spPr>
        <p:txBody>
          <a:bodyPr wrap="square" lIns="0" tIns="0" rIns="0" bIns="0" anchor="t">
            <a:spAutoFit/>
          </a:bodyPr>
          <a:lstStyle/>
          <a:p>
            <a:pPr algn="l">
              <a:lnSpc>
                <a:spcPct val="100000"/>
              </a:lnSpc>
            </a:pPr>
            <a:r>
              <a:rPr sz="1200" b="1" i="0">
                <a:solidFill>
                  <a:srgbClr val="0A2540"/>
                </a:solidFill>
                <a:latin typeface="Calibri"/>
              </a:rPr>
              <a:t>HỒ SƠ SERVICE REQUEST DÙNG CHUNG</a:t>
            </a:r>
          </a:p>
        </p:txBody>
      </p:sp>
      <p:sp>
        <p:nvSpPr>
          <p:cNvPr id="20" name="TextBox 19"/>
          <p:cNvSpPr txBox="1"/>
          <p:nvPr/>
        </p:nvSpPr>
        <p:spPr>
          <a:xfrm>
            <a:off x="1499616" y="2928208"/>
            <a:ext cx="6035040" cy="424732"/>
          </a:xfrm>
          <a:prstGeom prst="rect">
            <a:avLst/>
          </a:prstGeom>
          <a:noFill/>
        </p:spPr>
        <p:txBody>
          <a:bodyPr wrap="square" lIns="0" tIns="0" rIns="0" bIns="0" anchor="t">
            <a:spAutoFit/>
          </a:bodyPr>
          <a:lstStyle/>
          <a:p>
            <a:pPr algn="l">
              <a:lnSpc>
                <a:spcPct val="115000"/>
              </a:lnSpc>
            </a:pPr>
            <a:r>
              <a:rPr sz="1200" b="0" i="0">
                <a:solidFill>
                  <a:srgbClr val="2B3440"/>
                </a:solidFill>
                <a:latin typeface="Calibri"/>
              </a:rPr>
              <a:t>Service Admin và Service Engineer cùng truy cập một hồ sơ duy nhất; cập nhật một lần, không chuyển giao thủ công qua lại.</a:t>
            </a:r>
          </a:p>
        </p:txBody>
      </p:sp>
      <p:sp>
        <p:nvSpPr>
          <p:cNvPr id="21" name="Rectangle 20"/>
          <p:cNvSpPr/>
          <p:nvPr/>
        </p:nvSpPr>
        <p:spPr>
          <a:xfrm>
            <a:off x="7845552" y="2798064"/>
            <a:ext cx="3566160" cy="384048"/>
          </a:xfrm>
          <a:prstGeom prst="rect">
            <a:avLst/>
          </a:prstGeom>
          <a:solidFill>
            <a:srgbClr val="E9F3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2" name="TextBox 21"/>
          <p:cNvSpPr txBox="1"/>
          <p:nvPr/>
        </p:nvSpPr>
        <p:spPr>
          <a:xfrm>
            <a:off x="7918704" y="2897755"/>
            <a:ext cx="3419856" cy="184666"/>
          </a:xfrm>
          <a:prstGeom prst="rect">
            <a:avLst/>
          </a:prstGeom>
          <a:noFill/>
        </p:spPr>
        <p:txBody>
          <a:bodyPr wrap="square" lIns="0" tIns="0" rIns="0" bIns="0" anchor="ctr">
            <a:spAutoFit/>
          </a:bodyPr>
          <a:lstStyle/>
          <a:p>
            <a:pPr algn="ctr">
              <a:lnSpc>
                <a:spcPct val="100000"/>
              </a:lnSpc>
            </a:pPr>
            <a:r>
              <a:rPr sz="1200" b="1" i="0">
                <a:solidFill>
                  <a:srgbClr val="0A2540"/>
                </a:solidFill>
                <a:latin typeface="Calibri"/>
              </a:rPr>
              <a:t>Giảm Move giữa hai vai trò</a:t>
            </a:r>
          </a:p>
        </p:txBody>
      </p:sp>
      <p:sp>
        <p:nvSpPr>
          <p:cNvPr id="23" name="Rectangle 22"/>
          <p:cNvSpPr/>
          <p:nvPr/>
        </p:nvSpPr>
        <p:spPr>
          <a:xfrm>
            <a:off x="658368" y="3438144"/>
            <a:ext cx="10874959" cy="749808"/>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4" name="Rectangle 23"/>
          <p:cNvSpPr/>
          <p:nvPr/>
        </p:nvSpPr>
        <p:spPr>
          <a:xfrm>
            <a:off x="658368" y="3438144"/>
            <a:ext cx="50292" cy="74980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5" name="TextBox 24"/>
          <p:cNvSpPr txBox="1"/>
          <p:nvPr/>
        </p:nvSpPr>
        <p:spPr>
          <a:xfrm>
            <a:off x="914400" y="3720715"/>
            <a:ext cx="475488" cy="184666"/>
          </a:xfrm>
          <a:prstGeom prst="rect">
            <a:avLst/>
          </a:prstGeom>
          <a:noFill/>
        </p:spPr>
        <p:txBody>
          <a:bodyPr wrap="square" lIns="0" tIns="0" rIns="0" bIns="0" anchor="ctr">
            <a:spAutoFit/>
          </a:bodyPr>
          <a:lstStyle/>
          <a:p>
            <a:pPr algn="l">
              <a:lnSpc>
                <a:spcPct val="100000"/>
              </a:lnSpc>
            </a:pPr>
            <a:r>
              <a:rPr sz="1200" b="1" i="0">
                <a:solidFill>
                  <a:srgbClr val="0096D6"/>
                </a:solidFill>
                <a:latin typeface="Calibri"/>
              </a:rPr>
              <a:t>03</a:t>
            </a:r>
          </a:p>
        </p:txBody>
      </p:sp>
      <p:sp>
        <p:nvSpPr>
          <p:cNvPr id="26" name="TextBox 25"/>
          <p:cNvSpPr txBox="1"/>
          <p:nvPr/>
        </p:nvSpPr>
        <p:spPr>
          <a:xfrm>
            <a:off x="1499616" y="3547872"/>
            <a:ext cx="3246120" cy="184666"/>
          </a:xfrm>
          <a:prstGeom prst="rect">
            <a:avLst/>
          </a:prstGeom>
          <a:noFill/>
        </p:spPr>
        <p:txBody>
          <a:bodyPr wrap="square" lIns="0" tIns="0" rIns="0" bIns="0" anchor="t">
            <a:spAutoFit/>
          </a:bodyPr>
          <a:lstStyle/>
          <a:p>
            <a:pPr algn="l">
              <a:lnSpc>
                <a:spcPct val="100000"/>
              </a:lnSpc>
            </a:pPr>
            <a:r>
              <a:rPr sz="1200" b="1" i="0">
                <a:solidFill>
                  <a:srgbClr val="0A2540"/>
                </a:solidFill>
                <a:latin typeface="Calibri"/>
              </a:rPr>
              <a:t>THEO DÕI BÁO GIÁ CÓ THỜI HẠN</a:t>
            </a:r>
          </a:p>
        </p:txBody>
      </p:sp>
      <p:sp>
        <p:nvSpPr>
          <p:cNvPr id="27" name="TextBox 26"/>
          <p:cNvSpPr txBox="1"/>
          <p:nvPr/>
        </p:nvSpPr>
        <p:spPr>
          <a:xfrm>
            <a:off x="1499616" y="3751168"/>
            <a:ext cx="6035040" cy="424732"/>
          </a:xfrm>
          <a:prstGeom prst="rect">
            <a:avLst/>
          </a:prstGeom>
          <a:noFill/>
        </p:spPr>
        <p:txBody>
          <a:bodyPr wrap="square" lIns="0" tIns="0" rIns="0" bIns="0" anchor="t">
            <a:spAutoFit/>
          </a:bodyPr>
          <a:lstStyle/>
          <a:p>
            <a:pPr algn="l">
              <a:lnSpc>
                <a:spcPct val="115000"/>
              </a:lnSpc>
            </a:pPr>
            <a:r>
              <a:rPr sz="1200" b="0" i="0">
                <a:solidFill>
                  <a:srgbClr val="2B3440"/>
                </a:solidFill>
                <a:latin typeface="Calibri"/>
              </a:rPr>
              <a:t>Thiết lập trạng thái Pending Approval kèm thời hạn phản hồi; quá hạn thì Service Admin chủ động nhắc Distributor.</a:t>
            </a:r>
          </a:p>
        </p:txBody>
      </p:sp>
      <p:sp>
        <p:nvSpPr>
          <p:cNvPr id="28" name="Rectangle 27"/>
          <p:cNvSpPr/>
          <p:nvPr/>
        </p:nvSpPr>
        <p:spPr>
          <a:xfrm>
            <a:off x="7845552" y="3621024"/>
            <a:ext cx="3566160" cy="384048"/>
          </a:xfrm>
          <a:prstGeom prst="rect">
            <a:avLst/>
          </a:prstGeom>
          <a:solidFill>
            <a:srgbClr val="E9F3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9" name="TextBox 28"/>
          <p:cNvSpPr txBox="1"/>
          <p:nvPr/>
        </p:nvSpPr>
        <p:spPr>
          <a:xfrm>
            <a:off x="7918704" y="3720715"/>
            <a:ext cx="3419856" cy="184666"/>
          </a:xfrm>
          <a:prstGeom prst="rect">
            <a:avLst/>
          </a:prstGeom>
          <a:noFill/>
        </p:spPr>
        <p:txBody>
          <a:bodyPr wrap="square" lIns="0" tIns="0" rIns="0" bIns="0" anchor="ctr">
            <a:spAutoFit/>
          </a:bodyPr>
          <a:lstStyle/>
          <a:p>
            <a:pPr algn="ctr">
              <a:lnSpc>
                <a:spcPct val="100000"/>
              </a:lnSpc>
            </a:pPr>
            <a:r>
              <a:rPr sz="1200" b="1" i="0">
                <a:solidFill>
                  <a:srgbClr val="0A2540"/>
                </a:solidFill>
                <a:latin typeface="Calibri"/>
              </a:rPr>
              <a:t>Giảm Hold — nguồn chờ lớn nhất</a:t>
            </a:r>
          </a:p>
        </p:txBody>
      </p:sp>
      <p:sp>
        <p:nvSpPr>
          <p:cNvPr id="30" name="Rectangle 29"/>
          <p:cNvSpPr/>
          <p:nvPr/>
        </p:nvSpPr>
        <p:spPr>
          <a:xfrm>
            <a:off x="658368" y="4261104"/>
            <a:ext cx="10874959" cy="749808"/>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1" name="Rectangle 30"/>
          <p:cNvSpPr/>
          <p:nvPr/>
        </p:nvSpPr>
        <p:spPr>
          <a:xfrm>
            <a:off x="658368" y="4261104"/>
            <a:ext cx="50292" cy="74980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2" name="TextBox 31"/>
          <p:cNvSpPr txBox="1"/>
          <p:nvPr/>
        </p:nvSpPr>
        <p:spPr>
          <a:xfrm>
            <a:off x="914400" y="4543675"/>
            <a:ext cx="475488" cy="184666"/>
          </a:xfrm>
          <a:prstGeom prst="rect">
            <a:avLst/>
          </a:prstGeom>
          <a:noFill/>
        </p:spPr>
        <p:txBody>
          <a:bodyPr wrap="square" lIns="0" tIns="0" rIns="0" bIns="0" anchor="ctr">
            <a:spAutoFit/>
          </a:bodyPr>
          <a:lstStyle/>
          <a:p>
            <a:pPr algn="l">
              <a:lnSpc>
                <a:spcPct val="100000"/>
              </a:lnSpc>
            </a:pPr>
            <a:r>
              <a:rPr sz="1200" b="1" i="0">
                <a:solidFill>
                  <a:srgbClr val="0096D6"/>
                </a:solidFill>
                <a:latin typeface="Calibri"/>
              </a:rPr>
              <a:t>04</a:t>
            </a:r>
          </a:p>
        </p:txBody>
      </p:sp>
      <p:sp>
        <p:nvSpPr>
          <p:cNvPr id="33" name="TextBox 32"/>
          <p:cNvSpPr txBox="1"/>
          <p:nvPr/>
        </p:nvSpPr>
        <p:spPr>
          <a:xfrm>
            <a:off x="1499616" y="4370832"/>
            <a:ext cx="3246120" cy="184666"/>
          </a:xfrm>
          <a:prstGeom prst="rect">
            <a:avLst/>
          </a:prstGeom>
          <a:noFill/>
        </p:spPr>
        <p:txBody>
          <a:bodyPr wrap="square" lIns="0" tIns="0" rIns="0" bIns="0" anchor="t">
            <a:spAutoFit/>
          </a:bodyPr>
          <a:lstStyle/>
          <a:p>
            <a:pPr algn="l">
              <a:lnSpc>
                <a:spcPct val="100000"/>
              </a:lnSpc>
            </a:pPr>
            <a:r>
              <a:rPr sz="1200" b="1" i="0">
                <a:solidFill>
                  <a:srgbClr val="0A2540"/>
                </a:solidFill>
                <a:latin typeface="Calibri"/>
              </a:rPr>
              <a:t>CHECKLIST PHẠM VI &amp; KIỂM TRA SAU SỬA CHỮA</a:t>
            </a:r>
          </a:p>
        </p:txBody>
      </p:sp>
      <p:sp>
        <p:nvSpPr>
          <p:cNvPr id="34" name="TextBox 33"/>
          <p:cNvSpPr txBox="1"/>
          <p:nvPr/>
        </p:nvSpPr>
        <p:spPr>
          <a:xfrm>
            <a:off x="1499616" y="4574128"/>
            <a:ext cx="6035040" cy="424732"/>
          </a:xfrm>
          <a:prstGeom prst="rect">
            <a:avLst/>
          </a:prstGeom>
          <a:noFill/>
        </p:spPr>
        <p:txBody>
          <a:bodyPr wrap="square" lIns="0" tIns="0" rIns="0" bIns="0" anchor="t">
            <a:spAutoFit/>
          </a:bodyPr>
          <a:lstStyle/>
          <a:p>
            <a:pPr algn="l">
              <a:lnSpc>
                <a:spcPct val="115000"/>
              </a:lnSpc>
            </a:pPr>
            <a:r>
              <a:rPr sz="1200" b="0" i="0">
                <a:solidFill>
                  <a:srgbClr val="2B3440"/>
                </a:solidFill>
                <a:latin typeface="Calibri"/>
              </a:rPr>
              <a:t>Đánh giá phạm vi trước khi triển khai; kiểm tra chức năng theo checklist trước khi bàn giao thiết bị.</a:t>
            </a:r>
          </a:p>
        </p:txBody>
      </p:sp>
      <p:sp>
        <p:nvSpPr>
          <p:cNvPr id="35" name="Rectangle 34"/>
          <p:cNvSpPr/>
          <p:nvPr/>
        </p:nvSpPr>
        <p:spPr>
          <a:xfrm>
            <a:off x="7845552" y="4443984"/>
            <a:ext cx="3566160" cy="384048"/>
          </a:xfrm>
          <a:prstGeom prst="rect">
            <a:avLst/>
          </a:prstGeom>
          <a:solidFill>
            <a:srgbClr val="E9F3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6" name="TextBox 35"/>
          <p:cNvSpPr txBox="1"/>
          <p:nvPr/>
        </p:nvSpPr>
        <p:spPr>
          <a:xfrm>
            <a:off x="7918704" y="4543675"/>
            <a:ext cx="3419856" cy="184666"/>
          </a:xfrm>
          <a:prstGeom prst="rect">
            <a:avLst/>
          </a:prstGeom>
          <a:noFill/>
        </p:spPr>
        <p:txBody>
          <a:bodyPr wrap="square" lIns="0" tIns="0" rIns="0" bIns="0" anchor="ctr">
            <a:spAutoFit/>
          </a:bodyPr>
          <a:lstStyle/>
          <a:p>
            <a:pPr algn="ctr">
              <a:lnSpc>
                <a:spcPct val="100000"/>
              </a:lnSpc>
            </a:pPr>
            <a:r>
              <a:rPr sz="1200" b="1" i="0">
                <a:solidFill>
                  <a:srgbClr val="0A2540"/>
                </a:solidFill>
                <a:latin typeface="Calibri"/>
              </a:rPr>
              <a:t>Giảm Hold phát sinh &amp; Rework</a:t>
            </a:r>
          </a:p>
        </p:txBody>
      </p:sp>
      <p:sp>
        <p:nvSpPr>
          <p:cNvPr id="37" name="Rectangle 36"/>
          <p:cNvSpPr/>
          <p:nvPr/>
        </p:nvSpPr>
        <p:spPr>
          <a:xfrm>
            <a:off x="658368" y="5084064"/>
            <a:ext cx="10874959" cy="749808"/>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8" name="Rectangle 37"/>
          <p:cNvSpPr/>
          <p:nvPr/>
        </p:nvSpPr>
        <p:spPr>
          <a:xfrm>
            <a:off x="658368" y="5084064"/>
            <a:ext cx="50292" cy="74980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9" name="TextBox 38"/>
          <p:cNvSpPr txBox="1"/>
          <p:nvPr/>
        </p:nvSpPr>
        <p:spPr>
          <a:xfrm>
            <a:off x="914400" y="5366635"/>
            <a:ext cx="475488" cy="184666"/>
          </a:xfrm>
          <a:prstGeom prst="rect">
            <a:avLst/>
          </a:prstGeom>
          <a:noFill/>
        </p:spPr>
        <p:txBody>
          <a:bodyPr wrap="square" lIns="0" tIns="0" rIns="0" bIns="0" anchor="ctr">
            <a:spAutoFit/>
          </a:bodyPr>
          <a:lstStyle/>
          <a:p>
            <a:pPr algn="l">
              <a:lnSpc>
                <a:spcPct val="100000"/>
              </a:lnSpc>
            </a:pPr>
            <a:r>
              <a:rPr sz="1200" b="1" i="0">
                <a:solidFill>
                  <a:srgbClr val="0096D6"/>
                </a:solidFill>
                <a:latin typeface="Calibri"/>
              </a:rPr>
              <a:t>05</a:t>
            </a:r>
          </a:p>
        </p:txBody>
      </p:sp>
      <p:sp>
        <p:nvSpPr>
          <p:cNvPr id="40" name="TextBox 39"/>
          <p:cNvSpPr txBox="1"/>
          <p:nvPr/>
        </p:nvSpPr>
        <p:spPr>
          <a:xfrm>
            <a:off x="1499616" y="5193792"/>
            <a:ext cx="3246120" cy="184666"/>
          </a:xfrm>
          <a:prstGeom prst="rect">
            <a:avLst/>
          </a:prstGeom>
          <a:noFill/>
        </p:spPr>
        <p:txBody>
          <a:bodyPr wrap="square" lIns="0" tIns="0" rIns="0" bIns="0" anchor="t">
            <a:spAutoFit/>
          </a:bodyPr>
          <a:lstStyle/>
          <a:p>
            <a:pPr algn="l">
              <a:lnSpc>
                <a:spcPct val="100000"/>
              </a:lnSpc>
            </a:pPr>
            <a:r>
              <a:rPr sz="1200" b="1" i="0">
                <a:solidFill>
                  <a:srgbClr val="0A2540"/>
                </a:solidFill>
                <a:latin typeface="Calibri"/>
              </a:rPr>
              <a:t>THỐNG NHẤT MÃ LỖI VÀ THUẬT NGỮ</a:t>
            </a:r>
          </a:p>
        </p:txBody>
      </p:sp>
      <p:sp>
        <p:nvSpPr>
          <p:cNvPr id="41" name="TextBox 40"/>
          <p:cNvSpPr txBox="1"/>
          <p:nvPr/>
        </p:nvSpPr>
        <p:spPr>
          <a:xfrm>
            <a:off x="1499616" y="5397088"/>
            <a:ext cx="6035040" cy="424732"/>
          </a:xfrm>
          <a:prstGeom prst="rect">
            <a:avLst/>
          </a:prstGeom>
          <a:noFill/>
        </p:spPr>
        <p:txBody>
          <a:bodyPr wrap="square" lIns="0" tIns="0" rIns="0" bIns="0" anchor="t">
            <a:spAutoFit/>
          </a:bodyPr>
          <a:lstStyle/>
          <a:p>
            <a:pPr algn="l">
              <a:lnSpc>
                <a:spcPct val="115000"/>
              </a:lnSpc>
            </a:pPr>
            <a:r>
              <a:rPr sz="1200" b="0" i="0">
                <a:solidFill>
                  <a:srgbClr val="2B3440"/>
                </a:solidFill>
                <a:latin typeface="Calibri"/>
              </a:rPr>
              <a:t>Chuẩn hóa mã lỗi, mã tình trạng và thuật ngữ kỹ thuật dùng chung giữa Service Engineer và Service Admin.</a:t>
            </a:r>
          </a:p>
        </p:txBody>
      </p:sp>
      <p:sp>
        <p:nvSpPr>
          <p:cNvPr id="42" name="Rectangle 41"/>
          <p:cNvSpPr/>
          <p:nvPr/>
        </p:nvSpPr>
        <p:spPr>
          <a:xfrm>
            <a:off x="7845552" y="5266944"/>
            <a:ext cx="3566160" cy="384048"/>
          </a:xfrm>
          <a:prstGeom prst="rect">
            <a:avLst/>
          </a:prstGeom>
          <a:solidFill>
            <a:srgbClr val="E9F3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3" name="TextBox 42"/>
          <p:cNvSpPr txBox="1"/>
          <p:nvPr/>
        </p:nvSpPr>
        <p:spPr>
          <a:xfrm>
            <a:off x="7918704" y="5366635"/>
            <a:ext cx="3419856" cy="184666"/>
          </a:xfrm>
          <a:prstGeom prst="rect">
            <a:avLst/>
          </a:prstGeom>
          <a:noFill/>
        </p:spPr>
        <p:txBody>
          <a:bodyPr wrap="square" lIns="0" tIns="0" rIns="0" bIns="0" anchor="ctr">
            <a:spAutoFit/>
          </a:bodyPr>
          <a:lstStyle/>
          <a:p>
            <a:pPr algn="ctr">
              <a:lnSpc>
                <a:spcPct val="100000"/>
              </a:lnSpc>
            </a:pPr>
            <a:r>
              <a:rPr sz="1200" b="1" i="0">
                <a:solidFill>
                  <a:srgbClr val="0A2540"/>
                </a:solidFill>
                <a:latin typeface="Calibri"/>
              </a:rPr>
              <a:t>Giảm Overdo do nhập liệu lặp</a:t>
            </a:r>
          </a:p>
        </p:txBody>
      </p:sp>
    </p:spTree>
    <p:extLst>
      <p:ext uri="{BB962C8B-B14F-4D97-AF65-F5344CB8AC3E}">
        <p14:creationId xmlns:p14="http://schemas.microsoft.com/office/powerpoint/2010/main" val="41425680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Rectangle 1"/>
          <p:cNvSpPr/>
          <p:nvPr/>
        </p:nvSpPr>
        <p:spPr>
          <a:xfrm>
            <a:off x="0" y="0"/>
            <a:ext cx="182880" cy="6858000"/>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863840" y="0"/>
            <a:ext cx="4325112" cy="6858000"/>
          </a:xfrm>
          <a:prstGeom prst="rect">
            <a:avLst/>
          </a:prstGeom>
          <a:solidFill>
            <a:srgbClr val="1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0" y="1874519"/>
            <a:ext cx="3657600" cy="2926080"/>
          </a:xfrm>
          <a:prstGeom prst="rect">
            <a:avLst/>
          </a:prstGeom>
          <a:noFill/>
        </p:spPr>
        <p:txBody>
          <a:bodyPr wrap="square" lIns="0" tIns="0" rIns="0" bIns="0" anchor="t">
            <a:spAutoFit/>
          </a:bodyPr>
          <a:lstStyle/>
          <a:p>
            <a:pPr algn="ctr">
              <a:lnSpc>
                <a:spcPct val="90000"/>
              </a:lnSpc>
            </a:pPr>
            <a:r>
              <a:rPr sz="15000" b="1" i="0">
                <a:solidFill>
                  <a:srgbClr val="1E4E77"/>
                </a:solidFill>
                <a:latin typeface="Calibri"/>
              </a:rPr>
              <a:t>05</a:t>
            </a:r>
          </a:p>
        </p:txBody>
      </p:sp>
      <p:sp>
        <p:nvSpPr>
          <p:cNvPr id="5" name="TextBox 4"/>
          <p:cNvSpPr txBox="1"/>
          <p:nvPr/>
        </p:nvSpPr>
        <p:spPr>
          <a:xfrm>
            <a:off x="1051560" y="2331720"/>
            <a:ext cx="6583680" cy="215444"/>
          </a:xfrm>
          <a:prstGeom prst="rect">
            <a:avLst/>
          </a:prstGeom>
          <a:noFill/>
        </p:spPr>
        <p:txBody>
          <a:bodyPr wrap="square" lIns="0" tIns="0" rIns="0" bIns="0" anchor="t">
            <a:spAutoFit/>
          </a:bodyPr>
          <a:lstStyle/>
          <a:p>
            <a:pPr algn="l">
              <a:lnSpc>
                <a:spcPct val="100000"/>
              </a:lnSpc>
            </a:pPr>
            <a:r>
              <a:rPr sz="1400" b="1" i="0" dirty="0">
                <a:solidFill>
                  <a:srgbClr val="00C2A8"/>
                </a:solidFill>
                <a:latin typeface="Calibri"/>
              </a:rPr>
              <a:t>PHẦN 5 · WRAP-UP</a:t>
            </a:r>
          </a:p>
        </p:txBody>
      </p:sp>
      <p:sp>
        <p:nvSpPr>
          <p:cNvPr id="6" name="TextBox 5"/>
          <p:cNvSpPr txBox="1"/>
          <p:nvPr/>
        </p:nvSpPr>
        <p:spPr>
          <a:xfrm>
            <a:off x="1051560" y="2724912"/>
            <a:ext cx="6583680" cy="1005840"/>
          </a:xfrm>
          <a:prstGeom prst="rect">
            <a:avLst/>
          </a:prstGeom>
          <a:noFill/>
        </p:spPr>
        <p:txBody>
          <a:bodyPr wrap="square" lIns="0" tIns="0" rIns="0" bIns="0" anchor="t">
            <a:spAutoFit/>
          </a:bodyPr>
          <a:lstStyle/>
          <a:p>
            <a:pPr algn="l">
              <a:lnSpc>
                <a:spcPct val="106000"/>
              </a:lnSpc>
            </a:pPr>
            <a:r>
              <a:rPr sz="3200" b="1" i="0">
                <a:solidFill>
                  <a:srgbClr val="FFFFFF"/>
                </a:solidFill>
                <a:latin typeface="Calibri"/>
              </a:rPr>
              <a:t>Kết luận và hướng phát triển</a:t>
            </a:r>
          </a:p>
        </p:txBody>
      </p:sp>
      <p:sp>
        <p:nvSpPr>
          <p:cNvPr id="7" name="Rectangle 6"/>
          <p:cNvSpPr/>
          <p:nvPr/>
        </p:nvSpPr>
        <p:spPr>
          <a:xfrm>
            <a:off x="1051560" y="3858768"/>
            <a:ext cx="1005840" cy="45720"/>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4096512"/>
            <a:ext cx="6492240" cy="537519"/>
          </a:xfrm>
          <a:prstGeom prst="rect">
            <a:avLst/>
          </a:prstGeom>
          <a:noFill/>
        </p:spPr>
        <p:txBody>
          <a:bodyPr wrap="square" lIns="0" tIns="0" rIns="0" bIns="0" anchor="t">
            <a:spAutoFit/>
          </a:bodyPr>
          <a:lstStyle/>
          <a:p>
            <a:pPr algn="l">
              <a:lnSpc>
                <a:spcPct val="130000"/>
              </a:lnSpc>
            </a:pPr>
            <a:r>
              <a:rPr sz="1400" b="0" i="0" dirty="0" err="1">
                <a:solidFill>
                  <a:srgbClr val="B6C9D8"/>
                </a:solidFill>
                <a:latin typeface="Calibri"/>
              </a:rPr>
              <a:t>Kết</a:t>
            </a:r>
            <a:r>
              <a:rPr sz="1400" b="0" i="0" dirty="0">
                <a:solidFill>
                  <a:srgbClr val="B6C9D8"/>
                </a:solidFill>
                <a:latin typeface="Calibri"/>
              </a:rPr>
              <a:t> </a:t>
            </a:r>
            <a:r>
              <a:rPr sz="1400" b="0" i="0" dirty="0" err="1">
                <a:solidFill>
                  <a:srgbClr val="B6C9D8"/>
                </a:solidFill>
                <a:latin typeface="Calibri"/>
              </a:rPr>
              <a:t>quả</a:t>
            </a:r>
            <a:r>
              <a:rPr sz="1400" b="0" i="0" dirty="0">
                <a:solidFill>
                  <a:srgbClr val="B6C9D8"/>
                </a:solidFill>
                <a:latin typeface="Calibri"/>
              </a:rPr>
              <a:t> </a:t>
            </a:r>
            <a:r>
              <a:rPr sz="1400" b="0" i="0" dirty="0" err="1">
                <a:solidFill>
                  <a:srgbClr val="B6C9D8"/>
                </a:solidFill>
                <a:latin typeface="Calibri"/>
              </a:rPr>
              <a:t>đạt</a:t>
            </a:r>
            <a:r>
              <a:rPr sz="1400" b="0" i="0" dirty="0">
                <a:solidFill>
                  <a:srgbClr val="B6C9D8"/>
                </a:solidFill>
                <a:latin typeface="Calibri"/>
              </a:rPr>
              <a:t> </a:t>
            </a:r>
            <a:r>
              <a:rPr sz="1400" b="0" i="0" dirty="0" err="1">
                <a:solidFill>
                  <a:srgbClr val="B6C9D8"/>
                </a:solidFill>
                <a:latin typeface="Calibri"/>
              </a:rPr>
              <a:t>được</a:t>
            </a:r>
            <a:r>
              <a:rPr sz="1400" b="0" i="0" dirty="0">
                <a:solidFill>
                  <a:srgbClr val="B6C9D8"/>
                </a:solidFill>
                <a:latin typeface="Calibri"/>
              </a:rPr>
              <a:t> qua </a:t>
            </a:r>
            <a:r>
              <a:rPr sz="1400" b="0" i="0" dirty="0" err="1">
                <a:solidFill>
                  <a:srgbClr val="B6C9D8"/>
                </a:solidFill>
                <a:latin typeface="Calibri"/>
              </a:rPr>
              <a:t>Chương</a:t>
            </a:r>
            <a:r>
              <a:rPr sz="1400" b="0" i="0" dirty="0">
                <a:solidFill>
                  <a:srgbClr val="B6C9D8"/>
                </a:solidFill>
                <a:latin typeface="Calibri"/>
              </a:rPr>
              <a:t> 1 – 2 – 3 – 4  ·  </a:t>
            </a:r>
            <a:r>
              <a:rPr sz="1400" b="0" i="0" dirty="0" err="1">
                <a:solidFill>
                  <a:srgbClr val="B6C9D8"/>
                </a:solidFill>
                <a:latin typeface="Calibri"/>
              </a:rPr>
              <a:t>Hạn</a:t>
            </a:r>
            <a:r>
              <a:rPr sz="1400" b="0" i="0" dirty="0">
                <a:solidFill>
                  <a:srgbClr val="B6C9D8"/>
                </a:solidFill>
                <a:latin typeface="Calibri"/>
              </a:rPr>
              <a:t> </a:t>
            </a:r>
            <a:r>
              <a:rPr sz="1400" b="0" i="0" dirty="0" err="1">
                <a:solidFill>
                  <a:srgbClr val="B6C9D8"/>
                </a:solidFill>
                <a:latin typeface="Calibri"/>
              </a:rPr>
              <a:t>chế</a:t>
            </a:r>
            <a:r>
              <a:rPr sz="1400" b="0" i="0" dirty="0">
                <a:solidFill>
                  <a:srgbClr val="B6C9D8"/>
                </a:solidFill>
                <a:latin typeface="Calibri"/>
              </a:rPr>
              <a:t> </a:t>
            </a:r>
            <a:r>
              <a:rPr sz="1400" b="0" i="0" dirty="0" err="1">
                <a:solidFill>
                  <a:srgbClr val="B6C9D8"/>
                </a:solidFill>
                <a:latin typeface="Calibri"/>
              </a:rPr>
              <a:t>của</a:t>
            </a:r>
            <a:r>
              <a:rPr sz="1400" b="0" i="0" dirty="0">
                <a:solidFill>
                  <a:srgbClr val="B6C9D8"/>
                </a:solidFill>
                <a:latin typeface="Calibri"/>
              </a:rPr>
              <a:t> </a:t>
            </a:r>
            <a:r>
              <a:rPr sz="1400" b="0" i="0" dirty="0" err="1">
                <a:solidFill>
                  <a:srgbClr val="B6C9D8"/>
                </a:solidFill>
                <a:latin typeface="Calibri"/>
              </a:rPr>
              <a:t>đề</a:t>
            </a:r>
            <a:r>
              <a:rPr sz="1400" b="0" i="0" dirty="0">
                <a:solidFill>
                  <a:srgbClr val="B6C9D8"/>
                </a:solidFill>
                <a:latin typeface="Calibri"/>
              </a:rPr>
              <a:t> </a:t>
            </a:r>
            <a:r>
              <a:rPr sz="1400" b="0" i="0" dirty="0" err="1">
                <a:solidFill>
                  <a:srgbClr val="B6C9D8"/>
                </a:solidFill>
                <a:latin typeface="Calibri"/>
              </a:rPr>
              <a:t>tài</a:t>
            </a:r>
            <a:r>
              <a:rPr sz="1400" b="0" i="0" dirty="0">
                <a:solidFill>
                  <a:srgbClr val="B6C9D8"/>
                </a:solidFill>
                <a:latin typeface="Calibri"/>
              </a:rPr>
              <a:t>  ·  </a:t>
            </a:r>
            <a:r>
              <a:rPr sz="1400" b="0" i="0" dirty="0" err="1">
                <a:solidFill>
                  <a:srgbClr val="B6C9D8"/>
                </a:solidFill>
                <a:latin typeface="Calibri"/>
              </a:rPr>
              <a:t>Hướng</a:t>
            </a:r>
            <a:r>
              <a:rPr sz="1400" b="0" i="0" dirty="0">
                <a:solidFill>
                  <a:srgbClr val="B6C9D8"/>
                </a:solidFill>
                <a:latin typeface="Calibri"/>
              </a:rPr>
              <a:t> </a:t>
            </a:r>
            <a:r>
              <a:rPr sz="1400" b="0" i="0" dirty="0" err="1">
                <a:solidFill>
                  <a:srgbClr val="B6C9D8"/>
                </a:solidFill>
                <a:latin typeface="Calibri"/>
              </a:rPr>
              <a:t>phát</a:t>
            </a:r>
            <a:r>
              <a:rPr sz="1400" b="0" i="0" dirty="0">
                <a:solidFill>
                  <a:srgbClr val="B6C9D8"/>
                </a:solidFill>
                <a:latin typeface="Calibri"/>
              </a:rPr>
              <a:t> </a:t>
            </a:r>
            <a:r>
              <a:rPr sz="1400" b="0" i="0" dirty="0" err="1">
                <a:solidFill>
                  <a:srgbClr val="B6C9D8"/>
                </a:solidFill>
                <a:latin typeface="Calibri"/>
              </a:rPr>
              <a:t>triển</a:t>
            </a:r>
            <a:r>
              <a:rPr sz="1400" b="0" i="0" dirty="0">
                <a:solidFill>
                  <a:srgbClr val="B6C9D8"/>
                </a:solidFill>
                <a:latin typeface="Calibri"/>
              </a:rPr>
              <a:t> </a:t>
            </a:r>
            <a:r>
              <a:rPr sz="1400" b="0" i="0" dirty="0" err="1">
                <a:solidFill>
                  <a:srgbClr val="B6C9D8"/>
                </a:solidFill>
                <a:latin typeface="Calibri"/>
              </a:rPr>
              <a:t>tiếp</a:t>
            </a:r>
            <a:r>
              <a:rPr sz="1400" b="0" i="0" dirty="0">
                <a:solidFill>
                  <a:srgbClr val="B6C9D8"/>
                </a:solidFill>
                <a:latin typeface="Calibri"/>
              </a:rPr>
              <a:t> </a:t>
            </a:r>
            <a:r>
              <a:rPr sz="1400" b="0" i="0" dirty="0" err="1">
                <a:solidFill>
                  <a:srgbClr val="B6C9D8"/>
                </a:solidFill>
                <a:latin typeface="Calibri"/>
              </a:rPr>
              <a:t>theo</a:t>
            </a:r>
            <a:endParaRPr sz="1400" b="0" i="0" dirty="0">
              <a:solidFill>
                <a:srgbClr val="B6C9D8"/>
              </a:solidFill>
              <a:latin typeface="Calibri"/>
            </a:endParaRPr>
          </a:p>
        </p:txBody>
      </p:sp>
      <p:sp>
        <p:nvSpPr>
          <p:cNvPr id="9" name="TextBox 8"/>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8FA6BC"/>
                </a:solidFill>
                <a:latin typeface="Calibri"/>
              </a:rPr>
              <a:t>SOLVENTUM VIỆT NAM  ·  HỆ THỐNG QUẢN TRỊ QUY TRÌNH NGHIỆP VỤ</a:t>
            </a:r>
          </a:p>
        </p:txBody>
      </p:sp>
      <p:sp>
        <p:nvSpPr>
          <p:cNvPr id="10" name="TextBox 9"/>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C2A8"/>
                </a:solidFill>
                <a:latin typeface="Calibri"/>
              </a:rPr>
              <a:t>50</a:t>
            </a:r>
          </a:p>
        </p:txBody>
      </p:sp>
    </p:spTree>
    <p:extLst>
      <p:ext uri="{BB962C8B-B14F-4D97-AF65-F5344CB8AC3E}">
        <p14:creationId xmlns:p14="http://schemas.microsoft.com/office/powerpoint/2010/main" val="42057011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CHƯƠNG 5 · KẾT LUẬN</a:t>
            </a:r>
          </a:p>
        </p:txBody>
      </p:sp>
      <p:sp>
        <p:nvSpPr>
          <p:cNvPr id="3" name="TextBox 2"/>
          <p:cNvSpPr txBox="1"/>
          <p:nvPr/>
        </p:nvSpPr>
        <p:spPr>
          <a:xfrm>
            <a:off x="658368" y="640080"/>
            <a:ext cx="10874959" cy="603504"/>
          </a:xfrm>
          <a:prstGeom prst="rect">
            <a:avLst/>
          </a:prstGeom>
          <a:noFill/>
        </p:spPr>
        <p:txBody>
          <a:bodyPr wrap="square" lIns="0" tIns="0" rIns="0" bIns="0" anchor="t">
            <a:spAutoFit/>
          </a:bodyPr>
          <a:lstStyle/>
          <a:p>
            <a:pPr algn="l">
              <a:lnSpc>
                <a:spcPct val="105000"/>
              </a:lnSpc>
            </a:pPr>
            <a:r>
              <a:rPr sz="2500" b="1" i="0">
                <a:solidFill>
                  <a:srgbClr val="0A2540"/>
                </a:solidFill>
                <a:latin typeface="Calibri"/>
              </a:rPr>
              <a:t>KẾT QUẢ ĐẠT ĐƯỢC QUA CHƯƠNG 1 – 2 – 3 – 4</a:t>
            </a: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7" name="TextBox 6"/>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51</a:t>
            </a:r>
          </a:p>
        </p:txBody>
      </p:sp>
      <p:sp>
        <p:nvSpPr>
          <p:cNvPr id="8" name="Rectangle 7"/>
          <p:cNvSpPr/>
          <p:nvPr/>
        </p:nvSpPr>
        <p:spPr>
          <a:xfrm>
            <a:off x="658368" y="1755648"/>
            <a:ext cx="5309463" cy="932688"/>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9" name="Rectangle 8"/>
          <p:cNvSpPr/>
          <p:nvPr/>
        </p:nvSpPr>
        <p:spPr>
          <a:xfrm>
            <a:off x="658368" y="1755648"/>
            <a:ext cx="50292" cy="93268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0" name="TextBox 9"/>
          <p:cNvSpPr txBox="1"/>
          <p:nvPr/>
        </p:nvSpPr>
        <p:spPr>
          <a:xfrm>
            <a:off x="896112" y="1865376"/>
            <a:ext cx="640080" cy="184666"/>
          </a:xfrm>
          <a:prstGeom prst="rect">
            <a:avLst/>
          </a:prstGeom>
          <a:noFill/>
        </p:spPr>
        <p:txBody>
          <a:bodyPr wrap="square" lIns="0" tIns="0" rIns="0" bIns="0" anchor="t">
            <a:spAutoFit/>
          </a:bodyPr>
          <a:lstStyle/>
          <a:p>
            <a:pPr algn="l">
              <a:lnSpc>
                <a:spcPct val="100000"/>
              </a:lnSpc>
            </a:pPr>
            <a:r>
              <a:rPr sz="1200" b="1" i="0">
                <a:solidFill>
                  <a:srgbClr val="0096D6"/>
                </a:solidFill>
                <a:latin typeface="Calibri"/>
              </a:rPr>
              <a:t>01</a:t>
            </a:r>
          </a:p>
        </p:txBody>
      </p:sp>
      <p:sp>
        <p:nvSpPr>
          <p:cNvPr id="11" name="TextBox 10"/>
          <p:cNvSpPr txBox="1"/>
          <p:nvPr/>
        </p:nvSpPr>
        <p:spPr>
          <a:xfrm>
            <a:off x="896112" y="2157984"/>
            <a:ext cx="4833975" cy="443198"/>
          </a:xfrm>
          <a:prstGeom prst="rect">
            <a:avLst/>
          </a:prstGeom>
          <a:noFill/>
        </p:spPr>
        <p:txBody>
          <a:bodyPr wrap="square" lIns="0" tIns="0" rIns="0" bIns="0" anchor="t">
            <a:spAutoFit/>
          </a:bodyPr>
          <a:lstStyle/>
          <a:p>
            <a:pPr algn="l">
              <a:lnSpc>
                <a:spcPct val="120000"/>
              </a:lnSpc>
            </a:pPr>
            <a:r>
              <a:rPr sz="1200" b="0" i="0">
                <a:solidFill>
                  <a:srgbClr val="2B3440"/>
                </a:solidFill>
                <a:latin typeface="Calibri"/>
              </a:rPr>
              <a:t>Khảo sát tổng quan Solventum Việt Nam: quá trình hình thành, 03 nhóm sản phẩm – giải pháp và mô hình tổ chức theo chiều dọc.</a:t>
            </a:r>
          </a:p>
        </p:txBody>
      </p:sp>
      <p:sp>
        <p:nvSpPr>
          <p:cNvPr id="12" name="Rectangle 11"/>
          <p:cNvSpPr/>
          <p:nvPr/>
        </p:nvSpPr>
        <p:spPr>
          <a:xfrm>
            <a:off x="6223863" y="1755648"/>
            <a:ext cx="5309463" cy="932688"/>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3" name="Rectangle 12"/>
          <p:cNvSpPr/>
          <p:nvPr/>
        </p:nvSpPr>
        <p:spPr>
          <a:xfrm>
            <a:off x="6223863" y="1755648"/>
            <a:ext cx="50292" cy="93268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4" name="TextBox 13"/>
          <p:cNvSpPr txBox="1"/>
          <p:nvPr/>
        </p:nvSpPr>
        <p:spPr>
          <a:xfrm>
            <a:off x="6461607" y="1865376"/>
            <a:ext cx="640080" cy="184666"/>
          </a:xfrm>
          <a:prstGeom prst="rect">
            <a:avLst/>
          </a:prstGeom>
          <a:noFill/>
        </p:spPr>
        <p:txBody>
          <a:bodyPr wrap="square" lIns="0" tIns="0" rIns="0" bIns="0" anchor="t">
            <a:spAutoFit/>
          </a:bodyPr>
          <a:lstStyle/>
          <a:p>
            <a:pPr algn="l">
              <a:lnSpc>
                <a:spcPct val="100000"/>
              </a:lnSpc>
            </a:pPr>
            <a:r>
              <a:rPr sz="1200" b="1" i="0">
                <a:solidFill>
                  <a:srgbClr val="0096D6"/>
                </a:solidFill>
                <a:latin typeface="Calibri"/>
              </a:rPr>
              <a:t>02</a:t>
            </a:r>
          </a:p>
        </p:txBody>
      </p:sp>
      <p:sp>
        <p:nvSpPr>
          <p:cNvPr id="15" name="TextBox 14"/>
          <p:cNvSpPr txBox="1"/>
          <p:nvPr/>
        </p:nvSpPr>
        <p:spPr>
          <a:xfrm>
            <a:off x="6461607" y="2157984"/>
            <a:ext cx="4833975" cy="443198"/>
          </a:xfrm>
          <a:prstGeom prst="rect">
            <a:avLst/>
          </a:prstGeom>
          <a:noFill/>
        </p:spPr>
        <p:txBody>
          <a:bodyPr wrap="square" lIns="0" tIns="0" rIns="0" bIns="0" anchor="t">
            <a:spAutoFit/>
          </a:bodyPr>
          <a:lstStyle/>
          <a:p>
            <a:pPr algn="l">
              <a:lnSpc>
                <a:spcPct val="120000"/>
              </a:lnSpc>
            </a:pPr>
            <a:r>
              <a:rPr sz="1200" b="0" i="0">
                <a:solidFill>
                  <a:srgbClr val="2B3440"/>
                </a:solidFill>
                <a:latin typeface="Calibri"/>
              </a:rPr>
              <a:t>Xây dựng kiến trúc quy trình nghiệp vụ (Process Landscape) gồm ba nhóm Quản lý – Cốt lõi – Hỗ trợ.</a:t>
            </a:r>
          </a:p>
        </p:txBody>
      </p:sp>
      <p:sp>
        <p:nvSpPr>
          <p:cNvPr id="16" name="Rectangle 15"/>
          <p:cNvSpPr/>
          <p:nvPr/>
        </p:nvSpPr>
        <p:spPr>
          <a:xfrm>
            <a:off x="658368" y="2798064"/>
            <a:ext cx="5309463" cy="932688"/>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7" name="Rectangle 16"/>
          <p:cNvSpPr/>
          <p:nvPr/>
        </p:nvSpPr>
        <p:spPr>
          <a:xfrm>
            <a:off x="658368" y="2798064"/>
            <a:ext cx="50292" cy="93268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8" name="TextBox 17"/>
          <p:cNvSpPr txBox="1"/>
          <p:nvPr/>
        </p:nvSpPr>
        <p:spPr>
          <a:xfrm>
            <a:off x="896112" y="2907792"/>
            <a:ext cx="640080" cy="184666"/>
          </a:xfrm>
          <a:prstGeom prst="rect">
            <a:avLst/>
          </a:prstGeom>
          <a:noFill/>
        </p:spPr>
        <p:txBody>
          <a:bodyPr wrap="square" lIns="0" tIns="0" rIns="0" bIns="0" anchor="t">
            <a:spAutoFit/>
          </a:bodyPr>
          <a:lstStyle/>
          <a:p>
            <a:pPr algn="l">
              <a:lnSpc>
                <a:spcPct val="100000"/>
              </a:lnSpc>
            </a:pPr>
            <a:r>
              <a:rPr sz="1200" b="1" i="0">
                <a:solidFill>
                  <a:srgbClr val="0096D6"/>
                </a:solidFill>
                <a:latin typeface="Calibri"/>
              </a:rPr>
              <a:t>03</a:t>
            </a:r>
          </a:p>
        </p:txBody>
      </p:sp>
      <p:sp>
        <p:nvSpPr>
          <p:cNvPr id="19" name="TextBox 18"/>
          <p:cNvSpPr txBox="1"/>
          <p:nvPr/>
        </p:nvSpPr>
        <p:spPr>
          <a:xfrm>
            <a:off x="896112" y="3200400"/>
            <a:ext cx="4833975" cy="443198"/>
          </a:xfrm>
          <a:prstGeom prst="rect">
            <a:avLst/>
          </a:prstGeom>
          <a:noFill/>
        </p:spPr>
        <p:txBody>
          <a:bodyPr wrap="square" lIns="0" tIns="0" rIns="0" bIns="0" anchor="t">
            <a:spAutoFit/>
          </a:bodyPr>
          <a:lstStyle/>
          <a:p>
            <a:pPr algn="l">
              <a:lnSpc>
                <a:spcPct val="120000"/>
              </a:lnSpc>
            </a:pPr>
            <a:r>
              <a:rPr sz="1200" b="0" i="0">
                <a:solidFill>
                  <a:srgbClr val="2B3440"/>
                </a:solidFill>
                <a:latin typeface="Calibri"/>
              </a:rPr>
              <a:t>Nhận diện và mô tả 10 quy trình tiêu biểu theo khung thống nhất: Mục tiêu – Tác nhân – Khách hàng – Các bước – Kết quả.</a:t>
            </a:r>
          </a:p>
        </p:txBody>
      </p:sp>
      <p:sp>
        <p:nvSpPr>
          <p:cNvPr id="20" name="Rectangle 19"/>
          <p:cNvSpPr/>
          <p:nvPr/>
        </p:nvSpPr>
        <p:spPr>
          <a:xfrm>
            <a:off x="6223863" y="2798064"/>
            <a:ext cx="5309463" cy="932688"/>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1" name="Rectangle 20"/>
          <p:cNvSpPr/>
          <p:nvPr/>
        </p:nvSpPr>
        <p:spPr>
          <a:xfrm>
            <a:off x="6223863" y="2798064"/>
            <a:ext cx="50292" cy="93268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2" name="TextBox 21"/>
          <p:cNvSpPr txBox="1"/>
          <p:nvPr/>
        </p:nvSpPr>
        <p:spPr>
          <a:xfrm>
            <a:off x="6461607" y="2907792"/>
            <a:ext cx="640080" cy="184666"/>
          </a:xfrm>
          <a:prstGeom prst="rect">
            <a:avLst/>
          </a:prstGeom>
          <a:noFill/>
        </p:spPr>
        <p:txBody>
          <a:bodyPr wrap="square" lIns="0" tIns="0" rIns="0" bIns="0" anchor="t">
            <a:spAutoFit/>
          </a:bodyPr>
          <a:lstStyle/>
          <a:p>
            <a:pPr algn="l">
              <a:lnSpc>
                <a:spcPct val="100000"/>
              </a:lnSpc>
            </a:pPr>
            <a:r>
              <a:rPr sz="1200" b="1" i="0">
                <a:solidFill>
                  <a:srgbClr val="0096D6"/>
                </a:solidFill>
                <a:latin typeface="Calibri"/>
              </a:rPr>
              <a:t>04</a:t>
            </a:r>
          </a:p>
        </p:txBody>
      </p:sp>
      <p:sp>
        <p:nvSpPr>
          <p:cNvPr id="23" name="TextBox 22"/>
          <p:cNvSpPr txBox="1"/>
          <p:nvPr/>
        </p:nvSpPr>
        <p:spPr>
          <a:xfrm>
            <a:off x="6461607" y="3200400"/>
            <a:ext cx="4833975" cy="443198"/>
          </a:xfrm>
          <a:prstGeom prst="rect">
            <a:avLst/>
          </a:prstGeom>
          <a:noFill/>
        </p:spPr>
        <p:txBody>
          <a:bodyPr wrap="square" lIns="0" tIns="0" rIns="0" bIns="0" anchor="t">
            <a:spAutoFit/>
          </a:bodyPr>
          <a:lstStyle/>
          <a:p>
            <a:pPr algn="l">
              <a:lnSpc>
                <a:spcPct val="120000"/>
              </a:lnSpc>
            </a:pPr>
            <a:r>
              <a:rPr sz="1200" b="0" i="0">
                <a:solidFill>
                  <a:srgbClr val="2B3440"/>
                </a:solidFill>
                <a:latin typeface="Calibri"/>
              </a:rPr>
              <a:t>Mô hình hóa 06 quy trình đại diện bằng BPMN theo hiện trạng As-Is, dựa trên bằng chứng tài liệu SOP và tài liệu hệ thống.</a:t>
            </a:r>
          </a:p>
        </p:txBody>
      </p:sp>
      <p:sp>
        <p:nvSpPr>
          <p:cNvPr id="24" name="Rectangle 23"/>
          <p:cNvSpPr/>
          <p:nvPr/>
        </p:nvSpPr>
        <p:spPr>
          <a:xfrm>
            <a:off x="658368" y="3840480"/>
            <a:ext cx="5309463" cy="932688"/>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5" name="Rectangle 24"/>
          <p:cNvSpPr/>
          <p:nvPr/>
        </p:nvSpPr>
        <p:spPr>
          <a:xfrm>
            <a:off x="658368" y="3840480"/>
            <a:ext cx="50292" cy="93268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6" name="TextBox 25"/>
          <p:cNvSpPr txBox="1"/>
          <p:nvPr/>
        </p:nvSpPr>
        <p:spPr>
          <a:xfrm>
            <a:off x="896112" y="3950208"/>
            <a:ext cx="640080" cy="184666"/>
          </a:xfrm>
          <a:prstGeom prst="rect">
            <a:avLst/>
          </a:prstGeom>
          <a:noFill/>
        </p:spPr>
        <p:txBody>
          <a:bodyPr wrap="square" lIns="0" tIns="0" rIns="0" bIns="0" anchor="t">
            <a:spAutoFit/>
          </a:bodyPr>
          <a:lstStyle/>
          <a:p>
            <a:pPr algn="l">
              <a:lnSpc>
                <a:spcPct val="100000"/>
              </a:lnSpc>
            </a:pPr>
            <a:r>
              <a:rPr sz="1200" b="1" i="0">
                <a:solidFill>
                  <a:srgbClr val="0096D6"/>
                </a:solidFill>
                <a:latin typeface="Calibri"/>
              </a:rPr>
              <a:t>05</a:t>
            </a:r>
          </a:p>
        </p:txBody>
      </p:sp>
      <p:sp>
        <p:nvSpPr>
          <p:cNvPr id="27" name="TextBox 26"/>
          <p:cNvSpPr txBox="1"/>
          <p:nvPr/>
        </p:nvSpPr>
        <p:spPr>
          <a:xfrm>
            <a:off x="896112" y="4242816"/>
            <a:ext cx="4833975" cy="443198"/>
          </a:xfrm>
          <a:prstGeom prst="rect">
            <a:avLst/>
          </a:prstGeom>
          <a:noFill/>
        </p:spPr>
        <p:txBody>
          <a:bodyPr wrap="square" lIns="0" tIns="0" rIns="0" bIns="0" anchor="t">
            <a:spAutoFit/>
          </a:bodyPr>
          <a:lstStyle/>
          <a:p>
            <a:pPr algn="l">
              <a:lnSpc>
                <a:spcPct val="120000"/>
              </a:lnSpc>
            </a:pPr>
            <a:r>
              <a:rPr sz="1200" b="0" i="0" dirty="0" err="1">
                <a:solidFill>
                  <a:srgbClr val="2B3440"/>
                </a:solidFill>
                <a:latin typeface="Calibri"/>
              </a:rPr>
              <a:t>Chuẩn</a:t>
            </a:r>
            <a:r>
              <a:rPr sz="1200" b="0" i="0" dirty="0">
                <a:solidFill>
                  <a:srgbClr val="2B3440"/>
                </a:solidFill>
                <a:latin typeface="Calibri"/>
              </a:rPr>
              <a:t> </a:t>
            </a:r>
            <a:r>
              <a:rPr sz="1200" b="0" i="0" dirty="0" err="1">
                <a:solidFill>
                  <a:srgbClr val="2B3440"/>
                </a:solidFill>
                <a:latin typeface="Calibri"/>
              </a:rPr>
              <a:t>hóa</a:t>
            </a:r>
            <a:r>
              <a:rPr sz="1200" b="0" i="0" dirty="0">
                <a:solidFill>
                  <a:srgbClr val="2B3440"/>
                </a:solidFill>
                <a:latin typeface="Calibri"/>
              </a:rPr>
              <a:t> </a:t>
            </a:r>
            <a:r>
              <a:rPr sz="1200" b="0" i="0" dirty="0" err="1">
                <a:solidFill>
                  <a:srgbClr val="2B3440"/>
                </a:solidFill>
                <a:latin typeface="Calibri"/>
              </a:rPr>
              <a:t>phương</a:t>
            </a:r>
            <a:r>
              <a:rPr sz="1200" b="0" i="0" dirty="0">
                <a:solidFill>
                  <a:srgbClr val="2B3440"/>
                </a:solidFill>
                <a:latin typeface="Calibri"/>
              </a:rPr>
              <a:t> </a:t>
            </a:r>
            <a:r>
              <a:rPr sz="1200" b="0" i="0" dirty="0" err="1">
                <a:solidFill>
                  <a:srgbClr val="2B3440"/>
                </a:solidFill>
                <a:latin typeface="Calibri"/>
              </a:rPr>
              <a:t>pháp</a:t>
            </a:r>
            <a:r>
              <a:rPr sz="1200" b="0" i="0" dirty="0">
                <a:solidFill>
                  <a:srgbClr val="2B3440"/>
                </a:solidFill>
                <a:latin typeface="Calibri"/>
              </a:rPr>
              <a:t> Process Discovery </a:t>
            </a:r>
            <a:r>
              <a:rPr sz="1200" b="0" i="0" dirty="0" err="1">
                <a:solidFill>
                  <a:srgbClr val="2B3440"/>
                </a:solidFill>
                <a:latin typeface="Calibri"/>
              </a:rPr>
              <a:t>với</a:t>
            </a:r>
            <a:r>
              <a:rPr sz="1200" b="0" i="0" dirty="0">
                <a:solidFill>
                  <a:srgbClr val="2B3440"/>
                </a:solidFill>
                <a:latin typeface="Calibri"/>
              </a:rPr>
              <a:t> </a:t>
            </a:r>
            <a:r>
              <a:rPr sz="1200" b="0" i="0" dirty="0" err="1">
                <a:solidFill>
                  <a:srgbClr val="2B3440"/>
                </a:solidFill>
                <a:latin typeface="Calibri"/>
              </a:rPr>
              <a:t>bộ</a:t>
            </a:r>
            <a:r>
              <a:rPr sz="1200" b="0" i="0" dirty="0">
                <a:solidFill>
                  <a:srgbClr val="2B3440"/>
                </a:solidFill>
                <a:latin typeface="Calibri"/>
              </a:rPr>
              <a:t> </a:t>
            </a:r>
            <a:r>
              <a:rPr lang="en-US" sz="1200" b="0" i="0" dirty="0" smtClean="0">
                <a:solidFill>
                  <a:srgbClr val="2B3440"/>
                </a:solidFill>
                <a:latin typeface="Calibri"/>
              </a:rPr>
              <a:t>2</a:t>
            </a:r>
            <a:r>
              <a:rPr sz="1200" b="0" i="0" dirty="0" smtClean="0">
                <a:solidFill>
                  <a:srgbClr val="2B3440"/>
                </a:solidFill>
                <a:latin typeface="Calibri"/>
              </a:rPr>
              <a:t>0 </a:t>
            </a:r>
            <a:r>
              <a:rPr sz="1200" b="0" i="0" dirty="0" err="1">
                <a:solidFill>
                  <a:srgbClr val="2B3440"/>
                </a:solidFill>
                <a:latin typeface="Calibri"/>
              </a:rPr>
              <a:t>câu</a:t>
            </a:r>
            <a:r>
              <a:rPr sz="1200" b="0" i="0" dirty="0">
                <a:solidFill>
                  <a:srgbClr val="2B3440"/>
                </a:solidFill>
                <a:latin typeface="Calibri"/>
              </a:rPr>
              <a:t> </a:t>
            </a:r>
            <a:r>
              <a:rPr sz="1200" b="0" i="0" dirty="0" err="1">
                <a:solidFill>
                  <a:srgbClr val="2B3440"/>
                </a:solidFill>
                <a:latin typeface="Calibri"/>
              </a:rPr>
              <a:t>hỏi</a:t>
            </a:r>
            <a:r>
              <a:rPr sz="1200" b="0" i="0" dirty="0">
                <a:solidFill>
                  <a:srgbClr val="2B3440"/>
                </a:solidFill>
                <a:latin typeface="Calibri"/>
              </a:rPr>
              <a:t> </a:t>
            </a:r>
            <a:r>
              <a:rPr sz="1200" b="0" i="0" dirty="0" smtClean="0">
                <a:solidFill>
                  <a:srgbClr val="2B3440"/>
                </a:solidFill>
                <a:latin typeface="Calibri"/>
              </a:rPr>
              <a:t>(</a:t>
            </a:r>
            <a:r>
              <a:rPr lang="en-US" sz="1200" b="0" i="0" dirty="0" smtClean="0">
                <a:solidFill>
                  <a:srgbClr val="2B3440"/>
                </a:solidFill>
                <a:latin typeface="Calibri"/>
              </a:rPr>
              <a:t>10</a:t>
            </a:r>
            <a:r>
              <a:rPr sz="1200" b="0" i="0" dirty="0" smtClean="0">
                <a:solidFill>
                  <a:srgbClr val="2B3440"/>
                </a:solidFill>
                <a:latin typeface="Calibri"/>
              </a:rPr>
              <a:t> </a:t>
            </a:r>
            <a:r>
              <a:rPr sz="1200" b="0" i="0" dirty="0" err="1" smtClean="0">
                <a:solidFill>
                  <a:srgbClr val="2B3440"/>
                </a:solidFill>
                <a:latin typeface="Calibri"/>
              </a:rPr>
              <a:t>định</a:t>
            </a:r>
            <a:r>
              <a:rPr sz="1200" b="0" i="0" dirty="0" smtClean="0">
                <a:solidFill>
                  <a:srgbClr val="2B3440"/>
                </a:solidFill>
                <a:latin typeface="Calibri"/>
              </a:rPr>
              <a:t> </a:t>
            </a:r>
            <a:r>
              <a:rPr sz="1200" b="0" i="0" dirty="0" err="1">
                <a:solidFill>
                  <a:srgbClr val="2B3440"/>
                </a:solidFill>
                <a:latin typeface="Calibri"/>
              </a:rPr>
              <a:t>tính</a:t>
            </a:r>
            <a:r>
              <a:rPr sz="1200" b="0" i="0" dirty="0">
                <a:solidFill>
                  <a:srgbClr val="2B3440"/>
                </a:solidFill>
                <a:latin typeface="Calibri"/>
              </a:rPr>
              <a:t> </a:t>
            </a:r>
            <a:r>
              <a:rPr sz="1200" b="0" i="0" dirty="0" smtClean="0">
                <a:solidFill>
                  <a:srgbClr val="2B3440"/>
                </a:solidFill>
                <a:latin typeface="Calibri"/>
              </a:rPr>
              <a:t>+ </a:t>
            </a:r>
            <a:r>
              <a:rPr lang="en-US" sz="1200" b="0" i="0" dirty="0" smtClean="0">
                <a:solidFill>
                  <a:srgbClr val="2B3440"/>
                </a:solidFill>
                <a:latin typeface="Calibri"/>
              </a:rPr>
              <a:t>10</a:t>
            </a:r>
            <a:r>
              <a:rPr sz="1200" b="0" i="0" dirty="0" smtClean="0">
                <a:solidFill>
                  <a:srgbClr val="2B3440"/>
                </a:solidFill>
                <a:latin typeface="Calibri"/>
              </a:rPr>
              <a:t> </a:t>
            </a:r>
            <a:r>
              <a:rPr sz="1200" b="0" i="0" dirty="0" err="1">
                <a:solidFill>
                  <a:srgbClr val="2B3440"/>
                </a:solidFill>
                <a:latin typeface="Calibri"/>
              </a:rPr>
              <a:t>định</a:t>
            </a:r>
            <a:r>
              <a:rPr sz="1200" b="0" i="0" dirty="0">
                <a:solidFill>
                  <a:srgbClr val="2B3440"/>
                </a:solidFill>
                <a:latin typeface="Calibri"/>
              </a:rPr>
              <a:t> </a:t>
            </a:r>
            <a:r>
              <a:rPr sz="1200" b="0" i="0" dirty="0" err="1">
                <a:solidFill>
                  <a:srgbClr val="2B3440"/>
                </a:solidFill>
                <a:latin typeface="Calibri"/>
              </a:rPr>
              <a:t>lượng</a:t>
            </a:r>
            <a:r>
              <a:rPr sz="1200" b="0" i="0" dirty="0">
                <a:solidFill>
                  <a:srgbClr val="2B3440"/>
                </a:solidFill>
                <a:latin typeface="Calibri"/>
              </a:rPr>
              <a:t>).</a:t>
            </a:r>
          </a:p>
        </p:txBody>
      </p:sp>
      <p:sp>
        <p:nvSpPr>
          <p:cNvPr id="28" name="Rectangle 27"/>
          <p:cNvSpPr/>
          <p:nvPr/>
        </p:nvSpPr>
        <p:spPr>
          <a:xfrm>
            <a:off x="6223863" y="3840480"/>
            <a:ext cx="5309463" cy="932688"/>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9" name="Rectangle 28"/>
          <p:cNvSpPr/>
          <p:nvPr/>
        </p:nvSpPr>
        <p:spPr>
          <a:xfrm>
            <a:off x="6223863" y="3840480"/>
            <a:ext cx="50292" cy="93268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0" name="TextBox 29"/>
          <p:cNvSpPr txBox="1"/>
          <p:nvPr/>
        </p:nvSpPr>
        <p:spPr>
          <a:xfrm>
            <a:off x="6461607" y="3950208"/>
            <a:ext cx="640080" cy="184666"/>
          </a:xfrm>
          <a:prstGeom prst="rect">
            <a:avLst/>
          </a:prstGeom>
          <a:noFill/>
        </p:spPr>
        <p:txBody>
          <a:bodyPr wrap="square" lIns="0" tIns="0" rIns="0" bIns="0" anchor="t">
            <a:spAutoFit/>
          </a:bodyPr>
          <a:lstStyle/>
          <a:p>
            <a:pPr algn="l">
              <a:lnSpc>
                <a:spcPct val="100000"/>
              </a:lnSpc>
            </a:pPr>
            <a:r>
              <a:rPr sz="1200" b="1" i="0">
                <a:solidFill>
                  <a:srgbClr val="0096D6"/>
                </a:solidFill>
                <a:latin typeface="Calibri"/>
              </a:rPr>
              <a:t>06</a:t>
            </a:r>
          </a:p>
        </p:txBody>
      </p:sp>
      <p:sp>
        <p:nvSpPr>
          <p:cNvPr id="31" name="TextBox 30"/>
          <p:cNvSpPr txBox="1"/>
          <p:nvPr/>
        </p:nvSpPr>
        <p:spPr>
          <a:xfrm>
            <a:off x="6461607" y="4242816"/>
            <a:ext cx="4833975" cy="443198"/>
          </a:xfrm>
          <a:prstGeom prst="rect">
            <a:avLst/>
          </a:prstGeom>
          <a:noFill/>
        </p:spPr>
        <p:txBody>
          <a:bodyPr wrap="square" lIns="0" tIns="0" rIns="0" bIns="0" anchor="t">
            <a:spAutoFit/>
          </a:bodyPr>
          <a:lstStyle/>
          <a:p>
            <a:pPr algn="l">
              <a:lnSpc>
                <a:spcPct val="120000"/>
              </a:lnSpc>
            </a:pPr>
            <a:r>
              <a:rPr sz="1200" b="0" i="0">
                <a:solidFill>
                  <a:srgbClr val="2B3440"/>
                </a:solidFill>
                <a:latin typeface="Calibri"/>
              </a:rPr>
              <a:t>Sàng lọc khách quan theo 05 tiêu chí và chọn được 02 quy trình trọng tâm cho phân tích chuyên sâu.</a:t>
            </a:r>
          </a:p>
        </p:txBody>
      </p:sp>
      <p:sp>
        <p:nvSpPr>
          <p:cNvPr id="32" name="Rectangle 31"/>
          <p:cNvSpPr/>
          <p:nvPr/>
        </p:nvSpPr>
        <p:spPr>
          <a:xfrm>
            <a:off x="658368" y="4882896"/>
            <a:ext cx="5309463" cy="932688"/>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3" name="Rectangle 32"/>
          <p:cNvSpPr/>
          <p:nvPr/>
        </p:nvSpPr>
        <p:spPr>
          <a:xfrm>
            <a:off x="658368" y="4882896"/>
            <a:ext cx="50292" cy="93268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4" name="TextBox 33"/>
          <p:cNvSpPr txBox="1"/>
          <p:nvPr/>
        </p:nvSpPr>
        <p:spPr>
          <a:xfrm>
            <a:off x="896112" y="4992624"/>
            <a:ext cx="640080" cy="184666"/>
          </a:xfrm>
          <a:prstGeom prst="rect">
            <a:avLst/>
          </a:prstGeom>
          <a:noFill/>
        </p:spPr>
        <p:txBody>
          <a:bodyPr wrap="square" lIns="0" tIns="0" rIns="0" bIns="0" anchor="t">
            <a:spAutoFit/>
          </a:bodyPr>
          <a:lstStyle/>
          <a:p>
            <a:pPr algn="l">
              <a:lnSpc>
                <a:spcPct val="100000"/>
              </a:lnSpc>
            </a:pPr>
            <a:r>
              <a:rPr sz="1200" b="1" i="0">
                <a:solidFill>
                  <a:srgbClr val="0096D6"/>
                </a:solidFill>
                <a:latin typeface="Calibri"/>
              </a:rPr>
              <a:t>07</a:t>
            </a:r>
          </a:p>
        </p:txBody>
      </p:sp>
      <p:sp>
        <p:nvSpPr>
          <p:cNvPr id="35" name="TextBox 34"/>
          <p:cNvSpPr txBox="1"/>
          <p:nvPr/>
        </p:nvSpPr>
        <p:spPr>
          <a:xfrm>
            <a:off x="896112" y="5285232"/>
            <a:ext cx="4833975" cy="443198"/>
          </a:xfrm>
          <a:prstGeom prst="rect">
            <a:avLst/>
          </a:prstGeom>
          <a:noFill/>
        </p:spPr>
        <p:txBody>
          <a:bodyPr wrap="square" lIns="0" tIns="0" rIns="0" bIns="0" anchor="t">
            <a:spAutoFit/>
          </a:bodyPr>
          <a:lstStyle/>
          <a:p>
            <a:pPr algn="l">
              <a:lnSpc>
                <a:spcPct val="120000"/>
              </a:lnSpc>
            </a:pPr>
            <a:r>
              <a:rPr sz="1200" b="0" i="0">
                <a:solidFill>
                  <a:srgbClr val="2B3440"/>
                </a:solidFill>
                <a:latin typeface="Calibri"/>
              </a:rPr>
              <a:t>Phân tích định tính Service Order Management: 04 VA – 06 BVA, 07 điểm lãng phí Move/Hold/Overdo và nguyên nhân gốc theo 04 nhóm.</a:t>
            </a:r>
          </a:p>
        </p:txBody>
      </p:sp>
      <p:sp>
        <p:nvSpPr>
          <p:cNvPr id="36" name="Rectangle 35"/>
          <p:cNvSpPr/>
          <p:nvPr/>
        </p:nvSpPr>
        <p:spPr>
          <a:xfrm>
            <a:off x="6223863" y="4882896"/>
            <a:ext cx="5309463" cy="932688"/>
          </a:xfrm>
          <a:prstGeom prst="rect">
            <a:avLst/>
          </a:prstGeom>
          <a:solidFill>
            <a:srgbClr val="F4F7FA"/>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7" name="Rectangle 36"/>
          <p:cNvSpPr/>
          <p:nvPr/>
        </p:nvSpPr>
        <p:spPr>
          <a:xfrm>
            <a:off x="6223863" y="4882896"/>
            <a:ext cx="50292" cy="93268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8" name="TextBox 37"/>
          <p:cNvSpPr txBox="1"/>
          <p:nvPr/>
        </p:nvSpPr>
        <p:spPr>
          <a:xfrm>
            <a:off x="6461607" y="4992624"/>
            <a:ext cx="640080" cy="184666"/>
          </a:xfrm>
          <a:prstGeom prst="rect">
            <a:avLst/>
          </a:prstGeom>
          <a:noFill/>
        </p:spPr>
        <p:txBody>
          <a:bodyPr wrap="square" lIns="0" tIns="0" rIns="0" bIns="0" anchor="t">
            <a:spAutoFit/>
          </a:bodyPr>
          <a:lstStyle/>
          <a:p>
            <a:pPr algn="l">
              <a:lnSpc>
                <a:spcPct val="100000"/>
              </a:lnSpc>
            </a:pPr>
            <a:r>
              <a:rPr sz="1200" b="1" i="0">
                <a:solidFill>
                  <a:srgbClr val="0096D6"/>
                </a:solidFill>
                <a:latin typeface="Calibri"/>
              </a:rPr>
              <a:t>08</a:t>
            </a:r>
          </a:p>
        </p:txBody>
      </p:sp>
      <p:sp>
        <p:nvSpPr>
          <p:cNvPr id="39" name="TextBox 38"/>
          <p:cNvSpPr txBox="1"/>
          <p:nvPr/>
        </p:nvSpPr>
        <p:spPr>
          <a:xfrm>
            <a:off x="6461607" y="5285232"/>
            <a:ext cx="4833975" cy="443198"/>
          </a:xfrm>
          <a:prstGeom prst="rect">
            <a:avLst/>
          </a:prstGeom>
          <a:noFill/>
        </p:spPr>
        <p:txBody>
          <a:bodyPr wrap="square" lIns="0" tIns="0" rIns="0" bIns="0" anchor="t">
            <a:spAutoFit/>
          </a:bodyPr>
          <a:lstStyle/>
          <a:p>
            <a:pPr algn="l">
              <a:lnSpc>
                <a:spcPct val="120000"/>
              </a:lnSpc>
            </a:pPr>
            <a:r>
              <a:rPr sz="1200" b="0" i="0">
                <a:solidFill>
                  <a:srgbClr val="2B3440"/>
                </a:solidFill>
                <a:latin typeface="Calibri"/>
              </a:rPr>
              <a:t>Phân tích định lượng bằng Flow Analysis: Cycle Time ≈ 5,5 ngày làm việc, CTE ≈ 49,7% — hơn một nửa thời gian là chờ và chuyển giao.</a:t>
            </a:r>
          </a:p>
        </p:txBody>
      </p:sp>
    </p:spTree>
    <p:extLst>
      <p:ext uri="{BB962C8B-B14F-4D97-AF65-F5344CB8AC3E}">
        <p14:creationId xmlns:p14="http://schemas.microsoft.com/office/powerpoint/2010/main" val="38824749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84048"/>
            <a:ext cx="10874959" cy="256032"/>
          </a:xfrm>
          <a:prstGeom prst="rect">
            <a:avLst/>
          </a:prstGeom>
          <a:noFill/>
        </p:spPr>
        <p:txBody>
          <a:bodyPr wrap="square" lIns="0" tIns="0" rIns="0" bIns="0" anchor="t">
            <a:spAutoFit/>
          </a:bodyPr>
          <a:lstStyle/>
          <a:p>
            <a:pPr algn="l">
              <a:lnSpc>
                <a:spcPct val="100000"/>
              </a:lnSpc>
            </a:pPr>
            <a:r>
              <a:rPr sz="1050" b="1" i="0">
                <a:solidFill>
                  <a:srgbClr val="0096D6"/>
                </a:solidFill>
                <a:latin typeface="Calibri"/>
              </a:rPr>
              <a:t>CHƯƠNG 5 · KẾT LUẬN</a:t>
            </a:r>
          </a:p>
        </p:txBody>
      </p:sp>
      <p:sp>
        <p:nvSpPr>
          <p:cNvPr id="3" name="TextBox 2"/>
          <p:cNvSpPr txBox="1"/>
          <p:nvPr/>
        </p:nvSpPr>
        <p:spPr>
          <a:xfrm>
            <a:off x="658368" y="640080"/>
            <a:ext cx="10874959" cy="603504"/>
          </a:xfrm>
          <a:prstGeom prst="rect">
            <a:avLst/>
          </a:prstGeom>
          <a:noFill/>
        </p:spPr>
        <p:txBody>
          <a:bodyPr wrap="square" lIns="0" tIns="0" rIns="0" bIns="0" anchor="t">
            <a:spAutoFit/>
          </a:bodyPr>
          <a:lstStyle/>
          <a:p>
            <a:pPr algn="l">
              <a:lnSpc>
                <a:spcPct val="105000"/>
              </a:lnSpc>
            </a:pPr>
            <a:r>
              <a:rPr sz="2500" b="1" i="0">
                <a:solidFill>
                  <a:srgbClr val="0A2540"/>
                </a:solidFill>
                <a:latin typeface="Calibri"/>
              </a:rPr>
              <a:t>HẠN CHẾ VÀ HƯỚNG PHÁT TRIỂN</a:t>
            </a:r>
          </a:p>
        </p:txBody>
      </p:sp>
      <p:sp>
        <p:nvSpPr>
          <p:cNvPr id="4" name="Rectangle 3"/>
          <p:cNvSpPr/>
          <p:nvPr/>
        </p:nvSpPr>
        <p:spPr>
          <a:xfrm>
            <a:off x="658368" y="1280160"/>
            <a:ext cx="566928" cy="41148"/>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298448" y="1280160"/>
            <a:ext cx="10234879" cy="41148"/>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6355080"/>
            <a:ext cx="10326319" cy="228600"/>
          </a:xfrm>
          <a:prstGeom prst="rect">
            <a:avLst/>
          </a:prstGeom>
          <a:noFill/>
        </p:spPr>
        <p:txBody>
          <a:bodyPr wrap="square" lIns="0" tIns="0" rIns="0" bIns="0" anchor="t">
            <a:spAutoFit/>
          </a:bodyPr>
          <a:lstStyle/>
          <a:p>
            <a:pPr algn="l">
              <a:lnSpc>
                <a:spcPct val="100000"/>
              </a:lnSpc>
            </a:pPr>
            <a:r>
              <a:rPr sz="850" b="0" i="0">
                <a:solidFill>
                  <a:srgbClr val="6B7784"/>
                </a:solidFill>
                <a:latin typeface="Calibri"/>
              </a:rPr>
              <a:t>SOLVENTUM VIỆT NAM  ·  HỆ THỐNG QUẢN TRỊ QUY TRÌNH NGHIỆP VỤ</a:t>
            </a:r>
          </a:p>
        </p:txBody>
      </p:sp>
      <p:sp>
        <p:nvSpPr>
          <p:cNvPr id="7" name="TextBox 6"/>
          <p:cNvSpPr txBox="1"/>
          <p:nvPr/>
        </p:nvSpPr>
        <p:spPr>
          <a:xfrm>
            <a:off x="10984687" y="6355080"/>
            <a:ext cx="548640" cy="228600"/>
          </a:xfrm>
          <a:prstGeom prst="rect">
            <a:avLst/>
          </a:prstGeom>
          <a:noFill/>
        </p:spPr>
        <p:txBody>
          <a:bodyPr wrap="square" lIns="0" tIns="0" rIns="0" bIns="0" anchor="t">
            <a:spAutoFit/>
          </a:bodyPr>
          <a:lstStyle/>
          <a:p>
            <a:pPr algn="r">
              <a:lnSpc>
                <a:spcPct val="100000"/>
              </a:lnSpc>
            </a:pPr>
            <a:r>
              <a:rPr sz="950" b="1" i="0">
                <a:solidFill>
                  <a:srgbClr val="0096D6"/>
                </a:solidFill>
                <a:latin typeface="Calibri"/>
              </a:rPr>
              <a:t>52</a:t>
            </a:r>
          </a:p>
        </p:txBody>
      </p:sp>
      <p:sp>
        <p:nvSpPr>
          <p:cNvPr id="8" name="Rectangle 7"/>
          <p:cNvSpPr/>
          <p:nvPr/>
        </p:nvSpPr>
        <p:spPr>
          <a:xfrm>
            <a:off x="658368" y="1700784"/>
            <a:ext cx="5230368" cy="4059936"/>
          </a:xfrm>
          <a:prstGeom prst="rect">
            <a:avLst/>
          </a:prstGeom>
          <a:solidFill>
            <a:srgbClr val="FEF3F2"/>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58368" y="1700784"/>
            <a:ext cx="5230368" cy="50292"/>
          </a:xfrm>
          <a:prstGeom prst="rect">
            <a:avLst/>
          </a:prstGeom>
          <a:solidFill>
            <a:srgbClr val="D92D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32688" y="1938528"/>
            <a:ext cx="4663440" cy="310896"/>
          </a:xfrm>
          <a:prstGeom prst="rect">
            <a:avLst/>
          </a:prstGeom>
          <a:noFill/>
        </p:spPr>
        <p:txBody>
          <a:bodyPr wrap="square" lIns="0" tIns="0" rIns="0" bIns="0" anchor="t">
            <a:spAutoFit/>
          </a:bodyPr>
          <a:lstStyle/>
          <a:p>
            <a:pPr algn="l">
              <a:lnSpc>
                <a:spcPct val="100000"/>
              </a:lnSpc>
            </a:pPr>
            <a:r>
              <a:rPr sz="1450" b="1" i="0">
                <a:solidFill>
                  <a:srgbClr val="0A2540"/>
                </a:solidFill>
                <a:latin typeface="Calibri"/>
              </a:rPr>
              <a:t>HẠN CHẾ</a:t>
            </a:r>
          </a:p>
        </p:txBody>
      </p:sp>
      <p:sp>
        <p:nvSpPr>
          <p:cNvPr id="12" name="Rectangle 11"/>
          <p:cNvSpPr/>
          <p:nvPr/>
        </p:nvSpPr>
        <p:spPr>
          <a:xfrm>
            <a:off x="6327648" y="1700784"/>
            <a:ext cx="5202936" cy="4059936"/>
          </a:xfrm>
          <a:prstGeom prst="rect">
            <a:avLst/>
          </a:prstGeom>
          <a:solidFill>
            <a:srgbClr val="E7F7F3"/>
          </a:solidFill>
          <a:ln w="9525">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327648" y="1700784"/>
            <a:ext cx="5202936" cy="50292"/>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01968" y="1938528"/>
            <a:ext cx="4663440" cy="310896"/>
          </a:xfrm>
          <a:prstGeom prst="rect">
            <a:avLst/>
          </a:prstGeom>
          <a:noFill/>
        </p:spPr>
        <p:txBody>
          <a:bodyPr wrap="square" lIns="0" tIns="0" rIns="0" bIns="0" anchor="t">
            <a:spAutoFit/>
          </a:bodyPr>
          <a:lstStyle/>
          <a:p>
            <a:pPr algn="l">
              <a:lnSpc>
                <a:spcPct val="100000"/>
              </a:lnSpc>
            </a:pPr>
            <a:r>
              <a:rPr sz="1450" b="1" i="0">
                <a:solidFill>
                  <a:srgbClr val="0A2540"/>
                </a:solidFill>
                <a:latin typeface="Calibri"/>
              </a:rPr>
              <a:t>HƯỚNG PHÁT TRIỂN</a:t>
            </a:r>
          </a:p>
        </p:txBody>
      </p:sp>
    </p:spTree>
    <p:extLst>
      <p:ext uri="{BB962C8B-B14F-4D97-AF65-F5344CB8AC3E}">
        <p14:creationId xmlns:p14="http://schemas.microsoft.com/office/powerpoint/2010/main" val="37747897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 cy="6858000"/>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51560" y="2103120"/>
            <a:ext cx="10058400" cy="307777"/>
          </a:xfrm>
          <a:prstGeom prst="rect">
            <a:avLst/>
          </a:prstGeom>
          <a:noFill/>
        </p:spPr>
        <p:txBody>
          <a:bodyPr wrap="square" lIns="0" tIns="0" rIns="0" bIns="0" anchor="t">
            <a:spAutoFit/>
          </a:bodyPr>
          <a:lstStyle/>
          <a:p>
            <a:pPr algn="ctr">
              <a:lnSpc>
                <a:spcPct val="100000"/>
              </a:lnSpc>
            </a:pPr>
            <a:r>
              <a:rPr sz="2000" b="1" i="0" dirty="0">
                <a:solidFill>
                  <a:srgbClr val="00C2A8"/>
                </a:solidFill>
                <a:latin typeface="Calibri"/>
              </a:rPr>
              <a:t>HỆ THỐNG QUẢN TRỊ QUY TRÌNH NGHIỆP VỤ  ·  ĐỒ ÁN CUỐI KỲ</a:t>
            </a:r>
          </a:p>
        </p:txBody>
      </p:sp>
      <p:sp>
        <p:nvSpPr>
          <p:cNvPr id="4" name="TextBox 3"/>
          <p:cNvSpPr txBox="1"/>
          <p:nvPr/>
        </p:nvSpPr>
        <p:spPr>
          <a:xfrm>
            <a:off x="1051560" y="2560320"/>
            <a:ext cx="10058400" cy="914400"/>
          </a:xfrm>
          <a:prstGeom prst="rect">
            <a:avLst/>
          </a:prstGeom>
          <a:noFill/>
        </p:spPr>
        <p:txBody>
          <a:bodyPr wrap="square" lIns="0" tIns="0" rIns="0" bIns="0" anchor="t">
            <a:spAutoFit/>
          </a:bodyPr>
          <a:lstStyle/>
          <a:p>
            <a:pPr algn="ctr">
              <a:lnSpc>
                <a:spcPct val="105000"/>
              </a:lnSpc>
            </a:pPr>
            <a:r>
              <a:rPr sz="3200" b="1" i="0" dirty="0">
                <a:solidFill>
                  <a:srgbClr val="FFFFFF"/>
                </a:solidFill>
                <a:latin typeface="Calibri"/>
              </a:rPr>
              <a:t>CẢM ƠN THẦY VÀ CÁC BẠN ĐÃ LẮNG NGHE</a:t>
            </a:r>
          </a:p>
        </p:txBody>
      </p:sp>
      <p:sp>
        <p:nvSpPr>
          <p:cNvPr id="5" name="Rectangle 4"/>
          <p:cNvSpPr/>
          <p:nvPr/>
        </p:nvSpPr>
        <p:spPr>
          <a:xfrm>
            <a:off x="5596128" y="3675887"/>
            <a:ext cx="1005840" cy="45720"/>
          </a:xfrm>
          <a:prstGeom prst="rect">
            <a:avLst/>
          </a:prstGeom>
          <a:solidFill>
            <a:srgbClr val="0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3968496"/>
            <a:ext cx="10058400" cy="295466"/>
          </a:xfrm>
          <a:prstGeom prst="rect">
            <a:avLst/>
          </a:prstGeom>
          <a:noFill/>
        </p:spPr>
        <p:txBody>
          <a:bodyPr wrap="square" lIns="0" tIns="0" rIns="0" bIns="0" anchor="t">
            <a:spAutoFit/>
          </a:bodyPr>
          <a:lstStyle/>
          <a:p>
            <a:pPr algn="ctr">
              <a:lnSpc>
                <a:spcPct val="120000"/>
              </a:lnSpc>
            </a:pPr>
            <a:r>
              <a:rPr sz="1600" b="0" i="0" dirty="0" err="1">
                <a:solidFill>
                  <a:srgbClr val="B6C9D8"/>
                </a:solidFill>
                <a:latin typeface="Calibri"/>
              </a:rPr>
              <a:t>Rất</a:t>
            </a:r>
            <a:r>
              <a:rPr sz="1600" b="0" i="0" dirty="0">
                <a:solidFill>
                  <a:srgbClr val="B6C9D8"/>
                </a:solidFill>
                <a:latin typeface="Calibri"/>
              </a:rPr>
              <a:t> </a:t>
            </a:r>
            <a:r>
              <a:rPr sz="1600" b="0" i="0" dirty="0" err="1">
                <a:solidFill>
                  <a:srgbClr val="B6C9D8"/>
                </a:solidFill>
                <a:latin typeface="Calibri"/>
              </a:rPr>
              <a:t>mong</a:t>
            </a:r>
            <a:r>
              <a:rPr sz="1600" b="0" i="0" dirty="0">
                <a:solidFill>
                  <a:srgbClr val="B6C9D8"/>
                </a:solidFill>
                <a:latin typeface="Calibri"/>
              </a:rPr>
              <a:t> </a:t>
            </a:r>
            <a:r>
              <a:rPr sz="1600" b="0" i="0" dirty="0" err="1">
                <a:solidFill>
                  <a:srgbClr val="B6C9D8"/>
                </a:solidFill>
                <a:latin typeface="Calibri"/>
              </a:rPr>
              <a:t>nhận</a:t>
            </a:r>
            <a:r>
              <a:rPr sz="1600" b="0" i="0" dirty="0">
                <a:solidFill>
                  <a:srgbClr val="B6C9D8"/>
                </a:solidFill>
                <a:latin typeface="Calibri"/>
              </a:rPr>
              <a:t> </a:t>
            </a:r>
            <a:r>
              <a:rPr sz="1600" b="0" i="0" dirty="0" err="1">
                <a:solidFill>
                  <a:srgbClr val="B6C9D8"/>
                </a:solidFill>
                <a:latin typeface="Calibri"/>
              </a:rPr>
              <a:t>được</a:t>
            </a:r>
            <a:r>
              <a:rPr sz="1600" b="0" i="0" dirty="0">
                <a:solidFill>
                  <a:srgbClr val="B6C9D8"/>
                </a:solidFill>
                <a:latin typeface="Calibri"/>
              </a:rPr>
              <a:t> </a:t>
            </a:r>
            <a:r>
              <a:rPr sz="1600" b="0" i="0" dirty="0" err="1">
                <a:solidFill>
                  <a:srgbClr val="B6C9D8"/>
                </a:solidFill>
                <a:latin typeface="Calibri"/>
              </a:rPr>
              <a:t>câu</a:t>
            </a:r>
            <a:r>
              <a:rPr sz="1600" b="0" i="0" dirty="0">
                <a:solidFill>
                  <a:srgbClr val="B6C9D8"/>
                </a:solidFill>
                <a:latin typeface="Calibri"/>
              </a:rPr>
              <a:t> </a:t>
            </a:r>
            <a:r>
              <a:rPr sz="1600" b="0" i="0" dirty="0" err="1">
                <a:solidFill>
                  <a:srgbClr val="B6C9D8"/>
                </a:solidFill>
                <a:latin typeface="Calibri"/>
              </a:rPr>
              <a:t>hỏi</a:t>
            </a:r>
            <a:r>
              <a:rPr sz="1600" b="0" i="0" dirty="0">
                <a:solidFill>
                  <a:srgbClr val="B6C9D8"/>
                </a:solidFill>
                <a:latin typeface="Calibri"/>
              </a:rPr>
              <a:t> </a:t>
            </a:r>
            <a:r>
              <a:rPr sz="1600" b="0" i="0" dirty="0" err="1">
                <a:solidFill>
                  <a:srgbClr val="B6C9D8"/>
                </a:solidFill>
                <a:latin typeface="Calibri"/>
              </a:rPr>
              <a:t>và</a:t>
            </a:r>
            <a:r>
              <a:rPr sz="1600" b="0" i="0" dirty="0">
                <a:solidFill>
                  <a:srgbClr val="B6C9D8"/>
                </a:solidFill>
                <a:latin typeface="Calibri"/>
              </a:rPr>
              <a:t> </a:t>
            </a:r>
            <a:r>
              <a:rPr sz="1600" b="0" i="0" dirty="0" err="1">
                <a:solidFill>
                  <a:srgbClr val="B6C9D8"/>
                </a:solidFill>
                <a:latin typeface="Calibri"/>
              </a:rPr>
              <a:t>góp</a:t>
            </a:r>
            <a:r>
              <a:rPr sz="1600" b="0" i="0" dirty="0">
                <a:solidFill>
                  <a:srgbClr val="B6C9D8"/>
                </a:solidFill>
                <a:latin typeface="Calibri"/>
              </a:rPr>
              <a:t> ý </a:t>
            </a:r>
            <a:r>
              <a:rPr sz="1600" b="0" i="0" dirty="0" err="1">
                <a:solidFill>
                  <a:srgbClr val="B6C9D8"/>
                </a:solidFill>
                <a:latin typeface="Calibri"/>
              </a:rPr>
              <a:t>từ</a:t>
            </a:r>
            <a:r>
              <a:rPr sz="1600" b="0" i="0" dirty="0">
                <a:solidFill>
                  <a:srgbClr val="B6C9D8"/>
                </a:solidFill>
                <a:latin typeface="Calibri"/>
              </a:rPr>
              <a:t> </a:t>
            </a:r>
            <a:r>
              <a:rPr sz="1600" b="0" i="0" dirty="0" err="1">
                <a:solidFill>
                  <a:srgbClr val="B6C9D8"/>
                </a:solidFill>
                <a:latin typeface="Calibri"/>
              </a:rPr>
              <a:t>Thầy</a:t>
            </a:r>
            <a:r>
              <a:rPr sz="1600" b="0" i="0" dirty="0">
                <a:solidFill>
                  <a:srgbClr val="B6C9D8"/>
                </a:solidFill>
                <a:latin typeface="Calibri"/>
              </a:rPr>
              <a:t> </a:t>
            </a:r>
            <a:r>
              <a:rPr sz="1600" b="0" i="0" dirty="0" err="1">
                <a:solidFill>
                  <a:srgbClr val="B6C9D8"/>
                </a:solidFill>
                <a:latin typeface="Calibri"/>
              </a:rPr>
              <a:t>và</a:t>
            </a:r>
            <a:r>
              <a:rPr sz="1600" b="0" i="0" dirty="0">
                <a:solidFill>
                  <a:srgbClr val="B6C9D8"/>
                </a:solidFill>
                <a:latin typeface="Calibri"/>
              </a:rPr>
              <a:t> </a:t>
            </a:r>
            <a:r>
              <a:rPr sz="1600" b="0" i="0" dirty="0" err="1">
                <a:solidFill>
                  <a:srgbClr val="B6C9D8"/>
                </a:solidFill>
                <a:latin typeface="Calibri"/>
              </a:rPr>
              <a:t>các</a:t>
            </a:r>
            <a:r>
              <a:rPr sz="1600" b="0" i="0" dirty="0">
                <a:solidFill>
                  <a:srgbClr val="B6C9D8"/>
                </a:solidFill>
                <a:latin typeface="Calibri"/>
              </a:rPr>
              <a:t> </a:t>
            </a:r>
            <a:r>
              <a:rPr sz="1600" b="0" i="0" dirty="0" err="1">
                <a:solidFill>
                  <a:srgbClr val="B6C9D8"/>
                </a:solidFill>
                <a:latin typeface="Calibri"/>
              </a:rPr>
              <a:t>bạn</a:t>
            </a:r>
            <a:endParaRPr sz="1600" b="0" i="0" dirty="0">
              <a:solidFill>
                <a:srgbClr val="B6C9D8"/>
              </a:solidFill>
              <a:latin typeface="Calibri"/>
            </a:endParaRPr>
          </a:p>
        </p:txBody>
      </p:sp>
      <p:sp>
        <p:nvSpPr>
          <p:cNvPr id="7" name="TextBox 6"/>
          <p:cNvSpPr txBox="1"/>
          <p:nvPr/>
        </p:nvSpPr>
        <p:spPr>
          <a:xfrm>
            <a:off x="1051560" y="4846320"/>
            <a:ext cx="10058400" cy="693523"/>
          </a:xfrm>
          <a:prstGeom prst="rect">
            <a:avLst/>
          </a:prstGeom>
          <a:noFill/>
        </p:spPr>
        <p:txBody>
          <a:bodyPr wrap="square" lIns="0" tIns="0" rIns="0" bIns="0" anchor="t">
            <a:spAutoFit/>
          </a:bodyPr>
          <a:lstStyle/>
          <a:p>
            <a:pPr algn="ctr">
              <a:lnSpc>
                <a:spcPct val="120000"/>
              </a:lnSpc>
            </a:pPr>
            <a:r>
              <a:rPr sz="1600" b="1" i="0" dirty="0" err="1">
                <a:solidFill>
                  <a:srgbClr val="FFFFFF"/>
                </a:solidFill>
                <a:latin typeface="Calibri"/>
              </a:rPr>
              <a:t>Nguyễn</a:t>
            </a:r>
            <a:r>
              <a:rPr sz="1600" b="1" i="0" dirty="0">
                <a:solidFill>
                  <a:srgbClr val="FFFFFF"/>
                </a:solidFill>
                <a:latin typeface="Calibri"/>
              </a:rPr>
              <a:t> </a:t>
            </a:r>
            <a:r>
              <a:rPr sz="1600" b="1" i="0" dirty="0" err="1">
                <a:solidFill>
                  <a:srgbClr val="FFFFFF"/>
                </a:solidFill>
                <a:latin typeface="Calibri"/>
              </a:rPr>
              <a:t>Chí</a:t>
            </a:r>
            <a:r>
              <a:rPr sz="1600" b="1" i="0" dirty="0">
                <a:solidFill>
                  <a:srgbClr val="FFFFFF"/>
                </a:solidFill>
                <a:latin typeface="Calibri"/>
              </a:rPr>
              <a:t> </a:t>
            </a:r>
            <a:r>
              <a:rPr sz="1600" b="1" i="0" dirty="0" err="1">
                <a:solidFill>
                  <a:srgbClr val="FFFFFF"/>
                </a:solidFill>
                <a:latin typeface="Calibri"/>
              </a:rPr>
              <a:t>Thanh</a:t>
            </a:r>
            <a:r>
              <a:rPr sz="1600" b="1" i="0" dirty="0">
                <a:solidFill>
                  <a:srgbClr val="FFFFFF"/>
                </a:solidFill>
                <a:latin typeface="Calibri"/>
              </a:rPr>
              <a:t> · 25210195      |      </a:t>
            </a:r>
            <a:r>
              <a:rPr sz="1600" b="1" i="0" dirty="0" err="1">
                <a:solidFill>
                  <a:srgbClr val="FFFFFF"/>
                </a:solidFill>
                <a:latin typeface="Calibri"/>
              </a:rPr>
              <a:t>Trần</a:t>
            </a:r>
            <a:r>
              <a:rPr sz="1600" b="1" i="0" dirty="0">
                <a:solidFill>
                  <a:srgbClr val="FFFFFF"/>
                </a:solidFill>
                <a:latin typeface="Calibri"/>
              </a:rPr>
              <a:t> </a:t>
            </a:r>
            <a:r>
              <a:rPr sz="1600" b="1" i="0" dirty="0" err="1">
                <a:solidFill>
                  <a:srgbClr val="FFFFFF"/>
                </a:solidFill>
                <a:latin typeface="Calibri"/>
              </a:rPr>
              <a:t>Xuân</a:t>
            </a:r>
            <a:r>
              <a:rPr sz="1600" b="1" i="0" dirty="0">
                <a:solidFill>
                  <a:srgbClr val="FFFFFF"/>
                </a:solidFill>
                <a:latin typeface="Calibri"/>
              </a:rPr>
              <a:t> </a:t>
            </a:r>
            <a:r>
              <a:rPr sz="1600" b="1" i="0" dirty="0" err="1">
                <a:solidFill>
                  <a:srgbClr val="FFFFFF"/>
                </a:solidFill>
                <a:latin typeface="Calibri"/>
              </a:rPr>
              <a:t>Trứ</a:t>
            </a:r>
            <a:r>
              <a:rPr sz="1600" b="1" i="0" dirty="0">
                <a:solidFill>
                  <a:srgbClr val="FFFFFF"/>
                </a:solidFill>
                <a:latin typeface="Calibri"/>
              </a:rPr>
              <a:t> · 25210227      |      </a:t>
            </a:r>
            <a:r>
              <a:rPr sz="1600" b="1" i="0" dirty="0" err="1">
                <a:solidFill>
                  <a:srgbClr val="FFFFFF"/>
                </a:solidFill>
                <a:latin typeface="Calibri"/>
              </a:rPr>
              <a:t>Tăng</a:t>
            </a:r>
            <a:r>
              <a:rPr sz="1600" b="1" i="0" dirty="0">
                <a:solidFill>
                  <a:srgbClr val="FFFFFF"/>
                </a:solidFill>
                <a:latin typeface="Calibri"/>
              </a:rPr>
              <a:t> </a:t>
            </a:r>
            <a:r>
              <a:rPr sz="1600" b="1" i="0" dirty="0" err="1">
                <a:solidFill>
                  <a:srgbClr val="FFFFFF"/>
                </a:solidFill>
                <a:latin typeface="Calibri"/>
              </a:rPr>
              <a:t>Thuận</a:t>
            </a:r>
            <a:r>
              <a:rPr sz="1600" b="1" i="0" dirty="0">
                <a:solidFill>
                  <a:srgbClr val="FFFFFF"/>
                </a:solidFill>
                <a:latin typeface="Calibri"/>
              </a:rPr>
              <a:t> </a:t>
            </a:r>
            <a:r>
              <a:rPr sz="1600" b="1" i="0" dirty="0" err="1">
                <a:solidFill>
                  <a:srgbClr val="FFFFFF"/>
                </a:solidFill>
                <a:latin typeface="Calibri"/>
              </a:rPr>
              <a:t>Phát</a:t>
            </a:r>
            <a:r>
              <a:rPr sz="1600" b="1" i="0" dirty="0">
                <a:solidFill>
                  <a:srgbClr val="FFFFFF"/>
                </a:solidFill>
                <a:latin typeface="Calibri"/>
              </a:rPr>
              <a:t> · 25210163</a:t>
            </a:r>
          </a:p>
          <a:p>
            <a:pPr algn="ctr">
              <a:lnSpc>
                <a:spcPct val="120000"/>
              </a:lnSpc>
              <a:spcBef>
                <a:spcPts val="800"/>
              </a:spcBef>
            </a:pPr>
            <a:r>
              <a:rPr sz="1600" b="0" i="0" dirty="0">
                <a:solidFill>
                  <a:srgbClr val="8FA6BC"/>
                </a:solidFill>
                <a:latin typeface="Calibri"/>
              </a:rPr>
              <a:t>GVHD: </a:t>
            </a:r>
            <a:r>
              <a:rPr sz="1600" b="0" i="0" dirty="0" err="1">
                <a:solidFill>
                  <a:srgbClr val="8FA6BC"/>
                </a:solidFill>
                <a:latin typeface="Calibri"/>
              </a:rPr>
              <a:t>ThS</a:t>
            </a:r>
            <a:r>
              <a:rPr sz="1600" b="0" i="0" dirty="0">
                <a:solidFill>
                  <a:srgbClr val="8FA6BC"/>
                </a:solidFill>
                <a:latin typeface="Calibri"/>
              </a:rPr>
              <a:t>. </a:t>
            </a:r>
            <a:r>
              <a:rPr sz="1600" b="0" i="0" dirty="0" err="1">
                <a:solidFill>
                  <a:srgbClr val="8FA6BC"/>
                </a:solidFill>
                <a:latin typeface="Calibri"/>
              </a:rPr>
              <a:t>Hà</a:t>
            </a:r>
            <a:r>
              <a:rPr sz="1600" b="0" i="0" dirty="0">
                <a:solidFill>
                  <a:srgbClr val="8FA6BC"/>
                </a:solidFill>
                <a:latin typeface="Calibri"/>
              </a:rPr>
              <a:t> </a:t>
            </a:r>
            <a:r>
              <a:rPr sz="1600" b="0" i="0" dirty="0" err="1">
                <a:solidFill>
                  <a:srgbClr val="8FA6BC"/>
                </a:solidFill>
                <a:latin typeface="Calibri"/>
              </a:rPr>
              <a:t>Lê</a:t>
            </a:r>
            <a:r>
              <a:rPr sz="1600" b="0" i="0" dirty="0">
                <a:solidFill>
                  <a:srgbClr val="8FA6BC"/>
                </a:solidFill>
                <a:latin typeface="Calibri"/>
              </a:rPr>
              <a:t> </a:t>
            </a:r>
            <a:r>
              <a:rPr sz="1600" b="0" i="0" dirty="0" err="1">
                <a:solidFill>
                  <a:srgbClr val="8FA6BC"/>
                </a:solidFill>
                <a:latin typeface="Calibri"/>
              </a:rPr>
              <a:t>Hoài</a:t>
            </a:r>
            <a:r>
              <a:rPr sz="1600" b="0" i="0" dirty="0">
                <a:solidFill>
                  <a:srgbClr val="8FA6BC"/>
                </a:solidFill>
                <a:latin typeface="Calibri"/>
              </a:rPr>
              <a:t> </a:t>
            </a:r>
            <a:r>
              <a:rPr sz="1600" b="0" i="0" dirty="0" err="1">
                <a:solidFill>
                  <a:srgbClr val="8FA6BC"/>
                </a:solidFill>
                <a:latin typeface="Calibri"/>
              </a:rPr>
              <a:t>Trung</a:t>
            </a:r>
            <a:r>
              <a:rPr sz="1600" b="0" i="0" dirty="0">
                <a:solidFill>
                  <a:srgbClr val="8FA6BC"/>
                </a:solidFill>
                <a:latin typeface="Calibri"/>
              </a:rPr>
              <a:t>  ·  TP. </a:t>
            </a:r>
            <a:r>
              <a:rPr sz="1600" b="0" i="0" dirty="0" err="1">
                <a:solidFill>
                  <a:srgbClr val="8FA6BC"/>
                </a:solidFill>
                <a:latin typeface="Calibri"/>
              </a:rPr>
              <a:t>Hồ</a:t>
            </a:r>
            <a:r>
              <a:rPr sz="1600" b="0" i="0" dirty="0">
                <a:solidFill>
                  <a:srgbClr val="8FA6BC"/>
                </a:solidFill>
                <a:latin typeface="Calibri"/>
              </a:rPr>
              <a:t> </a:t>
            </a:r>
            <a:r>
              <a:rPr sz="1600" b="0" i="0" dirty="0" err="1">
                <a:solidFill>
                  <a:srgbClr val="8FA6BC"/>
                </a:solidFill>
                <a:latin typeface="Calibri"/>
              </a:rPr>
              <a:t>Chí</a:t>
            </a:r>
            <a:r>
              <a:rPr sz="1600" b="0" i="0" dirty="0">
                <a:solidFill>
                  <a:srgbClr val="8FA6BC"/>
                </a:solidFill>
                <a:latin typeface="Calibri"/>
              </a:rPr>
              <a:t> Minh, 08/2026</a:t>
            </a:r>
          </a:p>
        </p:txBody>
      </p:sp>
    </p:spTree>
    <p:extLst>
      <p:ext uri="{BB962C8B-B14F-4D97-AF65-F5344CB8AC3E}">
        <p14:creationId xmlns:p14="http://schemas.microsoft.com/office/powerpoint/2010/main" val="36003183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8192</Words>
  <Application>Microsoft Office PowerPoint</Application>
  <PresentationFormat>Widescreen</PresentationFormat>
  <Paragraphs>1055</Paragraphs>
  <Slides>51</Slides>
  <Notes>0</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51</vt:i4>
      </vt:variant>
    </vt:vector>
  </HeadingPairs>
  <TitlesOfParts>
    <vt:vector size="56"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Windows User</cp:lastModifiedBy>
  <cp:revision>3</cp:revision>
  <dcterms:created xsi:type="dcterms:W3CDTF">2026-08-30T15:52:15Z</dcterms:created>
  <dcterms:modified xsi:type="dcterms:W3CDTF">2026-08-30T16:08:20Z</dcterms:modified>
</cp:coreProperties>
</file>