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5267F91-CA84-436A-A840-DCCC5366F6D9}">
  <a:tblStyle styleId="{65267F91-CA84-436A-A840-DCCC5366F6D9}"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9EFF7"/>
          </a:solidFill>
        </a:fill>
      </a:tcStyle>
    </a:wholeTbl>
    <a:band1H>
      <a:tcTxStyle/>
      <a:tcStyle>
        <a:fill>
          <a:solidFill>
            <a:srgbClr val="D0DEEF"/>
          </a:solidFill>
        </a:fill>
      </a:tcStyle>
    </a:band1H>
    <a:band2H>
      <a:tcTxStyle/>
    </a:band2H>
    <a:band1V>
      <a:tcTxStyle/>
      <a:tcStyle>
        <a:fill>
          <a:solidFill>
            <a:srgbClr val="D0DEEF"/>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0" name="Shape 840"/>
        <p:cNvGrpSpPr/>
        <p:nvPr/>
      </p:nvGrpSpPr>
      <p:grpSpPr>
        <a:xfrm>
          <a:off x="0" y="0"/>
          <a:ext cx="0" cy="0"/>
          <a:chOff x="0" y="0"/>
          <a:chExt cx="0" cy="0"/>
        </a:xfrm>
      </p:grpSpPr>
      <p:sp>
        <p:nvSpPr>
          <p:cNvPr id="841" name="Google Shape;841;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 name="Shape 852"/>
        <p:cNvGrpSpPr/>
        <p:nvPr/>
      </p:nvGrpSpPr>
      <p:grpSpPr>
        <a:xfrm>
          <a:off x="0" y="0"/>
          <a:ext cx="0" cy="0"/>
          <a:chOff x="0" y="0"/>
          <a:chExt cx="0" cy="0"/>
        </a:xfrm>
      </p:grpSpPr>
      <p:sp>
        <p:nvSpPr>
          <p:cNvPr id="853" name="Google Shape;853;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1" name="Shape 871"/>
        <p:cNvGrpSpPr/>
        <p:nvPr/>
      </p:nvGrpSpPr>
      <p:grpSpPr>
        <a:xfrm>
          <a:off x="0" y="0"/>
          <a:ext cx="0" cy="0"/>
          <a:chOff x="0" y="0"/>
          <a:chExt cx="0" cy="0"/>
        </a:xfrm>
      </p:grpSpPr>
      <p:sp>
        <p:nvSpPr>
          <p:cNvPr id="872" name="Google Shape;872;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4" name="Shape 924"/>
        <p:cNvGrpSpPr/>
        <p:nvPr/>
      </p:nvGrpSpPr>
      <p:grpSpPr>
        <a:xfrm>
          <a:off x="0" y="0"/>
          <a:ext cx="0" cy="0"/>
          <a:chOff x="0" y="0"/>
          <a:chExt cx="0" cy="0"/>
        </a:xfrm>
      </p:grpSpPr>
      <p:sp>
        <p:nvSpPr>
          <p:cNvPr id="925" name="Google Shape;925;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7" name="Shape 957"/>
        <p:cNvGrpSpPr/>
        <p:nvPr/>
      </p:nvGrpSpPr>
      <p:grpSpPr>
        <a:xfrm>
          <a:off x="0" y="0"/>
          <a:ext cx="0" cy="0"/>
          <a:chOff x="0" y="0"/>
          <a:chExt cx="0" cy="0"/>
        </a:xfrm>
      </p:grpSpPr>
      <p:sp>
        <p:nvSpPr>
          <p:cNvPr id="958" name="Google Shape;958;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6" name="Shape 986"/>
        <p:cNvGrpSpPr/>
        <p:nvPr/>
      </p:nvGrpSpPr>
      <p:grpSpPr>
        <a:xfrm>
          <a:off x="0" y="0"/>
          <a:ext cx="0" cy="0"/>
          <a:chOff x="0" y="0"/>
          <a:chExt cx="0" cy="0"/>
        </a:xfrm>
      </p:grpSpPr>
      <p:sp>
        <p:nvSpPr>
          <p:cNvPr id="987" name="Google Shape;987;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5" name="Shape 1005"/>
        <p:cNvGrpSpPr/>
        <p:nvPr/>
      </p:nvGrpSpPr>
      <p:grpSpPr>
        <a:xfrm>
          <a:off x="0" y="0"/>
          <a:ext cx="0" cy="0"/>
          <a:chOff x="0" y="0"/>
          <a:chExt cx="0" cy="0"/>
        </a:xfrm>
      </p:grpSpPr>
      <p:sp>
        <p:nvSpPr>
          <p:cNvPr id="1006" name="Google Shape;1006;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9" name="Shape 1039"/>
        <p:cNvGrpSpPr/>
        <p:nvPr/>
      </p:nvGrpSpPr>
      <p:grpSpPr>
        <a:xfrm>
          <a:off x="0" y="0"/>
          <a:ext cx="0" cy="0"/>
          <a:chOff x="0" y="0"/>
          <a:chExt cx="0" cy="0"/>
        </a:xfrm>
      </p:grpSpPr>
      <p:sp>
        <p:nvSpPr>
          <p:cNvPr id="1040" name="Google Shape;1040;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2" name="Shape 1052"/>
        <p:cNvGrpSpPr/>
        <p:nvPr/>
      </p:nvGrpSpPr>
      <p:grpSpPr>
        <a:xfrm>
          <a:off x="0" y="0"/>
          <a:ext cx="0" cy="0"/>
          <a:chOff x="0" y="0"/>
          <a:chExt cx="0" cy="0"/>
        </a:xfrm>
      </p:grpSpPr>
      <p:sp>
        <p:nvSpPr>
          <p:cNvPr id="1053" name="Google Shape;1053;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7" name="Shape 1067"/>
        <p:cNvGrpSpPr/>
        <p:nvPr/>
      </p:nvGrpSpPr>
      <p:grpSpPr>
        <a:xfrm>
          <a:off x="0" y="0"/>
          <a:ext cx="0" cy="0"/>
          <a:chOff x="0" y="0"/>
          <a:chExt cx="0" cy="0"/>
        </a:xfrm>
      </p:grpSpPr>
      <p:sp>
        <p:nvSpPr>
          <p:cNvPr id="1068" name="Google Shape;1068;p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0" name="Shape 1100"/>
        <p:cNvGrpSpPr/>
        <p:nvPr/>
      </p:nvGrpSpPr>
      <p:grpSpPr>
        <a:xfrm>
          <a:off x="0" y="0"/>
          <a:ext cx="0" cy="0"/>
          <a:chOff x="0" y="0"/>
          <a:chExt cx="0" cy="0"/>
        </a:xfrm>
      </p:grpSpPr>
      <p:sp>
        <p:nvSpPr>
          <p:cNvPr id="1101" name="Google Shape;1101;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3" name="Shape 1113"/>
        <p:cNvGrpSpPr/>
        <p:nvPr/>
      </p:nvGrpSpPr>
      <p:grpSpPr>
        <a:xfrm>
          <a:off x="0" y="0"/>
          <a:ext cx="0" cy="0"/>
          <a:chOff x="0" y="0"/>
          <a:chExt cx="0" cy="0"/>
        </a:xfrm>
      </p:grpSpPr>
      <p:sp>
        <p:nvSpPr>
          <p:cNvPr id="1114" name="Google Shape;1114;p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1" name="Shape 1151"/>
        <p:cNvGrpSpPr/>
        <p:nvPr/>
      </p:nvGrpSpPr>
      <p:grpSpPr>
        <a:xfrm>
          <a:off x="0" y="0"/>
          <a:ext cx="0" cy="0"/>
          <a:chOff x="0" y="0"/>
          <a:chExt cx="0" cy="0"/>
        </a:xfrm>
      </p:grpSpPr>
      <p:sp>
        <p:nvSpPr>
          <p:cNvPr id="1152" name="Google Shape;1152;p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3" name="Shape 1163"/>
        <p:cNvGrpSpPr/>
        <p:nvPr/>
      </p:nvGrpSpPr>
      <p:grpSpPr>
        <a:xfrm>
          <a:off x="0" y="0"/>
          <a:ext cx="0" cy="0"/>
          <a:chOff x="0" y="0"/>
          <a:chExt cx="0" cy="0"/>
        </a:xfrm>
      </p:grpSpPr>
      <p:sp>
        <p:nvSpPr>
          <p:cNvPr id="1164" name="Google Shape;1164;p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4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4" name="Shape 1194"/>
        <p:cNvGrpSpPr/>
        <p:nvPr/>
      </p:nvGrpSpPr>
      <p:grpSpPr>
        <a:xfrm>
          <a:off x="0" y="0"/>
          <a:ext cx="0" cy="0"/>
          <a:chOff x="0" y="0"/>
          <a:chExt cx="0" cy="0"/>
        </a:xfrm>
      </p:grpSpPr>
      <p:sp>
        <p:nvSpPr>
          <p:cNvPr id="1195" name="Google Shape;1195;p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4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9" name="Shape 1219"/>
        <p:cNvGrpSpPr/>
        <p:nvPr/>
      </p:nvGrpSpPr>
      <p:grpSpPr>
        <a:xfrm>
          <a:off x="0" y="0"/>
          <a:ext cx="0" cy="0"/>
          <a:chOff x="0" y="0"/>
          <a:chExt cx="0" cy="0"/>
        </a:xfrm>
      </p:grpSpPr>
      <p:sp>
        <p:nvSpPr>
          <p:cNvPr id="1220" name="Google Shape;1220;p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4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2" name="Shape 1232"/>
        <p:cNvGrpSpPr/>
        <p:nvPr/>
      </p:nvGrpSpPr>
      <p:grpSpPr>
        <a:xfrm>
          <a:off x="0" y="0"/>
          <a:ext cx="0" cy="0"/>
          <a:chOff x="0" y="0"/>
          <a:chExt cx="0" cy="0"/>
        </a:xfrm>
      </p:grpSpPr>
      <p:sp>
        <p:nvSpPr>
          <p:cNvPr id="1233" name="Google Shape;1233;p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4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3" name="Shape 1283"/>
        <p:cNvGrpSpPr/>
        <p:nvPr/>
      </p:nvGrpSpPr>
      <p:grpSpPr>
        <a:xfrm>
          <a:off x="0" y="0"/>
          <a:ext cx="0" cy="0"/>
          <a:chOff x="0" y="0"/>
          <a:chExt cx="0" cy="0"/>
        </a:xfrm>
      </p:grpSpPr>
      <p:sp>
        <p:nvSpPr>
          <p:cNvPr id="1284" name="Google Shape;1284;p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5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4" name="Shape 1324"/>
        <p:cNvGrpSpPr/>
        <p:nvPr/>
      </p:nvGrpSpPr>
      <p:grpSpPr>
        <a:xfrm>
          <a:off x="0" y="0"/>
          <a:ext cx="0" cy="0"/>
          <a:chOff x="0" y="0"/>
          <a:chExt cx="0" cy="0"/>
        </a:xfrm>
      </p:grpSpPr>
      <p:sp>
        <p:nvSpPr>
          <p:cNvPr id="1325" name="Google Shape;1325;p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5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5183188" y="987425"/>
            <a:ext cx="6172200" cy="4873625"/>
          </a:xfrm>
          <a:prstGeom prst="rect">
            <a:avLst/>
          </a:prstGeom>
          <a:noFill/>
          <a:ln>
            <a:noFill/>
          </a:ln>
        </p:spPr>
      </p:sp>
      <p:sp>
        <p:nvSpPr>
          <p:cNvPr id="64" name="Google Shape;64;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1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2540"/>
        </a:solidFill>
      </p:bgPr>
    </p:bg>
    <p:spTree>
      <p:nvGrpSpPr>
        <p:cNvPr id="83" name="Shape 83"/>
        <p:cNvGrpSpPr/>
        <p:nvPr/>
      </p:nvGrpSpPr>
      <p:grpSpPr>
        <a:xfrm>
          <a:off x="0" y="0"/>
          <a:ext cx="0" cy="0"/>
          <a:chOff x="0" y="0"/>
          <a:chExt cx="0" cy="0"/>
        </a:xfrm>
      </p:grpSpPr>
      <p:sp>
        <p:nvSpPr>
          <p:cNvPr id="84" name="Google Shape;84;p13"/>
          <p:cNvSpPr/>
          <p:nvPr/>
        </p:nvSpPr>
        <p:spPr>
          <a:xfrm>
            <a:off x="0" y="0"/>
            <a:ext cx="182880" cy="6858000"/>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5" name="Google Shape;85;p13"/>
          <p:cNvSpPr/>
          <p:nvPr/>
        </p:nvSpPr>
        <p:spPr>
          <a:xfrm>
            <a:off x="8138160" y="0"/>
            <a:ext cx="4059936" cy="6858000"/>
          </a:xfrm>
          <a:prstGeom prst="rect">
            <a:avLst/>
          </a:prstGeom>
          <a:solidFill>
            <a:srgbClr val="143A5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6" name="Google Shape;86;p13"/>
          <p:cNvSpPr txBox="1"/>
          <p:nvPr/>
        </p:nvSpPr>
        <p:spPr>
          <a:xfrm>
            <a:off x="960120" y="1051560"/>
            <a:ext cx="6858000" cy="2154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00C2A8"/>
                </a:solidFill>
                <a:latin typeface="Calibri"/>
                <a:ea typeface="Calibri"/>
                <a:cs typeface="Calibri"/>
                <a:sym typeface="Calibri"/>
              </a:rPr>
              <a:t>ĐỒ ÁN CUỐI KỲ  ·  HỆ THỐNG QUẢN TRỊ QUY TRÌNH NGHIỆP VỤ</a:t>
            </a:r>
            <a:endParaRPr/>
          </a:p>
        </p:txBody>
      </p:sp>
      <p:sp>
        <p:nvSpPr>
          <p:cNvPr id="87" name="Google Shape;87;p13"/>
          <p:cNvSpPr txBox="1"/>
          <p:nvPr/>
        </p:nvSpPr>
        <p:spPr>
          <a:xfrm>
            <a:off x="960120" y="1481328"/>
            <a:ext cx="6766560" cy="2286000"/>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None/>
            </a:pPr>
            <a:r>
              <a:rPr b="1" i="0" lang="en-US" sz="3400" u="none" cap="none" strike="noStrike">
                <a:solidFill>
                  <a:srgbClr val="FFFFFF"/>
                </a:solidFill>
                <a:latin typeface="Calibri"/>
                <a:ea typeface="Calibri"/>
                <a:cs typeface="Calibri"/>
                <a:sym typeface="Calibri"/>
              </a:rPr>
              <a:t>TÌM HIỂU QUY TRÌNH NGHIỆP VỤ</a:t>
            </a:r>
            <a:endParaRPr/>
          </a:p>
          <a:p>
            <a:pPr indent="0" lvl="0" marL="0" marR="0" rtl="0" algn="l">
              <a:lnSpc>
                <a:spcPct val="106000"/>
              </a:lnSpc>
              <a:spcBef>
                <a:spcPts val="0"/>
              </a:spcBef>
              <a:spcAft>
                <a:spcPts val="0"/>
              </a:spcAft>
              <a:buNone/>
            </a:pPr>
            <a:r>
              <a:rPr b="1" i="0" lang="en-US" sz="3400" u="none" cap="none" strike="noStrike">
                <a:solidFill>
                  <a:srgbClr val="0096D6"/>
                </a:solidFill>
                <a:latin typeface="Calibri"/>
                <a:ea typeface="Calibri"/>
                <a:cs typeface="Calibri"/>
                <a:sym typeface="Calibri"/>
              </a:rPr>
              <a:t>CÔNG TY TNHH SOLVENTUM VIỆT NAM</a:t>
            </a:r>
            <a:endParaRPr/>
          </a:p>
        </p:txBody>
      </p:sp>
      <p:sp>
        <p:nvSpPr>
          <p:cNvPr id="88" name="Google Shape;88;p13"/>
          <p:cNvSpPr/>
          <p:nvPr/>
        </p:nvSpPr>
        <p:spPr>
          <a:xfrm>
            <a:off x="960120" y="3675887"/>
            <a:ext cx="1005840" cy="45720"/>
          </a:xfrm>
          <a:prstGeom prst="rect">
            <a:avLst/>
          </a:prstGeom>
          <a:solidFill>
            <a:srgbClr val="00C2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9" name="Google Shape;89;p13"/>
          <p:cNvSpPr txBox="1"/>
          <p:nvPr/>
        </p:nvSpPr>
        <p:spPr>
          <a:xfrm>
            <a:off x="960120" y="3913632"/>
            <a:ext cx="6675120" cy="921278"/>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1400" u="none" cap="none" strike="noStrike">
                <a:solidFill>
                  <a:srgbClr val="C8D8E6"/>
                </a:solidFill>
                <a:latin typeface="Calibri"/>
                <a:ea typeface="Calibri"/>
                <a:cs typeface="Calibri"/>
                <a:sym typeface="Calibri"/>
              </a:rPr>
              <a:t>Khảo sát kiến trúc quy trình  ·  Mô hình hóa BPMN (As-Is)  ·  Phân tích chuyên sâu 02 quy trình trọng tâm</a:t>
            </a:r>
            <a:endParaRPr/>
          </a:p>
          <a:p>
            <a:pPr indent="0" lvl="0" marL="0" marR="0" rtl="0" algn="l">
              <a:lnSpc>
                <a:spcPct val="120000"/>
              </a:lnSpc>
              <a:spcBef>
                <a:spcPts val="800"/>
              </a:spcBef>
              <a:spcAft>
                <a:spcPts val="0"/>
              </a:spcAft>
              <a:buNone/>
            </a:pPr>
            <a:r>
              <a:rPr b="1" i="0" lang="en-US" sz="1400" u="none" cap="none" strike="noStrike">
                <a:solidFill>
                  <a:srgbClr val="00C2A8"/>
                </a:solidFill>
                <a:latin typeface="Calibri"/>
                <a:ea typeface="Calibri"/>
                <a:cs typeface="Calibri"/>
                <a:sym typeface="Calibri"/>
              </a:rPr>
              <a:t>CHƯƠNG 1  —  CHƯƠNG 2  —  CHƯƠNG 3  —  CHƯƠNG 4</a:t>
            </a:r>
            <a:endParaRPr/>
          </a:p>
        </p:txBody>
      </p:sp>
      <p:sp>
        <p:nvSpPr>
          <p:cNvPr id="90" name="Google Shape;90;p13"/>
          <p:cNvSpPr txBox="1"/>
          <p:nvPr/>
        </p:nvSpPr>
        <p:spPr>
          <a:xfrm>
            <a:off x="960120" y="5230368"/>
            <a:ext cx="6675120" cy="579133"/>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US" sz="1400" u="none" cap="none" strike="noStrike">
                <a:solidFill>
                  <a:srgbClr val="FFFFFF"/>
                </a:solidFill>
                <a:latin typeface="Calibri"/>
                <a:ea typeface="Calibri"/>
                <a:cs typeface="Calibri"/>
                <a:sym typeface="Calibri"/>
              </a:rPr>
              <a:t>GVHD:  ThS. Hà Lê Hoài Trung</a:t>
            </a:r>
            <a:endParaRPr b="1" i="0" sz="1400" u="none" cap="none" strike="noStrike">
              <a:solidFill>
                <a:srgbClr val="FFFFFF"/>
              </a:solidFill>
              <a:latin typeface="Calibri"/>
              <a:ea typeface="Calibri"/>
              <a:cs typeface="Calibri"/>
              <a:sym typeface="Calibri"/>
            </a:endParaRPr>
          </a:p>
          <a:p>
            <a:pPr indent="0" lvl="0" marL="0" marR="0" rtl="0" algn="l">
              <a:lnSpc>
                <a:spcPct val="120000"/>
              </a:lnSpc>
              <a:spcBef>
                <a:spcPts val="400"/>
              </a:spcBef>
              <a:spcAft>
                <a:spcPts val="0"/>
              </a:spcAft>
              <a:buNone/>
            </a:pPr>
            <a:r>
              <a:rPr b="0" i="1" lang="en-US" sz="1400" u="none" cap="none" strike="noStrike">
                <a:solidFill>
                  <a:srgbClr val="9FB4C6"/>
                </a:solidFill>
                <a:latin typeface="Calibri"/>
                <a:ea typeface="Calibri"/>
                <a:cs typeface="Calibri"/>
                <a:sym typeface="Calibri"/>
              </a:rPr>
              <a:t>TP. Hồ Chí Minh, tháng 08/2026</a:t>
            </a:r>
            <a:endParaRPr b="0" i="1" sz="1400" u="none" cap="none" strike="noStrike">
              <a:solidFill>
                <a:srgbClr val="9FB4C6"/>
              </a:solidFill>
              <a:latin typeface="Calibri"/>
              <a:ea typeface="Calibri"/>
              <a:cs typeface="Calibri"/>
              <a:sym typeface="Calibri"/>
            </a:endParaRPr>
          </a:p>
        </p:txBody>
      </p:sp>
      <p:sp>
        <p:nvSpPr>
          <p:cNvPr id="91" name="Google Shape;91;p13"/>
          <p:cNvSpPr txBox="1"/>
          <p:nvPr/>
        </p:nvSpPr>
        <p:spPr>
          <a:xfrm>
            <a:off x="8549640" y="1783080"/>
            <a:ext cx="3200400" cy="2154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00C2A8"/>
                </a:solidFill>
                <a:latin typeface="Calibri"/>
                <a:ea typeface="Calibri"/>
                <a:cs typeface="Calibri"/>
                <a:sym typeface="Calibri"/>
              </a:rPr>
              <a:t>NHÓM THỰC HIỆN</a:t>
            </a:r>
            <a:endParaRPr/>
          </a:p>
        </p:txBody>
      </p:sp>
      <p:sp>
        <p:nvSpPr>
          <p:cNvPr id="92" name="Google Shape;92;p13"/>
          <p:cNvSpPr/>
          <p:nvPr/>
        </p:nvSpPr>
        <p:spPr>
          <a:xfrm>
            <a:off x="8549640" y="2103120"/>
            <a:ext cx="640080" cy="36576"/>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3" name="Google Shape;93;p13"/>
          <p:cNvSpPr txBox="1"/>
          <p:nvPr/>
        </p:nvSpPr>
        <p:spPr>
          <a:xfrm>
            <a:off x="8549640" y="2331720"/>
            <a:ext cx="3291840" cy="176817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400" u="none" cap="none" strike="noStrike">
                <a:solidFill>
                  <a:srgbClr val="FFFFFF"/>
                </a:solidFill>
                <a:latin typeface="Calibri"/>
                <a:ea typeface="Calibri"/>
                <a:cs typeface="Calibri"/>
                <a:sym typeface="Calibri"/>
              </a:rPr>
              <a:t>Nguyễn Chí Thanh</a:t>
            </a:r>
            <a:endParaRPr b="1" i="0" sz="1400" u="none" cap="none" strike="noStrike">
              <a:solidFill>
                <a:srgbClr val="FFFFFF"/>
              </a:solidFill>
              <a:latin typeface="Calibri"/>
              <a:ea typeface="Calibri"/>
              <a:cs typeface="Calibri"/>
              <a:sym typeface="Calibri"/>
            </a:endParaRPr>
          </a:p>
          <a:p>
            <a:pPr indent="0" lvl="0" marL="0" marR="0" rtl="0" algn="l">
              <a:lnSpc>
                <a:spcPct val="110000"/>
              </a:lnSpc>
              <a:spcBef>
                <a:spcPts val="100"/>
              </a:spcBef>
              <a:spcAft>
                <a:spcPts val="0"/>
              </a:spcAft>
              <a:buNone/>
            </a:pPr>
            <a:r>
              <a:rPr b="0" i="0" lang="en-US" sz="1400" u="none" cap="none" strike="noStrike">
                <a:solidFill>
                  <a:srgbClr val="9FB4C6"/>
                </a:solidFill>
                <a:latin typeface="Calibri"/>
                <a:ea typeface="Calibri"/>
                <a:cs typeface="Calibri"/>
                <a:sym typeface="Calibri"/>
              </a:rPr>
              <a:t>MSSV: 25210195</a:t>
            </a:r>
            <a:endParaRPr/>
          </a:p>
          <a:p>
            <a:pPr indent="0" lvl="0" marL="0" marR="0" rtl="0" algn="l">
              <a:lnSpc>
                <a:spcPct val="110000"/>
              </a:lnSpc>
              <a:spcBef>
                <a:spcPts val="1200"/>
              </a:spcBef>
              <a:spcAft>
                <a:spcPts val="0"/>
              </a:spcAft>
              <a:buNone/>
            </a:pPr>
            <a:r>
              <a:rPr b="1" i="0" lang="en-US" sz="1400" u="none" cap="none" strike="noStrike">
                <a:solidFill>
                  <a:srgbClr val="FFFFFF"/>
                </a:solidFill>
                <a:latin typeface="Calibri"/>
                <a:ea typeface="Calibri"/>
                <a:cs typeface="Calibri"/>
                <a:sym typeface="Calibri"/>
              </a:rPr>
              <a:t>Trần Xuân Trứ</a:t>
            </a:r>
            <a:endParaRPr b="1" i="0" sz="1400" u="none" cap="none" strike="noStrike">
              <a:solidFill>
                <a:srgbClr val="FFFFFF"/>
              </a:solidFill>
              <a:latin typeface="Calibri"/>
              <a:ea typeface="Calibri"/>
              <a:cs typeface="Calibri"/>
              <a:sym typeface="Calibri"/>
            </a:endParaRPr>
          </a:p>
          <a:p>
            <a:pPr indent="0" lvl="0" marL="0" marR="0" rtl="0" algn="l">
              <a:lnSpc>
                <a:spcPct val="110000"/>
              </a:lnSpc>
              <a:spcBef>
                <a:spcPts val="100"/>
              </a:spcBef>
              <a:spcAft>
                <a:spcPts val="0"/>
              </a:spcAft>
              <a:buNone/>
            </a:pPr>
            <a:r>
              <a:rPr b="0" i="0" lang="en-US" sz="1400" u="none" cap="none" strike="noStrike">
                <a:solidFill>
                  <a:srgbClr val="9FB4C6"/>
                </a:solidFill>
                <a:latin typeface="Calibri"/>
                <a:ea typeface="Calibri"/>
                <a:cs typeface="Calibri"/>
                <a:sym typeface="Calibri"/>
              </a:rPr>
              <a:t>MSSV: 25210227</a:t>
            </a:r>
            <a:endParaRPr/>
          </a:p>
          <a:p>
            <a:pPr indent="0" lvl="0" marL="0" marR="0" rtl="0" algn="l">
              <a:lnSpc>
                <a:spcPct val="110000"/>
              </a:lnSpc>
              <a:spcBef>
                <a:spcPts val="1200"/>
              </a:spcBef>
              <a:spcAft>
                <a:spcPts val="0"/>
              </a:spcAft>
              <a:buNone/>
            </a:pPr>
            <a:r>
              <a:rPr b="1" i="0" lang="en-US" sz="1400" u="none" cap="none" strike="noStrike">
                <a:solidFill>
                  <a:srgbClr val="FFFFFF"/>
                </a:solidFill>
                <a:latin typeface="Calibri"/>
                <a:ea typeface="Calibri"/>
                <a:cs typeface="Calibri"/>
                <a:sym typeface="Calibri"/>
              </a:rPr>
              <a:t>Tăng Thuận Phát</a:t>
            </a:r>
            <a:endParaRPr b="1" i="0" sz="1400" u="none" cap="none" strike="noStrike">
              <a:solidFill>
                <a:srgbClr val="FFFFFF"/>
              </a:solidFill>
              <a:latin typeface="Calibri"/>
              <a:ea typeface="Calibri"/>
              <a:cs typeface="Calibri"/>
              <a:sym typeface="Calibri"/>
            </a:endParaRPr>
          </a:p>
          <a:p>
            <a:pPr indent="0" lvl="0" marL="0" marR="0" rtl="0" algn="l">
              <a:lnSpc>
                <a:spcPct val="110000"/>
              </a:lnSpc>
              <a:spcBef>
                <a:spcPts val="100"/>
              </a:spcBef>
              <a:spcAft>
                <a:spcPts val="0"/>
              </a:spcAft>
              <a:buNone/>
            </a:pPr>
            <a:r>
              <a:rPr b="0" i="0" lang="en-US" sz="1400" u="none" cap="none" strike="noStrike">
                <a:solidFill>
                  <a:srgbClr val="9FB4C6"/>
                </a:solidFill>
                <a:latin typeface="Calibri"/>
                <a:ea typeface="Calibri"/>
                <a:cs typeface="Calibri"/>
                <a:sym typeface="Calibri"/>
              </a:rPr>
              <a:t>MSSV: 25210163</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4"/>
          <p:cNvSpPr txBox="1"/>
          <p:nvPr/>
        </p:nvSpPr>
        <p:spPr>
          <a:xfrm>
            <a:off x="658368" y="384048"/>
            <a:ext cx="10874959"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050" u="none" cap="none" strike="noStrike">
                <a:solidFill>
                  <a:srgbClr val="0096D6"/>
                </a:solidFill>
                <a:latin typeface="Calibri"/>
                <a:ea typeface="Calibri"/>
                <a:cs typeface="Calibri"/>
                <a:sym typeface="Calibri"/>
              </a:rPr>
              <a:t>AGENDA</a:t>
            </a:r>
            <a:endParaRPr/>
          </a:p>
        </p:txBody>
      </p:sp>
      <p:sp>
        <p:nvSpPr>
          <p:cNvPr id="99" name="Google Shape;99;p14"/>
          <p:cNvSpPr txBox="1"/>
          <p:nvPr/>
        </p:nvSpPr>
        <p:spPr>
          <a:xfrm>
            <a:off x="658368" y="640080"/>
            <a:ext cx="10874959" cy="60350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US" sz="2500" u="none" cap="none" strike="noStrike">
                <a:solidFill>
                  <a:srgbClr val="0A2540"/>
                </a:solidFill>
                <a:latin typeface="Calibri"/>
                <a:ea typeface="Calibri"/>
                <a:cs typeface="Calibri"/>
                <a:sym typeface="Calibri"/>
              </a:rPr>
              <a:t>NỘI DUNG TRÌNH BÀY</a:t>
            </a:r>
            <a:endParaRPr/>
          </a:p>
        </p:txBody>
      </p:sp>
      <p:sp>
        <p:nvSpPr>
          <p:cNvPr id="100" name="Google Shape;100;p14"/>
          <p:cNvSpPr/>
          <p:nvPr/>
        </p:nvSpPr>
        <p:spPr>
          <a:xfrm>
            <a:off x="658368" y="1280160"/>
            <a:ext cx="566928" cy="41148"/>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1" name="Google Shape;101;p14"/>
          <p:cNvSpPr/>
          <p:nvPr/>
        </p:nvSpPr>
        <p:spPr>
          <a:xfrm>
            <a:off x="1298448" y="1280160"/>
            <a:ext cx="10234879" cy="41148"/>
          </a:xfrm>
          <a:prstGeom prst="rect">
            <a:avLst/>
          </a:prstGeom>
          <a:solidFill>
            <a:srgbClr val="DFE4E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2" name="Google Shape;102;p14"/>
          <p:cNvSpPr txBox="1"/>
          <p:nvPr/>
        </p:nvSpPr>
        <p:spPr>
          <a:xfrm>
            <a:off x="658368" y="1371600"/>
            <a:ext cx="10874959"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1" lang="en-US" sz="1100" u="none" cap="none" strike="noStrike">
                <a:solidFill>
                  <a:srgbClr val="6B7784"/>
                </a:solidFill>
                <a:latin typeface="Calibri"/>
                <a:ea typeface="Calibri"/>
                <a:cs typeface="Calibri"/>
                <a:sym typeface="Calibri"/>
              </a:rPr>
              <a:t>Năm phần tương ứng với Chương 1 – 2 – 3 – 4 – 5 của đồ án</a:t>
            </a:r>
            <a:endParaRPr/>
          </a:p>
        </p:txBody>
      </p:sp>
      <p:sp>
        <p:nvSpPr>
          <p:cNvPr id="103" name="Google Shape;103;p14"/>
          <p:cNvSpPr txBox="1"/>
          <p:nvPr/>
        </p:nvSpPr>
        <p:spPr>
          <a:xfrm>
            <a:off x="658368" y="6355080"/>
            <a:ext cx="10326319"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850" u="none" cap="none" strike="noStrike">
                <a:solidFill>
                  <a:srgbClr val="6B7784"/>
                </a:solidFill>
                <a:latin typeface="Calibri"/>
                <a:ea typeface="Calibri"/>
                <a:cs typeface="Calibri"/>
                <a:sym typeface="Calibri"/>
              </a:rPr>
              <a:t>SOLVENTUM VIỆT NAM  ·  HỆ THỐNG QUẢN TRỊ QUY TRÌNH NGHIỆP VỤ</a:t>
            </a:r>
            <a:endParaRPr/>
          </a:p>
        </p:txBody>
      </p:sp>
      <p:sp>
        <p:nvSpPr>
          <p:cNvPr id="104" name="Google Shape;104;p14"/>
          <p:cNvSpPr txBox="1"/>
          <p:nvPr/>
        </p:nvSpPr>
        <p:spPr>
          <a:xfrm>
            <a:off x="10984687" y="6355080"/>
            <a:ext cx="548640" cy="2286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1" i="0" lang="en-US" sz="950" u="none" cap="none" strike="noStrike">
                <a:solidFill>
                  <a:srgbClr val="0096D6"/>
                </a:solidFill>
                <a:latin typeface="Calibri"/>
                <a:ea typeface="Calibri"/>
                <a:cs typeface="Calibri"/>
                <a:sym typeface="Calibri"/>
              </a:rPr>
              <a:t>2</a:t>
            </a:r>
            <a:endParaRPr/>
          </a:p>
        </p:txBody>
      </p:sp>
      <p:sp>
        <p:nvSpPr>
          <p:cNvPr id="105" name="Google Shape;105;p14"/>
          <p:cNvSpPr/>
          <p:nvPr/>
        </p:nvSpPr>
        <p:spPr>
          <a:xfrm>
            <a:off x="658368" y="1737360"/>
            <a:ext cx="10874959" cy="786384"/>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6" name="Google Shape;106;p14"/>
          <p:cNvSpPr/>
          <p:nvPr/>
        </p:nvSpPr>
        <p:spPr>
          <a:xfrm>
            <a:off x="658368" y="1737360"/>
            <a:ext cx="50292" cy="786384"/>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7" name="Google Shape;107;p14"/>
          <p:cNvSpPr txBox="1"/>
          <p:nvPr/>
        </p:nvSpPr>
        <p:spPr>
          <a:xfrm>
            <a:off x="914400" y="1920240"/>
            <a:ext cx="77724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500" u="none" cap="none" strike="noStrike">
                <a:solidFill>
                  <a:srgbClr val="0096D6"/>
                </a:solidFill>
                <a:latin typeface="Calibri"/>
                <a:ea typeface="Calibri"/>
                <a:cs typeface="Calibri"/>
                <a:sym typeface="Calibri"/>
              </a:rPr>
              <a:t>01</a:t>
            </a:r>
            <a:endParaRPr/>
          </a:p>
        </p:txBody>
      </p:sp>
      <p:sp>
        <p:nvSpPr>
          <p:cNvPr id="108" name="Google Shape;108;p14"/>
          <p:cNvSpPr txBox="1"/>
          <p:nvPr/>
        </p:nvSpPr>
        <p:spPr>
          <a:xfrm>
            <a:off x="1755648" y="1874520"/>
            <a:ext cx="603504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600" u="none" cap="none" strike="noStrike">
                <a:solidFill>
                  <a:srgbClr val="0A2540"/>
                </a:solidFill>
                <a:latin typeface="Calibri"/>
                <a:ea typeface="Calibri"/>
                <a:cs typeface="Calibri"/>
                <a:sym typeface="Calibri"/>
              </a:rPr>
              <a:t>GIỚI THIỆU DOANH NGHIỆP</a:t>
            </a:r>
            <a:endParaRPr/>
          </a:p>
        </p:txBody>
      </p:sp>
      <p:sp>
        <p:nvSpPr>
          <p:cNvPr id="109" name="Google Shape;109;p14"/>
          <p:cNvSpPr txBox="1"/>
          <p:nvPr/>
        </p:nvSpPr>
        <p:spPr>
          <a:xfrm>
            <a:off x="1755648" y="2194560"/>
            <a:ext cx="7315200" cy="32004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0" i="0" lang="en-US" sz="1400" u="none" cap="none" strike="noStrike">
                <a:solidFill>
                  <a:srgbClr val="6B7784"/>
                </a:solidFill>
                <a:latin typeface="Calibri"/>
                <a:ea typeface="Calibri"/>
                <a:cs typeface="Calibri"/>
                <a:sym typeface="Calibri"/>
              </a:rPr>
              <a:t>Tổng quan Solventum Việt Nam, sản phẩm – dịch vụ, cơ cấu tổ chức và phạm vi nghiên cứu.</a:t>
            </a:r>
            <a:endParaRPr/>
          </a:p>
        </p:txBody>
      </p:sp>
      <p:sp>
        <p:nvSpPr>
          <p:cNvPr id="110" name="Google Shape;110;p14"/>
          <p:cNvSpPr txBox="1"/>
          <p:nvPr/>
        </p:nvSpPr>
        <p:spPr>
          <a:xfrm>
            <a:off x="9601200" y="2011680"/>
            <a:ext cx="1920240" cy="27432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1" i="1" lang="en-US" sz="1400" u="none" cap="none" strike="noStrike">
                <a:solidFill>
                  <a:srgbClr val="0096D6"/>
                </a:solidFill>
                <a:latin typeface="Calibri"/>
                <a:ea typeface="Calibri"/>
                <a:cs typeface="Calibri"/>
                <a:sym typeface="Calibri"/>
              </a:rPr>
              <a:t>Chương 1</a:t>
            </a:r>
            <a:endParaRPr/>
          </a:p>
        </p:txBody>
      </p:sp>
      <p:sp>
        <p:nvSpPr>
          <p:cNvPr id="111" name="Google Shape;111;p14"/>
          <p:cNvSpPr/>
          <p:nvPr/>
        </p:nvSpPr>
        <p:spPr>
          <a:xfrm>
            <a:off x="658368" y="2660904"/>
            <a:ext cx="10874959" cy="786384"/>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2" name="Google Shape;112;p14"/>
          <p:cNvSpPr/>
          <p:nvPr/>
        </p:nvSpPr>
        <p:spPr>
          <a:xfrm>
            <a:off x="658368" y="2660904"/>
            <a:ext cx="50292" cy="786384"/>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3" name="Google Shape;113;p14"/>
          <p:cNvSpPr txBox="1"/>
          <p:nvPr/>
        </p:nvSpPr>
        <p:spPr>
          <a:xfrm>
            <a:off x="914400" y="2843784"/>
            <a:ext cx="77724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500" u="none" cap="none" strike="noStrike">
                <a:solidFill>
                  <a:srgbClr val="0096D6"/>
                </a:solidFill>
                <a:latin typeface="Calibri"/>
                <a:ea typeface="Calibri"/>
                <a:cs typeface="Calibri"/>
                <a:sym typeface="Calibri"/>
              </a:rPr>
              <a:t>02</a:t>
            </a:r>
            <a:endParaRPr/>
          </a:p>
        </p:txBody>
      </p:sp>
      <p:sp>
        <p:nvSpPr>
          <p:cNvPr id="114" name="Google Shape;114;p14"/>
          <p:cNvSpPr txBox="1"/>
          <p:nvPr/>
        </p:nvSpPr>
        <p:spPr>
          <a:xfrm>
            <a:off x="1755648" y="2798064"/>
            <a:ext cx="603504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600" u="none" cap="none" strike="noStrike">
                <a:solidFill>
                  <a:srgbClr val="0A2540"/>
                </a:solidFill>
                <a:latin typeface="Calibri"/>
                <a:ea typeface="Calibri"/>
                <a:cs typeface="Calibri"/>
                <a:sym typeface="Calibri"/>
              </a:rPr>
              <a:t>KHẢO SÁT HỆ THỐNG QUY TRÌNH</a:t>
            </a:r>
            <a:endParaRPr/>
          </a:p>
        </p:txBody>
      </p:sp>
      <p:sp>
        <p:nvSpPr>
          <p:cNvPr id="115" name="Google Shape;115;p14"/>
          <p:cNvSpPr txBox="1"/>
          <p:nvPr/>
        </p:nvSpPr>
        <p:spPr>
          <a:xfrm>
            <a:off x="1755648" y="3118104"/>
            <a:ext cx="7315200" cy="32004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0" i="0" lang="en-US" sz="1400" u="none" cap="none" strike="noStrike">
                <a:solidFill>
                  <a:srgbClr val="6B7784"/>
                </a:solidFill>
                <a:latin typeface="Calibri"/>
                <a:ea typeface="Calibri"/>
                <a:cs typeface="Calibri"/>
                <a:sym typeface="Calibri"/>
              </a:rPr>
              <a:t>Kiến trúc quy trình nghiệp vụ (Process Landscape) và danh mục 10 quy trình tiêu biểu.</a:t>
            </a:r>
            <a:endParaRPr/>
          </a:p>
        </p:txBody>
      </p:sp>
      <p:sp>
        <p:nvSpPr>
          <p:cNvPr id="116" name="Google Shape;116;p14"/>
          <p:cNvSpPr txBox="1"/>
          <p:nvPr/>
        </p:nvSpPr>
        <p:spPr>
          <a:xfrm>
            <a:off x="9601200" y="2935224"/>
            <a:ext cx="1920240" cy="27432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1" i="1" lang="en-US" sz="1400" u="none" cap="none" strike="noStrike">
                <a:solidFill>
                  <a:srgbClr val="0096D6"/>
                </a:solidFill>
                <a:latin typeface="Calibri"/>
                <a:ea typeface="Calibri"/>
                <a:cs typeface="Calibri"/>
                <a:sym typeface="Calibri"/>
              </a:rPr>
              <a:t>Chương 2</a:t>
            </a:r>
            <a:endParaRPr/>
          </a:p>
        </p:txBody>
      </p:sp>
      <p:sp>
        <p:nvSpPr>
          <p:cNvPr id="117" name="Google Shape;117;p14"/>
          <p:cNvSpPr/>
          <p:nvPr/>
        </p:nvSpPr>
        <p:spPr>
          <a:xfrm>
            <a:off x="658368" y="3584448"/>
            <a:ext cx="10874959" cy="786384"/>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8" name="Google Shape;118;p14"/>
          <p:cNvSpPr/>
          <p:nvPr/>
        </p:nvSpPr>
        <p:spPr>
          <a:xfrm>
            <a:off x="658368" y="3584448"/>
            <a:ext cx="50292" cy="786384"/>
          </a:xfrm>
          <a:prstGeom prst="rect">
            <a:avLst/>
          </a:prstGeom>
          <a:solidFill>
            <a:srgbClr val="00C2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9" name="Google Shape;119;p14"/>
          <p:cNvSpPr txBox="1"/>
          <p:nvPr/>
        </p:nvSpPr>
        <p:spPr>
          <a:xfrm>
            <a:off x="914400" y="3767328"/>
            <a:ext cx="77724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500" u="none" cap="none" strike="noStrike">
                <a:solidFill>
                  <a:srgbClr val="00C2A8"/>
                </a:solidFill>
                <a:latin typeface="Calibri"/>
                <a:ea typeface="Calibri"/>
                <a:cs typeface="Calibri"/>
                <a:sym typeface="Calibri"/>
              </a:rPr>
              <a:t>03</a:t>
            </a:r>
            <a:endParaRPr/>
          </a:p>
        </p:txBody>
      </p:sp>
      <p:sp>
        <p:nvSpPr>
          <p:cNvPr id="120" name="Google Shape;120;p14"/>
          <p:cNvSpPr txBox="1"/>
          <p:nvPr/>
        </p:nvSpPr>
        <p:spPr>
          <a:xfrm>
            <a:off x="1755648" y="3721608"/>
            <a:ext cx="603504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600" u="none" cap="none" strike="noStrike">
                <a:solidFill>
                  <a:srgbClr val="0A2540"/>
                </a:solidFill>
                <a:latin typeface="Calibri"/>
                <a:ea typeface="Calibri"/>
                <a:cs typeface="Calibri"/>
                <a:sym typeface="Calibri"/>
              </a:rPr>
              <a:t>MÔ HÌNH HÓA &amp; LỰA CHỌN</a:t>
            </a:r>
            <a:endParaRPr/>
          </a:p>
        </p:txBody>
      </p:sp>
      <p:sp>
        <p:nvSpPr>
          <p:cNvPr id="121" name="Google Shape;121;p14"/>
          <p:cNvSpPr txBox="1"/>
          <p:nvPr/>
        </p:nvSpPr>
        <p:spPr>
          <a:xfrm>
            <a:off x="1755648" y="4041648"/>
            <a:ext cx="7315200" cy="32004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0" i="0" lang="en-US" sz="1400" u="none" cap="none" strike="noStrike">
                <a:solidFill>
                  <a:srgbClr val="6B7784"/>
                </a:solidFill>
                <a:latin typeface="Calibri"/>
                <a:ea typeface="Calibri"/>
                <a:cs typeface="Calibri"/>
                <a:sym typeface="Calibri"/>
              </a:rPr>
              <a:t>Mô hình BPMN As-Is cho 06 quy trình, phương pháp Process Discovery và sàng lọc theo 05 tiêu chí.</a:t>
            </a:r>
            <a:endParaRPr/>
          </a:p>
        </p:txBody>
      </p:sp>
      <p:sp>
        <p:nvSpPr>
          <p:cNvPr id="122" name="Google Shape;122;p14"/>
          <p:cNvSpPr txBox="1"/>
          <p:nvPr/>
        </p:nvSpPr>
        <p:spPr>
          <a:xfrm>
            <a:off x="9601200" y="3858768"/>
            <a:ext cx="1920240" cy="27432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1" i="1" lang="en-US" sz="1400" u="none" cap="none" strike="noStrike">
                <a:solidFill>
                  <a:srgbClr val="00C2A8"/>
                </a:solidFill>
                <a:latin typeface="Calibri"/>
                <a:ea typeface="Calibri"/>
                <a:cs typeface="Calibri"/>
                <a:sym typeface="Calibri"/>
              </a:rPr>
              <a:t>Chương 3</a:t>
            </a:r>
            <a:endParaRPr/>
          </a:p>
        </p:txBody>
      </p:sp>
      <p:sp>
        <p:nvSpPr>
          <p:cNvPr id="123" name="Google Shape;123;p14"/>
          <p:cNvSpPr/>
          <p:nvPr/>
        </p:nvSpPr>
        <p:spPr>
          <a:xfrm>
            <a:off x="658368" y="4507992"/>
            <a:ext cx="10874959" cy="786384"/>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4" name="Google Shape;124;p14"/>
          <p:cNvSpPr/>
          <p:nvPr/>
        </p:nvSpPr>
        <p:spPr>
          <a:xfrm>
            <a:off x="658368" y="4507992"/>
            <a:ext cx="50292" cy="786384"/>
          </a:xfrm>
          <a:prstGeom prst="rect">
            <a:avLst/>
          </a:prstGeom>
          <a:solidFill>
            <a:srgbClr val="C87F0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5" name="Google Shape;125;p14"/>
          <p:cNvSpPr txBox="1"/>
          <p:nvPr/>
        </p:nvSpPr>
        <p:spPr>
          <a:xfrm>
            <a:off x="914400" y="4690872"/>
            <a:ext cx="77724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500" u="none" cap="none" strike="noStrike">
                <a:solidFill>
                  <a:srgbClr val="C87F0A"/>
                </a:solidFill>
                <a:latin typeface="Calibri"/>
                <a:ea typeface="Calibri"/>
                <a:cs typeface="Calibri"/>
                <a:sym typeface="Calibri"/>
              </a:rPr>
              <a:t>04</a:t>
            </a:r>
            <a:endParaRPr/>
          </a:p>
        </p:txBody>
      </p:sp>
      <p:sp>
        <p:nvSpPr>
          <p:cNvPr id="126" name="Google Shape;126;p14"/>
          <p:cNvSpPr txBox="1"/>
          <p:nvPr/>
        </p:nvSpPr>
        <p:spPr>
          <a:xfrm>
            <a:off x="1755648" y="4645152"/>
            <a:ext cx="603504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600" u="none" cap="none" strike="noStrike">
                <a:solidFill>
                  <a:srgbClr val="0A2540"/>
                </a:solidFill>
                <a:latin typeface="Calibri"/>
                <a:ea typeface="Calibri"/>
                <a:cs typeface="Calibri"/>
                <a:sym typeface="Calibri"/>
              </a:rPr>
              <a:t>PHÂN TÍCH CHUYÊN SÂU</a:t>
            </a:r>
            <a:endParaRPr/>
          </a:p>
        </p:txBody>
      </p:sp>
      <p:sp>
        <p:nvSpPr>
          <p:cNvPr id="127" name="Google Shape;127;p14"/>
          <p:cNvSpPr txBox="1"/>
          <p:nvPr/>
        </p:nvSpPr>
        <p:spPr>
          <a:xfrm>
            <a:off x="1755648" y="4965192"/>
            <a:ext cx="7315200" cy="32004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0" i="0" lang="en-US" sz="1400" u="none" cap="none" strike="noStrike">
                <a:solidFill>
                  <a:srgbClr val="6B7784"/>
                </a:solidFill>
                <a:latin typeface="Calibri"/>
                <a:ea typeface="Calibri"/>
                <a:cs typeface="Calibri"/>
                <a:sym typeface="Calibri"/>
              </a:rPr>
              <a:t>Phân tích định tính và định lượng 02 quy trình trọng tâm, tổng hợp vấn đề và đề xuất cải tiến.</a:t>
            </a:r>
            <a:endParaRPr/>
          </a:p>
        </p:txBody>
      </p:sp>
      <p:sp>
        <p:nvSpPr>
          <p:cNvPr id="128" name="Google Shape;128;p14"/>
          <p:cNvSpPr txBox="1"/>
          <p:nvPr/>
        </p:nvSpPr>
        <p:spPr>
          <a:xfrm>
            <a:off x="9601200" y="4782312"/>
            <a:ext cx="1920240" cy="27432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1" i="1" lang="en-US" sz="1400" u="none" cap="none" strike="noStrike">
                <a:solidFill>
                  <a:srgbClr val="C87F0A"/>
                </a:solidFill>
                <a:latin typeface="Calibri"/>
                <a:ea typeface="Calibri"/>
                <a:cs typeface="Calibri"/>
                <a:sym typeface="Calibri"/>
              </a:rPr>
              <a:t>Chương 4</a:t>
            </a:r>
            <a:endParaRPr/>
          </a:p>
        </p:txBody>
      </p:sp>
      <p:sp>
        <p:nvSpPr>
          <p:cNvPr id="129" name="Google Shape;129;p14"/>
          <p:cNvSpPr/>
          <p:nvPr/>
        </p:nvSpPr>
        <p:spPr>
          <a:xfrm>
            <a:off x="658368" y="5431536"/>
            <a:ext cx="10874959" cy="786384"/>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0" name="Google Shape;130;p14"/>
          <p:cNvSpPr/>
          <p:nvPr/>
        </p:nvSpPr>
        <p:spPr>
          <a:xfrm>
            <a:off x="658368" y="5431536"/>
            <a:ext cx="50292" cy="786384"/>
          </a:xfrm>
          <a:prstGeom prst="rect">
            <a:avLst/>
          </a:prstGeom>
          <a:solidFill>
            <a:srgbClr val="C0392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1" name="Google Shape;131;p14"/>
          <p:cNvSpPr txBox="1"/>
          <p:nvPr/>
        </p:nvSpPr>
        <p:spPr>
          <a:xfrm>
            <a:off x="914400" y="5614416"/>
            <a:ext cx="77724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500" u="none" cap="none" strike="noStrike">
                <a:solidFill>
                  <a:srgbClr val="C0392B"/>
                </a:solidFill>
                <a:latin typeface="Calibri"/>
                <a:ea typeface="Calibri"/>
                <a:cs typeface="Calibri"/>
                <a:sym typeface="Calibri"/>
              </a:rPr>
              <a:t>05</a:t>
            </a:r>
            <a:endParaRPr/>
          </a:p>
        </p:txBody>
      </p:sp>
      <p:sp>
        <p:nvSpPr>
          <p:cNvPr id="132" name="Google Shape;132;p14"/>
          <p:cNvSpPr txBox="1"/>
          <p:nvPr/>
        </p:nvSpPr>
        <p:spPr>
          <a:xfrm>
            <a:off x="1755648" y="5568696"/>
            <a:ext cx="603504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600" u="none" cap="none" strike="noStrike">
                <a:solidFill>
                  <a:srgbClr val="0A2540"/>
                </a:solidFill>
                <a:latin typeface="Calibri"/>
                <a:ea typeface="Calibri"/>
                <a:cs typeface="Calibri"/>
                <a:sym typeface="Calibri"/>
              </a:rPr>
              <a:t>KẾT LUẬN &amp; HƯỚNG PHÁT TRIỂN</a:t>
            </a:r>
            <a:endParaRPr/>
          </a:p>
        </p:txBody>
      </p:sp>
      <p:sp>
        <p:nvSpPr>
          <p:cNvPr id="133" name="Google Shape;133;p14"/>
          <p:cNvSpPr txBox="1"/>
          <p:nvPr/>
        </p:nvSpPr>
        <p:spPr>
          <a:xfrm>
            <a:off x="1755648" y="5888736"/>
            <a:ext cx="7315200" cy="32004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0" i="0" lang="en-US" sz="1400" u="none" cap="none" strike="noStrike">
                <a:solidFill>
                  <a:srgbClr val="6B7784"/>
                </a:solidFill>
                <a:latin typeface="Calibri"/>
                <a:ea typeface="Calibri"/>
                <a:cs typeface="Calibri"/>
                <a:sym typeface="Calibri"/>
              </a:rPr>
              <a:t>Kết quả đạt được, ba hạn chế của đề tài và bốn hướng phát triển tiếp theo.</a:t>
            </a:r>
            <a:endParaRPr/>
          </a:p>
        </p:txBody>
      </p:sp>
      <p:sp>
        <p:nvSpPr>
          <p:cNvPr id="134" name="Google Shape;134;p14"/>
          <p:cNvSpPr txBox="1"/>
          <p:nvPr/>
        </p:nvSpPr>
        <p:spPr>
          <a:xfrm>
            <a:off x="9601200" y="5705856"/>
            <a:ext cx="1920240" cy="27432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1" i="1" lang="en-US" sz="1400" u="none" cap="none" strike="noStrike">
                <a:solidFill>
                  <a:srgbClr val="C0392B"/>
                </a:solidFill>
                <a:latin typeface="Calibri"/>
                <a:ea typeface="Calibri"/>
                <a:cs typeface="Calibri"/>
                <a:sym typeface="Calibri"/>
              </a:rPr>
              <a:t>Chương 5</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2540"/>
        </a:solidFill>
      </p:bgPr>
    </p:bg>
    <p:spTree>
      <p:nvGrpSpPr>
        <p:cNvPr id="138" name="Shape 138"/>
        <p:cNvGrpSpPr/>
        <p:nvPr/>
      </p:nvGrpSpPr>
      <p:grpSpPr>
        <a:xfrm>
          <a:off x="0" y="0"/>
          <a:ext cx="0" cy="0"/>
          <a:chOff x="0" y="0"/>
          <a:chExt cx="0" cy="0"/>
        </a:xfrm>
      </p:grpSpPr>
      <p:sp>
        <p:nvSpPr>
          <p:cNvPr id="139" name="Google Shape;139;p15"/>
          <p:cNvSpPr/>
          <p:nvPr/>
        </p:nvSpPr>
        <p:spPr>
          <a:xfrm>
            <a:off x="0" y="0"/>
            <a:ext cx="182880" cy="6858000"/>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40" name="Google Shape;140;p15"/>
          <p:cNvSpPr/>
          <p:nvPr/>
        </p:nvSpPr>
        <p:spPr>
          <a:xfrm>
            <a:off x="7863840" y="0"/>
            <a:ext cx="4325112" cy="6858000"/>
          </a:xfrm>
          <a:prstGeom prst="rect">
            <a:avLst/>
          </a:prstGeom>
          <a:solidFill>
            <a:srgbClr val="143A5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41" name="Google Shape;141;p15"/>
          <p:cNvSpPr txBox="1"/>
          <p:nvPr/>
        </p:nvSpPr>
        <p:spPr>
          <a:xfrm>
            <a:off x="8229600" y="1874519"/>
            <a:ext cx="3657600" cy="2078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None/>
            </a:pPr>
            <a:r>
              <a:rPr b="1" i="0" lang="en-US" sz="15000" u="none" cap="none" strike="noStrike">
                <a:solidFill>
                  <a:srgbClr val="E7F7F3"/>
                </a:solidFill>
                <a:latin typeface="Calibri"/>
                <a:ea typeface="Calibri"/>
                <a:cs typeface="Calibri"/>
                <a:sym typeface="Calibri"/>
              </a:rPr>
              <a:t>01</a:t>
            </a:r>
            <a:endParaRPr>
              <a:solidFill>
                <a:srgbClr val="E7F7F3"/>
              </a:solidFill>
            </a:endParaRPr>
          </a:p>
        </p:txBody>
      </p:sp>
      <p:sp>
        <p:nvSpPr>
          <p:cNvPr id="142" name="Google Shape;142;p15"/>
          <p:cNvSpPr txBox="1"/>
          <p:nvPr/>
        </p:nvSpPr>
        <p:spPr>
          <a:xfrm>
            <a:off x="1051560" y="2331720"/>
            <a:ext cx="6583680" cy="2154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00C2A8"/>
                </a:solidFill>
                <a:latin typeface="Calibri"/>
                <a:ea typeface="Calibri"/>
                <a:cs typeface="Calibri"/>
                <a:sym typeface="Calibri"/>
              </a:rPr>
              <a:t>PHẦN 1 · COMPANY OVERVIEW</a:t>
            </a:r>
            <a:endParaRPr/>
          </a:p>
        </p:txBody>
      </p:sp>
      <p:sp>
        <p:nvSpPr>
          <p:cNvPr id="143" name="Google Shape;143;p15"/>
          <p:cNvSpPr txBox="1"/>
          <p:nvPr/>
        </p:nvSpPr>
        <p:spPr>
          <a:xfrm>
            <a:off x="1051560" y="2724912"/>
            <a:ext cx="6583680" cy="1005840"/>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None/>
            </a:pPr>
            <a:r>
              <a:rPr b="1" i="0" lang="en-US" sz="3200" u="none" cap="none" strike="noStrike">
                <a:solidFill>
                  <a:srgbClr val="FFFFFF"/>
                </a:solidFill>
                <a:latin typeface="Calibri"/>
                <a:ea typeface="Calibri"/>
                <a:cs typeface="Calibri"/>
                <a:sym typeface="Calibri"/>
              </a:rPr>
              <a:t>Giới thiệu Solventum Việt Nam</a:t>
            </a:r>
            <a:endParaRPr/>
          </a:p>
        </p:txBody>
      </p:sp>
      <p:sp>
        <p:nvSpPr>
          <p:cNvPr id="144" name="Google Shape;144;p15"/>
          <p:cNvSpPr/>
          <p:nvPr/>
        </p:nvSpPr>
        <p:spPr>
          <a:xfrm>
            <a:off x="1051560" y="3858768"/>
            <a:ext cx="1005840" cy="45720"/>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45" name="Google Shape;145;p15"/>
          <p:cNvSpPr txBox="1"/>
          <p:nvPr/>
        </p:nvSpPr>
        <p:spPr>
          <a:xfrm>
            <a:off x="1051560" y="4096512"/>
            <a:ext cx="6492240" cy="560153"/>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1400" u="none" cap="none" strike="noStrike">
                <a:solidFill>
                  <a:srgbClr val="B6C9D8"/>
                </a:solidFill>
                <a:latin typeface="Calibri"/>
                <a:ea typeface="Calibri"/>
                <a:cs typeface="Calibri"/>
                <a:sym typeface="Calibri"/>
              </a:rPr>
              <a:t>Quá trình hình thành  ·  Sản phẩm và dịch vụ  ·  Cơ cấu tổ chức  ·  Mục tiêu và phạm vi nghiên cứu</a:t>
            </a:r>
            <a:endParaRPr b="0" i="0" sz="1400" u="none" cap="none" strike="noStrike">
              <a:solidFill>
                <a:srgbClr val="B6C9D8"/>
              </a:solidFill>
              <a:latin typeface="Calibri"/>
              <a:ea typeface="Calibri"/>
              <a:cs typeface="Calibri"/>
              <a:sym typeface="Calibri"/>
            </a:endParaRPr>
          </a:p>
        </p:txBody>
      </p:sp>
      <p:sp>
        <p:nvSpPr>
          <p:cNvPr id="146" name="Google Shape;146;p15"/>
          <p:cNvSpPr txBox="1"/>
          <p:nvPr/>
        </p:nvSpPr>
        <p:spPr>
          <a:xfrm>
            <a:off x="658368" y="6355080"/>
            <a:ext cx="10326319"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850" u="none" cap="none" strike="noStrike">
                <a:solidFill>
                  <a:srgbClr val="8FA6BC"/>
                </a:solidFill>
                <a:latin typeface="Calibri"/>
                <a:ea typeface="Calibri"/>
                <a:cs typeface="Calibri"/>
                <a:sym typeface="Calibri"/>
              </a:rPr>
              <a:t>SOLVENTUM VIỆT NAM  ·  HỆ THỐNG QUẢN TRỊ QUY TRÌNH NGHIỆP VỤ</a:t>
            </a:r>
            <a:endParaRPr/>
          </a:p>
        </p:txBody>
      </p:sp>
      <p:sp>
        <p:nvSpPr>
          <p:cNvPr id="147" name="Google Shape;147;p15"/>
          <p:cNvSpPr txBox="1"/>
          <p:nvPr/>
        </p:nvSpPr>
        <p:spPr>
          <a:xfrm>
            <a:off x="10984687" y="6355080"/>
            <a:ext cx="548640" cy="2286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1" i="0" lang="en-US" sz="950" u="none" cap="none" strike="noStrike">
                <a:solidFill>
                  <a:srgbClr val="00C2A8"/>
                </a:solidFill>
                <a:latin typeface="Calibri"/>
                <a:ea typeface="Calibri"/>
                <a:cs typeface="Calibri"/>
                <a:sym typeface="Calibri"/>
              </a:rPr>
              <a:t>3</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6"/>
          <p:cNvSpPr txBox="1"/>
          <p:nvPr/>
        </p:nvSpPr>
        <p:spPr>
          <a:xfrm>
            <a:off x="658368" y="384048"/>
            <a:ext cx="108749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50" u="none" cap="none" strike="noStrike">
                <a:solidFill>
                  <a:srgbClr val="0096D6"/>
                </a:solidFill>
                <a:latin typeface="Calibri"/>
                <a:ea typeface="Calibri"/>
                <a:cs typeface="Calibri"/>
                <a:sym typeface="Calibri"/>
              </a:rPr>
              <a:t>CHƯƠNG 1 · 1.1 TỔNG QUAN</a:t>
            </a:r>
            <a:endParaRPr/>
          </a:p>
        </p:txBody>
      </p:sp>
      <p:sp>
        <p:nvSpPr>
          <p:cNvPr id="153" name="Google Shape;153;p16"/>
          <p:cNvSpPr txBox="1"/>
          <p:nvPr/>
        </p:nvSpPr>
        <p:spPr>
          <a:xfrm>
            <a:off x="658368" y="640080"/>
            <a:ext cx="10874959" cy="403957"/>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2500" u="none" cap="none" strike="noStrike">
                <a:solidFill>
                  <a:srgbClr val="0A2540"/>
                </a:solidFill>
                <a:latin typeface="Calibri"/>
                <a:ea typeface="Calibri"/>
                <a:cs typeface="Calibri"/>
                <a:sym typeface="Calibri"/>
              </a:rPr>
              <a:t>SOLVENTUM VIỆT NAM</a:t>
            </a:r>
            <a:endParaRPr b="1" i="0" sz="2500" u="none" cap="none" strike="noStrike">
              <a:solidFill>
                <a:srgbClr val="0A2540"/>
              </a:solidFill>
              <a:latin typeface="Calibri"/>
              <a:ea typeface="Calibri"/>
              <a:cs typeface="Calibri"/>
              <a:sym typeface="Calibri"/>
            </a:endParaRPr>
          </a:p>
        </p:txBody>
      </p:sp>
      <p:sp>
        <p:nvSpPr>
          <p:cNvPr id="154" name="Google Shape;154;p16"/>
          <p:cNvSpPr/>
          <p:nvPr/>
        </p:nvSpPr>
        <p:spPr>
          <a:xfrm>
            <a:off x="658368" y="1280160"/>
            <a:ext cx="566928" cy="41148"/>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55" name="Google Shape;155;p16"/>
          <p:cNvSpPr/>
          <p:nvPr/>
        </p:nvSpPr>
        <p:spPr>
          <a:xfrm>
            <a:off x="1298448" y="1280160"/>
            <a:ext cx="10234879" cy="41148"/>
          </a:xfrm>
          <a:prstGeom prst="rect">
            <a:avLst/>
          </a:prstGeom>
          <a:solidFill>
            <a:srgbClr val="DFE4E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56" name="Google Shape;156;p16"/>
          <p:cNvSpPr txBox="1"/>
          <p:nvPr/>
        </p:nvSpPr>
        <p:spPr>
          <a:xfrm>
            <a:off x="658368" y="6355080"/>
            <a:ext cx="10326319"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850" u="none" cap="none" strike="noStrike">
                <a:solidFill>
                  <a:srgbClr val="6B7784"/>
                </a:solidFill>
                <a:latin typeface="Calibri"/>
                <a:ea typeface="Calibri"/>
                <a:cs typeface="Calibri"/>
                <a:sym typeface="Calibri"/>
              </a:rPr>
              <a:t>SOLVENTUM VIỆT NAM  ·  HỆ THỐNG QUẢN TRỊ QUY TRÌNH NGHIỆP VỤ</a:t>
            </a:r>
            <a:endParaRPr/>
          </a:p>
        </p:txBody>
      </p:sp>
      <p:sp>
        <p:nvSpPr>
          <p:cNvPr id="157" name="Google Shape;157;p16"/>
          <p:cNvSpPr txBox="1"/>
          <p:nvPr/>
        </p:nvSpPr>
        <p:spPr>
          <a:xfrm>
            <a:off x="10984687" y="6355080"/>
            <a:ext cx="548640" cy="2286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1" i="0" lang="en-US" sz="950" u="none" cap="none" strike="noStrike">
                <a:solidFill>
                  <a:srgbClr val="0096D6"/>
                </a:solidFill>
                <a:latin typeface="Calibri"/>
                <a:ea typeface="Calibri"/>
                <a:cs typeface="Calibri"/>
                <a:sym typeface="Calibri"/>
              </a:rPr>
              <a:t>4</a:t>
            </a:r>
            <a:endParaRPr/>
          </a:p>
        </p:txBody>
      </p:sp>
      <p:sp>
        <p:nvSpPr>
          <p:cNvPr id="158" name="Google Shape;158;p16"/>
          <p:cNvSpPr txBox="1"/>
          <p:nvPr/>
        </p:nvSpPr>
        <p:spPr>
          <a:xfrm>
            <a:off x="658368" y="1536192"/>
            <a:ext cx="10874959" cy="847220"/>
          </a:xfrm>
          <a:prstGeom prst="rect">
            <a:avLst/>
          </a:prstGeom>
          <a:noFill/>
          <a:ln>
            <a:noFill/>
          </a:ln>
        </p:spPr>
        <p:txBody>
          <a:bodyPr anchorCtr="0" anchor="t" bIns="0" lIns="0" spcFirstLastPara="1" rIns="0" wrap="square" tIns="0">
            <a:spAutoFit/>
          </a:bodyPr>
          <a:lstStyle/>
          <a:p>
            <a:pPr indent="0" lvl="0" marL="0" marR="0" rtl="0" algn="l">
              <a:lnSpc>
                <a:spcPct val="135000"/>
              </a:lnSpc>
              <a:spcBef>
                <a:spcPts val="0"/>
              </a:spcBef>
              <a:spcAft>
                <a:spcPts val="0"/>
              </a:spcAft>
              <a:buNone/>
            </a:pPr>
            <a:r>
              <a:rPr b="0" i="0" lang="en-US" sz="1400" u="none" cap="none" strike="noStrike">
                <a:solidFill>
                  <a:srgbClr val="2B3440"/>
                </a:solidFill>
                <a:latin typeface="Calibri"/>
                <a:ea typeface="Calibri"/>
                <a:cs typeface="Calibri"/>
                <a:sym typeface="Calibri"/>
              </a:rPr>
              <a:t>Solventum Việt Nam là thành viên của Solventum Corporation — tập đoàn công nghệ chăm sóc sức khỏe có trụ sở tại Hoa Kỳ. Doanh nghiệp được hình thành trên nền tảng khối Chăm sóc sức khỏe của Tập đoàn 3M và chính thức hoạt động độc lập từ 01/04/2024. Tại Việt Nam, công ty kế thừa toàn bộ hoạt động kinh doanh chăm sóc sức khỏe trước đây của 3M.</a:t>
            </a:r>
            <a:endParaRPr/>
          </a:p>
        </p:txBody>
      </p:sp>
      <p:sp>
        <p:nvSpPr>
          <p:cNvPr id="159" name="Google Shape;159;p16"/>
          <p:cNvSpPr/>
          <p:nvPr/>
        </p:nvSpPr>
        <p:spPr>
          <a:xfrm>
            <a:off x="658368" y="2487168"/>
            <a:ext cx="2554147" cy="1481328"/>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0" name="Google Shape;160;p16"/>
          <p:cNvSpPr/>
          <p:nvPr/>
        </p:nvSpPr>
        <p:spPr>
          <a:xfrm>
            <a:off x="658368" y="2487168"/>
            <a:ext cx="2554147" cy="50292"/>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1" name="Google Shape;161;p16"/>
          <p:cNvSpPr txBox="1"/>
          <p:nvPr/>
        </p:nvSpPr>
        <p:spPr>
          <a:xfrm>
            <a:off x="859536" y="2697480"/>
            <a:ext cx="2188387"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300" u="none" cap="none" strike="noStrike">
                <a:solidFill>
                  <a:srgbClr val="0A2540"/>
                </a:solidFill>
                <a:latin typeface="Calibri"/>
                <a:ea typeface="Calibri"/>
                <a:cs typeface="Calibri"/>
                <a:sym typeface="Calibri"/>
              </a:rPr>
              <a:t>01/04/2024</a:t>
            </a:r>
            <a:endParaRPr/>
          </a:p>
        </p:txBody>
      </p:sp>
      <p:sp>
        <p:nvSpPr>
          <p:cNvPr id="162" name="Google Shape;162;p16"/>
          <p:cNvSpPr txBox="1"/>
          <p:nvPr/>
        </p:nvSpPr>
        <p:spPr>
          <a:xfrm>
            <a:off x="859536" y="3218688"/>
            <a:ext cx="2188387" cy="444609"/>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US" sz="1200" u="none" cap="none" strike="noStrike">
                <a:solidFill>
                  <a:srgbClr val="6B7784"/>
                </a:solidFill>
                <a:latin typeface="Calibri"/>
                <a:ea typeface="Calibri"/>
                <a:cs typeface="Calibri"/>
                <a:sym typeface="Calibri"/>
              </a:rPr>
              <a:t>Chính thức hoạt động độc lập sau khi hoàn tất tách khỏi Tập đoàn 3M</a:t>
            </a:r>
            <a:endParaRPr/>
          </a:p>
        </p:txBody>
      </p:sp>
      <p:sp>
        <p:nvSpPr>
          <p:cNvPr id="163" name="Google Shape;163;p16"/>
          <p:cNvSpPr/>
          <p:nvPr/>
        </p:nvSpPr>
        <p:spPr>
          <a:xfrm>
            <a:off x="3431971" y="2487168"/>
            <a:ext cx="2554147" cy="1481328"/>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4" name="Google Shape;164;p16"/>
          <p:cNvSpPr/>
          <p:nvPr/>
        </p:nvSpPr>
        <p:spPr>
          <a:xfrm>
            <a:off x="3431971" y="2487168"/>
            <a:ext cx="2554147" cy="50292"/>
          </a:xfrm>
          <a:prstGeom prst="rect">
            <a:avLst/>
          </a:prstGeom>
          <a:solidFill>
            <a:srgbClr val="00C2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5" name="Google Shape;165;p16"/>
          <p:cNvSpPr txBox="1"/>
          <p:nvPr/>
        </p:nvSpPr>
        <p:spPr>
          <a:xfrm>
            <a:off x="3633139" y="2697480"/>
            <a:ext cx="2188387"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300" u="none" cap="none" strike="noStrike">
                <a:solidFill>
                  <a:srgbClr val="0A2540"/>
                </a:solidFill>
                <a:latin typeface="Calibri"/>
                <a:ea typeface="Calibri"/>
                <a:cs typeface="Calibri"/>
                <a:sym typeface="Calibri"/>
              </a:rPr>
              <a:t>70+ năm</a:t>
            </a:r>
            <a:endParaRPr/>
          </a:p>
        </p:txBody>
      </p:sp>
      <p:sp>
        <p:nvSpPr>
          <p:cNvPr id="166" name="Google Shape;166;p16"/>
          <p:cNvSpPr txBox="1"/>
          <p:nvPr/>
        </p:nvSpPr>
        <p:spPr>
          <a:xfrm>
            <a:off x="3633139" y="3218688"/>
            <a:ext cx="2188387" cy="6858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US" sz="1200" u="none" cap="none" strike="noStrike">
                <a:solidFill>
                  <a:srgbClr val="6B7784"/>
                </a:solidFill>
                <a:latin typeface="Calibri"/>
                <a:ea typeface="Calibri"/>
                <a:cs typeface="Calibri"/>
                <a:sym typeface="Calibri"/>
              </a:rPr>
              <a:t>Kinh nghiệm y khoa toàn cầu được kế thừa từ nền tảng 3M Health Care</a:t>
            </a:r>
            <a:endParaRPr/>
          </a:p>
        </p:txBody>
      </p:sp>
      <p:sp>
        <p:nvSpPr>
          <p:cNvPr id="167" name="Google Shape;167;p16"/>
          <p:cNvSpPr/>
          <p:nvPr/>
        </p:nvSpPr>
        <p:spPr>
          <a:xfrm>
            <a:off x="6205575" y="2487168"/>
            <a:ext cx="2554147" cy="1481328"/>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8" name="Google Shape;168;p16"/>
          <p:cNvSpPr/>
          <p:nvPr/>
        </p:nvSpPr>
        <p:spPr>
          <a:xfrm>
            <a:off x="6205575" y="2487168"/>
            <a:ext cx="2554147" cy="50292"/>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9" name="Google Shape;169;p16"/>
          <p:cNvSpPr txBox="1"/>
          <p:nvPr/>
        </p:nvSpPr>
        <p:spPr>
          <a:xfrm>
            <a:off x="6406743" y="2697480"/>
            <a:ext cx="2188387"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300" u="none" cap="none" strike="noStrike">
                <a:solidFill>
                  <a:srgbClr val="0A2540"/>
                </a:solidFill>
                <a:latin typeface="Calibri"/>
                <a:ea typeface="Calibri"/>
                <a:cs typeface="Calibri"/>
                <a:sym typeface="Calibri"/>
              </a:rPr>
              <a:t>03 nhóm</a:t>
            </a:r>
            <a:endParaRPr/>
          </a:p>
        </p:txBody>
      </p:sp>
      <p:sp>
        <p:nvSpPr>
          <p:cNvPr id="170" name="Google Shape;170;p16"/>
          <p:cNvSpPr txBox="1"/>
          <p:nvPr/>
        </p:nvSpPr>
        <p:spPr>
          <a:xfrm>
            <a:off x="6406743" y="3218688"/>
            <a:ext cx="2188387" cy="444609"/>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US" sz="1200" u="none" cap="none" strike="noStrike">
                <a:solidFill>
                  <a:srgbClr val="6B7784"/>
                </a:solidFill>
                <a:latin typeface="Calibri"/>
                <a:ea typeface="Calibri"/>
                <a:cs typeface="Calibri"/>
                <a:sym typeface="Calibri"/>
              </a:rPr>
              <a:t>Giải pháp chủ lực: Y tế (MedSurg) · Nha khoa · Lọc nước chuyên dụng</a:t>
            </a:r>
            <a:endParaRPr b="0" i="0" sz="1200" u="none" cap="none" strike="noStrike">
              <a:solidFill>
                <a:srgbClr val="6B7784"/>
              </a:solidFill>
              <a:latin typeface="Calibri"/>
              <a:ea typeface="Calibri"/>
              <a:cs typeface="Calibri"/>
              <a:sym typeface="Calibri"/>
            </a:endParaRPr>
          </a:p>
        </p:txBody>
      </p:sp>
      <p:sp>
        <p:nvSpPr>
          <p:cNvPr id="171" name="Google Shape;171;p16"/>
          <p:cNvSpPr/>
          <p:nvPr/>
        </p:nvSpPr>
        <p:spPr>
          <a:xfrm>
            <a:off x="8979179" y="2487168"/>
            <a:ext cx="2554147" cy="1481328"/>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72" name="Google Shape;172;p16"/>
          <p:cNvSpPr/>
          <p:nvPr/>
        </p:nvSpPr>
        <p:spPr>
          <a:xfrm>
            <a:off x="8979179" y="2487168"/>
            <a:ext cx="2554147" cy="50292"/>
          </a:xfrm>
          <a:prstGeom prst="rect">
            <a:avLst/>
          </a:prstGeom>
          <a:solidFill>
            <a:srgbClr val="00C2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73" name="Google Shape;173;p16"/>
          <p:cNvSpPr txBox="1"/>
          <p:nvPr/>
        </p:nvSpPr>
        <p:spPr>
          <a:xfrm>
            <a:off x="9180347" y="2697480"/>
            <a:ext cx="2188387"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300" u="none" cap="none" strike="noStrike">
                <a:solidFill>
                  <a:srgbClr val="0A2540"/>
                </a:solidFill>
                <a:latin typeface="Calibri"/>
                <a:ea typeface="Calibri"/>
                <a:cs typeface="Calibri"/>
                <a:sym typeface="Calibri"/>
              </a:rPr>
              <a:t>B2B</a:t>
            </a:r>
            <a:endParaRPr/>
          </a:p>
        </p:txBody>
      </p:sp>
      <p:sp>
        <p:nvSpPr>
          <p:cNvPr id="174" name="Google Shape;174;p16"/>
          <p:cNvSpPr txBox="1"/>
          <p:nvPr/>
        </p:nvSpPr>
        <p:spPr>
          <a:xfrm>
            <a:off x="9180347" y="3218688"/>
            <a:ext cx="2188387" cy="6858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US" sz="1200" u="none" cap="none" strike="noStrike">
                <a:solidFill>
                  <a:srgbClr val="6B7784"/>
                </a:solidFill>
                <a:latin typeface="Calibri"/>
                <a:ea typeface="Calibri"/>
                <a:cs typeface="Calibri"/>
                <a:sym typeface="Calibri"/>
              </a:rPr>
              <a:t>Khách hàng là bệnh viện, phòng khám, cơ sở nha khoa và doanh nghiệp</a:t>
            </a:r>
            <a:endParaRPr b="0" i="0" sz="1200" u="none" cap="none" strike="noStrike">
              <a:solidFill>
                <a:srgbClr val="6B7784"/>
              </a:solidFill>
              <a:latin typeface="Calibri"/>
              <a:ea typeface="Calibri"/>
              <a:cs typeface="Calibri"/>
              <a:sym typeface="Calibri"/>
            </a:endParaRPr>
          </a:p>
        </p:txBody>
      </p:sp>
      <p:sp>
        <p:nvSpPr>
          <p:cNvPr id="175" name="Google Shape;175;p16"/>
          <p:cNvSpPr/>
          <p:nvPr/>
        </p:nvSpPr>
        <p:spPr>
          <a:xfrm>
            <a:off x="658368" y="4242816"/>
            <a:ext cx="10874959" cy="932688"/>
          </a:xfrm>
          <a:prstGeom prst="rect">
            <a:avLst/>
          </a:prstGeom>
          <a:solidFill>
            <a:srgbClr val="0A25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76" name="Google Shape;176;p16"/>
          <p:cNvSpPr/>
          <p:nvPr/>
        </p:nvSpPr>
        <p:spPr>
          <a:xfrm>
            <a:off x="658368" y="4242816"/>
            <a:ext cx="50292" cy="932688"/>
          </a:xfrm>
          <a:prstGeom prst="rect">
            <a:avLst/>
          </a:prstGeom>
          <a:solidFill>
            <a:srgbClr val="00C2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77" name="Google Shape;177;p16"/>
          <p:cNvSpPr txBox="1"/>
          <p:nvPr/>
        </p:nvSpPr>
        <p:spPr>
          <a:xfrm>
            <a:off x="950976" y="4412412"/>
            <a:ext cx="10326319" cy="593496"/>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1" i="0" lang="en-US" sz="1600" u="none" cap="none" strike="noStrike">
                <a:solidFill>
                  <a:srgbClr val="FFFFFF"/>
                </a:solidFill>
                <a:latin typeface="Calibri"/>
                <a:ea typeface="Calibri"/>
                <a:cs typeface="Calibri"/>
                <a:sym typeface="Calibri"/>
              </a:rPr>
              <a:t>SỨ MỆNH  ·  “Enabling Better, Smarter, Safer Healthcare”</a:t>
            </a:r>
            <a:endParaRPr/>
          </a:p>
          <a:p>
            <a:pPr indent="0" lvl="0" marL="0" marR="0" rtl="0" algn="l">
              <a:lnSpc>
                <a:spcPct val="120000"/>
              </a:lnSpc>
              <a:spcBef>
                <a:spcPts val="500"/>
              </a:spcBef>
              <a:spcAft>
                <a:spcPts val="0"/>
              </a:spcAft>
              <a:buNone/>
            </a:pPr>
            <a:r>
              <a:rPr b="0" i="0" lang="en-US" sz="1400" u="none" cap="none" strike="noStrike">
                <a:solidFill>
                  <a:srgbClr val="B6C9D8"/>
                </a:solidFill>
                <a:latin typeface="Calibri"/>
                <a:ea typeface="Calibri"/>
                <a:cs typeface="Calibri"/>
                <a:sym typeface="Calibri"/>
              </a:rPr>
              <a:t>Kết hợp Khoa học sức khỏe  +  Khoa học vật liệu  +  Khoa học dữ liệu để nâng cao chất lượng chăm sóc sức khỏe.</a:t>
            </a:r>
            <a:endParaRPr/>
          </a:p>
        </p:txBody>
      </p:sp>
      <p:sp>
        <p:nvSpPr>
          <p:cNvPr id="178" name="Google Shape;178;p16"/>
          <p:cNvSpPr txBox="1"/>
          <p:nvPr/>
        </p:nvSpPr>
        <p:spPr>
          <a:xfrm>
            <a:off x="658368" y="5394960"/>
            <a:ext cx="10874959" cy="461665"/>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US" sz="1200" u="none" cap="none" strike="noStrike">
                <a:solidFill>
                  <a:srgbClr val="0A2540"/>
                </a:solidFill>
                <a:latin typeface="Calibri"/>
                <a:ea typeface="Calibri"/>
                <a:cs typeface="Calibri"/>
                <a:sym typeface="Calibri"/>
              </a:rPr>
              <a:t>→  Đặc thù ngành thiết bị y tế đòi hỏi Solventum vận hành nhiều quy trình liên kết chặt giữa kinh doanh, chuỗi cung ứng, kho và dịch vụ kỹ thuật — đây chính là đối tượng nghiên cứu của đồ án.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7"/>
          <p:cNvSpPr txBox="1"/>
          <p:nvPr/>
        </p:nvSpPr>
        <p:spPr>
          <a:xfrm>
            <a:off x="658368" y="384048"/>
            <a:ext cx="108749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50" u="none" cap="none" strike="noStrike">
                <a:solidFill>
                  <a:srgbClr val="0096D6"/>
                </a:solidFill>
                <a:latin typeface="Calibri"/>
                <a:ea typeface="Calibri"/>
                <a:cs typeface="Calibri"/>
                <a:sym typeface="Calibri"/>
              </a:rPr>
              <a:t>CHƯƠNG 1 · 1.2 SẢN PHẨM VÀ DỊCH VỤ</a:t>
            </a:r>
            <a:endParaRPr/>
          </a:p>
        </p:txBody>
      </p:sp>
      <p:sp>
        <p:nvSpPr>
          <p:cNvPr id="184" name="Google Shape;184;p17"/>
          <p:cNvSpPr txBox="1"/>
          <p:nvPr/>
        </p:nvSpPr>
        <p:spPr>
          <a:xfrm>
            <a:off x="658368" y="640080"/>
            <a:ext cx="10874959" cy="603504"/>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2500" u="none" cap="none" strike="noStrike">
                <a:solidFill>
                  <a:srgbClr val="0A2540"/>
                </a:solidFill>
                <a:latin typeface="Calibri"/>
                <a:ea typeface="Calibri"/>
                <a:cs typeface="Calibri"/>
                <a:sym typeface="Calibri"/>
              </a:rPr>
              <a:t>BA NHÓM SẢN PHẨM &amp; GIẢI PHÁP CHỦ LỰC</a:t>
            </a:r>
            <a:endParaRPr/>
          </a:p>
        </p:txBody>
      </p:sp>
      <p:sp>
        <p:nvSpPr>
          <p:cNvPr id="185" name="Google Shape;185;p17"/>
          <p:cNvSpPr/>
          <p:nvPr/>
        </p:nvSpPr>
        <p:spPr>
          <a:xfrm>
            <a:off x="658368" y="1280160"/>
            <a:ext cx="566928" cy="41148"/>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86" name="Google Shape;186;p17"/>
          <p:cNvSpPr/>
          <p:nvPr/>
        </p:nvSpPr>
        <p:spPr>
          <a:xfrm>
            <a:off x="1298448" y="1280160"/>
            <a:ext cx="10234879" cy="41148"/>
          </a:xfrm>
          <a:prstGeom prst="rect">
            <a:avLst/>
          </a:prstGeom>
          <a:solidFill>
            <a:srgbClr val="DFE4E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87" name="Google Shape;187;p17"/>
          <p:cNvSpPr txBox="1"/>
          <p:nvPr/>
        </p:nvSpPr>
        <p:spPr>
          <a:xfrm>
            <a:off x="658368" y="1371600"/>
            <a:ext cx="10874959" cy="274320"/>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0" i="1" lang="en-US" sz="1100" u="none" cap="none" strike="noStrike">
                <a:solidFill>
                  <a:srgbClr val="6B7784"/>
                </a:solidFill>
                <a:latin typeface="Calibri"/>
                <a:ea typeface="Calibri"/>
                <a:cs typeface="Calibri"/>
                <a:sym typeface="Calibri"/>
              </a:rPr>
              <a:t>Bảng 1.1 — Các nhóm sản phẩm và giải pháp của Solventum Việt Nam</a:t>
            </a:r>
            <a:endParaRPr/>
          </a:p>
        </p:txBody>
      </p:sp>
      <p:sp>
        <p:nvSpPr>
          <p:cNvPr id="188" name="Google Shape;188;p17"/>
          <p:cNvSpPr txBox="1"/>
          <p:nvPr/>
        </p:nvSpPr>
        <p:spPr>
          <a:xfrm>
            <a:off x="658368" y="6355080"/>
            <a:ext cx="10326319"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850" u="none" cap="none" strike="noStrike">
                <a:solidFill>
                  <a:srgbClr val="6B7784"/>
                </a:solidFill>
                <a:latin typeface="Calibri"/>
                <a:ea typeface="Calibri"/>
                <a:cs typeface="Calibri"/>
                <a:sym typeface="Calibri"/>
              </a:rPr>
              <a:t>SOLVENTUM VIỆT NAM  ·  HỆ THỐNG QUẢN TRỊ QUY TRÌNH NGHIỆP VỤ</a:t>
            </a:r>
            <a:endParaRPr/>
          </a:p>
        </p:txBody>
      </p:sp>
      <p:sp>
        <p:nvSpPr>
          <p:cNvPr id="189" name="Google Shape;189;p17"/>
          <p:cNvSpPr txBox="1"/>
          <p:nvPr/>
        </p:nvSpPr>
        <p:spPr>
          <a:xfrm>
            <a:off x="10984687" y="6355080"/>
            <a:ext cx="548640" cy="2286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1" i="0" lang="en-US" sz="950" u="none" cap="none" strike="noStrike">
                <a:solidFill>
                  <a:srgbClr val="0096D6"/>
                </a:solidFill>
                <a:latin typeface="Calibri"/>
                <a:ea typeface="Calibri"/>
                <a:cs typeface="Calibri"/>
                <a:sym typeface="Calibri"/>
              </a:rPr>
              <a:t>5</a:t>
            </a:r>
            <a:endParaRPr/>
          </a:p>
        </p:txBody>
      </p:sp>
      <p:sp>
        <p:nvSpPr>
          <p:cNvPr id="190" name="Google Shape;190;p17"/>
          <p:cNvSpPr/>
          <p:nvPr/>
        </p:nvSpPr>
        <p:spPr>
          <a:xfrm>
            <a:off x="658368" y="1755648"/>
            <a:ext cx="3442106" cy="2606040"/>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91" name="Google Shape;191;p17"/>
          <p:cNvSpPr/>
          <p:nvPr/>
        </p:nvSpPr>
        <p:spPr>
          <a:xfrm>
            <a:off x="658368" y="1755648"/>
            <a:ext cx="3442106" cy="50292"/>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92" name="Google Shape;192;p17"/>
          <p:cNvSpPr txBox="1"/>
          <p:nvPr/>
        </p:nvSpPr>
        <p:spPr>
          <a:xfrm>
            <a:off x="896112" y="1938528"/>
            <a:ext cx="2984906"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700" u="none" cap="none" strike="noStrike">
                <a:solidFill>
                  <a:srgbClr val="0096D6"/>
                </a:solidFill>
                <a:latin typeface="Calibri"/>
                <a:ea typeface="Calibri"/>
                <a:cs typeface="Calibri"/>
                <a:sym typeface="Calibri"/>
              </a:rPr>
              <a:t>01</a:t>
            </a:r>
            <a:endParaRPr/>
          </a:p>
        </p:txBody>
      </p:sp>
      <p:sp>
        <p:nvSpPr>
          <p:cNvPr id="193" name="Google Shape;193;p17"/>
          <p:cNvSpPr txBox="1"/>
          <p:nvPr/>
        </p:nvSpPr>
        <p:spPr>
          <a:xfrm>
            <a:off x="896112" y="2304288"/>
            <a:ext cx="2984906" cy="5486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1400" u="none" cap="none" strike="noStrike">
                <a:solidFill>
                  <a:srgbClr val="0A2540"/>
                </a:solidFill>
                <a:latin typeface="Calibri"/>
                <a:ea typeface="Calibri"/>
                <a:cs typeface="Calibri"/>
                <a:sym typeface="Calibri"/>
              </a:rPr>
              <a:t>GIẢI PHÁP Y TẾ</a:t>
            </a:r>
            <a:endParaRPr/>
          </a:p>
          <a:p>
            <a:pPr indent="0" lvl="0" marL="0" marR="0" rtl="0" algn="l">
              <a:lnSpc>
                <a:spcPct val="110000"/>
              </a:lnSpc>
              <a:spcBef>
                <a:spcPts val="200"/>
              </a:spcBef>
              <a:spcAft>
                <a:spcPts val="0"/>
              </a:spcAft>
              <a:buNone/>
            </a:pPr>
            <a:r>
              <a:rPr b="0" i="1" lang="en-US" sz="1050" u="none" cap="none" strike="noStrike">
                <a:solidFill>
                  <a:srgbClr val="6B7784"/>
                </a:solidFill>
                <a:latin typeface="Calibri"/>
                <a:ea typeface="Calibri"/>
                <a:cs typeface="Calibri"/>
                <a:sym typeface="Calibri"/>
              </a:rPr>
              <a:t>MedSurg</a:t>
            </a:r>
            <a:endParaRPr b="0" i="1" sz="1050" u="none" cap="none" strike="noStrike">
              <a:solidFill>
                <a:srgbClr val="6B7784"/>
              </a:solidFill>
              <a:latin typeface="Calibri"/>
              <a:ea typeface="Calibri"/>
              <a:cs typeface="Calibri"/>
              <a:sym typeface="Calibri"/>
            </a:endParaRPr>
          </a:p>
        </p:txBody>
      </p:sp>
      <p:sp>
        <p:nvSpPr>
          <p:cNvPr id="194" name="Google Shape;194;p17"/>
          <p:cNvSpPr txBox="1"/>
          <p:nvPr/>
        </p:nvSpPr>
        <p:spPr>
          <a:xfrm>
            <a:off x="896112" y="2962656"/>
            <a:ext cx="2984906" cy="1130374"/>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400" u="none" cap="none" strike="noStrike">
                <a:solidFill>
                  <a:srgbClr val="2B3440"/>
                </a:solidFill>
                <a:latin typeface="Calibri"/>
                <a:ea typeface="Calibri"/>
                <a:cs typeface="Calibri"/>
                <a:sym typeface="Calibri"/>
              </a:rPr>
              <a:t>•  Chăm sóc vết thương</a:t>
            </a:r>
            <a:endParaRPr b="0" i="0" sz="1400" u="none" cap="none" strike="noStrike">
              <a:solidFill>
                <a:srgbClr val="2B3440"/>
              </a:solidFill>
              <a:latin typeface="Calibri"/>
              <a:ea typeface="Calibri"/>
              <a:cs typeface="Calibri"/>
              <a:sym typeface="Calibri"/>
            </a:endParaRPr>
          </a:p>
          <a:p>
            <a:pPr indent="0" lvl="0" marL="0" marR="0" rtl="0" algn="l">
              <a:lnSpc>
                <a:spcPct val="115000"/>
              </a:lnSpc>
              <a:spcBef>
                <a:spcPts val="400"/>
              </a:spcBef>
              <a:spcAft>
                <a:spcPts val="0"/>
              </a:spcAft>
              <a:buNone/>
            </a:pPr>
            <a:r>
              <a:rPr b="0" i="0" lang="en-US" sz="1400" u="none" cap="none" strike="noStrike">
                <a:solidFill>
                  <a:srgbClr val="2B3440"/>
                </a:solidFill>
                <a:latin typeface="Calibri"/>
                <a:ea typeface="Calibri"/>
                <a:cs typeface="Calibri"/>
                <a:sym typeface="Calibri"/>
              </a:rPr>
              <a:t>•  Kiểm soát nhiễm khuẩn</a:t>
            </a:r>
            <a:endParaRPr b="0" i="0" sz="1400" u="none" cap="none" strike="noStrike">
              <a:solidFill>
                <a:srgbClr val="2B3440"/>
              </a:solidFill>
              <a:latin typeface="Calibri"/>
              <a:ea typeface="Calibri"/>
              <a:cs typeface="Calibri"/>
              <a:sym typeface="Calibri"/>
            </a:endParaRPr>
          </a:p>
          <a:p>
            <a:pPr indent="0" lvl="0" marL="0" marR="0" rtl="0" algn="l">
              <a:lnSpc>
                <a:spcPct val="115000"/>
              </a:lnSpc>
              <a:spcBef>
                <a:spcPts val="400"/>
              </a:spcBef>
              <a:spcAft>
                <a:spcPts val="0"/>
              </a:spcAft>
              <a:buNone/>
            </a:pPr>
            <a:r>
              <a:rPr b="0" i="0" lang="en-US" sz="1400" u="none" cap="none" strike="noStrike">
                <a:solidFill>
                  <a:srgbClr val="2B3440"/>
                </a:solidFill>
                <a:latin typeface="Calibri"/>
                <a:ea typeface="Calibri"/>
                <a:cs typeface="Calibri"/>
                <a:sym typeface="Calibri"/>
              </a:rPr>
              <a:t>•  Kiểm soát thân nhiệt bệnh nhân</a:t>
            </a:r>
            <a:endParaRPr b="0" i="0" sz="1400" u="none" cap="none" strike="noStrike">
              <a:solidFill>
                <a:srgbClr val="2B3440"/>
              </a:solidFill>
              <a:latin typeface="Calibri"/>
              <a:ea typeface="Calibri"/>
              <a:cs typeface="Calibri"/>
              <a:sym typeface="Calibri"/>
            </a:endParaRPr>
          </a:p>
          <a:p>
            <a:pPr indent="0" lvl="0" marL="0" marR="0" rtl="0" algn="l">
              <a:lnSpc>
                <a:spcPct val="115000"/>
              </a:lnSpc>
              <a:spcBef>
                <a:spcPts val="400"/>
              </a:spcBef>
              <a:spcAft>
                <a:spcPts val="0"/>
              </a:spcAft>
              <a:buNone/>
            </a:pPr>
            <a:r>
              <a:rPr b="0" i="0" lang="en-US" sz="1400" u="none" cap="none" strike="noStrike">
                <a:solidFill>
                  <a:srgbClr val="2B3440"/>
                </a:solidFill>
                <a:latin typeface="Calibri"/>
                <a:ea typeface="Calibri"/>
                <a:cs typeface="Calibri"/>
                <a:sym typeface="Calibri"/>
              </a:rPr>
              <a:t>•  Thiết bị hỗ trợ phẫu thuật</a:t>
            </a:r>
            <a:endParaRPr b="0" i="0" sz="1400" u="none" cap="none" strike="noStrike">
              <a:solidFill>
                <a:srgbClr val="2B3440"/>
              </a:solidFill>
              <a:latin typeface="Calibri"/>
              <a:ea typeface="Calibri"/>
              <a:cs typeface="Calibri"/>
              <a:sym typeface="Calibri"/>
            </a:endParaRPr>
          </a:p>
        </p:txBody>
      </p:sp>
      <p:sp>
        <p:nvSpPr>
          <p:cNvPr id="195" name="Google Shape;195;p17"/>
          <p:cNvSpPr/>
          <p:nvPr/>
        </p:nvSpPr>
        <p:spPr>
          <a:xfrm>
            <a:off x="4374794" y="1755648"/>
            <a:ext cx="3442106" cy="2606040"/>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96" name="Google Shape;196;p17"/>
          <p:cNvSpPr/>
          <p:nvPr/>
        </p:nvSpPr>
        <p:spPr>
          <a:xfrm>
            <a:off x="4374794" y="1755648"/>
            <a:ext cx="3442106" cy="50292"/>
          </a:xfrm>
          <a:prstGeom prst="rect">
            <a:avLst/>
          </a:prstGeom>
          <a:solidFill>
            <a:srgbClr val="00C2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97" name="Google Shape;197;p17"/>
          <p:cNvSpPr txBox="1"/>
          <p:nvPr/>
        </p:nvSpPr>
        <p:spPr>
          <a:xfrm>
            <a:off x="4612538" y="1938528"/>
            <a:ext cx="2984906"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700" u="none" cap="none" strike="noStrike">
                <a:solidFill>
                  <a:srgbClr val="00C2A8"/>
                </a:solidFill>
                <a:latin typeface="Calibri"/>
                <a:ea typeface="Calibri"/>
                <a:cs typeface="Calibri"/>
                <a:sym typeface="Calibri"/>
              </a:rPr>
              <a:t>02</a:t>
            </a:r>
            <a:endParaRPr/>
          </a:p>
        </p:txBody>
      </p:sp>
      <p:sp>
        <p:nvSpPr>
          <p:cNvPr id="198" name="Google Shape;198;p17"/>
          <p:cNvSpPr txBox="1"/>
          <p:nvPr/>
        </p:nvSpPr>
        <p:spPr>
          <a:xfrm>
            <a:off x="4612538" y="2304288"/>
            <a:ext cx="2984906" cy="5486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1400" u="none" cap="none" strike="noStrike">
                <a:solidFill>
                  <a:srgbClr val="0A2540"/>
                </a:solidFill>
                <a:latin typeface="Calibri"/>
                <a:ea typeface="Calibri"/>
                <a:cs typeface="Calibri"/>
                <a:sym typeface="Calibri"/>
              </a:rPr>
              <a:t>GIẢI PHÁP NHA KHOA</a:t>
            </a:r>
            <a:endParaRPr/>
          </a:p>
          <a:p>
            <a:pPr indent="0" lvl="0" marL="0" marR="0" rtl="0" algn="l">
              <a:lnSpc>
                <a:spcPct val="110000"/>
              </a:lnSpc>
              <a:spcBef>
                <a:spcPts val="200"/>
              </a:spcBef>
              <a:spcAft>
                <a:spcPts val="0"/>
              </a:spcAft>
              <a:buNone/>
            </a:pPr>
            <a:r>
              <a:rPr b="0" i="1" lang="en-US" sz="1050" u="none" cap="none" strike="noStrike">
                <a:solidFill>
                  <a:srgbClr val="6B7784"/>
                </a:solidFill>
                <a:latin typeface="Calibri"/>
                <a:ea typeface="Calibri"/>
                <a:cs typeface="Calibri"/>
                <a:sym typeface="Calibri"/>
              </a:rPr>
              <a:t>Dental Solutions</a:t>
            </a:r>
            <a:endParaRPr/>
          </a:p>
        </p:txBody>
      </p:sp>
      <p:sp>
        <p:nvSpPr>
          <p:cNvPr id="199" name="Google Shape;199;p17"/>
          <p:cNvSpPr txBox="1"/>
          <p:nvPr/>
        </p:nvSpPr>
        <p:spPr>
          <a:xfrm>
            <a:off x="4612538" y="2962656"/>
            <a:ext cx="2984906" cy="1130374"/>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400" u="none" cap="none" strike="noStrike">
                <a:solidFill>
                  <a:srgbClr val="2B3440"/>
                </a:solidFill>
                <a:latin typeface="Calibri"/>
                <a:ea typeface="Calibri"/>
                <a:cs typeface="Calibri"/>
                <a:sym typeface="Calibri"/>
              </a:rPr>
              <a:t>•  Vật liệu phục hồi răng</a:t>
            </a:r>
            <a:endParaRPr b="0" i="0" sz="1400" u="none" cap="none" strike="noStrike">
              <a:solidFill>
                <a:srgbClr val="2B3440"/>
              </a:solidFill>
              <a:latin typeface="Calibri"/>
              <a:ea typeface="Calibri"/>
              <a:cs typeface="Calibri"/>
              <a:sym typeface="Calibri"/>
            </a:endParaRPr>
          </a:p>
          <a:p>
            <a:pPr indent="0" lvl="0" marL="0" marR="0" rtl="0" algn="l">
              <a:lnSpc>
                <a:spcPct val="115000"/>
              </a:lnSpc>
              <a:spcBef>
                <a:spcPts val="400"/>
              </a:spcBef>
              <a:spcAft>
                <a:spcPts val="0"/>
              </a:spcAft>
              <a:buNone/>
            </a:pPr>
            <a:r>
              <a:rPr b="0" i="0" lang="en-US" sz="1400" u="none" cap="none" strike="noStrike">
                <a:solidFill>
                  <a:srgbClr val="2B3440"/>
                </a:solidFill>
                <a:latin typeface="Calibri"/>
                <a:ea typeface="Calibri"/>
                <a:cs typeface="Calibri"/>
                <a:sym typeface="Calibri"/>
              </a:rPr>
              <a:t>•  Sản phẩm chỉnh nha</a:t>
            </a:r>
            <a:endParaRPr b="0" i="0" sz="1400" u="none" cap="none" strike="noStrike">
              <a:solidFill>
                <a:srgbClr val="2B3440"/>
              </a:solidFill>
              <a:latin typeface="Calibri"/>
              <a:ea typeface="Calibri"/>
              <a:cs typeface="Calibri"/>
              <a:sym typeface="Calibri"/>
            </a:endParaRPr>
          </a:p>
          <a:p>
            <a:pPr indent="0" lvl="0" marL="0" marR="0" rtl="0" algn="l">
              <a:lnSpc>
                <a:spcPct val="115000"/>
              </a:lnSpc>
              <a:spcBef>
                <a:spcPts val="400"/>
              </a:spcBef>
              <a:spcAft>
                <a:spcPts val="0"/>
              </a:spcAft>
              <a:buNone/>
            </a:pPr>
            <a:r>
              <a:rPr b="0" i="0" lang="en-US" sz="1400" u="none" cap="none" strike="noStrike">
                <a:solidFill>
                  <a:srgbClr val="2B3440"/>
                </a:solidFill>
                <a:latin typeface="Calibri"/>
                <a:ea typeface="Calibri"/>
                <a:cs typeface="Calibri"/>
                <a:sym typeface="Calibri"/>
              </a:rPr>
              <a:t>•  Keo dán &amp; xi măng nha khoa</a:t>
            </a:r>
            <a:endParaRPr b="0" i="0" sz="1400" u="none" cap="none" strike="noStrike">
              <a:solidFill>
                <a:srgbClr val="2B3440"/>
              </a:solidFill>
              <a:latin typeface="Calibri"/>
              <a:ea typeface="Calibri"/>
              <a:cs typeface="Calibri"/>
              <a:sym typeface="Calibri"/>
            </a:endParaRPr>
          </a:p>
          <a:p>
            <a:pPr indent="0" lvl="0" marL="0" marR="0" rtl="0" algn="l">
              <a:lnSpc>
                <a:spcPct val="115000"/>
              </a:lnSpc>
              <a:spcBef>
                <a:spcPts val="400"/>
              </a:spcBef>
              <a:spcAft>
                <a:spcPts val="0"/>
              </a:spcAft>
              <a:buNone/>
            </a:pPr>
            <a:r>
              <a:rPr b="0" i="0" lang="en-US" sz="1400" u="none" cap="none" strike="noStrike">
                <a:solidFill>
                  <a:srgbClr val="2B3440"/>
                </a:solidFill>
                <a:latin typeface="Calibri"/>
                <a:ea typeface="Calibri"/>
                <a:cs typeface="Calibri"/>
                <a:sym typeface="Calibri"/>
              </a:rPr>
              <a:t>•  Vật tư hỗ trợ điều trị</a:t>
            </a:r>
            <a:endParaRPr b="0" i="0" sz="1400" u="none" cap="none" strike="noStrike">
              <a:solidFill>
                <a:srgbClr val="2B3440"/>
              </a:solidFill>
              <a:latin typeface="Calibri"/>
              <a:ea typeface="Calibri"/>
              <a:cs typeface="Calibri"/>
              <a:sym typeface="Calibri"/>
            </a:endParaRPr>
          </a:p>
        </p:txBody>
      </p:sp>
      <p:sp>
        <p:nvSpPr>
          <p:cNvPr id="200" name="Google Shape;200;p17"/>
          <p:cNvSpPr/>
          <p:nvPr/>
        </p:nvSpPr>
        <p:spPr>
          <a:xfrm>
            <a:off x="8091220" y="1755648"/>
            <a:ext cx="3442106" cy="2606040"/>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01" name="Google Shape;201;p17"/>
          <p:cNvSpPr/>
          <p:nvPr/>
        </p:nvSpPr>
        <p:spPr>
          <a:xfrm>
            <a:off x="8091220" y="1755648"/>
            <a:ext cx="3442106" cy="50292"/>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02" name="Google Shape;202;p17"/>
          <p:cNvSpPr txBox="1"/>
          <p:nvPr/>
        </p:nvSpPr>
        <p:spPr>
          <a:xfrm>
            <a:off x="8328964" y="1938528"/>
            <a:ext cx="2984906"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700" u="none" cap="none" strike="noStrike">
                <a:solidFill>
                  <a:srgbClr val="0096D6"/>
                </a:solidFill>
                <a:latin typeface="Calibri"/>
                <a:ea typeface="Calibri"/>
                <a:cs typeface="Calibri"/>
                <a:sym typeface="Calibri"/>
              </a:rPr>
              <a:t>03</a:t>
            </a:r>
            <a:endParaRPr/>
          </a:p>
        </p:txBody>
      </p:sp>
      <p:sp>
        <p:nvSpPr>
          <p:cNvPr id="203" name="Google Shape;203;p17"/>
          <p:cNvSpPr txBox="1"/>
          <p:nvPr/>
        </p:nvSpPr>
        <p:spPr>
          <a:xfrm>
            <a:off x="8328964" y="2304288"/>
            <a:ext cx="2984906" cy="5486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1400" u="none" cap="none" strike="noStrike">
                <a:solidFill>
                  <a:srgbClr val="0A2540"/>
                </a:solidFill>
                <a:latin typeface="Calibri"/>
                <a:ea typeface="Calibri"/>
                <a:cs typeface="Calibri"/>
                <a:sym typeface="Calibri"/>
              </a:rPr>
              <a:t>GIẢI PHÁP LỌC NƯỚC</a:t>
            </a:r>
            <a:endParaRPr/>
          </a:p>
          <a:p>
            <a:pPr indent="0" lvl="0" marL="0" marR="0" rtl="0" algn="l">
              <a:lnSpc>
                <a:spcPct val="110000"/>
              </a:lnSpc>
              <a:spcBef>
                <a:spcPts val="200"/>
              </a:spcBef>
              <a:spcAft>
                <a:spcPts val="0"/>
              </a:spcAft>
              <a:buNone/>
            </a:pPr>
            <a:r>
              <a:rPr b="0" i="1" lang="en-US" sz="1050" u="none" cap="none" strike="noStrike">
                <a:solidFill>
                  <a:srgbClr val="6B7784"/>
                </a:solidFill>
                <a:latin typeface="Calibri"/>
                <a:ea typeface="Calibri"/>
                <a:cs typeface="Calibri"/>
                <a:sym typeface="Calibri"/>
              </a:rPr>
              <a:t>Water Filtration</a:t>
            </a:r>
            <a:endParaRPr/>
          </a:p>
        </p:txBody>
      </p:sp>
      <p:sp>
        <p:nvSpPr>
          <p:cNvPr id="204" name="Google Shape;204;p17"/>
          <p:cNvSpPr txBox="1"/>
          <p:nvPr/>
        </p:nvSpPr>
        <p:spPr>
          <a:xfrm>
            <a:off x="8328964" y="2962656"/>
            <a:ext cx="2984906" cy="1130374"/>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400" u="none" cap="none" strike="noStrike">
                <a:solidFill>
                  <a:srgbClr val="2B3440"/>
                </a:solidFill>
                <a:latin typeface="Calibri"/>
                <a:ea typeface="Calibri"/>
                <a:cs typeface="Calibri"/>
                <a:sym typeface="Calibri"/>
              </a:rPr>
              <a:t>•  Hệ thống lọc thương mại</a:t>
            </a:r>
            <a:endParaRPr b="0" i="0" sz="1400" u="none" cap="none" strike="noStrike">
              <a:solidFill>
                <a:srgbClr val="2B3440"/>
              </a:solidFill>
              <a:latin typeface="Calibri"/>
              <a:ea typeface="Calibri"/>
              <a:cs typeface="Calibri"/>
              <a:sym typeface="Calibri"/>
            </a:endParaRPr>
          </a:p>
          <a:p>
            <a:pPr indent="0" lvl="0" marL="0" marR="0" rtl="0" algn="l">
              <a:lnSpc>
                <a:spcPct val="115000"/>
              </a:lnSpc>
              <a:spcBef>
                <a:spcPts val="400"/>
              </a:spcBef>
              <a:spcAft>
                <a:spcPts val="0"/>
              </a:spcAft>
              <a:buNone/>
            </a:pPr>
            <a:r>
              <a:rPr b="0" i="0" lang="en-US" sz="1400" u="none" cap="none" strike="noStrike">
                <a:solidFill>
                  <a:srgbClr val="2B3440"/>
                </a:solidFill>
                <a:latin typeface="Calibri"/>
                <a:ea typeface="Calibri"/>
                <a:cs typeface="Calibri"/>
                <a:sym typeface="Calibri"/>
              </a:rPr>
              <a:t>•  Hệ thống lọc công nghiệp</a:t>
            </a:r>
            <a:endParaRPr b="0" i="0" sz="1400" u="none" cap="none" strike="noStrike">
              <a:solidFill>
                <a:srgbClr val="2B3440"/>
              </a:solidFill>
              <a:latin typeface="Calibri"/>
              <a:ea typeface="Calibri"/>
              <a:cs typeface="Calibri"/>
              <a:sym typeface="Calibri"/>
            </a:endParaRPr>
          </a:p>
          <a:p>
            <a:pPr indent="0" lvl="0" marL="0" marR="0" rtl="0" algn="l">
              <a:lnSpc>
                <a:spcPct val="115000"/>
              </a:lnSpc>
              <a:spcBef>
                <a:spcPts val="400"/>
              </a:spcBef>
              <a:spcAft>
                <a:spcPts val="0"/>
              </a:spcAft>
              <a:buNone/>
            </a:pPr>
            <a:r>
              <a:rPr b="0" i="0" lang="en-US" sz="1400" u="none" cap="none" strike="noStrike">
                <a:solidFill>
                  <a:srgbClr val="2B3440"/>
                </a:solidFill>
                <a:latin typeface="Calibri"/>
                <a:ea typeface="Calibri"/>
                <a:cs typeface="Calibri"/>
                <a:sym typeface="Calibri"/>
              </a:rPr>
              <a:t>•  Giải pháp lọc dân dụng</a:t>
            </a:r>
            <a:endParaRPr b="0" i="0" sz="1400" u="none" cap="none" strike="noStrike">
              <a:solidFill>
                <a:srgbClr val="2B3440"/>
              </a:solidFill>
              <a:latin typeface="Calibri"/>
              <a:ea typeface="Calibri"/>
              <a:cs typeface="Calibri"/>
              <a:sym typeface="Calibri"/>
            </a:endParaRPr>
          </a:p>
          <a:p>
            <a:pPr indent="0" lvl="0" marL="0" marR="0" rtl="0" algn="l">
              <a:lnSpc>
                <a:spcPct val="115000"/>
              </a:lnSpc>
              <a:spcBef>
                <a:spcPts val="400"/>
              </a:spcBef>
              <a:spcAft>
                <a:spcPts val="0"/>
              </a:spcAft>
              <a:buNone/>
            </a:pPr>
            <a:r>
              <a:rPr b="0" i="0" lang="en-US" sz="1400" u="none" cap="none" strike="noStrike">
                <a:solidFill>
                  <a:srgbClr val="2B3440"/>
                </a:solidFill>
                <a:latin typeface="Calibri"/>
                <a:ea typeface="Calibri"/>
                <a:cs typeface="Calibri"/>
                <a:sym typeface="Calibri"/>
              </a:rPr>
              <a:t>•  Vật liệu lọc chuyên dụng</a:t>
            </a:r>
            <a:endParaRPr b="0" i="0" sz="1400" u="none" cap="none" strike="noStrike">
              <a:solidFill>
                <a:srgbClr val="2B3440"/>
              </a:solidFill>
              <a:latin typeface="Calibri"/>
              <a:ea typeface="Calibri"/>
              <a:cs typeface="Calibri"/>
              <a:sym typeface="Calibri"/>
            </a:endParaRPr>
          </a:p>
        </p:txBody>
      </p:sp>
      <p:sp>
        <p:nvSpPr>
          <p:cNvPr id="205" name="Google Shape;205;p17"/>
          <p:cNvSpPr/>
          <p:nvPr/>
        </p:nvSpPr>
        <p:spPr>
          <a:xfrm>
            <a:off x="658368" y="4608576"/>
            <a:ext cx="10874959" cy="1097280"/>
          </a:xfrm>
          <a:prstGeom prst="rect">
            <a:avLst/>
          </a:prstGeom>
          <a:solidFill>
            <a:srgbClr val="E9F3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06" name="Google Shape;206;p17"/>
          <p:cNvSpPr/>
          <p:nvPr/>
        </p:nvSpPr>
        <p:spPr>
          <a:xfrm>
            <a:off x="658368" y="4608576"/>
            <a:ext cx="50292" cy="1097280"/>
          </a:xfrm>
          <a:prstGeom prst="rect">
            <a:avLst/>
          </a:prstGeom>
          <a:solidFill>
            <a:srgbClr val="0A25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07" name="Google Shape;207;p17"/>
          <p:cNvSpPr txBox="1"/>
          <p:nvPr/>
        </p:nvSpPr>
        <p:spPr>
          <a:xfrm>
            <a:off x="932688" y="4730946"/>
            <a:ext cx="10326319" cy="852541"/>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1" i="0" lang="en-US" sz="1400" u="none" cap="none" strike="noStrike">
                <a:solidFill>
                  <a:srgbClr val="0A2540"/>
                </a:solidFill>
                <a:latin typeface="Calibri"/>
                <a:ea typeface="Calibri"/>
                <a:cs typeface="Calibri"/>
                <a:sym typeface="Calibri"/>
              </a:rPr>
              <a:t>DỊCH VỤ SAU BÁN HÀNG  —  Yếu tố quan trọng không kém chất lượng sản phẩm</a:t>
            </a:r>
            <a:endParaRPr b="1" i="0" sz="1400" u="none" cap="none" strike="noStrike">
              <a:solidFill>
                <a:srgbClr val="0A2540"/>
              </a:solidFill>
              <a:latin typeface="Calibri"/>
              <a:ea typeface="Calibri"/>
              <a:cs typeface="Calibri"/>
              <a:sym typeface="Calibri"/>
            </a:endParaRPr>
          </a:p>
          <a:p>
            <a:pPr indent="0" lvl="0" marL="0" marR="0" rtl="0" algn="l">
              <a:lnSpc>
                <a:spcPct val="125000"/>
              </a:lnSpc>
              <a:spcBef>
                <a:spcPts val="600"/>
              </a:spcBef>
              <a:spcAft>
                <a:spcPts val="0"/>
              </a:spcAft>
              <a:buNone/>
            </a:pPr>
            <a:r>
              <a:rPr b="0" i="0" lang="en-US" sz="1400" u="none" cap="none" strike="noStrike">
                <a:solidFill>
                  <a:srgbClr val="2B3440"/>
                </a:solidFill>
                <a:latin typeface="Calibri"/>
                <a:ea typeface="Calibri"/>
                <a:cs typeface="Calibri"/>
                <a:sym typeface="Calibri"/>
              </a:rPr>
              <a:t>Tư vấn kỹ thuật  ·  Hỗ trợ lắp đặt và hướng dẫn sử dụng  ·  Bảo trì  ·  Bảo hành  ·  Sửa chữa thiết bị  →  là nền tảng hình thành quy trình Service Order Management được phân tích ở Chương 3 – 4.</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pic>
        <p:nvPicPr>
          <p:cNvPr id="212" name="Google Shape;212;p18"/>
          <p:cNvPicPr preferRelativeResize="0"/>
          <p:nvPr/>
        </p:nvPicPr>
        <p:blipFill rotWithShape="1">
          <a:blip r:embed="rId3">
            <a:alphaModFix/>
          </a:blip>
          <a:srcRect b="0" l="0" r="0" t="0"/>
          <a:stretch/>
        </p:blipFill>
        <p:spPr>
          <a:xfrm>
            <a:off x="6473950" y="1829308"/>
            <a:ext cx="5553075" cy="3492500"/>
          </a:xfrm>
          <a:prstGeom prst="rect">
            <a:avLst/>
          </a:prstGeom>
          <a:noFill/>
          <a:ln>
            <a:noFill/>
          </a:ln>
        </p:spPr>
      </p:pic>
      <p:sp>
        <p:nvSpPr>
          <p:cNvPr id="213" name="Google Shape;213;p18"/>
          <p:cNvSpPr txBox="1"/>
          <p:nvPr/>
        </p:nvSpPr>
        <p:spPr>
          <a:xfrm>
            <a:off x="658368" y="384048"/>
            <a:ext cx="108749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50" u="none" cap="none" strike="noStrike">
                <a:solidFill>
                  <a:srgbClr val="0096D6"/>
                </a:solidFill>
                <a:latin typeface="Calibri"/>
                <a:ea typeface="Calibri"/>
                <a:cs typeface="Calibri"/>
                <a:sym typeface="Calibri"/>
              </a:rPr>
              <a:t>CHƯƠNG 1 · 1.3 CƠ CẤU TỔ CHỨC</a:t>
            </a:r>
            <a:endParaRPr/>
          </a:p>
        </p:txBody>
      </p:sp>
      <p:sp>
        <p:nvSpPr>
          <p:cNvPr id="214" name="Google Shape;214;p18"/>
          <p:cNvSpPr txBox="1"/>
          <p:nvPr/>
        </p:nvSpPr>
        <p:spPr>
          <a:xfrm>
            <a:off x="658368" y="640080"/>
            <a:ext cx="10874959" cy="603504"/>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2500" u="none" cap="none" strike="noStrike">
                <a:solidFill>
                  <a:srgbClr val="0A2540"/>
                </a:solidFill>
                <a:latin typeface="Calibri"/>
                <a:ea typeface="Calibri"/>
                <a:cs typeface="Calibri"/>
                <a:sym typeface="Calibri"/>
              </a:rPr>
              <a:t>MÔ HÌNH QUẢN LÝ THEO CHIỀU DỌC</a:t>
            </a:r>
            <a:endParaRPr/>
          </a:p>
        </p:txBody>
      </p:sp>
      <p:sp>
        <p:nvSpPr>
          <p:cNvPr id="215" name="Google Shape;215;p18"/>
          <p:cNvSpPr/>
          <p:nvPr/>
        </p:nvSpPr>
        <p:spPr>
          <a:xfrm>
            <a:off x="658368" y="1280160"/>
            <a:ext cx="566928" cy="41148"/>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16" name="Google Shape;216;p18"/>
          <p:cNvSpPr/>
          <p:nvPr/>
        </p:nvSpPr>
        <p:spPr>
          <a:xfrm>
            <a:off x="1298448" y="1280160"/>
            <a:ext cx="10234879" cy="41148"/>
          </a:xfrm>
          <a:prstGeom prst="rect">
            <a:avLst/>
          </a:prstGeom>
          <a:solidFill>
            <a:srgbClr val="DFE4E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17" name="Google Shape;217;p18"/>
          <p:cNvSpPr txBox="1"/>
          <p:nvPr/>
        </p:nvSpPr>
        <p:spPr>
          <a:xfrm>
            <a:off x="658368" y="6355080"/>
            <a:ext cx="10326319"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850" u="none" cap="none" strike="noStrike">
                <a:solidFill>
                  <a:srgbClr val="6B7784"/>
                </a:solidFill>
                <a:latin typeface="Calibri"/>
                <a:ea typeface="Calibri"/>
                <a:cs typeface="Calibri"/>
                <a:sym typeface="Calibri"/>
              </a:rPr>
              <a:t>SOLVENTUM VIỆT NAM  ·  HỆ THỐNG QUẢN TRỊ QUY TRÌNH NGHIỆP VỤ</a:t>
            </a:r>
            <a:endParaRPr/>
          </a:p>
        </p:txBody>
      </p:sp>
      <p:sp>
        <p:nvSpPr>
          <p:cNvPr id="218" name="Google Shape;218;p18"/>
          <p:cNvSpPr txBox="1"/>
          <p:nvPr/>
        </p:nvSpPr>
        <p:spPr>
          <a:xfrm>
            <a:off x="10984687" y="6355080"/>
            <a:ext cx="548640" cy="2286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1" i="0" lang="en-US" sz="950" u="none" cap="none" strike="noStrike">
                <a:solidFill>
                  <a:srgbClr val="0096D6"/>
                </a:solidFill>
                <a:latin typeface="Calibri"/>
                <a:ea typeface="Calibri"/>
                <a:cs typeface="Calibri"/>
                <a:sym typeface="Calibri"/>
              </a:rPr>
              <a:t>6</a:t>
            </a:r>
            <a:endParaRPr/>
          </a:p>
        </p:txBody>
      </p:sp>
      <p:sp>
        <p:nvSpPr>
          <p:cNvPr id="219" name="Google Shape;219;p18"/>
          <p:cNvSpPr txBox="1"/>
          <p:nvPr/>
        </p:nvSpPr>
        <p:spPr>
          <a:xfrm>
            <a:off x="658368" y="1536192"/>
            <a:ext cx="6035040" cy="2154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0096D6"/>
                </a:solidFill>
                <a:latin typeface="Calibri"/>
                <a:ea typeface="Calibri"/>
                <a:cs typeface="Calibri"/>
                <a:sym typeface="Calibri"/>
              </a:rPr>
              <a:t>VERTICAL ORGANIZATION — ba cấp quản lý</a:t>
            </a:r>
            <a:endParaRPr b="1" i="0" sz="1400" u="none" cap="none" strike="noStrike">
              <a:solidFill>
                <a:srgbClr val="0096D6"/>
              </a:solidFill>
              <a:latin typeface="Calibri"/>
              <a:ea typeface="Calibri"/>
              <a:cs typeface="Calibri"/>
              <a:sym typeface="Calibri"/>
            </a:endParaRPr>
          </a:p>
        </p:txBody>
      </p:sp>
      <p:sp>
        <p:nvSpPr>
          <p:cNvPr id="220" name="Google Shape;220;p18"/>
          <p:cNvSpPr/>
          <p:nvPr/>
        </p:nvSpPr>
        <p:spPr>
          <a:xfrm>
            <a:off x="658368" y="1920240"/>
            <a:ext cx="5943600" cy="676656"/>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221" name="Google Shape;221;p18"/>
          <p:cNvSpPr/>
          <p:nvPr/>
        </p:nvSpPr>
        <p:spPr>
          <a:xfrm>
            <a:off x="658368" y="1920240"/>
            <a:ext cx="50292" cy="676656"/>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222" name="Google Shape;222;p18"/>
          <p:cNvSpPr txBox="1"/>
          <p:nvPr/>
        </p:nvSpPr>
        <p:spPr>
          <a:xfrm>
            <a:off x="896112" y="2011680"/>
            <a:ext cx="5486400" cy="2154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0A2540"/>
                </a:solidFill>
                <a:latin typeface="Calibri"/>
                <a:ea typeface="Calibri"/>
                <a:cs typeface="Calibri"/>
                <a:sym typeface="Calibri"/>
              </a:rPr>
              <a:t>GLOBAL LEADERSHIP</a:t>
            </a:r>
            <a:endParaRPr/>
          </a:p>
        </p:txBody>
      </p:sp>
      <p:sp>
        <p:nvSpPr>
          <p:cNvPr id="223" name="Google Shape;223;p18"/>
          <p:cNvSpPr txBox="1"/>
          <p:nvPr/>
        </p:nvSpPr>
        <p:spPr>
          <a:xfrm>
            <a:off x="896112" y="2286000"/>
            <a:ext cx="5486400" cy="23698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400" u="none" cap="none" strike="noStrike">
                <a:solidFill>
                  <a:srgbClr val="6B7784"/>
                </a:solidFill>
                <a:latin typeface="Calibri"/>
                <a:ea typeface="Calibri"/>
                <a:cs typeface="Calibri"/>
                <a:sym typeface="Calibri"/>
              </a:rPr>
              <a:t>Định hướng chiến lược, chuẩn mực quản trị toàn tập đoàn</a:t>
            </a:r>
            <a:endParaRPr b="0" i="0" sz="1400" u="none" cap="none" strike="noStrike">
              <a:solidFill>
                <a:srgbClr val="6B7784"/>
              </a:solidFill>
              <a:latin typeface="Calibri"/>
              <a:ea typeface="Calibri"/>
              <a:cs typeface="Calibri"/>
              <a:sym typeface="Calibri"/>
            </a:endParaRPr>
          </a:p>
        </p:txBody>
      </p:sp>
      <p:sp>
        <p:nvSpPr>
          <p:cNvPr id="224" name="Google Shape;224;p18"/>
          <p:cNvSpPr txBox="1"/>
          <p:nvPr/>
        </p:nvSpPr>
        <p:spPr>
          <a:xfrm>
            <a:off x="841247" y="2596896"/>
            <a:ext cx="365760" cy="2154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0096D6"/>
                </a:solidFill>
                <a:latin typeface="Calibri"/>
                <a:ea typeface="Calibri"/>
                <a:cs typeface="Calibri"/>
                <a:sym typeface="Calibri"/>
              </a:rPr>
              <a:t>▼</a:t>
            </a:r>
            <a:endParaRPr/>
          </a:p>
        </p:txBody>
      </p:sp>
      <p:sp>
        <p:nvSpPr>
          <p:cNvPr id="225" name="Google Shape;225;p18"/>
          <p:cNvSpPr/>
          <p:nvPr/>
        </p:nvSpPr>
        <p:spPr>
          <a:xfrm>
            <a:off x="932688" y="2798064"/>
            <a:ext cx="5669280" cy="676656"/>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226" name="Google Shape;226;p18"/>
          <p:cNvSpPr/>
          <p:nvPr/>
        </p:nvSpPr>
        <p:spPr>
          <a:xfrm>
            <a:off x="932688" y="2798064"/>
            <a:ext cx="50292" cy="676656"/>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227" name="Google Shape;227;p18"/>
          <p:cNvSpPr txBox="1"/>
          <p:nvPr/>
        </p:nvSpPr>
        <p:spPr>
          <a:xfrm>
            <a:off x="1170432" y="2889504"/>
            <a:ext cx="5212080" cy="2154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0A2540"/>
                </a:solidFill>
                <a:latin typeface="Calibri"/>
                <a:ea typeface="Calibri"/>
                <a:cs typeface="Calibri"/>
                <a:sym typeface="Calibri"/>
              </a:rPr>
              <a:t>REGIONAL LEADERSHIP (APAC)</a:t>
            </a:r>
            <a:endParaRPr/>
          </a:p>
        </p:txBody>
      </p:sp>
      <p:sp>
        <p:nvSpPr>
          <p:cNvPr id="228" name="Google Shape;228;p18"/>
          <p:cNvSpPr txBox="1"/>
          <p:nvPr/>
        </p:nvSpPr>
        <p:spPr>
          <a:xfrm>
            <a:off x="1170432" y="3163824"/>
            <a:ext cx="5212080" cy="23698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400" u="none" cap="none" strike="noStrike">
                <a:solidFill>
                  <a:srgbClr val="6B7784"/>
                </a:solidFill>
                <a:latin typeface="Calibri"/>
                <a:ea typeface="Calibri"/>
                <a:cs typeface="Calibri"/>
                <a:sym typeface="Calibri"/>
              </a:rPr>
              <a:t>Điều phối hoạt động và giám sát mục tiêu khu vực châu Á – TBD</a:t>
            </a:r>
            <a:endParaRPr/>
          </a:p>
        </p:txBody>
      </p:sp>
      <p:sp>
        <p:nvSpPr>
          <p:cNvPr id="229" name="Google Shape;229;p18"/>
          <p:cNvSpPr txBox="1"/>
          <p:nvPr/>
        </p:nvSpPr>
        <p:spPr>
          <a:xfrm>
            <a:off x="1115568" y="3474720"/>
            <a:ext cx="365760" cy="2154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0096D6"/>
                </a:solidFill>
                <a:latin typeface="Calibri"/>
                <a:ea typeface="Calibri"/>
                <a:cs typeface="Calibri"/>
                <a:sym typeface="Calibri"/>
              </a:rPr>
              <a:t>▼</a:t>
            </a:r>
            <a:endParaRPr/>
          </a:p>
        </p:txBody>
      </p:sp>
      <p:sp>
        <p:nvSpPr>
          <p:cNvPr id="230" name="Google Shape;230;p18"/>
          <p:cNvSpPr/>
          <p:nvPr/>
        </p:nvSpPr>
        <p:spPr>
          <a:xfrm>
            <a:off x="1207007" y="3675887"/>
            <a:ext cx="5394960" cy="676656"/>
          </a:xfrm>
          <a:prstGeom prst="rect">
            <a:avLst/>
          </a:prstGeom>
          <a:solidFill>
            <a:srgbClr val="0A2540"/>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231" name="Google Shape;231;p18"/>
          <p:cNvSpPr/>
          <p:nvPr/>
        </p:nvSpPr>
        <p:spPr>
          <a:xfrm>
            <a:off x="1207007" y="3675887"/>
            <a:ext cx="50292" cy="676656"/>
          </a:xfrm>
          <a:prstGeom prst="rect">
            <a:avLst/>
          </a:prstGeom>
          <a:solidFill>
            <a:srgbClr val="00C2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232" name="Google Shape;232;p18"/>
          <p:cNvSpPr txBox="1"/>
          <p:nvPr/>
        </p:nvSpPr>
        <p:spPr>
          <a:xfrm>
            <a:off x="1444751" y="3767327"/>
            <a:ext cx="4937760" cy="2154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FFFFFF"/>
                </a:solidFill>
                <a:latin typeface="Calibri"/>
                <a:ea typeface="Calibri"/>
                <a:cs typeface="Calibri"/>
                <a:sym typeface="Calibri"/>
              </a:rPr>
              <a:t>COUNTRY LEADERSHIP (VIỆT NAM)</a:t>
            </a:r>
            <a:endParaRPr/>
          </a:p>
        </p:txBody>
      </p:sp>
      <p:sp>
        <p:nvSpPr>
          <p:cNvPr id="233" name="Google Shape;233;p18"/>
          <p:cNvSpPr txBox="1"/>
          <p:nvPr/>
        </p:nvSpPr>
        <p:spPr>
          <a:xfrm>
            <a:off x="1444751" y="4041648"/>
            <a:ext cx="4937760" cy="23698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400" u="none" cap="none" strike="noStrike">
                <a:solidFill>
                  <a:srgbClr val="B6C9D8"/>
                </a:solidFill>
                <a:latin typeface="Calibri"/>
                <a:ea typeface="Calibri"/>
                <a:cs typeface="Calibri"/>
                <a:sym typeface="Calibri"/>
              </a:rPr>
              <a:t>Triển khai kế hoạch kinh doanh và vận hành tại thị trường Việt Nam</a:t>
            </a:r>
            <a:endParaRPr/>
          </a:p>
        </p:txBody>
      </p:sp>
      <p:sp>
        <p:nvSpPr>
          <p:cNvPr id="234" name="Google Shape;234;p18"/>
          <p:cNvSpPr txBox="1"/>
          <p:nvPr/>
        </p:nvSpPr>
        <p:spPr>
          <a:xfrm>
            <a:off x="658368" y="4608576"/>
            <a:ext cx="603504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00" u="none" cap="none" strike="noStrike">
                <a:solidFill>
                  <a:srgbClr val="0096D6"/>
                </a:solidFill>
                <a:latin typeface="Calibri"/>
                <a:ea typeface="Calibri"/>
                <a:cs typeface="Calibri"/>
                <a:sym typeface="Calibri"/>
              </a:rPr>
              <a:t>CÁC BỘ PHẬN CHỨC NĂNG TẠI VIỆT NAM</a:t>
            </a:r>
            <a:endParaRPr/>
          </a:p>
        </p:txBody>
      </p:sp>
      <p:sp>
        <p:nvSpPr>
          <p:cNvPr id="235" name="Google Shape;235;p18"/>
          <p:cNvSpPr/>
          <p:nvPr/>
        </p:nvSpPr>
        <p:spPr>
          <a:xfrm>
            <a:off x="658368" y="4937760"/>
            <a:ext cx="1389888" cy="384048"/>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236" name="Google Shape;236;p18"/>
          <p:cNvSpPr txBox="1"/>
          <p:nvPr/>
        </p:nvSpPr>
        <p:spPr>
          <a:xfrm>
            <a:off x="749808" y="4903568"/>
            <a:ext cx="1207008" cy="452432"/>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None/>
            </a:pPr>
            <a:r>
              <a:rPr b="1" i="0" lang="en-US" sz="1400" u="none" cap="none" strike="noStrike">
                <a:solidFill>
                  <a:srgbClr val="0A2540"/>
                </a:solidFill>
                <a:latin typeface="Calibri"/>
                <a:ea typeface="Calibri"/>
                <a:cs typeface="Calibri"/>
                <a:sym typeface="Calibri"/>
              </a:rPr>
              <a:t>Sales (Kinh doanh)</a:t>
            </a:r>
            <a:endParaRPr/>
          </a:p>
        </p:txBody>
      </p:sp>
      <p:sp>
        <p:nvSpPr>
          <p:cNvPr id="237" name="Google Shape;237;p18"/>
          <p:cNvSpPr/>
          <p:nvPr/>
        </p:nvSpPr>
        <p:spPr>
          <a:xfrm>
            <a:off x="2139696" y="4937760"/>
            <a:ext cx="1389888" cy="384048"/>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238" name="Google Shape;238;p18"/>
          <p:cNvSpPr txBox="1"/>
          <p:nvPr/>
        </p:nvSpPr>
        <p:spPr>
          <a:xfrm>
            <a:off x="2231136" y="5016676"/>
            <a:ext cx="1207008" cy="226216"/>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None/>
            </a:pPr>
            <a:r>
              <a:rPr b="1" i="0" lang="en-US" sz="1400" u="none" cap="none" strike="noStrike">
                <a:solidFill>
                  <a:srgbClr val="0A2540"/>
                </a:solidFill>
                <a:latin typeface="Calibri"/>
                <a:ea typeface="Calibri"/>
                <a:cs typeface="Calibri"/>
                <a:sym typeface="Calibri"/>
              </a:rPr>
              <a:t>Marketing</a:t>
            </a:r>
            <a:endParaRPr/>
          </a:p>
        </p:txBody>
      </p:sp>
      <p:sp>
        <p:nvSpPr>
          <p:cNvPr id="239" name="Google Shape;239;p18"/>
          <p:cNvSpPr/>
          <p:nvPr/>
        </p:nvSpPr>
        <p:spPr>
          <a:xfrm>
            <a:off x="3621024" y="4937760"/>
            <a:ext cx="1389888" cy="384048"/>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240" name="Google Shape;240;p18"/>
          <p:cNvSpPr txBox="1"/>
          <p:nvPr/>
        </p:nvSpPr>
        <p:spPr>
          <a:xfrm>
            <a:off x="3712463" y="5016676"/>
            <a:ext cx="1207008" cy="226216"/>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None/>
            </a:pPr>
            <a:r>
              <a:rPr b="1" i="0" lang="en-US" sz="1400" u="none" cap="none" strike="noStrike">
                <a:solidFill>
                  <a:srgbClr val="0A2540"/>
                </a:solidFill>
                <a:latin typeface="Calibri"/>
                <a:ea typeface="Calibri"/>
                <a:cs typeface="Calibri"/>
                <a:sym typeface="Calibri"/>
              </a:rPr>
              <a:t>Supply Chain</a:t>
            </a:r>
            <a:endParaRPr/>
          </a:p>
        </p:txBody>
      </p:sp>
      <p:sp>
        <p:nvSpPr>
          <p:cNvPr id="241" name="Google Shape;241;p18"/>
          <p:cNvSpPr/>
          <p:nvPr/>
        </p:nvSpPr>
        <p:spPr>
          <a:xfrm>
            <a:off x="5102352" y="4937760"/>
            <a:ext cx="1389888" cy="384048"/>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242" name="Google Shape;242;p18"/>
          <p:cNvSpPr txBox="1"/>
          <p:nvPr/>
        </p:nvSpPr>
        <p:spPr>
          <a:xfrm>
            <a:off x="5193792" y="4903568"/>
            <a:ext cx="1207008" cy="452432"/>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None/>
            </a:pPr>
            <a:r>
              <a:rPr b="1" i="0" lang="en-US" sz="1400" u="none" cap="none" strike="noStrike">
                <a:solidFill>
                  <a:srgbClr val="0A2540"/>
                </a:solidFill>
                <a:latin typeface="Calibri"/>
                <a:ea typeface="Calibri"/>
                <a:cs typeface="Calibri"/>
                <a:sym typeface="Calibri"/>
              </a:rPr>
              <a:t>Finance – Accounting</a:t>
            </a:r>
            <a:endParaRPr/>
          </a:p>
        </p:txBody>
      </p:sp>
      <p:sp>
        <p:nvSpPr>
          <p:cNvPr id="243" name="Google Shape;243;p18"/>
          <p:cNvSpPr/>
          <p:nvPr/>
        </p:nvSpPr>
        <p:spPr>
          <a:xfrm>
            <a:off x="658368" y="5413248"/>
            <a:ext cx="1389888" cy="384048"/>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244" name="Google Shape;244;p18"/>
          <p:cNvSpPr txBox="1"/>
          <p:nvPr/>
        </p:nvSpPr>
        <p:spPr>
          <a:xfrm>
            <a:off x="749808" y="5379056"/>
            <a:ext cx="1207008" cy="452432"/>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None/>
            </a:pPr>
            <a:r>
              <a:rPr b="1" i="0" lang="en-US" sz="1400" u="none" cap="none" strike="noStrike">
                <a:solidFill>
                  <a:srgbClr val="0A2540"/>
                </a:solidFill>
                <a:latin typeface="Calibri"/>
                <a:ea typeface="Calibri"/>
                <a:cs typeface="Calibri"/>
                <a:sym typeface="Calibri"/>
              </a:rPr>
              <a:t>Regulatory Affairs</a:t>
            </a:r>
            <a:endParaRPr/>
          </a:p>
        </p:txBody>
      </p:sp>
      <p:sp>
        <p:nvSpPr>
          <p:cNvPr id="245" name="Google Shape;245;p18"/>
          <p:cNvSpPr/>
          <p:nvPr/>
        </p:nvSpPr>
        <p:spPr>
          <a:xfrm>
            <a:off x="2139696" y="5413248"/>
            <a:ext cx="1389888" cy="384048"/>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246" name="Google Shape;246;p18"/>
          <p:cNvSpPr txBox="1"/>
          <p:nvPr/>
        </p:nvSpPr>
        <p:spPr>
          <a:xfrm>
            <a:off x="2231136" y="5492164"/>
            <a:ext cx="1207008" cy="226216"/>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None/>
            </a:pPr>
            <a:r>
              <a:rPr b="1" i="0" lang="en-US" sz="1400" u="none" cap="none" strike="noStrike">
                <a:solidFill>
                  <a:srgbClr val="0A2540"/>
                </a:solidFill>
                <a:latin typeface="Calibri"/>
                <a:ea typeface="Calibri"/>
                <a:cs typeface="Calibri"/>
                <a:sym typeface="Calibri"/>
              </a:rPr>
              <a:t>Quality</a:t>
            </a:r>
            <a:endParaRPr/>
          </a:p>
        </p:txBody>
      </p:sp>
      <p:sp>
        <p:nvSpPr>
          <p:cNvPr id="247" name="Google Shape;247;p18"/>
          <p:cNvSpPr/>
          <p:nvPr/>
        </p:nvSpPr>
        <p:spPr>
          <a:xfrm>
            <a:off x="3621024" y="5413248"/>
            <a:ext cx="1389888" cy="384048"/>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248" name="Google Shape;248;p18"/>
          <p:cNvSpPr txBox="1"/>
          <p:nvPr/>
        </p:nvSpPr>
        <p:spPr>
          <a:xfrm>
            <a:off x="3712463" y="5379056"/>
            <a:ext cx="1207008" cy="452432"/>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None/>
            </a:pPr>
            <a:r>
              <a:rPr b="1" i="0" lang="en-US" sz="1400" u="none" cap="none" strike="noStrike">
                <a:solidFill>
                  <a:srgbClr val="0A2540"/>
                </a:solidFill>
                <a:latin typeface="Calibri"/>
                <a:ea typeface="Calibri"/>
                <a:cs typeface="Calibri"/>
                <a:sym typeface="Calibri"/>
              </a:rPr>
              <a:t>Technical Service</a:t>
            </a:r>
            <a:endParaRPr/>
          </a:p>
        </p:txBody>
      </p:sp>
      <p:sp>
        <p:nvSpPr>
          <p:cNvPr id="249" name="Google Shape;249;p18"/>
          <p:cNvSpPr/>
          <p:nvPr/>
        </p:nvSpPr>
        <p:spPr>
          <a:xfrm>
            <a:off x="5102352" y="5413248"/>
            <a:ext cx="1389888" cy="384048"/>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250" name="Google Shape;250;p18"/>
          <p:cNvSpPr txBox="1"/>
          <p:nvPr/>
        </p:nvSpPr>
        <p:spPr>
          <a:xfrm>
            <a:off x="5193792" y="5379056"/>
            <a:ext cx="1207008" cy="452432"/>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None/>
            </a:pPr>
            <a:r>
              <a:rPr b="1" i="0" lang="en-US" sz="1400" u="none" cap="none" strike="noStrike">
                <a:solidFill>
                  <a:srgbClr val="0A2540"/>
                </a:solidFill>
                <a:latin typeface="Calibri"/>
                <a:ea typeface="Calibri"/>
                <a:cs typeface="Calibri"/>
                <a:sym typeface="Calibri"/>
              </a:rPr>
              <a:t>Human Resources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19"/>
          <p:cNvSpPr txBox="1"/>
          <p:nvPr/>
        </p:nvSpPr>
        <p:spPr>
          <a:xfrm>
            <a:off x="658368" y="384048"/>
            <a:ext cx="108749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50" u="none" cap="none" strike="noStrike">
                <a:solidFill>
                  <a:srgbClr val="0096D6"/>
                </a:solidFill>
                <a:latin typeface="Calibri"/>
                <a:ea typeface="Calibri"/>
                <a:cs typeface="Calibri"/>
                <a:sym typeface="Calibri"/>
              </a:rPr>
              <a:t>CHƯƠNG 1 · 1.4 MỤC TIÊU VÀ PHẠM VI</a:t>
            </a:r>
            <a:endParaRPr/>
          </a:p>
        </p:txBody>
      </p:sp>
      <p:sp>
        <p:nvSpPr>
          <p:cNvPr id="256" name="Google Shape;256;p19"/>
          <p:cNvSpPr txBox="1"/>
          <p:nvPr/>
        </p:nvSpPr>
        <p:spPr>
          <a:xfrm>
            <a:off x="658368" y="640080"/>
            <a:ext cx="10874959" cy="603504"/>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2500" u="none" cap="none" strike="noStrike">
                <a:solidFill>
                  <a:srgbClr val="0A2540"/>
                </a:solidFill>
                <a:latin typeface="Calibri"/>
                <a:ea typeface="Calibri"/>
                <a:cs typeface="Calibri"/>
                <a:sym typeface="Calibri"/>
              </a:rPr>
              <a:t>MỤC TIÊU VÀ PHẠM VI NGHIÊN CỨU</a:t>
            </a:r>
            <a:endParaRPr/>
          </a:p>
        </p:txBody>
      </p:sp>
      <p:sp>
        <p:nvSpPr>
          <p:cNvPr id="257" name="Google Shape;257;p19"/>
          <p:cNvSpPr/>
          <p:nvPr/>
        </p:nvSpPr>
        <p:spPr>
          <a:xfrm>
            <a:off x="658368" y="1280160"/>
            <a:ext cx="566928" cy="41148"/>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58" name="Google Shape;258;p19"/>
          <p:cNvSpPr/>
          <p:nvPr/>
        </p:nvSpPr>
        <p:spPr>
          <a:xfrm>
            <a:off x="1298448" y="1280160"/>
            <a:ext cx="10234879" cy="41148"/>
          </a:xfrm>
          <a:prstGeom prst="rect">
            <a:avLst/>
          </a:prstGeom>
          <a:solidFill>
            <a:srgbClr val="DFE4E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59" name="Google Shape;259;p19"/>
          <p:cNvSpPr txBox="1"/>
          <p:nvPr/>
        </p:nvSpPr>
        <p:spPr>
          <a:xfrm>
            <a:off x="658368" y="6355080"/>
            <a:ext cx="10326319"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850" u="none" cap="none" strike="noStrike">
                <a:solidFill>
                  <a:srgbClr val="6B7784"/>
                </a:solidFill>
                <a:latin typeface="Calibri"/>
                <a:ea typeface="Calibri"/>
                <a:cs typeface="Calibri"/>
                <a:sym typeface="Calibri"/>
              </a:rPr>
              <a:t>SOLVENTUM VIỆT NAM  ·  HỆ THỐNG QUẢN TRỊ QUY TRÌNH NGHIỆP VỤ</a:t>
            </a:r>
            <a:endParaRPr/>
          </a:p>
        </p:txBody>
      </p:sp>
      <p:sp>
        <p:nvSpPr>
          <p:cNvPr id="260" name="Google Shape;260;p19"/>
          <p:cNvSpPr txBox="1"/>
          <p:nvPr/>
        </p:nvSpPr>
        <p:spPr>
          <a:xfrm>
            <a:off x="10984687" y="6355080"/>
            <a:ext cx="548640" cy="2286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1" i="0" lang="en-US" sz="950" u="none" cap="none" strike="noStrike">
                <a:solidFill>
                  <a:srgbClr val="0096D6"/>
                </a:solidFill>
                <a:latin typeface="Calibri"/>
                <a:ea typeface="Calibri"/>
                <a:cs typeface="Calibri"/>
                <a:sym typeface="Calibri"/>
              </a:rPr>
              <a:t>7</a:t>
            </a:r>
            <a:endParaRPr/>
          </a:p>
        </p:txBody>
      </p:sp>
      <p:sp>
        <p:nvSpPr>
          <p:cNvPr id="261" name="Google Shape;261;p19"/>
          <p:cNvSpPr/>
          <p:nvPr/>
        </p:nvSpPr>
        <p:spPr>
          <a:xfrm>
            <a:off x="658368" y="1572768"/>
            <a:ext cx="5257800" cy="4160520"/>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262" name="Google Shape;262;p19"/>
          <p:cNvSpPr/>
          <p:nvPr/>
        </p:nvSpPr>
        <p:spPr>
          <a:xfrm>
            <a:off x="658368" y="1572768"/>
            <a:ext cx="5257800" cy="50292"/>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263" name="Google Shape;263;p19"/>
          <p:cNvSpPr txBox="1"/>
          <p:nvPr/>
        </p:nvSpPr>
        <p:spPr>
          <a:xfrm>
            <a:off x="932688" y="1792224"/>
            <a:ext cx="4754880" cy="2154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0A2540"/>
                </a:solidFill>
                <a:latin typeface="Calibri"/>
                <a:ea typeface="Calibri"/>
                <a:cs typeface="Calibri"/>
                <a:sym typeface="Calibri"/>
              </a:rPr>
              <a:t>MỤC TIÊU NGHIÊN CỨU</a:t>
            </a:r>
            <a:endParaRPr/>
          </a:p>
        </p:txBody>
      </p:sp>
      <p:sp>
        <p:nvSpPr>
          <p:cNvPr id="264" name="Google Shape;264;p19"/>
          <p:cNvSpPr txBox="1"/>
          <p:nvPr/>
        </p:nvSpPr>
        <p:spPr>
          <a:xfrm>
            <a:off x="932688" y="2212848"/>
            <a:ext cx="4754880" cy="338328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US" sz="1400" u="none" cap="none" strike="noStrike">
                <a:solidFill>
                  <a:srgbClr val="2B3440"/>
                </a:solidFill>
                <a:latin typeface="Calibri"/>
                <a:ea typeface="Calibri"/>
                <a:cs typeface="Calibri"/>
                <a:sym typeface="Calibri"/>
              </a:rPr>
              <a:t>1.   Vận dụng kiến thức BPM vào hoạt động thực tế của doanh nghiệp.</a:t>
            </a:r>
            <a:endParaRPr/>
          </a:p>
          <a:p>
            <a:pPr indent="0" lvl="0" marL="0" marR="0" rtl="0" algn="l">
              <a:lnSpc>
                <a:spcPct val="125000"/>
              </a:lnSpc>
              <a:spcBef>
                <a:spcPts val="1100"/>
              </a:spcBef>
              <a:spcAft>
                <a:spcPts val="0"/>
              </a:spcAft>
              <a:buNone/>
            </a:pPr>
            <a:r>
              <a:rPr b="0" i="0" lang="en-US" sz="1400" u="none" cap="none" strike="noStrike">
                <a:solidFill>
                  <a:srgbClr val="2B3440"/>
                </a:solidFill>
                <a:latin typeface="Calibri"/>
                <a:ea typeface="Calibri"/>
                <a:cs typeface="Calibri"/>
                <a:sym typeface="Calibri"/>
              </a:rPr>
              <a:t>2.   Khảo sát và xây dựng kiến trúc quy trình nghiệp vụ (Process Landscape) của Solventum Việt Nam.</a:t>
            </a:r>
            <a:endParaRPr/>
          </a:p>
          <a:p>
            <a:pPr indent="0" lvl="0" marL="0" marR="0" rtl="0" algn="l">
              <a:lnSpc>
                <a:spcPct val="125000"/>
              </a:lnSpc>
              <a:spcBef>
                <a:spcPts val="1100"/>
              </a:spcBef>
              <a:spcAft>
                <a:spcPts val="0"/>
              </a:spcAft>
              <a:buNone/>
            </a:pPr>
            <a:r>
              <a:rPr b="0" i="0" lang="en-US" sz="1400" u="none" cap="none" strike="noStrike">
                <a:solidFill>
                  <a:srgbClr val="2B3440"/>
                </a:solidFill>
                <a:latin typeface="Calibri"/>
                <a:ea typeface="Calibri"/>
                <a:cs typeface="Calibri"/>
                <a:sym typeface="Calibri"/>
              </a:rPr>
              <a:t>3.   Mô hình hóa hiện trạng (As-Is) các quy trình tiêu biểu bằng chuẩn BPMN 2.0.</a:t>
            </a:r>
            <a:endParaRPr/>
          </a:p>
          <a:p>
            <a:pPr indent="0" lvl="0" marL="0" marR="0" rtl="0" algn="l">
              <a:lnSpc>
                <a:spcPct val="125000"/>
              </a:lnSpc>
              <a:spcBef>
                <a:spcPts val="1100"/>
              </a:spcBef>
              <a:spcAft>
                <a:spcPts val="0"/>
              </a:spcAft>
              <a:buNone/>
            </a:pPr>
            <a:r>
              <a:rPr b="0" i="0" lang="en-US" sz="1400" u="none" cap="none" strike="noStrike">
                <a:solidFill>
                  <a:srgbClr val="2B3440"/>
                </a:solidFill>
                <a:latin typeface="Calibri"/>
                <a:ea typeface="Calibri"/>
                <a:cs typeface="Calibri"/>
                <a:sym typeface="Calibri"/>
              </a:rPr>
              <a:t>4.   Lựa chọn quy trình trọng tâm để phân tích chuyên sâu về giá trị gia tăng, lãng phí, thời gian và chi phí.</a:t>
            </a:r>
            <a:endParaRPr/>
          </a:p>
          <a:p>
            <a:pPr indent="0" lvl="0" marL="0" marR="0" rtl="0" algn="l">
              <a:lnSpc>
                <a:spcPct val="125000"/>
              </a:lnSpc>
              <a:spcBef>
                <a:spcPts val="1100"/>
              </a:spcBef>
              <a:spcAft>
                <a:spcPts val="0"/>
              </a:spcAft>
              <a:buNone/>
            </a:pPr>
            <a:r>
              <a:rPr b="0" i="0" lang="en-US" sz="1400" u="none" cap="none" strike="noStrike">
                <a:solidFill>
                  <a:srgbClr val="2B3440"/>
                </a:solidFill>
                <a:latin typeface="Calibri"/>
                <a:ea typeface="Calibri"/>
                <a:cs typeface="Calibri"/>
                <a:sym typeface="Calibri"/>
              </a:rPr>
              <a:t>5.   Đề xuất giải pháp nâng cao hiệu quả vận hành và chuẩn hóa quy trình.</a:t>
            </a:r>
            <a:endParaRPr/>
          </a:p>
        </p:txBody>
      </p:sp>
      <p:sp>
        <p:nvSpPr>
          <p:cNvPr id="265" name="Google Shape;265;p19"/>
          <p:cNvSpPr/>
          <p:nvPr/>
        </p:nvSpPr>
        <p:spPr>
          <a:xfrm>
            <a:off x="6272783" y="1572768"/>
            <a:ext cx="5257800" cy="1993392"/>
          </a:xfrm>
          <a:prstGeom prst="rect">
            <a:avLst/>
          </a:prstGeom>
          <a:solidFill>
            <a:srgbClr val="E7F7F3"/>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266" name="Google Shape;266;p19"/>
          <p:cNvSpPr/>
          <p:nvPr/>
        </p:nvSpPr>
        <p:spPr>
          <a:xfrm>
            <a:off x="6272783" y="1572768"/>
            <a:ext cx="5257800" cy="50292"/>
          </a:xfrm>
          <a:prstGeom prst="rect">
            <a:avLst/>
          </a:prstGeom>
          <a:solidFill>
            <a:srgbClr val="00C2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267" name="Google Shape;267;p19"/>
          <p:cNvSpPr txBox="1"/>
          <p:nvPr/>
        </p:nvSpPr>
        <p:spPr>
          <a:xfrm>
            <a:off x="6547104" y="1792224"/>
            <a:ext cx="4754880" cy="2154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0A2540"/>
                </a:solidFill>
                <a:latin typeface="Calibri"/>
                <a:ea typeface="Calibri"/>
                <a:cs typeface="Calibri"/>
                <a:sym typeface="Calibri"/>
              </a:rPr>
              <a:t>✓   TRONG PHẠM VI</a:t>
            </a:r>
            <a:endParaRPr/>
          </a:p>
        </p:txBody>
      </p:sp>
      <p:sp>
        <p:nvSpPr>
          <p:cNvPr id="268" name="Google Shape;268;p19"/>
          <p:cNvSpPr txBox="1"/>
          <p:nvPr/>
        </p:nvSpPr>
        <p:spPr>
          <a:xfrm>
            <a:off x="6547104" y="2176272"/>
            <a:ext cx="4754880" cy="968022"/>
          </a:xfrm>
          <a:prstGeom prst="rect">
            <a:avLst/>
          </a:prstGeom>
          <a:noFill/>
          <a:ln>
            <a:noFill/>
          </a:ln>
        </p:spPr>
        <p:txBody>
          <a:bodyPr anchorCtr="0" anchor="t" bIns="0" lIns="0" spcFirstLastPara="1" rIns="0" wrap="square" tIns="0">
            <a:spAutoFit/>
          </a:bodyPr>
          <a:lstStyle/>
          <a:p>
            <a:pPr indent="0" lvl="0" marL="0" marR="0" rtl="0" algn="l">
              <a:lnSpc>
                <a:spcPct val="122000"/>
              </a:lnSpc>
              <a:spcBef>
                <a:spcPts val="0"/>
              </a:spcBef>
              <a:spcAft>
                <a:spcPts val="0"/>
              </a:spcAft>
              <a:buNone/>
            </a:pPr>
            <a:r>
              <a:rPr b="0" i="0" lang="en-US" sz="1400" u="none" cap="none" strike="noStrike">
                <a:solidFill>
                  <a:srgbClr val="2B3440"/>
                </a:solidFill>
                <a:latin typeface="Calibri"/>
                <a:ea typeface="Calibri"/>
                <a:cs typeface="Calibri"/>
                <a:sym typeface="Calibri"/>
              </a:rPr>
              <a:t>•  Phân tích quy trình ở góc độ quản lý nghiệp vụ.</a:t>
            </a:r>
            <a:endParaRPr/>
          </a:p>
          <a:p>
            <a:pPr indent="0" lvl="0" marL="0" marR="0" rtl="0" algn="l">
              <a:lnSpc>
                <a:spcPct val="122000"/>
              </a:lnSpc>
              <a:spcBef>
                <a:spcPts val="700"/>
              </a:spcBef>
              <a:spcAft>
                <a:spcPts val="0"/>
              </a:spcAft>
              <a:buNone/>
            </a:pPr>
            <a:r>
              <a:rPr b="0" i="0" lang="en-US" sz="1400" u="none" cap="none" strike="noStrike">
                <a:solidFill>
                  <a:srgbClr val="2B3440"/>
                </a:solidFill>
                <a:latin typeface="Calibri"/>
                <a:ea typeface="Calibri"/>
                <a:cs typeface="Calibri"/>
                <a:sym typeface="Calibri"/>
              </a:rPr>
              <a:t>•  Khảo sát thực tế kết hợp tài liệu SOP và tài liệu hệ thống.</a:t>
            </a:r>
            <a:endParaRPr/>
          </a:p>
          <a:p>
            <a:pPr indent="0" lvl="0" marL="0" marR="0" rtl="0" algn="l">
              <a:lnSpc>
                <a:spcPct val="122000"/>
              </a:lnSpc>
              <a:spcBef>
                <a:spcPts val="700"/>
              </a:spcBef>
              <a:spcAft>
                <a:spcPts val="0"/>
              </a:spcAft>
              <a:buNone/>
            </a:pPr>
            <a:r>
              <a:rPr b="0" i="0" lang="en-US" sz="1400" u="none" cap="none" strike="noStrike">
                <a:solidFill>
                  <a:srgbClr val="2B3440"/>
                </a:solidFill>
                <a:latin typeface="Calibri"/>
                <a:ea typeface="Calibri"/>
                <a:cs typeface="Calibri"/>
                <a:sym typeface="Calibri"/>
              </a:rPr>
              <a:t>•  Mô hình hóa BPMN và phân tích định tính – định lượng.</a:t>
            </a:r>
            <a:endParaRPr/>
          </a:p>
        </p:txBody>
      </p:sp>
      <p:sp>
        <p:nvSpPr>
          <p:cNvPr id="269" name="Google Shape;269;p19"/>
          <p:cNvSpPr/>
          <p:nvPr/>
        </p:nvSpPr>
        <p:spPr>
          <a:xfrm>
            <a:off x="6272783" y="3739896"/>
            <a:ext cx="5257800" cy="1993392"/>
          </a:xfrm>
          <a:prstGeom prst="rect">
            <a:avLst/>
          </a:prstGeom>
          <a:solidFill>
            <a:srgbClr val="FEF3F2"/>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270" name="Google Shape;270;p19"/>
          <p:cNvSpPr/>
          <p:nvPr/>
        </p:nvSpPr>
        <p:spPr>
          <a:xfrm>
            <a:off x="6272783" y="3739896"/>
            <a:ext cx="5257800" cy="50292"/>
          </a:xfrm>
          <a:prstGeom prst="rect">
            <a:avLst/>
          </a:prstGeom>
          <a:solidFill>
            <a:srgbClr val="D92D2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271" name="Google Shape;271;p19"/>
          <p:cNvSpPr txBox="1"/>
          <p:nvPr/>
        </p:nvSpPr>
        <p:spPr>
          <a:xfrm>
            <a:off x="6547104" y="3959352"/>
            <a:ext cx="4754880" cy="2154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0A2540"/>
                </a:solidFill>
                <a:latin typeface="Calibri"/>
                <a:ea typeface="Calibri"/>
                <a:cs typeface="Calibri"/>
                <a:sym typeface="Calibri"/>
              </a:rPr>
              <a:t>✕   NGOÀI PHẠM VI</a:t>
            </a:r>
            <a:endParaRPr/>
          </a:p>
        </p:txBody>
      </p:sp>
      <p:sp>
        <p:nvSpPr>
          <p:cNvPr id="272" name="Google Shape;272;p19"/>
          <p:cNvSpPr txBox="1"/>
          <p:nvPr/>
        </p:nvSpPr>
        <p:spPr>
          <a:xfrm>
            <a:off x="6547104" y="4343400"/>
            <a:ext cx="4754880" cy="968022"/>
          </a:xfrm>
          <a:prstGeom prst="rect">
            <a:avLst/>
          </a:prstGeom>
          <a:noFill/>
          <a:ln>
            <a:noFill/>
          </a:ln>
        </p:spPr>
        <p:txBody>
          <a:bodyPr anchorCtr="0" anchor="t" bIns="0" lIns="0" spcFirstLastPara="1" rIns="0" wrap="square" tIns="0">
            <a:spAutoFit/>
          </a:bodyPr>
          <a:lstStyle/>
          <a:p>
            <a:pPr indent="0" lvl="0" marL="0" marR="0" rtl="0" algn="l">
              <a:lnSpc>
                <a:spcPct val="122000"/>
              </a:lnSpc>
              <a:spcBef>
                <a:spcPts val="0"/>
              </a:spcBef>
              <a:spcAft>
                <a:spcPts val="0"/>
              </a:spcAft>
              <a:buNone/>
            </a:pPr>
            <a:r>
              <a:rPr b="0" i="0" lang="en-US" sz="1400" u="none" cap="none" strike="noStrike">
                <a:solidFill>
                  <a:srgbClr val="2B3440"/>
                </a:solidFill>
                <a:latin typeface="Calibri"/>
                <a:ea typeface="Calibri"/>
                <a:cs typeface="Calibri"/>
                <a:sym typeface="Calibri"/>
              </a:rPr>
              <a:t>•  Thiết kế và phát triển hệ thống phần mềm.</a:t>
            </a:r>
            <a:endParaRPr/>
          </a:p>
          <a:p>
            <a:pPr indent="0" lvl="0" marL="0" marR="0" rtl="0" algn="l">
              <a:lnSpc>
                <a:spcPct val="122000"/>
              </a:lnSpc>
              <a:spcBef>
                <a:spcPts val="700"/>
              </a:spcBef>
              <a:spcAft>
                <a:spcPts val="0"/>
              </a:spcAft>
              <a:buNone/>
            </a:pPr>
            <a:r>
              <a:rPr b="0" i="0" lang="en-US" sz="1400" u="none" cap="none" strike="noStrike">
                <a:solidFill>
                  <a:srgbClr val="2B3440"/>
                </a:solidFill>
                <a:latin typeface="Calibri"/>
                <a:ea typeface="Calibri"/>
                <a:cs typeface="Calibri"/>
                <a:sym typeface="Calibri"/>
              </a:rPr>
              <a:t>•  Triển khai kỹ thuật hệ thống ERP/CRM tại doanh nghiệp.</a:t>
            </a:r>
            <a:endParaRPr/>
          </a:p>
          <a:p>
            <a:pPr indent="0" lvl="0" marL="0" marR="0" rtl="0" algn="l">
              <a:lnSpc>
                <a:spcPct val="122000"/>
              </a:lnSpc>
              <a:spcBef>
                <a:spcPts val="700"/>
              </a:spcBef>
              <a:spcAft>
                <a:spcPts val="0"/>
              </a:spcAft>
              <a:buNone/>
            </a:pPr>
            <a:r>
              <a:rPr b="0" i="0" lang="en-US" sz="1400" u="none" cap="none" strike="noStrike">
                <a:solidFill>
                  <a:srgbClr val="2B3440"/>
                </a:solidFill>
                <a:latin typeface="Calibri"/>
                <a:ea typeface="Calibri"/>
                <a:cs typeface="Calibri"/>
                <a:sym typeface="Calibri"/>
              </a:rPr>
              <a:t>•  Mô hình hóa toàn bộ hệ thống quy trình của tập đoàn.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2540"/>
        </a:solidFill>
      </p:bgPr>
    </p:bg>
    <p:spTree>
      <p:nvGrpSpPr>
        <p:cNvPr id="276" name="Shape 276"/>
        <p:cNvGrpSpPr/>
        <p:nvPr/>
      </p:nvGrpSpPr>
      <p:grpSpPr>
        <a:xfrm>
          <a:off x="0" y="0"/>
          <a:ext cx="0" cy="0"/>
          <a:chOff x="0" y="0"/>
          <a:chExt cx="0" cy="0"/>
        </a:xfrm>
      </p:grpSpPr>
      <p:sp>
        <p:nvSpPr>
          <p:cNvPr id="277" name="Google Shape;277;p20"/>
          <p:cNvSpPr/>
          <p:nvPr/>
        </p:nvSpPr>
        <p:spPr>
          <a:xfrm>
            <a:off x="0" y="0"/>
            <a:ext cx="182880" cy="6858000"/>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78" name="Google Shape;278;p20"/>
          <p:cNvSpPr/>
          <p:nvPr/>
        </p:nvSpPr>
        <p:spPr>
          <a:xfrm>
            <a:off x="7863840" y="0"/>
            <a:ext cx="4325112" cy="6858000"/>
          </a:xfrm>
          <a:prstGeom prst="rect">
            <a:avLst/>
          </a:prstGeom>
          <a:solidFill>
            <a:srgbClr val="143A5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79" name="Google Shape;279;p20"/>
          <p:cNvSpPr txBox="1"/>
          <p:nvPr/>
        </p:nvSpPr>
        <p:spPr>
          <a:xfrm>
            <a:off x="8229600" y="1874519"/>
            <a:ext cx="3657600" cy="2078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None/>
            </a:pPr>
            <a:r>
              <a:rPr b="1" i="0" lang="en-US" sz="15000" u="none" cap="none" strike="noStrike">
                <a:solidFill>
                  <a:srgbClr val="E7F7F3"/>
                </a:solidFill>
                <a:latin typeface="Calibri"/>
                <a:ea typeface="Calibri"/>
                <a:cs typeface="Calibri"/>
                <a:sym typeface="Calibri"/>
              </a:rPr>
              <a:t>02</a:t>
            </a:r>
            <a:endParaRPr>
              <a:solidFill>
                <a:srgbClr val="E7F7F3"/>
              </a:solidFill>
            </a:endParaRPr>
          </a:p>
        </p:txBody>
      </p:sp>
      <p:sp>
        <p:nvSpPr>
          <p:cNvPr id="280" name="Google Shape;280;p20"/>
          <p:cNvSpPr txBox="1"/>
          <p:nvPr/>
        </p:nvSpPr>
        <p:spPr>
          <a:xfrm>
            <a:off x="1051560" y="2331720"/>
            <a:ext cx="6583680" cy="2154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00C2A8"/>
                </a:solidFill>
                <a:latin typeface="Calibri"/>
                <a:ea typeface="Calibri"/>
                <a:cs typeface="Calibri"/>
                <a:sym typeface="Calibri"/>
              </a:rPr>
              <a:t>PHẦN 2 · PROCESS LANDSCAPE</a:t>
            </a:r>
            <a:endParaRPr/>
          </a:p>
        </p:txBody>
      </p:sp>
      <p:sp>
        <p:nvSpPr>
          <p:cNvPr id="281" name="Google Shape;281;p20"/>
          <p:cNvSpPr txBox="1"/>
          <p:nvPr/>
        </p:nvSpPr>
        <p:spPr>
          <a:xfrm>
            <a:off x="1051560" y="2724912"/>
            <a:ext cx="6583680" cy="1005840"/>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None/>
            </a:pPr>
            <a:r>
              <a:rPr b="1" i="0" lang="en-US" sz="3200" u="none" cap="none" strike="noStrike">
                <a:solidFill>
                  <a:srgbClr val="FFFFFF"/>
                </a:solidFill>
                <a:latin typeface="Calibri"/>
                <a:ea typeface="Calibri"/>
                <a:cs typeface="Calibri"/>
                <a:sym typeface="Calibri"/>
              </a:rPr>
              <a:t>Khảo sát hệ thống quy trình nghiệp vụ</a:t>
            </a:r>
            <a:endParaRPr/>
          </a:p>
        </p:txBody>
      </p:sp>
      <p:sp>
        <p:nvSpPr>
          <p:cNvPr id="282" name="Google Shape;282;p20"/>
          <p:cNvSpPr/>
          <p:nvPr/>
        </p:nvSpPr>
        <p:spPr>
          <a:xfrm>
            <a:off x="1051560" y="3858768"/>
            <a:ext cx="1005840" cy="45720"/>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83" name="Google Shape;283;p20"/>
          <p:cNvSpPr txBox="1"/>
          <p:nvPr/>
        </p:nvSpPr>
        <p:spPr>
          <a:xfrm>
            <a:off x="1051560" y="4096512"/>
            <a:ext cx="6492240" cy="280077"/>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1400" u="none" cap="none" strike="noStrike">
                <a:solidFill>
                  <a:srgbClr val="B6C9D8"/>
                </a:solidFill>
                <a:latin typeface="Calibri"/>
                <a:ea typeface="Calibri"/>
                <a:cs typeface="Calibri"/>
                <a:sym typeface="Calibri"/>
              </a:rPr>
              <a:t>Kiến trúc quy trình ba nhóm  ·  Danh mục 10 quy trình tiêu biểu  ·  Khung mô tả quy trình</a:t>
            </a:r>
            <a:endParaRPr b="0" i="0" sz="1400" u="none" cap="none" strike="noStrike">
              <a:solidFill>
                <a:srgbClr val="B6C9D8"/>
              </a:solidFill>
              <a:latin typeface="Calibri"/>
              <a:ea typeface="Calibri"/>
              <a:cs typeface="Calibri"/>
              <a:sym typeface="Calibri"/>
            </a:endParaRPr>
          </a:p>
        </p:txBody>
      </p:sp>
      <p:sp>
        <p:nvSpPr>
          <p:cNvPr id="284" name="Google Shape;284;p20"/>
          <p:cNvSpPr txBox="1"/>
          <p:nvPr/>
        </p:nvSpPr>
        <p:spPr>
          <a:xfrm>
            <a:off x="658368" y="6355080"/>
            <a:ext cx="10326319"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850" u="none" cap="none" strike="noStrike">
                <a:solidFill>
                  <a:srgbClr val="8FA6BC"/>
                </a:solidFill>
                <a:latin typeface="Calibri"/>
                <a:ea typeface="Calibri"/>
                <a:cs typeface="Calibri"/>
                <a:sym typeface="Calibri"/>
              </a:rPr>
              <a:t>SOLVENTUM VIỆT NAM  ·  HỆ THỐNG QUẢN TRỊ QUY TRÌNH NGHIỆP VỤ</a:t>
            </a:r>
            <a:endParaRPr/>
          </a:p>
        </p:txBody>
      </p:sp>
      <p:sp>
        <p:nvSpPr>
          <p:cNvPr id="285" name="Google Shape;285;p20"/>
          <p:cNvSpPr txBox="1"/>
          <p:nvPr/>
        </p:nvSpPr>
        <p:spPr>
          <a:xfrm>
            <a:off x="10984687" y="6355080"/>
            <a:ext cx="548640" cy="2286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1" i="0" lang="en-US" sz="950" u="none" cap="none" strike="noStrike">
                <a:solidFill>
                  <a:srgbClr val="00C2A8"/>
                </a:solidFill>
                <a:latin typeface="Calibri"/>
                <a:ea typeface="Calibri"/>
                <a:cs typeface="Calibri"/>
                <a:sym typeface="Calibri"/>
              </a:rPr>
              <a:t>8</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21"/>
          <p:cNvSpPr txBox="1"/>
          <p:nvPr/>
        </p:nvSpPr>
        <p:spPr>
          <a:xfrm>
            <a:off x="658368" y="384048"/>
            <a:ext cx="108749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50" u="none" cap="none" strike="noStrike">
                <a:solidFill>
                  <a:srgbClr val="0096D6"/>
                </a:solidFill>
                <a:latin typeface="Calibri"/>
                <a:ea typeface="Calibri"/>
                <a:cs typeface="Calibri"/>
                <a:sym typeface="Calibri"/>
              </a:rPr>
              <a:t>CHƯƠNG 2 · 2.1 BUSINESS PROCESS LANDSCAPE</a:t>
            </a:r>
            <a:endParaRPr/>
          </a:p>
        </p:txBody>
      </p:sp>
      <p:sp>
        <p:nvSpPr>
          <p:cNvPr id="291" name="Google Shape;291;p21"/>
          <p:cNvSpPr txBox="1"/>
          <p:nvPr/>
        </p:nvSpPr>
        <p:spPr>
          <a:xfrm>
            <a:off x="658368" y="640080"/>
            <a:ext cx="10874959" cy="603504"/>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2500" u="none" cap="none" strike="noStrike">
                <a:solidFill>
                  <a:srgbClr val="0A2540"/>
                </a:solidFill>
                <a:latin typeface="Calibri"/>
                <a:ea typeface="Calibri"/>
                <a:cs typeface="Calibri"/>
                <a:sym typeface="Calibri"/>
              </a:rPr>
              <a:t>KIẾN TRÚC QUY TRÌNH NGHIỆP VỤ</a:t>
            </a:r>
            <a:endParaRPr/>
          </a:p>
        </p:txBody>
      </p:sp>
      <p:sp>
        <p:nvSpPr>
          <p:cNvPr id="292" name="Google Shape;292;p21"/>
          <p:cNvSpPr/>
          <p:nvPr/>
        </p:nvSpPr>
        <p:spPr>
          <a:xfrm>
            <a:off x="658368" y="1280160"/>
            <a:ext cx="566928" cy="41148"/>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93" name="Google Shape;293;p21"/>
          <p:cNvSpPr/>
          <p:nvPr/>
        </p:nvSpPr>
        <p:spPr>
          <a:xfrm>
            <a:off x="1298448" y="1280160"/>
            <a:ext cx="10234879" cy="41148"/>
          </a:xfrm>
          <a:prstGeom prst="rect">
            <a:avLst/>
          </a:prstGeom>
          <a:solidFill>
            <a:srgbClr val="DFE4E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94" name="Google Shape;294;p21"/>
          <p:cNvSpPr txBox="1"/>
          <p:nvPr/>
        </p:nvSpPr>
        <p:spPr>
          <a:xfrm>
            <a:off x="658368" y="6355080"/>
            <a:ext cx="10326319"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850" u="none" cap="none" strike="noStrike">
                <a:solidFill>
                  <a:srgbClr val="6B7784"/>
                </a:solidFill>
                <a:latin typeface="Calibri"/>
                <a:ea typeface="Calibri"/>
                <a:cs typeface="Calibri"/>
                <a:sym typeface="Calibri"/>
              </a:rPr>
              <a:t>SOLVENTUM VIỆT NAM  ·  HỆ THỐNG QUẢN TRỊ QUY TRÌNH NGHIỆP VỤ</a:t>
            </a:r>
            <a:endParaRPr/>
          </a:p>
        </p:txBody>
      </p:sp>
      <p:sp>
        <p:nvSpPr>
          <p:cNvPr id="295" name="Google Shape;295;p21"/>
          <p:cNvSpPr txBox="1"/>
          <p:nvPr/>
        </p:nvSpPr>
        <p:spPr>
          <a:xfrm>
            <a:off x="10984687" y="6355080"/>
            <a:ext cx="548640" cy="2286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1" i="0" lang="en-US" sz="950" u="none" cap="none" strike="noStrike">
                <a:solidFill>
                  <a:srgbClr val="0096D6"/>
                </a:solidFill>
                <a:latin typeface="Calibri"/>
                <a:ea typeface="Calibri"/>
                <a:cs typeface="Calibri"/>
                <a:sym typeface="Calibri"/>
              </a:rPr>
              <a:t>9</a:t>
            </a:r>
            <a:endParaRPr/>
          </a:p>
        </p:txBody>
      </p:sp>
      <p:sp>
        <p:nvSpPr>
          <p:cNvPr id="296" name="Google Shape;296;p21"/>
          <p:cNvSpPr/>
          <p:nvPr/>
        </p:nvSpPr>
        <p:spPr>
          <a:xfrm>
            <a:off x="658368" y="1609344"/>
            <a:ext cx="5440680" cy="1298448"/>
          </a:xfrm>
          <a:prstGeom prst="rect">
            <a:avLst/>
          </a:prstGeom>
          <a:solidFill>
            <a:srgbClr val="0A25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97" name="Google Shape;297;p21"/>
          <p:cNvSpPr txBox="1"/>
          <p:nvPr/>
        </p:nvSpPr>
        <p:spPr>
          <a:xfrm>
            <a:off x="932688" y="1639973"/>
            <a:ext cx="4892040" cy="2154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FFFFFF"/>
                </a:solidFill>
                <a:latin typeface="Calibri"/>
                <a:ea typeface="Calibri"/>
                <a:cs typeface="Calibri"/>
                <a:sym typeface="Calibri"/>
              </a:rPr>
              <a:t>QUY TRÌNH QUẢN LÝ</a:t>
            </a:r>
            <a:endParaRPr/>
          </a:p>
        </p:txBody>
      </p:sp>
      <p:sp>
        <p:nvSpPr>
          <p:cNvPr id="298" name="Google Shape;298;p21"/>
          <p:cNvSpPr txBox="1"/>
          <p:nvPr/>
        </p:nvSpPr>
        <p:spPr>
          <a:xfrm>
            <a:off x="932688" y="1861024"/>
            <a:ext cx="4892040" cy="21945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1" lang="en-US" sz="1400" u="none" cap="none" strike="noStrike">
                <a:solidFill>
                  <a:srgbClr val="FFFFFF"/>
                </a:solidFill>
                <a:latin typeface="Calibri"/>
                <a:ea typeface="Calibri"/>
                <a:cs typeface="Calibri"/>
                <a:sym typeface="Calibri"/>
              </a:rPr>
              <a:t>Management Processes</a:t>
            </a:r>
            <a:endParaRPr/>
          </a:p>
        </p:txBody>
      </p:sp>
      <p:sp>
        <p:nvSpPr>
          <p:cNvPr id="299" name="Google Shape;299;p21"/>
          <p:cNvSpPr txBox="1"/>
          <p:nvPr/>
        </p:nvSpPr>
        <p:spPr>
          <a:xfrm>
            <a:off x="932688" y="2084321"/>
            <a:ext cx="4892040" cy="77559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400" u="none" cap="none" strike="noStrike">
                <a:solidFill>
                  <a:srgbClr val="FFFFFF"/>
                </a:solidFill>
                <a:latin typeface="Calibri"/>
                <a:ea typeface="Calibri"/>
                <a:cs typeface="Calibri"/>
                <a:sym typeface="Calibri"/>
              </a:rPr>
              <a:t>Định hướng, điều hành và kiểm soát: xây dựng mục tiêu chiến lược, quản lý chất lượng, quản trị rủi ro và tuân thủ quy định ngành thiết bị y tế.</a:t>
            </a:r>
            <a:endParaRPr/>
          </a:p>
        </p:txBody>
      </p:sp>
      <p:sp>
        <p:nvSpPr>
          <p:cNvPr id="300" name="Google Shape;300;p21"/>
          <p:cNvSpPr/>
          <p:nvPr/>
        </p:nvSpPr>
        <p:spPr>
          <a:xfrm>
            <a:off x="658368" y="3026664"/>
            <a:ext cx="5440680" cy="1298448"/>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01" name="Google Shape;301;p21"/>
          <p:cNvSpPr txBox="1"/>
          <p:nvPr/>
        </p:nvSpPr>
        <p:spPr>
          <a:xfrm>
            <a:off x="932688" y="3057293"/>
            <a:ext cx="4892040" cy="2154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FFFFFF"/>
                </a:solidFill>
                <a:latin typeface="Calibri"/>
                <a:ea typeface="Calibri"/>
                <a:cs typeface="Calibri"/>
                <a:sym typeface="Calibri"/>
              </a:rPr>
              <a:t>QUY TRÌNH CỐT LÕI</a:t>
            </a:r>
            <a:endParaRPr/>
          </a:p>
        </p:txBody>
      </p:sp>
      <p:sp>
        <p:nvSpPr>
          <p:cNvPr id="302" name="Google Shape;302;p21"/>
          <p:cNvSpPr txBox="1"/>
          <p:nvPr/>
        </p:nvSpPr>
        <p:spPr>
          <a:xfrm>
            <a:off x="932688" y="3331614"/>
            <a:ext cx="4892040" cy="21945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1" lang="en-US" sz="1400" u="none" cap="none" strike="noStrike">
                <a:solidFill>
                  <a:srgbClr val="FFFFFF"/>
                </a:solidFill>
                <a:latin typeface="Calibri"/>
                <a:ea typeface="Calibri"/>
                <a:cs typeface="Calibri"/>
                <a:sym typeface="Calibri"/>
              </a:rPr>
              <a:t>Core Business Processes</a:t>
            </a:r>
            <a:endParaRPr/>
          </a:p>
        </p:txBody>
      </p:sp>
      <p:sp>
        <p:nvSpPr>
          <p:cNvPr id="303" name="Google Shape;303;p21"/>
          <p:cNvSpPr txBox="1"/>
          <p:nvPr/>
        </p:nvSpPr>
        <p:spPr>
          <a:xfrm>
            <a:off x="932688" y="3534642"/>
            <a:ext cx="4892040" cy="77559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400" u="none" cap="none" strike="noStrike">
                <a:solidFill>
                  <a:srgbClr val="FFFFFF"/>
                </a:solidFill>
                <a:latin typeface="Calibri"/>
                <a:ea typeface="Calibri"/>
                <a:cs typeface="Calibri"/>
                <a:sym typeface="Calibri"/>
              </a:rPr>
              <a:t>Trực tiếp tạo ra giá trị cho khách hàng: tiếp nhận nhu cầu, quản lý bán hàng, xử lý đơn hàng, giao hàng, lắp đặt và dịch vụ kỹ thuật sau bán hàng.</a:t>
            </a:r>
            <a:endParaRPr/>
          </a:p>
        </p:txBody>
      </p:sp>
      <p:sp>
        <p:nvSpPr>
          <p:cNvPr id="304" name="Google Shape;304;p21"/>
          <p:cNvSpPr/>
          <p:nvPr/>
        </p:nvSpPr>
        <p:spPr>
          <a:xfrm>
            <a:off x="658368" y="4443984"/>
            <a:ext cx="5440680" cy="1298448"/>
          </a:xfrm>
          <a:prstGeom prst="rect">
            <a:avLst/>
          </a:prstGeom>
          <a:solidFill>
            <a:srgbClr val="00C2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05" name="Google Shape;305;p21"/>
          <p:cNvSpPr txBox="1"/>
          <p:nvPr/>
        </p:nvSpPr>
        <p:spPr>
          <a:xfrm>
            <a:off x="932688" y="4489704"/>
            <a:ext cx="4892040" cy="2154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0A2540"/>
                </a:solidFill>
                <a:latin typeface="Calibri"/>
                <a:ea typeface="Calibri"/>
                <a:cs typeface="Calibri"/>
                <a:sym typeface="Calibri"/>
              </a:rPr>
              <a:t>QUY TRÌNH HỖ TRỢ</a:t>
            </a:r>
            <a:endParaRPr/>
          </a:p>
        </p:txBody>
      </p:sp>
      <p:sp>
        <p:nvSpPr>
          <p:cNvPr id="306" name="Google Shape;306;p21"/>
          <p:cNvSpPr txBox="1"/>
          <p:nvPr/>
        </p:nvSpPr>
        <p:spPr>
          <a:xfrm>
            <a:off x="932688" y="4723364"/>
            <a:ext cx="4892040" cy="21945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1" lang="en-US" sz="1400" u="none" cap="none" strike="noStrike">
                <a:solidFill>
                  <a:srgbClr val="0A2540"/>
                </a:solidFill>
                <a:latin typeface="Calibri"/>
                <a:ea typeface="Calibri"/>
                <a:cs typeface="Calibri"/>
                <a:sym typeface="Calibri"/>
              </a:rPr>
              <a:t>Supporting Processes</a:t>
            </a:r>
            <a:endParaRPr/>
          </a:p>
        </p:txBody>
      </p:sp>
      <p:sp>
        <p:nvSpPr>
          <p:cNvPr id="307" name="Google Shape;307;p21"/>
          <p:cNvSpPr txBox="1"/>
          <p:nvPr/>
        </p:nvSpPr>
        <p:spPr>
          <a:xfrm>
            <a:off x="932688" y="4937760"/>
            <a:ext cx="5041984" cy="77559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400" u="none" cap="none" strike="noStrike">
                <a:solidFill>
                  <a:srgbClr val="0A2540"/>
                </a:solidFill>
                <a:latin typeface="Calibri"/>
                <a:ea typeface="Calibri"/>
                <a:cs typeface="Calibri"/>
                <a:sym typeface="Calibri"/>
              </a:rPr>
              <a:t>Cung cấp nguồn lực để hai nhóm trên vận hành: mua sắm, quản lý kho, tài chính – kế toán, nhân sự, công nghệ thông tin và quản lý dữ liệu.</a:t>
            </a:r>
            <a:endParaRPr/>
          </a:p>
        </p:txBody>
      </p:sp>
      <p:sp>
        <p:nvSpPr>
          <p:cNvPr id="308" name="Google Shape;308;p21"/>
          <p:cNvSpPr txBox="1"/>
          <p:nvPr/>
        </p:nvSpPr>
        <p:spPr>
          <a:xfrm>
            <a:off x="658367" y="5907024"/>
            <a:ext cx="5706921" cy="258532"/>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1400" u="none" cap="none" strike="noStrike">
                <a:solidFill>
                  <a:srgbClr val="0A2540"/>
                </a:solidFill>
                <a:latin typeface="Calibri"/>
                <a:ea typeface="Calibri"/>
                <a:cs typeface="Calibri"/>
                <a:sym typeface="Calibri"/>
              </a:rPr>
              <a:t>Ba nhóm hỗ trợ và bổ trợ lẫn nhau trong một dòng chảy giá trị thống nhất.</a:t>
            </a:r>
            <a:endParaRPr/>
          </a:p>
        </p:txBody>
      </p:sp>
      <p:pic>
        <p:nvPicPr>
          <p:cNvPr id="309" name="Google Shape;309;p21"/>
          <p:cNvPicPr preferRelativeResize="0"/>
          <p:nvPr/>
        </p:nvPicPr>
        <p:blipFill rotWithShape="1">
          <a:blip r:embed="rId3">
            <a:alphaModFix/>
          </a:blip>
          <a:srcRect b="0" l="0" r="0" t="0"/>
          <a:stretch/>
        </p:blipFill>
        <p:spPr>
          <a:xfrm>
            <a:off x="6193799" y="1701228"/>
            <a:ext cx="5734685" cy="38258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22"/>
          <p:cNvSpPr txBox="1"/>
          <p:nvPr/>
        </p:nvSpPr>
        <p:spPr>
          <a:xfrm>
            <a:off x="658368" y="384048"/>
            <a:ext cx="108749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50" u="none" cap="none" strike="noStrike">
                <a:solidFill>
                  <a:srgbClr val="0096D6"/>
                </a:solidFill>
                <a:latin typeface="Calibri"/>
                <a:ea typeface="Calibri"/>
                <a:cs typeface="Calibri"/>
                <a:sym typeface="Calibri"/>
              </a:rPr>
              <a:t>CHƯƠNG 2 · 2.2 KHẢO SÁT QUY TRÌNH</a:t>
            </a:r>
            <a:endParaRPr/>
          </a:p>
        </p:txBody>
      </p:sp>
      <p:sp>
        <p:nvSpPr>
          <p:cNvPr id="315" name="Google Shape;315;p22"/>
          <p:cNvSpPr txBox="1"/>
          <p:nvPr/>
        </p:nvSpPr>
        <p:spPr>
          <a:xfrm>
            <a:off x="658368" y="640080"/>
            <a:ext cx="10874959" cy="603504"/>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2500" u="none" cap="none" strike="noStrike">
                <a:solidFill>
                  <a:srgbClr val="0A2540"/>
                </a:solidFill>
                <a:latin typeface="Calibri"/>
                <a:ea typeface="Calibri"/>
                <a:cs typeface="Calibri"/>
                <a:sym typeface="Calibri"/>
              </a:rPr>
              <a:t>DANH MỤC 10 QUY TRÌNH NGHIỆP VỤ TIÊU BIỂU</a:t>
            </a:r>
            <a:endParaRPr/>
          </a:p>
        </p:txBody>
      </p:sp>
      <p:sp>
        <p:nvSpPr>
          <p:cNvPr id="316" name="Google Shape;316;p22"/>
          <p:cNvSpPr/>
          <p:nvPr/>
        </p:nvSpPr>
        <p:spPr>
          <a:xfrm>
            <a:off x="658368" y="1280160"/>
            <a:ext cx="566928" cy="41148"/>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17" name="Google Shape;317;p22"/>
          <p:cNvSpPr/>
          <p:nvPr/>
        </p:nvSpPr>
        <p:spPr>
          <a:xfrm>
            <a:off x="1298448" y="1280160"/>
            <a:ext cx="10234879" cy="41148"/>
          </a:xfrm>
          <a:prstGeom prst="rect">
            <a:avLst/>
          </a:prstGeom>
          <a:solidFill>
            <a:srgbClr val="DFE4E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18" name="Google Shape;318;p22"/>
          <p:cNvSpPr txBox="1"/>
          <p:nvPr/>
        </p:nvSpPr>
        <p:spPr>
          <a:xfrm>
            <a:off x="658368" y="1371600"/>
            <a:ext cx="10874959" cy="238079"/>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0" i="1" lang="en-US" sz="1400" u="none" cap="none" strike="noStrike">
                <a:solidFill>
                  <a:srgbClr val="6B7784"/>
                </a:solidFill>
                <a:latin typeface="Calibri"/>
                <a:ea typeface="Calibri"/>
                <a:cs typeface="Calibri"/>
                <a:sym typeface="Calibri"/>
              </a:rPr>
              <a:t>Bảng 2.1 — Danh mục các quy trình nghiệp vụ tại Solventum Việt Nam  ·  Mã quy trình do nhóm đặt để tiện tham chiếu</a:t>
            </a:r>
            <a:endParaRPr b="0" i="1" sz="1400" u="none" cap="none" strike="noStrike">
              <a:solidFill>
                <a:srgbClr val="6B7784"/>
              </a:solidFill>
              <a:latin typeface="Calibri"/>
              <a:ea typeface="Calibri"/>
              <a:cs typeface="Calibri"/>
              <a:sym typeface="Calibri"/>
            </a:endParaRPr>
          </a:p>
        </p:txBody>
      </p:sp>
      <p:sp>
        <p:nvSpPr>
          <p:cNvPr id="319" name="Google Shape;319;p22"/>
          <p:cNvSpPr txBox="1"/>
          <p:nvPr/>
        </p:nvSpPr>
        <p:spPr>
          <a:xfrm>
            <a:off x="658368" y="6355080"/>
            <a:ext cx="10326319"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850" u="none" cap="none" strike="noStrike">
                <a:solidFill>
                  <a:srgbClr val="6B7784"/>
                </a:solidFill>
                <a:latin typeface="Calibri"/>
                <a:ea typeface="Calibri"/>
                <a:cs typeface="Calibri"/>
                <a:sym typeface="Calibri"/>
              </a:rPr>
              <a:t>SOLVENTUM VIỆT NAM  ·  HỆ THỐNG QUẢN TRỊ QUY TRÌNH NGHIỆP VỤ</a:t>
            </a:r>
            <a:endParaRPr/>
          </a:p>
        </p:txBody>
      </p:sp>
      <p:sp>
        <p:nvSpPr>
          <p:cNvPr id="320" name="Google Shape;320;p22"/>
          <p:cNvSpPr txBox="1"/>
          <p:nvPr/>
        </p:nvSpPr>
        <p:spPr>
          <a:xfrm>
            <a:off x="10984687" y="6355080"/>
            <a:ext cx="548640" cy="2286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1" i="0" lang="en-US" sz="950" u="none" cap="none" strike="noStrike">
                <a:solidFill>
                  <a:srgbClr val="0096D6"/>
                </a:solidFill>
                <a:latin typeface="Calibri"/>
                <a:ea typeface="Calibri"/>
                <a:cs typeface="Calibri"/>
                <a:sym typeface="Calibri"/>
              </a:rPr>
              <a:t>10</a:t>
            </a:r>
            <a:endParaRPr/>
          </a:p>
        </p:txBody>
      </p:sp>
      <p:graphicFrame>
        <p:nvGraphicFramePr>
          <p:cNvPr id="321" name="Google Shape;321;p22"/>
          <p:cNvGraphicFramePr/>
          <p:nvPr/>
        </p:nvGraphicFramePr>
        <p:xfrm>
          <a:off x="658368" y="1792224"/>
          <a:ext cx="3000000" cy="3000000"/>
        </p:xfrm>
        <a:graphic>
          <a:graphicData uri="http://schemas.openxmlformats.org/drawingml/2006/table">
            <a:tbl>
              <a:tblPr firstRow="1">
                <a:noFill/>
                <a:tableStyleId>{65267F91-CA84-436A-A840-DCCC5366F6D9}</a:tableStyleId>
              </a:tblPr>
              <a:tblGrid>
                <a:gridCol w="749800"/>
                <a:gridCol w="1325875"/>
                <a:gridCol w="3703325"/>
                <a:gridCol w="3017525"/>
                <a:gridCol w="2043675"/>
              </a:tblGrid>
              <a:tr h="384050">
                <a:tc>
                  <a:txBody>
                    <a:bodyPr/>
                    <a:lstStyle/>
                    <a:p>
                      <a:pPr indent="0" lvl="0" marL="0" marR="0" rtl="0" algn="ctr">
                        <a:lnSpc>
                          <a:spcPct val="105000"/>
                        </a:lnSpc>
                        <a:spcBef>
                          <a:spcPts val="0"/>
                        </a:spcBef>
                        <a:spcAft>
                          <a:spcPts val="0"/>
                        </a:spcAft>
                        <a:buNone/>
                      </a:pPr>
                      <a:r>
                        <a:rPr b="1" lang="en-US" sz="1400" u="none" cap="none" strike="noStrike">
                          <a:solidFill>
                            <a:srgbClr val="FFFFFF"/>
                          </a:solidFill>
                          <a:latin typeface="Calibri"/>
                          <a:ea typeface="Calibri"/>
                          <a:cs typeface="Calibri"/>
                          <a:sym typeface="Calibri"/>
                        </a:rPr>
                        <a:t>MÃ</a:t>
                      </a:r>
                      <a:endParaRPr/>
                    </a:p>
                  </a:txBody>
                  <a:tcPr marT="41150" marB="41150" marR="73150" marL="100575" anchor="ctr">
                    <a:solidFill>
                      <a:srgbClr val="0A2540"/>
                    </a:solidFill>
                  </a:tcPr>
                </a:tc>
                <a:tc>
                  <a:txBody>
                    <a:bodyPr/>
                    <a:lstStyle/>
                    <a:p>
                      <a:pPr indent="0" lvl="0" marL="0" marR="0" rtl="0" algn="ctr">
                        <a:lnSpc>
                          <a:spcPct val="105000"/>
                        </a:lnSpc>
                        <a:spcBef>
                          <a:spcPts val="0"/>
                        </a:spcBef>
                        <a:spcAft>
                          <a:spcPts val="0"/>
                        </a:spcAft>
                        <a:buNone/>
                      </a:pPr>
                      <a:r>
                        <a:rPr b="1" lang="en-US" sz="1400" u="none" cap="none" strike="noStrike">
                          <a:solidFill>
                            <a:srgbClr val="FFFFFF"/>
                          </a:solidFill>
                          <a:latin typeface="Calibri"/>
                          <a:ea typeface="Calibri"/>
                          <a:cs typeface="Calibri"/>
                          <a:sym typeface="Calibri"/>
                        </a:rPr>
                        <a:t>NHÓM</a:t>
                      </a:r>
                      <a:endParaRPr/>
                    </a:p>
                  </a:txBody>
                  <a:tcPr marT="41150" marB="41150" marR="73150" marL="100575" anchor="ctr">
                    <a:solidFill>
                      <a:srgbClr val="0A2540"/>
                    </a:solidFill>
                  </a:tcPr>
                </a:tc>
                <a:tc>
                  <a:txBody>
                    <a:bodyPr/>
                    <a:lstStyle/>
                    <a:p>
                      <a:pPr indent="0" lvl="0" marL="0" marR="0" rtl="0" algn="ctr">
                        <a:lnSpc>
                          <a:spcPct val="105000"/>
                        </a:lnSpc>
                        <a:spcBef>
                          <a:spcPts val="0"/>
                        </a:spcBef>
                        <a:spcAft>
                          <a:spcPts val="0"/>
                        </a:spcAft>
                        <a:buNone/>
                      </a:pPr>
                      <a:r>
                        <a:rPr b="1" lang="en-US" sz="1400" u="none" cap="none" strike="noStrike">
                          <a:solidFill>
                            <a:srgbClr val="FFFFFF"/>
                          </a:solidFill>
                          <a:latin typeface="Calibri"/>
                          <a:ea typeface="Calibri"/>
                          <a:cs typeface="Calibri"/>
                          <a:sym typeface="Calibri"/>
                        </a:rPr>
                        <a:t>QUY TRÌNH NGHIỆP VỤ</a:t>
                      </a:r>
                      <a:endParaRPr/>
                    </a:p>
                  </a:txBody>
                  <a:tcPr marT="41150" marB="41150" marR="73150" marL="100575" anchor="ctr">
                    <a:solidFill>
                      <a:srgbClr val="0A2540"/>
                    </a:solidFill>
                  </a:tcPr>
                </a:tc>
                <a:tc>
                  <a:txBody>
                    <a:bodyPr/>
                    <a:lstStyle/>
                    <a:p>
                      <a:pPr indent="0" lvl="0" marL="0" marR="0" rtl="0" algn="ctr">
                        <a:lnSpc>
                          <a:spcPct val="105000"/>
                        </a:lnSpc>
                        <a:spcBef>
                          <a:spcPts val="0"/>
                        </a:spcBef>
                        <a:spcAft>
                          <a:spcPts val="0"/>
                        </a:spcAft>
                        <a:buNone/>
                      </a:pPr>
                      <a:r>
                        <a:rPr b="1" lang="en-US" sz="1400" u="none" cap="none" strike="noStrike">
                          <a:solidFill>
                            <a:srgbClr val="FFFFFF"/>
                          </a:solidFill>
                          <a:latin typeface="Calibri"/>
                          <a:ea typeface="Calibri"/>
                          <a:cs typeface="Calibri"/>
                          <a:sym typeface="Calibri"/>
                        </a:rPr>
                        <a:t>THUẬT NGỮ TIẾNG ANH</a:t>
                      </a:r>
                      <a:endParaRPr/>
                    </a:p>
                  </a:txBody>
                  <a:tcPr marT="41150" marB="41150" marR="73150" marL="100575" anchor="ctr">
                    <a:solidFill>
                      <a:srgbClr val="0A2540"/>
                    </a:solidFill>
                  </a:tcPr>
                </a:tc>
                <a:tc>
                  <a:txBody>
                    <a:bodyPr/>
                    <a:lstStyle/>
                    <a:p>
                      <a:pPr indent="0" lvl="0" marL="0" marR="0" rtl="0" algn="ctr">
                        <a:lnSpc>
                          <a:spcPct val="105000"/>
                        </a:lnSpc>
                        <a:spcBef>
                          <a:spcPts val="0"/>
                        </a:spcBef>
                        <a:spcAft>
                          <a:spcPts val="0"/>
                        </a:spcAft>
                        <a:buNone/>
                      </a:pPr>
                      <a:r>
                        <a:rPr b="1" lang="en-US" sz="1400" u="none" cap="none" strike="noStrike">
                          <a:solidFill>
                            <a:srgbClr val="FFFFFF"/>
                          </a:solidFill>
                          <a:latin typeface="Calibri"/>
                          <a:ea typeface="Calibri"/>
                          <a:cs typeface="Calibri"/>
                          <a:sym typeface="Calibri"/>
                        </a:rPr>
                        <a:t>PROCESS OWNER</a:t>
                      </a:r>
                      <a:endParaRPr/>
                    </a:p>
                  </a:txBody>
                  <a:tcPr marT="41150" marB="41150" marR="73150" marL="100575" anchor="ctr">
                    <a:solidFill>
                      <a:srgbClr val="0A2540"/>
                    </a:solidFill>
                  </a:tcPr>
                </a:tc>
              </a:tr>
              <a:tr h="329175">
                <a:tc>
                  <a:txBody>
                    <a:bodyPr/>
                    <a:lstStyle/>
                    <a:p>
                      <a:pPr indent="0" lvl="0" marL="0" marR="0" rtl="0" algn="ctr">
                        <a:lnSpc>
                          <a:spcPct val="105000"/>
                        </a:lnSpc>
                        <a:spcBef>
                          <a:spcPts val="0"/>
                        </a:spcBef>
                        <a:spcAft>
                          <a:spcPts val="0"/>
                        </a:spcAft>
                        <a:buNone/>
                      </a:pPr>
                      <a:r>
                        <a:rPr b="1" lang="en-US" sz="1400" u="none" cap="none" strike="noStrike">
                          <a:solidFill>
                            <a:srgbClr val="0A2540"/>
                          </a:solidFill>
                          <a:latin typeface="Calibri"/>
                          <a:ea typeface="Calibri"/>
                          <a:cs typeface="Calibri"/>
                          <a:sym typeface="Calibri"/>
                        </a:rPr>
                        <a:t>M01</a:t>
                      </a:r>
                      <a:endParaRPr/>
                    </a:p>
                  </a:txBody>
                  <a:tcPr marT="41150" marB="41150" marR="73150" marL="100575" anchor="ctr">
                    <a:solidFill>
                      <a:srgbClr val="E9F3FA"/>
                    </a:solidFill>
                  </a:tcPr>
                </a:tc>
                <a:tc>
                  <a:txBody>
                    <a:bodyPr/>
                    <a:lstStyle/>
                    <a:p>
                      <a:pPr indent="0" lvl="0" marL="0" marR="0" rtl="0" algn="l">
                        <a:lnSpc>
                          <a:spcPct val="105000"/>
                        </a:lnSpc>
                        <a:spcBef>
                          <a:spcPts val="0"/>
                        </a:spcBef>
                        <a:spcAft>
                          <a:spcPts val="0"/>
                        </a:spcAft>
                        <a:buNone/>
                      </a:pPr>
                      <a:r>
                        <a:rPr b="0" lang="en-US" sz="1400" u="none" cap="none" strike="noStrike">
                          <a:solidFill>
                            <a:srgbClr val="2B3440"/>
                          </a:solidFill>
                          <a:latin typeface="Calibri"/>
                          <a:ea typeface="Calibri"/>
                          <a:cs typeface="Calibri"/>
                          <a:sym typeface="Calibri"/>
                        </a:rPr>
                        <a:t>Management</a:t>
                      </a:r>
                      <a:endParaRPr/>
                    </a:p>
                  </a:txBody>
                  <a:tcPr marT="41150" marB="41150" marR="73150" marL="100575" anchor="ctr">
                    <a:solidFill>
                      <a:srgbClr val="FFFFFF"/>
                    </a:solidFill>
                  </a:tcPr>
                </a:tc>
                <a:tc>
                  <a:txBody>
                    <a:bodyPr/>
                    <a:lstStyle/>
                    <a:p>
                      <a:pPr indent="0" lvl="0" marL="0" marR="0" rtl="0" algn="l">
                        <a:lnSpc>
                          <a:spcPct val="105000"/>
                        </a:lnSpc>
                        <a:spcBef>
                          <a:spcPts val="0"/>
                        </a:spcBef>
                        <a:spcAft>
                          <a:spcPts val="0"/>
                        </a:spcAft>
                        <a:buNone/>
                      </a:pPr>
                      <a:r>
                        <a:rPr b="0" lang="en-US" sz="1400" u="none" cap="none" strike="noStrike">
                          <a:solidFill>
                            <a:srgbClr val="2B3440"/>
                          </a:solidFill>
                          <a:latin typeface="Calibri"/>
                          <a:ea typeface="Calibri"/>
                          <a:cs typeface="Calibri"/>
                          <a:sym typeface="Calibri"/>
                        </a:rPr>
                        <a:t>Hoạch định và triển khai chiến lược kinh doanh</a:t>
                      </a:r>
                      <a:endParaRPr/>
                    </a:p>
                  </a:txBody>
                  <a:tcPr marT="41150" marB="41150" marR="73150" marL="100575" anchor="ctr">
                    <a:solidFill>
                      <a:srgbClr val="FFFFFF"/>
                    </a:solidFill>
                  </a:tcPr>
                </a:tc>
                <a:tc>
                  <a:txBody>
                    <a:bodyPr/>
                    <a:lstStyle/>
                    <a:p>
                      <a:pPr indent="0" lvl="0" marL="0" marR="0" rtl="0" algn="l">
                        <a:lnSpc>
                          <a:spcPct val="105000"/>
                        </a:lnSpc>
                        <a:spcBef>
                          <a:spcPts val="0"/>
                        </a:spcBef>
                        <a:spcAft>
                          <a:spcPts val="0"/>
                        </a:spcAft>
                        <a:buNone/>
                      </a:pPr>
                      <a:r>
                        <a:rPr b="0" lang="en-US" sz="1400" u="none" cap="none" strike="noStrike">
                          <a:solidFill>
                            <a:srgbClr val="2B3440"/>
                          </a:solidFill>
                          <a:latin typeface="Calibri"/>
                          <a:ea typeface="Calibri"/>
                          <a:cs typeface="Calibri"/>
                          <a:sym typeface="Calibri"/>
                        </a:rPr>
                        <a:t>Business Planning</a:t>
                      </a:r>
                      <a:endParaRPr/>
                    </a:p>
                  </a:txBody>
                  <a:tcPr marT="41150" marB="41150" marR="73150" marL="100575" anchor="ctr">
                    <a:solidFill>
                      <a:srgbClr val="FFFFFF"/>
                    </a:solidFill>
                  </a:tcPr>
                </a:tc>
                <a:tc>
                  <a:txBody>
                    <a:bodyPr/>
                    <a:lstStyle/>
                    <a:p>
                      <a:pPr indent="0" lvl="0" marL="0" marR="0" rtl="0" algn="l">
                        <a:lnSpc>
                          <a:spcPct val="105000"/>
                        </a:lnSpc>
                        <a:spcBef>
                          <a:spcPts val="0"/>
                        </a:spcBef>
                        <a:spcAft>
                          <a:spcPts val="0"/>
                        </a:spcAft>
                        <a:buNone/>
                      </a:pPr>
                      <a:r>
                        <a:rPr b="0" lang="en-US" sz="1400" u="none" cap="none" strike="noStrike">
                          <a:solidFill>
                            <a:srgbClr val="2B3440"/>
                          </a:solidFill>
                          <a:latin typeface="Calibri"/>
                          <a:ea typeface="Calibri"/>
                          <a:cs typeface="Calibri"/>
                          <a:sym typeface="Calibri"/>
                        </a:rPr>
                        <a:t>Country Management</a:t>
                      </a:r>
                      <a:endParaRPr/>
                    </a:p>
                  </a:txBody>
                  <a:tcPr marT="41150" marB="41150" marR="73150" marL="100575" anchor="ctr">
                    <a:solidFill>
                      <a:srgbClr val="FFFFFF"/>
                    </a:solidFill>
                  </a:tcPr>
                </a:tc>
              </a:tr>
              <a:tr h="329175">
                <a:tc>
                  <a:txBody>
                    <a:bodyPr/>
                    <a:lstStyle/>
                    <a:p>
                      <a:pPr indent="0" lvl="0" marL="0" marR="0" rtl="0" algn="ctr">
                        <a:lnSpc>
                          <a:spcPct val="105000"/>
                        </a:lnSpc>
                        <a:spcBef>
                          <a:spcPts val="0"/>
                        </a:spcBef>
                        <a:spcAft>
                          <a:spcPts val="0"/>
                        </a:spcAft>
                        <a:buNone/>
                      </a:pPr>
                      <a:r>
                        <a:rPr b="1" lang="en-US" sz="1400" u="none" cap="none" strike="noStrike">
                          <a:solidFill>
                            <a:srgbClr val="0A2540"/>
                          </a:solidFill>
                          <a:latin typeface="Calibri"/>
                          <a:ea typeface="Calibri"/>
                          <a:cs typeface="Calibri"/>
                          <a:sym typeface="Calibri"/>
                        </a:rPr>
                        <a:t>M02</a:t>
                      </a:r>
                      <a:endParaRPr/>
                    </a:p>
                  </a:txBody>
                  <a:tcPr marT="41150" marB="41150" marR="73150" marL="100575" anchor="ctr">
                    <a:solidFill>
                      <a:srgbClr val="E9F3FA"/>
                    </a:solidFill>
                  </a:tcPr>
                </a:tc>
                <a:tc>
                  <a:txBody>
                    <a:bodyPr/>
                    <a:lstStyle/>
                    <a:p>
                      <a:pPr indent="0" lvl="0" marL="0" marR="0" rtl="0" algn="l">
                        <a:lnSpc>
                          <a:spcPct val="105000"/>
                        </a:lnSpc>
                        <a:spcBef>
                          <a:spcPts val="0"/>
                        </a:spcBef>
                        <a:spcAft>
                          <a:spcPts val="0"/>
                        </a:spcAft>
                        <a:buNone/>
                      </a:pPr>
                      <a:r>
                        <a:rPr b="0" lang="en-US" sz="1400" u="none" cap="none" strike="noStrike">
                          <a:solidFill>
                            <a:srgbClr val="2B3440"/>
                          </a:solidFill>
                          <a:latin typeface="Calibri"/>
                          <a:ea typeface="Calibri"/>
                          <a:cs typeface="Calibri"/>
                          <a:sym typeface="Calibri"/>
                        </a:rPr>
                        <a:t>Management</a:t>
                      </a:r>
                      <a:endParaRPr/>
                    </a:p>
                  </a:txBody>
                  <a:tcPr marT="41150" marB="41150" marR="73150" marL="100575" anchor="ctr">
                    <a:solidFill>
                      <a:srgbClr val="F4F7FA"/>
                    </a:solidFill>
                  </a:tcPr>
                </a:tc>
                <a:tc>
                  <a:txBody>
                    <a:bodyPr/>
                    <a:lstStyle/>
                    <a:p>
                      <a:pPr indent="0" lvl="0" marL="0" marR="0" rtl="0" algn="l">
                        <a:lnSpc>
                          <a:spcPct val="105000"/>
                        </a:lnSpc>
                        <a:spcBef>
                          <a:spcPts val="0"/>
                        </a:spcBef>
                        <a:spcAft>
                          <a:spcPts val="0"/>
                        </a:spcAft>
                        <a:buNone/>
                      </a:pPr>
                      <a:r>
                        <a:rPr b="0" lang="en-US" sz="1400" u="none" cap="none" strike="noStrike">
                          <a:solidFill>
                            <a:srgbClr val="2B3440"/>
                          </a:solidFill>
                          <a:latin typeface="Calibri"/>
                          <a:ea typeface="Calibri"/>
                          <a:cs typeface="Calibri"/>
                          <a:sym typeface="Calibri"/>
                        </a:rPr>
                        <a:t>Quản lý khiếu nại khách hàng</a:t>
                      </a:r>
                      <a:endParaRPr/>
                    </a:p>
                  </a:txBody>
                  <a:tcPr marT="41150" marB="41150" marR="73150" marL="100575" anchor="ctr">
                    <a:solidFill>
                      <a:srgbClr val="F4F7FA"/>
                    </a:solidFill>
                  </a:tcPr>
                </a:tc>
                <a:tc>
                  <a:txBody>
                    <a:bodyPr/>
                    <a:lstStyle/>
                    <a:p>
                      <a:pPr indent="0" lvl="0" marL="0" marR="0" rtl="0" algn="l">
                        <a:lnSpc>
                          <a:spcPct val="105000"/>
                        </a:lnSpc>
                        <a:spcBef>
                          <a:spcPts val="0"/>
                        </a:spcBef>
                        <a:spcAft>
                          <a:spcPts val="0"/>
                        </a:spcAft>
                        <a:buNone/>
                      </a:pPr>
                      <a:r>
                        <a:rPr b="0" lang="en-US" sz="1400" u="none" cap="none" strike="noStrike">
                          <a:solidFill>
                            <a:srgbClr val="2B3440"/>
                          </a:solidFill>
                          <a:latin typeface="Calibri"/>
                          <a:ea typeface="Calibri"/>
                          <a:cs typeface="Calibri"/>
                          <a:sym typeface="Calibri"/>
                        </a:rPr>
                        <a:t>Customer Complaint Management</a:t>
                      </a:r>
                      <a:endParaRPr/>
                    </a:p>
                  </a:txBody>
                  <a:tcPr marT="41150" marB="41150" marR="73150" marL="100575" anchor="ctr">
                    <a:solidFill>
                      <a:srgbClr val="F4F7FA"/>
                    </a:solidFill>
                  </a:tcPr>
                </a:tc>
                <a:tc>
                  <a:txBody>
                    <a:bodyPr/>
                    <a:lstStyle/>
                    <a:p>
                      <a:pPr indent="0" lvl="0" marL="0" marR="0" rtl="0" algn="l">
                        <a:lnSpc>
                          <a:spcPct val="105000"/>
                        </a:lnSpc>
                        <a:spcBef>
                          <a:spcPts val="0"/>
                        </a:spcBef>
                        <a:spcAft>
                          <a:spcPts val="0"/>
                        </a:spcAft>
                        <a:buNone/>
                      </a:pPr>
                      <a:r>
                        <a:rPr b="0" lang="en-US" sz="1400" u="none" cap="none" strike="noStrike">
                          <a:solidFill>
                            <a:srgbClr val="2B3440"/>
                          </a:solidFill>
                          <a:latin typeface="Calibri"/>
                          <a:ea typeface="Calibri"/>
                          <a:cs typeface="Calibri"/>
                          <a:sym typeface="Calibri"/>
                        </a:rPr>
                        <a:t>Quality / CIR</a:t>
                      </a:r>
                      <a:endParaRPr/>
                    </a:p>
                  </a:txBody>
                  <a:tcPr marT="41150" marB="41150" marR="73150" marL="100575" anchor="ctr">
                    <a:solidFill>
                      <a:srgbClr val="F4F7FA"/>
                    </a:solidFill>
                  </a:tcPr>
                </a:tc>
              </a:tr>
              <a:tr h="329175">
                <a:tc>
                  <a:txBody>
                    <a:bodyPr/>
                    <a:lstStyle/>
                    <a:p>
                      <a:pPr indent="0" lvl="0" marL="0" marR="0" rtl="0" algn="ctr">
                        <a:lnSpc>
                          <a:spcPct val="105000"/>
                        </a:lnSpc>
                        <a:spcBef>
                          <a:spcPts val="0"/>
                        </a:spcBef>
                        <a:spcAft>
                          <a:spcPts val="0"/>
                        </a:spcAft>
                        <a:buNone/>
                      </a:pPr>
                      <a:r>
                        <a:rPr b="1" lang="en-US" sz="1400" u="none" cap="none" strike="noStrike">
                          <a:solidFill>
                            <a:srgbClr val="0A2540"/>
                          </a:solidFill>
                          <a:latin typeface="Calibri"/>
                          <a:ea typeface="Calibri"/>
                          <a:cs typeface="Calibri"/>
                          <a:sym typeface="Calibri"/>
                        </a:rPr>
                        <a:t>M03</a:t>
                      </a:r>
                      <a:endParaRPr/>
                    </a:p>
                  </a:txBody>
                  <a:tcPr marT="41150" marB="41150" marR="73150" marL="100575" anchor="ctr">
                    <a:solidFill>
                      <a:srgbClr val="E9F3FA"/>
                    </a:solidFill>
                  </a:tcPr>
                </a:tc>
                <a:tc>
                  <a:txBody>
                    <a:bodyPr/>
                    <a:lstStyle/>
                    <a:p>
                      <a:pPr indent="0" lvl="0" marL="0" marR="0" rtl="0" algn="l">
                        <a:lnSpc>
                          <a:spcPct val="105000"/>
                        </a:lnSpc>
                        <a:spcBef>
                          <a:spcPts val="0"/>
                        </a:spcBef>
                        <a:spcAft>
                          <a:spcPts val="0"/>
                        </a:spcAft>
                        <a:buNone/>
                      </a:pPr>
                      <a:r>
                        <a:rPr b="0" lang="en-US" sz="1400" u="none" cap="none" strike="noStrike">
                          <a:solidFill>
                            <a:srgbClr val="2B3440"/>
                          </a:solidFill>
                          <a:latin typeface="Calibri"/>
                          <a:ea typeface="Calibri"/>
                          <a:cs typeface="Calibri"/>
                          <a:sym typeface="Calibri"/>
                        </a:rPr>
                        <a:t>Management</a:t>
                      </a:r>
                      <a:endParaRPr/>
                    </a:p>
                  </a:txBody>
                  <a:tcPr marT="41150" marB="41150" marR="73150" marL="100575" anchor="ctr">
                    <a:solidFill>
                      <a:srgbClr val="FFFFFF"/>
                    </a:solidFill>
                  </a:tcPr>
                </a:tc>
                <a:tc>
                  <a:txBody>
                    <a:bodyPr/>
                    <a:lstStyle/>
                    <a:p>
                      <a:pPr indent="0" lvl="0" marL="0" marR="0" rtl="0" algn="l">
                        <a:lnSpc>
                          <a:spcPct val="105000"/>
                        </a:lnSpc>
                        <a:spcBef>
                          <a:spcPts val="0"/>
                        </a:spcBef>
                        <a:spcAft>
                          <a:spcPts val="0"/>
                        </a:spcAft>
                        <a:buNone/>
                      </a:pPr>
                      <a:r>
                        <a:rPr b="0" lang="en-US" sz="1400" u="none" cap="none" strike="noStrike">
                          <a:solidFill>
                            <a:srgbClr val="2B3440"/>
                          </a:solidFill>
                          <a:latin typeface="Calibri"/>
                          <a:ea typeface="Calibri"/>
                          <a:cs typeface="Calibri"/>
                          <a:sym typeface="Calibri"/>
                        </a:rPr>
                        <a:t>Quản lý pháp lý và tuân thủ</a:t>
                      </a:r>
                      <a:endParaRPr/>
                    </a:p>
                  </a:txBody>
                  <a:tcPr marT="41150" marB="41150" marR="73150" marL="100575" anchor="ctr">
                    <a:solidFill>
                      <a:srgbClr val="FFFFFF"/>
                    </a:solidFill>
                  </a:tcPr>
                </a:tc>
                <a:tc>
                  <a:txBody>
                    <a:bodyPr/>
                    <a:lstStyle/>
                    <a:p>
                      <a:pPr indent="0" lvl="0" marL="0" marR="0" rtl="0" algn="l">
                        <a:lnSpc>
                          <a:spcPct val="105000"/>
                        </a:lnSpc>
                        <a:spcBef>
                          <a:spcPts val="0"/>
                        </a:spcBef>
                        <a:spcAft>
                          <a:spcPts val="0"/>
                        </a:spcAft>
                        <a:buNone/>
                      </a:pPr>
                      <a:r>
                        <a:rPr b="0" lang="en-US" sz="1400" u="none" cap="none" strike="noStrike">
                          <a:solidFill>
                            <a:srgbClr val="2B3440"/>
                          </a:solidFill>
                          <a:latin typeface="Calibri"/>
                          <a:ea typeface="Calibri"/>
                          <a:cs typeface="Calibri"/>
                          <a:sym typeface="Calibri"/>
                        </a:rPr>
                        <a:t>Regulatory Affairs &amp; Compliance Management</a:t>
                      </a:r>
                      <a:endParaRPr/>
                    </a:p>
                  </a:txBody>
                  <a:tcPr marT="41150" marB="41150" marR="73150" marL="100575" anchor="ctr">
                    <a:solidFill>
                      <a:srgbClr val="FFFFFF"/>
                    </a:solidFill>
                  </a:tcPr>
                </a:tc>
                <a:tc>
                  <a:txBody>
                    <a:bodyPr/>
                    <a:lstStyle/>
                    <a:p>
                      <a:pPr indent="0" lvl="0" marL="0" marR="0" rtl="0" algn="l">
                        <a:lnSpc>
                          <a:spcPct val="105000"/>
                        </a:lnSpc>
                        <a:spcBef>
                          <a:spcPts val="0"/>
                        </a:spcBef>
                        <a:spcAft>
                          <a:spcPts val="0"/>
                        </a:spcAft>
                        <a:buNone/>
                      </a:pPr>
                      <a:r>
                        <a:rPr b="0" lang="en-US" sz="1400" u="none" cap="none" strike="noStrike">
                          <a:solidFill>
                            <a:srgbClr val="2B3440"/>
                          </a:solidFill>
                          <a:latin typeface="Calibri"/>
                          <a:ea typeface="Calibri"/>
                          <a:cs typeface="Calibri"/>
                          <a:sym typeface="Calibri"/>
                        </a:rPr>
                        <a:t>Regulatory Affairs (RA)</a:t>
                      </a:r>
                      <a:endParaRPr/>
                    </a:p>
                  </a:txBody>
                  <a:tcPr marT="41150" marB="41150" marR="73150" marL="100575" anchor="ctr">
                    <a:solidFill>
                      <a:srgbClr val="FFFFFF"/>
                    </a:solidFill>
                  </a:tcPr>
                </a:tc>
              </a:tr>
              <a:tr h="329175">
                <a:tc>
                  <a:txBody>
                    <a:bodyPr/>
                    <a:lstStyle/>
                    <a:p>
                      <a:pPr indent="0" lvl="0" marL="0" marR="0" rtl="0" algn="ctr">
                        <a:lnSpc>
                          <a:spcPct val="105000"/>
                        </a:lnSpc>
                        <a:spcBef>
                          <a:spcPts val="0"/>
                        </a:spcBef>
                        <a:spcAft>
                          <a:spcPts val="0"/>
                        </a:spcAft>
                        <a:buNone/>
                      </a:pPr>
                      <a:r>
                        <a:rPr b="1" lang="en-US" sz="1400" u="none" cap="none" strike="noStrike">
                          <a:solidFill>
                            <a:srgbClr val="0A2540"/>
                          </a:solidFill>
                          <a:latin typeface="Calibri"/>
                          <a:ea typeface="Calibri"/>
                          <a:cs typeface="Calibri"/>
                          <a:sym typeface="Calibri"/>
                        </a:rPr>
                        <a:t>C01</a:t>
                      </a:r>
                      <a:endParaRPr/>
                    </a:p>
                  </a:txBody>
                  <a:tcPr marT="41150" marB="41150" marR="73150" marL="100575" anchor="ctr">
                    <a:solidFill>
                      <a:srgbClr val="E7F7F3"/>
                    </a:solidFill>
                  </a:tcPr>
                </a:tc>
                <a:tc>
                  <a:txBody>
                    <a:bodyPr/>
                    <a:lstStyle/>
                    <a:p>
                      <a:pPr indent="0" lvl="0" marL="0" marR="0" rtl="0" algn="l">
                        <a:lnSpc>
                          <a:spcPct val="105000"/>
                        </a:lnSpc>
                        <a:spcBef>
                          <a:spcPts val="0"/>
                        </a:spcBef>
                        <a:spcAft>
                          <a:spcPts val="0"/>
                        </a:spcAft>
                        <a:buNone/>
                      </a:pPr>
                      <a:r>
                        <a:rPr b="0" lang="en-US" sz="1400" u="none" cap="none" strike="noStrike">
                          <a:solidFill>
                            <a:srgbClr val="2B3440"/>
                          </a:solidFill>
                          <a:latin typeface="Calibri"/>
                          <a:ea typeface="Calibri"/>
                          <a:cs typeface="Calibri"/>
                          <a:sym typeface="Calibri"/>
                        </a:rPr>
                        <a:t>Core</a:t>
                      </a:r>
                      <a:endParaRPr/>
                    </a:p>
                  </a:txBody>
                  <a:tcPr marT="41150" marB="41150" marR="73150" marL="100575" anchor="ctr">
                    <a:solidFill>
                      <a:srgbClr val="F4F7FA"/>
                    </a:solidFill>
                  </a:tcPr>
                </a:tc>
                <a:tc>
                  <a:txBody>
                    <a:bodyPr/>
                    <a:lstStyle/>
                    <a:p>
                      <a:pPr indent="0" lvl="0" marL="0" marR="0" rtl="0" algn="l">
                        <a:lnSpc>
                          <a:spcPct val="105000"/>
                        </a:lnSpc>
                        <a:spcBef>
                          <a:spcPts val="0"/>
                        </a:spcBef>
                        <a:spcAft>
                          <a:spcPts val="0"/>
                        </a:spcAft>
                        <a:buNone/>
                      </a:pPr>
                      <a:r>
                        <a:rPr b="0" lang="en-US" sz="1400" u="none" cap="none" strike="noStrike">
                          <a:solidFill>
                            <a:srgbClr val="2B3440"/>
                          </a:solidFill>
                          <a:latin typeface="Calibri"/>
                          <a:ea typeface="Calibri"/>
                          <a:cs typeface="Calibri"/>
                          <a:sym typeface="Calibri"/>
                        </a:rPr>
                        <a:t>Quản lý khách hàng và đối tác kinh doanh</a:t>
                      </a:r>
                      <a:endParaRPr/>
                    </a:p>
                  </a:txBody>
                  <a:tcPr marT="41150" marB="41150" marR="73150" marL="100575" anchor="ctr">
                    <a:solidFill>
                      <a:srgbClr val="F4F7FA"/>
                    </a:solidFill>
                  </a:tcPr>
                </a:tc>
                <a:tc>
                  <a:txBody>
                    <a:bodyPr/>
                    <a:lstStyle/>
                    <a:p>
                      <a:pPr indent="0" lvl="0" marL="0" marR="0" rtl="0" algn="l">
                        <a:lnSpc>
                          <a:spcPct val="105000"/>
                        </a:lnSpc>
                        <a:spcBef>
                          <a:spcPts val="0"/>
                        </a:spcBef>
                        <a:spcAft>
                          <a:spcPts val="0"/>
                        </a:spcAft>
                        <a:buNone/>
                      </a:pPr>
                      <a:r>
                        <a:rPr b="0" lang="en-US" sz="1400" u="none" cap="none" strike="noStrike">
                          <a:solidFill>
                            <a:srgbClr val="2B3440"/>
                          </a:solidFill>
                          <a:latin typeface="Calibri"/>
                          <a:ea typeface="Calibri"/>
                          <a:cs typeface="Calibri"/>
                          <a:sym typeface="Calibri"/>
                        </a:rPr>
                        <a:t>Business Partner Management</a:t>
                      </a:r>
                      <a:endParaRPr/>
                    </a:p>
                  </a:txBody>
                  <a:tcPr marT="41150" marB="41150" marR="73150" marL="100575" anchor="ctr">
                    <a:solidFill>
                      <a:srgbClr val="F4F7FA"/>
                    </a:solidFill>
                  </a:tcPr>
                </a:tc>
                <a:tc>
                  <a:txBody>
                    <a:bodyPr/>
                    <a:lstStyle/>
                    <a:p>
                      <a:pPr indent="0" lvl="0" marL="0" marR="0" rtl="0" algn="l">
                        <a:lnSpc>
                          <a:spcPct val="105000"/>
                        </a:lnSpc>
                        <a:spcBef>
                          <a:spcPts val="0"/>
                        </a:spcBef>
                        <a:spcAft>
                          <a:spcPts val="0"/>
                        </a:spcAft>
                        <a:buNone/>
                      </a:pPr>
                      <a:r>
                        <a:rPr b="0" lang="en-US" sz="1400" u="none" cap="none" strike="noStrike">
                          <a:solidFill>
                            <a:srgbClr val="2B3440"/>
                          </a:solidFill>
                          <a:latin typeface="Calibri"/>
                          <a:ea typeface="Calibri"/>
                          <a:cs typeface="Calibri"/>
                          <a:sym typeface="Calibri"/>
                        </a:rPr>
                        <a:t>Sales</a:t>
                      </a:r>
                      <a:endParaRPr/>
                    </a:p>
                  </a:txBody>
                  <a:tcPr marT="41150" marB="41150" marR="73150" marL="100575" anchor="ctr">
                    <a:solidFill>
                      <a:srgbClr val="F4F7FA"/>
                    </a:solidFill>
                  </a:tcPr>
                </a:tc>
              </a:tr>
              <a:tr h="329175">
                <a:tc>
                  <a:txBody>
                    <a:bodyPr/>
                    <a:lstStyle/>
                    <a:p>
                      <a:pPr indent="0" lvl="0" marL="0" marR="0" rtl="0" algn="ctr">
                        <a:lnSpc>
                          <a:spcPct val="105000"/>
                        </a:lnSpc>
                        <a:spcBef>
                          <a:spcPts val="0"/>
                        </a:spcBef>
                        <a:spcAft>
                          <a:spcPts val="0"/>
                        </a:spcAft>
                        <a:buNone/>
                      </a:pPr>
                      <a:r>
                        <a:rPr b="1" lang="en-US" sz="1400" u="none" cap="none" strike="noStrike">
                          <a:solidFill>
                            <a:srgbClr val="0A2540"/>
                          </a:solidFill>
                          <a:latin typeface="Calibri"/>
                          <a:ea typeface="Calibri"/>
                          <a:cs typeface="Calibri"/>
                          <a:sym typeface="Calibri"/>
                        </a:rPr>
                        <a:t>C02</a:t>
                      </a:r>
                      <a:endParaRPr/>
                    </a:p>
                  </a:txBody>
                  <a:tcPr marT="41150" marB="41150" marR="73150" marL="100575" anchor="ctr">
                    <a:solidFill>
                      <a:srgbClr val="E7F7F3"/>
                    </a:solidFill>
                  </a:tcPr>
                </a:tc>
                <a:tc>
                  <a:txBody>
                    <a:bodyPr/>
                    <a:lstStyle/>
                    <a:p>
                      <a:pPr indent="0" lvl="0" marL="0" marR="0" rtl="0" algn="l">
                        <a:lnSpc>
                          <a:spcPct val="105000"/>
                        </a:lnSpc>
                        <a:spcBef>
                          <a:spcPts val="0"/>
                        </a:spcBef>
                        <a:spcAft>
                          <a:spcPts val="0"/>
                        </a:spcAft>
                        <a:buNone/>
                      </a:pPr>
                      <a:r>
                        <a:rPr b="0" lang="en-US" sz="1400" u="none" cap="none" strike="noStrike">
                          <a:solidFill>
                            <a:srgbClr val="2B3440"/>
                          </a:solidFill>
                          <a:latin typeface="Calibri"/>
                          <a:ea typeface="Calibri"/>
                          <a:cs typeface="Calibri"/>
                          <a:sym typeface="Calibri"/>
                        </a:rPr>
                        <a:t>Core</a:t>
                      </a:r>
                      <a:endParaRPr/>
                    </a:p>
                  </a:txBody>
                  <a:tcPr marT="41150" marB="41150" marR="73150" marL="100575" anchor="ctr">
                    <a:solidFill>
                      <a:srgbClr val="FFFFFF"/>
                    </a:solidFill>
                  </a:tcPr>
                </a:tc>
                <a:tc>
                  <a:txBody>
                    <a:bodyPr/>
                    <a:lstStyle/>
                    <a:p>
                      <a:pPr indent="0" lvl="0" marL="0" marR="0" rtl="0" algn="l">
                        <a:lnSpc>
                          <a:spcPct val="105000"/>
                        </a:lnSpc>
                        <a:spcBef>
                          <a:spcPts val="0"/>
                        </a:spcBef>
                        <a:spcAft>
                          <a:spcPts val="0"/>
                        </a:spcAft>
                        <a:buNone/>
                      </a:pPr>
                      <a:r>
                        <a:rPr b="0" lang="en-US" sz="1400" u="none" cap="none" strike="noStrike">
                          <a:solidFill>
                            <a:srgbClr val="2B3440"/>
                          </a:solidFill>
                          <a:latin typeface="Calibri"/>
                          <a:ea typeface="Calibri"/>
                          <a:cs typeface="Calibri"/>
                          <a:sym typeface="Calibri"/>
                        </a:rPr>
                        <a:t>Quản lý đơn hàng</a:t>
                      </a:r>
                      <a:endParaRPr/>
                    </a:p>
                  </a:txBody>
                  <a:tcPr marT="41150" marB="41150" marR="73150" marL="100575" anchor="ctr">
                    <a:solidFill>
                      <a:srgbClr val="FFFFFF"/>
                    </a:solidFill>
                  </a:tcPr>
                </a:tc>
                <a:tc>
                  <a:txBody>
                    <a:bodyPr/>
                    <a:lstStyle/>
                    <a:p>
                      <a:pPr indent="0" lvl="0" marL="0" marR="0" rtl="0" algn="l">
                        <a:lnSpc>
                          <a:spcPct val="105000"/>
                        </a:lnSpc>
                        <a:spcBef>
                          <a:spcPts val="0"/>
                        </a:spcBef>
                        <a:spcAft>
                          <a:spcPts val="0"/>
                        </a:spcAft>
                        <a:buNone/>
                      </a:pPr>
                      <a:r>
                        <a:rPr b="0" lang="en-US" sz="1400" u="none" cap="none" strike="noStrike">
                          <a:solidFill>
                            <a:srgbClr val="2B3440"/>
                          </a:solidFill>
                          <a:latin typeface="Calibri"/>
                          <a:ea typeface="Calibri"/>
                          <a:cs typeface="Calibri"/>
                          <a:sym typeface="Calibri"/>
                        </a:rPr>
                        <a:t>Order Management (Order-to-Cash)</a:t>
                      </a:r>
                      <a:endParaRPr/>
                    </a:p>
                  </a:txBody>
                  <a:tcPr marT="41150" marB="41150" marR="73150" marL="100575" anchor="ctr">
                    <a:solidFill>
                      <a:srgbClr val="FFFFFF"/>
                    </a:solidFill>
                  </a:tcPr>
                </a:tc>
                <a:tc>
                  <a:txBody>
                    <a:bodyPr/>
                    <a:lstStyle/>
                    <a:p>
                      <a:pPr indent="0" lvl="0" marL="0" marR="0" rtl="0" algn="l">
                        <a:lnSpc>
                          <a:spcPct val="105000"/>
                        </a:lnSpc>
                        <a:spcBef>
                          <a:spcPts val="0"/>
                        </a:spcBef>
                        <a:spcAft>
                          <a:spcPts val="0"/>
                        </a:spcAft>
                        <a:buNone/>
                      </a:pPr>
                      <a:r>
                        <a:rPr b="0" lang="en-US" sz="1400" u="none" cap="none" strike="noStrike">
                          <a:solidFill>
                            <a:srgbClr val="2B3440"/>
                          </a:solidFill>
                          <a:latin typeface="Calibri"/>
                          <a:ea typeface="Calibri"/>
                          <a:cs typeface="Calibri"/>
                          <a:sym typeface="Calibri"/>
                        </a:rPr>
                        <a:t>Customer Service / Sales Ops</a:t>
                      </a:r>
                      <a:endParaRPr/>
                    </a:p>
                  </a:txBody>
                  <a:tcPr marT="41150" marB="41150" marR="73150" marL="100575" anchor="ctr">
                    <a:solidFill>
                      <a:srgbClr val="FFFFFF"/>
                    </a:solidFill>
                  </a:tcPr>
                </a:tc>
              </a:tr>
              <a:tr h="329175">
                <a:tc>
                  <a:txBody>
                    <a:bodyPr/>
                    <a:lstStyle/>
                    <a:p>
                      <a:pPr indent="0" lvl="0" marL="0" marR="0" rtl="0" algn="ctr">
                        <a:lnSpc>
                          <a:spcPct val="105000"/>
                        </a:lnSpc>
                        <a:spcBef>
                          <a:spcPts val="0"/>
                        </a:spcBef>
                        <a:spcAft>
                          <a:spcPts val="0"/>
                        </a:spcAft>
                        <a:buNone/>
                      </a:pPr>
                      <a:r>
                        <a:rPr b="1" lang="en-US" sz="1400" u="none" cap="none" strike="noStrike">
                          <a:solidFill>
                            <a:srgbClr val="0A2540"/>
                          </a:solidFill>
                          <a:latin typeface="Calibri"/>
                          <a:ea typeface="Calibri"/>
                          <a:cs typeface="Calibri"/>
                          <a:sym typeface="Calibri"/>
                        </a:rPr>
                        <a:t>C03</a:t>
                      </a:r>
                      <a:endParaRPr/>
                    </a:p>
                  </a:txBody>
                  <a:tcPr marT="41150" marB="41150" marR="73150" marL="100575" anchor="ctr">
                    <a:solidFill>
                      <a:srgbClr val="E7F7F3"/>
                    </a:solidFill>
                  </a:tcPr>
                </a:tc>
                <a:tc>
                  <a:txBody>
                    <a:bodyPr/>
                    <a:lstStyle/>
                    <a:p>
                      <a:pPr indent="0" lvl="0" marL="0" marR="0" rtl="0" algn="l">
                        <a:lnSpc>
                          <a:spcPct val="105000"/>
                        </a:lnSpc>
                        <a:spcBef>
                          <a:spcPts val="0"/>
                        </a:spcBef>
                        <a:spcAft>
                          <a:spcPts val="0"/>
                        </a:spcAft>
                        <a:buNone/>
                      </a:pPr>
                      <a:r>
                        <a:rPr b="0" lang="en-US" sz="1400" u="none" cap="none" strike="noStrike">
                          <a:solidFill>
                            <a:srgbClr val="2B3440"/>
                          </a:solidFill>
                          <a:latin typeface="Calibri"/>
                          <a:ea typeface="Calibri"/>
                          <a:cs typeface="Calibri"/>
                          <a:sym typeface="Calibri"/>
                        </a:rPr>
                        <a:t>Core</a:t>
                      </a:r>
                      <a:endParaRPr/>
                    </a:p>
                  </a:txBody>
                  <a:tcPr marT="41150" marB="41150" marR="73150" marL="100575" anchor="ctr">
                    <a:solidFill>
                      <a:srgbClr val="F4F7FA"/>
                    </a:solidFill>
                  </a:tcPr>
                </a:tc>
                <a:tc>
                  <a:txBody>
                    <a:bodyPr/>
                    <a:lstStyle/>
                    <a:p>
                      <a:pPr indent="0" lvl="0" marL="0" marR="0" rtl="0" algn="l">
                        <a:lnSpc>
                          <a:spcPct val="105000"/>
                        </a:lnSpc>
                        <a:spcBef>
                          <a:spcPts val="0"/>
                        </a:spcBef>
                        <a:spcAft>
                          <a:spcPts val="0"/>
                        </a:spcAft>
                        <a:buNone/>
                      </a:pPr>
                      <a:r>
                        <a:rPr b="0" lang="en-US" sz="1400" u="none" cap="none" strike="noStrike">
                          <a:solidFill>
                            <a:srgbClr val="2B3440"/>
                          </a:solidFill>
                          <a:latin typeface="Calibri"/>
                          <a:ea typeface="Calibri"/>
                          <a:cs typeface="Calibri"/>
                          <a:sym typeface="Calibri"/>
                        </a:rPr>
                        <a:t>Quản lý dịch vụ và sửa chữa</a:t>
                      </a:r>
                      <a:endParaRPr/>
                    </a:p>
                  </a:txBody>
                  <a:tcPr marT="41150" marB="41150" marR="73150" marL="100575" anchor="ctr">
                    <a:solidFill>
                      <a:srgbClr val="F4F7FA"/>
                    </a:solidFill>
                  </a:tcPr>
                </a:tc>
                <a:tc>
                  <a:txBody>
                    <a:bodyPr/>
                    <a:lstStyle/>
                    <a:p>
                      <a:pPr indent="0" lvl="0" marL="0" marR="0" rtl="0" algn="l">
                        <a:lnSpc>
                          <a:spcPct val="105000"/>
                        </a:lnSpc>
                        <a:spcBef>
                          <a:spcPts val="0"/>
                        </a:spcBef>
                        <a:spcAft>
                          <a:spcPts val="0"/>
                        </a:spcAft>
                        <a:buNone/>
                      </a:pPr>
                      <a:r>
                        <a:rPr b="0" lang="en-US" sz="1400" u="none" cap="none" strike="noStrike">
                          <a:solidFill>
                            <a:srgbClr val="2B3440"/>
                          </a:solidFill>
                          <a:latin typeface="Calibri"/>
                          <a:ea typeface="Calibri"/>
                          <a:cs typeface="Calibri"/>
                          <a:sym typeface="Calibri"/>
                        </a:rPr>
                        <a:t>Service Order Management</a:t>
                      </a:r>
                      <a:endParaRPr/>
                    </a:p>
                  </a:txBody>
                  <a:tcPr marT="41150" marB="41150" marR="73150" marL="100575" anchor="ctr">
                    <a:solidFill>
                      <a:srgbClr val="F4F7FA"/>
                    </a:solidFill>
                  </a:tcPr>
                </a:tc>
                <a:tc>
                  <a:txBody>
                    <a:bodyPr/>
                    <a:lstStyle/>
                    <a:p>
                      <a:pPr indent="0" lvl="0" marL="0" marR="0" rtl="0" algn="l">
                        <a:lnSpc>
                          <a:spcPct val="105000"/>
                        </a:lnSpc>
                        <a:spcBef>
                          <a:spcPts val="0"/>
                        </a:spcBef>
                        <a:spcAft>
                          <a:spcPts val="0"/>
                        </a:spcAft>
                        <a:buNone/>
                      </a:pPr>
                      <a:r>
                        <a:rPr b="0" lang="en-US" sz="1400" u="none" cap="none" strike="noStrike">
                          <a:solidFill>
                            <a:srgbClr val="2B3440"/>
                          </a:solidFill>
                          <a:latin typeface="Calibri"/>
                          <a:ea typeface="Calibri"/>
                          <a:cs typeface="Calibri"/>
                          <a:sym typeface="Calibri"/>
                        </a:rPr>
                        <a:t>Technical Service</a:t>
                      </a:r>
                      <a:endParaRPr/>
                    </a:p>
                  </a:txBody>
                  <a:tcPr marT="41150" marB="41150" marR="73150" marL="100575" anchor="ctr">
                    <a:solidFill>
                      <a:srgbClr val="F4F7FA"/>
                    </a:solidFill>
                  </a:tcPr>
                </a:tc>
              </a:tr>
              <a:tr h="329175">
                <a:tc>
                  <a:txBody>
                    <a:bodyPr/>
                    <a:lstStyle/>
                    <a:p>
                      <a:pPr indent="0" lvl="0" marL="0" marR="0" rtl="0" algn="ctr">
                        <a:lnSpc>
                          <a:spcPct val="105000"/>
                        </a:lnSpc>
                        <a:spcBef>
                          <a:spcPts val="0"/>
                        </a:spcBef>
                        <a:spcAft>
                          <a:spcPts val="0"/>
                        </a:spcAft>
                        <a:buNone/>
                      </a:pPr>
                      <a:r>
                        <a:rPr b="1" lang="en-US" sz="1400" u="none" cap="none" strike="noStrike">
                          <a:solidFill>
                            <a:srgbClr val="B54A08"/>
                          </a:solidFill>
                          <a:latin typeface="Calibri"/>
                          <a:ea typeface="Calibri"/>
                          <a:cs typeface="Calibri"/>
                          <a:sym typeface="Calibri"/>
                        </a:rPr>
                        <a:t>S01</a:t>
                      </a:r>
                      <a:endParaRPr/>
                    </a:p>
                  </a:txBody>
                  <a:tcPr marT="41150" marB="41150" marR="73150" marL="100575" anchor="ctr">
                    <a:solidFill>
                      <a:srgbClr val="FFF6E8"/>
                    </a:solidFill>
                  </a:tcPr>
                </a:tc>
                <a:tc>
                  <a:txBody>
                    <a:bodyPr/>
                    <a:lstStyle/>
                    <a:p>
                      <a:pPr indent="0" lvl="0" marL="0" marR="0" rtl="0" algn="l">
                        <a:lnSpc>
                          <a:spcPct val="105000"/>
                        </a:lnSpc>
                        <a:spcBef>
                          <a:spcPts val="0"/>
                        </a:spcBef>
                        <a:spcAft>
                          <a:spcPts val="0"/>
                        </a:spcAft>
                        <a:buNone/>
                      </a:pPr>
                      <a:r>
                        <a:rPr b="0" lang="en-US" sz="1400" u="none" cap="none" strike="noStrike">
                          <a:solidFill>
                            <a:srgbClr val="2B3440"/>
                          </a:solidFill>
                          <a:latin typeface="Calibri"/>
                          <a:ea typeface="Calibri"/>
                          <a:cs typeface="Calibri"/>
                          <a:sym typeface="Calibri"/>
                        </a:rPr>
                        <a:t>Supporting</a:t>
                      </a:r>
                      <a:endParaRPr/>
                    </a:p>
                  </a:txBody>
                  <a:tcPr marT="41150" marB="41150" marR="73150" marL="100575" anchor="ctr">
                    <a:solidFill>
                      <a:srgbClr val="FFFFFF"/>
                    </a:solidFill>
                  </a:tcPr>
                </a:tc>
                <a:tc>
                  <a:txBody>
                    <a:bodyPr/>
                    <a:lstStyle/>
                    <a:p>
                      <a:pPr indent="0" lvl="0" marL="0" marR="0" rtl="0" algn="l">
                        <a:lnSpc>
                          <a:spcPct val="105000"/>
                        </a:lnSpc>
                        <a:spcBef>
                          <a:spcPts val="0"/>
                        </a:spcBef>
                        <a:spcAft>
                          <a:spcPts val="0"/>
                        </a:spcAft>
                        <a:buNone/>
                      </a:pPr>
                      <a:r>
                        <a:rPr b="0" lang="en-US" sz="1400" u="none" cap="none" strike="noStrike">
                          <a:solidFill>
                            <a:srgbClr val="2B3440"/>
                          </a:solidFill>
                          <a:latin typeface="Calibri"/>
                          <a:ea typeface="Calibri"/>
                          <a:cs typeface="Calibri"/>
                          <a:sym typeface="Calibri"/>
                        </a:rPr>
                        <a:t>Quản lý mua hàng và cung ứng</a:t>
                      </a:r>
                      <a:endParaRPr/>
                    </a:p>
                  </a:txBody>
                  <a:tcPr marT="41150" marB="41150" marR="73150" marL="100575" anchor="ctr">
                    <a:solidFill>
                      <a:srgbClr val="FFFFFF"/>
                    </a:solidFill>
                  </a:tcPr>
                </a:tc>
                <a:tc>
                  <a:txBody>
                    <a:bodyPr/>
                    <a:lstStyle/>
                    <a:p>
                      <a:pPr indent="0" lvl="0" marL="0" marR="0" rtl="0" algn="l">
                        <a:lnSpc>
                          <a:spcPct val="105000"/>
                        </a:lnSpc>
                        <a:spcBef>
                          <a:spcPts val="0"/>
                        </a:spcBef>
                        <a:spcAft>
                          <a:spcPts val="0"/>
                        </a:spcAft>
                        <a:buNone/>
                      </a:pPr>
                      <a:r>
                        <a:rPr b="0" lang="en-US" sz="1400" u="none" cap="none" strike="noStrike">
                          <a:solidFill>
                            <a:srgbClr val="2B3440"/>
                          </a:solidFill>
                          <a:latin typeface="Calibri"/>
                          <a:ea typeface="Calibri"/>
                          <a:cs typeface="Calibri"/>
                          <a:sym typeface="Calibri"/>
                        </a:rPr>
                        <a:t>Procurement Management</a:t>
                      </a:r>
                      <a:endParaRPr/>
                    </a:p>
                  </a:txBody>
                  <a:tcPr marT="41150" marB="41150" marR="73150" marL="100575" anchor="ctr">
                    <a:solidFill>
                      <a:srgbClr val="FFFFFF"/>
                    </a:solidFill>
                  </a:tcPr>
                </a:tc>
                <a:tc>
                  <a:txBody>
                    <a:bodyPr/>
                    <a:lstStyle/>
                    <a:p>
                      <a:pPr indent="0" lvl="0" marL="0" marR="0" rtl="0" algn="l">
                        <a:lnSpc>
                          <a:spcPct val="105000"/>
                        </a:lnSpc>
                        <a:spcBef>
                          <a:spcPts val="0"/>
                        </a:spcBef>
                        <a:spcAft>
                          <a:spcPts val="0"/>
                        </a:spcAft>
                        <a:buNone/>
                      </a:pPr>
                      <a:r>
                        <a:rPr b="0" lang="en-US" sz="1400" u="none" cap="none" strike="noStrike">
                          <a:solidFill>
                            <a:srgbClr val="2B3440"/>
                          </a:solidFill>
                          <a:latin typeface="Calibri"/>
                          <a:ea typeface="Calibri"/>
                          <a:cs typeface="Calibri"/>
                          <a:sym typeface="Calibri"/>
                        </a:rPr>
                        <a:t>Supply Chain</a:t>
                      </a:r>
                      <a:endParaRPr/>
                    </a:p>
                  </a:txBody>
                  <a:tcPr marT="41150" marB="41150" marR="73150" marL="100575" anchor="ctr">
                    <a:solidFill>
                      <a:srgbClr val="FFFFFF"/>
                    </a:solidFill>
                  </a:tcPr>
                </a:tc>
              </a:tr>
              <a:tr h="329175">
                <a:tc>
                  <a:txBody>
                    <a:bodyPr/>
                    <a:lstStyle/>
                    <a:p>
                      <a:pPr indent="0" lvl="0" marL="0" marR="0" rtl="0" algn="ctr">
                        <a:lnSpc>
                          <a:spcPct val="105000"/>
                        </a:lnSpc>
                        <a:spcBef>
                          <a:spcPts val="0"/>
                        </a:spcBef>
                        <a:spcAft>
                          <a:spcPts val="0"/>
                        </a:spcAft>
                        <a:buNone/>
                      </a:pPr>
                      <a:r>
                        <a:rPr b="1" lang="en-US" sz="1400" u="none" cap="none" strike="noStrike">
                          <a:solidFill>
                            <a:srgbClr val="B54A08"/>
                          </a:solidFill>
                          <a:latin typeface="Calibri"/>
                          <a:ea typeface="Calibri"/>
                          <a:cs typeface="Calibri"/>
                          <a:sym typeface="Calibri"/>
                        </a:rPr>
                        <a:t>S02</a:t>
                      </a:r>
                      <a:endParaRPr/>
                    </a:p>
                  </a:txBody>
                  <a:tcPr marT="41150" marB="41150" marR="73150" marL="100575" anchor="ctr">
                    <a:solidFill>
                      <a:srgbClr val="FFF6E8"/>
                    </a:solidFill>
                  </a:tcPr>
                </a:tc>
                <a:tc>
                  <a:txBody>
                    <a:bodyPr/>
                    <a:lstStyle/>
                    <a:p>
                      <a:pPr indent="0" lvl="0" marL="0" marR="0" rtl="0" algn="l">
                        <a:lnSpc>
                          <a:spcPct val="105000"/>
                        </a:lnSpc>
                        <a:spcBef>
                          <a:spcPts val="0"/>
                        </a:spcBef>
                        <a:spcAft>
                          <a:spcPts val="0"/>
                        </a:spcAft>
                        <a:buNone/>
                      </a:pPr>
                      <a:r>
                        <a:rPr b="0" lang="en-US" sz="1400" u="none" cap="none" strike="noStrike">
                          <a:solidFill>
                            <a:srgbClr val="2B3440"/>
                          </a:solidFill>
                          <a:latin typeface="Calibri"/>
                          <a:ea typeface="Calibri"/>
                          <a:cs typeface="Calibri"/>
                          <a:sym typeface="Calibri"/>
                        </a:rPr>
                        <a:t>Supporting</a:t>
                      </a:r>
                      <a:endParaRPr/>
                    </a:p>
                  </a:txBody>
                  <a:tcPr marT="41150" marB="41150" marR="73150" marL="100575" anchor="ctr">
                    <a:solidFill>
                      <a:srgbClr val="F4F7FA"/>
                    </a:solidFill>
                  </a:tcPr>
                </a:tc>
                <a:tc>
                  <a:txBody>
                    <a:bodyPr/>
                    <a:lstStyle/>
                    <a:p>
                      <a:pPr indent="0" lvl="0" marL="0" marR="0" rtl="0" algn="l">
                        <a:lnSpc>
                          <a:spcPct val="105000"/>
                        </a:lnSpc>
                        <a:spcBef>
                          <a:spcPts val="0"/>
                        </a:spcBef>
                        <a:spcAft>
                          <a:spcPts val="0"/>
                        </a:spcAft>
                        <a:buNone/>
                      </a:pPr>
                      <a:r>
                        <a:rPr b="0" lang="en-US" sz="1400" u="none" cap="none" strike="noStrike">
                          <a:solidFill>
                            <a:srgbClr val="2B3440"/>
                          </a:solidFill>
                          <a:latin typeface="Calibri"/>
                          <a:ea typeface="Calibri"/>
                          <a:cs typeface="Calibri"/>
                          <a:sym typeface="Calibri"/>
                        </a:rPr>
                        <a:t>Quản lý nhập kho</a:t>
                      </a:r>
                      <a:endParaRPr/>
                    </a:p>
                  </a:txBody>
                  <a:tcPr marT="41150" marB="41150" marR="73150" marL="100575" anchor="ctr">
                    <a:solidFill>
                      <a:srgbClr val="F4F7FA"/>
                    </a:solidFill>
                  </a:tcPr>
                </a:tc>
                <a:tc>
                  <a:txBody>
                    <a:bodyPr/>
                    <a:lstStyle/>
                    <a:p>
                      <a:pPr indent="0" lvl="0" marL="0" marR="0" rtl="0" algn="l">
                        <a:lnSpc>
                          <a:spcPct val="105000"/>
                        </a:lnSpc>
                        <a:spcBef>
                          <a:spcPts val="0"/>
                        </a:spcBef>
                        <a:spcAft>
                          <a:spcPts val="0"/>
                        </a:spcAft>
                        <a:buNone/>
                      </a:pPr>
                      <a:r>
                        <a:rPr b="0" lang="en-US" sz="1400" u="none" cap="none" strike="noStrike">
                          <a:solidFill>
                            <a:srgbClr val="2B3440"/>
                          </a:solidFill>
                          <a:latin typeface="Calibri"/>
                          <a:ea typeface="Calibri"/>
                          <a:cs typeface="Calibri"/>
                          <a:sym typeface="Calibri"/>
                        </a:rPr>
                        <a:t>Inbound Processing</a:t>
                      </a:r>
                      <a:endParaRPr/>
                    </a:p>
                  </a:txBody>
                  <a:tcPr marT="41150" marB="41150" marR="73150" marL="100575" anchor="ctr">
                    <a:solidFill>
                      <a:srgbClr val="F4F7FA"/>
                    </a:solidFill>
                  </a:tcPr>
                </a:tc>
                <a:tc>
                  <a:txBody>
                    <a:bodyPr/>
                    <a:lstStyle/>
                    <a:p>
                      <a:pPr indent="0" lvl="0" marL="0" marR="0" rtl="0" algn="l">
                        <a:lnSpc>
                          <a:spcPct val="105000"/>
                        </a:lnSpc>
                        <a:spcBef>
                          <a:spcPts val="0"/>
                        </a:spcBef>
                        <a:spcAft>
                          <a:spcPts val="0"/>
                        </a:spcAft>
                        <a:buNone/>
                      </a:pPr>
                      <a:r>
                        <a:rPr b="0" lang="en-US" sz="1400" u="none" cap="none" strike="noStrike">
                          <a:solidFill>
                            <a:srgbClr val="2B3440"/>
                          </a:solidFill>
                          <a:latin typeface="Calibri"/>
                          <a:ea typeface="Calibri"/>
                          <a:cs typeface="Calibri"/>
                          <a:sym typeface="Calibri"/>
                        </a:rPr>
                        <a:t>Warehouse / Logistics</a:t>
                      </a:r>
                      <a:endParaRPr/>
                    </a:p>
                  </a:txBody>
                  <a:tcPr marT="41150" marB="41150" marR="73150" marL="100575" anchor="ctr">
                    <a:solidFill>
                      <a:srgbClr val="F4F7FA"/>
                    </a:solidFill>
                  </a:tcPr>
                </a:tc>
              </a:tr>
              <a:tr h="329175">
                <a:tc>
                  <a:txBody>
                    <a:bodyPr/>
                    <a:lstStyle/>
                    <a:p>
                      <a:pPr indent="0" lvl="0" marL="0" marR="0" rtl="0" algn="ctr">
                        <a:lnSpc>
                          <a:spcPct val="105000"/>
                        </a:lnSpc>
                        <a:spcBef>
                          <a:spcPts val="0"/>
                        </a:spcBef>
                        <a:spcAft>
                          <a:spcPts val="0"/>
                        </a:spcAft>
                        <a:buNone/>
                      </a:pPr>
                      <a:r>
                        <a:rPr b="1" lang="en-US" sz="1400" u="none" cap="none" strike="noStrike">
                          <a:solidFill>
                            <a:srgbClr val="B54A08"/>
                          </a:solidFill>
                          <a:latin typeface="Calibri"/>
                          <a:ea typeface="Calibri"/>
                          <a:cs typeface="Calibri"/>
                          <a:sym typeface="Calibri"/>
                        </a:rPr>
                        <a:t>S03</a:t>
                      </a:r>
                      <a:endParaRPr/>
                    </a:p>
                  </a:txBody>
                  <a:tcPr marT="41150" marB="41150" marR="73150" marL="100575" anchor="ctr">
                    <a:solidFill>
                      <a:srgbClr val="FFF6E8"/>
                    </a:solidFill>
                  </a:tcPr>
                </a:tc>
                <a:tc>
                  <a:txBody>
                    <a:bodyPr/>
                    <a:lstStyle/>
                    <a:p>
                      <a:pPr indent="0" lvl="0" marL="0" marR="0" rtl="0" algn="l">
                        <a:lnSpc>
                          <a:spcPct val="105000"/>
                        </a:lnSpc>
                        <a:spcBef>
                          <a:spcPts val="0"/>
                        </a:spcBef>
                        <a:spcAft>
                          <a:spcPts val="0"/>
                        </a:spcAft>
                        <a:buNone/>
                      </a:pPr>
                      <a:r>
                        <a:rPr b="0" lang="en-US" sz="1400" u="none" cap="none" strike="noStrike">
                          <a:solidFill>
                            <a:srgbClr val="2B3440"/>
                          </a:solidFill>
                          <a:latin typeface="Calibri"/>
                          <a:ea typeface="Calibri"/>
                          <a:cs typeface="Calibri"/>
                          <a:sym typeface="Calibri"/>
                        </a:rPr>
                        <a:t>Supporting</a:t>
                      </a:r>
                      <a:endParaRPr/>
                    </a:p>
                  </a:txBody>
                  <a:tcPr marT="41150" marB="41150" marR="73150" marL="100575" anchor="ctr">
                    <a:solidFill>
                      <a:srgbClr val="FFFFFF"/>
                    </a:solidFill>
                  </a:tcPr>
                </a:tc>
                <a:tc>
                  <a:txBody>
                    <a:bodyPr/>
                    <a:lstStyle/>
                    <a:p>
                      <a:pPr indent="0" lvl="0" marL="0" marR="0" rtl="0" algn="l">
                        <a:lnSpc>
                          <a:spcPct val="105000"/>
                        </a:lnSpc>
                        <a:spcBef>
                          <a:spcPts val="0"/>
                        </a:spcBef>
                        <a:spcAft>
                          <a:spcPts val="0"/>
                        </a:spcAft>
                        <a:buNone/>
                      </a:pPr>
                      <a:r>
                        <a:rPr b="0" lang="en-US" sz="1400" u="none" cap="none" strike="noStrike">
                          <a:solidFill>
                            <a:srgbClr val="2B3440"/>
                          </a:solidFill>
                          <a:latin typeface="Calibri"/>
                          <a:ea typeface="Calibri"/>
                          <a:cs typeface="Calibri"/>
                          <a:sym typeface="Calibri"/>
                        </a:rPr>
                        <a:t>Quản lý xuất kho</a:t>
                      </a:r>
                      <a:endParaRPr/>
                    </a:p>
                  </a:txBody>
                  <a:tcPr marT="41150" marB="41150" marR="73150" marL="100575" anchor="ctr">
                    <a:solidFill>
                      <a:srgbClr val="FFFFFF"/>
                    </a:solidFill>
                  </a:tcPr>
                </a:tc>
                <a:tc>
                  <a:txBody>
                    <a:bodyPr/>
                    <a:lstStyle/>
                    <a:p>
                      <a:pPr indent="0" lvl="0" marL="0" marR="0" rtl="0" algn="l">
                        <a:lnSpc>
                          <a:spcPct val="105000"/>
                        </a:lnSpc>
                        <a:spcBef>
                          <a:spcPts val="0"/>
                        </a:spcBef>
                        <a:spcAft>
                          <a:spcPts val="0"/>
                        </a:spcAft>
                        <a:buNone/>
                      </a:pPr>
                      <a:r>
                        <a:rPr b="0" lang="en-US" sz="1400" u="none" cap="none" strike="noStrike">
                          <a:solidFill>
                            <a:srgbClr val="2B3440"/>
                          </a:solidFill>
                          <a:latin typeface="Calibri"/>
                          <a:ea typeface="Calibri"/>
                          <a:cs typeface="Calibri"/>
                          <a:sym typeface="Calibri"/>
                        </a:rPr>
                        <a:t>Outbound Processing</a:t>
                      </a:r>
                      <a:endParaRPr/>
                    </a:p>
                  </a:txBody>
                  <a:tcPr marT="41150" marB="41150" marR="73150" marL="100575" anchor="ctr">
                    <a:solidFill>
                      <a:srgbClr val="FFFFFF"/>
                    </a:solidFill>
                  </a:tcPr>
                </a:tc>
                <a:tc>
                  <a:txBody>
                    <a:bodyPr/>
                    <a:lstStyle/>
                    <a:p>
                      <a:pPr indent="0" lvl="0" marL="0" marR="0" rtl="0" algn="l">
                        <a:lnSpc>
                          <a:spcPct val="105000"/>
                        </a:lnSpc>
                        <a:spcBef>
                          <a:spcPts val="0"/>
                        </a:spcBef>
                        <a:spcAft>
                          <a:spcPts val="0"/>
                        </a:spcAft>
                        <a:buNone/>
                      </a:pPr>
                      <a:r>
                        <a:rPr b="0" lang="en-US" sz="1400" u="none" cap="none" strike="noStrike">
                          <a:solidFill>
                            <a:srgbClr val="2B3440"/>
                          </a:solidFill>
                          <a:latin typeface="Calibri"/>
                          <a:ea typeface="Calibri"/>
                          <a:cs typeface="Calibri"/>
                          <a:sym typeface="Calibri"/>
                        </a:rPr>
                        <a:t>Warehouse / Logistics</a:t>
                      </a:r>
                      <a:endParaRPr/>
                    </a:p>
                  </a:txBody>
                  <a:tcPr marT="41150" marB="41150" marR="73150" marL="100575" anchor="ctr">
                    <a:solidFill>
                      <a:srgbClr val="FFFFFF"/>
                    </a:solidFill>
                  </a:tcPr>
                </a:tc>
              </a:tr>
              <a:tr h="329175">
                <a:tc>
                  <a:txBody>
                    <a:bodyPr/>
                    <a:lstStyle/>
                    <a:p>
                      <a:pPr indent="0" lvl="0" marL="0" marR="0" rtl="0" algn="ctr">
                        <a:lnSpc>
                          <a:spcPct val="105000"/>
                        </a:lnSpc>
                        <a:spcBef>
                          <a:spcPts val="0"/>
                        </a:spcBef>
                        <a:spcAft>
                          <a:spcPts val="0"/>
                        </a:spcAft>
                        <a:buNone/>
                      </a:pPr>
                      <a:r>
                        <a:rPr b="1" lang="en-US" sz="1400" u="none" cap="none" strike="noStrike">
                          <a:solidFill>
                            <a:srgbClr val="B54A08"/>
                          </a:solidFill>
                          <a:latin typeface="Calibri"/>
                          <a:ea typeface="Calibri"/>
                          <a:cs typeface="Calibri"/>
                          <a:sym typeface="Calibri"/>
                        </a:rPr>
                        <a:t>S04</a:t>
                      </a:r>
                      <a:endParaRPr/>
                    </a:p>
                  </a:txBody>
                  <a:tcPr marT="41150" marB="41150" marR="73150" marL="100575" anchor="ctr">
                    <a:solidFill>
                      <a:srgbClr val="FFF6E8"/>
                    </a:solidFill>
                  </a:tcPr>
                </a:tc>
                <a:tc>
                  <a:txBody>
                    <a:bodyPr/>
                    <a:lstStyle/>
                    <a:p>
                      <a:pPr indent="0" lvl="0" marL="0" marR="0" rtl="0" algn="l">
                        <a:lnSpc>
                          <a:spcPct val="105000"/>
                        </a:lnSpc>
                        <a:spcBef>
                          <a:spcPts val="0"/>
                        </a:spcBef>
                        <a:spcAft>
                          <a:spcPts val="0"/>
                        </a:spcAft>
                        <a:buNone/>
                      </a:pPr>
                      <a:r>
                        <a:rPr b="0" lang="en-US" sz="1400" u="none" cap="none" strike="noStrike">
                          <a:solidFill>
                            <a:srgbClr val="2B3440"/>
                          </a:solidFill>
                          <a:latin typeface="Calibri"/>
                          <a:ea typeface="Calibri"/>
                          <a:cs typeface="Calibri"/>
                          <a:sym typeface="Calibri"/>
                        </a:rPr>
                        <a:t>Supporting</a:t>
                      </a:r>
                      <a:endParaRPr/>
                    </a:p>
                  </a:txBody>
                  <a:tcPr marT="41150" marB="41150" marR="73150" marL="100575" anchor="ctr">
                    <a:solidFill>
                      <a:srgbClr val="F4F7FA"/>
                    </a:solidFill>
                  </a:tcPr>
                </a:tc>
                <a:tc>
                  <a:txBody>
                    <a:bodyPr/>
                    <a:lstStyle/>
                    <a:p>
                      <a:pPr indent="0" lvl="0" marL="0" marR="0" rtl="0" algn="l">
                        <a:lnSpc>
                          <a:spcPct val="105000"/>
                        </a:lnSpc>
                        <a:spcBef>
                          <a:spcPts val="0"/>
                        </a:spcBef>
                        <a:spcAft>
                          <a:spcPts val="0"/>
                        </a:spcAft>
                        <a:buNone/>
                      </a:pPr>
                      <a:r>
                        <a:rPr b="0" lang="en-US" sz="1400" u="none" cap="none" strike="noStrike">
                          <a:solidFill>
                            <a:srgbClr val="2B3440"/>
                          </a:solidFill>
                          <a:latin typeface="Calibri"/>
                          <a:ea typeface="Calibri"/>
                          <a:cs typeface="Calibri"/>
                          <a:sym typeface="Calibri"/>
                        </a:rPr>
                        <a:t>Quản lý loại bỏ hàng hóa</a:t>
                      </a:r>
                      <a:endParaRPr/>
                    </a:p>
                  </a:txBody>
                  <a:tcPr marT="41150" marB="41150" marR="73150" marL="100575" anchor="ctr">
                    <a:solidFill>
                      <a:srgbClr val="F4F7FA"/>
                    </a:solidFill>
                  </a:tcPr>
                </a:tc>
                <a:tc>
                  <a:txBody>
                    <a:bodyPr/>
                    <a:lstStyle/>
                    <a:p>
                      <a:pPr indent="0" lvl="0" marL="0" marR="0" rtl="0" algn="l">
                        <a:lnSpc>
                          <a:spcPct val="105000"/>
                        </a:lnSpc>
                        <a:spcBef>
                          <a:spcPts val="0"/>
                        </a:spcBef>
                        <a:spcAft>
                          <a:spcPts val="0"/>
                        </a:spcAft>
                        <a:buNone/>
                      </a:pPr>
                      <a:r>
                        <a:rPr b="0" lang="en-US" sz="1400" u="none" cap="none" strike="noStrike">
                          <a:solidFill>
                            <a:srgbClr val="2B3440"/>
                          </a:solidFill>
                          <a:latin typeface="Calibri"/>
                          <a:ea typeface="Calibri"/>
                          <a:cs typeface="Calibri"/>
                          <a:sym typeface="Calibri"/>
                        </a:rPr>
                        <a:t>Scrapping Processing</a:t>
                      </a:r>
                      <a:endParaRPr/>
                    </a:p>
                  </a:txBody>
                  <a:tcPr marT="41150" marB="41150" marR="73150" marL="100575" anchor="ctr">
                    <a:solidFill>
                      <a:srgbClr val="F4F7FA"/>
                    </a:solidFill>
                  </a:tcPr>
                </a:tc>
                <a:tc>
                  <a:txBody>
                    <a:bodyPr/>
                    <a:lstStyle/>
                    <a:p>
                      <a:pPr indent="0" lvl="0" marL="0" marR="0" rtl="0" algn="l">
                        <a:lnSpc>
                          <a:spcPct val="105000"/>
                        </a:lnSpc>
                        <a:spcBef>
                          <a:spcPts val="0"/>
                        </a:spcBef>
                        <a:spcAft>
                          <a:spcPts val="0"/>
                        </a:spcAft>
                        <a:buNone/>
                      </a:pPr>
                      <a:r>
                        <a:rPr b="0" lang="en-US" sz="1400" u="none" cap="none" strike="noStrike">
                          <a:solidFill>
                            <a:srgbClr val="2B3440"/>
                          </a:solidFill>
                          <a:latin typeface="Calibri"/>
                          <a:ea typeface="Calibri"/>
                          <a:cs typeface="Calibri"/>
                          <a:sym typeface="Calibri"/>
                        </a:rPr>
                        <a:t>Warehouse</a:t>
                      </a:r>
                      <a:endParaRPr/>
                    </a:p>
                  </a:txBody>
                  <a:tcPr marT="41150" marB="41150" marR="73150" marL="100575" anchor="ctr">
                    <a:solidFill>
                      <a:srgbClr val="F4F7FA"/>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2540"/>
        </a:solidFill>
      </p:bgPr>
    </p:bg>
    <p:spTree>
      <p:nvGrpSpPr>
        <p:cNvPr id="325" name="Shape 325"/>
        <p:cNvGrpSpPr/>
        <p:nvPr/>
      </p:nvGrpSpPr>
      <p:grpSpPr>
        <a:xfrm>
          <a:off x="0" y="0"/>
          <a:ext cx="0" cy="0"/>
          <a:chOff x="0" y="0"/>
          <a:chExt cx="0" cy="0"/>
        </a:xfrm>
      </p:grpSpPr>
      <p:sp>
        <p:nvSpPr>
          <p:cNvPr id="326" name="Google Shape;326;p23"/>
          <p:cNvSpPr/>
          <p:nvPr/>
        </p:nvSpPr>
        <p:spPr>
          <a:xfrm>
            <a:off x="0" y="0"/>
            <a:ext cx="182880" cy="6858000"/>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27" name="Google Shape;327;p23"/>
          <p:cNvSpPr/>
          <p:nvPr/>
        </p:nvSpPr>
        <p:spPr>
          <a:xfrm>
            <a:off x="7863840" y="0"/>
            <a:ext cx="4325112" cy="6858000"/>
          </a:xfrm>
          <a:prstGeom prst="rect">
            <a:avLst/>
          </a:prstGeom>
          <a:solidFill>
            <a:srgbClr val="143A5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28" name="Google Shape;328;p23"/>
          <p:cNvSpPr txBox="1"/>
          <p:nvPr/>
        </p:nvSpPr>
        <p:spPr>
          <a:xfrm>
            <a:off x="8229600" y="1874519"/>
            <a:ext cx="3657600" cy="2078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None/>
            </a:pPr>
            <a:r>
              <a:rPr b="1" i="0" lang="en-US" sz="15000" u="none" cap="none" strike="noStrike">
                <a:solidFill>
                  <a:srgbClr val="E7F7F3"/>
                </a:solidFill>
                <a:latin typeface="Calibri"/>
                <a:ea typeface="Calibri"/>
                <a:cs typeface="Calibri"/>
                <a:sym typeface="Calibri"/>
              </a:rPr>
              <a:t>03</a:t>
            </a:r>
            <a:endParaRPr>
              <a:solidFill>
                <a:srgbClr val="E7F7F3"/>
              </a:solidFill>
            </a:endParaRPr>
          </a:p>
        </p:txBody>
      </p:sp>
      <p:sp>
        <p:nvSpPr>
          <p:cNvPr id="329" name="Google Shape;329;p23"/>
          <p:cNvSpPr txBox="1"/>
          <p:nvPr/>
        </p:nvSpPr>
        <p:spPr>
          <a:xfrm>
            <a:off x="1051560" y="2331720"/>
            <a:ext cx="6583680" cy="2154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00C2A8"/>
                </a:solidFill>
                <a:latin typeface="Calibri"/>
                <a:ea typeface="Calibri"/>
                <a:cs typeface="Calibri"/>
                <a:sym typeface="Calibri"/>
              </a:rPr>
              <a:t>PHẦN 3 · MODELLING &amp; SELECTION</a:t>
            </a:r>
            <a:endParaRPr/>
          </a:p>
        </p:txBody>
      </p:sp>
      <p:sp>
        <p:nvSpPr>
          <p:cNvPr id="330" name="Google Shape;330;p23"/>
          <p:cNvSpPr txBox="1"/>
          <p:nvPr/>
        </p:nvSpPr>
        <p:spPr>
          <a:xfrm>
            <a:off x="1051560" y="2724912"/>
            <a:ext cx="6583680" cy="1005840"/>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None/>
            </a:pPr>
            <a:r>
              <a:rPr b="1" i="0" lang="en-US" sz="3200" u="none" cap="none" strike="noStrike">
                <a:solidFill>
                  <a:srgbClr val="FFFFFF"/>
                </a:solidFill>
                <a:latin typeface="Calibri"/>
                <a:ea typeface="Calibri"/>
                <a:cs typeface="Calibri"/>
                <a:sym typeface="Calibri"/>
              </a:rPr>
              <a:t>Mô hình hóa và lựa chọn quy trình</a:t>
            </a:r>
            <a:endParaRPr/>
          </a:p>
        </p:txBody>
      </p:sp>
      <p:sp>
        <p:nvSpPr>
          <p:cNvPr id="331" name="Google Shape;331;p23"/>
          <p:cNvSpPr/>
          <p:nvPr/>
        </p:nvSpPr>
        <p:spPr>
          <a:xfrm>
            <a:off x="1051560" y="3858768"/>
            <a:ext cx="1005840" cy="45720"/>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32" name="Google Shape;332;p23"/>
          <p:cNvSpPr txBox="1"/>
          <p:nvPr/>
        </p:nvSpPr>
        <p:spPr>
          <a:xfrm>
            <a:off x="1051560" y="4096512"/>
            <a:ext cx="6492240" cy="560153"/>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1400" u="none" cap="none" strike="noStrike">
                <a:solidFill>
                  <a:srgbClr val="B6C9D8"/>
                </a:solidFill>
                <a:latin typeface="Calibri"/>
                <a:ea typeface="Calibri"/>
                <a:cs typeface="Calibri"/>
                <a:sym typeface="Calibri"/>
              </a:rPr>
              <a:t>Phạm vi mô hình hóa  ·  06 mô hình BPMN As-Is  ·  Process Discovery  ·  Sàng lọc theo 05 tiêu chí</a:t>
            </a:r>
            <a:endParaRPr b="0" i="0" sz="1400" u="none" cap="none" strike="noStrike">
              <a:solidFill>
                <a:srgbClr val="B6C9D8"/>
              </a:solidFill>
              <a:latin typeface="Calibri"/>
              <a:ea typeface="Calibri"/>
              <a:cs typeface="Calibri"/>
              <a:sym typeface="Calibri"/>
            </a:endParaRPr>
          </a:p>
        </p:txBody>
      </p:sp>
      <p:sp>
        <p:nvSpPr>
          <p:cNvPr id="333" name="Google Shape;333;p23"/>
          <p:cNvSpPr txBox="1"/>
          <p:nvPr/>
        </p:nvSpPr>
        <p:spPr>
          <a:xfrm>
            <a:off x="658368" y="6355080"/>
            <a:ext cx="10326319"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850" u="none" cap="none" strike="noStrike">
                <a:solidFill>
                  <a:srgbClr val="8FA6BC"/>
                </a:solidFill>
                <a:latin typeface="Calibri"/>
                <a:ea typeface="Calibri"/>
                <a:cs typeface="Calibri"/>
                <a:sym typeface="Calibri"/>
              </a:rPr>
              <a:t>SOLVENTUM VIỆT NAM  ·  HỆ THỐNG QUẢN TRỊ QUY TRÌNH NGHIỆP VỤ</a:t>
            </a:r>
            <a:endParaRPr/>
          </a:p>
        </p:txBody>
      </p:sp>
      <p:sp>
        <p:nvSpPr>
          <p:cNvPr id="334" name="Google Shape;334;p23"/>
          <p:cNvSpPr txBox="1"/>
          <p:nvPr/>
        </p:nvSpPr>
        <p:spPr>
          <a:xfrm>
            <a:off x="10984687" y="6355080"/>
            <a:ext cx="548640" cy="2286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1" i="0" lang="en-US" sz="950" u="none" cap="none" strike="noStrike">
                <a:solidFill>
                  <a:srgbClr val="00C2A8"/>
                </a:solidFill>
                <a:latin typeface="Calibri"/>
                <a:ea typeface="Calibri"/>
                <a:cs typeface="Calibri"/>
                <a:sym typeface="Calibri"/>
              </a:rPr>
              <a:t>11</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24"/>
          <p:cNvSpPr txBox="1"/>
          <p:nvPr/>
        </p:nvSpPr>
        <p:spPr>
          <a:xfrm>
            <a:off x="658368" y="384048"/>
            <a:ext cx="108749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50" u="none" cap="none" strike="noStrike">
                <a:solidFill>
                  <a:srgbClr val="0096D6"/>
                </a:solidFill>
                <a:latin typeface="Calibri"/>
                <a:ea typeface="Calibri"/>
                <a:cs typeface="Calibri"/>
                <a:sym typeface="Calibri"/>
              </a:rPr>
              <a:t>CHƯƠNG 3 · 3.1 PHẠM VI MÔ HÌNH HÓA</a:t>
            </a:r>
            <a:endParaRPr/>
          </a:p>
        </p:txBody>
      </p:sp>
      <p:sp>
        <p:nvSpPr>
          <p:cNvPr id="340" name="Google Shape;340;p24"/>
          <p:cNvSpPr txBox="1"/>
          <p:nvPr/>
        </p:nvSpPr>
        <p:spPr>
          <a:xfrm>
            <a:off x="658368" y="640080"/>
            <a:ext cx="10874959" cy="603504"/>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2500" u="none" cap="none" strike="noStrike">
                <a:solidFill>
                  <a:srgbClr val="0A2540"/>
                </a:solidFill>
                <a:latin typeface="Calibri"/>
                <a:ea typeface="Calibri"/>
                <a:cs typeface="Calibri"/>
                <a:sym typeface="Calibri"/>
              </a:rPr>
              <a:t>TỪ 10 QUY TRÌNH SANG 06 QUY TRÌNH MÔ HÌNH HÓA</a:t>
            </a:r>
            <a:endParaRPr/>
          </a:p>
        </p:txBody>
      </p:sp>
      <p:sp>
        <p:nvSpPr>
          <p:cNvPr id="341" name="Google Shape;341;p24"/>
          <p:cNvSpPr/>
          <p:nvPr/>
        </p:nvSpPr>
        <p:spPr>
          <a:xfrm>
            <a:off x="658368" y="1280160"/>
            <a:ext cx="566928" cy="41148"/>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42" name="Google Shape;342;p24"/>
          <p:cNvSpPr/>
          <p:nvPr/>
        </p:nvSpPr>
        <p:spPr>
          <a:xfrm>
            <a:off x="1298448" y="1280160"/>
            <a:ext cx="10234879" cy="41148"/>
          </a:xfrm>
          <a:prstGeom prst="rect">
            <a:avLst/>
          </a:prstGeom>
          <a:solidFill>
            <a:srgbClr val="DFE4E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43" name="Google Shape;343;p24"/>
          <p:cNvSpPr txBox="1"/>
          <p:nvPr/>
        </p:nvSpPr>
        <p:spPr>
          <a:xfrm>
            <a:off x="658368" y="1371600"/>
            <a:ext cx="10874959" cy="274320"/>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0" i="1" lang="en-US" sz="1100" u="none" cap="none" strike="noStrike">
                <a:solidFill>
                  <a:srgbClr val="6B7784"/>
                </a:solidFill>
                <a:latin typeface="Calibri"/>
                <a:ea typeface="Calibri"/>
                <a:cs typeface="Calibri"/>
                <a:sym typeface="Calibri"/>
              </a:rPr>
              <a:t>Bảng 3.1 — Các quy trình được lựa chọn để mô hình hóa trong Chương 3</a:t>
            </a:r>
            <a:endParaRPr/>
          </a:p>
        </p:txBody>
      </p:sp>
      <p:sp>
        <p:nvSpPr>
          <p:cNvPr id="344" name="Google Shape;344;p24"/>
          <p:cNvSpPr txBox="1"/>
          <p:nvPr/>
        </p:nvSpPr>
        <p:spPr>
          <a:xfrm>
            <a:off x="658368" y="6355080"/>
            <a:ext cx="10326319"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850" u="none" cap="none" strike="noStrike">
                <a:solidFill>
                  <a:srgbClr val="6B7784"/>
                </a:solidFill>
                <a:latin typeface="Calibri"/>
                <a:ea typeface="Calibri"/>
                <a:cs typeface="Calibri"/>
                <a:sym typeface="Calibri"/>
              </a:rPr>
              <a:t>SOLVENTUM VIỆT NAM  ·  HỆ THỐNG QUẢN TRỊ QUY TRÌNH NGHIỆP VỤ</a:t>
            </a:r>
            <a:endParaRPr/>
          </a:p>
        </p:txBody>
      </p:sp>
      <p:sp>
        <p:nvSpPr>
          <p:cNvPr id="345" name="Google Shape;345;p24"/>
          <p:cNvSpPr txBox="1"/>
          <p:nvPr/>
        </p:nvSpPr>
        <p:spPr>
          <a:xfrm>
            <a:off x="10984687" y="6355080"/>
            <a:ext cx="548640" cy="2286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1" i="0" lang="en-US" sz="950" u="none" cap="none" strike="noStrike">
                <a:solidFill>
                  <a:srgbClr val="0096D6"/>
                </a:solidFill>
                <a:latin typeface="Calibri"/>
                <a:ea typeface="Calibri"/>
                <a:cs typeface="Calibri"/>
                <a:sym typeface="Calibri"/>
              </a:rPr>
              <a:t>12</a:t>
            </a:r>
            <a:endParaRPr/>
          </a:p>
        </p:txBody>
      </p:sp>
      <p:sp>
        <p:nvSpPr>
          <p:cNvPr id="346" name="Google Shape;346;p24"/>
          <p:cNvSpPr/>
          <p:nvPr/>
        </p:nvSpPr>
        <p:spPr>
          <a:xfrm>
            <a:off x="658368" y="1792224"/>
            <a:ext cx="3442106" cy="475488"/>
          </a:xfrm>
          <a:prstGeom prst="rect">
            <a:avLst/>
          </a:prstGeom>
          <a:solidFill>
            <a:srgbClr val="0A25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347" name="Google Shape;347;p24"/>
          <p:cNvSpPr txBox="1"/>
          <p:nvPr/>
        </p:nvSpPr>
        <p:spPr>
          <a:xfrm>
            <a:off x="841247" y="1922246"/>
            <a:ext cx="3076346" cy="215444"/>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Calibri"/>
                <a:ea typeface="Calibri"/>
                <a:cs typeface="Calibri"/>
                <a:sym typeface="Calibri"/>
              </a:rPr>
              <a:t>MANAGEMENT PROCESSES</a:t>
            </a:r>
            <a:endParaRPr/>
          </a:p>
        </p:txBody>
      </p:sp>
      <p:sp>
        <p:nvSpPr>
          <p:cNvPr id="348" name="Google Shape;348;p24"/>
          <p:cNvSpPr/>
          <p:nvPr/>
        </p:nvSpPr>
        <p:spPr>
          <a:xfrm>
            <a:off x="658368" y="2377440"/>
            <a:ext cx="3442106" cy="1042415"/>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349" name="Google Shape;349;p24"/>
          <p:cNvSpPr/>
          <p:nvPr/>
        </p:nvSpPr>
        <p:spPr>
          <a:xfrm>
            <a:off x="658368" y="2377440"/>
            <a:ext cx="50292" cy="1042415"/>
          </a:xfrm>
          <a:prstGeom prst="rect">
            <a:avLst/>
          </a:prstGeom>
          <a:solidFill>
            <a:srgbClr val="0A25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350" name="Google Shape;350;p24"/>
          <p:cNvSpPr txBox="1"/>
          <p:nvPr/>
        </p:nvSpPr>
        <p:spPr>
          <a:xfrm>
            <a:off x="877824" y="2505456"/>
            <a:ext cx="3039770" cy="2154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0A2540"/>
                </a:solidFill>
                <a:latin typeface="Calibri"/>
                <a:ea typeface="Calibri"/>
                <a:cs typeface="Calibri"/>
                <a:sym typeface="Calibri"/>
              </a:rPr>
              <a:t>M01</a:t>
            </a:r>
            <a:endParaRPr/>
          </a:p>
        </p:txBody>
      </p:sp>
      <p:sp>
        <p:nvSpPr>
          <p:cNvPr id="351" name="Google Shape;351;p24"/>
          <p:cNvSpPr txBox="1"/>
          <p:nvPr/>
        </p:nvSpPr>
        <p:spPr>
          <a:xfrm>
            <a:off x="877824" y="2761488"/>
            <a:ext cx="3039770" cy="47397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400" u="none" cap="none" strike="noStrike">
                <a:solidFill>
                  <a:srgbClr val="0A2540"/>
                </a:solidFill>
                <a:latin typeface="Calibri"/>
                <a:ea typeface="Calibri"/>
                <a:cs typeface="Calibri"/>
                <a:sym typeface="Calibri"/>
              </a:rPr>
              <a:t>Hoạch định và triển khai chiến lược kinh doanh</a:t>
            </a:r>
            <a:endParaRPr/>
          </a:p>
        </p:txBody>
      </p:sp>
      <p:sp>
        <p:nvSpPr>
          <p:cNvPr id="352" name="Google Shape;352;p24"/>
          <p:cNvSpPr txBox="1"/>
          <p:nvPr/>
        </p:nvSpPr>
        <p:spPr>
          <a:xfrm>
            <a:off x="877824" y="3163824"/>
            <a:ext cx="3039770" cy="21945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1" lang="en-US" sz="1400" u="none" cap="none" strike="noStrike">
                <a:solidFill>
                  <a:srgbClr val="6B7784"/>
                </a:solidFill>
                <a:latin typeface="Calibri"/>
                <a:ea typeface="Calibri"/>
                <a:cs typeface="Calibri"/>
                <a:sym typeface="Calibri"/>
              </a:rPr>
              <a:t>Business Planning</a:t>
            </a:r>
            <a:endParaRPr/>
          </a:p>
        </p:txBody>
      </p:sp>
      <p:sp>
        <p:nvSpPr>
          <p:cNvPr id="353" name="Google Shape;353;p24"/>
          <p:cNvSpPr/>
          <p:nvPr/>
        </p:nvSpPr>
        <p:spPr>
          <a:xfrm>
            <a:off x="658368" y="3529584"/>
            <a:ext cx="3442106" cy="1042415"/>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354" name="Google Shape;354;p24"/>
          <p:cNvSpPr/>
          <p:nvPr/>
        </p:nvSpPr>
        <p:spPr>
          <a:xfrm>
            <a:off x="658368" y="3529584"/>
            <a:ext cx="50292" cy="1042415"/>
          </a:xfrm>
          <a:prstGeom prst="rect">
            <a:avLst/>
          </a:prstGeom>
          <a:solidFill>
            <a:srgbClr val="0A25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355" name="Google Shape;355;p24"/>
          <p:cNvSpPr txBox="1"/>
          <p:nvPr/>
        </p:nvSpPr>
        <p:spPr>
          <a:xfrm>
            <a:off x="877824" y="3657600"/>
            <a:ext cx="3039770" cy="2154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0A2540"/>
                </a:solidFill>
                <a:latin typeface="Calibri"/>
                <a:ea typeface="Calibri"/>
                <a:cs typeface="Calibri"/>
                <a:sym typeface="Calibri"/>
              </a:rPr>
              <a:t>M02</a:t>
            </a:r>
            <a:endParaRPr/>
          </a:p>
        </p:txBody>
      </p:sp>
      <p:sp>
        <p:nvSpPr>
          <p:cNvPr id="356" name="Google Shape;356;p24"/>
          <p:cNvSpPr txBox="1"/>
          <p:nvPr/>
        </p:nvSpPr>
        <p:spPr>
          <a:xfrm>
            <a:off x="877824" y="3913632"/>
            <a:ext cx="3039770" cy="23698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400" u="none" cap="none" strike="noStrike">
                <a:solidFill>
                  <a:srgbClr val="0A2540"/>
                </a:solidFill>
                <a:latin typeface="Calibri"/>
                <a:ea typeface="Calibri"/>
                <a:cs typeface="Calibri"/>
                <a:sym typeface="Calibri"/>
              </a:rPr>
              <a:t>Quản lý khiếu nại khách hàng</a:t>
            </a:r>
            <a:endParaRPr/>
          </a:p>
        </p:txBody>
      </p:sp>
      <p:sp>
        <p:nvSpPr>
          <p:cNvPr id="357" name="Google Shape;357;p24"/>
          <p:cNvSpPr txBox="1"/>
          <p:nvPr/>
        </p:nvSpPr>
        <p:spPr>
          <a:xfrm>
            <a:off x="877824" y="4315968"/>
            <a:ext cx="3039770" cy="21945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1" lang="en-US" sz="1400" u="none" cap="none" strike="noStrike">
                <a:solidFill>
                  <a:srgbClr val="6B7784"/>
                </a:solidFill>
                <a:latin typeface="Calibri"/>
                <a:ea typeface="Calibri"/>
                <a:cs typeface="Calibri"/>
                <a:sym typeface="Calibri"/>
              </a:rPr>
              <a:t>Customer Complaint Management</a:t>
            </a:r>
            <a:endParaRPr/>
          </a:p>
        </p:txBody>
      </p:sp>
      <p:sp>
        <p:nvSpPr>
          <p:cNvPr id="358" name="Google Shape;358;p24"/>
          <p:cNvSpPr/>
          <p:nvPr/>
        </p:nvSpPr>
        <p:spPr>
          <a:xfrm>
            <a:off x="658368" y="4736592"/>
            <a:ext cx="3442106" cy="1216152"/>
          </a:xfrm>
          <a:prstGeom prst="rect">
            <a:avLst/>
          </a:prstGeom>
          <a:solidFill>
            <a:srgbClr val="E9F3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359" name="Google Shape;359;p24"/>
          <p:cNvSpPr txBox="1"/>
          <p:nvPr/>
        </p:nvSpPr>
        <p:spPr>
          <a:xfrm>
            <a:off x="859536" y="4865652"/>
            <a:ext cx="3039770" cy="1068049"/>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0096D6"/>
                </a:solidFill>
                <a:latin typeface="Calibri"/>
                <a:ea typeface="Calibri"/>
                <a:cs typeface="Calibri"/>
                <a:sym typeface="Calibri"/>
              </a:rPr>
              <a:t>LÝ DO LỰA CHỌN</a:t>
            </a:r>
            <a:endParaRPr/>
          </a:p>
          <a:p>
            <a:pPr indent="0" lvl="0" marL="0" marR="0" rtl="0" algn="l">
              <a:lnSpc>
                <a:spcPct val="122000"/>
              </a:lnSpc>
              <a:spcBef>
                <a:spcPts val="500"/>
              </a:spcBef>
              <a:spcAft>
                <a:spcPts val="0"/>
              </a:spcAft>
              <a:buNone/>
            </a:pPr>
            <a:r>
              <a:rPr b="0" i="0" lang="en-US" sz="1400" u="none" cap="none" strike="noStrike">
                <a:solidFill>
                  <a:srgbClr val="2B3440"/>
                </a:solidFill>
                <a:latin typeface="Calibri"/>
                <a:ea typeface="Calibri"/>
                <a:cs typeface="Calibri"/>
                <a:sym typeface="Calibri"/>
              </a:rPr>
              <a:t>Thể hiện hoạt động hoạch định – triển khai định hướng từ cấp quản lý xuống các bộ phận chức năng.</a:t>
            </a:r>
            <a:endParaRPr/>
          </a:p>
        </p:txBody>
      </p:sp>
      <p:sp>
        <p:nvSpPr>
          <p:cNvPr id="360" name="Google Shape;360;p24"/>
          <p:cNvSpPr/>
          <p:nvPr/>
        </p:nvSpPr>
        <p:spPr>
          <a:xfrm>
            <a:off x="4374794" y="1792224"/>
            <a:ext cx="3442106" cy="475488"/>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361" name="Google Shape;361;p24"/>
          <p:cNvSpPr txBox="1"/>
          <p:nvPr/>
        </p:nvSpPr>
        <p:spPr>
          <a:xfrm>
            <a:off x="4557674" y="1922246"/>
            <a:ext cx="3076346" cy="215444"/>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Calibri"/>
                <a:ea typeface="Calibri"/>
                <a:cs typeface="Calibri"/>
                <a:sym typeface="Calibri"/>
              </a:rPr>
              <a:t>CORE BUSINESS PROCESSES</a:t>
            </a:r>
            <a:endParaRPr/>
          </a:p>
        </p:txBody>
      </p:sp>
      <p:sp>
        <p:nvSpPr>
          <p:cNvPr id="362" name="Google Shape;362;p24"/>
          <p:cNvSpPr/>
          <p:nvPr/>
        </p:nvSpPr>
        <p:spPr>
          <a:xfrm>
            <a:off x="4374794" y="2377440"/>
            <a:ext cx="3442106" cy="1042415"/>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363" name="Google Shape;363;p24"/>
          <p:cNvSpPr/>
          <p:nvPr/>
        </p:nvSpPr>
        <p:spPr>
          <a:xfrm>
            <a:off x="4374794" y="2377440"/>
            <a:ext cx="50292" cy="1042415"/>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364" name="Google Shape;364;p24"/>
          <p:cNvSpPr txBox="1"/>
          <p:nvPr/>
        </p:nvSpPr>
        <p:spPr>
          <a:xfrm>
            <a:off x="4594250" y="2505456"/>
            <a:ext cx="3039770" cy="2154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0096D6"/>
                </a:solidFill>
                <a:latin typeface="Calibri"/>
                <a:ea typeface="Calibri"/>
                <a:cs typeface="Calibri"/>
                <a:sym typeface="Calibri"/>
              </a:rPr>
              <a:t>C02</a:t>
            </a:r>
            <a:endParaRPr/>
          </a:p>
        </p:txBody>
      </p:sp>
      <p:sp>
        <p:nvSpPr>
          <p:cNvPr id="365" name="Google Shape;365;p24"/>
          <p:cNvSpPr txBox="1"/>
          <p:nvPr/>
        </p:nvSpPr>
        <p:spPr>
          <a:xfrm>
            <a:off x="4594250" y="2761488"/>
            <a:ext cx="3039770" cy="23698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400" u="none" cap="none" strike="noStrike">
                <a:solidFill>
                  <a:srgbClr val="0A2540"/>
                </a:solidFill>
                <a:latin typeface="Calibri"/>
                <a:ea typeface="Calibri"/>
                <a:cs typeface="Calibri"/>
                <a:sym typeface="Calibri"/>
              </a:rPr>
              <a:t>Quản lý đơn hàng</a:t>
            </a:r>
            <a:endParaRPr/>
          </a:p>
        </p:txBody>
      </p:sp>
      <p:sp>
        <p:nvSpPr>
          <p:cNvPr id="366" name="Google Shape;366;p24"/>
          <p:cNvSpPr txBox="1"/>
          <p:nvPr/>
        </p:nvSpPr>
        <p:spPr>
          <a:xfrm>
            <a:off x="4594250" y="3163824"/>
            <a:ext cx="3039770" cy="21945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1" lang="en-US" sz="1400" u="none" cap="none" strike="noStrike">
                <a:solidFill>
                  <a:srgbClr val="6B7784"/>
                </a:solidFill>
                <a:latin typeface="Calibri"/>
                <a:ea typeface="Calibri"/>
                <a:cs typeface="Calibri"/>
                <a:sym typeface="Calibri"/>
              </a:rPr>
              <a:t>Order Management (Order-to-Cash)</a:t>
            </a:r>
            <a:endParaRPr/>
          </a:p>
        </p:txBody>
      </p:sp>
      <p:sp>
        <p:nvSpPr>
          <p:cNvPr id="367" name="Google Shape;367;p24"/>
          <p:cNvSpPr/>
          <p:nvPr/>
        </p:nvSpPr>
        <p:spPr>
          <a:xfrm>
            <a:off x="4374794" y="3529584"/>
            <a:ext cx="3442106" cy="1042415"/>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368" name="Google Shape;368;p24"/>
          <p:cNvSpPr/>
          <p:nvPr/>
        </p:nvSpPr>
        <p:spPr>
          <a:xfrm>
            <a:off x="4374794" y="3529584"/>
            <a:ext cx="50292" cy="1042415"/>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369" name="Google Shape;369;p24"/>
          <p:cNvSpPr txBox="1"/>
          <p:nvPr/>
        </p:nvSpPr>
        <p:spPr>
          <a:xfrm>
            <a:off x="4594250" y="3657600"/>
            <a:ext cx="3039770" cy="2154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0096D6"/>
                </a:solidFill>
                <a:latin typeface="Calibri"/>
                <a:ea typeface="Calibri"/>
                <a:cs typeface="Calibri"/>
                <a:sym typeface="Calibri"/>
              </a:rPr>
              <a:t>C03</a:t>
            </a:r>
            <a:endParaRPr/>
          </a:p>
        </p:txBody>
      </p:sp>
      <p:sp>
        <p:nvSpPr>
          <p:cNvPr id="370" name="Google Shape;370;p24"/>
          <p:cNvSpPr txBox="1"/>
          <p:nvPr/>
        </p:nvSpPr>
        <p:spPr>
          <a:xfrm>
            <a:off x="4594250" y="3913632"/>
            <a:ext cx="3039770" cy="23698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400" u="none" cap="none" strike="noStrike">
                <a:solidFill>
                  <a:srgbClr val="0A2540"/>
                </a:solidFill>
                <a:latin typeface="Calibri"/>
                <a:ea typeface="Calibri"/>
                <a:cs typeface="Calibri"/>
                <a:sym typeface="Calibri"/>
              </a:rPr>
              <a:t>Quản lý dịch vụ và sửa chữa</a:t>
            </a:r>
            <a:endParaRPr/>
          </a:p>
        </p:txBody>
      </p:sp>
      <p:sp>
        <p:nvSpPr>
          <p:cNvPr id="371" name="Google Shape;371;p24"/>
          <p:cNvSpPr txBox="1"/>
          <p:nvPr/>
        </p:nvSpPr>
        <p:spPr>
          <a:xfrm>
            <a:off x="4594250" y="4315968"/>
            <a:ext cx="3039770" cy="21945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1" lang="en-US" sz="1400" u="none" cap="none" strike="noStrike">
                <a:solidFill>
                  <a:srgbClr val="6B7784"/>
                </a:solidFill>
                <a:latin typeface="Calibri"/>
                <a:ea typeface="Calibri"/>
                <a:cs typeface="Calibri"/>
                <a:sym typeface="Calibri"/>
              </a:rPr>
              <a:t>Service Order Management</a:t>
            </a:r>
            <a:endParaRPr/>
          </a:p>
        </p:txBody>
      </p:sp>
      <p:sp>
        <p:nvSpPr>
          <p:cNvPr id="372" name="Google Shape;372;p24"/>
          <p:cNvSpPr/>
          <p:nvPr/>
        </p:nvSpPr>
        <p:spPr>
          <a:xfrm>
            <a:off x="4374794" y="4736592"/>
            <a:ext cx="3442106" cy="1216152"/>
          </a:xfrm>
          <a:prstGeom prst="rect">
            <a:avLst/>
          </a:prstGeom>
          <a:solidFill>
            <a:srgbClr val="E9F3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373" name="Google Shape;373;p24"/>
          <p:cNvSpPr txBox="1"/>
          <p:nvPr/>
        </p:nvSpPr>
        <p:spPr>
          <a:xfrm>
            <a:off x="4575962" y="4811386"/>
            <a:ext cx="3039770" cy="1068049"/>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0096D6"/>
                </a:solidFill>
                <a:latin typeface="Calibri"/>
                <a:ea typeface="Calibri"/>
                <a:cs typeface="Calibri"/>
                <a:sym typeface="Calibri"/>
              </a:rPr>
              <a:t>LÝ DO LỰA CHỌN</a:t>
            </a:r>
            <a:endParaRPr/>
          </a:p>
          <a:p>
            <a:pPr indent="0" lvl="0" marL="0" marR="0" rtl="0" algn="l">
              <a:lnSpc>
                <a:spcPct val="122000"/>
              </a:lnSpc>
              <a:spcBef>
                <a:spcPts val="500"/>
              </a:spcBef>
              <a:spcAft>
                <a:spcPts val="0"/>
              </a:spcAft>
              <a:buNone/>
            </a:pPr>
            <a:r>
              <a:rPr b="0" i="0" lang="en-US" sz="1400" u="none" cap="none" strike="noStrike">
                <a:solidFill>
                  <a:srgbClr val="2B3440"/>
                </a:solidFill>
                <a:latin typeface="Calibri"/>
                <a:ea typeface="Calibri"/>
                <a:cs typeface="Calibri"/>
                <a:sym typeface="Calibri"/>
              </a:rPr>
              <a:t>Gắn trực tiếp với việc tiếp nhận và đáp ứng nhu cầu của khách hàng — trục tạo giá trị chính.</a:t>
            </a:r>
            <a:endParaRPr/>
          </a:p>
        </p:txBody>
      </p:sp>
      <p:sp>
        <p:nvSpPr>
          <p:cNvPr id="374" name="Google Shape;374;p24"/>
          <p:cNvSpPr/>
          <p:nvPr/>
        </p:nvSpPr>
        <p:spPr>
          <a:xfrm>
            <a:off x="8091220" y="1792224"/>
            <a:ext cx="3442106" cy="475488"/>
          </a:xfrm>
          <a:prstGeom prst="rect">
            <a:avLst/>
          </a:prstGeom>
          <a:solidFill>
            <a:srgbClr val="00C2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375" name="Google Shape;375;p24"/>
          <p:cNvSpPr txBox="1"/>
          <p:nvPr/>
        </p:nvSpPr>
        <p:spPr>
          <a:xfrm>
            <a:off x="8274100" y="1922246"/>
            <a:ext cx="3076346" cy="215444"/>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400" u="none" cap="none" strike="noStrike">
                <a:solidFill>
                  <a:srgbClr val="0A2540"/>
                </a:solidFill>
                <a:latin typeface="Calibri"/>
                <a:ea typeface="Calibri"/>
                <a:cs typeface="Calibri"/>
                <a:sym typeface="Calibri"/>
              </a:rPr>
              <a:t>SUPPORTING PROCESSES</a:t>
            </a:r>
            <a:endParaRPr/>
          </a:p>
        </p:txBody>
      </p:sp>
      <p:sp>
        <p:nvSpPr>
          <p:cNvPr id="376" name="Google Shape;376;p24"/>
          <p:cNvSpPr/>
          <p:nvPr/>
        </p:nvSpPr>
        <p:spPr>
          <a:xfrm>
            <a:off x="8091220" y="2377440"/>
            <a:ext cx="3442106" cy="1042415"/>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377" name="Google Shape;377;p24"/>
          <p:cNvSpPr/>
          <p:nvPr/>
        </p:nvSpPr>
        <p:spPr>
          <a:xfrm>
            <a:off x="8091220" y="2377440"/>
            <a:ext cx="50292" cy="1042415"/>
          </a:xfrm>
          <a:prstGeom prst="rect">
            <a:avLst/>
          </a:prstGeom>
          <a:solidFill>
            <a:srgbClr val="00C2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378" name="Google Shape;378;p24"/>
          <p:cNvSpPr txBox="1"/>
          <p:nvPr/>
        </p:nvSpPr>
        <p:spPr>
          <a:xfrm>
            <a:off x="8310676" y="2505456"/>
            <a:ext cx="3039770" cy="2154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0A2540"/>
                </a:solidFill>
                <a:latin typeface="Calibri"/>
                <a:ea typeface="Calibri"/>
                <a:cs typeface="Calibri"/>
                <a:sym typeface="Calibri"/>
              </a:rPr>
              <a:t>S01</a:t>
            </a:r>
            <a:endParaRPr/>
          </a:p>
        </p:txBody>
      </p:sp>
      <p:sp>
        <p:nvSpPr>
          <p:cNvPr id="379" name="Google Shape;379;p24"/>
          <p:cNvSpPr txBox="1"/>
          <p:nvPr/>
        </p:nvSpPr>
        <p:spPr>
          <a:xfrm>
            <a:off x="8310676" y="2761488"/>
            <a:ext cx="3039770" cy="23698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400" u="none" cap="none" strike="noStrike">
                <a:solidFill>
                  <a:srgbClr val="0A2540"/>
                </a:solidFill>
                <a:latin typeface="Calibri"/>
                <a:ea typeface="Calibri"/>
                <a:cs typeface="Calibri"/>
                <a:sym typeface="Calibri"/>
              </a:rPr>
              <a:t>Quản lý mua hàng và cung ứng</a:t>
            </a:r>
            <a:endParaRPr/>
          </a:p>
        </p:txBody>
      </p:sp>
      <p:sp>
        <p:nvSpPr>
          <p:cNvPr id="380" name="Google Shape;380;p24"/>
          <p:cNvSpPr txBox="1"/>
          <p:nvPr/>
        </p:nvSpPr>
        <p:spPr>
          <a:xfrm>
            <a:off x="8310676" y="3163824"/>
            <a:ext cx="3039770" cy="21945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1" lang="en-US" sz="1400" u="none" cap="none" strike="noStrike">
                <a:solidFill>
                  <a:srgbClr val="6B7784"/>
                </a:solidFill>
                <a:latin typeface="Calibri"/>
                <a:ea typeface="Calibri"/>
                <a:cs typeface="Calibri"/>
                <a:sym typeface="Calibri"/>
              </a:rPr>
              <a:t>Procurement Management</a:t>
            </a:r>
            <a:endParaRPr/>
          </a:p>
        </p:txBody>
      </p:sp>
      <p:sp>
        <p:nvSpPr>
          <p:cNvPr id="381" name="Google Shape;381;p24"/>
          <p:cNvSpPr/>
          <p:nvPr/>
        </p:nvSpPr>
        <p:spPr>
          <a:xfrm>
            <a:off x="8091220" y="3529584"/>
            <a:ext cx="3442106" cy="1042415"/>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382" name="Google Shape;382;p24"/>
          <p:cNvSpPr/>
          <p:nvPr/>
        </p:nvSpPr>
        <p:spPr>
          <a:xfrm>
            <a:off x="8091220" y="3529584"/>
            <a:ext cx="50292" cy="1042415"/>
          </a:xfrm>
          <a:prstGeom prst="rect">
            <a:avLst/>
          </a:prstGeom>
          <a:solidFill>
            <a:srgbClr val="00C2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383" name="Google Shape;383;p24"/>
          <p:cNvSpPr txBox="1"/>
          <p:nvPr/>
        </p:nvSpPr>
        <p:spPr>
          <a:xfrm>
            <a:off x="8310676" y="3657600"/>
            <a:ext cx="3039770" cy="2154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0A2540"/>
                </a:solidFill>
                <a:latin typeface="Calibri"/>
                <a:ea typeface="Calibri"/>
                <a:cs typeface="Calibri"/>
                <a:sym typeface="Calibri"/>
              </a:rPr>
              <a:t>S02</a:t>
            </a:r>
            <a:endParaRPr/>
          </a:p>
        </p:txBody>
      </p:sp>
      <p:sp>
        <p:nvSpPr>
          <p:cNvPr id="384" name="Google Shape;384;p24"/>
          <p:cNvSpPr txBox="1"/>
          <p:nvPr/>
        </p:nvSpPr>
        <p:spPr>
          <a:xfrm>
            <a:off x="8310676" y="3913632"/>
            <a:ext cx="3039770" cy="23698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400" u="none" cap="none" strike="noStrike">
                <a:solidFill>
                  <a:srgbClr val="0A2540"/>
                </a:solidFill>
                <a:latin typeface="Calibri"/>
                <a:ea typeface="Calibri"/>
                <a:cs typeface="Calibri"/>
                <a:sym typeface="Calibri"/>
              </a:rPr>
              <a:t>Quản lý nhập kho</a:t>
            </a:r>
            <a:endParaRPr/>
          </a:p>
        </p:txBody>
      </p:sp>
      <p:sp>
        <p:nvSpPr>
          <p:cNvPr id="385" name="Google Shape;385;p24"/>
          <p:cNvSpPr txBox="1"/>
          <p:nvPr/>
        </p:nvSpPr>
        <p:spPr>
          <a:xfrm>
            <a:off x="8310676" y="4315968"/>
            <a:ext cx="3039770" cy="21945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1" lang="en-US" sz="1400" u="none" cap="none" strike="noStrike">
                <a:solidFill>
                  <a:srgbClr val="6B7784"/>
                </a:solidFill>
                <a:latin typeface="Calibri"/>
                <a:ea typeface="Calibri"/>
                <a:cs typeface="Calibri"/>
                <a:sym typeface="Calibri"/>
              </a:rPr>
              <a:t>Inbound Processing</a:t>
            </a:r>
            <a:endParaRPr/>
          </a:p>
        </p:txBody>
      </p:sp>
      <p:sp>
        <p:nvSpPr>
          <p:cNvPr id="386" name="Google Shape;386;p24"/>
          <p:cNvSpPr/>
          <p:nvPr/>
        </p:nvSpPr>
        <p:spPr>
          <a:xfrm>
            <a:off x="8091220" y="4736592"/>
            <a:ext cx="3442106" cy="1216152"/>
          </a:xfrm>
          <a:prstGeom prst="rect">
            <a:avLst/>
          </a:prstGeom>
          <a:solidFill>
            <a:srgbClr val="E9F3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387" name="Google Shape;387;p24"/>
          <p:cNvSpPr txBox="1"/>
          <p:nvPr/>
        </p:nvSpPr>
        <p:spPr>
          <a:xfrm>
            <a:off x="8292388" y="4810643"/>
            <a:ext cx="3039770" cy="1068049"/>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0096D6"/>
                </a:solidFill>
                <a:latin typeface="Calibri"/>
                <a:ea typeface="Calibri"/>
                <a:cs typeface="Calibri"/>
                <a:sym typeface="Calibri"/>
              </a:rPr>
              <a:t>LÝ DO LỰA CHỌN</a:t>
            </a:r>
            <a:endParaRPr/>
          </a:p>
          <a:p>
            <a:pPr indent="0" lvl="0" marL="0" marR="0" rtl="0" algn="l">
              <a:lnSpc>
                <a:spcPct val="122000"/>
              </a:lnSpc>
              <a:spcBef>
                <a:spcPts val="500"/>
              </a:spcBef>
              <a:spcAft>
                <a:spcPts val="0"/>
              </a:spcAft>
              <a:buNone/>
            </a:pPr>
            <a:r>
              <a:rPr b="0" i="0" lang="en-US" sz="1400" u="none" cap="none" strike="noStrike">
                <a:solidFill>
                  <a:srgbClr val="2B3440"/>
                </a:solidFill>
                <a:latin typeface="Calibri"/>
                <a:ea typeface="Calibri"/>
                <a:cs typeface="Calibri"/>
                <a:sym typeface="Calibri"/>
              </a:rPr>
              <a:t>Thể hiện hoạt động hỗ trợ chuỗi cung ứng: hình thành nhu cầu mua hàng, mua hàng và nhập kho.</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25"/>
          <p:cNvSpPr/>
          <p:nvPr/>
        </p:nvSpPr>
        <p:spPr>
          <a:xfrm>
            <a:off x="0" y="0"/>
            <a:ext cx="12191695" cy="859536"/>
          </a:xfrm>
          <a:prstGeom prst="rect">
            <a:avLst/>
          </a:prstGeom>
          <a:solidFill>
            <a:srgbClr val="0A25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93" name="Google Shape;393;p25"/>
          <p:cNvSpPr/>
          <p:nvPr/>
        </p:nvSpPr>
        <p:spPr>
          <a:xfrm>
            <a:off x="0" y="0"/>
            <a:ext cx="182880" cy="859536"/>
          </a:xfrm>
          <a:prstGeom prst="rect">
            <a:avLst/>
          </a:prstGeom>
          <a:solidFill>
            <a:srgbClr val="0A25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94" name="Google Shape;394;p25"/>
          <p:cNvSpPr txBox="1"/>
          <p:nvPr/>
        </p:nvSpPr>
        <p:spPr>
          <a:xfrm>
            <a:off x="475488" y="137160"/>
            <a:ext cx="795527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950" u="none" cap="none" strike="noStrike">
                <a:solidFill>
                  <a:srgbClr val="00C2A8"/>
                </a:solidFill>
                <a:latin typeface="Calibri"/>
                <a:ea typeface="Calibri"/>
                <a:cs typeface="Calibri"/>
                <a:sym typeface="Calibri"/>
              </a:rPr>
              <a:t>CHƯƠNG 3 · 3.2 MÔ HÌNH HÓA BPMN (AS-IS)  ·  NHÓM QUẢN LÝ</a:t>
            </a:r>
            <a:endParaRPr/>
          </a:p>
        </p:txBody>
      </p:sp>
      <p:sp>
        <p:nvSpPr>
          <p:cNvPr id="395" name="Google Shape;395;p25"/>
          <p:cNvSpPr txBox="1"/>
          <p:nvPr/>
        </p:nvSpPr>
        <p:spPr>
          <a:xfrm>
            <a:off x="475488" y="411480"/>
            <a:ext cx="7955279"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700" u="none" cap="none" strike="noStrike">
                <a:solidFill>
                  <a:srgbClr val="FFFFFF"/>
                </a:solidFill>
                <a:latin typeface="Calibri"/>
                <a:ea typeface="Calibri"/>
                <a:cs typeface="Calibri"/>
                <a:sym typeface="Calibri"/>
              </a:rPr>
              <a:t>M01  —  Hoạch định và triển khai chiến lược kinh doanh</a:t>
            </a:r>
            <a:endParaRPr/>
          </a:p>
        </p:txBody>
      </p:sp>
      <p:sp>
        <p:nvSpPr>
          <p:cNvPr id="396" name="Google Shape;396;p25"/>
          <p:cNvSpPr txBox="1"/>
          <p:nvPr/>
        </p:nvSpPr>
        <p:spPr>
          <a:xfrm>
            <a:off x="8595360" y="265176"/>
            <a:ext cx="3154680" cy="329184"/>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1" i="0" lang="en-US" sz="1400" u="none" cap="none" strike="noStrike">
                <a:solidFill>
                  <a:srgbClr val="00C2A8"/>
                </a:solidFill>
                <a:latin typeface="Calibri"/>
                <a:ea typeface="Calibri"/>
                <a:cs typeface="Calibri"/>
                <a:sym typeface="Calibri"/>
              </a:rPr>
              <a:t>Hình 3.2</a:t>
            </a:r>
            <a:endParaRPr/>
          </a:p>
        </p:txBody>
      </p:sp>
      <p:sp>
        <p:nvSpPr>
          <p:cNvPr id="397" name="Google Shape;397;p25"/>
          <p:cNvSpPr txBox="1"/>
          <p:nvPr/>
        </p:nvSpPr>
        <p:spPr>
          <a:xfrm>
            <a:off x="658368" y="6355080"/>
            <a:ext cx="10326319"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850" u="none" cap="none" strike="noStrike">
                <a:solidFill>
                  <a:srgbClr val="6B7784"/>
                </a:solidFill>
                <a:latin typeface="Calibri"/>
                <a:ea typeface="Calibri"/>
                <a:cs typeface="Calibri"/>
                <a:sym typeface="Calibri"/>
              </a:rPr>
              <a:t>SOLVENTUM VIỆT NAM  ·  HỆ THỐNG QUẢN TRỊ QUY TRÌNH NGHIỆP VỤ</a:t>
            </a:r>
            <a:endParaRPr/>
          </a:p>
        </p:txBody>
      </p:sp>
      <p:sp>
        <p:nvSpPr>
          <p:cNvPr id="398" name="Google Shape;398;p25"/>
          <p:cNvSpPr txBox="1"/>
          <p:nvPr/>
        </p:nvSpPr>
        <p:spPr>
          <a:xfrm>
            <a:off x="10984687" y="6355080"/>
            <a:ext cx="548640" cy="2286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1" i="0" lang="en-US" sz="950" u="none" cap="none" strike="noStrike">
                <a:solidFill>
                  <a:srgbClr val="0096D6"/>
                </a:solidFill>
                <a:latin typeface="Calibri"/>
                <a:ea typeface="Calibri"/>
                <a:cs typeface="Calibri"/>
                <a:sym typeface="Calibri"/>
              </a:rPr>
              <a:t>13</a:t>
            </a:r>
            <a:endParaRPr/>
          </a:p>
        </p:txBody>
      </p:sp>
      <p:sp>
        <p:nvSpPr>
          <p:cNvPr id="399" name="Google Shape;399;p25"/>
          <p:cNvSpPr/>
          <p:nvPr/>
        </p:nvSpPr>
        <p:spPr>
          <a:xfrm>
            <a:off x="2310999" y="5926210"/>
            <a:ext cx="7569693" cy="340093"/>
          </a:xfrm>
          <a:prstGeom prst="rect">
            <a:avLst/>
          </a:prstGeom>
          <a:noFill/>
          <a:ln>
            <a:noFill/>
          </a:ln>
        </p:spPr>
        <p:txBody>
          <a:bodyPr anchorCtr="0" anchor="t" bIns="45700" lIns="91425" spcFirstLastPara="1" rIns="91425" wrap="square" tIns="45700">
            <a:noAutofit/>
          </a:bodyPr>
          <a:lstStyle/>
          <a:p>
            <a:pPr indent="0" lvl="0" marL="0" marR="0" rtl="0" algn="ctr">
              <a:lnSpc>
                <a:spcPct val="115000"/>
              </a:lnSpc>
              <a:spcBef>
                <a:spcPts val="0"/>
              </a:spcBef>
              <a:spcAft>
                <a:spcPts val="0"/>
              </a:spcAft>
              <a:buNone/>
            </a:pPr>
            <a:r>
              <a:rPr b="0" i="1" lang="en-US" sz="1400" u="none" cap="none" strike="noStrike">
                <a:solidFill>
                  <a:schemeClr val="dk1"/>
                </a:solidFill>
                <a:latin typeface="Calibri"/>
                <a:ea typeface="Calibri"/>
                <a:cs typeface="Calibri"/>
                <a:sym typeface="Calibri"/>
              </a:rPr>
              <a:t>Hình 3.2. Mô hình BPMN Quy trình hoạch định và triển khai chiến lược kinh doanh – Business Planning</a:t>
            </a:r>
            <a:endParaRPr b="0" i="0" sz="1400" u="none" cap="none" strike="noStrike">
              <a:solidFill>
                <a:schemeClr val="dk1"/>
              </a:solidFill>
              <a:latin typeface="Calibri"/>
              <a:ea typeface="Calibri"/>
              <a:cs typeface="Calibri"/>
              <a:sym typeface="Calibri"/>
            </a:endParaRPr>
          </a:p>
        </p:txBody>
      </p:sp>
      <p:pic>
        <p:nvPicPr>
          <p:cNvPr id="400" name="Google Shape;400;p25"/>
          <p:cNvPicPr preferRelativeResize="0"/>
          <p:nvPr/>
        </p:nvPicPr>
        <p:blipFill>
          <a:blip r:embed="rId3">
            <a:alphaModFix/>
          </a:blip>
          <a:stretch>
            <a:fillRect/>
          </a:stretch>
        </p:blipFill>
        <p:spPr>
          <a:xfrm>
            <a:off x="840321" y="1035551"/>
            <a:ext cx="9962416" cy="468879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26"/>
          <p:cNvSpPr/>
          <p:nvPr/>
        </p:nvSpPr>
        <p:spPr>
          <a:xfrm>
            <a:off x="0" y="0"/>
            <a:ext cx="12191695" cy="859536"/>
          </a:xfrm>
          <a:prstGeom prst="rect">
            <a:avLst/>
          </a:prstGeom>
          <a:solidFill>
            <a:srgbClr val="0A25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06" name="Google Shape;406;p26"/>
          <p:cNvSpPr/>
          <p:nvPr/>
        </p:nvSpPr>
        <p:spPr>
          <a:xfrm>
            <a:off x="0" y="0"/>
            <a:ext cx="182880" cy="859536"/>
          </a:xfrm>
          <a:prstGeom prst="rect">
            <a:avLst/>
          </a:prstGeom>
          <a:solidFill>
            <a:srgbClr val="0A25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07" name="Google Shape;407;p26"/>
          <p:cNvSpPr txBox="1"/>
          <p:nvPr/>
        </p:nvSpPr>
        <p:spPr>
          <a:xfrm>
            <a:off x="475488" y="137160"/>
            <a:ext cx="795527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950" u="none" cap="none" strike="noStrike">
                <a:solidFill>
                  <a:srgbClr val="00C2A8"/>
                </a:solidFill>
                <a:latin typeface="Calibri"/>
                <a:ea typeface="Calibri"/>
                <a:cs typeface="Calibri"/>
                <a:sym typeface="Calibri"/>
              </a:rPr>
              <a:t>CHƯƠNG 3 · 3.2 MÔ HÌNH HÓA BPMN (AS-IS)  ·  NHÓM QUẢN LÝ</a:t>
            </a:r>
            <a:endParaRPr/>
          </a:p>
        </p:txBody>
      </p:sp>
      <p:sp>
        <p:nvSpPr>
          <p:cNvPr id="408" name="Google Shape;408;p26"/>
          <p:cNvSpPr txBox="1"/>
          <p:nvPr/>
        </p:nvSpPr>
        <p:spPr>
          <a:xfrm>
            <a:off x="475488" y="411480"/>
            <a:ext cx="7955279"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700" u="none" cap="none" strike="noStrike">
                <a:solidFill>
                  <a:srgbClr val="FFFFFF"/>
                </a:solidFill>
                <a:latin typeface="Calibri"/>
                <a:ea typeface="Calibri"/>
                <a:cs typeface="Calibri"/>
                <a:sym typeface="Calibri"/>
              </a:rPr>
              <a:t>M02  —  Quản lý khiếu nại khách hàng</a:t>
            </a:r>
            <a:endParaRPr/>
          </a:p>
        </p:txBody>
      </p:sp>
      <p:sp>
        <p:nvSpPr>
          <p:cNvPr id="409" name="Google Shape;409;p26"/>
          <p:cNvSpPr txBox="1"/>
          <p:nvPr/>
        </p:nvSpPr>
        <p:spPr>
          <a:xfrm>
            <a:off x="8595360" y="265176"/>
            <a:ext cx="3154680" cy="329184"/>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1" i="0" lang="en-US" sz="1400" u="none" cap="none" strike="noStrike">
                <a:solidFill>
                  <a:srgbClr val="00C2A8"/>
                </a:solidFill>
                <a:latin typeface="Calibri"/>
                <a:ea typeface="Calibri"/>
                <a:cs typeface="Calibri"/>
                <a:sym typeface="Calibri"/>
              </a:rPr>
              <a:t>Hình 3.3</a:t>
            </a:r>
            <a:endParaRPr/>
          </a:p>
        </p:txBody>
      </p:sp>
      <p:sp>
        <p:nvSpPr>
          <p:cNvPr id="410" name="Google Shape;410;p26"/>
          <p:cNvSpPr txBox="1"/>
          <p:nvPr/>
        </p:nvSpPr>
        <p:spPr>
          <a:xfrm>
            <a:off x="658368" y="6355080"/>
            <a:ext cx="10326319"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850" u="none" cap="none" strike="noStrike">
                <a:solidFill>
                  <a:srgbClr val="6B7784"/>
                </a:solidFill>
                <a:latin typeface="Calibri"/>
                <a:ea typeface="Calibri"/>
                <a:cs typeface="Calibri"/>
                <a:sym typeface="Calibri"/>
              </a:rPr>
              <a:t>SOLVENTUM VIỆT NAM  ·  HỆ THỐNG QUẢN TRỊ QUY TRÌNH NGHIỆP VỤ</a:t>
            </a:r>
            <a:endParaRPr/>
          </a:p>
        </p:txBody>
      </p:sp>
      <p:sp>
        <p:nvSpPr>
          <p:cNvPr id="411" name="Google Shape;411;p26"/>
          <p:cNvSpPr txBox="1"/>
          <p:nvPr/>
        </p:nvSpPr>
        <p:spPr>
          <a:xfrm>
            <a:off x="10984687" y="6355080"/>
            <a:ext cx="548640" cy="2286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1" i="0" lang="en-US" sz="950" u="none" cap="none" strike="noStrike">
                <a:solidFill>
                  <a:srgbClr val="0096D6"/>
                </a:solidFill>
                <a:latin typeface="Calibri"/>
                <a:ea typeface="Calibri"/>
                <a:cs typeface="Calibri"/>
                <a:sym typeface="Calibri"/>
              </a:rPr>
              <a:t>14</a:t>
            </a:r>
            <a:endParaRPr/>
          </a:p>
        </p:txBody>
      </p:sp>
      <p:sp>
        <p:nvSpPr>
          <p:cNvPr id="412" name="Google Shape;412;p26"/>
          <p:cNvSpPr/>
          <p:nvPr/>
        </p:nvSpPr>
        <p:spPr>
          <a:xfrm>
            <a:off x="2655858" y="5910143"/>
            <a:ext cx="6877235" cy="30777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1" lang="en-US" sz="1400" u="none" cap="none" strike="noStrike">
                <a:solidFill>
                  <a:schemeClr val="dk1"/>
                </a:solidFill>
                <a:latin typeface="Calibri"/>
                <a:ea typeface="Calibri"/>
                <a:cs typeface="Calibri"/>
                <a:sym typeface="Calibri"/>
              </a:rPr>
              <a:t>Hình 3.3. Mô hình BPMN Quản lý khiếu nại khách hàng – Customer Complaint Management</a:t>
            </a:r>
            <a:endParaRPr sz="1400">
              <a:solidFill>
                <a:schemeClr val="dk1"/>
              </a:solidFill>
              <a:latin typeface="Calibri"/>
              <a:ea typeface="Calibri"/>
              <a:cs typeface="Calibri"/>
              <a:sym typeface="Calibri"/>
            </a:endParaRPr>
          </a:p>
        </p:txBody>
      </p:sp>
      <p:pic>
        <p:nvPicPr>
          <p:cNvPr id="413" name="Google Shape;413;p26"/>
          <p:cNvPicPr preferRelativeResize="0"/>
          <p:nvPr/>
        </p:nvPicPr>
        <p:blipFill>
          <a:blip r:embed="rId3">
            <a:alphaModFix/>
          </a:blip>
          <a:stretch>
            <a:fillRect/>
          </a:stretch>
        </p:blipFill>
        <p:spPr>
          <a:xfrm>
            <a:off x="1201900" y="1042988"/>
            <a:ext cx="9239250" cy="47720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27"/>
          <p:cNvSpPr/>
          <p:nvPr/>
        </p:nvSpPr>
        <p:spPr>
          <a:xfrm>
            <a:off x="0" y="0"/>
            <a:ext cx="12191695" cy="859536"/>
          </a:xfrm>
          <a:prstGeom prst="rect">
            <a:avLst/>
          </a:prstGeom>
          <a:solidFill>
            <a:srgbClr val="0A25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9" name="Google Shape;419;p27"/>
          <p:cNvSpPr/>
          <p:nvPr/>
        </p:nvSpPr>
        <p:spPr>
          <a:xfrm>
            <a:off x="0" y="0"/>
            <a:ext cx="182880" cy="859536"/>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0" name="Google Shape;420;p27"/>
          <p:cNvSpPr txBox="1"/>
          <p:nvPr/>
        </p:nvSpPr>
        <p:spPr>
          <a:xfrm>
            <a:off x="475488" y="137160"/>
            <a:ext cx="795527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950">
                <a:solidFill>
                  <a:srgbClr val="00C2A8"/>
                </a:solidFill>
                <a:latin typeface="Calibri"/>
                <a:ea typeface="Calibri"/>
                <a:cs typeface="Calibri"/>
                <a:sym typeface="Calibri"/>
              </a:rPr>
              <a:t>CHƯƠNG 3 · 3.2 MÔ HÌNH HÓA BPMN (AS-IS)  ·  NHÓM CỐT LÕI</a:t>
            </a:r>
            <a:endParaRPr/>
          </a:p>
        </p:txBody>
      </p:sp>
      <p:sp>
        <p:nvSpPr>
          <p:cNvPr id="421" name="Google Shape;421;p27"/>
          <p:cNvSpPr txBox="1"/>
          <p:nvPr/>
        </p:nvSpPr>
        <p:spPr>
          <a:xfrm>
            <a:off x="475488" y="411480"/>
            <a:ext cx="7955279"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700">
                <a:solidFill>
                  <a:srgbClr val="FFFFFF"/>
                </a:solidFill>
                <a:latin typeface="Calibri"/>
                <a:ea typeface="Calibri"/>
                <a:cs typeface="Calibri"/>
                <a:sym typeface="Calibri"/>
              </a:rPr>
              <a:t>C02  —  Quản lý đơn hàng</a:t>
            </a:r>
            <a:endParaRPr/>
          </a:p>
        </p:txBody>
      </p:sp>
      <p:sp>
        <p:nvSpPr>
          <p:cNvPr id="422" name="Google Shape;422;p27"/>
          <p:cNvSpPr txBox="1"/>
          <p:nvPr/>
        </p:nvSpPr>
        <p:spPr>
          <a:xfrm>
            <a:off x="8595360" y="265176"/>
            <a:ext cx="3154680" cy="329184"/>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1" i="0" lang="en-US" sz="1400">
                <a:solidFill>
                  <a:srgbClr val="00C2A8"/>
                </a:solidFill>
                <a:latin typeface="Calibri"/>
                <a:ea typeface="Calibri"/>
                <a:cs typeface="Calibri"/>
                <a:sym typeface="Calibri"/>
              </a:rPr>
              <a:t>Hình 3.4</a:t>
            </a:r>
            <a:endParaRPr/>
          </a:p>
        </p:txBody>
      </p:sp>
      <p:sp>
        <p:nvSpPr>
          <p:cNvPr id="423" name="Google Shape;423;p27"/>
          <p:cNvSpPr txBox="1"/>
          <p:nvPr/>
        </p:nvSpPr>
        <p:spPr>
          <a:xfrm>
            <a:off x="658368" y="6355080"/>
            <a:ext cx="10326319"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850">
                <a:solidFill>
                  <a:srgbClr val="6B7784"/>
                </a:solidFill>
                <a:latin typeface="Calibri"/>
                <a:ea typeface="Calibri"/>
                <a:cs typeface="Calibri"/>
                <a:sym typeface="Calibri"/>
              </a:rPr>
              <a:t>SOLVENTUM VIỆT NAM  ·  HỆ THỐNG QUẢN TRỊ QUY TRÌNH NGHIỆP VỤ</a:t>
            </a:r>
            <a:endParaRPr/>
          </a:p>
        </p:txBody>
      </p:sp>
      <p:sp>
        <p:nvSpPr>
          <p:cNvPr id="424" name="Google Shape;424;p27"/>
          <p:cNvSpPr txBox="1"/>
          <p:nvPr/>
        </p:nvSpPr>
        <p:spPr>
          <a:xfrm>
            <a:off x="10984687" y="6355080"/>
            <a:ext cx="548640" cy="2286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1" i="0" lang="en-US" sz="950">
                <a:solidFill>
                  <a:srgbClr val="0096D6"/>
                </a:solidFill>
                <a:latin typeface="Calibri"/>
                <a:ea typeface="Calibri"/>
                <a:cs typeface="Calibri"/>
                <a:sym typeface="Calibri"/>
              </a:rPr>
              <a:t>15</a:t>
            </a:r>
            <a:endParaRPr/>
          </a:p>
        </p:txBody>
      </p:sp>
      <p:sp>
        <p:nvSpPr>
          <p:cNvPr id="425" name="Google Shape;425;p27"/>
          <p:cNvSpPr/>
          <p:nvPr/>
        </p:nvSpPr>
        <p:spPr>
          <a:xfrm>
            <a:off x="2719373" y="5857925"/>
            <a:ext cx="6752948" cy="30777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i="1" lang="en-US" sz="1400">
                <a:solidFill>
                  <a:schemeClr val="dk1"/>
                </a:solidFill>
                <a:latin typeface="Calibri"/>
                <a:ea typeface="Calibri"/>
                <a:cs typeface="Calibri"/>
                <a:sym typeface="Calibri"/>
              </a:rPr>
              <a:t>Hình 3.4. Mô hình BPMN Quản lý đơn hàng – Order Management (Order-to-Cash)</a:t>
            </a:r>
            <a:endParaRPr sz="1400">
              <a:solidFill>
                <a:schemeClr val="dk1"/>
              </a:solidFill>
              <a:latin typeface="Calibri"/>
              <a:ea typeface="Calibri"/>
              <a:cs typeface="Calibri"/>
              <a:sym typeface="Calibri"/>
            </a:endParaRPr>
          </a:p>
        </p:txBody>
      </p:sp>
      <p:pic>
        <p:nvPicPr>
          <p:cNvPr id="426" name="Google Shape;426;p27"/>
          <p:cNvPicPr preferRelativeResize="0"/>
          <p:nvPr/>
        </p:nvPicPr>
        <p:blipFill>
          <a:blip r:embed="rId3">
            <a:alphaModFix/>
          </a:blip>
          <a:stretch>
            <a:fillRect/>
          </a:stretch>
        </p:blipFill>
        <p:spPr>
          <a:xfrm>
            <a:off x="1911513" y="1117275"/>
            <a:ext cx="7820025" cy="47148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pic>
        <p:nvPicPr>
          <p:cNvPr id="431" name="Google Shape;431;p28"/>
          <p:cNvPicPr preferRelativeResize="0"/>
          <p:nvPr/>
        </p:nvPicPr>
        <p:blipFill>
          <a:blip r:embed="rId3">
            <a:alphaModFix/>
          </a:blip>
          <a:stretch>
            <a:fillRect/>
          </a:stretch>
        </p:blipFill>
        <p:spPr>
          <a:xfrm>
            <a:off x="1354021" y="1071025"/>
            <a:ext cx="8935006" cy="4953699"/>
          </a:xfrm>
          <a:prstGeom prst="rect">
            <a:avLst/>
          </a:prstGeom>
          <a:noFill/>
          <a:ln>
            <a:noFill/>
          </a:ln>
        </p:spPr>
      </p:pic>
      <p:sp>
        <p:nvSpPr>
          <p:cNvPr id="432" name="Google Shape;432;p28"/>
          <p:cNvSpPr/>
          <p:nvPr/>
        </p:nvSpPr>
        <p:spPr>
          <a:xfrm>
            <a:off x="0" y="0"/>
            <a:ext cx="12191695" cy="859536"/>
          </a:xfrm>
          <a:prstGeom prst="rect">
            <a:avLst/>
          </a:prstGeom>
          <a:solidFill>
            <a:srgbClr val="0A25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3" name="Google Shape;433;p28"/>
          <p:cNvSpPr/>
          <p:nvPr/>
        </p:nvSpPr>
        <p:spPr>
          <a:xfrm>
            <a:off x="0" y="0"/>
            <a:ext cx="182880" cy="859536"/>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4" name="Google Shape;434;p28"/>
          <p:cNvSpPr txBox="1"/>
          <p:nvPr/>
        </p:nvSpPr>
        <p:spPr>
          <a:xfrm>
            <a:off x="475488" y="137160"/>
            <a:ext cx="795527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950">
                <a:solidFill>
                  <a:srgbClr val="00C2A8"/>
                </a:solidFill>
                <a:latin typeface="Calibri"/>
                <a:ea typeface="Calibri"/>
                <a:cs typeface="Calibri"/>
                <a:sym typeface="Calibri"/>
              </a:rPr>
              <a:t>CHƯƠNG 3 · 3.2 MÔ HÌNH HÓA BPMN (AS-IS)  ·  NHÓM CỐT LÕI</a:t>
            </a:r>
            <a:endParaRPr/>
          </a:p>
        </p:txBody>
      </p:sp>
      <p:sp>
        <p:nvSpPr>
          <p:cNvPr id="435" name="Google Shape;435;p28"/>
          <p:cNvSpPr txBox="1"/>
          <p:nvPr/>
        </p:nvSpPr>
        <p:spPr>
          <a:xfrm>
            <a:off x="475488" y="411480"/>
            <a:ext cx="7955279"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700">
                <a:solidFill>
                  <a:srgbClr val="FFFFFF"/>
                </a:solidFill>
                <a:latin typeface="Calibri"/>
                <a:ea typeface="Calibri"/>
                <a:cs typeface="Calibri"/>
                <a:sym typeface="Calibri"/>
              </a:rPr>
              <a:t>C03  —  Quản lý dịch vụ và sửa chữa</a:t>
            </a:r>
            <a:endParaRPr/>
          </a:p>
        </p:txBody>
      </p:sp>
      <p:sp>
        <p:nvSpPr>
          <p:cNvPr id="436" name="Google Shape;436;p28"/>
          <p:cNvSpPr txBox="1"/>
          <p:nvPr/>
        </p:nvSpPr>
        <p:spPr>
          <a:xfrm>
            <a:off x="8595360" y="265176"/>
            <a:ext cx="3154680" cy="329184"/>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1" i="0" lang="en-US" sz="1400">
                <a:solidFill>
                  <a:srgbClr val="00C2A8"/>
                </a:solidFill>
                <a:latin typeface="Calibri"/>
                <a:ea typeface="Calibri"/>
                <a:cs typeface="Calibri"/>
                <a:sym typeface="Calibri"/>
              </a:rPr>
              <a:t>Hình 3.5</a:t>
            </a:r>
            <a:endParaRPr/>
          </a:p>
        </p:txBody>
      </p:sp>
      <p:sp>
        <p:nvSpPr>
          <p:cNvPr id="437" name="Google Shape;437;p28"/>
          <p:cNvSpPr txBox="1"/>
          <p:nvPr/>
        </p:nvSpPr>
        <p:spPr>
          <a:xfrm>
            <a:off x="658368" y="6355080"/>
            <a:ext cx="10326319"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850">
                <a:solidFill>
                  <a:srgbClr val="6B7784"/>
                </a:solidFill>
                <a:latin typeface="Calibri"/>
                <a:ea typeface="Calibri"/>
                <a:cs typeface="Calibri"/>
                <a:sym typeface="Calibri"/>
              </a:rPr>
              <a:t>SOLVENTUM VIỆT NAM  ·  HỆ THỐNG QUẢN TRỊ QUY TRÌNH NGHIỆP VỤ</a:t>
            </a:r>
            <a:endParaRPr/>
          </a:p>
        </p:txBody>
      </p:sp>
      <p:sp>
        <p:nvSpPr>
          <p:cNvPr id="438" name="Google Shape;438;p28"/>
          <p:cNvSpPr txBox="1"/>
          <p:nvPr/>
        </p:nvSpPr>
        <p:spPr>
          <a:xfrm>
            <a:off x="10984687" y="6355080"/>
            <a:ext cx="548640" cy="2286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1" i="0" lang="en-US" sz="950">
                <a:solidFill>
                  <a:srgbClr val="0096D6"/>
                </a:solidFill>
                <a:latin typeface="Calibri"/>
                <a:ea typeface="Calibri"/>
                <a:cs typeface="Calibri"/>
                <a:sym typeface="Calibri"/>
              </a:rPr>
              <a:t>16</a:t>
            </a:r>
            <a:endParaRPr/>
          </a:p>
        </p:txBody>
      </p:sp>
      <p:sp>
        <p:nvSpPr>
          <p:cNvPr id="439" name="Google Shape;439;p28"/>
          <p:cNvSpPr/>
          <p:nvPr/>
        </p:nvSpPr>
        <p:spPr>
          <a:xfrm>
            <a:off x="2719498" y="6071329"/>
            <a:ext cx="6753000" cy="325500"/>
          </a:xfrm>
          <a:prstGeom prst="rect">
            <a:avLst/>
          </a:prstGeom>
          <a:noFill/>
          <a:ln>
            <a:noFill/>
          </a:ln>
        </p:spPr>
        <p:txBody>
          <a:bodyPr anchorCtr="0" anchor="t" bIns="45700" lIns="91425" spcFirstLastPara="1" rIns="91425" wrap="square" tIns="45700">
            <a:noAutofit/>
          </a:bodyPr>
          <a:lstStyle/>
          <a:p>
            <a:pPr indent="0" lvl="0" marL="0" marR="0" rtl="0" algn="ctr">
              <a:lnSpc>
                <a:spcPct val="115000"/>
              </a:lnSpc>
              <a:spcBef>
                <a:spcPts val="0"/>
              </a:spcBef>
              <a:spcAft>
                <a:spcPts val="0"/>
              </a:spcAft>
              <a:buNone/>
            </a:pPr>
            <a:r>
              <a:rPr i="1" lang="en-US" sz="1400">
                <a:solidFill>
                  <a:schemeClr val="dk1"/>
                </a:solidFill>
                <a:latin typeface="Calibri"/>
                <a:ea typeface="Calibri"/>
                <a:cs typeface="Calibri"/>
                <a:sym typeface="Calibri"/>
              </a:rPr>
              <a:t>Hình 3.5. Mô hình BPMN Quản lý dịch vụ và sửa chữa – Service Order Management</a:t>
            </a:r>
            <a:endParaRPr i="1" sz="14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29"/>
          <p:cNvSpPr/>
          <p:nvPr/>
        </p:nvSpPr>
        <p:spPr>
          <a:xfrm>
            <a:off x="0" y="0"/>
            <a:ext cx="12191695" cy="859536"/>
          </a:xfrm>
          <a:prstGeom prst="rect">
            <a:avLst/>
          </a:prstGeom>
          <a:solidFill>
            <a:srgbClr val="0A25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5" name="Google Shape;445;p29"/>
          <p:cNvSpPr/>
          <p:nvPr/>
        </p:nvSpPr>
        <p:spPr>
          <a:xfrm>
            <a:off x="0" y="0"/>
            <a:ext cx="182880" cy="859536"/>
          </a:xfrm>
          <a:prstGeom prst="rect">
            <a:avLst/>
          </a:prstGeom>
          <a:solidFill>
            <a:srgbClr val="00C2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6" name="Google Shape;446;p29"/>
          <p:cNvSpPr txBox="1"/>
          <p:nvPr/>
        </p:nvSpPr>
        <p:spPr>
          <a:xfrm>
            <a:off x="475488" y="137160"/>
            <a:ext cx="795527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950">
                <a:solidFill>
                  <a:srgbClr val="00C2A8"/>
                </a:solidFill>
                <a:latin typeface="Calibri"/>
                <a:ea typeface="Calibri"/>
                <a:cs typeface="Calibri"/>
                <a:sym typeface="Calibri"/>
              </a:rPr>
              <a:t>CHƯƠNG 3 · 3.2 MÔ HÌNH HÓA BPMN (AS-IS)  ·  NHÓM HỖ TRỢ</a:t>
            </a:r>
            <a:endParaRPr/>
          </a:p>
        </p:txBody>
      </p:sp>
      <p:sp>
        <p:nvSpPr>
          <p:cNvPr id="447" name="Google Shape;447;p29"/>
          <p:cNvSpPr txBox="1"/>
          <p:nvPr/>
        </p:nvSpPr>
        <p:spPr>
          <a:xfrm>
            <a:off x="475488" y="411480"/>
            <a:ext cx="7955279"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700">
                <a:solidFill>
                  <a:srgbClr val="FFFFFF"/>
                </a:solidFill>
                <a:latin typeface="Calibri"/>
                <a:ea typeface="Calibri"/>
                <a:cs typeface="Calibri"/>
                <a:sym typeface="Calibri"/>
              </a:rPr>
              <a:t>S01  —  Quản lý mua hàng và cung ứng</a:t>
            </a:r>
            <a:endParaRPr/>
          </a:p>
        </p:txBody>
      </p:sp>
      <p:sp>
        <p:nvSpPr>
          <p:cNvPr id="448" name="Google Shape;448;p29"/>
          <p:cNvSpPr txBox="1"/>
          <p:nvPr/>
        </p:nvSpPr>
        <p:spPr>
          <a:xfrm>
            <a:off x="8595360" y="265176"/>
            <a:ext cx="3154680" cy="329184"/>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1" i="0" lang="en-US" sz="1400">
                <a:solidFill>
                  <a:srgbClr val="00C2A8"/>
                </a:solidFill>
                <a:latin typeface="Calibri"/>
                <a:ea typeface="Calibri"/>
                <a:cs typeface="Calibri"/>
                <a:sym typeface="Calibri"/>
              </a:rPr>
              <a:t>Hình 3.6</a:t>
            </a:r>
            <a:endParaRPr/>
          </a:p>
        </p:txBody>
      </p:sp>
      <p:sp>
        <p:nvSpPr>
          <p:cNvPr id="449" name="Google Shape;449;p29"/>
          <p:cNvSpPr txBox="1"/>
          <p:nvPr/>
        </p:nvSpPr>
        <p:spPr>
          <a:xfrm>
            <a:off x="658368" y="6355080"/>
            <a:ext cx="10326319"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850">
                <a:solidFill>
                  <a:srgbClr val="6B7784"/>
                </a:solidFill>
                <a:latin typeface="Calibri"/>
                <a:ea typeface="Calibri"/>
                <a:cs typeface="Calibri"/>
                <a:sym typeface="Calibri"/>
              </a:rPr>
              <a:t>SOLVENTUM VIỆT NAM  ·  HỆ THỐNG QUẢN TRỊ QUY TRÌNH NGHIỆP VỤ</a:t>
            </a:r>
            <a:endParaRPr/>
          </a:p>
        </p:txBody>
      </p:sp>
      <p:sp>
        <p:nvSpPr>
          <p:cNvPr id="450" name="Google Shape;450;p29"/>
          <p:cNvSpPr txBox="1"/>
          <p:nvPr/>
        </p:nvSpPr>
        <p:spPr>
          <a:xfrm>
            <a:off x="10984687" y="6355080"/>
            <a:ext cx="548640" cy="2286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1" i="0" lang="en-US" sz="950">
                <a:solidFill>
                  <a:srgbClr val="0096D6"/>
                </a:solidFill>
                <a:latin typeface="Calibri"/>
                <a:ea typeface="Calibri"/>
                <a:cs typeface="Calibri"/>
                <a:sym typeface="Calibri"/>
              </a:rPr>
              <a:t>17</a:t>
            </a:r>
            <a:endParaRPr/>
          </a:p>
        </p:txBody>
      </p:sp>
      <p:sp>
        <p:nvSpPr>
          <p:cNvPr id="451" name="Google Shape;451;p29"/>
          <p:cNvSpPr/>
          <p:nvPr/>
        </p:nvSpPr>
        <p:spPr>
          <a:xfrm>
            <a:off x="2527927" y="5975748"/>
            <a:ext cx="6975000" cy="340200"/>
          </a:xfrm>
          <a:prstGeom prst="rect">
            <a:avLst/>
          </a:prstGeom>
          <a:noFill/>
          <a:ln>
            <a:noFill/>
          </a:ln>
        </p:spPr>
        <p:txBody>
          <a:bodyPr anchorCtr="0" anchor="t" bIns="45700" lIns="91425" spcFirstLastPara="1" rIns="91425" wrap="square" tIns="45700">
            <a:noAutofit/>
          </a:bodyPr>
          <a:lstStyle/>
          <a:p>
            <a:pPr indent="0" lvl="0" marL="0" marR="0" rtl="0" algn="ctr">
              <a:lnSpc>
                <a:spcPct val="115000"/>
              </a:lnSpc>
              <a:spcBef>
                <a:spcPts val="0"/>
              </a:spcBef>
              <a:spcAft>
                <a:spcPts val="0"/>
              </a:spcAft>
              <a:buNone/>
            </a:pPr>
            <a:r>
              <a:rPr i="1" lang="en-US" sz="1400">
                <a:solidFill>
                  <a:schemeClr val="dk1"/>
                </a:solidFill>
                <a:latin typeface="Calibri"/>
                <a:ea typeface="Calibri"/>
                <a:cs typeface="Calibri"/>
                <a:sym typeface="Calibri"/>
              </a:rPr>
              <a:t>Hình 3.6. Mô hình BPMN Quản lý mua hàng và cung ứng – Procurement Management</a:t>
            </a:r>
            <a:endParaRPr sz="1400">
              <a:solidFill>
                <a:schemeClr val="dk1"/>
              </a:solidFill>
              <a:latin typeface="Calibri"/>
              <a:ea typeface="Calibri"/>
              <a:cs typeface="Calibri"/>
              <a:sym typeface="Calibri"/>
            </a:endParaRPr>
          </a:p>
        </p:txBody>
      </p:sp>
      <p:pic>
        <p:nvPicPr>
          <p:cNvPr id="452" name="Google Shape;452;p29"/>
          <p:cNvPicPr preferRelativeResize="0"/>
          <p:nvPr/>
        </p:nvPicPr>
        <p:blipFill>
          <a:blip r:embed="rId3">
            <a:alphaModFix/>
          </a:blip>
          <a:stretch>
            <a:fillRect/>
          </a:stretch>
        </p:blipFill>
        <p:spPr>
          <a:xfrm>
            <a:off x="3030700" y="1098225"/>
            <a:ext cx="5717082" cy="48683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30"/>
          <p:cNvSpPr/>
          <p:nvPr/>
        </p:nvSpPr>
        <p:spPr>
          <a:xfrm>
            <a:off x="0" y="0"/>
            <a:ext cx="12191695" cy="859536"/>
          </a:xfrm>
          <a:prstGeom prst="rect">
            <a:avLst/>
          </a:prstGeom>
          <a:solidFill>
            <a:srgbClr val="0A25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8" name="Google Shape;458;p30"/>
          <p:cNvSpPr/>
          <p:nvPr/>
        </p:nvSpPr>
        <p:spPr>
          <a:xfrm>
            <a:off x="0" y="0"/>
            <a:ext cx="182880" cy="859536"/>
          </a:xfrm>
          <a:prstGeom prst="rect">
            <a:avLst/>
          </a:prstGeom>
          <a:solidFill>
            <a:srgbClr val="00C2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9" name="Google Shape;459;p30"/>
          <p:cNvSpPr txBox="1"/>
          <p:nvPr/>
        </p:nvSpPr>
        <p:spPr>
          <a:xfrm>
            <a:off x="475488" y="137160"/>
            <a:ext cx="795527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950">
                <a:solidFill>
                  <a:srgbClr val="00C2A8"/>
                </a:solidFill>
                <a:latin typeface="Calibri"/>
                <a:ea typeface="Calibri"/>
                <a:cs typeface="Calibri"/>
                <a:sym typeface="Calibri"/>
              </a:rPr>
              <a:t>CHƯƠNG 3 · 3.2 MÔ HÌNH HÓA BPMN (AS-IS)  ·  NHÓM HỖ TRỢ</a:t>
            </a:r>
            <a:endParaRPr/>
          </a:p>
        </p:txBody>
      </p:sp>
      <p:sp>
        <p:nvSpPr>
          <p:cNvPr id="460" name="Google Shape;460;p30"/>
          <p:cNvSpPr txBox="1"/>
          <p:nvPr/>
        </p:nvSpPr>
        <p:spPr>
          <a:xfrm>
            <a:off x="475488" y="411480"/>
            <a:ext cx="7955279"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700">
                <a:solidFill>
                  <a:srgbClr val="FFFFFF"/>
                </a:solidFill>
                <a:latin typeface="Calibri"/>
                <a:ea typeface="Calibri"/>
                <a:cs typeface="Calibri"/>
                <a:sym typeface="Calibri"/>
              </a:rPr>
              <a:t>S02  —  Quản lý nhập kho</a:t>
            </a:r>
            <a:endParaRPr/>
          </a:p>
        </p:txBody>
      </p:sp>
      <p:sp>
        <p:nvSpPr>
          <p:cNvPr id="461" name="Google Shape;461;p30"/>
          <p:cNvSpPr txBox="1"/>
          <p:nvPr/>
        </p:nvSpPr>
        <p:spPr>
          <a:xfrm>
            <a:off x="8595360" y="265176"/>
            <a:ext cx="3154680" cy="329184"/>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1" i="0" lang="en-US" sz="1400">
                <a:solidFill>
                  <a:srgbClr val="00C2A8"/>
                </a:solidFill>
                <a:latin typeface="Calibri"/>
                <a:ea typeface="Calibri"/>
                <a:cs typeface="Calibri"/>
                <a:sym typeface="Calibri"/>
              </a:rPr>
              <a:t>Hình 3.7</a:t>
            </a:r>
            <a:endParaRPr/>
          </a:p>
        </p:txBody>
      </p:sp>
      <p:sp>
        <p:nvSpPr>
          <p:cNvPr id="462" name="Google Shape;462;p30"/>
          <p:cNvSpPr txBox="1"/>
          <p:nvPr/>
        </p:nvSpPr>
        <p:spPr>
          <a:xfrm>
            <a:off x="658368" y="6355080"/>
            <a:ext cx="10326319"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850">
                <a:solidFill>
                  <a:srgbClr val="6B7784"/>
                </a:solidFill>
                <a:latin typeface="Calibri"/>
                <a:ea typeface="Calibri"/>
                <a:cs typeface="Calibri"/>
                <a:sym typeface="Calibri"/>
              </a:rPr>
              <a:t>SOLVENTUM VIỆT NAM  ·  HỆ THỐNG QUẢN TRỊ QUY TRÌNH NGHIỆP VỤ</a:t>
            </a:r>
            <a:endParaRPr/>
          </a:p>
        </p:txBody>
      </p:sp>
      <p:sp>
        <p:nvSpPr>
          <p:cNvPr id="463" name="Google Shape;463;p30"/>
          <p:cNvSpPr txBox="1"/>
          <p:nvPr/>
        </p:nvSpPr>
        <p:spPr>
          <a:xfrm>
            <a:off x="10984687" y="6355080"/>
            <a:ext cx="548640" cy="2286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1" i="0" lang="en-US" sz="950">
                <a:solidFill>
                  <a:srgbClr val="0096D6"/>
                </a:solidFill>
                <a:latin typeface="Calibri"/>
                <a:ea typeface="Calibri"/>
                <a:cs typeface="Calibri"/>
                <a:sym typeface="Calibri"/>
              </a:rPr>
              <a:t>18</a:t>
            </a:r>
            <a:endParaRPr/>
          </a:p>
        </p:txBody>
      </p:sp>
      <p:sp>
        <p:nvSpPr>
          <p:cNvPr id="464" name="Google Shape;464;p30"/>
          <p:cNvSpPr/>
          <p:nvPr/>
        </p:nvSpPr>
        <p:spPr>
          <a:xfrm>
            <a:off x="3048000" y="5981425"/>
            <a:ext cx="6096000" cy="340200"/>
          </a:xfrm>
          <a:prstGeom prst="rect">
            <a:avLst/>
          </a:prstGeom>
          <a:noFill/>
          <a:ln>
            <a:noFill/>
          </a:ln>
        </p:spPr>
        <p:txBody>
          <a:bodyPr anchorCtr="0" anchor="t" bIns="45700" lIns="91425" spcFirstLastPara="1" rIns="91425" wrap="square" tIns="45700">
            <a:noAutofit/>
          </a:bodyPr>
          <a:lstStyle/>
          <a:p>
            <a:pPr indent="0" lvl="0" marL="0" marR="0" rtl="0" algn="ctr">
              <a:lnSpc>
                <a:spcPct val="115000"/>
              </a:lnSpc>
              <a:spcBef>
                <a:spcPts val="0"/>
              </a:spcBef>
              <a:spcAft>
                <a:spcPts val="0"/>
              </a:spcAft>
              <a:buNone/>
            </a:pPr>
            <a:r>
              <a:rPr i="1" lang="en-US" sz="1400">
                <a:solidFill>
                  <a:schemeClr val="dk1"/>
                </a:solidFill>
                <a:latin typeface="Calibri"/>
                <a:ea typeface="Calibri"/>
                <a:cs typeface="Calibri"/>
                <a:sym typeface="Calibri"/>
              </a:rPr>
              <a:t>Hình 3.7. Mô hình BPMN Quản lý nhập kho – Inbound Processing</a:t>
            </a:r>
            <a:endParaRPr sz="1400">
              <a:solidFill>
                <a:schemeClr val="dk1"/>
              </a:solidFill>
              <a:latin typeface="Calibri"/>
              <a:ea typeface="Calibri"/>
              <a:cs typeface="Calibri"/>
              <a:sym typeface="Calibri"/>
            </a:endParaRPr>
          </a:p>
        </p:txBody>
      </p:sp>
      <p:pic>
        <p:nvPicPr>
          <p:cNvPr id="465" name="Google Shape;465;p30"/>
          <p:cNvPicPr preferRelativeResize="0"/>
          <p:nvPr/>
        </p:nvPicPr>
        <p:blipFill>
          <a:blip r:embed="rId3">
            <a:alphaModFix/>
          </a:blip>
          <a:stretch>
            <a:fillRect/>
          </a:stretch>
        </p:blipFill>
        <p:spPr>
          <a:xfrm>
            <a:off x="1438275" y="996350"/>
            <a:ext cx="9315450" cy="48482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31"/>
          <p:cNvSpPr txBox="1"/>
          <p:nvPr/>
        </p:nvSpPr>
        <p:spPr>
          <a:xfrm>
            <a:off x="658368" y="384048"/>
            <a:ext cx="108749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50">
                <a:solidFill>
                  <a:srgbClr val="0096D6"/>
                </a:solidFill>
                <a:latin typeface="Calibri"/>
                <a:ea typeface="Calibri"/>
                <a:cs typeface="Calibri"/>
                <a:sym typeface="Calibri"/>
              </a:rPr>
              <a:t>CHƯƠNG 3 · 3.3 PROCESS DISCOVERY</a:t>
            </a:r>
            <a:endParaRPr/>
          </a:p>
        </p:txBody>
      </p:sp>
      <p:sp>
        <p:nvSpPr>
          <p:cNvPr id="471" name="Google Shape;471;p31"/>
          <p:cNvSpPr txBox="1"/>
          <p:nvPr/>
        </p:nvSpPr>
        <p:spPr>
          <a:xfrm>
            <a:off x="658368" y="640080"/>
            <a:ext cx="10874959" cy="603504"/>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2500">
                <a:solidFill>
                  <a:srgbClr val="0A2540"/>
                </a:solidFill>
                <a:latin typeface="Calibri"/>
                <a:ea typeface="Calibri"/>
                <a:cs typeface="Calibri"/>
                <a:sym typeface="Calibri"/>
              </a:rPr>
              <a:t>PHƯƠNG PHÁP KHÁM PHÁ QUY TRÌNH</a:t>
            </a:r>
            <a:endParaRPr/>
          </a:p>
        </p:txBody>
      </p:sp>
      <p:sp>
        <p:nvSpPr>
          <p:cNvPr id="472" name="Google Shape;472;p31"/>
          <p:cNvSpPr/>
          <p:nvPr/>
        </p:nvSpPr>
        <p:spPr>
          <a:xfrm>
            <a:off x="658368" y="1280160"/>
            <a:ext cx="566928" cy="41148"/>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473" name="Google Shape;473;p31"/>
          <p:cNvSpPr/>
          <p:nvPr/>
        </p:nvSpPr>
        <p:spPr>
          <a:xfrm>
            <a:off x="1298448" y="1280160"/>
            <a:ext cx="10234879" cy="41148"/>
          </a:xfrm>
          <a:prstGeom prst="rect">
            <a:avLst/>
          </a:prstGeom>
          <a:solidFill>
            <a:srgbClr val="DFE4E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474" name="Google Shape;474;p31"/>
          <p:cNvSpPr txBox="1"/>
          <p:nvPr/>
        </p:nvSpPr>
        <p:spPr>
          <a:xfrm>
            <a:off x="658368" y="1371600"/>
            <a:ext cx="10874959" cy="254237"/>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0" i="1" lang="en-US" sz="1400">
                <a:solidFill>
                  <a:srgbClr val="6B7784"/>
                </a:solidFill>
                <a:latin typeface="Calibri"/>
                <a:ea typeface="Calibri"/>
                <a:cs typeface="Calibri"/>
                <a:sym typeface="Calibri"/>
              </a:rPr>
              <a:t>Kết hợp hai hướng để đối chiếu thông tin từ tài liệu với cách thực hiện trong thực tế</a:t>
            </a:r>
            <a:endParaRPr/>
          </a:p>
        </p:txBody>
      </p:sp>
      <p:sp>
        <p:nvSpPr>
          <p:cNvPr id="475" name="Google Shape;475;p31"/>
          <p:cNvSpPr txBox="1"/>
          <p:nvPr/>
        </p:nvSpPr>
        <p:spPr>
          <a:xfrm>
            <a:off x="658368" y="6355080"/>
            <a:ext cx="10326319"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850">
                <a:solidFill>
                  <a:srgbClr val="6B7784"/>
                </a:solidFill>
                <a:latin typeface="Calibri"/>
                <a:ea typeface="Calibri"/>
                <a:cs typeface="Calibri"/>
                <a:sym typeface="Calibri"/>
              </a:rPr>
              <a:t>SOLVENTUM VIỆT NAM  ·  HỆ THỐNG QUẢN TRỊ QUY TRÌNH NGHIỆP VỤ</a:t>
            </a:r>
            <a:endParaRPr/>
          </a:p>
        </p:txBody>
      </p:sp>
      <p:sp>
        <p:nvSpPr>
          <p:cNvPr id="476" name="Google Shape;476;p31"/>
          <p:cNvSpPr txBox="1"/>
          <p:nvPr/>
        </p:nvSpPr>
        <p:spPr>
          <a:xfrm>
            <a:off x="10984687" y="6355080"/>
            <a:ext cx="548640" cy="2286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1" i="0" lang="en-US" sz="950">
                <a:solidFill>
                  <a:srgbClr val="0096D6"/>
                </a:solidFill>
                <a:latin typeface="Calibri"/>
                <a:ea typeface="Calibri"/>
                <a:cs typeface="Calibri"/>
                <a:sym typeface="Calibri"/>
              </a:rPr>
              <a:t>19</a:t>
            </a:r>
            <a:endParaRPr/>
          </a:p>
        </p:txBody>
      </p:sp>
      <p:sp>
        <p:nvSpPr>
          <p:cNvPr id="477" name="Google Shape;477;p31"/>
          <p:cNvSpPr/>
          <p:nvPr/>
        </p:nvSpPr>
        <p:spPr>
          <a:xfrm>
            <a:off x="658368" y="1792224"/>
            <a:ext cx="5230368" cy="2962656"/>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478" name="Google Shape;478;p31"/>
          <p:cNvSpPr/>
          <p:nvPr/>
        </p:nvSpPr>
        <p:spPr>
          <a:xfrm>
            <a:off x="658368" y="1792224"/>
            <a:ext cx="5230368" cy="50292"/>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479" name="Google Shape;479;p31"/>
          <p:cNvSpPr txBox="1"/>
          <p:nvPr/>
        </p:nvSpPr>
        <p:spPr>
          <a:xfrm>
            <a:off x="932688" y="2011680"/>
            <a:ext cx="4663440" cy="467307"/>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0A2540"/>
                </a:solidFill>
                <a:latin typeface="Calibri"/>
                <a:ea typeface="Calibri"/>
                <a:cs typeface="Calibri"/>
                <a:sym typeface="Calibri"/>
              </a:rPr>
              <a:t>① DỰA TRÊN BẰNG CHỨNG</a:t>
            </a:r>
            <a:endParaRPr/>
          </a:p>
          <a:p>
            <a:pPr indent="0" lvl="0" marL="0" marR="0" rtl="0" algn="l">
              <a:lnSpc>
                <a:spcPct val="100000"/>
              </a:lnSpc>
              <a:spcBef>
                <a:spcPts val="200"/>
              </a:spcBef>
              <a:spcAft>
                <a:spcPts val="0"/>
              </a:spcAft>
              <a:buNone/>
            </a:pPr>
            <a:r>
              <a:rPr b="0" i="1" lang="en-US" sz="1400">
                <a:solidFill>
                  <a:srgbClr val="6B7784"/>
                </a:solidFill>
                <a:latin typeface="Calibri"/>
                <a:ea typeface="Calibri"/>
                <a:cs typeface="Calibri"/>
                <a:sym typeface="Calibri"/>
              </a:rPr>
              <a:t>Evidence-based Discovery  ·  nguồn thông tin chính</a:t>
            </a:r>
            <a:endParaRPr/>
          </a:p>
        </p:txBody>
      </p:sp>
      <p:sp>
        <p:nvSpPr>
          <p:cNvPr id="480" name="Google Shape;480;p31"/>
          <p:cNvSpPr txBox="1"/>
          <p:nvPr/>
        </p:nvSpPr>
        <p:spPr>
          <a:xfrm>
            <a:off x="932688" y="2706624"/>
            <a:ext cx="4663440" cy="1621919"/>
          </a:xfrm>
          <a:prstGeom prst="rect">
            <a:avLst/>
          </a:prstGeom>
          <a:noFill/>
          <a:ln>
            <a:noFill/>
          </a:ln>
        </p:spPr>
        <p:txBody>
          <a:bodyPr anchorCtr="0" anchor="t" bIns="0" lIns="0" spcFirstLastPara="1" rIns="0" wrap="square" tIns="0">
            <a:spAutoFit/>
          </a:bodyPr>
          <a:lstStyle/>
          <a:p>
            <a:pPr indent="0" lvl="0" marL="0" marR="0" rtl="0" algn="l">
              <a:lnSpc>
                <a:spcPct val="122000"/>
              </a:lnSpc>
              <a:spcBef>
                <a:spcPts val="0"/>
              </a:spcBef>
              <a:spcAft>
                <a:spcPts val="0"/>
              </a:spcAft>
              <a:buNone/>
            </a:pPr>
            <a:r>
              <a:rPr b="0" i="0" lang="en-US" sz="1400">
                <a:solidFill>
                  <a:srgbClr val="2B3440"/>
                </a:solidFill>
                <a:latin typeface="Calibri"/>
                <a:ea typeface="Calibri"/>
                <a:cs typeface="Calibri"/>
                <a:sym typeface="Calibri"/>
              </a:rPr>
              <a:t>•  Tài liệu quy trình vận hành chuẩn (SOP) của tập đoàn.</a:t>
            </a:r>
            <a:endParaRPr/>
          </a:p>
          <a:p>
            <a:pPr indent="0" lvl="0" marL="0" marR="0" rtl="0" algn="l">
              <a:lnSpc>
                <a:spcPct val="122000"/>
              </a:lnSpc>
              <a:spcBef>
                <a:spcPts val="800"/>
              </a:spcBef>
              <a:spcAft>
                <a:spcPts val="0"/>
              </a:spcAft>
              <a:buNone/>
            </a:pPr>
            <a:r>
              <a:rPr b="0" i="0" lang="en-US" sz="1400">
                <a:solidFill>
                  <a:srgbClr val="2B3440"/>
                </a:solidFill>
                <a:latin typeface="Calibri"/>
                <a:ea typeface="Calibri"/>
                <a:cs typeface="Calibri"/>
                <a:sym typeface="Calibri"/>
              </a:rPr>
              <a:t>•  Tài liệu hướng dẫn hệ thống SAP ERP và SAP CRM-Service.</a:t>
            </a:r>
            <a:endParaRPr/>
          </a:p>
          <a:p>
            <a:pPr indent="0" lvl="0" marL="0" marR="0" rtl="0" algn="l">
              <a:lnSpc>
                <a:spcPct val="122000"/>
              </a:lnSpc>
              <a:spcBef>
                <a:spcPts val="800"/>
              </a:spcBef>
              <a:spcAft>
                <a:spcPts val="0"/>
              </a:spcAft>
              <a:buNone/>
            </a:pPr>
            <a:r>
              <a:rPr b="0" i="0" lang="en-US" sz="1400">
                <a:solidFill>
                  <a:srgbClr val="2B3440"/>
                </a:solidFill>
                <a:latin typeface="Calibri"/>
                <a:ea typeface="Calibri"/>
                <a:cs typeface="Calibri"/>
                <a:sym typeface="Calibri"/>
              </a:rPr>
              <a:t>•  Sơ đồ tổ chức và mô tả vai trò các bộ phận.</a:t>
            </a:r>
            <a:endParaRPr/>
          </a:p>
          <a:p>
            <a:pPr indent="0" lvl="0" marL="0" marR="0" rtl="0" algn="l">
              <a:lnSpc>
                <a:spcPct val="122000"/>
              </a:lnSpc>
              <a:spcBef>
                <a:spcPts val="800"/>
              </a:spcBef>
              <a:spcAft>
                <a:spcPts val="0"/>
              </a:spcAft>
              <a:buNone/>
            </a:pPr>
            <a:r>
              <a:rPr b="0" i="0" lang="en-US" sz="1400">
                <a:solidFill>
                  <a:srgbClr val="2B3440"/>
                </a:solidFill>
                <a:latin typeface="Calibri"/>
                <a:ea typeface="Calibri"/>
                <a:cs typeface="Calibri"/>
                <a:sym typeface="Calibri"/>
              </a:rPr>
              <a:t>•  Biểu mẫu chứng từ gốc: Sales Order, Service Order, PR, PO, Inbound Delivery.</a:t>
            </a:r>
            <a:endParaRPr/>
          </a:p>
        </p:txBody>
      </p:sp>
      <p:sp>
        <p:nvSpPr>
          <p:cNvPr id="481" name="Google Shape;481;p31"/>
          <p:cNvSpPr/>
          <p:nvPr/>
        </p:nvSpPr>
        <p:spPr>
          <a:xfrm>
            <a:off x="6327648" y="1792224"/>
            <a:ext cx="5202936" cy="2962656"/>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482" name="Google Shape;482;p31"/>
          <p:cNvSpPr/>
          <p:nvPr/>
        </p:nvSpPr>
        <p:spPr>
          <a:xfrm>
            <a:off x="6327648" y="1792224"/>
            <a:ext cx="5202936" cy="50292"/>
          </a:xfrm>
          <a:prstGeom prst="rect">
            <a:avLst/>
          </a:prstGeom>
          <a:solidFill>
            <a:srgbClr val="00C2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483" name="Google Shape;483;p31"/>
          <p:cNvSpPr txBox="1"/>
          <p:nvPr/>
        </p:nvSpPr>
        <p:spPr>
          <a:xfrm>
            <a:off x="6601968" y="2011680"/>
            <a:ext cx="4663440" cy="467307"/>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0A2540"/>
                </a:solidFill>
                <a:latin typeface="Calibri"/>
                <a:ea typeface="Calibri"/>
                <a:cs typeface="Calibri"/>
                <a:sym typeface="Calibri"/>
              </a:rPr>
              <a:t>② PHỎNG VẤN ĐỐI TƯỢNG LIÊN QUAN</a:t>
            </a:r>
            <a:endParaRPr/>
          </a:p>
          <a:p>
            <a:pPr indent="0" lvl="0" marL="0" marR="0" rtl="0" algn="l">
              <a:lnSpc>
                <a:spcPct val="100000"/>
              </a:lnSpc>
              <a:spcBef>
                <a:spcPts val="200"/>
              </a:spcBef>
              <a:spcAft>
                <a:spcPts val="0"/>
              </a:spcAft>
              <a:buNone/>
            </a:pPr>
            <a:r>
              <a:rPr b="0" i="1" lang="en-US" sz="1400">
                <a:solidFill>
                  <a:srgbClr val="6B7784"/>
                </a:solidFill>
                <a:latin typeface="Calibri"/>
                <a:ea typeface="Calibri"/>
                <a:cs typeface="Calibri"/>
                <a:sym typeface="Calibri"/>
              </a:rPr>
              <a:t>Interview-based Discovery  ·  phương pháp bổ sung</a:t>
            </a:r>
            <a:endParaRPr/>
          </a:p>
        </p:txBody>
      </p:sp>
      <p:sp>
        <p:nvSpPr>
          <p:cNvPr id="484" name="Google Shape;484;p31"/>
          <p:cNvSpPr txBox="1"/>
          <p:nvPr/>
        </p:nvSpPr>
        <p:spPr>
          <a:xfrm>
            <a:off x="6601968" y="2706624"/>
            <a:ext cx="4663440" cy="1920240"/>
          </a:xfrm>
          <a:prstGeom prst="rect">
            <a:avLst/>
          </a:prstGeom>
          <a:noFill/>
          <a:ln>
            <a:noFill/>
          </a:ln>
        </p:spPr>
        <p:txBody>
          <a:bodyPr anchorCtr="0" anchor="t" bIns="0" lIns="0" spcFirstLastPara="1" rIns="0" wrap="square" tIns="0">
            <a:spAutoFit/>
          </a:bodyPr>
          <a:lstStyle/>
          <a:p>
            <a:pPr indent="0" lvl="0" marL="0" marR="0" rtl="0" algn="l">
              <a:lnSpc>
                <a:spcPct val="122000"/>
              </a:lnSpc>
              <a:spcBef>
                <a:spcPts val="0"/>
              </a:spcBef>
              <a:spcAft>
                <a:spcPts val="0"/>
              </a:spcAft>
              <a:buNone/>
            </a:pPr>
            <a:r>
              <a:rPr b="0" i="0" lang="en-US" sz="1400">
                <a:solidFill>
                  <a:srgbClr val="2B3440"/>
                </a:solidFill>
                <a:latin typeface="Calibri"/>
                <a:ea typeface="Calibri"/>
                <a:cs typeface="Calibri"/>
                <a:sym typeface="Calibri"/>
              </a:rPr>
              <a:t>•  Bổ sung cho những nội dung tài liệu chưa mô tả đầy đủ.</a:t>
            </a:r>
            <a:endParaRPr/>
          </a:p>
          <a:p>
            <a:pPr indent="0" lvl="0" marL="0" marR="0" rtl="0" algn="l">
              <a:lnSpc>
                <a:spcPct val="122000"/>
              </a:lnSpc>
              <a:spcBef>
                <a:spcPts val="800"/>
              </a:spcBef>
              <a:spcAft>
                <a:spcPts val="0"/>
              </a:spcAft>
              <a:buNone/>
            </a:pPr>
            <a:r>
              <a:rPr b="0" i="0" lang="en-US" sz="1400">
                <a:solidFill>
                  <a:srgbClr val="2B3440"/>
                </a:solidFill>
                <a:latin typeface="Calibri"/>
                <a:ea typeface="Calibri"/>
                <a:cs typeface="Calibri"/>
                <a:sym typeface="Calibri"/>
              </a:rPr>
              <a:t>•  Xác nhận cách quy trình thực sự được áp dụng trong thực tế.</a:t>
            </a:r>
            <a:endParaRPr/>
          </a:p>
          <a:p>
            <a:pPr indent="0" lvl="0" marL="0" marR="0" rtl="0" algn="l">
              <a:lnSpc>
                <a:spcPct val="122000"/>
              </a:lnSpc>
              <a:spcBef>
                <a:spcPts val="800"/>
              </a:spcBef>
              <a:spcAft>
                <a:spcPts val="0"/>
              </a:spcAft>
              <a:buNone/>
            </a:pPr>
            <a:r>
              <a:rPr b="0" i="0" lang="en-US" sz="1400">
                <a:solidFill>
                  <a:srgbClr val="2B3440"/>
                </a:solidFill>
                <a:latin typeface="Calibri"/>
                <a:ea typeface="Calibri"/>
                <a:cs typeface="Calibri"/>
                <a:sym typeface="Calibri"/>
              </a:rPr>
              <a:t>•  Làm rõ điểm ra quyết định, ngoại lệ và điểm phát sinh chờ đợi.</a:t>
            </a:r>
            <a:endParaRPr/>
          </a:p>
          <a:p>
            <a:pPr indent="0" lvl="0" marL="0" marR="0" rtl="0" algn="l">
              <a:lnSpc>
                <a:spcPct val="122000"/>
              </a:lnSpc>
              <a:spcBef>
                <a:spcPts val="800"/>
              </a:spcBef>
              <a:spcAft>
                <a:spcPts val="0"/>
              </a:spcAft>
              <a:buNone/>
            </a:pPr>
            <a:r>
              <a:rPr b="0" i="0" lang="en-US" sz="1400">
                <a:solidFill>
                  <a:srgbClr val="2B3440"/>
                </a:solidFill>
                <a:latin typeface="Calibri"/>
                <a:ea typeface="Calibri"/>
                <a:cs typeface="Calibri"/>
                <a:sym typeface="Calibri"/>
              </a:rPr>
              <a:t>•  Sử dụng bộ 20 câu hỏi chuẩn hóa (10 định tính + 10 định lượng).</a:t>
            </a:r>
            <a:endParaRPr/>
          </a:p>
        </p:txBody>
      </p:sp>
      <p:sp>
        <p:nvSpPr>
          <p:cNvPr id="485" name="Google Shape;485;p31"/>
          <p:cNvSpPr/>
          <p:nvPr/>
        </p:nvSpPr>
        <p:spPr>
          <a:xfrm>
            <a:off x="658368" y="4919472"/>
            <a:ext cx="10874959" cy="841248"/>
          </a:xfrm>
          <a:prstGeom prst="rect">
            <a:avLst/>
          </a:prstGeom>
          <a:solidFill>
            <a:srgbClr val="E9F3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486" name="Google Shape;486;p31"/>
          <p:cNvSpPr/>
          <p:nvPr/>
        </p:nvSpPr>
        <p:spPr>
          <a:xfrm>
            <a:off x="658368" y="4919472"/>
            <a:ext cx="50292" cy="841248"/>
          </a:xfrm>
          <a:prstGeom prst="rect">
            <a:avLst/>
          </a:prstGeom>
          <a:solidFill>
            <a:srgbClr val="0A25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487" name="Google Shape;487;p31"/>
          <p:cNvSpPr txBox="1"/>
          <p:nvPr/>
        </p:nvSpPr>
        <p:spPr>
          <a:xfrm>
            <a:off x="950976" y="5060019"/>
            <a:ext cx="10280599" cy="560153"/>
          </a:xfrm>
          <a:prstGeom prst="rect">
            <a:avLst/>
          </a:prstGeom>
          <a:noFill/>
          <a:ln>
            <a:noFill/>
          </a:ln>
        </p:spPr>
        <p:txBody>
          <a:bodyPr anchorCtr="0" anchor="ctr" bIns="0" lIns="0" spcFirstLastPara="1" rIns="0" wrap="square" tIns="0">
            <a:spAutoFit/>
          </a:bodyPr>
          <a:lstStyle/>
          <a:p>
            <a:pPr indent="0" lvl="0" marL="0" marR="0" rtl="0" algn="l">
              <a:lnSpc>
                <a:spcPct val="130000"/>
              </a:lnSpc>
              <a:spcBef>
                <a:spcPts val="0"/>
              </a:spcBef>
              <a:spcAft>
                <a:spcPts val="0"/>
              </a:spcAft>
              <a:buNone/>
            </a:pPr>
            <a:r>
              <a:rPr b="0" i="0" lang="en-US" sz="1400">
                <a:solidFill>
                  <a:srgbClr val="2B3440"/>
                </a:solidFill>
                <a:latin typeface="Calibri"/>
                <a:ea typeface="Calibri"/>
                <a:cs typeface="Calibri"/>
                <a:sym typeface="Calibri"/>
              </a:rPr>
              <a:t>Thông tin từ hai nguồn được tổng hợp và ĐỐI CHIẾU CHÉO trước khi đưa vào mô hình BPMN — vừa xác minh các thành phần của quy trình (Actor, Pool, Lane, Activity, Event, Gateway, Data Object), vừa thu thập dữ liệu phục vụ phân tích ở Chương 4.</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32"/>
          <p:cNvSpPr txBox="1"/>
          <p:nvPr/>
        </p:nvSpPr>
        <p:spPr>
          <a:xfrm>
            <a:off x="658368" y="384048"/>
            <a:ext cx="108749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50">
                <a:solidFill>
                  <a:srgbClr val="0096D6"/>
                </a:solidFill>
                <a:latin typeface="Calibri"/>
                <a:ea typeface="Calibri"/>
                <a:cs typeface="Calibri"/>
                <a:sym typeface="Calibri"/>
              </a:rPr>
              <a:t>CHƯƠNG 3 · 3.4.2 ĐÁNH GIÁ VÀ KẾT QUẢ</a:t>
            </a:r>
            <a:endParaRPr/>
          </a:p>
        </p:txBody>
      </p:sp>
      <p:sp>
        <p:nvSpPr>
          <p:cNvPr id="493" name="Google Shape;493;p32"/>
          <p:cNvSpPr txBox="1"/>
          <p:nvPr/>
        </p:nvSpPr>
        <p:spPr>
          <a:xfrm>
            <a:off x="658368" y="640080"/>
            <a:ext cx="10874959" cy="603504"/>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2500">
                <a:solidFill>
                  <a:srgbClr val="0A2540"/>
                </a:solidFill>
                <a:latin typeface="Calibri"/>
                <a:ea typeface="Calibri"/>
                <a:cs typeface="Calibri"/>
                <a:sym typeface="Calibri"/>
              </a:rPr>
              <a:t>MA TRẬN ĐÁNH GIÁ 06 QUY TRÌNH THEO 05 TIÊU CHÍ</a:t>
            </a:r>
            <a:endParaRPr/>
          </a:p>
        </p:txBody>
      </p:sp>
      <p:sp>
        <p:nvSpPr>
          <p:cNvPr id="494" name="Google Shape;494;p32"/>
          <p:cNvSpPr/>
          <p:nvPr/>
        </p:nvSpPr>
        <p:spPr>
          <a:xfrm>
            <a:off x="658368" y="1280160"/>
            <a:ext cx="566928" cy="41148"/>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95" name="Google Shape;495;p32"/>
          <p:cNvSpPr/>
          <p:nvPr/>
        </p:nvSpPr>
        <p:spPr>
          <a:xfrm>
            <a:off x="1298448" y="1280160"/>
            <a:ext cx="10234879" cy="41148"/>
          </a:xfrm>
          <a:prstGeom prst="rect">
            <a:avLst/>
          </a:prstGeom>
          <a:solidFill>
            <a:srgbClr val="DFE4E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96" name="Google Shape;496;p32"/>
          <p:cNvSpPr txBox="1"/>
          <p:nvPr/>
        </p:nvSpPr>
        <p:spPr>
          <a:xfrm>
            <a:off x="658368" y="1371600"/>
            <a:ext cx="10874959" cy="254237"/>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0" i="1" lang="en-US" sz="1400">
                <a:solidFill>
                  <a:srgbClr val="6B7784"/>
                </a:solidFill>
                <a:latin typeface="Calibri"/>
                <a:ea typeface="Calibri"/>
                <a:cs typeface="Calibri"/>
                <a:sym typeface="Calibri"/>
              </a:rPr>
              <a:t>Bảng 3.9 — Đánh giá mức độ phù hợp cho phân tích chuyên sâu (thang Cao – Trung bình – Thấp)</a:t>
            </a:r>
            <a:endParaRPr/>
          </a:p>
        </p:txBody>
      </p:sp>
      <p:sp>
        <p:nvSpPr>
          <p:cNvPr id="497" name="Google Shape;497;p32"/>
          <p:cNvSpPr txBox="1"/>
          <p:nvPr/>
        </p:nvSpPr>
        <p:spPr>
          <a:xfrm>
            <a:off x="658368" y="6355080"/>
            <a:ext cx="10326319"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850">
                <a:solidFill>
                  <a:srgbClr val="6B7784"/>
                </a:solidFill>
                <a:latin typeface="Calibri"/>
                <a:ea typeface="Calibri"/>
                <a:cs typeface="Calibri"/>
                <a:sym typeface="Calibri"/>
              </a:rPr>
              <a:t>SOLVENTUM VIỆT NAM  ·  HỆ THỐNG QUẢN TRỊ QUY TRÌNH NGHIỆP VỤ</a:t>
            </a:r>
            <a:endParaRPr/>
          </a:p>
        </p:txBody>
      </p:sp>
      <p:sp>
        <p:nvSpPr>
          <p:cNvPr id="498" name="Google Shape;498;p32"/>
          <p:cNvSpPr txBox="1"/>
          <p:nvPr/>
        </p:nvSpPr>
        <p:spPr>
          <a:xfrm>
            <a:off x="10984687" y="6355080"/>
            <a:ext cx="548640" cy="2286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1" i="0" lang="en-US" sz="950">
                <a:solidFill>
                  <a:srgbClr val="0096D6"/>
                </a:solidFill>
                <a:latin typeface="Calibri"/>
                <a:ea typeface="Calibri"/>
                <a:cs typeface="Calibri"/>
                <a:sym typeface="Calibri"/>
              </a:rPr>
              <a:t>20</a:t>
            </a:r>
            <a:endParaRPr/>
          </a:p>
        </p:txBody>
      </p:sp>
      <p:graphicFrame>
        <p:nvGraphicFramePr>
          <p:cNvPr id="499" name="Google Shape;499;p32"/>
          <p:cNvGraphicFramePr/>
          <p:nvPr/>
        </p:nvGraphicFramePr>
        <p:xfrm>
          <a:off x="658368" y="1865376"/>
          <a:ext cx="3000000" cy="3000000"/>
        </p:xfrm>
        <a:graphic>
          <a:graphicData uri="http://schemas.openxmlformats.org/drawingml/2006/table">
            <a:tbl>
              <a:tblPr firstRow="1">
                <a:noFill/>
                <a:tableStyleId>{65267F91-CA84-436A-A840-DCCC5366F6D9}</a:tableStyleId>
              </a:tblPr>
              <a:tblGrid>
                <a:gridCol w="3383275"/>
                <a:gridCol w="1499625"/>
                <a:gridCol w="1499625"/>
                <a:gridCol w="1499625"/>
                <a:gridCol w="1563625"/>
                <a:gridCol w="1438350"/>
              </a:tblGrid>
              <a:tr h="566925">
                <a:tc>
                  <a:txBody>
                    <a:bodyPr/>
                    <a:lstStyle/>
                    <a:p>
                      <a:pPr indent="0" lvl="0" marL="0" marR="0" rtl="0" algn="ctr">
                        <a:lnSpc>
                          <a:spcPct val="105000"/>
                        </a:lnSpc>
                        <a:spcBef>
                          <a:spcPts val="0"/>
                        </a:spcBef>
                        <a:spcAft>
                          <a:spcPts val="0"/>
                        </a:spcAft>
                        <a:buNone/>
                      </a:pPr>
                      <a:r>
                        <a:rPr b="1" lang="en-US" sz="1000" u="none" cap="none" strike="noStrike">
                          <a:solidFill>
                            <a:srgbClr val="FFFFFF"/>
                          </a:solidFill>
                          <a:latin typeface="Calibri"/>
                          <a:ea typeface="Calibri"/>
                          <a:cs typeface="Calibri"/>
                          <a:sym typeface="Calibri"/>
                        </a:rPr>
                        <a:t>QUY TRÌNH</a:t>
                      </a:r>
                      <a:endParaRPr/>
                    </a:p>
                  </a:txBody>
                  <a:tcPr marT="41150" marB="41150" marR="73150" marL="100575" anchor="ctr">
                    <a:solidFill>
                      <a:srgbClr val="0A2540"/>
                    </a:solidFill>
                  </a:tcPr>
                </a:tc>
                <a:tc>
                  <a:txBody>
                    <a:bodyPr/>
                    <a:lstStyle/>
                    <a:p>
                      <a:pPr indent="0" lvl="0" marL="0" marR="0" rtl="0" algn="ctr">
                        <a:lnSpc>
                          <a:spcPct val="105000"/>
                        </a:lnSpc>
                        <a:spcBef>
                          <a:spcPts val="0"/>
                        </a:spcBef>
                        <a:spcAft>
                          <a:spcPts val="0"/>
                        </a:spcAft>
                        <a:buNone/>
                      </a:pPr>
                      <a:r>
                        <a:rPr b="1" lang="en-US" sz="1000" u="none" cap="none" strike="noStrike">
                          <a:solidFill>
                            <a:srgbClr val="FFFFFF"/>
                          </a:solidFill>
                          <a:latin typeface="Calibri"/>
                          <a:ea typeface="Calibri"/>
                          <a:cs typeface="Calibri"/>
                          <a:sym typeface="Calibri"/>
                        </a:rPr>
                        <a:t>Tương tác</a:t>
                      </a:r>
                      <a:br>
                        <a:rPr b="1" lang="en-US" sz="1000" u="none" cap="none" strike="noStrike">
                          <a:solidFill>
                            <a:srgbClr val="FFFFFF"/>
                          </a:solidFill>
                          <a:latin typeface="Calibri"/>
                          <a:ea typeface="Calibri"/>
                          <a:cs typeface="Calibri"/>
                          <a:sym typeface="Calibri"/>
                        </a:rPr>
                      </a:br>
                      <a:r>
                        <a:rPr b="1" lang="en-US" sz="1000" u="none" cap="none" strike="noStrike">
                          <a:solidFill>
                            <a:srgbClr val="FFFFFF"/>
                          </a:solidFill>
                          <a:latin typeface="Calibri"/>
                          <a:ea typeface="Calibri"/>
                          <a:cs typeface="Calibri"/>
                          <a:sym typeface="Calibri"/>
                        </a:rPr>
                        <a:t>giữa các bên</a:t>
                      </a:r>
                      <a:endParaRPr/>
                    </a:p>
                  </a:txBody>
                  <a:tcPr marT="41150" marB="41150" marR="73150" marL="100575" anchor="ctr">
                    <a:solidFill>
                      <a:srgbClr val="0A2540"/>
                    </a:solidFill>
                  </a:tcPr>
                </a:tc>
                <a:tc>
                  <a:txBody>
                    <a:bodyPr/>
                    <a:lstStyle/>
                    <a:p>
                      <a:pPr indent="0" lvl="0" marL="0" marR="0" rtl="0" algn="ctr">
                        <a:lnSpc>
                          <a:spcPct val="105000"/>
                        </a:lnSpc>
                        <a:spcBef>
                          <a:spcPts val="0"/>
                        </a:spcBef>
                        <a:spcAft>
                          <a:spcPts val="0"/>
                        </a:spcAft>
                        <a:buNone/>
                      </a:pPr>
                      <a:r>
                        <a:rPr b="1" lang="en-US" sz="1000" u="none" cap="none" strike="noStrike">
                          <a:solidFill>
                            <a:srgbClr val="FFFFFF"/>
                          </a:solidFill>
                          <a:latin typeface="Calibri"/>
                          <a:ea typeface="Calibri"/>
                          <a:cs typeface="Calibri"/>
                          <a:sym typeface="Calibri"/>
                        </a:rPr>
                        <a:t>Chuyển giao</a:t>
                      </a:r>
                      <a:br>
                        <a:rPr b="1" lang="en-US" sz="1000" u="none" cap="none" strike="noStrike">
                          <a:solidFill>
                            <a:srgbClr val="FFFFFF"/>
                          </a:solidFill>
                          <a:latin typeface="Calibri"/>
                          <a:ea typeface="Calibri"/>
                          <a:cs typeface="Calibri"/>
                          <a:sym typeface="Calibri"/>
                        </a:rPr>
                      </a:br>
                      <a:r>
                        <a:rPr b="1" lang="en-US" sz="1000" u="none" cap="none" strike="noStrike">
                          <a:solidFill>
                            <a:srgbClr val="FFFFFF"/>
                          </a:solidFill>
                          <a:latin typeface="Calibri"/>
                          <a:ea typeface="Calibri"/>
                          <a:cs typeface="Calibri"/>
                          <a:sym typeface="Calibri"/>
                        </a:rPr>
                        <a:t>công việc</a:t>
                      </a:r>
                      <a:endParaRPr/>
                    </a:p>
                  </a:txBody>
                  <a:tcPr marT="41150" marB="41150" marR="73150" marL="100575" anchor="ctr">
                    <a:solidFill>
                      <a:srgbClr val="0A2540"/>
                    </a:solidFill>
                  </a:tcPr>
                </a:tc>
                <a:tc>
                  <a:txBody>
                    <a:bodyPr/>
                    <a:lstStyle/>
                    <a:p>
                      <a:pPr indent="0" lvl="0" marL="0" marR="0" rtl="0" algn="ctr">
                        <a:lnSpc>
                          <a:spcPct val="105000"/>
                        </a:lnSpc>
                        <a:spcBef>
                          <a:spcPts val="0"/>
                        </a:spcBef>
                        <a:spcAft>
                          <a:spcPts val="0"/>
                        </a:spcAft>
                        <a:buNone/>
                      </a:pPr>
                      <a:r>
                        <a:rPr b="1" lang="en-US" sz="1000" u="none" cap="none" strike="noStrike">
                          <a:solidFill>
                            <a:srgbClr val="FFFFFF"/>
                          </a:solidFill>
                          <a:latin typeface="Calibri"/>
                          <a:ea typeface="Calibri"/>
                          <a:cs typeface="Calibri"/>
                          <a:sym typeface="Calibri"/>
                        </a:rPr>
                        <a:t>Khả năng</a:t>
                      </a:r>
                      <a:br>
                        <a:rPr b="1" lang="en-US" sz="1000" u="none" cap="none" strike="noStrike">
                          <a:solidFill>
                            <a:srgbClr val="FFFFFF"/>
                          </a:solidFill>
                          <a:latin typeface="Calibri"/>
                          <a:ea typeface="Calibri"/>
                          <a:cs typeface="Calibri"/>
                          <a:sym typeface="Calibri"/>
                        </a:rPr>
                      </a:br>
                      <a:r>
                        <a:rPr b="1" lang="en-US" sz="1000" u="none" cap="none" strike="noStrike">
                          <a:solidFill>
                            <a:srgbClr val="FFFFFF"/>
                          </a:solidFill>
                          <a:latin typeface="Calibri"/>
                          <a:ea typeface="Calibri"/>
                          <a:cs typeface="Calibri"/>
                          <a:sym typeface="Calibri"/>
                        </a:rPr>
                        <a:t>phát sinh chờ</a:t>
                      </a:r>
                      <a:endParaRPr/>
                    </a:p>
                  </a:txBody>
                  <a:tcPr marT="41150" marB="41150" marR="73150" marL="100575" anchor="ctr">
                    <a:solidFill>
                      <a:srgbClr val="0A2540"/>
                    </a:solidFill>
                  </a:tcPr>
                </a:tc>
                <a:tc>
                  <a:txBody>
                    <a:bodyPr/>
                    <a:lstStyle/>
                    <a:p>
                      <a:pPr indent="0" lvl="0" marL="0" marR="0" rtl="0" algn="ctr">
                        <a:lnSpc>
                          <a:spcPct val="105000"/>
                        </a:lnSpc>
                        <a:spcBef>
                          <a:spcPts val="0"/>
                        </a:spcBef>
                        <a:spcAft>
                          <a:spcPts val="0"/>
                        </a:spcAft>
                        <a:buNone/>
                      </a:pPr>
                      <a:r>
                        <a:rPr b="1" lang="en-US" sz="1000" u="none" cap="none" strike="noStrike">
                          <a:solidFill>
                            <a:srgbClr val="FFFFFF"/>
                          </a:solidFill>
                          <a:latin typeface="Calibri"/>
                          <a:ea typeface="Calibri"/>
                          <a:cs typeface="Calibri"/>
                          <a:sym typeface="Calibri"/>
                        </a:rPr>
                        <a:t>Khả năng phân</a:t>
                      </a:r>
                      <a:br>
                        <a:rPr b="1" lang="en-US" sz="1000" u="none" cap="none" strike="noStrike">
                          <a:solidFill>
                            <a:srgbClr val="FFFFFF"/>
                          </a:solidFill>
                          <a:latin typeface="Calibri"/>
                          <a:ea typeface="Calibri"/>
                          <a:cs typeface="Calibri"/>
                          <a:sym typeface="Calibri"/>
                        </a:rPr>
                      </a:br>
                      <a:r>
                        <a:rPr b="1" lang="en-US" sz="1000" u="none" cap="none" strike="noStrike">
                          <a:solidFill>
                            <a:srgbClr val="FFFFFF"/>
                          </a:solidFill>
                          <a:latin typeface="Calibri"/>
                          <a:ea typeface="Calibri"/>
                          <a:cs typeface="Calibri"/>
                          <a:sym typeface="Calibri"/>
                        </a:rPr>
                        <a:t>tích định lượng</a:t>
                      </a:r>
                      <a:endParaRPr/>
                    </a:p>
                  </a:txBody>
                  <a:tcPr marT="41150" marB="41150" marR="73150" marL="100575" anchor="ctr">
                    <a:solidFill>
                      <a:srgbClr val="0A2540"/>
                    </a:solidFill>
                  </a:tcPr>
                </a:tc>
                <a:tc>
                  <a:txBody>
                    <a:bodyPr/>
                    <a:lstStyle/>
                    <a:p>
                      <a:pPr indent="0" lvl="0" marL="0" marR="0" rtl="0" algn="ctr">
                        <a:lnSpc>
                          <a:spcPct val="105000"/>
                        </a:lnSpc>
                        <a:spcBef>
                          <a:spcPts val="0"/>
                        </a:spcBef>
                        <a:spcAft>
                          <a:spcPts val="0"/>
                        </a:spcAft>
                        <a:buNone/>
                      </a:pPr>
                      <a:r>
                        <a:rPr b="1" lang="en-US" sz="1000" u="none" cap="none" strike="noStrike">
                          <a:solidFill>
                            <a:srgbClr val="FFFFFF"/>
                          </a:solidFill>
                          <a:latin typeface="Calibri"/>
                          <a:ea typeface="Calibri"/>
                          <a:cs typeface="Calibri"/>
                          <a:sym typeface="Calibri"/>
                        </a:rPr>
                        <a:t>Tiềm năng</a:t>
                      </a:r>
                      <a:br>
                        <a:rPr b="1" lang="en-US" sz="1000" u="none" cap="none" strike="noStrike">
                          <a:solidFill>
                            <a:srgbClr val="FFFFFF"/>
                          </a:solidFill>
                          <a:latin typeface="Calibri"/>
                          <a:ea typeface="Calibri"/>
                          <a:cs typeface="Calibri"/>
                          <a:sym typeface="Calibri"/>
                        </a:rPr>
                      </a:br>
                      <a:r>
                        <a:rPr b="1" lang="en-US" sz="1000" u="none" cap="none" strike="noStrike">
                          <a:solidFill>
                            <a:srgbClr val="FFFFFF"/>
                          </a:solidFill>
                          <a:latin typeface="Calibri"/>
                          <a:ea typeface="Calibri"/>
                          <a:cs typeface="Calibri"/>
                          <a:sym typeface="Calibri"/>
                        </a:rPr>
                        <a:t>cải tiến</a:t>
                      </a:r>
                      <a:endParaRPr/>
                    </a:p>
                  </a:txBody>
                  <a:tcPr marT="41150" marB="41150" marR="73150" marL="100575" anchor="ctr">
                    <a:solidFill>
                      <a:srgbClr val="0A2540"/>
                    </a:solidFill>
                  </a:tcPr>
                </a:tc>
              </a:tr>
              <a:tr h="420625">
                <a:tc>
                  <a:txBody>
                    <a:bodyPr/>
                    <a:lstStyle/>
                    <a:p>
                      <a:pPr indent="0" lvl="0" marL="0" marR="0" rtl="0" algn="ctr">
                        <a:lnSpc>
                          <a:spcPct val="105000"/>
                        </a:lnSpc>
                        <a:spcBef>
                          <a:spcPts val="0"/>
                        </a:spcBef>
                        <a:spcAft>
                          <a:spcPts val="0"/>
                        </a:spcAft>
                        <a:buNone/>
                      </a:pPr>
                      <a:r>
                        <a:rPr b="1" lang="en-US" sz="1019" u="none" cap="none" strike="noStrike">
                          <a:solidFill>
                            <a:srgbClr val="2B3440"/>
                          </a:solidFill>
                          <a:latin typeface="Calibri"/>
                          <a:ea typeface="Calibri"/>
                          <a:cs typeface="Calibri"/>
                          <a:sym typeface="Calibri"/>
                        </a:rPr>
                        <a:t>M01  Business Planning</a:t>
                      </a:r>
                      <a:endParaRPr/>
                    </a:p>
                  </a:txBody>
                  <a:tcPr marT="41150" marB="41150" marR="73150" marL="100575" anchor="ctr">
                    <a:solidFill>
                      <a:srgbClr val="FFFFFF"/>
                    </a:solidFill>
                  </a:tcPr>
                </a:tc>
                <a:tc>
                  <a:txBody>
                    <a:bodyPr/>
                    <a:lstStyle/>
                    <a:p>
                      <a:pPr indent="0" lvl="0" marL="0" marR="0" rtl="0" algn="l">
                        <a:lnSpc>
                          <a:spcPct val="105000"/>
                        </a:lnSpc>
                        <a:spcBef>
                          <a:spcPts val="0"/>
                        </a:spcBef>
                        <a:spcAft>
                          <a:spcPts val="0"/>
                        </a:spcAft>
                        <a:buNone/>
                      </a:pPr>
                      <a:r>
                        <a:rPr b="1" lang="en-US" sz="1019" u="none" cap="none" strike="noStrike">
                          <a:solidFill>
                            <a:srgbClr val="006B5C"/>
                          </a:solidFill>
                          <a:latin typeface="Calibri"/>
                          <a:ea typeface="Calibri"/>
                          <a:cs typeface="Calibri"/>
                          <a:sym typeface="Calibri"/>
                        </a:rPr>
                        <a:t>Cao</a:t>
                      </a:r>
                      <a:endParaRPr/>
                    </a:p>
                  </a:txBody>
                  <a:tcPr marT="41150" marB="41150" marR="73150" marL="100575" anchor="ctr">
                    <a:solidFill>
                      <a:srgbClr val="E7F7F3"/>
                    </a:solidFill>
                  </a:tcPr>
                </a:tc>
                <a:tc>
                  <a:txBody>
                    <a:bodyPr/>
                    <a:lstStyle/>
                    <a:p>
                      <a:pPr indent="0" lvl="0" marL="0" marR="0" rtl="0" algn="l">
                        <a:lnSpc>
                          <a:spcPct val="105000"/>
                        </a:lnSpc>
                        <a:spcBef>
                          <a:spcPts val="0"/>
                        </a:spcBef>
                        <a:spcAft>
                          <a:spcPts val="0"/>
                        </a:spcAft>
                        <a:buNone/>
                      </a:pPr>
                      <a:r>
                        <a:rPr b="1" lang="en-US" sz="1019" u="none" cap="none" strike="noStrike">
                          <a:solidFill>
                            <a:srgbClr val="B54A08"/>
                          </a:solidFill>
                          <a:latin typeface="Calibri"/>
                          <a:ea typeface="Calibri"/>
                          <a:cs typeface="Calibri"/>
                          <a:sym typeface="Calibri"/>
                        </a:rPr>
                        <a:t>Trung bình</a:t>
                      </a:r>
                      <a:endParaRPr/>
                    </a:p>
                  </a:txBody>
                  <a:tcPr marT="41150" marB="41150" marR="73150" marL="100575" anchor="ctr">
                    <a:solidFill>
                      <a:srgbClr val="FFF6E8"/>
                    </a:solidFill>
                  </a:tcPr>
                </a:tc>
                <a:tc>
                  <a:txBody>
                    <a:bodyPr/>
                    <a:lstStyle/>
                    <a:p>
                      <a:pPr indent="0" lvl="0" marL="0" marR="0" rtl="0" algn="l">
                        <a:lnSpc>
                          <a:spcPct val="105000"/>
                        </a:lnSpc>
                        <a:spcBef>
                          <a:spcPts val="0"/>
                        </a:spcBef>
                        <a:spcAft>
                          <a:spcPts val="0"/>
                        </a:spcAft>
                        <a:buNone/>
                      </a:pPr>
                      <a:r>
                        <a:rPr b="1" lang="en-US" sz="1019" u="none" cap="none" strike="noStrike">
                          <a:solidFill>
                            <a:srgbClr val="B54A08"/>
                          </a:solidFill>
                          <a:latin typeface="Calibri"/>
                          <a:ea typeface="Calibri"/>
                          <a:cs typeface="Calibri"/>
                          <a:sym typeface="Calibri"/>
                        </a:rPr>
                        <a:t>Trung bình</a:t>
                      </a:r>
                      <a:endParaRPr b="1" sz="1019" u="none" cap="none" strike="noStrike">
                        <a:solidFill>
                          <a:srgbClr val="B54A08"/>
                        </a:solidFill>
                        <a:latin typeface="Calibri"/>
                        <a:ea typeface="Calibri"/>
                        <a:cs typeface="Calibri"/>
                        <a:sym typeface="Calibri"/>
                      </a:endParaRPr>
                    </a:p>
                  </a:txBody>
                  <a:tcPr marT="41150" marB="41150" marR="73150" marL="100575" anchor="ctr">
                    <a:solidFill>
                      <a:srgbClr val="FFF6E8"/>
                    </a:solidFill>
                  </a:tcPr>
                </a:tc>
                <a:tc>
                  <a:txBody>
                    <a:bodyPr/>
                    <a:lstStyle/>
                    <a:p>
                      <a:pPr indent="0" lvl="0" marL="0" marR="0" rtl="0" algn="l">
                        <a:lnSpc>
                          <a:spcPct val="105000"/>
                        </a:lnSpc>
                        <a:spcBef>
                          <a:spcPts val="0"/>
                        </a:spcBef>
                        <a:spcAft>
                          <a:spcPts val="0"/>
                        </a:spcAft>
                        <a:buNone/>
                      </a:pPr>
                      <a:r>
                        <a:rPr b="1" lang="en-US" sz="1019" u="none" cap="none" strike="noStrike">
                          <a:solidFill>
                            <a:srgbClr val="D92D20"/>
                          </a:solidFill>
                          <a:latin typeface="Calibri"/>
                          <a:ea typeface="Calibri"/>
                          <a:cs typeface="Calibri"/>
                          <a:sym typeface="Calibri"/>
                        </a:rPr>
                        <a:t>Thấp</a:t>
                      </a:r>
                      <a:endParaRPr/>
                    </a:p>
                  </a:txBody>
                  <a:tcPr marT="41150" marB="41150" marR="73150" marL="100575" anchor="ctr">
                    <a:solidFill>
                      <a:srgbClr val="FEF3F2"/>
                    </a:solidFill>
                  </a:tcPr>
                </a:tc>
                <a:tc>
                  <a:txBody>
                    <a:bodyPr/>
                    <a:lstStyle/>
                    <a:p>
                      <a:pPr indent="0" lvl="0" marL="0" marR="0" rtl="0" algn="l">
                        <a:lnSpc>
                          <a:spcPct val="105000"/>
                        </a:lnSpc>
                        <a:spcBef>
                          <a:spcPts val="0"/>
                        </a:spcBef>
                        <a:spcAft>
                          <a:spcPts val="0"/>
                        </a:spcAft>
                        <a:buNone/>
                      </a:pPr>
                      <a:r>
                        <a:rPr b="1" lang="en-US" sz="1019" u="none" cap="none" strike="noStrike">
                          <a:solidFill>
                            <a:srgbClr val="B54A08"/>
                          </a:solidFill>
                          <a:latin typeface="Calibri"/>
                          <a:ea typeface="Calibri"/>
                          <a:cs typeface="Calibri"/>
                          <a:sym typeface="Calibri"/>
                        </a:rPr>
                        <a:t>Trung bình</a:t>
                      </a:r>
                      <a:endParaRPr/>
                    </a:p>
                  </a:txBody>
                  <a:tcPr marT="41150" marB="41150" marR="73150" marL="100575" anchor="ctr">
                    <a:solidFill>
                      <a:srgbClr val="FFF6E8"/>
                    </a:solidFill>
                  </a:tcPr>
                </a:tc>
              </a:tr>
              <a:tr h="420625">
                <a:tc>
                  <a:txBody>
                    <a:bodyPr/>
                    <a:lstStyle/>
                    <a:p>
                      <a:pPr indent="0" lvl="0" marL="0" marR="0" rtl="0" algn="ctr">
                        <a:lnSpc>
                          <a:spcPct val="105000"/>
                        </a:lnSpc>
                        <a:spcBef>
                          <a:spcPts val="0"/>
                        </a:spcBef>
                        <a:spcAft>
                          <a:spcPts val="0"/>
                        </a:spcAft>
                        <a:buNone/>
                      </a:pPr>
                      <a:r>
                        <a:rPr b="1" lang="en-US" sz="1019" u="none" cap="none" strike="noStrike">
                          <a:solidFill>
                            <a:srgbClr val="2B3440"/>
                          </a:solidFill>
                          <a:latin typeface="Calibri"/>
                          <a:ea typeface="Calibri"/>
                          <a:cs typeface="Calibri"/>
                          <a:sym typeface="Calibri"/>
                        </a:rPr>
                        <a:t>M02  Customer Complaint Management</a:t>
                      </a:r>
                      <a:endParaRPr/>
                    </a:p>
                  </a:txBody>
                  <a:tcPr marT="41150" marB="41150" marR="73150" marL="100575" anchor="ctr">
                    <a:solidFill>
                      <a:srgbClr val="F4F7FA"/>
                    </a:solidFill>
                  </a:tcPr>
                </a:tc>
                <a:tc>
                  <a:txBody>
                    <a:bodyPr/>
                    <a:lstStyle/>
                    <a:p>
                      <a:pPr indent="0" lvl="0" marL="0" marR="0" rtl="0" algn="l">
                        <a:lnSpc>
                          <a:spcPct val="105000"/>
                        </a:lnSpc>
                        <a:spcBef>
                          <a:spcPts val="0"/>
                        </a:spcBef>
                        <a:spcAft>
                          <a:spcPts val="0"/>
                        </a:spcAft>
                        <a:buNone/>
                      </a:pPr>
                      <a:r>
                        <a:rPr b="1" lang="en-US" sz="1019" u="none" cap="none" strike="noStrike">
                          <a:solidFill>
                            <a:srgbClr val="006B5C"/>
                          </a:solidFill>
                          <a:latin typeface="Calibri"/>
                          <a:ea typeface="Calibri"/>
                          <a:cs typeface="Calibri"/>
                          <a:sym typeface="Calibri"/>
                        </a:rPr>
                        <a:t>Cao</a:t>
                      </a:r>
                      <a:endParaRPr/>
                    </a:p>
                  </a:txBody>
                  <a:tcPr marT="41150" marB="41150" marR="73150" marL="100575" anchor="ctr">
                    <a:solidFill>
                      <a:srgbClr val="E7F7F3"/>
                    </a:solidFill>
                  </a:tcPr>
                </a:tc>
                <a:tc>
                  <a:txBody>
                    <a:bodyPr/>
                    <a:lstStyle/>
                    <a:p>
                      <a:pPr indent="0" lvl="0" marL="0" marR="0" rtl="0" algn="l">
                        <a:lnSpc>
                          <a:spcPct val="105000"/>
                        </a:lnSpc>
                        <a:spcBef>
                          <a:spcPts val="0"/>
                        </a:spcBef>
                        <a:spcAft>
                          <a:spcPts val="0"/>
                        </a:spcAft>
                        <a:buNone/>
                      </a:pPr>
                      <a:r>
                        <a:rPr b="1" lang="en-US" sz="1019" u="none" cap="none" strike="noStrike">
                          <a:solidFill>
                            <a:srgbClr val="006B5C"/>
                          </a:solidFill>
                          <a:latin typeface="Calibri"/>
                          <a:ea typeface="Calibri"/>
                          <a:cs typeface="Calibri"/>
                          <a:sym typeface="Calibri"/>
                        </a:rPr>
                        <a:t>Cao</a:t>
                      </a:r>
                      <a:endParaRPr/>
                    </a:p>
                  </a:txBody>
                  <a:tcPr marT="41150" marB="41150" marR="73150" marL="100575" anchor="ctr">
                    <a:solidFill>
                      <a:srgbClr val="E7F7F3"/>
                    </a:solidFill>
                  </a:tcPr>
                </a:tc>
                <a:tc>
                  <a:txBody>
                    <a:bodyPr/>
                    <a:lstStyle/>
                    <a:p>
                      <a:pPr indent="0" lvl="0" marL="0" marR="0" rtl="0" algn="l">
                        <a:lnSpc>
                          <a:spcPct val="105000"/>
                        </a:lnSpc>
                        <a:spcBef>
                          <a:spcPts val="0"/>
                        </a:spcBef>
                        <a:spcAft>
                          <a:spcPts val="0"/>
                        </a:spcAft>
                        <a:buNone/>
                      </a:pPr>
                      <a:r>
                        <a:rPr b="1" lang="en-US" sz="1019" u="none" cap="none" strike="noStrike">
                          <a:solidFill>
                            <a:srgbClr val="006B5C"/>
                          </a:solidFill>
                          <a:latin typeface="Calibri"/>
                          <a:ea typeface="Calibri"/>
                          <a:cs typeface="Calibri"/>
                          <a:sym typeface="Calibri"/>
                        </a:rPr>
                        <a:t>Cao</a:t>
                      </a:r>
                      <a:endParaRPr/>
                    </a:p>
                  </a:txBody>
                  <a:tcPr marT="41150" marB="41150" marR="73150" marL="100575" anchor="ctr">
                    <a:solidFill>
                      <a:srgbClr val="E7F7F3"/>
                    </a:solidFill>
                  </a:tcPr>
                </a:tc>
                <a:tc>
                  <a:txBody>
                    <a:bodyPr/>
                    <a:lstStyle/>
                    <a:p>
                      <a:pPr indent="0" lvl="0" marL="0" marR="0" rtl="0" algn="l">
                        <a:lnSpc>
                          <a:spcPct val="105000"/>
                        </a:lnSpc>
                        <a:spcBef>
                          <a:spcPts val="0"/>
                        </a:spcBef>
                        <a:spcAft>
                          <a:spcPts val="0"/>
                        </a:spcAft>
                        <a:buNone/>
                      </a:pPr>
                      <a:r>
                        <a:rPr b="1" lang="en-US" sz="1019" u="none" cap="none" strike="noStrike">
                          <a:solidFill>
                            <a:srgbClr val="B54A08"/>
                          </a:solidFill>
                          <a:latin typeface="Calibri"/>
                          <a:ea typeface="Calibri"/>
                          <a:cs typeface="Calibri"/>
                          <a:sym typeface="Calibri"/>
                        </a:rPr>
                        <a:t>Trung bình</a:t>
                      </a:r>
                      <a:endParaRPr/>
                    </a:p>
                  </a:txBody>
                  <a:tcPr marT="41150" marB="41150" marR="73150" marL="100575" anchor="ctr">
                    <a:solidFill>
                      <a:srgbClr val="FFF6E8"/>
                    </a:solidFill>
                  </a:tcPr>
                </a:tc>
                <a:tc>
                  <a:txBody>
                    <a:bodyPr/>
                    <a:lstStyle/>
                    <a:p>
                      <a:pPr indent="0" lvl="0" marL="0" marR="0" rtl="0" algn="l">
                        <a:lnSpc>
                          <a:spcPct val="105000"/>
                        </a:lnSpc>
                        <a:spcBef>
                          <a:spcPts val="0"/>
                        </a:spcBef>
                        <a:spcAft>
                          <a:spcPts val="0"/>
                        </a:spcAft>
                        <a:buNone/>
                      </a:pPr>
                      <a:r>
                        <a:rPr b="1" lang="en-US" sz="1019" u="none" cap="none" strike="noStrike">
                          <a:solidFill>
                            <a:srgbClr val="006B5C"/>
                          </a:solidFill>
                          <a:latin typeface="Calibri"/>
                          <a:ea typeface="Calibri"/>
                          <a:cs typeface="Calibri"/>
                          <a:sym typeface="Calibri"/>
                        </a:rPr>
                        <a:t>Cao</a:t>
                      </a:r>
                      <a:endParaRPr/>
                    </a:p>
                  </a:txBody>
                  <a:tcPr marT="41150" marB="41150" marR="73150" marL="100575" anchor="ctr">
                    <a:solidFill>
                      <a:srgbClr val="E7F7F3"/>
                    </a:solidFill>
                  </a:tcPr>
                </a:tc>
              </a:tr>
              <a:tr h="420625">
                <a:tc>
                  <a:txBody>
                    <a:bodyPr/>
                    <a:lstStyle/>
                    <a:p>
                      <a:pPr indent="0" lvl="0" marL="0" marR="0" rtl="0" algn="ctr">
                        <a:lnSpc>
                          <a:spcPct val="105000"/>
                        </a:lnSpc>
                        <a:spcBef>
                          <a:spcPts val="0"/>
                        </a:spcBef>
                        <a:spcAft>
                          <a:spcPts val="0"/>
                        </a:spcAft>
                        <a:buNone/>
                      </a:pPr>
                      <a:r>
                        <a:rPr b="1" lang="en-US" sz="1019" u="none" cap="none" strike="noStrike">
                          <a:solidFill>
                            <a:srgbClr val="2B3440"/>
                          </a:solidFill>
                          <a:latin typeface="Calibri"/>
                          <a:ea typeface="Calibri"/>
                          <a:cs typeface="Calibri"/>
                          <a:sym typeface="Calibri"/>
                        </a:rPr>
                        <a:t>C02  Order Management (OTC)</a:t>
                      </a:r>
                      <a:endParaRPr/>
                    </a:p>
                  </a:txBody>
                  <a:tcPr marT="41150" marB="41150" marR="73150" marL="100575" anchor="ctr">
                    <a:solidFill>
                      <a:srgbClr val="FFFFFF"/>
                    </a:solidFill>
                  </a:tcPr>
                </a:tc>
                <a:tc>
                  <a:txBody>
                    <a:bodyPr/>
                    <a:lstStyle/>
                    <a:p>
                      <a:pPr indent="0" lvl="0" marL="0" marR="0" rtl="0" algn="l">
                        <a:lnSpc>
                          <a:spcPct val="105000"/>
                        </a:lnSpc>
                        <a:spcBef>
                          <a:spcPts val="0"/>
                        </a:spcBef>
                        <a:spcAft>
                          <a:spcPts val="0"/>
                        </a:spcAft>
                        <a:buNone/>
                      </a:pPr>
                      <a:r>
                        <a:rPr b="1" lang="en-US" sz="1019" u="none" cap="none" strike="noStrike">
                          <a:solidFill>
                            <a:srgbClr val="B54A08"/>
                          </a:solidFill>
                          <a:latin typeface="Calibri"/>
                          <a:ea typeface="Calibri"/>
                          <a:cs typeface="Calibri"/>
                          <a:sym typeface="Calibri"/>
                        </a:rPr>
                        <a:t>Trung bình</a:t>
                      </a:r>
                      <a:endParaRPr/>
                    </a:p>
                  </a:txBody>
                  <a:tcPr marT="41150" marB="41150" marR="73150" marL="100575" anchor="ctr">
                    <a:solidFill>
                      <a:srgbClr val="FFF6E8"/>
                    </a:solidFill>
                  </a:tcPr>
                </a:tc>
                <a:tc>
                  <a:txBody>
                    <a:bodyPr/>
                    <a:lstStyle/>
                    <a:p>
                      <a:pPr indent="0" lvl="0" marL="0" marR="0" rtl="0" algn="l">
                        <a:lnSpc>
                          <a:spcPct val="105000"/>
                        </a:lnSpc>
                        <a:spcBef>
                          <a:spcPts val="0"/>
                        </a:spcBef>
                        <a:spcAft>
                          <a:spcPts val="0"/>
                        </a:spcAft>
                        <a:buNone/>
                      </a:pPr>
                      <a:r>
                        <a:rPr b="1" lang="en-US" sz="1019" u="none" cap="none" strike="noStrike">
                          <a:solidFill>
                            <a:srgbClr val="B54A08"/>
                          </a:solidFill>
                          <a:latin typeface="Calibri"/>
                          <a:ea typeface="Calibri"/>
                          <a:cs typeface="Calibri"/>
                          <a:sym typeface="Calibri"/>
                        </a:rPr>
                        <a:t>Trung bình</a:t>
                      </a:r>
                      <a:endParaRPr/>
                    </a:p>
                  </a:txBody>
                  <a:tcPr marT="41150" marB="41150" marR="73150" marL="100575" anchor="ctr">
                    <a:solidFill>
                      <a:srgbClr val="FFF6E8"/>
                    </a:solidFill>
                  </a:tcPr>
                </a:tc>
                <a:tc>
                  <a:txBody>
                    <a:bodyPr/>
                    <a:lstStyle/>
                    <a:p>
                      <a:pPr indent="0" lvl="0" marL="0" marR="0" rtl="0" algn="l">
                        <a:lnSpc>
                          <a:spcPct val="105000"/>
                        </a:lnSpc>
                        <a:spcBef>
                          <a:spcPts val="0"/>
                        </a:spcBef>
                        <a:spcAft>
                          <a:spcPts val="0"/>
                        </a:spcAft>
                        <a:buNone/>
                      </a:pPr>
                      <a:r>
                        <a:rPr b="1" lang="en-US" sz="1019" u="none" cap="none" strike="noStrike">
                          <a:solidFill>
                            <a:srgbClr val="B54A08"/>
                          </a:solidFill>
                          <a:latin typeface="Calibri"/>
                          <a:ea typeface="Calibri"/>
                          <a:cs typeface="Calibri"/>
                          <a:sym typeface="Calibri"/>
                        </a:rPr>
                        <a:t>Trung bình</a:t>
                      </a:r>
                      <a:endParaRPr/>
                    </a:p>
                  </a:txBody>
                  <a:tcPr marT="41150" marB="41150" marR="73150" marL="100575" anchor="ctr">
                    <a:solidFill>
                      <a:srgbClr val="FFF6E8"/>
                    </a:solidFill>
                  </a:tcPr>
                </a:tc>
                <a:tc>
                  <a:txBody>
                    <a:bodyPr/>
                    <a:lstStyle/>
                    <a:p>
                      <a:pPr indent="0" lvl="0" marL="0" marR="0" rtl="0" algn="l">
                        <a:lnSpc>
                          <a:spcPct val="105000"/>
                        </a:lnSpc>
                        <a:spcBef>
                          <a:spcPts val="0"/>
                        </a:spcBef>
                        <a:spcAft>
                          <a:spcPts val="0"/>
                        </a:spcAft>
                        <a:buNone/>
                      </a:pPr>
                      <a:r>
                        <a:rPr b="1" lang="en-US" sz="1019" u="none" cap="none" strike="noStrike">
                          <a:solidFill>
                            <a:srgbClr val="006B5C"/>
                          </a:solidFill>
                          <a:latin typeface="Calibri"/>
                          <a:ea typeface="Calibri"/>
                          <a:cs typeface="Calibri"/>
                          <a:sym typeface="Calibri"/>
                        </a:rPr>
                        <a:t>Cao</a:t>
                      </a:r>
                      <a:endParaRPr/>
                    </a:p>
                  </a:txBody>
                  <a:tcPr marT="41150" marB="41150" marR="73150" marL="100575" anchor="ctr">
                    <a:solidFill>
                      <a:srgbClr val="E7F7F3"/>
                    </a:solidFill>
                  </a:tcPr>
                </a:tc>
                <a:tc>
                  <a:txBody>
                    <a:bodyPr/>
                    <a:lstStyle/>
                    <a:p>
                      <a:pPr indent="0" lvl="0" marL="0" marR="0" rtl="0" algn="l">
                        <a:lnSpc>
                          <a:spcPct val="105000"/>
                        </a:lnSpc>
                        <a:spcBef>
                          <a:spcPts val="0"/>
                        </a:spcBef>
                        <a:spcAft>
                          <a:spcPts val="0"/>
                        </a:spcAft>
                        <a:buNone/>
                      </a:pPr>
                      <a:r>
                        <a:rPr b="1" lang="en-US" sz="1019" u="none" cap="none" strike="noStrike">
                          <a:solidFill>
                            <a:srgbClr val="B54A08"/>
                          </a:solidFill>
                          <a:latin typeface="Calibri"/>
                          <a:ea typeface="Calibri"/>
                          <a:cs typeface="Calibri"/>
                          <a:sym typeface="Calibri"/>
                        </a:rPr>
                        <a:t>Trung bình</a:t>
                      </a:r>
                      <a:endParaRPr/>
                    </a:p>
                  </a:txBody>
                  <a:tcPr marT="41150" marB="41150" marR="73150" marL="100575" anchor="ctr">
                    <a:solidFill>
                      <a:srgbClr val="FFF6E8"/>
                    </a:solidFill>
                  </a:tcPr>
                </a:tc>
              </a:tr>
              <a:tr h="420625">
                <a:tc>
                  <a:txBody>
                    <a:bodyPr/>
                    <a:lstStyle/>
                    <a:p>
                      <a:pPr indent="0" lvl="0" marL="0" marR="0" rtl="0" algn="ctr">
                        <a:lnSpc>
                          <a:spcPct val="105000"/>
                        </a:lnSpc>
                        <a:spcBef>
                          <a:spcPts val="0"/>
                        </a:spcBef>
                        <a:spcAft>
                          <a:spcPts val="0"/>
                        </a:spcAft>
                        <a:buNone/>
                      </a:pPr>
                      <a:r>
                        <a:rPr b="1" lang="en-US" sz="1019" u="none" cap="none" strike="noStrike">
                          <a:solidFill>
                            <a:srgbClr val="2B3440"/>
                          </a:solidFill>
                          <a:latin typeface="Calibri"/>
                          <a:ea typeface="Calibri"/>
                          <a:cs typeface="Calibri"/>
                          <a:sym typeface="Calibri"/>
                        </a:rPr>
                        <a:t>C03  Service Order Management</a:t>
                      </a:r>
                      <a:endParaRPr/>
                    </a:p>
                  </a:txBody>
                  <a:tcPr marT="41150" marB="41150" marR="73150" marL="100575" anchor="ctr">
                    <a:solidFill>
                      <a:srgbClr val="E3F0F9"/>
                    </a:solidFill>
                  </a:tcPr>
                </a:tc>
                <a:tc>
                  <a:txBody>
                    <a:bodyPr/>
                    <a:lstStyle/>
                    <a:p>
                      <a:pPr indent="0" lvl="0" marL="0" marR="0" rtl="0" algn="l">
                        <a:lnSpc>
                          <a:spcPct val="105000"/>
                        </a:lnSpc>
                        <a:spcBef>
                          <a:spcPts val="0"/>
                        </a:spcBef>
                        <a:spcAft>
                          <a:spcPts val="0"/>
                        </a:spcAft>
                        <a:buNone/>
                      </a:pPr>
                      <a:r>
                        <a:rPr b="1" lang="en-US" sz="1019" u="none" cap="none" strike="noStrike">
                          <a:solidFill>
                            <a:srgbClr val="006B5C"/>
                          </a:solidFill>
                          <a:latin typeface="Calibri"/>
                          <a:ea typeface="Calibri"/>
                          <a:cs typeface="Calibri"/>
                          <a:sym typeface="Calibri"/>
                        </a:rPr>
                        <a:t>Cao</a:t>
                      </a:r>
                      <a:endParaRPr/>
                    </a:p>
                  </a:txBody>
                  <a:tcPr marT="41150" marB="41150" marR="73150" marL="100575" anchor="ctr">
                    <a:solidFill>
                      <a:srgbClr val="E7F7F3"/>
                    </a:solidFill>
                  </a:tcPr>
                </a:tc>
                <a:tc>
                  <a:txBody>
                    <a:bodyPr/>
                    <a:lstStyle/>
                    <a:p>
                      <a:pPr indent="0" lvl="0" marL="0" marR="0" rtl="0" algn="l">
                        <a:lnSpc>
                          <a:spcPct val="105000"/>
                        </a:lnSpc>
                        <a:spcBef>
                          <a:spcPts val="0"/>
                        </a:spcBef>
                        <a:spcAft>
                          <a:spcPts val="0"/>
                        </a:spcAft>
                        <a:buNone/>
                      </a:pPr>
                      <a:r>
                        <a:rPr b="1" lang="en-US" sz="1019" u="none" cap="none" strike="noStrike">
                          <a:solidFill>
                            <a:srgbClr val="006B5C"/>
                          </a:solidFill>
                          <a:latin typeface="Calibri"/>
                          <a:ea typeface="Calibri"/>
                          <a:cs typeface="Calibri"/>
                          <a:sym typeface="Calibri"/>
                        </a:rPr>
                        <a:t>Cao</a:t>
                      </a:r>
                      <a:endParaRPr/>
                    </a:p>
                  </a:txBody>
                  <a:tcPr marT="41150" marB="41150" marR="73150" marL="100575" anchor="ctr">
                    <a:solidFill>
                      <a:srgbClr val="E7F7F3"/>
                    </a:solidFill>
                  </a:tcPr>
                </a:tc>
                <a:tc>
                  <a:txBody>
                    <a:bodyPr/>
                    <a:lstStyle/>
                    <a:p>
                      <a:pPr indent="0" lvl="0" marL="0" marR="0" rtl="0" algn="l">
                        <a:lnSpc>
                          <a:spcPct val="105000"/>
                        </a:lnSpc>
                        <a:spcBef>
                          <a:spcPts val="0"/>
                        </a:spcBef>
                        <a:spcAft>
                          <a:spcPts val="0"/>
                        </a:spcAft>
                        <a:buNone/>
                      </a:pPr>
                      <a:r>
                        <a:rPr b="1" lang="en-US" sz="1019" u="none" cap="none" strike="noStrike">
                          <a:solidFill>
                            <a:srgbClr val="006B5C"/>
                          </a:solidFill>
                          <a:latin typeface="Calibri"/>
                          <a:ea typeface="Calibri"/>
                          <a:cs typeface="Calibri"/>
                          <a:sym typeface="Calibri"/>
                        </a:rPr>
                        <a:t>Cao</a:t>
                      </a:r>
                      <a:endParaRPr/>
                    </a:p>
                  </a:txBody>
                  <a:tcPr marT="41150" marB="41150" marR="73150" marL="100575" anchor="ctr">
                    <a:solidFill>
                      <a:srgbClr val="E7F7F3"/>
                    </a:solidFill>
                  </a:tcPr>
                </a:tc>
                <a:tc>
                  <a:txBody>
                    <a:bodyPr/>
                    <a:lstStyle/>
                    <a:p>
                      <a:pPr indent="0" lvl="0" marL="0" marR="0" rtl="0" algn="l">
                        <a:lnSpc>
                          <a:spcPct val="105000"/>
                        </a:lnSpc>
                        <a:spcBef>
                          <a:spcPts val="0"/>
                        </a:spcBef>
                        <a:spcAft>
                          <a:spcPts val="0"/>
                        </a:spcAft>
                        <a:buNone/>
                      </a:pPr>
                      <a:r>
                        <a:rPr b="1" lang="en-US" sz="1019" u="none" cap="none" strike="noStrike">
                          <a:solidFill>
                            <a:srgbClr val="006B5C"/>
                          </a:solidFill>
                          <a:latin typeface="Calibri"/>
                          <a:ea typeface="Calibri"/>
                          <a:cs typeface="Calibri"/>
                          <a:sym typeface="Calibri"/>
                        </a:rPr>
                        <a:t>Cao</a:t>
                      </a:r>
                      <a:endParaRPr/>
                    </a:p>
                  </a:txBody>
                  <a:tcPr marT="41150" marB="41150" marR="73150" marL="100575" anchor="ctr">
                    <a:solidFill>
                      <a:srgbClr val="E7F7F3"/>
                    </a:solidFill>
                  </a:tcPr>
                </a:tc>
                <a:tc>
                  <a:txBody>
                    <a:bodyPr/>
                    <a:lstStyle/>
                    <a:p>
                      <a:pPr indent="0" lvl="0" marL="0" marR="0" rtl="0" algn="l">
                        <a:lnSpc>
                          <a:spcPct val="105000"/>
                        </a:lnSpc>
                        <a:spcBef>
                          <a:spcPts val="0"/>
                        </a:spcBef>
                        <a:spcAft>
                          <a:spcPts val="0"/>
                        </a:spcAft>
                        <a:buNone/>
                      </a:pPr>
                      <a:r>
                        <a:rPr b="1" lang="en-US" sz="1019" u="none" cap="none" strike="noStrike">
                          <a:solidFill>
                            <a:srgbClr val="006B5C"/>
                          </a:solidFill>
                          <a:latin typeface="Calibri"/>
                          <a:ea typeface="Calibri"/>
                          <a:cs typeface="Calibri"/>
                          <a:sym typeface="Calibri"/>
                        </a:rPr>
                        <a:t>Cao</a:t>
                      </a:r>
                      <a:endParaRPr/>
                    </a:p>
                  </a:txBody>
                  <a:tcPr marT="41150" marB="41150" marR="73150" marL="100575" anchor="ctr">
                    <a:solidFill>
                      <a:srgbClr val="E7F7F3"/>
                    </a:solidFill>
                  </a:tcPr>
                </a:tc>
              </a:tr>
              <a:tr h="420625">
                <a:tc>
                  <a:txBody>
                    <a:bodyPr/>
                    <a:lstStyle/>
                    <a:p>
                      <a:pPr indent="0" lvl="0" marL="0" marR="0" rtl="0" algn="ctr">
                        <a:lnSpc>
                          <a:spcPct val="105000"/>
                        </a:lnSpc>
                        <a:spcBef>
                          <a:spcPts val="0"/>
                        </a:spcBef>
                        <a:spcAft>
                          <a:spcPts val="0"/>
                        </a:spcAft>
                        <a:buNone/>
                      </a:pPr>
                      <a:r>
                        <a:rPr b="1" lang="en-US" sz="1019" u="none" cap="none" strike="noStrike">
                          <a:solidFill>
                            <a:srgbClr val="2B3440"/>
                          </a:solidFill>
                          <a:latin typeface="Calibri"/>
                          <a:ea typeface="Calibri"/>
                          <a:cs typeface="Calibri"/>
                          <a:sym typeface="Calibri"/>
                        </a:rPr>
                        <a:t>S01  Procurement Management</a:t>
                      </a:r>
                      <a:endParaRPr/>
                    </a:p>
                  </a:txBody>
                  <a:tcPr marT="41150" marB="41150" marR="73150" marL="100575" anchor="ctr">
                    <a:solidFill>
                      <a:srgbClr val="E3F0F9"/>
                    </a:solidFill>
                  </a:tcPr>
                </a:tc>
                <a:tc>
                  <a:txBody>
                    <a:bodyPr/>
                    <a:lstStyle/>
                    <a:p>
                      <a:pPr indent="0" lvl="0" marL="0" marR="0" rtl="0" algn="l">
                        <a:lnSpc>
                          <a:spcPct val="105000"/>
                        </a:lnSpc>
                        <a:spcBef>
                          <a:spcPts val="0"/>
                        </a:spcBef>
                        <a:spcAft>
                          <a:spcPts val="0"/>
                        </a:spcAft>
                        <a:buNone/>
                      </a:pPr>
                      <a:r>
                        <a:rPr b="1" lang="en-US" sz="1019" u="none" cap="none" strike="noStrike">
                          <a:solidFill>
                            <a:srgbClr val="006B5C"/>
                          </a:solidFill>
                          <a:latin typeface="Calibri"/>
                          <a:ea typeface="Calibri"/>
                          <a:cs typeface="Calibri"/>
                          <a:sym typeface="Calibri"/>
                        </a:rPr>
                        <a:t>Cao</a:t>
                      </a:r>
                      <a:endParaRPr/>
                    </a:p>
                  </a:txBody>
                  <a:tcPr marT="41150" marB="41150" marR="73150" marL="100575" anchor="ctr">
                    <a:solidFill>
                      <a:srgbClr val="E7F7F3"/>
                    </a:solidFill>
                  </a:tcPr>
                </a:tc>
                <a:tc>
                  <a:txBody>
                    <a:bodyPr/>
                    <a:lstStyle/>
                    <a:p>
                      <a:pPr indent="0" lvl="0" marL="0" marR="0" rtl="0" algn="l">
                        <a:lnSpc>
                          <a:spcPct val="105000"/>
                        </a:lnSpc>
                        <a:spcBef>
                          <a:spcPts val="0"/>
                        </a:spcBef>
                        <a:spcAft>
                          <a:spcPts val="0"/>
                        </a:spcAft>
                        <a:buNone/>
                      </a:pPr>
                      <a:r>
                        <a:rPr b="1" lang="en-US" sz="1019" u="none" cap="none" strike="noStrike">
                          <a:solidFill>
                            <a:srgbClr val="006B5C"/>
                          </a:solidFill>
                          <a:latin typeface="Calibri"/>
                          <a:ea typeface="Calibri"/>
                          <a:cs typeface="Calibri"/>
                          <a:sym typeface="Calibri"/>
                        </a:rPr>
                        <a:t>Cao</a:t>
                      </a:r>
                      <a:endParaRPr/>
                    </a:p>
                  </a:txBody>
                  <a:tcPr marT="41150" marB="41150" marR="73150" marL="100575" anchor="ctr">
                    <a:solidFill>
                      <a:srgbClr val="E7F7F3"/>
                    </a:solidFill>
                  </a:tcPr>
                </a:tc>
                <a:tc>
                  <a:txBody>
                    <a:bodyPr/>
                    <a:lstStyle/>
                    <a:p>
                      <a:pPr indent="0" lvl="0" marL="0" marR="0" rtl="0" algn="l">
                        <a:lnSpc>
                          <a:spcPct val="105000"/>
                        </a:lnSpc>
                        <a:spcBef>
                          <a:spcPts val="0"/>
                        </a:spcBef>
                        <a:spcAft>
                          <a:spcPts val="0"/>
                        </a:spcAft>
                        <a:buNone/>
                      </a:pPr>
                      <a:r>
                        <a:rPr b="1" lang="en-US" sz="1019" u="none" cap="none" strike="noStrike">
                          <a:solidFill>
                            <a:srgbClr val="006B5C"/>
                          </a:solidFill>
                          <a:latin typeface="Calibri"/>
                          <a:ea typeface="Calibri"/>
                          <a:cs typeface="Calibri"/>
                          <a:sym typeface="Calibri"/>
                        </a:rPr>
                        <a:t>Cao</a:t>
                      </a:r>
                      <a:endParaRPr/>
                    </a:p>
                  </a:txBody>
                  <a:tcPr marT="41150" marB="41150" marR="73150" marL="100575" anchor="ctr">
                    <a:solidFill>
                      <a:srgbClr val="E7F7F3"/>
                    </a:solidFill>
                  </a:tcPr>
                </a:tc>
                <a:tc>
                  <a:txBody>
                    <a:bodyPr/>
                    <a:lstStyle/>
                    <a:p>
                      <a:pPr indent="0" lvl="0" marL="0" marR="0" rtl="0" algn="l">
                        <a:lnSpc>
                          <a:spcPct val="105000"/>
                        </a:lnSpc>
                        <a:spcBef>
                          <a:spcPts val="0"/>
                        </a:spcBef>
                        <a:spcAft>
                          <a:spcPts val="0"/>
                        </a:spcAft>
                        <a:buNone/>
                      </a:pPr>
                      <a:r>
                        <a:rPr b="1" lang="en-US" sz="1019" u="none" cap="none" strike="noStrike">
                          <a:solidFill>
                            <a:srgbClr val="006B5C"/>
                          </a:solidFill>
                          <a:latin typeface="Calibri"/>
                          <a:ea typeface="Calibri"/>
                          <a:cs typeface="Calibri"/>
                          <a:sym typeface="Calibri"/>
                        </a:rPr>
                        <a:t>Cao</a:t>
                      </a:r>
                      <a:endParaRPr/>
                    </a:p>
                  </a:txBody>
                  <a:tcPr marT="41150" marB="41150" marR="73150" marL="100575" anchor="ctr">
                    <a:solidFill>
                      <a:srgbClr val="E7F7F3"/>
                    </a:solidFill>
                  </a:tcPr>
                </a:tc>
                <a:tc>
                  <a:txBody>
                    <a:bodyPr/>
                    <a:lstStyle/>
                    <a:p>
                      <a:pPr indent="0" lvl="0" marL="0" marR="0" rtl="0" algn="l">
                        <a:lnSpc>
                          <a:spcPct val="105000"/>
                        </a:lnSpc>
                        <a:spcBef>
                          <a:spcPts val="0"/>
                        </a:spcBef>
                        <a:spcAft>
                          <a:spcPts val="0"/>
                        </a:spcAft>
                        <a:buNone/>
                      </a:pPr>
                      <a:r>
                        <a:rPr b="1" lang="en-US" sz="1019" u="none" cap="none" strike="noStrike">
                          <a:solidFill>
                            <a:srgbClr val="006B5C"/>
                          </a:solidFill>
                          <a:latin typeface="Calibri"/>
                          <a:ea typeface="Calibri"/>
                          <a:cs typeface="Calibri"/>
                          <a:sym typeface="Calibri"/>
                        </a:rPr>
                        <a:t>Cao</a:t>
                      </a:r>
                      <a:endParaRPr/>
                    </a:p>
                  </a:txBody>
                  <a:tcPr marT="41150" marB="41150" marR="73150" marL="100575" anchor="ctr">
                    <a:solidFill>
                      <a:srgbClr val="E7F7F3"/>
                    </a:solidFill>
                  </a:tcPr>
                </a:tc>
              </a:tr>
              <a:tr h="420625">
                <a:tc>
                  <a:txBody>
                    <a:bodyPr/>
                    <a:lstStyle/>
                    <a:p>
                      <a:pPr indent="0" lvl="0" marL="0" marR="0" rtl="0" algn="ctr">
                        <a:lnSpc>
                          <a:spcPct val="105000"/>
                        </a:lnSpc>
                        <a:spcBef>
                          <a:spcPts val="0"/>
                        </a:spcBef>
                        <a:spcAft>
                          <a:spcPts val="0"/>
                        </a:spcAft>
                        <a:buNone/>
                      </a:pPr>
                      <a:r>
                        <a:rPr b="1" lang="en-US" sz="1019" u="none" cap="none" strike="noStrike">
                          <a:solidFill>
                            <a:srgbClr val="2B3440"/>
                          </a:solidFill>
                          <a:latin typeface="Calibri"/>
                          <a:ea typeface="Calibri"/>
                          <a:cs typeface="Calibri"/>
                          <a:sym typeface="Calibri"/>
                        </a:rPr>
                        <a:t>S02  Inbound Processing</a:t>
                      </a:r>
                      <a:endParaRPr/>
                    </a:p>
                  </a:txBody>
                  <a:tcPr marT="41150" marB="41150" marR="73150" marL="100575" anchor="ctr">
                    <a:solidFill>
                      <a:srgbClr val="F4F7FA"/>
                    </a:solidFill>
                  </a:tcPr>
                </a:tc>
                <a:tc>
                  <a:txBody>
                    <a:bodyPr/>
                    <a:lstStyle/>
                    <a:p>
                      <a:pPr indent="0" lvl="0" marL="0" marR="0" rtl="0" algn="l">
                        <a:lnSpc>
                          <a:spcPct val="105000"/>
                        </a:lnSpc>
                        <a:spcBef>
                          <a:spcPts val="0"/>
                        </a:spcBef>
                        <a:spcAft>
                          <a:spcPts val="0"/>
                        </a:spcAft>
                        <a:buNone/>
                      </a:pPr>
                      <a:r>
                        <a:rPr b="1" lang="en-US" sz="1019" u="none" cap="none" strike="noStrike">
                          <a:solidFill>
                            <a:srgbClr val="B54A08"/>
                          </a:solidFill>
                          <a:latin typeface="Calibri"/>
                          <a:ea typeface="Calibri"/>
                          <a:cs typeface="Calibri"/>
                          <a:sym typeface="Calibri"/>
                        </a:rPr>
                        <a:t>Trung bình</a:t>
                      </a:r>
                      <a:endParaRPr/>
                    </a:p>
                  </a:txBody>
                  <a:tcPr marT="41150" marB="41150" marR="73150" marL="100575" anchor="ctr">
                    <a:solidFill>
                      <a:srgbClr val="FFF6E8"/>
                    </a:solidFill>
                  </a:tcPr>
                </a:tc>
                <a:tc>
                  <a:txBody>
                    <a:bodyPr/>
                    <a:lstStyle/>
                    <a:p>
                      <a:pPr indent="0" lvl="0" marL="0" marR="0" rtl="0" algn="l">
                        <a:lnSpc>
                          <a:spcPct val="105000"/>
                        </a:lnSpc>
                        <a:spcBef>
                          <a:spcPts val="0"/>
                        </a:spcBef>
                        <a:spcAft>
                          <a:spcPts val="0"/>
                        </a:spcAft>
                        <a:buNone/>
                      </a:pPr>
                      <a:r>
                        <a:rPr b="1" lang="en-US" sz="1019" u="none" cap="none" strike="noStrike">
                          <a:solidFill>
                            <a:srgbClr val="B54A08"/>
                          </a:solidFill>
                          <a:latin typeface="Calibri"/>
                          <a:ea typeface="Calibri"/>
                          <a:cs typeface="Calibri"/>
                          <a:sym typeface="Calibri"/>
                        </a:rPr>
                        <a:t>Trung bình</a:t>
                      </a:r>
                      <a:endParaRPr/>
                    </a:p>
                  </a:txBody>
                  <a:tcPr marT="41150" marB="41150" marR="73150" marL="100575" anchor="ctr">
                    <a:solidFill>
                      <a:srgbClr val="FFF6E8"/>
                    </a:solidFill>
                  </a:tcPr>
                </a:tc>
                <a:tc>
                  <a:txBody>
                    <a:bodyPr/>
                    <a:lstStyle/>
                    <a:p>
                      <a:pPr indent="0" lvl="0" marL="0" marR="0" rtl="0" algn="l">
                        <a:lnSpc>
                          <a:spcPct val="105000"/>
                        </a:lnSpc>
                        <a:spcBef>
                          <a:spcPts val="0"/>
                        </a:spcBef>
                        <a:spcAft>
                          <a:spcPts val="0"/>
                        </a:spcAft>
                        <a:buNone/>
                      </a:pPr>
                      <a:r>
                        <a:rPr b="1" lang="en-US" sz="1019" u="none" cap="none" strike="noStrike">
                          <a:solidFill>
                            <a:srgbClr val="B54A08"/>
                          </a:solidFill>
                          <a:latin typeface="Calibri"/>
                          <a:ea typeface="Calibri"/>
                          <a:cs typeface="Calibri"/>
                          <a:sym typeface="Calibri"/>
                        </a:rPr>
                        <a:t>Trung bình</a:t>
                      </a:r>
                      <a:endParaRPr/>
                    </a:p>
                  </a:txBody>
                  <a:tcPr marT="41150" marB="41150" marR="73150" marL="100575" anchor="ctr">
                    <a:solidFill>
                      <a:srgbClr val="FFF6E8"/>
                    </a:solidFill>
                  </a:tcPr>
                </a:tc>
                <a:tc>
                  <a:txBody>
                    <a:bodyPr/>
                    <a:lstStyle/>
                    <a:p>
                      <a:pPr indent="0" lvl="0" marL="0" marR="0" rtl="0" algn="l">
                        <a:lnSpc>
                          <a:spcPct val="105000"/>
                        </a:lnSpc>
                        <a:spcBef>
                          <a:spcPts val="0"/>
                        </a:spcBef>
                        <a:spcAft>
                          <a:spcPts val="0"/>
                        </a:spcAft>
                        <a:buNone/>
                      </a:pPr>
                      <a:r>
                        <a:rPr b="1" lang="en-US" sz="1019" u="none" cap="none" strike="noStrike">
                          <a:solidFill>
                            <a:srgbClr val="006B5C"/>
                          </a:solidFill>
                          <a:latin typeface="Calibri"/>
                          <a:ea typeface="Calibri"/>
                          <a:cs typeface="Calibri"/>
                          <a:sym typeface="Calibri"/>
                        </a:rPr>
                        <a:t>Cao</a:t>
                      </a:r>
                      <a:endParaRPr/>
                    </a:p>
                  </a:txBody>
                  <a:tcPr marT="41150" marB="41150" marR="73150" marL="100575" anchor="ctr">
                    <a:solidFill>
                      <a:srgbClr val="E7F7F3"/>
                    </a:solidFill>
                  </a:tcPr>
                </a:tc>
                <a:tc>
                  <a:txBody>
                    <a:bodyPr/>
                    <a:lstStyle/>
                    <a:p>
                      <a:pPr indent="0" lvl="0" marL="0" marR="0" rtl="0" algn="l">
                        <a:lnSpc>
                          <a:spcPct val="105000"/>
                        </a:lnSpc>
                        <a:spcBef>
                          <a:spcPts val="0"/>
                        </a:spcBef>
                        <a:spcAft>
                          <a:spcPts val="0"/>
                        </a:spcAft>
                        <a:buNone/>
                      </a:pPr>
                      <a:r>
                        <a:rPr b="1" lang="en-US" sz="1019" u="none" cap="none" strike="noStrike">
                          <a:solidFill>
                            <a:srgbClr val="B54A08"/>
                          </a:solidFill>
                          <a:latin typeface="Calibri"/>
                          <a:ea typeface="Calibri"/>
                          <a:cs typeface="Calibri"/>
                          <a:sym typeface="Calibri"/>
                        </a:rPr>
                        <a:t>Trung bình</a:t>
                      </a:r>
                      <a:endParaRPr b="1" sz="1019" u="none" cap="none" strike="noStrike">
                        <a:solidFill>
                          <a:srgbClr val="B54A08"/>
                        </a:solidFill>
                        <a:latin typeface="Calibri"/>
                        <a:ea typeface="Calibri"/>
                        <a:cs typeface="Calibri"/>
                        <a:sym typeface="Calibri"/>
                      </a:endParaRPr>
                    </a:p>
                  </a:txBody>
                  <a:tcPr marT="41150" marB="41150" marR="73150" marL="100575" anchor="ctr">
                    <a:solidFill>
                      <a:srgbClr val="FFF6E8"/>
                    </a:solidFill>
                  </a:tcPr>
                </a:tc>
              </a:tr>
            </a:tbl>
          </a:graphicData>
        </a:graphic>
      </p:graphicFrame>
      <p:sp>
        <p:nvSpPr>
          <p:cNvPr id="500" name="Google Shape;500;p32"/>
          <p:cNvSpPr/>
          <p:nvPr/>
        </p:nvSpPr>
        <p:spPr>
          <a:xfrm>
            <a:off x="521207" y="3694176"/>
            <a:ext cx="64008" cy="420624"/>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501" name="Google Shape;501;p32"/>
          <p:cNvSpPr/>
          <p:nvPr/>
        </p:nvSpPr>
        <p:spPr>
          <a:xfrm>
            <a:off x="521207" y="4114800"/>
            <a:ext cx="64008" cy="420624"/>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502" name="Google Shape;502;p32"/>
          <p:cNvSpPr/>
          <p:nvPr/>
        </p:nvSpPr>
        <p:spPr>
          <a:xfrm>
            <a:off x="658368" y="5047488"/>
            <a:ext cx="256032" cy="219456"/>
          </a:xfrm>
          <a:prstGeom prst="rect">
            <a:avLst/>
          </a:prstGeom>
          <a:solidFill>
            <a:srgbClr val="E7F7F3"/>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503" name="Google Shape;503;p32"/>
          <p:cNvSpPr txBox="1"/>
          <p:nvPr/>
        </p:nvSpPr>
        <p:spPr>
          <a:xfrm>
            <a:off x="1005840" y="5047488"/>
            <a:ext cx="1005840" cy="219456"/>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400">
                <a:solidFill>
                  <a:srgbClr val="006B5C"/>
                </a:solidFill>
                <a:latin typeface="Calibri"/>
                <a:ea typeface="Calibri"/>
                <a:cs typeface="Calibri"/>
                <a:sym typeface="Calibri"/>
              </a:rPr>
              <a:t>Cao</a:t>
            </a:r>
            <a:endParaRPr/>
          </a:p>
        </p:txBody>
      </p:sp>
      <p:sp>
        <p:nvSpPr>
          <p:cNvPr id="504" name="Google Shape;504;p32"/>
          <p:cNvSpPr/>
          <p:nvPr/>
        </p:nvSpPr>
        <p:spPr>
          <a:xfrm>
            <a:off x="2075688" y="5047488"/>
            <a:ext cx="256032" cy="219456"/>
          </a:xfrm>
          <a:prstGeom prst="rect">
            <a:avLst/>
          </a:prstGeom>
          <a:solidFill>
            <a:srgbClr val="FFF6E8"/>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505" name="Google Shape;505;p32"/>
          <p:cNvSpPr txBox="1"/>
          <p:nvPr/>
        </p:nvSpPr>
        <p:spPr>
          <a:xfrm>
            <a:off x="2423160" y="5047488"/>
            <a:ext cx="1005840" cy="219456"/>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400">
                <a:solidFill>
                  <a:srgbClr val="B54A08"/>
                </a:solidFill>
                <a:latin typeface="Calibri"/>
                <a:ea typeface="Calibri"/>
                <a:cs typeface="Calibri"/>
                <a:sym typeface="Calibri"/>
              </a:rPr>
              <a:t>Trung bình</a:t>
            </a:r>
            <a:endParaRPr/>
          </a:p>
        </p:txBody>
      </p:sp>
      <p:sp>
        <p:nvSpPr>
          <p:cNvPr id="506" name="Google Shape;506;p32"/>
          <p:cNvSpPr/>
          <p:nvPr/>
        </p:nvSpPr>
        <p:spPr>
          <a:xfrm>
            <a:off x="3493008" y="5047488"/>
            <a:ext cx="256032" cy="219456"/>
          </a:xfrm>
          <a:prstGeom prst="rect">
            <a:avLst/>
          </a:prstGeom>
          <a:solidFill>
            <a:srgbClr val="FEF3F2"/>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507" name="Google Shape;507;p32"/>
          <p:cNvSpPr txBox="1"/>
          <p:nvPr/>
        </p:nvSpPr>
        <p:spPr>
          <a:xfrm>
            <a:off x="3840480" y="5047488"/>
            <a:ext cx="1005840" cy="219456"/>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400">
                <a:solidFill>
                  <a:srgbClr val="D92D20"/>
                </a:solidFill>
                <a:latin typeface="Calibri"/>
                <a:ea typeface="Calibri"/>
                <a:cs typeface="Calibri"/>
                <a:sym typeface="Calibri"/>
              </a:rPr>
              <a:t>Thấp</a:t>
            </a:r>
            <a:endParaRPr/>
          </a:p>
        </p:txBody>
      </p:sp>
      <p:sp>
        <p:nvSpPr>
          <p:cNvPr id="508" name="Google Shape;508;p32"/>
          <p:cNvSpPr txBox="1"/>
          <p:nvPr/>
        </p:nvSpPr>
        <p:spPr>
          <a:xfrm>
            <a:off x="5230368" y="5047488"/>
            <a:ext cx="6302959" cy="219456"/>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400">
                <a:solidFill>
                  <a:srgbClr val="0A2540"/>
                </a:solidFill>
                <a:latin typeface="Calibri"/>
                <a:ea typeface="Calibri"/>
                <a:cs typeface="Calibri"/>
                <a:sym typeface="Calibri"/>
              </a:rPr>
              <a:t>▌  Hàng được tô nền xanh là 02 quy trình đạt mức Cao ở toàn bộ 05 tiêu chí</a:t>
            </a:r>
            <a:endParaRPr/>
          </a:p>
        </p:txBody>
      </p:sp>
      <p:sp>
        <p:nvSpPr>
          <p:cNvPr id="509" name="Google Shape;509;p32"/>
          <p:cNvSpPr/>
          <p:nvPr/>
        </p:nvSpPr>
        <p:spPr>
          <a:xfrm>
            <a:off x="658368" y="5431536"/>
            <a:ext cx="10874959" cy="475488"/>
          </a:xfrm>
          <a:prstGeom prst="rect">
            <a:avLst/>
          </a:prstGeom>
          <a:solidFill>
            <a:srgbClr val="E9F3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510" name="Google Shape;510;p32"/>
          <p:cNvSpPr txBox="1"/>
          <p:nvPr/>
        </p:nvSpPr>
        <p:spPr>
          <a:xfrm>
            <a:off x="914400" y="5545400"/>
            <a:ext cx="10372039" cy="247760"/>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0" i="1" lang="en-US" sz="1400">
                <a:solidFill>
                  <a:srgbClr val="6B7784"/>
                </a:solidFill>
                <a:latin typeface="Calibri"/>
                <a:ea typeface="Calibri"/>
                <a:cs typeface="Calibri"/>
                <a:sym typeface="Calibri"/>
              </a:rPr>
              <a:t>Ghi chú: mức độ Cao – Trung bình – Thấp được đánh giá tương đối, dựa trên đặc điểm các quy trình đã khảo sát và mô hình hóa.</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33"/>
          <p:cNvSpPr txBox="1"/>
          <p:nvPr/>
        </p:nvSpPr>
        <p:spPr>
          <a:xfrm>
            <a:off x="658368" y="384048"/>
            <a:ext cx="108749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50">
                <a:solidFill>
                  <a:srgbClr val="0096D6"/>
                </a:solidFill>
                <a:latin typeface="Calibri"/>
                <a:ea typeface="Calibri"/>
                <a:cs typeface="Calibri"/>
                <a:sym typeface="Calibri"/>
              </a:rPr>
              <a:t>CHƯƠNG 3 · 3.4.2 ĐÁNH GIÁ VÀ KẾT QUẢ</a:t>
            </a:r>
            <a:endParaRPr/>
          </a:p>
        </p:txBody>
      </p:sp>
      <p:sp>
        <p:nvSpPr>
          <p:cNvPr id="516" name="Google Shape;516;p33"/>
          <p:cNvSpPr txBox="1"/>
          <p:nvPr/>
        </p:nvSpPr>
        <p:spPr>
          <a:xfrm>
            <a:off x="658368" y="640080"/>
            <a:ext cx="10874959" cy="603504"/>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2500">
                <a:solidFill>
                  <a:srgbClr val="0A2540"/>
                </a:solidFill>
                <a:latin typeface="Calibri"/>
                <a:ea typeface="Calibri"/>
                <a:cs typeface="Calibri"/>
                <a:sym typeface="Calibri"/>
              </a:rPr>
              <a:t>02 QUY TRÌNH ĐƯỢC CHỌN PHÂN TÍCH CHUYÊN SÂU</a:t>
            </a:r>
            <a:endParaRPr/>
          </a:p>
        </p:txBody>
      </p:sp>
      <p:sp>
        <p:nvSpPr>
          <p:cNvPr id="517" name="Google Shape;517;p33"/>
          <p:cNvSpPr/>
          <p:nvPr/>
        </p:nvSpPr>
        <p:spPr>
          <a:xfrm>
            <a:off x="658368" y="1280160"/>
            <a:ext cx="566928" cy="41148"/>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8" name="Google Shape;518;p33"/>
          <p:cNvSpPr/>
          <p:nvPr/>
        </p:nvSpPr>
        <p:spPr>
          <a:xfrm>
            <a:off x="1298448" y="1280160"/>
            <a:ext cx="10234879" cy="41148"/>
          </a:xfrm>
          <a:prstGeom prst="rect">
            <a:avLst/>
          </a:prstGeom>
          <a:solidFill>
            <a:srgbClr val="DFE4E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9" name="Google Shape;519;p33"/>
          <p:cNvSpPr txBox="1"/>
          <p:nvPr/>
        </p:nvSpPr>
        <p:spPr>
          <a:xfrm>
            <a:off x="658368" y="6355080"/>
            <a:ext cx="10326319"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850">
                <a:solidFill>
                  <a:srgbClr val="6B7784"/>
                </a:solidFill>
                <a:latin typeface="Calibri"/>
                <a:ea typeface="Calibri"/>
                <a:cs typeface="Calibri"/>
                <a:sym typeface="Calibri"/>
              </a:rPr>
              <a:t>SOLVENTUM VIỆT NAM  ·  HỆ THỐNG QUẢN TRỊ QUY TRÌNH NGHIỆP VỤ</a:t>
            </a:r>
            <a:endParaRPr/>
          </a:p>
        </p:txBody>
      </p:sp>
      <p:sp>
        <p:nvSpPr>
          <p:cNvPr id="520" name="Google Shape;520;p33"/>
          <p:cNvSpPr txBox="1"/>
          <p:nvPr/>
        </p:nvSpPr>
        <p:spPr>
          <a:xfrm>
            <a:off x="10984687" y="6355080"/>
            <a:ext cx="548640" cy="2286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1" i="0" lang="en-US" sz="950">
                <a:solidFill>
                  <a:srgbClr val="0096D6"/>
                </a:solidFill>
                <a:latin typeface="Calibri"/>
                <a:ea typeface="Calibri"/>
                <a:cs typeface="Calibri"/>
                <a:sym typeface="Calibri"/>
              </a:rPr>
              <a:t>21</a:t>
            </a:r>
            <a:endParaRPr/>
          </a:p>
        </p:txBody>
      </p:sp>
      <p:sp>
        <p:nvSpPr>
          <p:cNvPr id="521" name="Google Shape;521;p33"/>
          <p:cNvSpPr/>
          <p:nvPr/>
        </p:nvSpPr>
        <p:spPr>
          <a:xfrm>
            <a:off x="658368" y="1664208"/>
            <a:ext cx="5367528" cy="3271776"/>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522" name="Google Shape;522;p33"/>
          <p:cNvSpPr/>
          <p:nvPr/>
        </p:nvSpPr>
        <p:spPr>
          <a:xfrm>
            <a:off x="658368" y="1664208"/>
            <a:ext cx="5367528" cy="54864"/>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523" name="Google Shape;523;p33"/>
          <p:cNvSpPr/>
          <p:nvPr/>
        </p:nvSpPr>
        <p:spPr>
          <a:xfrm>
            <a:off x="914400" y="1883664"/>
            <a:ext cx="859536" cy="420624"/>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524" name="Google Shape;524;p33"/>
          <p:cNvSpPr txBox="1"/>
          <p:nvPr/>
        </p:nvSpPr>
        <p:spPr>
          <a:xfrm>
            <a:off x="914400" y="1986254"/>
            <a:ext cx="859536" cy="215444"/>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400">
                <a:solidFill>
                  <a:srgbClr val="FFFFFF"/>
                </a:solidFill>
                <a:latin typeface="Calibri"/>
                <a:ea typeface="Calibri"/>
                <a:cs typeface="Calibri"/>
                <a:sym typeface="Calibri"/>
              </a:rPr>
              <a:t>C03</a:t>
            </a:r>
            <a:endParaRPr/>
          </a:p>
        </p:txBody>
      </p:sp>
      <p:sp>
        <p:nvSpPr>
          <p:cNvPr id="525" name="Google Shape;525;p33"/>
          <p:cNvSpPr txBox="1"/>
          <p:nvPr/>
        </p:nvSpPr>
        <p:spPr>
          <a:xfrm>
            <a:off x="1901952" y="1865376"/>
            <a:ext cx="3931920" cy="467307"/>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0A2540"/>
                </a:solidFill>
                <a:latin typeface="Calibri"/>
                <a:ea typeface="Calibri"/>
                <a:cs typeface="Calibri"/>
                <a:sym typeface="Calibri"/>
              </a:rPr>
              <a:t>QUẢN LÝ DỊCH VỤ VÀ SỬA CHỮA</a:t>
            </a:r>
            <a:endParaRPr/>
          </a:p>
          <a:p>
            <a:pPr indent="0" lvl="0" marL="0" marR="0" rtl="0" algn="l">
              <a:lnSpc>
                <a:spcPct val="100000"/>
              </a:lnSpc>
              <a:spcBef>
                <a:spcPts val="200"/>
              </a:spcBef>
              <a:spcAft>
                <a:spcPts val="0"/>
              </a:spcAft>
              <a:buNone/>
            </a:pPr>
            <a:r>
              <a:rPr b="0" i="1" lang="en-US" sz="1400">
                <a:solidFill>
                  <a:srgbClr val="6B7784"/>
                </a:solidFill>
                <a:latin typeface="Calibri"/>
                <a:ea typeface="Calibri"/>
                <a:cs typeface="Calibri"/>
                <a:sym typeface="Calibri"/>
              </a:rPr>
              <a:t>Service Order Management  ·  Nhóm Cốt lõi</a:t>
            </a:r>
            <a:endParaRPr/>
          </a:p>
        </p:txBody>
      </p:sp>
      <p:sp>
        <p:nvSpPr>
          <p:cNvPr id="526" name="Google Shape;526;p33"/>
          <p:cNvSpPr txBox="1"/>
          <p:nvPr/>
        </p:nvSpPr>
        <p:spPr>
          <a:xfrm>
            <a:off x="932688" y="2615184"/>
            <a:ext cx="4846320" cy="2177647"/>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pPr>
            <a:r>
              <a:rPr b="0" i="0" lang="en-US" sz="1400">
                <a:solidFill>
                  <a:srgbClr val="2B3440"/>
                </a:solidFill>
                <a:latin typeface="Calibri"/>
                <a:ea typeface="Calibri"/>
                <a:cs typeface="Calibri"/>
                <a:sym typeface="Calibri"/>
              </a:rPr>
              <a:t>•  Nhiều điểm tương tác và chuyển giao giữa khách hàng, Service Admin và Technical Service.</a:t>
            </a:r>
            <a:endParaRPr/>
          </a:p>
          <a:p>
            <a:pPr indent="0" lvl="0" marL="0" marR="0" rtl="0" algn="l">
              <a:lnSpc>
                <a:spcPct val="124000"/>
              </a:lnSpc>
              <a:spcBef>
                <a:spcPts val="800"/>
              </a:spcBef>
              <a:spcAft>
                <a:spcPts val="0"/>
              </a:spcAft>
              <a:buNone/>
            </a:pPr>
            <a:r>
              <a:rPr b="0" i="0" lang="en-US" sz="1400">
                <a:solidFill>
                  <a:srgbClr val="2B3440"/>
                </a:solidFill>
                <a:latin typeface="Calibri"/>
                <a:ea typeface="Calibri"/>
                <a:cs typeface="Calibri"/>
                <a:sym typeface="Calibri"/>
              </a:rPr>
              <a:t>•  Chuỗi xử lý dài: tiếp nhận yêu cầu → báo giá → Service / Repair Order → hoàn tất dịch vụ.</a:t>
            </a:r>
            <a:endParaRPr/>
          </a:p>
          <a:p>
            <a:pPr indent="0" lvl="0" marL="0" marR="0" rtl="0" algn="l">
              <a:lnSpc>
                <a:spcPct val="124000"/>
              </a:lnSpc>
              <a:spcBef>
                <a:spcPts val="800"/>
              </a:spcBef>
              <a:spcAft>
                <a:spcPts val="0"/>
              </a:spcAft>
              <a:buNone/>
            </a:pPr>
            <a:r>
              <a:rPr b="0" i="0" lang="en-US" sz="1400">
                <a:solidFill>
                  <a:srgbClr val="2B3440"/>
                </a:solidFill>
                <a:latin typeface="Calibri"/>
                <a:ea typeface="Calibri"/>
                <a:cs typeface="Calibri"/>
                <a:sym typeface="Calibri"/>
              </a:rPr>
              <a:t>•  Đo lường được thời gian phản hồi, thời gian sửa chữa và chi phí dịch vụ.</a:t>
            </a:r>
            <a:endParaRPr/>
          </a:p>
          <a:p>
            <a:pPr indent="0" lvl="0" marL="0" marR="0" rtl="0" algn="l">
              <a:lnSpc>
                <a:spcPct val="124000"/>
              </a:lnSpc>
              <a:spcBef>
                <a:spcPts val="800"/>
              </a:spcBef>
              <a:spcAft>
                <a:spcPts val="0"/>
              </a:spcAft>
              <a:buNone/>
            </a:pPr>
            <a:r>
              <a:rPr b="0" i="0" lang="en-US" sz="1400">
                <a:solidFill>
                  <a:srgbClr val="2B3440"/>
                </a:solidFill>
                <a:latin typeface="Calibri"/>
                <a:ea typeface="Calibri"/>
                <a:cs typeface="Calibri"/>
                <a:sym typeface="Calibri"/>
              </a:rPr>
              <a:t>•  Quyết định trực tiếp uy tín sau bán hàng của doanh nghiệp.</a:t>
            </a:r>
            <a:endParaRPr/>
          </a:p>
        </p:txBody>
      </p:sp>
      <p:sp>
        <p:nvSpPr>
          <p:cNvPr id="527" name="Google Shape;527;p33"/>
          <p:cNvSpPr/>
          <p:nvPr/>
        </p:nvSpPr>
        <p:spPr>
          <a:xfrm>
            <a:off x="6199632" y="1664208"/>
            <a:ext cx="5367528" cy="3271776"/>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528" name="Google Shape;528;p33"/>
          <p:cNvSpPr/>
          <p:nvPr/>
        </p:nvSpPr>
        <p:spPr>
          <a:xfrm>
            <a:off x="6199632" y="1664208"/>
            <a:ext cx="5367528" cy="54864"/>
          </a:xfrm>
          <a:prstGeom prst="rect">
            <a:avLst/>
          </a:prstGeom>
          <a:solidFill>
            <a:srgbClr val="00C2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529" name="Google Shape;529;p33"/>
          <p:cNvSpPr/>
          <p:nvPr/>
        </p:nvSpPr>
        <p:spPr>
          <a:xfrm>
            <a:off x="6455664" y="1883664"/>
            <a:ext cx="859536" cy="420624"/>
          </a:xfrm>
          <a:prstGeom prst="rect">
            <a:avLst/>
          </a:prstGeom>
          <a:solidFill>
            <a:srgbClr val="00C2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530" name="Google Shape;530;p33"/>
          <p:cNvSpPr txBox="1"/>
          <p:nvPr/>
        </p:nvSpPr>
        <p:spPr>
          <a:xfrm>
            <a:off x="6455664" y="1986254"/>
            <a:ext cx="859536" cy="215444"/>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400">
                <a:solidFill>
                  <a:srgbClr val="0A2540"/>
                </a:solidFill>
                <a:latin typeface="Calibri"/>
                <a:ea typeface="Calibri"/>
                <a:cs typeface="Calibri"/>
                <a:sym typeface="Calibri"/>
              </a:rPr>
              <a:t>S01</a:t>
            </a:r>
            <a:endParaRPr/>
          </a:p>
        </p:txBody>
      </p:sp>
      <p:sp>
        <p:nvSpPr>
          <p:cNvPr id="531" name="Google Shape;531;p33"/>
          <p:cNvSpPr txBox="1"/>
          <p:nvPr/>
        </p:nvSpPr>
        <p:spPr>
          <a:xfrm>
            <a:off x="7443216" y="1865376"/>
            <a:ext cx="3931920" cy="467307"/>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0A2540"/>
                </a:solidFill>
                <a:latin typeface="Calibri"/>
                <a:ea typeface="Calibri"/>
                <a:cs typeface="Calibri"/>
                <a:sym typeface="Calibri"/>
              </a:rPr>
              <a:t>QUẢN LÝ MUA HÀNG VÀ CUNG ỨNG</a:t>
            </a:r>
            <a:endParaRPr/>
          </a:p>
          <a:p>
            <a:pPr indent="0" lvl="0" marL="0" marR="0" rtl="0" algn="l">
              <a:lnSpc>
                <a:spcPct val="100000"/>
              </a:lnSpc>
              <a:spcBef>
                <a:spcPts val="200"/>
              </a:spcBef>
              <a:spcAft>
                <a:spcPts val="0"/>
              </a:spcAft>
              <a:buNone/>
            </a:pPr>
            <a:r>
              <a:rPr b="0" i="1" lang="en-US" sz="1400">
                <a:solidFill>
                  <a:srgbClr val="6B7784"/>
                </a:solidFill>
                <a:latin typeface="Calibri"/>
                <a:ea typeface="Calibri"/>
                <a:cs typeface="Calibri"/>
                <a:sym typeface="Calibri"/>
              </a:rPr>
              <a:t>Procurement Management  ·  Nhóm Hỗ trợ</a:t>
            </a:r>
            <a:endParaRPr/>
          </a:p>
        </p:txBody>
      </p:sp>
      <p:sp>
        <p:nvSpPr>
          <p:cNvPr id="532" name="Google Shape;532;p33"/>
          <p:cNvSpPr txBox="1"/>
          <p:nvPr/>
        </p:nvSpPr>
        <p:spPr>
          <a:xfrm>
            <a:off x="6473952" y="2615184"/>
            <a:ext cx="4846320" cy="2177647"/>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pPr>
            <a:r>
              <a:rPr b="0" i="0" lang="en-US" sz="1400">
                <a:solidFill>
                  <a:srgbClr val="2B3440"/>
                </a:solidFill>
                <a:latin typeface="Calibri"/>
                <a:ea typeface="Calibri"/>
                <a:cs typeface="Calibri"/>
                <a:sym typeface="Calibri"/>
              </a:rPr>
              <a:t>•  Chu trình Source-to-Pay đi qua nhiều bộ phận: Requester – Buyer – Approver – Supplier.</a:t>
            </a:r>
            <a:endParaRPr/>
          </a:p>
          <a:p>
            <a:pPr indent="0" lvl="0" marL="0" marR="0" rtl="0" algn="l">
              <a:lnSpc>
                <a:spcPct val="124000"/>
              </a:lnSpc>
              <a:spcBef>
                <a:spcPts val="800"/>
              </a:spcBef>
              <a:spcAft>
                <a:spcPts val="0"/>
              </a:spcAft>
              <a:buNone/>
            </a:pPr>
            <a:r>
              <a:rPr b="0" i="0" lang="en-US" sz="1400">
                <a:solidFill>
                  <a:srgbClr val="2B3440"/>
                </a:solidFill>
                <a:latin typeface="Calibri"/>
                <a:ea typeface="Calibri"/>
                <a:cs typeface="Calibri"/>
                <a:sym typeface="Calibri"/>
              </a:rPr>
              <a:t>•  Thường phát sinh chờ đợi ở khâu phê duyệt PR và xác nhận PO từ nhà cung cấp.</a:t>
            </a:r>
            <a:endParaRPr/>
          </a:p>
          <a:p>
            <a:pPr indent="0" lvl="0" marL="0" marR="0" rtl="0" algn="l">
              <a:lnSpc>
                <a:spcPct val="124000"/>
              </a:lnSpc>
              <a:spcBef>
                <a:spcPts val="800"/>
              </a:spcBef>
              <a:spcAft>
                <a:spcPts val="0"/>
              </a:spcAft>
              <a:buNone/>
            </a:pPr>
            <a:r>
              <a:rPr b="0" i="0" lang="en-US" sz="1400">
                <a:solidFill>
                  <a:srgbClr val="2B3440"/>
                </a:solidFill>
                <a:latin typeface="Calibri"/>
                <a:ea typeface="Calibri"/>
                <a:cs typeface="Calibri"/>
                <a:sym typeface="Calibri"/>
              </a:rPr>
              <a:t>•  Có sẵn dữ liệu định lượng: số PR/PO, lead time, tỷ lệ PR bị trả lại.</a:t>
            </a:r>
            <a:endParaRPr/>
          </a:p>
          <a:p>
            <a:pPr indent="0" lvl="0" marL="0" marR="0" rtl="0" algn="l">
              <a:lnSpc>
                <a:spcPct val="124000"/>
              </a:lnSpc>
              <a:spcBef>
                <a:spcPts val="800"/>
              </a:spcBef>
              <a:spcAft>
                <a:spcPts val="0"/>
              </a:spcAft>
              <a:buNone/>
            </a:pPr>
            <a:r>
              <a:rPr b="0" i="0" lang="en-US" sz="1400">
                <a:solidFill>
                  <a:srgbClr val="2B3440"/>
                </a:solidFill>
                <a:latin typeface="Calibri"/>
                <a:ea typeface="Calibri"/>
                <a:cs typeface="Calibri"/>
                <a:sym typeface="Calibri"/>
              </a:rPr>
              <a:t>•  Là quy trình nền cho toàn bộ chuỗi cung ứng và hoạt động nhập kho.</a:t>
            </a:r>
            <a:endParaRPr/>
          </a:p>
        </p:txBody>
      </p:sp>
      <p:sp>
        <p:nvSpPr>
          <p:cNvPr id="533" name="Google Shape;533;p33"/>
          <p:cNvSpPr/>
          <p:nvPr/>
        </p:nvSpPr>
        <p:spPr>
          <a:xfrm>
            <a:off x="658368" y="5120640"/>
            <a:ext cx="10874959" cy="950976"/>
          </a:xfrm>
          <a:prstGeom prst="rect">
            <a:avLst/>
          </a:prstGeom>
          <a:solidFill>
            <a:srgbClr val="FFF6E8"/>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534" name="Google Shape;534;p33"/>
          <p:cNvSpPr/>
          <p:nvPr/>
        </p:nvSpPr>
        <p:spPr>
          <a:xfrm>
            <a:off x="658368" y="5120640"/>
            <a:ext cx="50292" cy="950976"/>
          </a:xfrm>
          <a:prstGeom prst="rect">
            <a:avLst/>
          </a:prstGeom>
          <a:solidFill>
            <a:srgbClr val="B54A0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535" name="Google Shape;535;p33"/>
          <p:cNvSpPr txBox="1"/>
          <p:nvPr/>
        </p:nvSpPr>
        <p:spPr>
          <a:xfrm>
            <a:off x="950976" y="5178449"/>
            <a:ext cx="10280599" cy="835357"/>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400">
                <a:solidFill>
                  <a:srgbClr val="B54A08"/>
                </a:solidFill>
                <a:latin typeface="Calibri"/>
                <a:ea typeface="Calibri"/>
                <a:cs typeface="Calibri"/>
                <a:sym typeface="Calibri"/>
              </a:rPr>
              <a:t>VÌ SAO KHÔNG CHỌN M02 – CUSTOMER COMPLAINT MANAGEMENT?</a:t>
            </a:r>
            <a:endParaRPr/>
          </a:p>
          <a:p>
            <a:pPr indent="0" lvl="0" marL="0" marR="0" rtl="0" algn="l">
              <a:lnSpc>
                <a:spcPct val="126000"/>
              </a:lnSpc>
              <a:spcBef>
                <a:spcPts val="600"/>
              </a:spcBef>
              <a:spcAft>
                <a:spcPts val="0"/>
              </a:spcAft>
              <a:buNone/>
            </a:pPr>
            <a:r>
              <a:rPr b="0" i="0" lang="en-US" sz="1400">
                <a:solidFill>
                  <a:srgbClr val="2B3440"/>
                </a:solidFill>
                <a:latin typeface="Calibri"/>
                <a:ea typeface="Calibri"/>
                <a:cs typeface="Calibri"/>
                <a:sym typeface="Calibri"/>
              </a:rPr>
              <a:t>M02 đạt mức Cao ở 04/05 tiêu chí và là ứng viên sát nút. Điểm khác biệt duy nhất nằm ở tiêu chí “Khả năng phân tích định lượng” (Trung bình): dữ liệu complaint mang tính vụ việc, khó thu thập chỉ số Cycle Time – Cost – Rework đủ tin cậy cho phân tích định lượng ở Chương 4.</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2540"/>
        </a:solidFill>
      </p:bgPr>
    </p:bg>
    <p:spTree>
      <p:nvGrpSpPr>
        <p:cNvPr id="539" name="Shape 539"/>
        <p:cNvGrpSpPr/>
        <p:nvPr/>
      </p:nvGrpSpPr>
      <p:grpSpPr>
        <a:xfrm>
          <a:off x="0" y="0"/>
          <a:ext cx="0" cy="0"/>
          <a:chOff x="0" y="0"/>
          <a:chExt cx="0" cy="0"/>
        </a:xfrm>
      </p:grpSpPr>
      <p:sp>
        <p:nvSpPr>
          <p:cNvPr id="540" name="Google Shape;540;p34"/>
          <p:cNvSpPr/>
          <p:nvPr/>
        </p:nvSpPr>
        <p:spPr>
          <a:xfrm>
            <a:off x="0" y="0"/>
            <a:ext cx="182880" cy="6858000"/>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41" name="Google Shape;541;p34"/>
          <p:cNvSpPr/>
          <p:nvPr/>
        </p:nvSpPr>
        <p:spPr>
          <a:xfrm>
            <a:off x="7863840" y="0"/>
            <a:ext cx="4325112" cy="6858000"/>
          </a:xfrm>
          <a:prstGeom prst="rect">
            <a:avLst/>
          </a:prstGeom>
          <a:solidFill>
            <a:srgbClr val="143A5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42" name="Google Shape;542;p34"/>
          <p:cNvSpPr txBox="1"/>
          <p:nvPr/>
        </p:nvSpPr>
        <p:spPr>
          <a:xfrm>
            <a:off x="8229600" y="1874519"/>
            <a:ext cx="3657600" cy="2078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None/>
            </a:pPr>
            <a:r>
              <a:rPr b="1" i="0" lang="en-US" sz="15000">
                <a:solidFill>
                  <a:srgbClr val="E7F7F3"/>
                </a:solidFill>
                <a:latin typeface="Calibri"/>
                <a:ea typeface="Calibri"/>
                <a:cs typeface="Calibri"/>
                <a:sym typeface="Calibri"/>
              </a:rPr>
              <a:t>04</a:t>
            </a:r>
            <a:endParaRPr>
              <a:solidFill>
                <a:srgbClr val="E7F7F3"/>
              </a:solidFill>
            </a:endParaRPr>
          </a:p>
        </p:txBody>
      </p:sp>
      <p:sp>
        <p:nvSpPr>
          <p:cNvPr id="543" name="Google Shape;543;p34"/>
          <p:cNvSpPr txBox="1"/>
          <p:nvPr/>
        </p:nvSpPr>
        <p:spPr>
          <a:xfrm>
            <a:off x="1051560" y="2331720"/>
            <a:ext cx="6583680" cy="2154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a:solidFill>
                  <a:srgbClr val="00C2A8"/>
                </a:solidFill>
                <a:latin typeface="Calibri"/>
                <a:ea typeface="Calibri"/>
                <a:cs typeface="Calibri"/>
                <a:sym typeface="Calibri"/>
              </a:rPr>
              <a:t>PHẦN 4 · PROCESS ANALYSIS</a:t>
            </a:r>
            <a:endParaRPr/>
          </a:p>
        </p:txBody>
      </p:sp>
      <p:sp>
        <p:nvSpPr>
          <p:cNvPr id="544" name="Google Shape;544;p34"/>
          <p:cNvSpPr txBox="1"/>
          <p:nvPr/>
        </p:nvSpPr>
        <p:spPr>
          <a:xfrm>
            <a:off x="1051560" y="2724912"/>
            <a:ext cx="6583680" cy="1005840"/>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None/>
            </a:pPr>
            <a:r>
              <a:rPr b="1" i="0" lang="en-US" sz="3200">
                <a:solidFill>
                  <a:srgbClr val="FFFFFF"/>
                </a:solidFill>
                <a:latin typeface="Calibri"/>
                <a:ea typeface="Calibri"/>
                <a:cs typeface="Calibri"/>
                <a:sym typeface="Calibri"/>
              </a:rPr>
              <a:t>Phân tích chuyên sâu 02 quy trình</a:t>
            </a:r>
            <a:endParaRPr/>
          </a:p>
        </p:txBody>
      </p:sp>
      <p:sp>
        <p:nvSpPr>
          <p:cNvPr id="545" name="Google Shape;545;p34"/>
          <p:cNvSpPr/>
          <p:nvPr/>
        </p:nvSpPr>
        <p:spPr>
          <a:xfrm>
            <a:off x="1051560" y="3858768"/>
            <a:ext cx="1005840" cy="45720"/>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46" name="Google Shape;546;p34"/>
          <p:cNvSpPr txBox="1"/>
          <p:nvPr/>
        </p:nvSpPr>
        <p:spPr>
          <a:xfrm>
            <a:off x="1051560" y="4096512"/>
            <a:ext cx="6492240" cy="560153"/>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1400">
                <a:solidFill>
                  <a:srgbClr val="B6C9D8"/>
                </a:solidFill>
                <a:latin typeface="Calibri"/>
                <a:ea typeface="Calibri"/>
                <a:cs typeface="Calibri"/>
                <a:sym typeface="Calibri"/>
              </a:rPr>
              <a:t>C03 Service Order Management  ·  S01 Procurement Management  —  phân tích định tính và định lượng</a:t>
            </a:r>
            <a:endParaRPr b="0" i="0" sz="1400">
              <a:solidFill>
                <a:srgbClr val="B6C9D8"/>
              </a:solidFill>
              <a:latin typeface="Calibri"/>
              <a:ea typeface="Calibri"/>
              <a:cs typeface="Calibri"/>
              <a:sym typeface="Calibri"/>
            </a:endParaRPr>
          </a:p>
        </p:txBody>
      </p:sp>
      <p:sp>
        <p:nvSpPr>
          <p:cNvPr id="547" name="Google Shape;547;p34"/>
          <p:cNvSpPr txBox="1"/>
          <p:nvPr/>
        </p:nvSpPr>
        <p:spPr>
          <a:xfrm>
            <a:off x="658368" y="6355080"/>
            <a:ext cx="10326319"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850">
                <a:solidFill>
                  <a:srgbClr val="8FA6BC"/>
                </a:solidFill>
                <a:latin typeface="Calibri"/>
                <a:ea typeface="Calibri"/>
                <a:cs typeface="Calibri"/>
                <a:sym typeface="Calibri"/>
              </a:rPr>
              <a:t>SOLVENTUM VIỆT NAM  ·  HỆ THỐNG QUẢN TRỊ QUY TRÌNH NGHIỆP VỤ</a:t>
            </a:r>
            <a:endParaRPr/>
          </a:p>
        </p:txBody>
      </p:sp>
      <p:sp>
        <p:nvSpPr>
          <p:cNvPr id="548" name="Google Shape;548;p34"/>
          <p:cNvSpPr txBox="1"/>
          <p:nvPr/>
        </p:nvSpPr>
        <p:spPr>
          <a:xfrm>
            <a:off x="10984687" y="6355080"/>
            <a:ext cx="548640" cy="2286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1" i="0" lang="en-US" sz="950">
                <a:solidFill>
                  <a:srgbClr val="00C2A8"/>
                </a:solidFill>
                <a:latin typeface="Calibri"/>
                <a:ea typeface="Calibri"/>
                <a:cs typeface="Calibri"/>
                <a:sym typeface="Calibri"/>
              </a:rPr>
              <a:t>22</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35"/>
          <p:cNvSpPr txBox="1"/>
          <p:nvPr/>
        </p:nvSpPr>
        <p:spPr>
          <a:xfrm>
            <a:off x="658368" y="384048"/>
            <a:ext cx="108749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50">
                <a:solidFill>
                  <a:srgbClr val="0096D6"/>
                </a:solidFill>
                <a:latin typeface="Calibri"/>
                <a:ea typeface="Calibri"/>
                <a:cs typeface="Calibri"/>
                <a:sym typeface="Calibri"/>
              </a:rPr>
              <a:t>CHƯƠNG 4 · 4.1 PHƯƠNG PHÁP VÀ NỘI DUNG</a:t>
            </a:r>
            <a:endParaRPr/>
          </a:p>
        </p:txBody>
      </p:sp>
      <p:sp>
        <p:nvSpPr>
          <p:cNvPr id="554" name="Google Shape;554;p35"/>
          <p:cNvSpPr txBox="1"/>
          <p:nvPr/>
        </p:nvSpPr>
        <p:spPr>
          <a:xfrm>
            <a:off x="658368" y="640080"/>
            <a:ext cx="10874959" cy="603504"/>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2500">
                <a:solidFill>
                  <a:srgbClr val="0A2540"/>
                </a:solidFill>
                <a:latin typeface="Calibri"/>
                <a:ea typeface="Calibri"/>
                <a:cs typeface="Calibri"/>
                <a:sym typeface="Calibri"/>
              </a:rPr>
              <a:t>KHUNG PHÂN TÍCH ÁP DỤNG CHO CẢ HAI QUY TRÌNH</a:t>
            </a:r>
            <a:endParaRPr/>
          </a:p>
        </p:txBody>
      </p:sp>
      <p:sp>
        <p:nvSpPr>
          <p:cNvPr id="555" name="Google Shape;555;p35"/>
          <p:cNvSpPr/>
          <p:nvPr/>
        </p:nvSpPr>
        <p:spPr>
          <a:xfrm>
            <a:off x="658368" y="1280160"/>
            <a:ext cx="566928" cy="41148"/>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6" name="Google Shape;556;p35"/>
          <p:cNvSpPr/>
          <p:nvPr/>
        </p:nvSpPr>
        <p:spPr>
          <a:xfrm>
            <a:off x="1298448" y="1280160"/>
            <a:ext cx="10234879" cy="41148"/>
          </a:xfrm>
          <a:prstGeom prst="rect">
            <a:avLst/>
          </a:prstGeom>
          <a:solidFill>
            <a:srgbClr val="DFE4E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7" name="Google Shape;557;p35"/>
          <p:cNvSpPr txBox="1"/>
          <p:nvPr/>
        </p:nvSpPr>
        <p:spPr>
          <a:xfrm>
            <a:off x="658368" y="6355080"/>
            <a:ext cx="10326319"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850">
                <a:solidFill>
                  <a:srgbClr val="6B7784"/>
                </a:solidFill>
                <a:latin typeface="Calibri"/>
                <a:ea typeface="Calibri"/>
                <a:cs typeface="Calibri"/>
                <a:sym typeface="Calibri"/>
              </a:rPr>
              <a:t>SOLVENTUM VIỆT NAM  ·  HỆ THỐNG QUẢN TRỊ QUY TRÌNH NGHIỆP VỤ</a:t>
            </a:r>
            <a:endParaRPr/>
          </a:p>
        </p:txBody>
      </p:sp>
      <p:sp>
        <p:nvSpPr>
          <p:cNvPr id="558" name="Google Shape;558;p35"/>
          <p:cNvSpPr txBox="1"/>
          <p:nvPr/>
        </p:nvSpPr>
        <p:spPr>
          <a:xfrm>
            <a:off x="10984687" y="6355080"/>
            <a:ext cx="548640" cy="2286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1" i="0" lang="en-US" sz="950">
                <a:solidFill>
                  <a:srgbClr val="0096D6"/>
                </a:solidFill>
                <a:latin typeface="Calibri"/>
                <a:ea typeface="Calibri"/>
                <a:cs typeface="Calibri"/>
                <a:sym typeface="Calibri"/>
              </a:rPr>
              <a:t>23</a:t>
            </a:r>
            <a:endParaRPr/>
          </a:p>
        </p:txBody>
      </p:sp>
      <p:sp>
        <p:nvSpPr>
          <p:cNvPr id="559" name="Google Shape;559;p35"/>
          <p:cNvSpPr/>
          <p:nvPr/>
        </p:nvSpPr>
        <p:spPr>
          <a:xfrm>
            <a:off x="658368" y="1737360"/>
            <a:ext cx="5230368" cy="3145536"/>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560" name="Google Shape;560;p35"/>
          <p:cNvSpPr/>
          <p:nvPr/>
        </p:nvSpPr>
        <p:spPr>
          <a:xfrm>
            <a:off x="658368" y="1737360"/>
            <a:ext cx="5230368" cy="50292"/>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561" name="Google Shape;561;p35"/>
          <p:cNvSpPr txBox="1"/>
          <p:nvPr/>
        </p:nvSpPr>
        <p:spPr>
          <a:xfrm>
            <a:off x="932688" y="1956816"/>
            <a:ext cx="4663440" cy="2154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a:solidFill>
                  <a:srgbClr val="0A2540"/>
                </a:solidFill>
                <a:latin typeface="Calibri"/>
                <a:ea typeface="Calibri"/>
                <a:cs typeface="Calibri"/>
                <a:sym typeface="Calibri"/>
              </a:rPr>
              <a:t>4.1.1  PHÂN TÍCH ĐỊNH TÍNH</a:t>
            </a:r>
            <a:endParaRPr/>
          </a:p>
        </p:txBody>
      </p:sp>
      <p:sp>
        <p:nvSpPr>
          <p:cNvPr id="562" name="Google Shape;562;p35"/>
          <p:cNvSpPr txBox="1"/>
          <p:nvPr/>
        </p:nvSpPr>
        <p:spPr>
          <a:xfrm>
            <a:off x="932688" y="2377440"/>
            <a:ext cx="4663440" cy="786384"/>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0096D6"/>
                </a:solidFill>
                <a:latin typeface="Calibri"/>
                <a:ea typeface="Calibri"/>
                <a:cs typeface="Calibri"/>
                <a:sym typeface="Calibri"/>
              </a:rPr>
              <a:t>▪  Giá trị gia tăng   —   Value-added Analysis</a:t>
            </a:r>
            <a:endParaRPr/>
          </a:p>
          <a:p>
            <a:pPr indent="0" lvl="0" marL="0" marR="0" rtl="0" algn="l">
              <a:lnSpc>
                <a:spcPct val="120000"/>
              </a:lnSpc>
              <a:spcBef>
                <a:spcPts val="300"/>
              </a:spcBef>
              <a:spcAft>
                <a:spcPts val="0"/>
              </a:spcAft>
              <a:buNone/>
            </a:pPr>
            <a:r>
              <a:rPr b="0" i="0" lang="en-US" sz="1400">
                <a:solidFill>
                  <a:srgbClr val="2B3440"/>
                </a:solidFill>
                <a:latin typeface="Calibri"/>
                <a:ea typeface="Calibri"/>
                <a:cs typeface="Calibri"/>
                <a:sym typeface="Calibri"/>
              </a:rPr>
              <a:t>     Phân loại từng hoạt động thành VA – BVA – NVA, kèm mô tả và hướng khắc phục.</a:t>
            </a:r>
            <a:endParaRPr/>
          </a:p>
        </p:txBody>
      </p:sp>
      <p:sp>
        <p:nvSpPr>
          <p:cNvPr id="563" name="Google Shape;563;p35"/>
          <p:cNvSpPr txBox="1"/>
          <p:nvPr/>
        </p:nvSpPr>
        <p:spPr>
          <a:xfrm>
            <a:off x="932688" y="3200400"/>
            <a:ext cx="4663440" cy="786384"/>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0096D6"/>
                </a:solidFill>
                <a:latin typeface="Calibri"/>
                <a:ea typeface="Calibri"/>
                <a:cs typeface="Calibri"/>
                <a:sym typeface="Calibri"/>
              </a:rPr>
              <a:t>▪  Sự lãng phí   —   Waste Analysis</a:t>
            </a:r>
            <a:endParaRPr/>
          </a:p>
          <a:p>
            <a:pPr indent="0" lvl="0" marL="0" marR="0" rtl="0" algn="l">
              <a:lnSpc>
                <a:spcPct val="120000"/>
              </a:lnSpc>
              <a:spcBef>
                <a:spcPts val="300"/>
              </a:spcBef>
              <a:spcAft>
                <a:spcPts val="0"/>
              </a:spcAft>
              <a:buNone/>
            </a:pPr>
            <a:r>
              <a:rPr b="0" i="0" lang="en-US" sz="1400">
                <a:solidFill>
                  <a:srgbClr val="2B3440"/>
                </a:solidFill>
                <a:latin typeface="Calibri"/>
                <a:ea typeface="Calibri"/>
                <a:cs typeface="Calibri"/>
                <a:sym typeface="Calibri"/>
              </a:rPr>
              <a:t>     Nhận diện ba dạng Move – Hold – Overdo và vị trí phát sinh trên mô hình.</a:t>
            </a:r>
            <a:endParaRPr/>
          </a:p>
        </p:txBody>
      </p:sp>
      <p:sp>
        <p:nvSpPr>
          <p:cNvPr id="564" name="Google Shape;564;p35"/>
          <p:cNvSpPr txBox="1"/>
          <p:nvPr/>
        </p:nvSpPr>
        <p:spPr>
          <a:xfrm>
            <a:off x="932688" y="4023360"/>
            <a:ext cx="4663440" cy="786384"/>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0096D6"/>
                </a:solidFill>
                <a:latin typeface="Calibri"/>
                <a:ea typeface="Calibri"/>
                <a:cs typeface="Calibri"/>
                <a:sym typeface="Calibri"/>
              </a:rPr>
              <a:t>▪  Các bên liên quan   —   Stakeholder Analysis</a:t>
            </a:r>
            <a:endParaRPr/>
          </a:p>
          <a:p>
            <a:pPr indent="0" lvl="0" marL="0" marR="0" rtl="0" algn="l">
              <a:lnSpc>
                <a:spcPct val="120000"/>
              </a:lnSpc>
              <a:spcBef>
                <a:spcPts val="300"/>
              </a:spcBef>
              <a:spcAft>
                <a:spcPts val="0"/>
              </a:spcAft>
              <a:buNone/>
            </a:pPr>
            <a:r>
              <a:rPr b="0" i="0" lang="en-US" sz="1400">
                <a:solidFill>
                  <a:srgbClr val="2B3440"/>
                </a:solidFill>
                <a:latin typeface="Calibri"/>
                <a:ea typeface="Calibri"/>
                <a:cs typeface="Calibri"/>
                <a:sym typeface="Calibri"/>
              </a:rPr>
              <a:t>     Chọn Pareto Chart / Root-cause / Fishbone tùy đặc điểm vấn đề được nhận diện.</a:t>
            </a:r>
            <a:endParaRPr/>
          </a:p>
        </p:txBody>
      </p:sp>
      <p:sp>
        <p:nvSpPr>
          <p:cNvPr id="565" name="Google Shape;565;p35"/>
          <p:cNvSpPr/>
          <p:nvPr/>
        </p:nvSpPr>
        <p:spPr>
          <a:xfrm>
            <a:off x="6327648" y="1737360"/>
            <a:ext cx="5202936" cy="3145536"/>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566" name="Google Shape;566;p35"/>
          <p:cNvSpPr/>
          <p:nvPr/>
        </p:nvSpPr>
        <p:spPr>
          <a:xfrm>
            <a:off x="6327648" y="1737360"/>
            <a:ext cx="5202936" cy="50292"/>
          </a:xfrm>
          <a:prstGeom prst="rect">
            <a:avLst/>
          </a:prstGeom>
          <a:solidFill>
            <a:srgbClr val="00C2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567" name="Google Shape;567;p35"/>
          <p:cNvSpPr txBox="1"/>
          <p:nvPr/>
        </p:nvSpPr>
        <p:spPr>
          <a:xfrm>
            <a:off x="6601968" y="1956816"/>
            <a:ext cx="4663440" cy="2154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a:solidFill>
                  <a:srgbClr val="0A2540"/>
                </a:solidFill>
                <a:latin typeface="Calibri"/>
                <a:ea typeface="Calibri"/>
                <a:cs typeface="Calibri"/>
                <a:sym typeface="Calibri"/>
              </a:rPr>
              <a:t>4.1.2  PHÂN TÍCH ĐỊNH LƯỢNG</a:t>
            </a:r>
            <a:endParaRPr/>
          </a:p>
        </p:txBody>
      </p:sp>
      <p:sp>
        <p:nvSpPr>
          <p:cNvPr id="568" name="Google Shape;568;p35"/>
          <p:cNvSpPr txBox="1"/>
          <p:nvPr/>
        </p:nvSpPr>
        <p:spPr>
          <a:xfrm>
            <a:off x="6601968" y="2377440"/>
            <a:ext cx="4663440" cy="786384"/>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0A2540"/>
                </a:solidFill>
                <a:latin typeface="Calibri"/>
                <a:ea typeface="Calibri"/>
                <a:cs typeface="Calibri"/>
                <a:sym typeface="Calibri"/>
              </a:rPr>
              <a:t>▪  Thời gian   —   Time</a:t>
            </a:r>
            <a:endParaRPr/>
          </a:p>
          <a:p>
            <a:pPr indent="0" lvl="0" marL="0" marR="0" rtl="0" algn="l">
              <a:lnSpc>
                <a:spcPct val="120000"/>
              </a:lnSpc>
              <a:spcBef>
                <a:spcPts val="300"/>
              </a:spcBef>
              <a:spcAft>
                <a:spcPts val="0"/>
              </a:spcAft>
              <a:buNone/>
            </a:pPr>
            <a:r>
              <a:rPr b="0" i="0" lang="en-US" sz="1400">
                <a:solidFill>
                  <a:srgbClr val="2B3440"/>
                </a:solidFill>
                <a:latin typeface="Calibri"/>
                <a:ea typeface="Calibri"/>
                <a:cs typeface="Calibri"/>
                <a:sym typeface="Calibri"/>
              </a:rPr>
              <a:t>     Thời gian thực hiện, thời gian chờ và thời gian phát sinh do bổ sung hoặc xử lý lại.</a:t>
            </a:r>
            <a:endParaRPr/>
          </a:p>
        </p:txBody>
      </p:sp>
      <p:sp>
        <p:nvSpPr>
          <p:cNvPr id="569" name="Google Shape;569;p35"/>
          <p:cNvSpPr txBox="1"/>
          <p:nvPr/>
        </p:nvSpPr>
        <p:spPr>
          <a:xfrm>
            <a:off x="6601968" y="3200400"/>
            <a:ext cx="4663440" cy="786384"/>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0A2540"/>
                </a:solidFill>
                <a:latin typeface="Calibri"/>
                <a:ea typeface="Calibri"/>
                <a:cs typeface="Calibri"/>
                <a:sym typeface="Calibri"/>
              </a:rPr>
              <a:t>▪  Chất lượng   —   Quality</a:t>
            </a:r>
            <a:endParaRPr/>
          </a:p>
          <a:p>
            <a:pPr indent="0" lvl="0" marL="0" marR="0" rtl="0" algn="l">
              <a:lnSpc>
                <a:spcPct val="120000"/>
              </a:lnSpc>
              <a:spcBef>
                <a:spcPts val="300"/>
              </a:spcBef>
              <a:spcAft>
                <a:spcPts val="0"/>
              </a:spcAft>
              <a:buNone/>
            </a:pPr>
            <a:r>
              <a:rPr b="0" i="0" lang="en-US" sz="1400">
                <a:solidFill>
                  <a:srgbClr val="2B3440"/>
                </a:solidFill>
                <a:latin typeface="Calibri"/>
                <a:ea typeface="Calibri"/>
                <a:cs typeface="Calibri"/>
                <a:sym typeface="Calibri"/>
              </a:rPr>
              <a:t>     Tỷ lệ hoàn thành đúng hạn, tỷ lệ sai sót, tỷ lệ bổ sung thông tin, tỷ lệ xử lý lại.</a:t>
            </a:r>
            <a:endParaRPr/>
          </a:p>
        </p:txBody>
      </p:sp>
      <p:sp>
        <p:nvSpPr>
          <p:cNvPr id="570" name="Google Shape;570;p35"/>
          <p:cNvSpPr txBox="1"/>
          <p:nvPr/>
        </p:nvSpPr>
        <p:spPr>
          <a:xfrm>
            <a:off x="6601968" y="4023360"/>
            <a:ext cx="4663440" cy="786384"/>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0A2540"/>
                </a:solidFill>
                <a:latin typeface="Calibri"/>
                <a:ea typeface="Calibri"/>
                <a:cs typeface="Calibri"/>
                <a:sym typeface="Calibri"/>
              </a:rPr>
              <a:t>▪  Chi phí   —   Cost</a:t>
            </a:r>
            <a:endParaRPr/>
          </a:p>
          <a:p>
            <a:pPr indent="0" lvl="0" marL="0" marR="0" rtl="0" algn="l">
              <a:lnSpc>
                <a:spcPct val="120000"/>
              </a:lnSpc>
              <a:spcBef>
                <a:spcPts val="300"/>
              </a:spcBef>
              <a:spcAft>
                <a:spcPts val="0"/>
              </a:spcAft>
              <a:buNone/>
            </a:pPr>
            <a:r>
              <a:rPr b="0" i="0" lang="en-US" sz="1400">
                <a:solidFill>
                  <a:srgbClr val="2B3440"/>
                </a:solidFill>
                <a:latin typeface="Calibri"/>
                <a:ea typeface="Calibri"/>
                <a:cs typeface="Calibri"/>
                <a:sym typeface="Calibri"/>
              </a:rPr>
              <a:t>     Chi phí và nguồn lực sử dụng, bao gồm giờ công và các chi phí xác định được.</a:t>
            </a:r>
            <a:endParaRPr/>
          </a:p>
        </p:txBody>
      </p:sp>
      <p:sp>
        <p:nvSpPr>
          <p:cNvPr id="571" name="Google Shape;571;p35"/>
          <p:cNvSpPr/>
          <p:nvPr/>
        </p:nvSpPr>
        <p:spPr>
          <a:xfrm>
            <a:off x="658368" y="5047488"/>
            <a:ext cx="10874959" cy="749808"/>
          </a:xfrm>
          <a:prstGeom prst="rect">
            <a:avLst/>
          </a:prstGeom>
          <a:solidFill>
            <a:srgbClr val="E9F3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572" name="Google Shape;572;p35"/>
          <p:cNvSpPr/>
          <p:nvPr/>
        </p:nvSpPr>
        <p:spPr>
          <a:xfrm>
            <a:off x="658368" y="5047488"/>
            <a:ext cx="50292" cy="749808"/>
          </a:xfrm>
          <a:prstGeom prst="rect">
            <a:avLst/>
          </a:prstGeom>
          <a:solidFill>
            <a:srgbClr val="0A25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573" name="Google Shape;573;p35"/>
          <p:cNvSpPr txBox="1"/>
          <p:nvPr/>
        </p:nvSpPr>
        <p:spPr>
          <a:xfrm>
            <a:off x="950976" y="5150907"/>
            <a:ext cx="10280599" cy="542969"/>
          </a:xfrm>
          <a:prstGeom prst="rect">
            <a:avLst/>
          </a:prstGeom>
          <a:noFill/>
          <a:ln>
            <a:noFill/>
          </a:ln>
        </p:spPr>
        <p:txBody>
          <a:bodyPr anchorCtr="0" anchor="ctr" bIns="0" lIns="0" spcFirstLastPara="1" rIns="0" wrap="square" tIns="0">
            <a:spAutoFit/>
          </a:bodyPr>
          <a:lstStyle/>
          <a:p>
            <a:pPr indent="0" lvl="0" marL="0" marR="0" rtl="0" algn="l">
              <a:lnSpc>
                <a:spcPct val="126000"/>
              </a:lnSpc>
              <a:spcBef>
                <a:spcPts val="0"/>
              </a:spcBef>
              <a:spcAft>
                <a:spcPts val="0"/>
              </a:spcAft>
              <a:buNone/>
            </a:pPr>
            <a:r>
              <a:rPr b="0" i="0" lang="en-US" sz="1400">
                <a:solidFill>
                  <a:srgbClr val="2B3440"/>
                </a:solidFill>
                <a:latin typeface="Calibri"/>
                <a:ea typeface="Calibri"/>
                <a:cs typeface="Calibri"/>
                <a:sym typeface="Calibri"/>
              </a:rPr>
              <a:t>Dữ liệu phân tích khai thác từ các nguồn bằng chứng và thông tin thu thập trong Process Discovery ở Chương 3. Trường hợp chưa có số liệu thực tế đầy đủ, giá trị được ước lượng theo cấu trúc luồng của mô hình BPMN.</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36"/>
          <p:cNvSpPr txBox="1"/>
          <p:nvPr/>
        </p:nvSpPr>
        <p:spPr>
          <a:xfrm>
            <a:off x="658368" y="384048"/>
            <a:ext cx="108749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50">
                <a:solidFill>
                  <a:srgbClr val="0096D6"/>
                </a:solidFill>
                <a:latin typeface="Calibri"/>
                <a:ea typeface="Calibri"/>
                <a:cs typeface="Calibri"/>
                <a:sym typeface="Calibri"/>
              </a:rPr>
              <a:t>CHƯƠNG 4 · 4.2.1 TỔNG QUAN QUY TRÌNH PHÂN TÍCH</a:t>
            </a:r>
            <a:endParaRPr/>
          </a:p>
        </p:txBody>
      </p:sp>
      <p:sp>
        <p:nvSpPr>
          <p:cNvPr id="579" name="Google Shape;579;p36"/>
          <p:cNvSpPr txBox="1"/>
          <p:nvPr/>
        </p:nvSpPr>
        <p:spPr>
          <a:xfrm>
            <a:off x="658368" y="640080"/>
            <a:ext cx="10874959" cy="603504"/>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2500">
                <a:solidFill>
                  <a:srgbClr val="0A2540"/>
                </a:solidFill>
                <a:latin typeface="Calibri"/>
                <a:ea typeface="Calibri"/>
                <a:cs typeface="Calibri"/>
                <a:sym typeface="Calibri"/>
              </a:rPr>
              <a:t>C03 — SERVICE ORDER MANAGEMENT</a:t>
            </a:r>
            <a:endParaRPr/>
          </a:p>
        </p:txBody>
      </p:sp>
      <p:sp>
        <p:nvSpPr>
          <p:cNvPr id="580" name="Google Shape;580;p36"/>
          <p:cNvSpPr/>
          <p:nvPr/>
        </p:nvSpPr>
        <p:spPr>
          <a:xfrm>
            <a:off x="658368" y="1280160"/>
            <a:ext cx="566928" cy="41148"/>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81" name="Google Shape;581;p36"/>
          <p:cNvSpPr/>
          <p:nvPr/>
        </p:nvSpPr>
        <p:spPr>
          <a:xfrm>
            <a:off x="1298448" y="1280160"/>
            <a:ext cx="10234879" cy="41148"/>
          </a:xfrm>
          <a:prstGeom prst="rect">
            <a:avLst/>
          </a:prstGeom>
          <a:solidFill>
            <a:srgbClr val="DFE4E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82" name="Google Shape;582;p36"/>
          <p:cNvSpPr txBox="1"/>
          <p:nvPr/>
        </p:nvSpPr>
        <p:spPr>
          <a:xfrm>
            <a:off x="658368" y="1371600"/>
            <a:ext cx="10874959" cy="254237"/>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0" i="1" lang="en-US" sz="1400">
                <a:solidFill>
                  <a:srgbClr val="6B7784"/>
                </a:solidFill>
                <a:latin typeface="Calibri"/>
                <a:ea typeface="Calibri"/>
                <a:cs typeface="Calibri"/>
                <a:sym typeface="Calibri"/>
              </a:rPr>
              <a:t>Quản lý dịch vụ và sửa chữa  ·  Nhóm quy trình cốt lõi</a:t>
            </a:r>
            <a:endParaRPr b="0" i="1" sz="1400">
              <a:solidFill>
                <a:srgbClr val="6B7784"/>
              </a:solidFill>
              <a:latin typeface="Calibri"/>
              <a:ea typeface="Calibri"/>
              <a:cs typeface="Calibri"/>
              <a:sym typeface="Calibri"/>
            </a:endParaRPr>
          </a:p>
        </p:txBody>
      </p:sp>
      <p:sp>
        <p:nvSpPr>
          <p:cNvPr id="583" name="Google Shape;583;p36"/>
          <p:cNvSpPr txBox="1"/>
          <p:nvPr/>
        </p:nvSpPr>
        <p:spPr>
          <a:xfrm>
            <a:off x="658368" y="6355080"/>
            <a:ext cx="10326319"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850">
                <a:solidFill>
                  <a:srgbClr val="6B7784"/>
                </a:solidFill>
                <a:latin typeface="Calibri"/>
                <a:ea typeface="Calibri"/>
                <a:cs typeface="Calibri"/>
                <a:sym typeface="Calibri"/>
              </a:rPr>
              <a:t>SOLVENTUM VIỆT NAM  ·  HỆ THỐNG QUẢN TRỊ QUY TRÌNH NGHIỆP VỤ</a:t>
            </a:r>
            <a:endParaRPr/>
          </a:p>
        </p:txBody>
      </p:sp>
      <p:sp>
        <p:nvSpPr>
          <p:cNvPr id="584" name="Google Shape;584;p36"/>
          <p:cNvSpPr txBox="1"/>
          <p:nvPr/>
        </p:nvSpPr>
        <p:spPr>
          <a:xfrm>
            <a:off x="10984687" y="6355080"/>
            <a:ext cx="548640" cy="2286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1" i="0" lang="en-US" sz="950">
                <a:solidFill>
                  <a:srgbClr val="0096D6"/>
                </a:solidFill>
                <a:latin typeface="Calibri"/>
                <a:ea typeface="Calibri"/>
                <a:cs typeface="Calibri"/>
                <a:sym typeface="Calibri"/>
              </a:rPr>
              <a:t>24</a:t>
            </a:r>
            <a:endParaRPr/>
          </a:p>
        </p:txBody>
      </p:sp>
      <p:sp>
        <p:nvSpPr>
          <p:cNvPr id="585" name="Google Shape;585;p36"/>
          <p:cNvSpPr/>
          <p:nvPr/>
        </p:nvSpPr>
        <p:spPr>
          <a:xfrm>
            <a:off x="658368" y="1755648"/>
            <a:ext cx="2554147" cy="1700784"/>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586" name="Google Shape;586;p36"/>
          <p:cNvSpPr/>
          <p:nvPr/>
        </p:nvSpPr>
        <p:spPr>
          <a:xfrm>
            <a:off x="658368" y="1755648"/>
            <a:ext cx="2554147" cy="50292"/>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587" name="Google Shape;587;p36"/>
          <p:cNvSpPr txBox="1"/>
          <p:nvPr/>
        </p:nvSpPr>
        <p:spPr>
          <a:xfrm>
            <a:off x="859536" y="1956816"/>
            <a:ext cx="2170099" cy="226216"/>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0A2540"/>
                </a:solidFill>
                <a:latin typeface="Calibri"/>
                <a:ea typeface="Calibri"/>
                <a:cs typeface="Calibri"/>
                <a:sym typeface="Calibri"/>
              </a:rPr>
              <a:t>Service Admin</a:t>
            </a:r>
            <a:endParaRPr/>
          </a:p>
        </p:txBody>
      </p:sp>
      <p:sp>
        <p:nvSpPr>
          <p:cNvPr id="588" name="Google Shape;588;p36"/>
          <p:cNvSpPr txBox="1"/>
          <p:nvPr/>
        </p:nvSpPr>
        <p:spPr>
          <a:xfrm>
            <a:off x="859536" y="2340864"/>
            <a:ext cx="2170099" cy="788486"/>
          </a:xfrm>
          <a:prstGeom prst="rect">
            <a:avLst/>
          </a:prstGeom>
          <a:noFill/>
          <a:ln>
            <a:noFill/>
          </a:ln>
        </p:spPr>
        <p:txBody>
          <a:bodyPr anchorCtr="0" anchor="t" bIns="0" lIns="0" spcFirstLastPara="1" rIns="0" wrap="square" tIns="0">
            <a:spAutoFit/>
          </a:bodyPr>
          <a:lstStyle/>
          <a:p>
            <a:pPr indent="0" lvl="0" marL="0" marR="0" rtl="0" algn="l">
              <a:lnSpc>
                <a:spcPct val="122000"/>
              </a:lnSpc>
              <a:spcBef>
                <a:spcPts val="0"/>
              </a:spcBef>
              <a:spcAft>
                <a:spcPts val="0"/>
              </a:spcAft>
              <a:buNone/>
            </a:pPr>
            <a:r>
              <a:rPr b="0" i="0" lang="en-US" sz="1400">
                <a:solidFill>
                  <a:srgbClr val="2B3440"/>
                </a:solidFill>
                <a:latin typeface="Calibri"/>
                <a:ea typeface="Calibri"/>
                <a:cs typeface="Calibri"/>
                <a:sym typeface="Calibri"/>
              </a:rPr>
              <a:t>Tiếp nhận, xác minh yêu cầu, xác định phạm vi, lập báo giá, tạo và đóng Service Order.</a:t>
            </a:r>
            <a:endParaRPr/>
          </a:p>
        </p:txBody>
      </p:sp>
      <p:sp>
        <p:nvSpPr>
          <p:cNvPr id="589" name="Google Shape;589;p36"/>
          <p:cNvSpPr/>
          <p:nvPr/>
        </p:nvSpPr>
        <p:spPr>
          <a:xfrm>
            <a:off x="3431971" y="1755648"/>
            <a:ext cx="2554147" cy="1700784"/>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590" name="Google Shape;590;p36"/>
          <p:cNvSpPr/>
          <p:nvPr/>
        </p:nvSpPr>
        <p:spPr>
          <a:xfrm>
            <a:off x="3431971" y="1755648"/>
            <a:ext cx="2554147" cy="50292"/>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591" name="Google Shape;591;p36"/>
          <p:cNvSpPr txBox="1"/>
          <p:nvPr/>
        </p:nvSpPr>
        <p:spPr>
          <a:xfrm>
            <a:off x="3633139" y="1956816"/>
            <a:ext cx="2170099" cy="226216"/>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0A2540"/>
                </a:solidFill>
                <a:latin typeface="Calibri"/>
                <a:ea typeface="Calibri"/>
                <a:cs typeface="Calibri"/>
                <a:sym typeface="Calibri"/>
              </a:rPr>
              <a:t>Service Engineer</a:t>
            </a:r>
            <a:endParaRPr/>
          </a:p>
        </p:txBody>
      </p:sp>
      <p:sp>
        <p:nvSpPr>
          <p:cNvPr id="592" name="Google Shape;592;p36"/>
          <p:cNvSpPr txBox="1"/>
          <p:nvPr/>
        </p:nvSpPr>
        <p:spPr>
          <a:xfrm>
            <a:off x="3633139" y="2340864"/>
            <a:ext cx="2170099" cy="788486"/>
          </a:xfrm>
          <a:prstGeom prst="rect">
            <a:avLst/>
          </a:prstGeom>
          <a:noFill/>
          <a:ln>
            <a:noFill/>
          </a:ln>
        </p:spPr>
        <p:txBody>
          <a:bodyPr anchorCtr="0" anchor="t" bIns="0" lIns="0" spcFirstLastPara="1" rIns="0" wrap="square" tIns="0">
            <a:spAutoFit/>
          </a:bodyPr>
          <a:lstStyle/>
          <a:p>
            <a:pPr indent="0" lvl="0" marL="0" marR="0" rtl="0" algn="l">
              <a:lnSpc>
                <a:spcPct val="122000"/>
              </a:lnSpc>
              <a:spcBef>
                <a:spcPts val="0"/>
              </a:spcBef>
              <a:spcAft>
                <a:spcPts val="0"/>
              </a:spcAft>
              <a:buNone/>
            </a:pPr>
            <a:r>
              <a:rPr b="0" i="0" lang="en-US" sz="1400">
                <a:solidFill>
                  <a:srgbClr val="2B3440"/>
                </a:solidFill>
                <a:latin typeface="Calibri"/>
                <a:ea typeface="Calibri"/>
                <a:cs typeface="Calibri"/>
                <a:sym typeface="Calibri"/>
              </a:rPr>
              <a:t>Đánh giá tình trạng thiết bị, hỗ trợ từ xa, kiểm tra hiện trường, thực hiện dịch vụ.</a:t>
            </a:r>
            <a:endParaRPr/>
          </a:p>
        </p:txBody>
      </p:sp>
      <p:sp>
        <p:nvSpPr>
          <p:cNvPr id="593" name="Google Shape;593;p36"/>
          <p:cNvSpPr/>
          <p:nvPr/>
        </p:nvSpPr>
        <p:spPr>
          <a:xfrm>
            <a:off x="6205575" y="1755648"/>
            <a:ext cx="2554147" cy="1700784"/>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594" name="Google Shape;594;p36"/>
          <p:cNvSpPr/>
          <p:nvPr/>
        </p:nvSpPr>
        <p:spPr>
          <a:xfrm>
            <a:off x="6205575" y="1755648"/>
            <a:ext cx="2554147" cy="50292"/>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595" name="Google Shape;595;p36"/>
          <p:cNvSpPr txBox="1"/>
          <p:nvPr/>
        </p:nvSpPr>
        <p:spPr>
          <a:xfrm>
            <a:off x="6406743" y="1956816"/>
            <a:ext cx="2170099" cy="226216"/>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0A2540"/>
                </a:solidFill>
                <a:latin typeface="Calibri"/>
                <a:ea typeface="Calibri"/>
                <a:cs typeface="Calibri"/>
                <a:sym typeface="Calibri"/>
              </a:rPr>
              <a:t>Distributor</a:t>
            </a:r>
            <a:endParaRPr/>
          </a:p>
        </p:txBody>
      </p:sp>
      <p:sp>
        <p:nvSpPr>
          <p:cNvPr id="596" name="Google Shape;596;p36"/>
          <p:cNvSpPr txBox="1"/>
          <p:nvPr/>
        </p:nvSpPr>
        <p:spPr>
          <a:xfrm>
            <a:off x="6406743" y="2340864"/>
            <a:ext cx="2170099" cy="788486"/>
          </a:xfrm>
          <a:prstGeom prst="rect">
            <a:avLst/>
          </a:prstGeom>
          <a:noFill/>
          <a:ln>
            <a:noFill/>
          </a:ln>
        </p:spPr>
        <p:txBody>
          <a:bodyPr anchorCtr="0" anchor="t" bIns="0" lIns="0" spcFirstLastPara="1" rIns="0" wrap="square" tIns="0">
            <a:spAutoFit/>
          </a:bodyPr>
          <a:lstStyle/>
          <a:p>
            <a:pPr indent="0" lvl="0" marL="0" marR="0" rtl="0" algn="l">
              <a:lnSpc>
                <a:spcPct val="122000"/>
              </a:lnSpc>
              <a:spcBef>
                <a:spcPts val="0"/>
              </a:spcBef>
              <a:spcAft>
                <a:spcPts val="0"/>
              </a:spcAft>
              <a:buNone/>
            </a:pPr>
            <a:r>
              <a:rPr b="0" i="0" lang="en-US" sz="1400">
                <a:solidFill>
                  <a:srgbClr val="2B3440"/>
                </a:solidFill>
                <a:latin typeface="Calibri"/>
                <a:ea typeface="Calibri"/>
                <a:cs typeface="Calibri"/>
                <a:sym typeface="Calibri"/>
              </a:rPr>
              <a:t>Thực hiện thủ tục thương mại và xác nhận báo giá với Hospital/End-user.</a:t>
            </a:r>
            <a:endParaRPr/>
          </a:p>
        </p:txBody>
      </p:sp>
      <p:sp>
        <p:nvSpPr>
          <p:cNvPr id="597" name="Google Shape;597;p36"/>
          <p:cNvSpPr/>
          <p:nvPr/>
        </p:nvSpPr>
        <p:spPr>
          <a:xfrm>
            <a:off x="8979179" y="1755648"/>
            <a:ext cx="2554147" cy="1700784"/>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598" name="Google Shape;598;p36"/>
          <p:cNvSpPr/>
          <p:nvPr/>
        </p:nvSpPr>
        <p:spPr>
          <a:xfrm>
            <a:off x="8979179" y="1755648"/>
            <a:ext cx="2554147" cy="50292"/>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599" name="Google Shape;599;p36"/>
          <p:cNvSpPr txBox="1"/>
          <p:nvPr/>
        </p:nvSpPr>
        <p:spPr>
          <a:xfrm>
            <a:off x="9180347" y="1956816"/>
            <a:ext cx="2170099" cy="226216"/>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0A2540"/>
                </a:solidFill>
                <a:latin typeface="Calibri"/>
                <a:ea typeface="Calibri"/>
                <a:cs typeface="Calibri"/>
                <a:sym typeface="Calibri"/>
              </a:rPr>
              <a:t>Hospital / End-user</a:t>
            </a:r>
            <a:endParaRPr/>
          </a:p>
        </p:txBody>
      </p:sp>
      <p:sp>
        <p:nvSpPr>
          <p:cNvPr id="600" name="Google Shape;600;p36"/>
          <p:cNvSpPr txBox="1"/>
          <p:nvPr/>
        </p:nvSpPr>
        <p:spPr>
          <a:xfrm>
            <a:off x="9180347" y="2340864"/>
            <a:ext cx="2170099" cy="788486"/>
          </a:xfrm>
          <a:prstGeom prst="rect">
            <a:avLst/>
          </a:prstGeom>
          <a:noFill/>
          <a:ln>
            <a:noFill/>
          </a:ln>
        </p:spPr>
        <p:txBody>
          <a:bodyPr anchorCtr="0" anchor="t" bIns="0" lIns="0" spcFirstLastPara="1" rIns="0" wrap="square" tIns="0">
            <a:spAutoFit/>
          </a:bodyPr>
          <a:lstStyle/>
          <a:p>
            <a:pPr indent="0" lvl="0" marL="0" marR="0" rtl="0" algn="l">
              <a:lnSpc>
                <a:spcPct val="122000"/>
              </a:lnSpc>
              <a:spcBef>
                <a:spcPts val="0"/>
              </a:spcBef>
              <a:spcAft>
                <a:spcPts val="0"/>
              </a:spcAft>
              <a:buNone/>
            </a:pPr>
            <a:r>
              <a:rPr b="0" i="0" lang="en-US" sz="1400">
                <a:solidFill>
                  <a:srgbClr val="2B3440"/>
                </a:solidFill>
                <a:latin typeface="Calibri"/>
                <a:ea typeface="Calibri"/>
                <a:cs typeface="Calibri"/>
                <a:sym typeface="Calibri"/>
              </a:rPr>
              <a:t>Gửi yêu cầu dịch vụ, phối hợp kiểm tra và xác nhận kết quả sau khi hoàn thành.</a:t>
            </a:r>
            <a:endParaRPr/>
          </a:p>
        </p:txBody>
      </p:sp>
      <p:sp>
        <p:nvSpPr>
          <p:cNvPr id="601" name="Google Shape;601;p36"/>
          <p:cNvSpPr txBox="1"/>
          <p:nvPr/>
        </p:nvSpPr>
        <p:spPr>
          <a:xfrm>
            <a:off x="658368" y="3639312"/>
            <a:ext cx="10874959" cy="2154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a:solidFill>
                  <a:srgbClr val="0096D6"/>
                </a:solidFill>
                <a:latin typeface="Calibri"/>
                <a:ea typeface="Calibri"/>
                <a:cs typeface="Calibri"/>
                <a:sym typeface="Calibri"/>
              </a:rPr>
              <a:t>QUY TRÌNH CÓ NHIỀU NHÁNH XỬ LÝ KHÁC NHAU</a:t>
            </a:r>
            <a:endParaRPr/>
          </a:p>
        </p:txBody>
      </p:sp>
      <p:sp>
        <p:nvSpPr>
          <p:cNvPr id="602" name="Google Shape;602;p36"/>
          <p:cNvSpPr/>
          <p:nvPr/>
        </p:nvSpPr>
        <p:spPr>
          <a:xfrm>
            <a:off x="658368" y="3986784"/>
            <a:ext cx="2554147" cy="1060704"/>
          </a:xfrm>
          <a:prstGeom prst="rect">
            <a:avLst/>
          </a:prstGeom>
          <a:solidFill>
            <a:srgbClr val="E9F3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603" name="Google Shape;603;p36"/>
          <p:cNvSpPr txBox="1"/>
          <p:nvPr/>
        </p:nvSpPr>
        <p:spPr>
          <a:xfrm>
            <a:off x="859536" y="4133087"/>
            <a:ext cx="2170099" cy="2154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a:solidFill>
                  <a:srgbClr val="0A2540"/>
                </a:solidFill>
                <a:latin typeface="Calibri"/>
                <a:ea typeface="Calibri"/>
                <a:cs typeface="Calibri"/>
                <a:sym typeface="Calibri"/>
              </a:rPr>
              <a:t>Remote Support</a:t>
            </a:r>
            <a:endParaRPr/>
          </a:p>
        </p:txBody>
      </p:sp>
      <p:sp>
        <p:nvSpPr>
          <p:cNvPr id="604" name="Google Shape;604;p36"/>
          <p:cNvSpPr txBox="1"/>
          <p:nvPr/>
        </p:nvSpPr>
        <p:spPr>
          <a:xfrm>
            <a:off x="859536" y="4425696"/>
            <a:ext cx="2170099" cy="51706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400">
                <a:solidFill>
                  <a:srgbClr val="2B3440"/>
                </a:solidFill>
                <a:latin typeface="Calibri"/>
                <a:ea typeface="Calibri"/>
                <a:cs typeface="Calibri"/>
                <a:sym typeface="Calibri"/>
              </a:rPr>
              <a:t>Xử lý thành công từ xa, không cần triển khai hiện trường.</a:t>
            </a:r>
            <a:endParaRPr/>
          </a:p>
        </p:txBody>
      </p:sp>
      <p:sp>
        <p:nvSpPr>
          <p:cNvPr id="605" name="Google Shape;605;p36"/>
          <p:cNvSpPr/>
          <p:nvPr/>
        </p:nvSpPr>
        <p:spPr>
          <a:xfrm>
            <a:off x="3431971" y="3986784"/>
            <a:ext cx="2554147" cy="1060704"/>
          </a:xfrm>
          <a:prstGeom prst="rect">
            <a:avLst/>
          </a:prstGeom>
          <a:solidFill>
            <a:srgbClr val="E9F3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606" name="Google Shape;606;p36"/>
          <p:cNvSpPr txBox="1"/>
          <p:nvPr/>
        </p:nvSpPr>
        <p:spPr>
          <a:xfrm>
            <a:off x="3633139" y="4133087"/>
            <a:ext cx="2170099" cy="2154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a:solidFill>
                  <a:srgbClr val="0A2540"/>
                </a:solidFill>
                <a:latin typeface="Calibri"/>
                <a:ea typeface="Calibri"/>
                <a:cs typeface="Calibri"/>
                <a:sym typeface="Calibri"/>
              </a:rPr>
              <a:t>Onsite / Service</a:t>
            </a:r>
            <a:endParaRPr/>
          </a:p>
        </p:txBody>
      </p:sp>
      <p:sp>
        <p:nvSpPr>
          <p:cNvPr id="607" name="Google Shape;607;p36"/>
          <p:cNvSpPr txBox="1"/>
          <p:nvPr/>
        </p:nvSpPr>
        <p:spPr>
          <a:xfrm>
            <a:off x="3633139" y="4425696"/>
            <a:ext cx="2170099" cy="51706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400">
                <a:solidFill>
                  <a:srgbClr val="2B3440"/>
                </a:solidFill>
                <a:latin typeface="Calibri"/>
                <a:ea typeface="Calibri"/>
                <a:cs typeface="Calibri"/>
                <a:sym typeface="Calibri"/>
              </a:rPr>
              <a:t>Cần kiểm tra và thực hiện dịch vụ tại hiện trường.</a:t>
            </a:r>
            <a:endParaRPr/>
          </a:p>
        </p:txBody>
      </p:sp>
      <p:sp>
        <p:nvSpPr>
          <p:cNvPr id="608" name="Google Shape;608;p36"/>
          <p:cNvSpPr/>
          <p:nvPr/>
        </p:nvSpPr>
        <p:spPr>
          <a:xfrm>
            <a:off x="6205575" y="3986784"/>
            <a:ext cx="2554147" cy="1060704"/>
          </a:xfrm>
          <a:prstGeom prst="rect">
            <a:avLst/>
          </a:prstGeom>
          <a:solidFill>
            <a:srgbClr val="E9F3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609" name="Google Shape;609;p36"/>
          <p:cNvSpPr txBox="1"/>
          <p:nvPr/>
        </p:nvSpPr>
        <p:spPr>
          <a:xfrm>
            <a:off x="6406743" y="4133087"/>
            <a:ext cx="2170099" cy="2154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a:solidFill>
                  <a:srgbClr val="0A2540"/>
                </a:solidFill>
                <a:latin typeface="Calibri"/>
                <a:ea typeface="Calibri"/>
                <a:cs typeface="Calibri"/>
                <a:sym typeface="Calibri"/>
              </a:rPr>
              <a:t>Warranty / No-charge</a:t>
            </a:r>
            <a:endParaRPr/>
          </a:p>
        </p:txBody>
      </p:sp>
      <p:sp>
        <p:nvSpPr>
          <p:cNvPr id="610" name="Google Shape;610;p36"/>
          <p:cNvSpPr txBox="1"/>
          <p:nvPr/>
        </p:nvSpPr>
        <p:spPr>
          <a:xfrm>
            <a:off x="6406743" y="4425696"/>
            <a:ext cx="2170099" cy="77559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400">
                <a:solidFill>
                  <a:srgbClr val="2B3440"/>
                </a:solidFill>
                <a:latin typeface="Calibri"/>
                <a:ea typeface="Calibri"/>
                <a:cs typeface="Calibri"/>
                <a:sym typeface="Calibri"/>
              </a:rPr>
              <a:t>Dịch vụ trong phạm vi bảo hành, không phát sinh báo giá.</a:t>
            </a:r>
            <a:endParaRPr/>
          </a:p>
        </p:txBody>
      </p:sp>
      <p:sp>
        <p:nvSpPr>
          <p:cNvPr id="611" name="Google Shape;611;p36"/>
          <p:cNvSpPr/>
          <p:nvPr/>
        </p:nvSpPr>
        <p:spPr>
          <a:xfrm>
            <a:off x="8979179" y="3986784"/>
            <a:ext cx="2554147" cy="1060704"/>
          </a:xfrm>
          <a:prstGeom prst="rect">
            <a:avLst/>
          </a:prstGeom>
          <a:solidFill>
            <a:srgbClr val="E9F3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612" name="Google Shape;612;p36"/>
          <p:cNvSpPr txBox="1"/>
          <p:nvPr/>
        </p:nvSpPr>
        <p:spPr>
          <a:xfrm>
            <a:off x="9180347" y="4133087"/>
            <a:ext cx="2170099" cy="2154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a:solidFill>
                  <a:srgbClr val="0A2540"/>
                </a:solidFill>
                <a:latin typeface="Calibri"/>
                <a:ea typeface="Calibri"/>
                <a:cs typeface="Calibri"/>
                <a:sym typeface="Calibri"/>
              </a:rPr>
              <a:t>Chargeable</a:t>
            </a:r>
            <a:endParaRPr/>
          </a:p>
        </p:txBody>
      </p:sp>
      <p:sp>
        <p:nvSpPr>
          <p:cNvPr id="613" name="Google Shape;613;p36"/>
          <p:cNvSpPr txBox="1"/>
          <p:nvPr/>
        </p:nvSpPr>
        <p:spPr>
          <a:xfrm>
            <a:off x="9180347" y="4425696"/>
            <a:ext cx="2170099" cy="51706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400">
                <a:solidFill>
                  <a:srgbClr val="2B3440"/>
                </a:solidFill>
                <a:latin typeface="Calibri"/>
                <a:ea typeface="Calibri"/>
                <a:cs typeface="Calibri"/>
                <a:sym typeface="Calibri"/>
              </a:rPr>
              <a:t>Dịch vụ có tính phí, phải chờ Distributor xác nhận báo giá.</a:t>
            </a:r>
            <a:endParaRPr/>
          </a:p>
        </p:txBody>
      </p:sp>
      <p:sp>
        <p:nvSpPr>
          <p:cNvPr id="614" name="Google Shape;614;p36"/>
          <p:cNvSpPr/>
          <p:nvPr/>
        </p:nvSpPr>
        <p:spPr>
          <a:xfrm>
            <a:off x="658368" y="5212080"/>
            <a:ext cx="10874959" cy="585216"/>
          </a:xfrm>
          <a:prstGeom prst="rect">
            <a:avLst/>
          </a:prstGeom>
          <a:solidFill>
            <a:srgbClr val="0A25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615" name="Google Shape;615;p36"/>
          <p:cNvSpPr/>
          <p:nvPr/>
        </p:nvSpPr>
        <p:spPr>
          <a:xfrm>
            <a:off x="658368" y="5212080"/>
            <a:ext cx="50292" cy="585216"/>
          </a:xfrm>
          <a:prstGeom prst="rect">
            <a:avLst/>
          </a:prstGeom>
          <a:solidFill>
            <a:srgbClr val="00C2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616" name="Google Shape;616;p36"/>
          <p:cNvSpPr txBox="1"/>
          <p:nvPr/>
        </p:nvSpPr>
        <p:spPr>
          <a:xfrm>
            <a:off x="950976" y="5386194"/>
            <a:ext cx="10280599" cy="236988"/>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1" i="0" lang="en-US" sz="1400">
                <a:solidFill>
                  <a:srgbClr val="00C2A8"/>
                </a:solidFill>
                <a:latin typeface="Calibri"/>
                <a:ea typeface="Calibri"/>
                <a:cs typeface="Calibri"/>
                <a:sym typeface="Calibri"/>
              </a:rPr>
              <a:t>Nhiều điểm tương tác và chuyển giao thông tin  →  dễ phát sinh thời gian chờ, bổ sung thông tin và xử lý lại.</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p37"/>
          <p:cNvSpPr txBox="1"/>
          <p:nvPr/>
        </p:nvSpPr>
        <p:spPr>
          <a:xfrm>
            <a:off x="658368" y="384048"/>
            <a:ext cx="10874959"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050">
                <a:solidFill>
                  <a:srgbClr val="0096D6"/>
                </a:solidFill>
                <a:latin typeface="Calibri"/>
                <a:ea typeface="Calibri"/>
                <a:cs typeface="Calibri"/>
                <a:sym typeface="Calibri"/>
              </a:rPr>
              <a:t>CHƯƠNG 4 · 4.2.2A PHÂN TÍCH GIÁ TRỊ GIA TĂNG</a:t>
            </a:r>
            <a:endParaRPr/>
          </a:p>
        </p:txBody>
      </p:sp>
      <p:sp>
        <p:nvSpPr>
          <p:cNvPr id="622" name="Google Shape;622;p37"/>
          <p:cNvSpPr txBox="1"/>
          <p:nvPr/>
        </p:nvSpPr>
        <p:spPr>
          <a:xfrm>
            <a:off x="658368" y="640080"/>
            <a:ext cx="10874959" cy="60350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US" sz="2500">
                <a:solidFill>
                  <a:srgbClr val="0A2540"/>
                </a:solidFill>
                <a:latin typeface="Calibri"/>
                <a:ea typeface="Calibri"/>
                <a:cs typeface="Calibri"/>
                <a:sym typeface="Calibri"/>
              </a:rPr>
              <a:t>PHÂN LOẠI VA – BVA – NVA CỦA SERVICE ORDER MANAGEMENT</a:t>
            </a:r>
            <a:endParaRPr/>
          </a:p>
        </p:txBody>
      </p:sp>
      <p:sp>
        <p:nvSpPr>
          <p:cNvPr id="623" name="Google Shape;623;p37"/>
          <p:cNvSpPr/>
          <p:nvPr/>
        </p:nvSpPr>
        <p:spPr>
          <a:xfrm>
            <a:off x="658368" y="1280160"/>
            <a:ext cx="566928" cy="41148"/>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24" name="Google Shape;624;p37"/>
          <p:cNvSpPr/>
          <p:nvPr/>
        </p:nvSpPr>
        <p:spPr>
          <a:xfrm>
            <a:off x="1298448" y="1280160"/>
            <a:ext cx="10234879" cy="41148"/>
          </a:xfrm>
          <a:prstGeom prst="rect">
            <a:avLst/>
          </a:prstGeom>
          <a:solidFill>
            <a:srgbClr val="DFE4E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25" name="Google Shape;625;p37"/>
          <p:cNvSpPr txBox="1"/>
          <p:nvPr/>
        </p:nvSpPr>
        <p:spPr>
          <a:xfrm>
            <a:off x="658368" y="1371600"/>
            <a:ext cx="10874959"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1" lang="en-US" sz="1100">
                <a:solidFill>
                  <a:srgbClr val="6B7784"/>
                </a:solidFill>
                <a:latin typeface="Calibri"/>
                <a:ea typeface="Calibri"/>
                <a:cs typeface="Calibri"/>
                <a:sym typeface="Calibri"/>
              </a:rPr>
              <a:t>Bảng 4.1 — 35 hoạt động của 04 tác nhân được phân loại theo mức độ đóng góp giá trị</a:t>
            </a:r>
            <a:endParaRPr/>
          </a:p>
        </p:txBody>
      </p:sp>
      <p:sp>
        <p:nvSpPr>
          <p:cNvPr id="626" name="Google Shape;626;p37"/>
          <p:cNvSpPr txBox="1"/>
          <p:nvPr/>
        </p:nvSpPr>
        <p:spPr>
          <a:xfrm>
            <a:off x="658368" y="6355080"/>
            <a:ext cx="10326319"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850">
                <a:solidFill>
                  <a:srgbClr val="6B7784"/>
                </a:solidFill>
                <a:latin typeface="Calibri"/>
                <a:ea typeface="Calibri"/>
                <a:cs typeface="Calibri"/>
                <a:sym typeface="Calibri"/>
              </a:rPr>
              <a:t>SOLVENTUM VIỆT NAM  ·  HỆ THỐNG QUẢN TRỊ QUY TRÌNH NGHIỆP VỤ</a:t>
            </a:r>
            <a:endParaRPr/>
          </a:p>
        </p:txBody>
      </p:sp>
      <p:sp>
        <p:nvSpPr>
          <p:cNvPr id="627" name="Google Shape;627;p37"/>
          <p:cNvSpPr txBox="1"/>
          <p:nvPr/>
        </p:nvSpPr>
        <p:spPr>
          <a:xfrm>
            <a:off x="10984687" y="6355080"/>
            <a:ext cx="548640" cy="2286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1" i="0" lang="en-US" sz="950">
                <a:solidFill>
                  <a:srgbClr val="0096D6"/>
                </a:solidFill>
                <a:latin typeface="Calibri"/>
                <a:ea typeface="Calibri"/>
                <a:cs typeface="Calibri"/>
                <a:sym typeface="Calibri"/>
              </a:rPr>
              <a:t>25</a:t>
            </a:r>
            <a:endParaRPr/>
          </a:p>
        </p:txBody>
      </p:sp>
      <p:sp>
        <p:nvSpPr>
          <p:cNvPr id="628" name="Google Shape;628;p37"/>
          <p:cNvSpPr/>
          <p:nvPr/>
        </p:nvSpPr>
        <p:spPr>
          <a:xfrm>
            <a:off x="658368" y="1737360"/>
            <a:ext cx="3472586" cy="1554480"/>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29" name="Google Shape;629;p37"/>
          <p:cNvSpPr/>
          <p:nvPr/>
        </p:nvSpPr>
        <p:spPr>
          <a:xfrm>
            <a:off x="658368" y="1737360"/>
            <a:ext cx="3472586" cy="50292"/>
          </a:xfrm>
          <a:prstGeom prst="rect">
            <a:avLst/>
          </a:prstGeom>
          <a:solidFill>
            <a:srgbClr val="00C2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30" name="Google Shape;630;p37"/>
          <p:cNvSpPr txBox="1"/>
          <p:nvPr/>
        </p:nvSpPr>
        <p:spPr>
          <a:xfrm>
            <a:off x="886968" y="1874520"/>
            <a:ext cx="3015386" cy="3886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600">
                <a:solidFill>
                  <a:srgbClr val="00C2A8"/>
                </a:solidFill>
                <a:latin typeface="Calibri"/>
                <a:ea typeface="Calibri"/>
                <a:cs typeface="Calibri"/>
                <a:sym typeface="Calibri"/>
              </a:rPr>
              <a:t>08</a:t>
            </a:r>
            <a:endParaRPr/>
          </a:p>
        </p:txBody>
      </p:sp>
      <p:sp>
        <p:nvSpPr>
          <p:cNvPr id="631" name="Google Shape;631;p37"/>
          <p:cNvSpPr txBox="1"/>
          <p:nvPr/>
        </p:nvSpPr>
        <p:spPr>
          <a:xfrm>
            <a:off x="886968" y="2263140"/>
            <a:ext cx="3015386" cy="2057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200">
                <a:solidFill>
                  <a:srgbClr val="0A2540"/>
                </a:solidFill>
                <a:latin typeface="Calibri"/>
                <a:ea typeface="Calibri"/>
                <a:cs typeface="Calibri"/>
                <a:sym typeface="Calibri"/>
              </a:rPr>
              <a:t>HOẠT ĐỘNG VA</a:t>
            </a:r>
            <a:endParaRPr/>
          </a:p>
        </p:txBody>
      </p:sp>
      <p:sp>
        <p:nvSpPr>
          <p:cNvPr id="632" name="Google Shape;632;p37"/>
          <p:cNvSpPr txBox="1"/>
          <p:nvPr/>
        </p:nvSpPr>
        <p:spPr>
          <a:xfrm>
            <a:off x="886968" y="2491740"/>
            <a:ext cx="3015386" cy="70866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0" i="0" lang="en-US" sz="1200">
                <a:solidFill>
                  <a:srgbClr val="6B7784"/>
                </a:solidFill>
                <a:latin typeface="Calibri"/>
                <a:ea typeface="Calibri"/>
                <a:cs typeface="Calibri"/>
                <a:sym typeface="Calibri"/>
              </a:rPr>
              <a:t>Value Added — trực tiếp tạo giá trị cho khách hàng: đánh giá, kiểm tra và thực hiện dịch vụ kỹ thuật.</a:t>
            </a:r>
            <a:endParaRPr/>
          </a:p>
        </p:txBody>
      </p:sp>
      <p:sp>
        <p:nvSpPr>
          <p:cNvPr id="633" name="Google Shape;633;p37"/>
          <p:cNvSpPr/>
          <p:nvPr/>
        </p:nvSpPr>
        <p:spPr>
          <a:xfrm>
            <a:off x="4359554" y="1737360"/>
            <a:ext cx="3472586" cy="1554480"/>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34" name="Google Shape;634;p37"/>
          <p:cNvSpPr/>
          <p:nvPr/>
        </p:nvSpPr>
        <p:spPr>
          <a:xfrm>
            <a:off x="4359554" y="1737360"/>
            <a:ext cx="3472586" cy="50292"/>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35" name="Google Shape;635;p37"/>
          <p:cNvSpPr txBox="1"/>
          <p:nvPr/>
        </p:nvSpPr>
        <p:spPr>
          <a:xfrm>
            <a:off x="4588154" y="1874520"/>
            <a:ext cx="3015386" cy="3886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600">
                <a:solidFill>
                  <a:srgbClr val="0096D6"/>
                </a:solidFill>
                <a:latin typeface="Calibri"/>
                <a:ea typeface="Calibri"/>
                <a:cs typeface="Calibri"/>
                <a:sym typeface="Calibri"/>
              </a:rPr>
              <a:t>23</a:t>
            </a:r>
            <a:endParaRPr/>
          </a:p>
        </p:txBody>
      </p:sp>
      <p:sp>
        <p:nvSpPr>
          <p:cNvPr id="636" name="Google Shape;636;p37"/>
          <p:cNvSpPr txBox="1"/>
          <p:nvPr/>
        </p:nvSpPr>
        <p:spPr>
          <a:xfrm>
            <a:off x="4588154" y="2263140"/>
            <a:ext cx="3015386" cy="2057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200">
                <a:solidFill>
                  <a:srgbClr val="0A2540"/>
                </a:solidFill>
                <a:latin typeface="Calibri"/>
                <a:ea typeface="Calibri"/>
                <a:cs typeface="Calibri"/>
                <a:sym typeface="Calibri"/>
              </a:rPr>
              <a:t>HOẠT ĐỘNG BVA</a:t>
            </a:r>
            <a:endParaRPr/>
          </a:p>
        </p:txBody>
      </p:sp>
      <p:sp>
        <p:nvSpPr>
          <p:cNvPr id="637" name="Google Shape;637;p37"/>
          <p:cNvSpPr txBox="1"/>
          <p:nvPr/>
        </p:nvSpPr>
        <p:spPr>
          <a:xfrm>
            <a:off x="4588154" y="2491740"/>
            <a:ext cx="3015386" cy="70866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0" i="0" lang="en-US" sz="1200">
                <a:solidFill>
                  <a:srgbClr val="6B7784"/>
                </a:solidFill>
                <a:latin typeface="Calibri"/>
                <a:ea typeface="Calibri"/>
                <a:cs typeface="Calibri"/>
                <a:sym typeface="Calibri"/>
              </a:rPr>
              <a:t>Business Value Added — cần thiết để tiếp nhận, kiểm soát, điều phối và quản lý hồ sơ dịch vụ.</a:t>
            </a:r>
            <a:endParaRPr/>
          </a:p>
        </p:txBody>
      </p:sp>
      <p:sp>
        <p:nvSpPr>
          <p:cNvPr id="638" name="Google Shape;638;p37"/>
          <p:cNvSpPr/>
          <p:nvPr/>
        </p:nvSpPr>
        <p:spPr>
          <a:xfrm>
            <a:off x="8060740" y="1737360"/>
            <a:ext cx="3472586" cy="1554480"/>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39" name="Google Shape;639;p37"/>
          <p:cNvSpPr/>
          <p:nvPr/>
        </p:nvSpPr>
        <p:spPr>
          <a:xfrm>
            <a:off x="8060740" y="1737360"/>
            <a:ext cx="3472586" cy="50292"/>
          </a:xfrm>
          <a:prstGeom prst="rect">
            <a:avLst/>
          </a:prstGeom>
          <a:solidFill>
            <a:srgbClr val="C0392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40" name="Google Shape;640;p37"/>
          <p:cNvSpPr txBox="1"/>
          <p:nvPr/>
        </p:nvSpPr>
        <p:spPr>
          <a:xfrm>
            <a:off x="8289340" y="1874520"/>
            <a:ext cx="3015386" cy="3886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600">
                <a:solidFill>
                  <a:srgbClr val="C0392B"/>
                </a:solidFill>
                <a:latin typeface="Calibri"/>
                <a:ea typeface="Calibri"/>
                <a:cs typeface="Calibri"/>
                <a:sym typeface="Calibri"/>
              </a:rPr>
              <a:t>04</a:t>
            </a:r>
            <a:endParaRPr/>
          </a:p>
        </p:txBody>
      </p:sp>
      <p:sp>
        <p:nvSpPr>
          <p:cNvPr id="641" name="Google Shape;641;p37"/>
          <p:cNvSpPr txBox="1"/>
          <p:nvPr/>
        </p:nvSpPr>
        <p:spPr>
          <a:xfrm>
            <a:off x="8289340" y="2263140"/>
            <a:ext cx="3015386" cy="2057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200">
                <a:solidFill>
                  <a:srgbClr val="0A2540"/>
                </a:solidFill>
                <a:latin typeface="Calibri"/>
                <a:ea typeface="Calibri"/>
                <a:cs typeface="Calibri"/>
                <a:sym typeface="Calibri"/>
              </a:rPr>
              <a:t>HOẠT ĐỘNG NVA</a:t>
            </a:r>
            <a:endParaRPr/>
          </a:p>
        </p:txBody>
      </p:sp>
      <p:sp>
        <p:nvSpPr>
          <p:cNvPr id="642" name="Google Shape;642;p37"/>
          <p:cNvSpPr txBox="1"/>
          <p:nvPr/>
        </p:nvSpPr>
        <p:spPr>
          <a:xfrm>
            <a:off x="8289340" y="2491740"/>
            <a:ext cx="3015386" cy="70866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0" i="0" lang="en-US" sz="1200">
                <a:solidFill>
                  <a:srgbClr val="6B7784"/>
                </a:solidFill>
                <a:latin typeface="Calibri"/>
                <a:ea typeface="Calibri"/>
                <a:cs typeface="Calibri"/>
                <a:sym typeface="Calibri"/>
              </a:rPr>
              <a:t>Non-Value Added — phát sinh từ vòng lặp bổ sung thông tin khi yêu cầu ban đầu chưa đầy đủ.</a:t>
            </a:r>
            <a:endParaRPr/>
          </a:p>
        </p:txBody>
      </p:sp>
      <p:sp>
        <p:nvSpPr>
          <p:cNvPr id="643" name="Google Shape;643;p37"/>
          <p:cNvSpPr txBox="1"/>
          <p:nvPr/>
        </p:nvSpPr>
        <p:spPr>
          <a:xfrm>
            <a:off x="658368" y="3474720"/>
            <a:ext cx="5323459"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200">
                <a:solidFill>
                  <a:srgbClr val="00C2A8"/>
                </a:solidFill>
                <a:latin typeface="Calibri"/>
                <a:ea typeface="Calibri"/>
                <a:cs typeface="Calibri"/>
                <a:sym typeface="Calibri"/>
              </a:rPr>
              <a:t>08 HOẠT ĐỘNG VA — TẠO GIÁ TRỊ TRỰC TIẾP</a:t>
            </a:r>
            <a:endParaRPr/>
          </a:p>
        </p:txBody>
      </p:sp>
      <p:sp>
        <p:nvSpPr>
          <p:cNvPr id="644" name="Google Shape;644;p37"/>
          <p:cNvSpPr txBox="1"/>
          <p:nvPr/>
        </p:nvSpPr>
        <p:spPr>
          <a:xfrm>
            <a:off x="658368" y="3776980"/>
            <a:ext cx="5323459" cy="16002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0" i="0" lang="en-US" sz="1150">
                <a:solidFill>
                  <a:srgbClr val="6B7784"/>
                </a:solidFill>
                <a:latin typeface="Calibri"/>
                <a:ea typeface="Calibri"/>
                <a:cs typeface="Calibri"/>
                <a:sym typeface="Calibri"/>
              </a:rPr>
              <a:t>•  Phối hợp kiểm tra/xử lý từ xa  ·  Phối hợp kiểm tra trực tiếp  (Hospital/End-user)</a:t>
            </a:r>
            <a:endParaRPr/>
          </a:p>
          <a:p>
            <a:pPr indent="0" lvl="0" marL="0" marR="0" rtl="0" algn="l">
              <a:lnSpc>
                <a:spcPct val="115000"/>
              </a:lnSpc>
              <a:spcBef>
                <a:spcPts val="400"/>
              </a:spcBef>
              <a:spcAft>
                <a:spcPts val="0"/>
              </a:spcAft>
              <a:buNone/>
            </a:pPr>
            <a:r>
              <a:rPr b="0" i="0" lang="en-US" sz="1150">
                <a:solidFill>
                  <a:srgbClr val="6B7784"/>
                </a:solidFill>
                <a:latin typeface="Calibri"/>
                <a:ea typeface="Calibri"/>
                <a:cs typeface="Calibri"/>
                <a:sym typeface="Calibri"/>
              </a:rPr>
              <a:t>•  Phối hợp xử lý nhu cầu dịch vụ với Service Engineer  (Hospital/End-user)</a:t>
            </a:r>
            <a:endParaRPr/>
          </a:p>
          <a:p>
            <a:pPr indent="0" lvl="0" marL="0" marR="0" rtl="0" algn="l">
              <a:lnSpc>
                <a:spcPct val="115000"/>
              </a:lnSpc>
              <a:spcBef>
                <a:spcPts val="400"/>
              </a:spcBef>
              <a:spcAft>
                <a:spcPts val="0"/>
              </a:spcAft>
              <a:buNone/>
            </a:pPr>
            <a:r>
              <a:rPr b="0" i="0" lang="en-US" sz="1150">
                <a:solidFill>
                  <a:srgbClr val="6B7784"/>
                </a:solidFill>
                <a:latin typeface="Calibri"/>
                <a:ea typeface="Calibri"/>
                <a:cs typeface="Calibri"/>
                <a:sym typeface="Calibri"/>
              </a:rPr>
              <a:t>•  Đánh giá sơ bộ tình trạng thiết bị  ·  Kiểm tra và xử lý kỹ thuật từ xa</a:t>
            </a:r>
            <a:endParaRPr/>
          </a:p>
          <a:p>
            <a:pPr indent="0" lvl="0" marL="0" marR="0" rtl="0" algn="l">
              <a:lnSpc>
                <a:spcPct val="115000"/>
              </a:lnSpc>
              <a:spcBef>
                <a:spcPts val="400"/>
              </a:spcBef>
              <a:spcAft>
                <a:spcPts val="0"/>
              </a:spcAft>
              <a:buNone/>
            </a:pPr>
            <a:r>
              <a:rPr b="0" i="0" lang="en-US" sz="1150">
                <a:solidFill>
                  <a:srgbClr val="6B7784"/>
                </a:solidFill>
                <a:latin typeface="Calibri"/>
                <a:ea typeface="Calibri"/>
                <a:cs typeface="Calibri"/>
                <a:sym typeface="Calibri"/>
              </a:rPr>
              <a:t>•  Khảo sát và đánh giá hiện trạng thiết bị  ·  Xác định nguyên nhân và đề xuất phương án</a:t>
            </a:r>
            <a:endParaRPr/>
          </a:p>
          <a:p>
            <a:pPr indent="0" lvl="0" marL="0" marR="0" rtl="0" algn="l">
              <a:lnSpc>
                <a:spcPct val="115000"/>
              </a:lnSpc>
              <a:spcBef>
                <a:spcPts val="400"/>
              </a:spcBef>
              <a:spcAft>
                <a:spcPts val="0"/>
              </a:spcAft>
              <a:buNone/>
            </a:pPr>
            <a:r>
              <a:rPr b="0" i="0" lang="en-US" sz="1150">
                <a:solidFill>
                  <a:srgbClr val="6B7784"/>
                </a:solidFill>
                <a:latin typeface="Calibri"/>
                <a:ea typeface="Calibri"/>
                <a:cs typeface="Calibri"/>
                <a:sym typeface="Calibri"/>
              </a:rPr>
              <a:t>•  Thực hiện dịch vụ kỹ thuật  (Service Engineer)</a:t>
            </a:r>
            <a:endParaRPr/>
          </a:p>
        </p:txBody>
      </p:sp>
      <p:sp>
        <p:nvSpPr>
          <p:cNvPr id="645" name="Google Shape;645;p37"/>
          <p:cNvSpPr txBox="1"/>
          <p:nvPr/>
        </p:nvSpPr>
        <p:spPr>
          <a:xfrm>
            <a:off x="6209868" y="3474720"/>
            <a:ext cx="5323459"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200">
                <a:solidFill>
                  <a:srgbClr val="C0392B"/>
                </a:solidFill>
                <a:latin typeface="Calibri"/>
                <a:ea typeface="Calibri"/>
                <a:cs typeface="Calibri"/>
                <a:sym typeface="Calibri"/>
              </a:rPr>
              <a:t>04 HOẠT ĐỘNG NVA — CẦN LOẠI BỎ NGUYÊN NHÂN</a:t>
            </a:r>
            <a:endParaRPr/>
          </a:p>
        </p:txBody>
      </p:sp>
      <p:sp>
        <p:nvSpPr>
          <p:cNvPr id="646" name="Google Shape;646;p37"/>
          <p:cNvSpPr txBox="1"/>
          <p:nvPr/>
        </p:nvSpPr>
        <p:spPr>
          <a:xfrm>
            <a:off x="6209868" y="3776980"/>
            <a:ext cx="5323459" cy="16002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0" i="0" lang="en-US" sz="1300">
                <a:solidFill>
                  <a:srgbClr val="6B7784"/>
                </a:solidFill>
                <a:latin typeface="Calibri"/>
                <a:ea typeface="Calibri"/>
                <a:cs typeface="Calibri"/>
                <a:sym typeface="Calibri"/>
              </a:rPr>
              <a:t>•  Bổ sung thông tin yêu cầu dịch vụ  (Hospital/End-user)</a:t>
            </a:r>
            <a:endParaRPr/>
          </a:p>
          <a:p>
            <a:pPr indent="0" lvl="0" marL="0" marR="0" rtl="0" algn="l">
              <a:lnSpc>
                <a:spcPct val="115000"/>
              </a:lnSpc>
              <a:spcBef>
                <a:spcPts val="400"/>
              </a:spcBef>
              <a:spcAft>
                <a:spcPts val="0"/>
              </a:spcAft>
              <a:buNone/>
            </a:pPr>
            <a:r>
              <a:rPr b="0" i="0" lang="en-US" sz="1300">
                <a:solidFill>
                  <a:srgbClr val="6B7784"/>
                </a:solidFill>
                <a:latin typeface="Calibri"/>
                <a:ea typeface="Calibri"/>
                <a:cs typeface="Calibri"/>
                <a:sym typeface="Calibri"/>
              </a:rPr>
              <a:t>•  Chuyển thông tin bổ sung cho Service Admin  (Distributor)</a:t>
            </a:r>
            <a:endParaRPr/>
          </a:p>
          <a:p>
            <a:pPr indent="0" lvl="0" marL="0" marR="0" rtl="0" algn="l">
              <a:lnSpc>
                <a:spcPct val="115000"/>
              </a:lnSpc>
              <a:spcBef>
                <a:spcPts val="400"/>
              </a:spcBef>
              <a:spcAft>
                <a:spcPts val="0"/>
              </a:spcAft>
              <a:buNone/>
            </a:pPr>
            <a:r>
              <a:rPr b="0" i="0" lang="en-US" sz="1300">
                <a:solidFill>
                  <a:srgbClr val="6B7784"/>
                </a:solidFill>
                <a:latin typeface="Calibri"/>
                <a:ea typeface="Calibri"/>
                <a:cs typeface="Calibri"/>
                <a:sym typeface="Calibri"/>
              </a:rPr>
              <a:t>•  Yêu cầu End-user bổ sung thông tin  (Distributor)</a:t>
            </a:r>
            <a:endParaRPr/>
          </a:p>
          <a:p>
            <a:pPr indent="0" lvl="0" marL="0" marR="0" rtl="0" algn="l">
              <a:lnSpc>
                <a:spcPct val="115000"/>
              </a:lnSpc>
              <a:spcBef>
                <a:spcPts val="400"/>
              </a:spcBef>
              <a:spcAft>
                <a:spcPts val="0"/>
              </a:spcAft>
              <a:buNone/>
            </a:pPr>
            <a:r>
              <a:rPr b="0" i="0" lang="en-US" sz="1300">
                <a:solidFill>
                  <a:srgbClr val="6B7784"/>
                </a:solidFill>
                <a:latin typeface="Calibri"/>
                <a:ea typeface="Calibri"/>
                <a:cs typeface="Calibri"/>
                <a:sym typeface="Calibri"/>
              </a:rPr>
              <a:t>•  Yêu cầu Distributor bổ sung thông tin  (Service Admin)</a:t>
            </a:r>
            <a:endParaRPr/>
          </a:p>
        </p:txBody>
      </p:sp>
      <p:sp>
        <p:nvSpPr>
          <p:cNvPr id="647" name="Google Shape;647;p37"/>
          <p:cNvSpPr/>
          <p:nvPr/>
        </p:nvSpPr>
        <p:spPr>
          <a:xfrm>
            <a:off x="658368" y="5486400"/>
            <a:ext cx="10874959" cy="594360"/>
          </a:xfrm>
          <a:prstGeom prst="rect">
            <a:avLst/>
          </a:prstGeom>
          <a:solidFill>
            <a:srgbClr val="FBEDEC"/>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48" name="Google Shape;648;p37"/>
          <p:cNvSpPr/>
          <p:nvPr/>
        </p:nvSpPr>
        <p:spPr>
          <a:xfrm>
            <a:off x="658368" y="5486400"/>
            <a:ext cx="50292" cy="594360"/>
          </a:xfrm>
          <a:prstGeom prst="rect">
            <a:avLst/>
          </a:prstGeom>
          <a:solidFill>
            <a:srgbClr val="C0392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49" name="Google Shape;649;p37"/>
          <p:cNvSpPr txBox="1"/>
          <p:nvPr/>
        </p:nvSpPr>
        <p:spPr>
          <a:xfrm>
            <a:off x="864108" y="5600700"/>
            <a:ext cx="10463479" cy="36576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None/>
            </a:pPr>
            <a:r>
              <a:rPr b="0" i="0" lang="en-US" sz="1100">
                <a:solidFill>
                  <a:srgbClr val="0A2540"/>
                </a:solidFill>
                <a:latin typeface="Calibri"/>
                <a:ea typeface="Calibri"/>
                <a:cs typeface="Calibri"/>
                <a:sym typeface="Calibri"/>
              </a:rPr>
              <a:t>Không có hoạt động NVA nằm ở khâu kỹ thuật: cả 04 hoạt động NVA đều sinh ra từ một nguyên nhân duy nhất — thông tin yêu cầu dịch vụ ban đầu chưa đầy đủ. Chuẩn hóa thông tin đầu vào là hướng cải tiến gốc.</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p38"/>
          <p:cNvSpPr txBox="1"/>
          <p:nvPr/>
        </p:nvSpPr>
        <p:spPr>
          <a:xfrm>
            <a:off x="658368" y="384048"/>
            <a:ext cx="10874959"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050">
                <a:solidFill>
                  <a:srgbClr val="0096D6"/>
                </a:solidFill>
                <a:latin typeface="Calibri"/>
                <a:ea typeface="Calibri"/>
                <a:cs typeface="Calibri"/>
                <a:sym typeface="Calibri"/>
              </a:rPr>
              <a:t>CHƯƠNG 4 · 4.2.2B PHÂN TÍCH SỰ LÃNG PHÍ</a:t>
            </a:r>
            <a:endParaRPr/>
          </a:p>
        </p:txBody>
      </p:sp>
      <p:sp>
        <p:nvSpPr>
          <p:cNvPr id="655" name="Google Shape;655;p38"/>
          <p:cNvSpPr txBox="1"/>
          <p:nvPr/>
        </p:nvSpPr>
        <p:spPr>
          <a:xfrm>
            <a:off x="658368" y="640080"/>
            <a:ext cx="10874959" cy="60350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US" sz="2500">
                <a:solidFill>
                  <a:srgbClr val="0A2540"/>
                </a:solidFill>
                <a:latin typeface="Calibri"/>
                <a:ea typeface="Calibri"/>
                <a:cs typeface="Calibri"/>
                <a:sym typeface="Calibri"/>
              </a:rPr>
              <a:t>LÃNG PHÍ MOVE – HOLD – OVERDO CỦA SERVICE ORDER MANAGEMENT</a:t>
            </a:r>
            <a:endParaRPr/>
          </a:p>
        </p:txBody>
      </p:sp>
      <p:sp>
        <p:nvSpPr>
          <p:cNvPr id="656" name="Google Shape;656;p38"/>
          <p:cNvSpPr/>
          <p:nvPr/>
        </p:nvSpPr>
        <p:spPr>
          <a:xfrm>
            <a:off x="658368" y="1280160"/>
            <a:ext cx="566928" cy="41148"/>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7" name="Google Shape;657;p38"/>
          <p:cNvSpPr/>
          <p:nvPr/>
        </p:nvSpPr>
        <p:spPr>
          <a:xfrm>
            <a:off x="1298448" y="1280160"/>
            <a:ext cx="10234879" cy="41148"/>
          </a:xfrm>
          <a:prstGeom prst="rect">
            <a:avLst/>
          </a:prstGeom>
          <a:solidFill>
            <a:srgbClr val="DFE4E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8" name="Google Shape;658;p38"/>
          <p:cNvSpPr txBox="1"/>
          <p:nvPr/>
        </p:nvSpPr>
        <p:spPr>
          <a:xfrm>
            <a:off x="658368" y="1371600"/>
            <a:ext cx="10874959"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1" lang="en-US" sz="1100">
                <a:solidFill>
                  <a:srgbClr val="6B7784"/>
                </a:solidFill>
                <a:latin typeface="Calibri"/>
                <a:ea typeface="Calibri"/>
                <a:cs typeface="Calibri"/>
                <a:sym typeface="Calibri"/>
              </a:rPr>
              <a:t>Bảng 4.2 — 17 điểm phát sinh lãng phí, gom theo loại</a:t>
            </a:r>
            <a:endParaRPr/>
          </a:p>
        </p:txBody>
      </p:sp>
      <p:sp>
        <p:nvSpPr>
          <p:cNvPr id="659" name="Google Shape;659;p38"/>
          <p:cNvSpPr txBox="1"/>
          <p:nvPr/>
        </p:nvSpPr>
        <p:spPr>
          <a:xfrm>
            <a:off x="658368" y="6355080"/>
            <a:ext cx="10326319"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850">
                <a:solidFill>
                  <a:srgbClr val="6B7784"/>
                </a:solidFill>
                <a:latin typeface="Calibri"/>
                <a:ea typeface="Calibri"/>
                <a:cs typeface="Calibri"/>
                <a:sym typeface="Calibri"/>
              </a:rPr>
              <a:t>SOLVENTUM VIỆT NAM  ·  HỆ THỐNG QUẢN TRỊ QUY TRÌNH NGHIỆP VỤ</a:t>
            </a:r>
            <a:endParaRPr/>
          </a:p>
        </p:txBody>
      </p:sp>
      <p:sp>
        <p:nvSpPr>
          <p:cNvPr id="660" name="Google Shape;660;p38"/>
          <p:cNvSpPr txBox="1"/>
          <p:nvPr/>
        </p:nvSpPr>
        <p:spPr>
          <a:xfrm>
            <a:off x="10984687" y="6355080"/>
            <a:ext cx="548640" cy="2286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1" i="0" lang="en-US" sz="950">
                <a:solidFill>
                  <a:srgbClr val="0096D6"/>
                </a:solidFill>
                <a:latin typeface="Calibri"/>
                <a:ea typeface="Calibri"/>
                <a:cs typeface="Calibri"/>
                <a:sym typeface="Calibri"/>
              </a:rPr>
              <a:t>26</a:t>
            </a:r>
            <a:endParaRPr/>
          </a:p>
        </p:txBody>
      </p:sp>
      <p:sp>
        <p:nvSpPr>
          <p:cNvPr id="661" name="Google Shape;661;p38"/>
          <p:cNvSpPr/>
          <p:nvPr/>
        </p:nvSpPr>
        <p:spPr>
          <a:xfrm>
            <a:off x="658368" y="1737360"/>
            <a:ext cx="3472586" cy="3200400"/>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62" name="Google Shape;662;p38"/>
          <p:cNvSpPr/>
          <p:nvPr/>
        </p:nvSpPr>
        <p:spPr>
          <a:xfrm>
            <a:off x="658368" y="1737360"/>
            <a:ext cx="3472586" cy="50292"/>
          </a:xfrm>
          <a:prstGeom prst="rect">
            <a:avLst/>
          </a:prstGeom>
          <a:solidFill>
            <a:srgbClr val="2E9E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63" name="Google Shape;663;p38"/>
          <p:cNvSpPr txBox="1"/>
          <p:nvPr/>
        </p:nvSpPr>
        <p:spPr>
          <a:xfrm>
            <a:off x="864108" y="1920240"/>
            <a:ext cx="306110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400">
                <a:solidFill>
                  <a:srgbClr val="2E9E5B"/>
                </a:solidFill>
                <a:latin typeface="Calibri"/>
                <a:ea typeface="Calibri"/>
                <a:cs typeface="Calibri"/>
                <a:sym typeface="Calibri"/>
              </a:rPr>
              <a:t>MOVE  ·  06 ĐIỂM</a:t>
            </a:r>
            <a:endParaRPr/>
          </a:p>
        </p:txBody>
      </p:sp>
      <p:sp>
        <p:nvSpPr>
          <p:cNvPr id="664" name="Google Shape;664;p38"/>
          <p:cNvSpPr txBox="1"/>
          <p:nvPr/>
        </p:nvSpPr>
        <p:spPr>
          <a:xfrm>
            <a:off x="864108" y="2240280"/>
            <a:ext cx="3061106" cy="2743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US" sz="1400">
                <a:solidFill>
                  <a:srgbClr val="0A2540"/>
                </a:solidFill>
                <a:latin typeface="Calibri"/>
                <a:ea typeface="Calibri"/>
                <a:cs typeface="Calibri"/>
                <a:sym typeface="Calibri"/>
              </a:rPr>
              <a:t>Chuyển giao qua trung gian</a:t>
            </a:r>
            <a:endParaRPr/>
          </a:p>
        </p:txBody>
      </p:sp>
      <p:sp>
        <p:nvSpPr>
          <p:cNvPr id="665" name="Google Shape;665;p38"/>
          <p:cNvSpPr txBox="1"/>
          <p:nvPr/>
        </p:nvSpPr>
        <p:spPr>
          <a:xfrm>
            <a:off x="864108" y="2606040"/>
            <a:ext cx="3061106" cy="219456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b="0" i="0" lang="en-US" sz="1400">
                <a:solidFill>
                  <a:srgbClr val="6B7784"/>
                </a:solidFill>
                <a:latin typeface="Calibri"/>
                <a:ea typeface="Calibri"/>
                <a:cs typeface="Calibri"/>
                <a:sym typeface="Calibri"/>
              </a:rPr>
              <a:t>Gửi yêu cầu dịch vụ qua Distributor</a:t>
            </a:r>
            <a:endParaRPr/>
          </a:p>
          <a:p>
            <a:pPr indent="0" lvl="0" marL="0" marR="0" rtl="0" algn="l">
              <a:lnSpc>
                <a:spcPct val="112000"/>
              </a:lnSpc>
              <a:spcBef>
                <a:spcPts val="200"/>
              </a:spcBef>
              <a:spcAft>
                <a:spcPts val="0"/>
              </a:spcAft>
              <a:buNone/>
            </a:pPr>
            <a:r>
              <a:rPr b="0" i="0" lang="en-US" sz="1400">
                <a:solidFill>
                  <a:srgbClr val="6B7784"/>
                </a:solidFill>
                <a:latin typeface="Calibri"/>
                <a:ea typeface="Calibri"/>
                <a:cs typeface="Calibri"/>
                <a:sym typeface="Calibri"/>
              </a:rPr>
              <a:t>Distributor chuyển yêu cầu cho Service Admin</a:t>
            </a:r>
            <a:endParaRPr/>
          </a:p>
          <a:p>
            <a:pPr indent="0" lvl="0" marL="0" marR="0" rtl="0" algn="l">
              <a:lnSpc>
                <a:spcPct val="112000"/>
              </a:lnSpc>
              <a:spcBef>
                <a:spcPts val="200"/>
              </a:spcBef>
              <a:spcAft>
                <a:spcPts val="0"/>
              </a:spcAft>
              <a:buNone/>
            </a:pPr>
            <a:r>
              <a:rPr b="0" i="0" lang="en-US" sz="1400">
                <a:solidFill>
                  <a:srgbClr val="6B7784"/>
                </a:solidFill>
                <a:latin typeface="Calibri"/>
                <a:ea typeface="Calibri"/>
                <a:cs typeface="Calibri"/>
                <a:sym typeface="Calibri"/>
              </a:rPr>
              <a:t>Service Engineer di chuyển đến hiện trường</a:t>
            </a:r>
            <a:endParaRPr/>
          </a:p>
          <a:p>
            <a:pPr indent="0" lvl="0" marL="0" marR="0" rtl="0" algn="l">
              <a:lnSpc>
                <a:spcPct val="112000"/>
              </a:lnSpc>
              <a:spcBef>
                <a:spcPts val="200"/>
              </a:spcBef>
              <a:spcAft>
                <a:spcPts val="0"/>
              </a:spcAft>
              <a:buNone/>
            </a:pPr>
            <a:r>
              <a:rPr b="0" i="0" lang="en-US" sz="1400">
                <a:solidFill>
                  <a:srgbClr val="6B7784"/>
                </a:solidFill>
                <a:latin typeface="Calibri"/>
                <a:ea typeface="Calibri"/>
                <a:cs typeface="Calibri"/>
                <a:sym typeface="Calibri"/>
              </a:rPr>
              <a:t>Lập báo giá gửi qua Distributor</a:t>
            </a:r>
            <a:endParaRPr/>
          </a:p>
          <a:p>
            <a:pPr indent="0" lvl="0" marL="0" marR="0" rtl="0" algn="l">
              <a:lnSpc>
                <a:spcPct val="112000"/>
              </a:lnSpc>
              <a:spcBef>
                <a:spcPts val="200"/>
              </a:spcBef>
              <a:spcAft>
                <a:spcPts val="0"/>
              </a:spcAft>
              <a:buNone/>
            </a:pPr>
            <a:r>
              <a:rPr b="0" i="0" lang="en-US" sz="1400">
                <a:solidFill>
                  <a:srgbClr val="6B7784"/>
                </a:solidFill>
                <a:latin typeface="Calibri"/>
                <a:ea typeface="Calibri"/>
                <a:cs typeface="Calibri"/>
                <a:sym typeface="Calibri"/>
              </a:rPr>
              <a:t>Phản hồi End-user đồng ý báo giá</a:t>
            </a:r>
            <a:endParaRPr/>
          </a:p>
          <a:p>
            <a:pPr indent="0" lvl="0" marL="0" marR="0" rtl="0" algn="l">
              <a:lnSpc>
                <a:spcPct val="112000"/>
              </a:lnSpc>
              <a:spcBef>
                <a:spcPts val="200"/>
              </a:spcBef>
              <a:spcAft>
                <a:spcPts val="0"/>
              </a:spcAft>
              <a:buNone/>
            </a:pPr>
            <a:r>
              <a:rPr b="0" i="0" lang="en-US" sz="1400">
                <a:solidFill>
                  <a:srgbClr val="6B7784"/>
                </a:solidFill>
                <a:latin typeface="Calibri"/>
                <a:ea typeface="Calibri"/>
                <a:cs typeface="Calibri"/>
                <a:sym typeface="Calibri"/>
              </a:rPr>
              <a:t>Phản hồi End-user từ chối báo giá</a:t>
            </a:r>
            <a:endParaRPr/>
          </a:p>
        </p:txBody>
      </p:sp>
      <p:sp>
        <p:nvSpPr>
          <p:cNvPr id="666" name="Google Shape;666;p38"/>
          <p:cNvSpPr/>
          <p:nvPr/>
        </p:nvSpPr>
        <p:spPr>
          <a:xfrm>
            <a:off x="4359554" y="1737360"/>
            <a:ext cx="3472586" cy="3200400"/>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67" name="Google Shape;667;p38"/>
          <p:cNvSpPr/>
          <p:nvPr/>
        </p:nvSpPr>
        <p:spPr>
          <a:xfrm>
            <a:off x="4359554" y="1737360"/>
            <a:ext cx="3472586" cy="50292"/>
          </a:xfrm>
          <a:prstGeom prst="rect">
            <a:avLst/>
          </a:prstGeom>
          <a:solidFill>
            <a:srgbClr val="C87F0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68" name="Google Shape;668;p38"/>
          <p:cNvSpPr txBox="1"/>
          <p:nvPr/>
        </p:nvSpPr>
        <p:spPr>
          <a:xfrm>
            <a:off x="4565294" y="1920240"/>
            <a:ext cx="306110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400">
                <a:solidFill>
                  <a:srgbClr val="C87F0A"/>
                </a:solidFill>
                <a:latin typeface="Calibri"/>
                <a:ea typeface="Calibri"/>
                <a:cs typeface="Calibri"/>
                <a:sym typeface="Calibri"/>
              </a:rPr>
              <a:t>HOLD  ·  06 ĐIỂM</a:t>
            </a:r>
            <a:endParaRPr/>
          </a:p>
        </p:txBody>
      </p:sp>
      <p:sp>
        <p:nvSpPr>
          <p:cNvPr id="669" name="Google Shape;669;p38"/>
          <p:cNvSpPr txBox="1"/>
          <p:nvPr/>
        </p:nvSpPr>
        <p:spPr>
          <a:xfrm>
            <a:off x="4565294" y="2240280"/>
            <a:ext cx="3061106" cy="2743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US" sz="1400">
                <a:solidFill>
                  <a:srgbClr val="0A2540"/>
                </a:solidFill>
                <a:latin typeface="Calibri"/>
                <a:ea typeface="Calibri"/>
                <a:cs typeface="Calibri"/>
                <a:sym typeface="Calibri"/>
              </a:rPr>
              <a:t>Chờ phản hồi và xác nhận</a:t>
            </a:r>
            <a:endParaRPr/>
          </a:p>
        </p:txBody>
      </p:sp>
      <p:sp>
        <p:nvSpPr>
          <p:cNvPr id="670" name="Google Shape;670;p38"/>
          <p:cNvSpPr txBox="1"/>
          <p:nvPr/>
        </p:nvSpPr>
        <p:spPr>
          <a:xfrm>
            <a:off x="4565294" y="2606040"/>
            <a:ext cx="3061106" cy="219456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b="0" i="0" lang="en-US" sz="1400">
                <a:solidFill>
                  <a:srgbClr val="6B7784"/>
                </a:solidFill>
                <a:latin typeface="Calibri"/>
                <a:ea typeface="Calibri"/>
                <a:cs typeface="Calibri"/>
                <a:sym typeface="Calibri"/>
              </a:rPr>
              <a:t>Chờ End-user bổ sung thông tin — 4 giờ</a:t>
            </a:r>
            <a:endParaRPr/>
          </a:p>
          <a:p>
            <a:pPr indent="0" lvl="0" marL="0" marR="0" rtl="0" algn="l">
              <a:lnSpc>
                <a:spcPct val="112000"/>
              </a:lnSpc>
              <a:spcBef>
                <a:spcPts val="200"/>
              </a:spcBef>
              <a:spcAft>
                <a:spcPts val="0"/>
              </a:spcAft>
              <a:buNone/>
            </a:pPr>
            <a:r>
              <a:rPr b="0" i="0" lang="en-US" sz="1400">
                <a:solidFill>
                  <a:srgbClr val="6B7784"/>
                </a:solidFill>
                <a:latin typeface="Calibri"/>
                <a:ea typeface="Calibri"/>
                <a:cs typeface="Calibri"/>
                <a:sym typeface="Calibri"/>
              </a:rPr>
              <a:t>Chờ phối hợp kiểm tra onsite — 8 giờ</a:t>
            </a:r>
            <a:endParaRPr/>
          </a:p>
          <a:p>
            <a:pPr indent="0" lvl="0" marL="0" marR="0" rtl="0" algn="l">
              <a:lnSpc>
                <a:spcPct val="112000"/>
              </a:lnSpc>
              <a:spcBef>
                <a:spcPts val="200"/>
              </a:spcBef>
              <a:spcAft>
                <a:spcPts val="0"/>
              </a:spcAft>
              <a:buNone/>
            </a:pPr>
            <a:r>
              <a:rPr b="0" i="0" lang="en-US" sz="1400">
                <a:solidFill>
                  <a:srgbClr val="6B7784"/>
                </a:solidFill>
                <a:latin typeface="Calibri"/>
                <a:ea typeface="Calibri"/>
                <a:cs typeface="Calibri"/>
                <a:sym typeface="Calibri"/>
              </a:rPr>
              <a:t>Chờ End-user phản hồi báo giá — 16 giờ</a:t>
            </a:r>
            <a:endParaRPr/>
          </a:p>
          <a:p>
            <a:pPr indent="0" lvl="0" marL="0" marR="0" rtl="0" algn="l">
              <a:lnSpc>
                <a:spcPct val="112000"/>
              </a:lnSpc>
              <a:spcBef>
                <a:spcPts val="200"/>
              </a:spcBef>
              <a:spcAft>
                <a:spcPts val="0"/>
              </a:spcAft>
              <a:buNone/>
            </a:pPr>
            <a:r>
              <a:rPr b="0" i="0" lang="en-US" sz="1400">
                <a:solidFill>
                  <a:srgbClr val="6B7784"/>
                </a:solidFill>
                <a:latin typeface="Calibri"/>
                <a:ea typeface="Calibri"/>
                <a:cs typeface="Calibri"/>
                <a:sym typeface="Calibri"/>
              </a:rPr>
              <a:t>Chờ phân công Service Engineer — 4 giờ</a:t>
            </a:r>
            <a:endParaRPr/>
          </a:p>
          <a:p>
            <a:pPr indent="0" lvl="0" marL="0" marR="0" rtl="0" algn="l">
              <a:lnSpc>
                <a:spcPct val="112000"/>
              </a:lnSpc>
              <a:spcBef>
                <a:spcPts val="200"/>
              </a:spcBef>
              <a:spcAft>
                <a:spcPts val="0"/>
              </a:spcAft>
              <a:buNone/>
            </a:pPr>
            <a:r>
              <a:rPr b="0" i="0" lang="en-US" sz="1400">
                <a:solidFill>
                  <a:srgbClr val="6B7784"/>
                </a:solidFill>
                <a:latin typeface="Calibri"/>
                <a:ea typeface="Calibri"/>
                <a:cs typeface="Calibri"/>
                <a:sym typeface="Calibri"/>
              </a:rPr>
              <a:t>Chờ đến lượt thực hiện dịch vụ</a:t>
            </a:r>
            <a:endParaRPr/>
          </a:p>
          <a:p>
            <a:pPr indent="0" lvl="0" marL="0" marR="0" rtl="0" algn="l">
              <a:lnSpc>
                <a:spcPct val="112000"/>
              </a:lnSpc>
              <a:spcBef>
                <a:spcPts val="200"/>
              </a:spcBef>
              <a:spcAft>
                <a:spcPts val="0"/>
              </a:spcAft>
              <a:buNone/>
            </a:pPr>
            <a:r>
              <a:rPr b="0" i="0" lang="en-US" sz="1400">
                <a:solidFill>
                  <a:srgbClr val="6B7784"/>
                </a:solidFill>
                <a:latin typeface="Calibri"/>
                <a:ea typeface="Calibri"/>
                <a:cs typeface="Calibri"/>
                <a:sym typeface="Calibri"/>
              </a:rPr>
              <a:t>Chờ End-user xác nhận kết quả — 8 giờ</a:t>
            </a:r>
            <a:endParaRPr/>
          </a:p>
        </p:txBody>
      </p:sp>
      <p:sp>
        <p:nvSpPr>
          <p:cNvPr id="671" name="Google Shape;671;p38"/>
          <p:cNvSpPr/>
          <p:nvPr/>
        </p:nvSpPr>
        <p:spPr>
          <a:xfrm>
            <a:off x="8060740" y="1737360"/>
            <a:ext cx="3472586" cy="3200400"/>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72" name="Google Shape;672;p38"/>
          <p:cNvSpPr/>
          <p:nvPr/>
        </p:nvSpPr>
        <p:spPr>
          <a:xfrm>
            <a:off x="8060740" y="1737360"/>
            <a:ext cx="3472586" cy="50292"/>
          </a:xfrm>
          <a:prstGeom prst="rect">
            <a:avLst/>
          </a:prstGeom>
          <a:solidFill>
            <a:srgbClr val="C0392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73" name="Google Shape;673;p38"/>
          <p:cNvSpPr txBox="1"/>
          <p:nvPr/>
        </p:nvSpPr>
        <p:spPr>
          <a:xfrm>
            <a:off x="8266480" y="1920240"/>
            <a:ext cx="306110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400">
                <a:solidFill>
                  <a:srgbClr val="C0392B"/>
                </a:solidFill>
                <a:latin typeface="Calibri"/>
                <a:ea typeface="Calibri"/>
                <a:cs typeface="Calibri"/>
                <a:sym typeface="Calibri"/>
              </a:rPr>
              <a:t>OVERDO  ·  05 ĐIỂM</a:t>
            </a:r>
            <a:endParaRPr/>
          </a:p>
        </p:txBody>
      </p:sp>
      <p:sp>
        <p:nvSpPr>
          <p:cNvPr id="674" name="Google Shape;674;p38"/>
          <p:cNvSpPr txBox="1"/>
          <p:nvPr/>
        </p:nvSpPr>
        <p:spPr>
          <a:xfrm>
            <a:off x="8266480" y="2240280"/>
            <a:ext cx="3061106" cy="2743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US" sz="1400">
                <a:solidFill>
                  <a:srgbClr val="0A2540"/>
                </a:solidFill>
                <a:latin typeface="Calibri"/>
                <a:ea typeface="Calibri"/>
                <a:cs typeface="Calibri"/>
                <a:sym typeface="Calibri"/>
              </a:rPr>
              <a:t>Vòng lặp bổ sung thông tin</a:t>
            </a:r>
            <a:endParaRPr/>
          </a:p>
        </p:txBody>
      </p:sp>
      <p:sp>
        <p:nvSpPr>
          <p:cNvPr id="675" name="Google Shape;675;p38"/>
          <p:cNvSpPr txBox="1"/>
          <p:nvPr/>
        </p:nvSpPr>
        <p:spPr>
          <a:xfrm>
            <a:off x="8266480" y="2606040"/>
            <a:ext cx="3061106" cy="219456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b="0" i="0" lang="en-US" sz="1400">
                <a:solidFill>
                  <a:srgbClr val="6B7784"/>
                </a:solidFill>
                <a:latin typeface="Calibri"/>
                <a:ea typeface="Calibri"/>
                <a:cs typeface="Calibri"/>
                <a:sym typeface="Calibri"/>
              </a:rPr>
              <a:t>Yêu cầu Distributor bổ sung thông tin</a:t>
            </a:r>
            <a:endParaRPr/>
          </a:p>
          <a:p>
            <a:pPr indent="0" lvl="0" marL="0" marR="0" rtl="0" algn="l">
              <a:lnSpc>
                <a:spcPct val="112000"/>
              </a:lnSpc>
              <a:spcBef>
                <a:spcPts val="200"/>
              </a:spcBef>
              <a:spcAft>
                <a:spcPts val="0"/>
              </a:spcAft>
              <a:buNone/>
            </a:pPr>
            <a:r>
              <a:rPr b="0" i="0" lang="en-US" sz="1400">
                <a:solidFill>
                  <a:srgbClr val="6B7784"/>
                </a:solidFill>
                <a:latin typeface="Calibri"/>
                <a:ea typeface="Calibri"/>
                <a:cs typeface="Calibri"/>
                <a:sym typeface="Calibri"/>
              </a:rPr>
              <a:t>Yêu cầu End-user bổ sung thông tin</a:t>
            </a:r>
            <a:endParaRPr/>
          </a:p>
          <a:p>
            <a:pPr indent="0" lvl="0" marL="0" marR="0" rtl="0" algn="l">
              <a:lnSpc>
                <a:spcPct val="112000"/>
              </a:lnSpc>
              <a:spcBef>
                <a:spcPts val="200"/>
              </a:spcBef>
              <a:spcAft>
                <a:spcPts val="0"/>
              </a:spcAft>
              <a:buNone/>
            </a:pPr>
            <a:r>
              <a:rPr b="0" i="0" lang="en-US" sz="1400">
                <a:solidFill>
                  <a:srgbClr val="6B7784"/>
                </a:solidFill>
                <a:latin typeface="Calibri"/>
                <a:ea typeface="Calibri"/>
                <a:cs typeface="Calibri"/>
                <a:sym typeface="Calibri"/>
              </a:rPr>
              <a:t>End-user bổ sung thông tin yêu cầu</a:t>
            </a:r>
            <a:endParaRPr/>
          </a:p>
          <a:p>
            <a:pPr indent="0" lvl="0" marL="0" marR="0" rtl="0" algn="l">
              <a:lnSpc>
                <a:spcPct val="112000"/>
              </a:lnSpc>
              <a:spcBef>
                <a:spcPts val="200"/>
              </a:spcBef>
              <a:spcAft>
                <a:spcPts val="0"/>
              </a:spcAft>
              <a:buNone/>
            </a:pPr>
            <a:r>
              <a:rPr b="0" i="0" lang="en-US" sz="1400">
                <a:solidFill>
                  <a:srgbClr val="6B7784"/>
                </a:solidFill>
                <a:latin typeface="Calibri"/>
                <a:ea typeface="Calibri"/>
                <a:cs typeface="Calibri"/>
                <a:sym typeface="Calibri"/>
              </a:rPr>
              <a:t>Chuyển thông tin bổ sung trở lại Admin</a:t>
            </a:r>
            <a:endParaRPr/>
          </a:p>
          <a:p>
            <a:pPr indent="0" lvl="0" marL="0" marR="0" rtl="0" algn="l">
              <a:lnSpc>
                <a:spcPct val="112000"/>
              </a:lnSpc>
              <a:spcBef>
                <a:spcPts val="200"/>
              </a:spcBef>
              <a:spcAft>
                <a:spcPts val="0"/>
              </a:spcAft>
              <a:buNone/>
            </a:pPr>
            <a:r>
              <a:rPr b="0" i="0" lang="en-US" sz="1400">
                <a:solidFill>
                  <a:srgbClr val="6B7784"/>
                </a:solidFill>
                <a:latin typeface="Calibri"/>
                <a:ea typeface="Calibri"/>
                <a:cs typeface="Calibri"/>
                <a:sym typeface="Calibri"/>
              </a:rPr>
              <a:t>Kiểm tra, cập nhật lại thông tin xử lý</a:t>
            </a:r>
            <a:endParaRPr/>
          </a:p>
        </p:txBody>
      </p:sp>
      <p:sp>
        <p:nvSpPr>
          <p:cNvPr id="676" name="Google Shape;676;p38"/>
          <p:cNvSpPr/>
          <p:nvPr/>
        </p:nvSpPr>
        <p:spPr>
          <a:xfrm>
            <a:off x="658368" y="5074920"/>
            <a:ext cx="10874959" cy="1005840"/>
          </a:xfrm>
          <a:prstGeom prst="rect">
            <a:avLst/>
          </a:prstGeom>
          <a:solidFill>
            <a:srgbClr val="FBF4E8"/>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77" name="Google Shape;677;p38"/>
          <p:cNvSpPr/>
          <p:nvPr/>
        </p:nvSpPr>
        <p:spPr>
          <a:xfrm>
            <a:off x="658368" y="5074920"/>
            <a:ext cx="50292" cy="1005840"/>
          </a:xfrm>
          <a:prstGeom prst="rect">
            <a:avLst/>
          </a:prstGeom>
          <a:solidFill>
            <a:srgbClr val="C87F0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78" name="Google Shape;678;p38"/>
          <p:cNvSpPr txBox="1"/>
          <p:nvPr/>
        </p:nvSpPr>
        <p:spPr>
          <a:xfrm>
            <a:off x="864108" y="5189220"/>
            <a:ext cx="10463479" cy="77724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None/>
            </a:pPr>
            <a:r>
              <a:rPr b="0" i="0" lang="en-US" sz="1400">
                <a:solidFill>
                  <a:srgbClr val="0A2540"/>
                </a:solidFill>
                <a:latin typeface="Calibri"/>
                <a:ea typeface="Calibri"/>
                <a:cs typeface="Calibri"/>
                <a:sym typeface="Calibri"/>
              </a:rPr>
              <a:t>Move và Hold (mỗi loại 06 điểm) chiếm tỷ trọng lớn hơn Overdo — vấn đề nằm ở cấu trúc phối hợp giữa các bên, không phải ở khối lượng công việc kỹ thuật. Cả 05 điểm Overdo đều sinh ra từ một nguyên nhân duy nhất: thông tin yêu cầu dịch vụ ban đầu chưa đầy đủ.</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p39"/>
          <p:cNvSpPr/>
          <p:nvPr/>
        </p:nvSpPr>
        <p:spPr>
          <a:xfrm>
            <a:off x="0" y="0"/>
            <a:ext cx="12191695" cy="859536"/>
          </a:xfrm>
          <a:prstGeom prst="rect">
            <a:avLst/>
          </a:prstGeom>
          <a:solidFill>
            <a:srgbClr val="0A25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84" name="Google Shape;684;p39"/>
          <p:cNvSpPr/>
          <p:nvPr/>
        </p:nvSpPr>
        <p:spPr>
          <a:xfrm>
            <a:off x="0" y="0"/>
            <a:ext cx="182880" cy="859536"/>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85" name="Google Shape;685;p39"/>
          <p:cNvSpPr txBox="1"/>
          <p:nvPr/>
        </p:nvSpPr>
        <p:spPr>
          <a:xfrm>
            <a:off x="475488" y="137160"/>
            <a:ext cx="7955279"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950">
                <a:solidFill>
                  <a:srgbClr val="00C2A8"/>
                </a:solidFill>
                <a:latin typeface="Calibri"/>
                <a:ea typeface="Calibri"/>
                <a:cs typeface="Calibri"/>
                <a:sym typeface="Calibri"/>
              </a:rPr>
              <a:t>CHƯƠNG 4 · 4.2.2B PHÂN TÍCH SỰ LÃNG PHÍ</a:t>
            </a:r>
            <a:endParaRPr/>
          </a:p>
        </p:txBody>
      </p:sp>
      <p:sp>
        <p:nvSpPr>
          <p:cNvPr id="686" name="Google Shape;686;p39"/>
          <p:cNvSpPr txBox="1"/>
          <p:nvPr/>
        </p:nvSpPr>
        <p:spPr>
          <a:xfrm>
            <a:off x="475488" y="411480"/>
            <a:ext cx="7955279"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700">
                <a:solidFill>
                  <a:srgbClr val="FFFFFF"/>
                </a:solidFill>
                <a:latin typeface="Calibri"/>
                <a:ea typeface="Calibri"/>
                <a:cs typeface="Calibri"/>
                <a:sym typeface="Calibri"/>
              </a:rPr>
              <a:t>C03 — Phân tích Move / Hold / Overdo trên mô hình quy trình</a:t>
            </a:r>
            <a:endParaRPr/>
          </a:p>
        </p:txBody>
      </p:sp>
      <p:sp>
        <p:nvSpPr>
          <p:cNvPr id="687" name="Google Shape;687;p39"/>
          <p:cNvSpPr txBox="1"/>
          <p:nvPr/>
        </p:nvSpPr>
        <p:spPr>
          <a:xfrm>
            <a:off x="8595360" y="265176"/>
            <a:ext cx="3154680" cy="329184"/>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1" i="0" lang="en-US" sz="1400">
                <a:solidFill>
                  <a:srgbClr val="00C2A8"/>
                </a:solidFill>
                <a:latin typeface="Calibri"/>
                <a:ea typeface="Calibri"/>
                <a:cs typeface="Calibri"/>
                <a:sym typeface="Calibri"/>
              </a:rPr>
              <a:t>Hình 4.2</a:t>
            </a:r>
            <a:endParaRPr/>
          </a:p>
        </p:txBody>
      </p:sp>
      <p:sp>
        <p:nvSpPr>
          <p:cNvPr id="688" name="Google Shape;688;p39"/>
          <p:cNvSpPr txBox="1"/>
          <p:nvPr/>
        </p:nvSpPr>
        <p:spPr>
          <a:xfrm>
            <a:off x="658368" y="6355080"/>
            <a:ext cx="10326319"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850">
                <a:solidFill>
                  <a:srgbClr val="6B7784"/>
                </a:solidFill>
                <a:latin typeface="Calibri"/>
                <a:ea typeface="Calibri"/>
                <a:cs typeface="Calibri"/>
                <a:sym typeface="Calibri"/>
              </a:rPr>
              <a:t>SOLVENTUM VIỆT NAM  ·  HỆ THỐNG QUẢN TRỊ QUY TRÌNH NGHIỆP VỤ</a:t>
            </a:r>
            <a:endParaRPr/>
          </a:p>
        </p:txBody>
      </p:sp>
      <p:sp>
        <p:nvSpPr>
          <p:cNvPr id="689" name="Google Shape;689;p39"/>
          <p:cNvSpPr txBox="1"/>
          <p:nvPr/>
        </p:nvSpPr>
        <p:spPr>
          <a:xfrm>
            <a:off x="10984687" y="6355080"/>
            <a:ext cx="548640" cy="2286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1" i="0" lang="en-US" sz="950">
                <a:solidFill>
                  <a:srgbClr val="0096D6"/>
                </a:solidFill>
                <a:latin typeface="Calibri"/>
                <a:ea typeface="Calibri"/>
                <a:cs typeface="Calibri"/>
                <a:sym typeface="Calibri"/>
              </a:rPr>
              <a:t>27</a:t>
            </a:r>
            <a:endParaRPr/>
          </a:p>
        </p:txBody>
      </p:sp>
      <p:sp>
        <p:nvSpPr>
          <p:cNvPr id="690" name="Google Shape;690;p39"/>
          <p:cNvSpPr txBox="1"/>
          <p:nvPr/>
        </p:nvSpPr>
        <p:spPr>
          <a:xfrm>
            <a:off x="658368" y="1097280"/>
            <a:ext cx="10874959"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400">
                <a:solidFill>
                  <a:srgbClr val="0A2540"/>
                </a:solidFill>
                <a:latin typeface="Calibri"/>
                <a:ea typeface="Calibri"/>
                <a:cs typeface="Calibri"/>
                <a:sym typeface="Calibri"/>
              </a:rPr>
              <a:t>Hình 4.2. Phân tích sự lãng phí trên mô hình quy trình Service Order Management</a:t>
            </a:r>
            <a:endParaRPr/>
          </a:p>
        </p:txBody>
      </p:sp>
      <p:sp>
        <p:nvSpPr>
          <p:cNvPr id="691" name="Google Shape;691;p39"/>
          <p:cNvSpPr/>
          <p:nvPr/>
        </p:nvSpPr>
        <p:spPr>
          <a:xfrm>
            <a:off x="658368" y="1554480"/>
            <a:ext cx="228600" cy="182880"/>
          </a:xfrm>
          <a:prstGeom prst="rect">
            <a:avLst/>
          </a:prstGeom>
          <a:solidFill>
            <a:srgbClr val="2E9E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92" name="Google Shape;692;p39"/>
          <p:cNvSpPr txBox="1"/>
          <p:nvPr/>
        </p:nvSpPr>
        <p:spPr>
          <a:xfrm>
            <a:off x="955548" y="1508760"/>
            <a:ext cx="32004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400">
                <a:solidFill>
                  <a:srgbClr val="0A2540"/>
                </a:solidFill>
                <a:latin typeface="Calibri"/>
                <a:ea typeface="Calibri"/>
                <a:cs typeface="Calibri"/>
                <a:sym typeface="Calibri"/>
              </a:rPr>
              <a:t>Move — Chuyển giao / di chuyển</a:t>
            </a:r>
            <a:endParaRPr/>
          </a:p>
        </p:txBody>
      </p:sp>
      <p:sp>
        <p:nvSpPr>
          <p:cNvPr id="693" name="Google Shape;693;p39"/>
          <p:cNvSpPr/>
          <p:nvPr/>
        </p:nvSpPr>
        <p:spPr>
          <a:xfrm>
            <a:off x="4315968" y="1554480"/>
            <a:ext cx="228600" cy="182880"/>
          </a:xfrm>
          <a:prstGeom prst="rect">
            <a:avLst/>
          </a:prstGeom>
          <a:solidFill>
            <a:srgbClr val="DDC2E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94" name="Google Shape;694;p39"/>
          <p:cNvSpPr txBox="1"/>
          <p:nvPr/>
        </p:nvSpPr>
        <p:spPr>
          <a:xfrm>
            <a:off x="4613148" y="1508760"/>
            <a:ext cx="32004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400">
                <a:solidFill>
                  <a:srgbClr val="0A2540"/>
                </a:solidFill>
                <a:latin typeface="Calibri"/>
                <a:ea typeface="Calibri"/>
                <a:cs typeface="Calibri"/>
                <a:sym typeface="Calibri"/>
              </a:rPr>
              <a:t>Hold — Chờ đợi</a:t>
            </a:r>
            <a:endParaRPr/>
          </a:p>
        </p:txBody>
      </p:sp>
      <p:sp>
        <p:nvSpPr>
          <p:cNvPr id="695" name="Google Shape;695;p39"/>
          <p:cNvSpPr/>
          <p:nvPr/>
        </p:nvSpPr>
        <p:spPr>
          <a:xfrm>
            <a:off x="7973568" y="1554480"/>
            <a:ext cx="228600" cy="182880"/>
          </a:xfrm>
          <a:prstGeom prst="rect">
            <a:avLst/>
          </a:prstGeom>
          <a:solidFill>
            <a:srgbClr val="C5DF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96" name="Google Shape;696;p39"/>
          <p:cNvSpPr txBox="1"/>
          <p:nvPr/>
        </p:nvSpPr>
        <p:spPr>
          <a:xfrm>
            <a:off x="8270748" y="1508760"/>
            <a:ext cx="32004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400">
                <a:solidFill>
                  <a:srgbClr val="0A2540"/>
                </a:solidFill>
                <a:latin typeface="Calibri"/>
                <a:ea typeface="Calibri"/>
                <a:cs typeface="Calibri"/>
                <a:sym typeface="Calibri"/>
              </a:rPr>
              <a:t>Overdo — Xử lý quá mức</a:t>
            </a:r>
            <a:endParaRPr/>
          </a:p>
        </p:txBody>
      </p:sp>
      <p:pic>
        <p:nvPicPr>
          <p:cNvPr id="697" name="Google Shape;697;p39"/>
          <p:cNvPicPr preferRelativeResize="0"/>
          <p:nvPr/>
        </p:nvPicPr>
        <p:blipFill>
          <a:blip r:embed="rId3">
            <a:alphaModFix/>
          </a:blip>
          <a:stretch>
            <a:fillRect/>
          </a:stretch>
        </p:blipFill>
        <p:spPr>
          <a:xfrm>
            <a:off x="1952000" y="1987625"/>
            <a:ext cx="7739050" cy="42852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sp>
        <p:nvSpPr>
          <p:cNvPr id="702" name="Google Shape;702;p40"/>
          <p:cNvSpPr txBox="1"/>
          <p:nvPr/>
        </p:nvSpPr>
        <p:spPr>
          <a:xfrm>
            <a:off x="658368" y="384048"/>
            <a:ext cx="10874959"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050">
                <a:solidFill>
                  <a:srgbClr val="0096D6"/>
                </a:solidFill>
                <a:latin typeface="Calibri"/>
                <a:ea typeface="Calibri"/>
                <a:cs typeface="Calibri"/>
                <a:sym typeface="Calibri"/>
              </a:rPr>
              <a:t>CHƯƠNG 4 · 4.2.2C PHÂN TÍCH CÁC BÊN LIÊN QUAN</a:t>
            </a:r>
            <a:endParaRPr/>
          </a:p>
        </p:txBody>
      </p:sp>
      <p:sp>
        <p:nvSpPr>
          <p:cNvPr id="703" name="Google Shape;703;p40"/>
          <p:cNvSpPr txBox="1"/>
          <p:nvPr/>
        </p:nvSpPr>
        <p:spPr>
          <a:xfrm>
            <a:off x="658368" y="640080"/>
            <a:ext cx="10874959" cy="60350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US" sz="2500">
                <a:solidFill>
                  <a:srgbClr val="0A2540"/>
                </a:solidFill>
                <a:latin typeface="Calibri"/>
                <a:ea typeface="Calibri"/>
                <a:cs typeface="Calibri"/>
                <a:sym typeface="Calibri"/>
              </a:rPr>
              <a:t>BỐN NHÓM NGUYÊN NHÂN KÉO DÀI THỜI GIAN XỬ LÝ</a:t>
            </a:r>
            <a:endParaRPr/>
          </a:p>
        </p:txBody>
      </p:sp>
      <p:sp>
        <p:nvSpPr>
          <p:cNvPr id="704" name="Google Shape;704;p40"/>
          <p:cNvSpPr/>
          <p:nvPr/>
        </p:nvSpPr>
        <p:spPr>
          <a:xfrm>
            <a:off x="658368" y="1280160"/>
            <a:ext cx="566928" cy="41148"/>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05" name="Google Shape;705;p40"/>
          <p:cNvSpPr/>
          <p:nvPr/>
        </p:nvSpPr>
        <p:spPr>
          <a:xfrm>
            <a:off x="1298448" y="1280160"/>
            <a:ext cx="10234879" cy="41148"/>
          </a:xfrm>
          <a:prstGeom prst="rect">
            <a:avLst/>
          </a:prstGeom>
          <a:solidFill>
            <a:srgbClr val="DFE4E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06" name="Google Shape;706;p40"/>
          <p:cNvSpPr txBox="1"/>
          <p:nvPr/>
        </p:nvSpPr>
        <p:spPr>
          <a:xfrm>
            <a:off x="658368" y="1371600"/>
            <a:ext cx="10874959"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1" lang="en-US" sz="1100">
                <a:solidFill>
                  <a:srgbClr val="6B7784"/>
                </a:solidFill>
                <a:latin typeface="Calibri"/>
                <a:ea typeface="Calibri"/>
                <a:cs typeface="Calibri"/>
                <a:sym typeface="Calibri"/>
              </a:rPr>
              <a:t>Bảng 4.3 — Vấn đề trung tâm: “Thời gian xử lý Service Order có thể bị kéo dài”</a:t>
            </a:r>
            <a:endParaRPr/>
          </a:p>
        </p:txBody>
      </p:sp>
      <p:sp>
        <p:nvSpPr>
          <p:cNvPr id="707" name="Google Shape;707;p40"/>
          <p:cNvSpPr txBox="1"/>
          <p:nvPr/>
        </p:nvSpPr>
        <p:spPr>
          <a:xfrm>
            <a:off x="658368" y="6355080"/>
            <a:ext cx="10326319"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850">
                <a:solidFill>
                  <a:srgbClr val="6B7784"/>
                </a:solidFill>
                <a:latin typeface="Calibri"/>
                <a:ea typeface="Calibri"/>
                <a:cs typeface="Calibri"/>
                <a:sym typeface="Calibri"/>
              </a:rPr>
              <a:t>SOLVENTUM VIỆT NAM  ·  HỆ THỐNG QUẢN TRỊ QUY TRÌNH NGHIỆP VỤ</a:t>
            </a:r>
            <a:endParaRPr/>
          </a:p>
        </p:txBody>
      </p:sp>
      <p:sp>
        <p:nvSpPr>
          <p:cNvPr id="708" name="Google Shape;708;p40"/>
          <p:cNvSpPr txBox="1"/>
          <p:nvPr/>
        </p:nvSpPr>
        <p:spPr>
          <a:xfrm>
            <a:off x="10984687" y="6355080"/>
            <a:ext cx="548640" cy="2286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1" i="0" lang="en-US" sz="950">
                <a:solidFill>
                  <a:srgbClr val="0096D6"/>
                </a:solidFill>
                <a:latin typeface="Calibri"/>
                <a:ea typeface="Calibri"/>
                <a:cs typeface="Calibri"/>
                <a:sym typeface="Calibri"/>
              </a:rPr>
              <a:t>28</a:t>
            </a:r>
            <a:endParaRPr/>
          </a:p>
        </p:txBody>
      </p:sp>
      <p:sp>
        <p:nvSpPr>
          <p:cNvPr id="709" name="Google Shape;709;p40"/>
          <p:cNvSpPr/>
          <p:nvPr/>
        </p:nvSpPr>
        <p:spPr>
          <a:xfrm>
            <a:off x="658368" y="1737360"/>
            <a:ext cx="2581579" cy="3383280"/>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10" name="Google Shape;710;p40"/>
          <p:cNvSpPr/>
          <p:nvPr/>
        </p:nvSpPr>
        <p:spPr>
          <a:xfrm>
            <a:off x="658368" y="1737360"/>
            <a:ext cx="2581579" cy="50292"/>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11" name="Google Shape;711;p40"/>
          <p:cNvSpPr txBox="1"/>
          <p:nvPr/>
        </p:nvSpPr>
        <p:spPr>
          <a:xfrm>
            <a:off x="864108" y="1920240"/>
            <a:ext cx="2170099"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400">
                <a:solidFill>
                  <a:srgbClr val="0096D6"/>
                </a:solidFill>
                <a:latin typeface="Calibri"/>
                <a:ea typeface="Calibri"/>
                <a:cs typeface="Calibri"/>
                <a:sym typeface="Calibri"/>
              </a:rPr>
              <a:t>PEOPLE</a:t>
            </a:r>
            <a:endParaRPr/>
          </a:p>
        </p:txBody>
      </p:sp>
      <p:sp>
        <p:nvSpPr>
          <p:cNvPr id="712" name="Google Shape;712;p40"/>
          <p:cNvSpPr txBox="1"/>
          <p:nvPr/>
        </p:nvSpPr>
        <p:spPr>
          <a:xfrm>
            <a:off x="864108" y="2240280"/>
            <a:ext cx="2170099" cy="2743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US" sz="1400">
                <a:solidFill>
                  <a:srgbClr val="0A2540"/>
                </a:solidFill>
                <a:latin typeface="Calibri"/>
                <a:ea typeface="Calibri"/>
                <a:cs typeface="Calibri"/>
                <a:sym typeface="Calibri"/>
              </a:rPr>
              <a:t>Con người</a:t>
            </a:r>
            <a:endParaRPr/>
          </a:p>
        </p:txBody>
      </p:sp>
      <p:sp>
        <p:nvSpPr>
          <p:cNvPr id="713" name="Google Shape;713;p40"/>
          <p:cNvSpPr txBox="1"/>
          <p:nvPr/>
        </p:nvSpPr>
        <p:spPr>
          <a:xfrm>
            <a:off x="864108" y="2606040"/>
            <a:ext cx="2170099" cy="23774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b="0" i="0" lang="en-US" sz="1250">
                <a:solidFill>
                  <a:srgbClr val="6B7784"/>
                </a:solidFill>
                <a:latin typeface="Calibri"/>
                <a:ea typeface="Calibri"/>
                <a:cs typeface="Calibri"/>
                <a:sym typeface="Calibri"/>
              </a:rPr>
              <a:t>End-user có thể cung cấp thông tin ban đầu chưa đầy đủ.</a:t>
            </a:r>
            <a:endParaRPr/>
          </a:p>
          <a:p>
            <a:pPr indent="0" lvl="0" marL="0" marR="0" rtl="0" algn="l">
              <a:lnSpc>
                <a:spcPct val="112000"/>
              </a:lnSpc>
              <a:spcBef>
                <a:spcPts val="200"/>
              </a:spcBef>
              <a:spcAft>
                <a:spcPts val="0"/>
              </a:spcAft>
              <a:buNone/>
            </a:pPr>
            <a:r>
              <a:rPr b="0" i="0" lang="en-US" sz="1250">
                <a:solidFill>
                  <a:srgbClr val="6B7784"/>
                </a:solidFill>
                <a:latin typeface="Calibri"/>
                <a:ea typeface="Calibri"/>
                <a:cs typeface="Calibri"/>
                <a:sym typeface="Calibri"/>
              </a:rPr>
              <a:t>Bổ sung và xác nhận phụ thuộc phối hợp End-user – Distributor.</a:t>
            </a:r>
            <a:endParaRPr/>
          </a:p>
          <a:p>
            <a:pPr indent="0" lvl="0" marL="0" marR="0" rtl="0" algn="l">
              <a:lnSpc>
                <a:spcPct val="112000"/>
              </a:lnSpc>
              <a:spcBef>
                <a:spcPts val="200"/>
              </a:spcBef>
              <a:spcAft>
                <a:spcPts val="0"/>
              </a:spcAft>
              <a:buNone/>
            </a:pPr>
            <a:r>
              <a:rPr b="0" i="0" lang="en-US" sz="1250">
                <a:solidFill>
                  <a:srgbClr val="6B7784"/>
                </a:solidFill>
                <a:latin typeface="Calibri"/>
                <a:ea typeface="Calibri"/>
                <a:cs typeface="Calibri"/>
                <a:sym typeface="Calibri"/>
              </a:rPr>
              <a:t>Thực hiện dịch vụ phụ thuộc khả năng bố trí Service Engineer.</a:t>
            </a:r>
            <a:endParaRPr/>
          </a:p>
          <a:p>
            <a:pPr indent="0" lvl="0" marL="0" marR="0" rtl="0" algn="l">
              <a:lnSpc>
                <a:spcPct val="112000"/>
              </a:lnSpc>
              <a:spcBef>
                <a:spcPts val="200"/>
              </a:spcBef>
              <a:spcAft>
                <a:spcPts val="0"/>
              </a:spcAft>
              <a:buNone/>
            </a:pPr>
            <a:r>
              <a:rPr b="0" i="0" lang="en-US" sz="1250">
                <a:solidFill>
                  <a:srgbClr val="6B7784"/>
                </a:solidFill>
                <a:latin typeface="Calibri"/>
                <a:ea typeface="Calibri"/>
                <a:cs typeface="Calibri"/>
                <a:sym typeface="Calibri"/>
              </a:rPr>
              <a:t>Thời gian phản hồi giữa các bên khác nhau theo từng trường hợp.</a:t>
            </a:r>
            <a:endParaRPr/>
          </a:p>
        </p:txBody>
      </p:sp>
      <p:sp>
        <p:nvSpPr>
          <p:cNvPr id="714" name="Google Shape;714;p40"/>
          <p:cNvSpPr/>
          <p:nvPr/>
        </p:nvSpPr>
        <p:spPr>
          <a:xfrm>
            <a:off x="3422827" y="1737360"/>
            <a:ext cx="2581579" cy="3383280"/>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15" name="Google Shape;715;p40"/>
          <p:cNvSpPr/>
          <p:nvPr/>
        </p:nvSpPr>
        <p:spPr>
          <a:xfrm>
            <a:off x="3422827" y="1737360"/>
            <a:ext cx="2581579" cy="50292"/>
          </a:xfrm>
          <a:prstGeom prst="rect">
            <a:avLst/>
          </a:prstGeom>
          <a:solidFill>
            <a:srgbClr val="C0392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16" name="Google Shape;716;p40"/>
          <p:cNvSpPr txBox="1"/>
          <p:nvPr/>
        </p:nvSpPr>
        <p:spPr>
          <a:xfrm>
            <a:off x="3628567" y="1920240"/>
            <a:ext cx="2170099"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400">
                <a:solidFill>
                  <a:srgbClr val="C0392B"/>
                </a:solidFill>
                <a:latin typeface="Calibri"/>
                <a:ea typeface="Calibri"/>
                <a:cs typeface="Calibri"/>
                <a:sym typeface="Calibri"/>
              </a:rPr>
              <a:t>INFORMATION</a:t>
            </a:r>
            <a:endParaRPr/>
          </a:p>
        </p:txBody>
      </p:sp>
      <p:sp>
        <p:nvSpPr>
          <p:cNvPr id="717" name="Google Shape;717;p40"/>
          <p:cNvSpPr txBox="1"/>
          <p:nvPr/>
        </p:nvSpPr>
        <p:spPr>
          <a:xfrm>
            <a:off x="3628567" y="2240280"/>
            <a:ext cx="2170099" cy="2743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US" sz="1400">
                <a:solidFill>
                  <a:srgbClr val="0A2540"/>
                </a:solidFill>
                <a:latin typeface="Calibri"/>
                <a:ea typeface="Calibri"/>
                <a:cs typeface="Calibri"/>
                <a:sym typeface="Calibri"/>
              </a:rPr>
              <a:t>Thông tin</a:t>
            </a:r>
            <a:endParaRPr/>
          </a:p>
        </p:txBody>
      </p:sp>
      <p:sp>
        <p:nvSpPr>
          <p:cNvPr id="718" name="Google Shape;718;p40"/>
          <p:cNvSpPr txBox="1"/>
          <p:nvPr/>
        </p:nvSpPr>
        <p:spPr>
          <a:xfrm>
            <a:off x="3628567" y="2606040"/>
            <a:ext cx="2170099" cy="23774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b="0" i="0" lang="en-US" sz="1300">
                <a:solidFill>
                  <a:srgbClr val="6B7784"/>
                </a:solidFill>
                <a:latin typeface="Calibri"/>
                <a:ea typeface="Calibri"/>
                <a:cs typeface="Calibri"/>
                <a:sym typeface="Calibri"/>
              </a:rPr>
              <a:t>Thông tin thiết bị / yêu cầu dịch vụ ban đầu chưa đầy đủ.</a:t>
            </a:r>
            <a:endParaRPr/>
          </a:p>
          <a:p>
            <a:pPr indent="0" lvl="0" marL="0" marR="0" rtl="0" algn="l">
              <a:lnSpc>
                <a:spcPct val="112000"/>
              </a:lnSpc>
              <a:spcBef>
                <a:spcPts val="200"/>
              </a:spcBef>
              <a:spcAft>
                <a:spcPts val="0"/>
              </a:spcAft>
              <a:buNone/>
            </a:pPr>
            <a:r>
              <a:rPr b="0" i="0" lang="en-US" sz="1300">
                <a:solidFill>
                  <a:srgbClr val="6B7784"/>
                </a:solidFill>
                <a:latin typeface="Calibri"/>
                <a:ea typeface="Calibri"/>
                <a:cs typeface="Calibri"/>
                <a:sym typeface="Calibri"/>
              </a:rPr>
              <a:t>Thông tin thiếu phải được yêu cầu và cung cấp bổ sung.</a:t>
            </a:r>
            <a:endParaRPr/>
          </a:p>
          <a:p>
            <a:pPr indent="0" lvl="0" marL="0" marR="0" rtl="0" algn="l">
              <a:lnSpc>
                <a:spcPct val="112000"/>
              </a:lnSpc>
              <a:spcBef>
                <a:spcPts val="200"/>
              </a:spcBef>
              <a:spcAft>
                <a:spcPts val="0"/>
              </a:spcAft>
              <a:buNone/>
            </a:pPr>
            <a:r>
              <a:rPr b="0" i="0" lang="en-US" sz="1300">
                <a:solidFill>
                  <a:srgbClr val="6B7784"/>
                </a:solidFill>
                <a:latin typeface="Calibri"/>
                <a:ea typeface="Calibri"/>
                <a:cs typeface="Calibri"/>
                <a:sym typeface="Calibri"/>
              </a:rPr>
              <a:t>Thông tin đi qua nhiều đối tượng trước khi đến người xử lý.</a:t>
            </a:r>
            <a:endParaRPr/>
          </a:p>
          <a:p>
            <a:pPr indent="0" lvl="0" marL="0" marR="0" rtl="0" algn="l">
              <a:lnSpc>
                <a:spcPct val="112000"/>
              </a:lnSpc>
              <a:spcBef>
                <a:spcPts val="200"/>
              </a:spcBef>
              <a:spcAft>
                <a:spcPts val="0"/>
              </a:spcAft>
              <a:buNone/>
            </a:pPr>
            <a:r>
              <a:rPr b="0" i="0" lang="en-US" sz="1300">
                <a:solidFill>
                  <a:srgbClr val="6B7784"/>
                </a:solidFill>
                <a:latin typeface="Calibri"/>
                <a:ea typeface="Calibri"/>
                <a:cs typeface="Calibri"/>
                <a:sym typeface="Calibri"/>
              </a:rPr>
              <a:t>Kết quả đánh giá kỹ thuật cần ghi nhận đủ cho bước sau.</a:t>
            </a:r>
            <a:endParaRPr/>
          </a:p>
        </p:txBody>
      </p:sp>
      <p:sp>
        <p:nvSpPr>
          <p:cNvPr id="719" name="Google Shape;719;p40"/>
          <p:cNvSpPr/>
          <p:nvPr/>
        </p:nvSpPr>
        <p:spPr>
          <a:xfrm>
            <a:off x="6187286" y="1737360"/>
            <a:ext cx="2581579" cy="3383280"/>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20" name="Google Shape;720;p40"/>
          <p:cNvSpPr/>
          <p:nvPr/>
        </p:nvSpPr>
        <p:spPr>
          <a:xfrm>
            <a:off x="6187286" y="1737360"/>
            <a:ext cx="2581579" cy="50292"/>
          </a:xfrm>
          <a:prstGeom prst="rect">
            <a:avLst/>
          </a:prstGeom>
          <a:solidFill>
            <a:srgbClr val="C87F0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21" name="Google Shape;721;p40"/>
          <p:cNvSpPr txBox="1"/>
          <p:nvPr/>
        </p:nvSpPr>
        <p:spPr>
          <a:xfrm>
            <a:off x="6393026" y="1920240"/>
            <a:ext cx="2170099"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400">
                <a:solidFill>
                  <a:srgbClr val="C87F0A"/>
                </a:solidFill>
                <a:latin typeface="Calibri"/>
                <a:ea typeface="Calibri"/>
                <a:cs typeface="Calibri"/>
                <a:sym typeface="Calibri"/>
              </a:rPr>
              <a:t>PROCESS</a:t>
            </a:r>
            <a:endParaRPr/>
          </a:p>
        </p:txBody>
      </p:sp>
      <p:sp>
        <p:nvSpPr>
          <p:cNvPr id="722" name="Google Shape;722;p40"/>
          <p:cNvSpPr txBox="1"/>
          <p:nvPr/>
        </p:nvSpPr>
        <p:spPr>
          <a:xfrm>
            <a:off x="6393026" y="2240280"/>
            <a:ext cx="2170099" cy="2743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US" sz="1400">
                <a:solidFill>
                  <a:srgbClr val="0A2540"/>
                </a:solidFill>
                <a:latin typeface="Calibri"/>
                <a:ea typeface="Calibri"/>
                <a:cs typeface="Calibri"/>
                <a:sym typeface="Calibri"/>
              </a:rPr>
              <a:t>Quy trình</a:t>
            </a:r>
            <a:endParaRPr/>
          </a:p>
        </p:txBody>
      </p:sp>
      <p:sp>
        <p:nvSpPr>
          <p:cNvPr id="723" name="Google Shape;723;p40"/>
          <p:cNvSpPr txBox="1"/>
          <p:nvPr/>
        </p:nvSpPr>
        <p:spPr>
          <a:xfrm>
            <a:off x="6393026" y="2606040"/>
            <a:ext cx="2170099" cy="23774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b="0" i="0" lang="en-US" sz="1300">
                <a:solidFill>
                  <a:srgbClr val="6B7784"/>
                </a:solidFill>
                <a:latin typeface="Calibri"/>
                <a:ea typeface="Calibri"/>
                <a:cs typeface="Calibri"/>
                <a:sym typeface="Calibri"/>
              </a:rPr>
              <a:t>Yêu cầu phải qua Distributor trước khi đến Service Admin.</a:t>
            </a:r>
            <a:endParaRPr/>
          </a:p>
          <a:p>
            <a:pPr indent="0" lvl="0" marL="0" marR="0" rtl="0" algn="l">
              <a:lnSpc>
                <a:spcPct val="112000"/>
              </a:lnSpc>
              <a:spcBef>
                <a:spcPts val="200"/>
              </a:spcBef>
              <a:spcAft>
                <a:spcPts val="0"/>
              </a:spcAft>
              <a:buNone/>
            </a:pPr>
            <a:r>
              <a:rPr b="0" i="0" lang="en-US" sz="1300">
                <a:solidFill>
                  <a:srgbClr val="6B7784"/>
                </a:solidFill>
                <a:latin typeface="Calibri"/>
                <a:ea typeface="Calibri"/>
                <a:cs typeface="Calibri"/>
                <a:sym typeface="Calibri"/>
              </a:rPr>
              <a:t>Thông tin chưa đủ làm phát sinh vòng lặp bổ sung.</a:t>
            </a:r>
            <a:endParaRPr/>
          </a:p>
          <a:p>
            <a:pPr indent="0" lvl="0" marL="0" marR="0" rtl="0" algn="l">
              <a:lnSpc>
                <a:spcPct val="112000"/>
              </a:lnSpc>
              <a:spcBef>
                <a:spcPts val="200"/>
              </a:spcBef>
              <a:spcAft>
                <a:spcPts val="0"/>
              </a:spcAft>
              <a:buNone/>
            </a:pPr>
            <a:r>
              <a:rPr b="0" i="0" lang="en-US" sz="1300">
                <a:solidFill>
                  <a:srgbClr val="6B7784"/>
                </a:solidFill>
                <a:latin typeface="Calibri"/>
                <a:ea typeface="Calibri"/>
                <a:cs typeface="Calibri"/>
                <a:sym typeface="Calibri"/>
              </a:rPr>
              <a:t>Dịch vụ có phí cần thêm bước báo giá và xác nhận.</a:t>
            </a:r>
            <a:endParaRPr/>
          </a:p>
          <a:p>
            <a:pPr indent="0" lvl="0" marL="0" marR="0" rtl="0" algn="l">
              <a:lnSpc>
                <a:spcPct val="112000"/>
              </a:lnSpc>
              <a:spcBef>
                <a:spcPts val="200"/>
              </a:spcBef>
              <a:spcAft>
                <a:spcPts val="0"/>
              </a:spcAft>
              <a:buNone/>
            </a:pPr>
            <a:r>
              <a:rPr b="0" i="0" lang="en-US" sz="1300">
                <a:solidFill>
                  <a:srgbClr val="6B7784"/>
                </a:solidFill>
                <a:latin typeface="Calibri"/>
                <a:ea typeface="Calibri"/>
                <a:cs typeface="Calibri"/>
                <a:sym typeface="Calibri"/>
              </a:rPr>
              <a:t>Nhiều bước chỉ tiếp tục sau khi có phản hồi từ End-user.</a:t>
            </a:r>
            <a:endParaRPr/>
          </a:p>
        </p:txBody>
      </p:sp>
      <p:sp>
        <p:nvSpPr>
          <p:cNvPr id="724" name="Google Shape;724;p40"/>
          <p:cNvSpPr/>
          <p:nvPr/>
        </p:nvSpPr>
        <p:spPr>
          <a:xfrm>
            <a:off x="8951745" y="1737360"/>
            <a:ext cx="2581579" cy="3383280"/>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25" name="Google Shape;725;p40"/>
          <p:cNvSpPr/>
          <p:nvPr/>
        </p:nvSpPr>
        <p:spPr>
          <a:xfrm>
            <a:off x="8951745" y="1737360"/>
            <a:ext cx="2581579" cy="50292"/>
          </a:xfrm>
          <a:prstGeom prst="rect">
            <a:avLst/>
          </a:prstGeom>
          <a:solidFill>
            <a:srgbClr val="00C2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26" name="Google Shape;726;p40"/>
          <p:cNvSpPr txBox="1"/>
          <p:nvPr/>
        </p:nvSpPr>
        <p:spPr>
          <a:xfrm>
            <a:off x="9157485" y="1920240"/>
            <a:ext cx="2170099"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400">
                <a:solidFill>
                  <a:srgbClr val="00C2A8"/>
                </a:solidFill>
                <a:latin typeface="Calibri"/>
                <a:ea typeface="Calibri"/>
                <a:cs typeface="Calibri"/>
                <a:sym typeface="Calibri"/>
              </a:rPr>
              <a:t>TOOLS / SYSTEM</a:t>
            </a:r>
            <a:endParaRPr/>
          </a:p>
        </p:txBody>
      </p:sp>
      <p:sp>
        <p:nvSpPr>
          <p:cNvPr id="727" name="Google Shape;727;p40"/>
          <p:cNvSpPr txBox="1"/>
          <p:nvPr/>
        </p:nvSpPr>
        <p:spPr>
          <a:xfrm>
            <a:off x="9157485" y="2240280"/>
            <a:ext cx="2170099" cy="2743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US" sz="1400">
                <a:solidFill>
                  <a:srgbClr val="0A2540"/>
                </a:solidFill>
                <a:latin typeface="Calibri"/>
                <a:ea typeface="Calibri"/>
                <a:cs typeface="Calibri"/>
                <a:sym typeface="Calibri"/>
              </a:rPr>
              <a:t>Công cụ – Hệ thống</a:t>
            </a:r>
            <a:endParaRPr/>
          </a:p>
        </p:txBody>
      </p:sp>
      <p:sp>
        <p:nvSpPr>
          <p:cNvPr id="728" name="Google Shape;728;p40"/>
          <p:cNvSpPr txBox="1"/>
          <p:nvPr/>
        </p:nvSpPr>
        <p:spPr>
          <a:xfrm>
            <a:off x="9157485" y="2606040"/>
            <a:ext cx="2170099" cy="23774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b="0" i="0" lang="en-US" sz="1300">
                <a:solidFill>
                  <a:srgbClr val="6B7784"/>
                </a:solidFill>
                <a:latin typeface="Calibri"/>
                <a:ea typeface="Calibri"/>
                <a:cs typeface="Calibri"/>
                <a:sym typeface="Calibri"/>
              </a:rPr>
              <a:t>Mức độ chuẩn hóa biểu mẫu và thông tin đầu vào.</a:t>
            </a:r>
            <a:endParaRPr/>
          </a:p>
          <a:p>
            <a:pPr indent="0" lvl="0" marL="0" marR="0" rtl="0" algn="l">
              <a:lnSpc>
                <a:spcPct val="112000"/>
              </a:lnSpc>
              <a:spcBef>
                <a:spcPts val="200"/>
              </a:spcBef>
              <a:spcAft>
                <a:spcPts val="0"/>
              </a:spcAft>
              <a:buNone/>
            </a:pPr>
            <a:r>
              <a:rPr b="0" i="0" lang="en-US" sz="1300">
                <a:solidFill>
                  <a:srgbClr val="6B7784"/>
                </a:solidFill>
                <a:latin typeface="Calibri"/>
                <a:ea typeface="Calibri"/>
                <a:cs typeface="Calibri"/>
                <a:sym typeface="Calibri"/>
              </a:rPr>
              <a:t>Khả năng dùng lại thông tin đã ghi nhận, giảm thao tác cập nhật.</a:t>
            </a:r>
            <a:endParaRPr/>
          </a:p>
          <a:p>
            <a:pPr indent="0" lvl="0" marL="0" marR="0" rtl="0" algn="l">
              <a:lnSpc>
                <a:spcPct val="112000"/>
              </a:lnSpc>
              <a:spcBef>
                <a:spcPts val="200"/>
              </a:spcBef>
              <a:spcAft>
                <a:spcPts val="0"/>
              </a:spcAft>
              <a:buNone/>
            </a:pPr>
            <a:r>
              <a:rPr b="0" i="0" lang="en-US" sz="1300">
                <a:solidFill>
                  <a:srgbClr val="6B7784"/>
                </a:solidFill>
                <a:latin typeface="Calibri"/>
                <a:ea typeface="Calibri"/>
                <a:cs typeface="Calibri"/>
                <a:sym typeface="Calibri"/>
              </a:rPr>
              <a:t>Khả năng theo dõi trạng thái xử lý giữa các bên.</a:t>
            </a:r>
            <a:endParaRPr/>
          </a:p>
          <a:p>
            <a:pPr indent="0" lvl="0" marL="0" marR="0" rtl="0" algn="l">
              <a:lnSpc>
                <a:spcPct val="112000"/>
              </a:lnSpc>
              <a:spcBef>
                <a:spcPts val="200"/>
              </a:spcBef>
              <a:spcAft>
                <a:spcPts val="0"/>
              </a:spcAft>
              <a:buNone/>
            </a:pPr>
            <a:r>
              <a:rPr b="0" i="0" lang="en-US" sz="1300">
                <a:solidFill>
                  <a:srgbClr val="6B7784"/>
                </a:solidFill>
                <a:latin typeface="Calibri"/>
                <a:ea typeface="Calibri"/>
                <a:cs typeface="Calibri"/>
                <a:sym typeface="Calibri"/>
              </a:rPr>
              <a:t>Dữ liệu chưa liên kết dẫn đến nhập lại nhiều lần.</a:t>
            </a:r>
            <a:endParaRPr/>
          </a:p>
        </p:txBody>
      </p:sp>
      <p:sp>
        <p:nvSpPr>
          <p:cNvPr id="729" name="Google Shape;729;p40"/>
          <p:cNvSpPr/>
          <p:nvPr/>
        </p:nvSpPr>
        <p:spPr>
          <a:xfrm>
            <a:off x="658368" y="5257800"/>
            <a:ext cx="10874959" cy="594360"/>
          </a:xfrm>
          <a:prstGeom prst="rect">
            <a:avLst/>
          </a:prstGeom>
          <a:solidFill>
            <a:srgbClr val="EDF6FB"/>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30" name="Google Shape;730;p40"/>
          <p:cNvSpPr/>
          <p:nvPr/>
        </p:nvSpPr>
        <p:spPr>
          <a:xfrm>
            <a:off x="658368" y="5257800"/>
            <a:ext cx="50292" cy="594360"/>
          </a:xfrm>
          <a:prstGeom prst="rect">
            <a:avLst/>
          </a:prstGeom>
          <a:solidFill>
            <a:srgbClr val="0A25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31" name="Google Shape;731;p40"/>
          <p:cNvSpPr txBox="1"/>
          <p:nvPr/>
        </p:nvSpPr>
        <p:spPr>
          <a:xfrm>
            <a:off x="864108" y="5372100"/>
            <a:ext cx="10463479" cy="36576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None/>
            </a:pPr>
            <a:r>
              <a:rPr b="0" i="0" lang="en-US" sz="1000">
                <a:solidFill>
                  <a:srgbClr val="0A2540"/>
                </a:solidFill>
                <a:latin typeface="Calibri"/>
                <a:ea typeface="Calibri"/>
                <a:cs typeface="Calibri"/>
                <a:sym typeface="Calibri"/>
              </a:rPr>
              <a:t>Các nguyên nhân không tập trung tại một hoạt động riêng lẻ mà liên hệ với nhau. Nhóm Thông tin và Quy trình có liên hệ rõ nhất với các dạng lãng phí đã xác định — đặc biệt là vòng lặp bổ sung thông tin và các điểm chờ. Hướng ưu tiên: nâng cao tính đầy đủ của thông tin đầu vào, giảm hoạt động bổ sung / xử lý lại và tăng hiệu quả phối hợp giữa các bên.</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 name="Shape 735"/>
        <p:cNvGrpSpPr/>
        <p:nvPr/>
      </p:nvGrpSpPr>
      <p:grpSpPr>
        <a:xfrm>
          <a:off x="0" y="0"/>
          <a:ext cx="0" cy="0"/>
          <a:chOff x="0" y="0"/>
          <a:chExt cx="0" cy="0"/>
        </a:xfrm>
      </p:grpSpPr>
      <p:sp>
        <p:nvSpPr>
          <p:cNvPr id="736" name="Google Shape;736;p41"/>
          <p:cNvSpPr/>
          <p:nvPr/>
        </p:nvSpPr>
        <p:spPr>
          <a:xfrm>
            <a:off x="0" y="0"/>
            <a:ext cx="12191695" cy="859536"/>
          </a:xfrm>
          <a:prstGeom prst="rect">
            <a:avLst/>
          </a:prstGeom>
          <a:solidFill>
            <a:srgbClr val="0A25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37" name="Google Shape;737;p41"/>
          <p:cNvSpPr/>
          <p:nvPr/>
        </p:nvSpPr>
        <p:spPr>
          <a:xfrm>
            <a:off x="0" y="0"/>
            <a:ext cx="182880" cy="859536"/>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38" name="Google Shape;738;p41"/>
          <p:cNvSpPr txBox="1"/>
          <p:nvPr/>
        </p:nvSpPr>
        <p:spPr>
          <a:xfrm>
            <a:off x="475488" y="137160"/>
            <a:ext cx="795527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950">
                <a:solidFill>
                  <a:srgbClr val="00C2A8"/>
                </a:solidFill>
                <a:latin typeface="Calibri"/>
                <a:ea typeface="Calibri"/>
                <a:cs typeface="Calibri"/>
                <a:sym typeface="Calibri"/>
              </a:rPr>
              <a:t>CHƯƠNG 4 · 4.2.2C PHÂN TÍCH CÁC BÊN LIÊN QUAN</a:t>
            </a:r>
            <a:endParaRPr/>
          </a:p>
        </p:txBody>
      </p:sp>
      <p:sp>
        <p:nvSpPr>
          <p:cNvPr id="739" name="Google Shape;739;p41"/>
          <p:cNvSpPr txBox="1"/>
          <p:nvPr/>
        </p:nvSpPr>
        <p:spPr>
          <a:xfrm>
            <a:off x="475488" y="411480"/>
            <a:ext cx="7955279"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700">
                <a:solidFill>
                  <a:srgbClr val="FFFFFF"/>
                </a:solidFill>
                <a:latin typeface="Calibri"/>
                <a:ea typeface="Calibri"/>
                <a:cs typeface="Calibri"/>
                <a:sym typeface="Calibri"/>
              </a:rPr>
              <a:t>C03 — Sơ đồ xương cá (Fishbone Diagram)</a:t>
            </a:r>
            <a:endParaRPr/>
          </a:p>
        </p:txBody>
      </p:sp>
      <p:sp>
        <p:nvSpPr>
          <p:cNvPr id="740" name="Google Shape;740;p41"/>
          <p:cNvSpPr txBox="1"/>
          <p:nvPr/>
        </p:nvSpPr>
        <p:spPr>
          <a:xfrm>
            <a:off x="8595360" y="265176"/>
            <a:ext cx="3154680" cy="329184"/>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1" i="0" lang="en-US" sz="1400">
                <a:solidFill>
                  <a:srgbClr val="00C2A8"/>
                </a:solidFill>
                <a:latin typeface="Calibri"/>
                <a:ea typeface="Calibri"/>
                <a:cs typeface="Calibri"/>
                <a:sym typeface="Calibri"/>
              </a:rPr>
              <a:t>Hình 4.3</a:t>
            </a:r>
            <a:endParaRPr/>
          </a:p>
        </p:txBody>
      </p:sp>
      <p:sp>
        <p:nvSpPr>
          <p:cNvPr id="741" name="Google Shape;741;p41"/>
          <p:cNvSpPr txBox="1"/>
          <p:nvPr/>
        </p:nvSpPr>
        <p:spPr>
          <a:xfrm>
            <a:off x="548640" y="5913110"/>
            <a:ext cx="11091672" cy="233205"/>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i="1" lang="en-US" sz="1400">
                <a:solidFill>
                  <a:schemeClr val="dk1"/>
                </a:solidFill>
                <a:latin typeface="Calibri"/>
                <a:ea typeface="Calibri"/>
                <a:cs typeface="Calibri"/>
                <a:sym typeface="Calibri"/>
              </a:rPr>
              <a:t>Hình 4.3 — Mô hình xương cá phân tích nguyên nhân kéo dài thời gian xử lý Service Order</a:t>
            </a:r>
            <a:endParaRPr i="1" sz="1400">
              <a:solidFill>
                <a:schemeClr val="dk1"/>
              </a:solidFill>
              <a:latin typeface="Calibri"/>
              <a:ea typeface="Calibri"/>
              <a:cs typeface="Calibri"/>
              <a:sym typeface="Calibri"/>
            </a:endParaRPr>
          </a:p>
        </p:txBody>
      </p:sp>
      <p:sp>
        <p:nvSpPr>
          <p:cNvPr id="742" name="Google Shape;742;p41"/>
          <p:cNvSpPr txBox="1"/>
          <p:nvPr/>
        </p:nvSpPr>
        <p:spPr>
          <a:xfrm>
            <a:off x="658368" y="6355080"/>
            <a:ext cx="10326319"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850">
                <a:solidFill>
                  <a:srgbClr val="6B7784"/>
                </a:solidFill>
                <a:latin typeface="Calibri"/>
                <a:ea typeface="Calibri"/>
                <a:cs typeface="Calibri"/>
                <a:sym typeface="Calibri"/>
              </a:rPr>
              <a:t>SOLVENTUM VIỆT NAM  ·  HỆ THỐNG QUẢN TRỊ QUY TRÌNH NGHIỆP VỤ</a:t>
            </a:r>
            <a:endParaRPr/>
          </a:p>
        </p:txBody>
      </p:sp>
      <p:sp>
        <p:nvSpPr>
          <p:cNvPr id="743" name="Google Shape;743;p41"/>
          <p:cNvSpPr txBox="1"/>
          <p:nvPr/>
        </p:nvSpPr>
        <p:spPr>
          <a:xfrm>
            <a:off x="10984687" y="6355080"/>
            <a:ext cx="548640" cy="2286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1" i="0" lang="en-US" sz="950">
                <a:solidFill>
                  <a:srgbClr val="0096D6"/>
                </a:solidFill>
                <a:latin typeface="Calibri"/>
                <a:ea typeface="Calibri"/>
                <a:cs typeface="Calibri"/>
                <a:sym typeface="Calibri"/>
              </a:rPr>
              <a:t>29</a:t>
            </a:r>
            <a:endParaRPr/>
          </a:p>
        </p:txBody>
      </p:sp>
      <p:pic>
        <p:nvPicPr>
          <p:cNvPr id="744" name="Google Shape;744;p41"/>
          <p:cNvPicPr preferRelativeResize="0"/>
          <p:nvPr/>
        </p:nvPicPr>
        <p:blipFill rotWithShape="1">
          <a:blip r:embed="rId3">
            <a:alphaModFix/>
          </a:blip>
          <a:srcRect b="0" l="0" r="0" t="0"/>
          <a:stretch/>
        </p:blipFill>
        <p:spPr>
          <a:xfrm>
            <a:off x="2467897" y="1086933"/>
            <a:ext cx="7448460" cy="4444108"/>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8" name="Shape 748"/>
        <p:cNvGrpSpPr/>
        <p:nvPr/>
      </p:nvGrpSpPr>
      <p:grpSpPr>
        <a:xfrm>
          <a:off x="0" y="0"/>
          <a:ext cx="0" cy="0"/>
          <a:chOff x="0" y="0"/>
          <a:chExt cx="0" cy="0"/>
        </a:xfrm>
      </p:grpSpPr>
      <p:sp>
        <p:nvSpPr>
          <p:cNvPr id="749" name="Google Shape;749;p42"/>
          <p:cNvSpPr txBox="1"/>
          <p:nvPr/>
        </p:nvSpPr>
        <p:spPr>
          <a:xfrm>
            <a:off x="658368" y="384048"/>
            <a:ext cx="10874959"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050">
                <a:solidFill>
                  <a:srgbClr val="0096D6"/>
                </a:solidFill>
                <a:latin typeface="Calibri"/>
                <a:ea typeface="Calibri"/>
                <a:cs typeface="Calibri"/>
                <a:sym typeface="Calibri"/>
              </a:rPr>
              <a:t>CHƯƠNG 4 · 4.2.3A PHÂN TÍCH THỜI GIAN (TIME)</a:t>
            </a:r>
            <a:endParaRPr/>
          </a:p>
        </p:txBody>
      </p:sp>
      <p:sp>
        <p:nvSpPr>
          <p:cNvPr id="750" name="Google Shape;750;p42"/>
          <p:cNvSpPr txBox="1"/>
          <p:nvPr/>
        </p:nvSpPr>
        <p:spPr>
          <a:xfrm>
            <a:off x="658368" y="640080"/>
            <a:ext cx="10874959" cy="60350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US" sz="2500">
                <a:solidFill>
                  <a:srgbClr val="0A2540"/>
                </a:solidFill>
                <a:latin typeface="Calibri"/>
                <a:ea typeface="Calibri"/>
                <a:cs typeface="Calibri"/>
                <a:sym typeface="Calibri"/>
              </a:rPr>
              <a:t>CÁC ĐIỂM CHI PHỐI THỜI GIAN CỦA QUY TRÌNH</a:t>
            </a:r>
            <a:endParaRPr/>
          </a:p>
        </p:txBody>
      </p:sp>
      <p:sp>
        <p:nvSpPr>
          <p:cNvPr id="751" name="Google Shape;751;p42"/>
          <p:cNvSpPr/>
          <p:nvPr/>
        </p:nvSpPr>
        <p:spPr>
          <a:xfrm>
            <a:off x="658368" y="1280160"/>
            <a:ext cx="566928" cy="41148"/>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52" name="Google Shape;752;p42"/>
          <p:cNvSpPr/>
          <p:nvPr/>
        </p:nvSpPr>
        <p:spPr>
          <a:xfrm>
            <a:off x="1298448" y="1280160"/>
            <a:ext cx="10234879" cy="41148"/>
          </a:xfrm>
          <a:prstGeom prst="rect">
            <a:avLst/>
          </a:prstGeom>
          <a:solidFill>
            <a:srgbClr val="DFE4E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53" name="Google Shape;753;p42"/>
          <p:cNvSpPr txBox="1"/>
          <p:nvPr/>
        </p:nvSpPr>
        <p:spPr>
          <a:xfrm>
            <a:off x="658368" y="1371600"/>
            <a:ext cx="10874959"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1" lang="en-US" sz="1100">
                <a:solidFill>
                  <a:srgbClr val="6B7784"/>
                </a:solidFill>
                <a:latin typeface="Calibri"/>
                <a:ea typeface="Calibri"/>
                <a:cs typeface="Calibri"/>
                <a:sym typeface="Calibri"/>
              </a:rPr>
              <a:t>Trích từ Bảng 4.4 (22 hoạt động) — các bước có Waiting Time hoặc Processing Time lớn  ·  01 ngày = 08 giờ</a:t>
            </a:r>
            <a:endParaRPr/>
          </a:p>
        </p:txBody>
      </p:sp>
      <p:sp>
        <p:nvSpPr>
          <p:cNvPr id="754" name="Google Shape;754;p42"/>
          <p:cNvSpPr txBox="1"/>
          <p:nvPr/>
        </p:nvSpPr>
        <p:spPr>
          <a:xfrm>
            <a:off x="658368" y="6355080"/>
            <a:ext cx="10326319"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850">
                <a:solidFill>
                  <a:srgbClr val="6B7784"/>
                </a:solidFill>
                <a:latin typeface="Calibri"/>
                <a:ea typeface="Calibri"/>
                <a:cs typeface="Calibri"/>
                <a:sym typeface="Calibri"/>
              </a:rPr>
              <a:t>SOLVENTUM VIỆT NAM  ·  HỆ THỐNG QUẢN TRỊ QUY TRÌNH NGHIỆP VỤ</a:t>
            </a:r>
            <a:endParaRPr/>
          </a:p>
        </p:txBody>
      </p:sp>
      <p:sp>
        <p:nvSpPr>
          <p:cNvPr id="755" name="Google Shape;755;p42"/>
          <p:cNvSpPr txBox="1"/>
          <p:nvPr/>
        </p:nvSpPr>
        <p:spPr>
          <a:xfrm>
            <a:off x="10984687" y="6355080"/>
            <a:ext cx="548640" cy="2286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1" i="0" lang="en-US" sz="950">
                <a:solidFill>
                  <a:srgbClr val="0096D6"/>
                </a:solidFill>
                <a:latin typeface="Calibri"/>
                <a:ea typeface="Calibri"/>
                <a:cs typeface="Calibri"/>
                <a:sym typeface="Calibri"/>
              </a:rPr>
              <a:t>30</a:t>
            </a:r>
            <a:endParaRPr/>
          </a:p>
        </p:txBody>
      </p:sp>
      <p:graphicFrame>
        <p:nvGraphicFramePr>
          <p:cNvPr id="756" name="Google Shape;756;p42"/>
          <p:cNvGraphicFramePr/>
          <p:nvPr/>
        </p:nvGraphicFramePr>
        <p:xfrm>
          <a:off x="658368" y="1810512"/>
          <a:ext cx="3000000" cy="3000000"/>
        </p:xfrm>
        <a:graphic>
          <a:graphicData uri="http://schemas.openxmlformats.org/drawingml/2006/table">
            <a:tbl>
              <a:tblPr firstRow="1">
                <a:noFill/>
                <a:tableStyleId>{65267F91-CA84-436A-A840-DCCC5366F6D9}</a:tableStyleId>
              </a:tblPr>
              <a:tblGrid>
                <a:gridCol w="4937750"/>
                <a:gridCol w="3154675"/>
                <a:gridCol w="1391250"/>
                <a:gridCol w="1391250"/>
              </a:tblGrid>
              <a:tr h="411475">
                <a:tc>
                  <a:txBody>
                    <a:bodyPr/>
                    <a:lstStyle/>
                    <a:p>
                      <a:pPr indent="0" lvl="0" marL="0" marR="0" rtl="0" algn="ctr">
                        <a:lnSpc>
                          <a:spcPct val="105000"/>
                        </a:lnSpc>
                        <a:spcBef>
                          <a:spcPts val="0"/>
                        </a:spcBef>
                        <a:spcAft>
                          <a:spcPts val="0"/>
                        </a:spcAft>
                        <a:buNone/>
                      </a:pPr>
                      <a:r>
                        <a:rPr b="1" i="0" lang="en-US" sz="1000" u="none" cap="none" strike="noStrike">
                          <a:solidFill>
                            <a:srgbClr val="FFFFFF"/>
                          </a:solidFill>
                          <a:latin typeface="Calibri"/>
                          <a:ea typeface="Calibri"/>
                          <a:cs typeface="Calibri"/>
                          <a:sym typeface="Calibri"/>
                        </a:rPr>
                        <a:t>HOẠT ĐỘNG / GIAI ĐOẠN</a:t>
                      </a:r>
                      <a:endParaRPr/>
                    </a:p>
                  </a:txBody>
                  <a:tcPr marT="41150" marB="41150" marR="73150" marL="91450" anchor="ctr">
                    <a:solidFill>
                      <a:srgbClr val="0A2540"/>
                    </a:solidFill>
                  </a:tcPr>
                </a:tc>
                <a:tc>
                  <a:txBody>
                    <a:bodyPr/>
                    <a:lstStyle/>
                    <a:p>
                      <a:pPr indent="0" lvl="0" marL="0" marR="0" rtl="0" algn="ctr">
                        <a:lnSpc>
                          <a:spcPct val="105000"/>
                        </a:lnSpc>
                        <a:spcBef>
                          <a:spcPts val="0"/>
                        </a:spcBef>
                        <a:spcAft>
                          <a:spcPts val="0"/>
                        </a:spcAft>
                        <a:buNone/>
                      </a:pPr>
                      <a:r>
                        <a:rPr b="1" i="0" lang="en-US" sz="1000" u="none" cap="none" strike="noStrike">
                          <a:solidFill>
                            <a:srgbClr val="FFFFFF"/>
                          </a:solidFill>
                          <a:latin typeface="Calibri"/>
                          <a:ea typeface="Calibri"/>
                          <a:cs typeface="Calibri"/>
                          <a:sym typeface="Calibri"/>
                        </a:rPr>
                        <a:t>ĐỐI TƯỢNG CHÍNH</a:t>
                      </a:r>
                      <a:endParaRPr/>
                    </a:p>
                  </a:txBody>
                  <a:tcPr marT="41150" marB="41150" marR="73150" marL="91450" anchor="ctr">
                    <a:solidFill>
                      <a:srgbClr val="0A2540"/>
                    </a:solidFill>
                  </a:tcPr>
                </a:tc>
                <a:tc>
                  <a:txBody>
                    <a:bodyPr/>
                    <a:lstStyle/>
                    <a:p>
                      <a:pPr indent="0" lvl="0" marL="0" marR="0" rtl="0" algn="ctr">
                        <a:lnSpc>
                          <a:spcPct val="105000"/>
                        </a:lnSpc>
                        <a:spcBef>
                          <a:spcPts val="0"/>
                        </a:spcBef>
                        <a:spcAft>
                          <a:spcPts val="0"/>
                        </a:spcAft>
                        <a:buNone/>
                      </a:pPr>
                      <a:r>
                        <a:rPr b="1" i="0" lang="en-US" sz="1000" u="none" cap="none" strike="noStrike">
                          <a:solidFill>
                            <a:srgbClr val="FFFFFF"/>
                          </a:solidFill>
                          <a:latin typeface="Calibri"/>
                          <a:ea typeface="Calibri"/>
                          <a:cs typeface="Calibri"/>
                          <a:sym typeface="Calibri"/>
                        </a:rPr>
                        <a:t>PT</a:t>
                      </a:r>
                      <a:endParaRPr/>
                    </a:p>
                    <a:p>
                      <a:pPr indent="0" lvl="0" marL="0" marR="0" rtl="0" algn="ctr">
                        <a:lnSpc>
                          <a:spcPct val="105000"/>
                        </a:lnSpc>
                        <a:spcBef>
                          <a:spcPts val="0"/>
                        </a:spcBef>
                        <a:spcAft>
                          <a:spcPts val="0"/>
                        </a:spcAft>
                        <a:buNone/>
                      </a:pPr>
                      <a:r>
                        <a:rPr b="1" i="0" lang="en-US" sz="1000" u="none" cap="none" strike="noStrike">
                          <a:solidFill>
                            <a:srgbClr val="FFFFFF"/>
                          </a:solidFill>
                          <a:latin typeface="Calibri"/>
                          <a:ea typeface="Calibri"/>
                          <a:cs typeface="Calibri"/>
                          <a:sym typeface="Calibri"/>
                        </a:rPr>
                        <a:t>(giờ)</a:t>
                      </a:r>
                      <a:endParaRPr/>
                    </a:p>
                  </a:txBody>
                  <a:tcPr marT="41150" marB="41150" marR="73150" marL="91450" anchor="ctr">
                    <a:solidFill>
                      <a:srgbClr val="0A2540"/>
                    </a:solidFill>
                  </a:tcPr>
                </a:tc>
                <a:tc>
                  <a:txBody>
                    <a:bodyPr/>
                    <a:lstStyle/>
                    <a:p>
                      <a:pPr indent="0" lvl="0" marL="0" marR="0" rtl="0" algn="ctr">
                        <a:lnSpc>
                          <a:spcPct val="105000"/>
                        </a:lnSpc>
                        <a:spcBef>
                          <a:spcPts val="0"/>
                        </a:spcBef>
                        <a:spcAft>
                          <a:spcPts val="0"/>
                        </a:spcAft>
                        <a:buNone/>
                      </a:pPr>
                      <a:r>
                        <a:rPr b="1" i="0" lang="en-US" sz="1000" u="none" cap="none" strike="noStrike">
                          <a:solidFill>
                            <a:srgbClr val="FFFFFF"/>
                          </a:solidFill>
                          <a:latin typeface="Calibri"/>
                          <a:ea typeface="Calibri"/>
                          <a:cs typeface="Calibri"/>
                          <a:sym typeface="Calibri"/>
                        </a:rPr>
                        <a:t>WT</a:t>
                      </a:r>
                      <a:endParaRPr/>
                    </a:p>
                    <a:p>
                      <a:pPr indent="0" lvl="0" marL="0" marR="0" rtl="0" algn="ctr">
                        <a:lnSpc>
                          <a:spcPct val="105000"/>
                        </a:lnSpc>
                        <a:spcBef>
                          <a:spcPts val="0"/>
                        </a:spcBef>
                        <a:spcAft>
                          <a:spcPts val="0"/>
                        </a:spcAft>
                        <a:buNone/>
                      </a:pPr>
                      <a:r>
                        <a:rPr b="1" i="0" lang="en-US" sz="1000" u="none" cap="none" strike="noStrike">
                          <a:solidFill>
                            <a:srgbClr val="FFFFFF"/>
                          </a:solidFill>
                          <a:latin typeface="Calibri"/>
                          <a:ea typeface="Calibri"/>
                          <a:cs typeface="Calibri"/>
                          <a:sym typeface="Calibri"/>
                        </a:rPr>
                        <a:t>(giờ)</a:t>
                      </a:r>
                      <a:endParaRPr/>
                    </a:p>
                  </a:txBody>
                  <a:tcPr marT="41150" marB="41150" marR="73150" marL="91450" anchor="ctr">
                    <a:solidFill>
                      <a:srgbClr val="0A2540"/>
                    </a:solidFill>
                  </a:tcPr>
                </a:tc>
              </a:tr>
              <a:tr h="228600">
                <a:tc>
                  <a:txBody>
                    <a:bodyPr/>
                    <a:lstStyle/>
                    <a:p>
                      <a:pPr indent="0" lvl="0" marL="0" marR="0" rtl="0" algn="l">
                        <a:lnSpc>
                          <a:spcPct val="105000"/>
                        </a:lnSpc>
                        <a:spcBef>
                          <a:spcPts val="0"/>
                        </a:spcBef>
                        <a:spcAft>
                          <a:spcPts val="0"/>
                        </a:spcAft>
                        <a:buNone/>
                      </a:pPr>
                      <a:r>
                        <a:rPr b="0" i="0" lang="en-US" sz="1200" u="none" cap="none" strike="noStrike">
                          <a:solidFill>
                            <a:srgbClr val="0A2540"/>
                          </a:solidFill>
                          <a:latin typeface="Calibri"/>
                          <a:ea typeface="Calibri"/>
                          <a:cs typeface="Calibri"/>
                          <a:sym typeface="Calibri"/>
                        </a:rPr>
                        <a:t>Chuyển yêu cầu cho Service Admin</a:t>
                      </a:r>
                      <a:endParaRPr/>
                    </a:p>
                  </a:txBody>
                  <a:tcPr marT="41150" marB="41150" marR="73150" marL="91450" anchor="ctr"/>
                </a:tc>
                <a:tc>
                  <a:txBody>
                    <a:bodyPr/>
                    <a:lstStyle/>
                    <a:p>
                      <a:pPr indent="0" lvl="0" marL="0" marR="0" rtl="0" algn="l">
                        <a:lnSpc>
                          <a:spcPct val="105000"/>
                        </a:lnSpc>
                        <a:spcBef>
                          <a:spcPts val="0"/>
                        </a:spcBef>
                        <a:spcAft>
                          <a:spcPts val="0"/>
                        </a:spcAft>
                        <a:buNone/>
                      </a:pPr>
                      <a:r>
                        <a:rPr b="0" i="0" lang="en-US" sz="1200" u="none" cap="none" strike="noStrike">
                          <a:solidFill>
                            <a:srgbClr val="0A2540"/>
                          </a:solidFill>
                          <a:latin typeface="Calibri"/>
                          <a:ea typeface="Calibri"/>
                          <a:cs typeface="Calibri"/>
                          <a:sym typeface="Calibri"/>
                        </a:rPr>
                        <a:t>Distributor</a:t>
                      </a:r>
                      <a:endParaRPr/>
                    </a:p>
                  </a:txBody>
                  <a:tcPr marT="41150" marB="41150" marR="73150" marL="91450" anchor="ctr"/>
                </a:tc>
                <a:tc>
                  <a:txBody>
                    <a:bodyPr/>
                    <a:lstStyle/>
                    <a:p>
                      <a:pPr indent="0" lvl="0" marL="0" marR="0" rtl="0" algn="ctr">
                        <a:lnSpc>
                          <a:spcPct val="105000"/>
                        </a:lnSpc>
                        <a:spcBef>
                          <a:spcPts val="0"/>
                        </a:spcBef>
                        <a:spcAft>
                          <a:spcPts val="0"/>
                        </a:spcAft>
                        <a:buNone/>
                      </a:pPr>
                      <a:r>
                        <a:rPr b="0" i="0" lang="en-US" sz="1200" u="none" cap="none" strike="noStrike">
                          <a:solidFill>
                            <a:srgbClr val="0A2540"/>
                          </a:solidFill>
                          <a:latin typeface="Calibri"/>
                          <a:ea typeface="Calibri"/>
                          <a:cs typeface="Calibri"/>
                          <a:sym typeface="Calibri"/>
                        </a:rPr>
                        <a:t>0,25</a:t>
                      </a:r>
                      <a:endParaRPr/>
                    </a:p>
                  </a:txBody>
                  <a:tcPr marT="41150" marB="41150" marR="73150" marL="91450" anchor="ctr"/>
                </a:tc>
                <a:tc>
                  <a:txBody>
                    <a:bodyPr/>
                    <a:lstStyle/>
                    <a:p>
                      <a:pPr indent="0" lvl="0" marL="0" marR="0" rtl="0" algn="ctr">
                        <a:lnSpc>
                          <a:spcPct val="105000"/>
                        </a:lnSpc>
                        <a:spcBef>
                          <a:spcPts val="0"/>
                        </a:spcBef>
                        <a:spcAft>
                          <a:spcPts val="0"/>
                        </a:spcAft>
                        <a:buNone/>
                      </a:pPr>
                      <a:r>
                        <a:rPr b="1" i="0" lang="en-US" sz="1200" u="none" cap="none" strike="noStrike">
                          <a:solidFill>
                            <a:srgbClr val="C87F0A"/>
                          </a:solidFill>
                          <a:latin typeface="Calibri"/>
                          <a:ea typeface="Calibri"/>
                          <a:cs typeface="Calibri"/>
                          <a:sym typeface="Calibri"/>
                        </a:rPr>
                        <a:t>1,0</a:t>
                      </a:r>
                      <a:endParaRPr/>
                    </a:p>
                  </a:txBody>
                  <a:tcPr marT="41150" marB="41150" marR="73150" marL="91450" anchor="ctr"/>
                </a:tc>
              </a:tr>
              <a:tr h="228600">
                <a:tc>
                  <a:txBody>
                    <a:bodyPr/>
                    <a:lstStyle/>
                    <a:p>
                      <a:pPr indent="0" lvl="0" marL="0" marR="0" rtl="0" algn="l">
                        <a:lnSpc>
                          <a:spcPct val="105000"/>
                        </a:lnSpc>
                        <a:spcBef>
                          <a:spcPts val="0"/>
                        </a:spcBef>
                        <a:spcAft>
                          <a:spcPts val="0"/>
                        </a:spcAft>
                        <a:buNone/>
                      </a:pPr>
                      <a:r>
                        <a:rPr b="0" i="0" lang="en-US" sz="1200" u="none" cap="none" strike="noStrike">
                          <a:solidFill>
                            <a:srgbClr val="0A2540"/>
                          </a:solidFill>
                          <a:latin typeface="Calibri"/>
                          <a:ea typeface="Calibri"/>
                          <a:cs typeface="Calibri"/>
                          <a:sym typeface="Calibri"/>
                        </a:rPr>
                        <a:t>Bổ sung thông tin yêu cầu (nếu phát sinh)</a:t>
                      </a:r>
                      <a:endParaRPr/>
                    </a:p>
                  </a:txBody>
                  <a:tcPr marT="41150" marB="41150" marR="73150" marL="91450" anchor="ctr"/>
                </a:tc>
                <a:tc>
                  <a:txBody>
                    <a:bodyPr/>
                    <a:lstStyle/>
                    <a:p>
                      <a:pPr indent="0" lvl="0" marL="0" marR="0" rtl="0" algn="l">
                        <a:lnSpc>
                          <a:spcPct val="105000"/>
                        </a:lnSpc>
                        <a:spcBef>
                          <a:spcPts val="0"/>
                        </a:spcBef>
                        <a:spcAft>
                          <a:spcPts val="0"/>
                        </a:spcAft>
                        <a:buNone/>
                      </a:pPr>
                      <a:r>
                        <a:rPr b="0" i="0" lang="en-US" sz="1200" u="none" cap="none" strike="noStrike">
                          <a:solidFill>
                            <a:srgbClr val="0A2540"/>
                          </a:solidFill>
                          <a:latin typeface="Calibri"/>
                          <a:ea typeface="Calibri"/>
                          <a:cs typeface="Calibri"/>
                          <a:sym typeface="Calibri"/>
                        </a:rPr>
                        <a:t>End-user / Distributor</a:t>
                      </a:r>
                      <a:endParaRPr/>
                    </a:p>
                  </a:txBody>
                  <a:tcPr marT="41150" marB="41150" marR="73150" marL="91450" anchor="ctr"/>
                </a:tc>
                <a:tc>
                  <a:txBody>
                    <a:bodyPr/>
                    <a:lstStyle/>
                    <a:p>
                      <a:pPr indent="0" lvl="0" marL="0" marR="0" rtl="0" algn="ctr">
                        <a:lnSpc>
                          <a:spcPct val="105000"/>
                        </a:lnSpc>
                        <a:spcBef>
                          <a:spcPts val="0"/>
                        </a:spcBef>
                        <a:spcAft>
                          <a:spcPts val="0"/>
                        </a:spcAft>
                        <a:buNone/>
                      </a:pPr>
                      <a:r>
                        <a:rPr b="0" i="0" lang="en-US" sz="1200" u="none" cap="none" strike="noStrike">
                          <a:solidFill>
                            <a:srgbClr val="0A2540"/>
                          </a:solidFill>
                          <a:latin typeface="Calibri"/>
                          <a:ea typeface="Calibri"/>
                          <a:cs typeface="Calibri"/>
                          <a:sym typeface="Calibri"/>
                        </a:rPr>
                        <a:t>0,5</a:t>
                      </a:r>
                      <a:endParaRPr/>
                    </a:p>
                  </a:txBody>
                  <a:tcPr marT="41150" marB="41150" marR="73150" marL="91450" anchor="ctr"/>
                </a:tc>
                <a:tc>
                  <a:txBody>
                    <a:bodyPr/>
                    <a:lstStyle/>
                    <a:p>
                      <a:pPr indent="0" lvl="0" marL="0" marR="0" rtl="0" algn="ctr">
                        <a:lnSpc>
                          <a:spcPct val="105000"/>
                        </a:lnSpc>
                        <a:spcBef>
                          <a:spcPts val="0"/>
                        </a:spcBef>
                        <a:spcAft>
                          <a:spcPts val="0"/>
                        </a:spcAft>
                        <a:buNone/>
                      </a:pPr>
                      <a:r>
                        <a:rPr b="1" i="0" lang="en-US" sz="1200" u="none" cap="none" strike="noStrike">
                          <a:solidFill>
                            <a:srgbClr val="C87F0A"/>
                          </a:solidFill>
                          <a:latin typeface="Calibri"/>
                          <a:ea typeface="Calibri"/>
                          <a:cs typeface="Calibri"/>
                          <a:sym typeface="Calibri"/>
                        </a:rPr>
                        <a:t>4,0</a:t>
                      </a:r>
                      <a:endParaRPr/>
                    </a:p>
                  </a:txBody>
                  <a:tcPr marT="41150" marB="41150" marR="73150" marL="91450" anchor="ctr"/>
                </a:tc>
              </a:tr>
              <a:tr h="228600">
                <a:tc>
                  <a:txBody>
                    <a:bodyPr/>
                    <a:lstStyle/>
                    <a:p>
                      <a:pPr indent="0" lvl="0" marL="0" marR="0" rtl="0" algn="l">
                        <a:lnSpc>
                          <a:spcPct val="105000"/>
                        </a:lnSpc>
                        <a:spcBef>
                          <a:spcPts val="0"/>
                        </a:spcBef>
                        <a:spcAft>
                          <a:spcPts val="0"/>
                        </a:spcAft>
                        <a:buNone/>
                      </a:pPr>
                      <a:r>
                        <a:rPr b="0" i="0" lang="en-US" sz="1200" u="none" cap="none" strike="noStrike">
                          <a:solidFill>
                            <a:srgbClr val="0A2540"/>
                          </a:solidFill>
                          <a:latin typeface="Calibri"/>
                          <a:ea typeface="Calibri"/>
                          <a:cs typeface="Calibri"/>
                          <a:sym typeface="Calibri"/>
                        </a:rPr>
                        <a:t>Phân công và tiếp nhận yêu cầu kỹ thuật</a:t>
                      </a:r>
                      <a:endParaRPr/>
                    </a:p>
                  </a:txBody>
                  <a:tcPr marT="41150" marB="41150" marR="73150" marL="91450" anchor="ctr"/>
                </a:tc>
                <a:tc>
                  <a:txBody>
                    <a:bodyPr/>
                    <a:lstStyle/>
                    <a:p>
                      <a:pPr indent="0" lvl="0" marL="0" marR="0" rtl="0" algn="l">
                        <a:lnSpc>
                          <a:spcPct val="105000"/>
                        </a:lnSpc>
                        <a:spcBef>
                          <a:spcPts val="0"/>
                        </a:spcBef>
                        <a:spcAft>
                          <a:spcPts val="0"/>
                        </a:spcAft>
                        <a:buNone/>
                      </a:pPr>
                      <a:r>
                        <a:rPr b="0" i="0" lang="en-US" sz="1200" u="none" cap="none" strike="noStrike">
                          <a:solidFill>
                            <a:srgbClr val="0A2540"/>
                          </a:solidFill>
                          <a:latin typeface="Calibri"/>
                          <a:ea typeface="Calibri"/>
                          <a:cs typeface="Calibri"/>
                          <a:sym typeface="Calibri"/>
                        </a:rPr>
                        <a:t>Service Admin / Engineer</a:t>
                      </a:r>
                      <a:endParaRPr/>
                    </a:p>
                  </a:txBody>
                  <a:tcPr marT="41150" marB="41150" marR="73150" marL="91450" anchor="ctr"/>
                </a:tc>
                <a:tc>
                  <a:txBody>
                    <a:bodyPr/>
                    <a:lstStyle/>
                    <a:p>
                      <a:pPr indent="0" lvl="0" marL="0" marR="0" rtl="0" algn="ctr">
                        <a:lnSpc>
                          <a:spcPct val="105000"/>
                        </a:lnSpc>
                        <a:spcBef>
                          <a:spcPts val="0"/>
                        </a:spcBef>
                        <a:spcAft>
                          <a:spcPts val="0"/>
                        </a:spcAft>
                        <a:buNone/>
                      </a:pPr>
                      <a:r>
                        <a:rPr b="0" i="0" lang="en-US" sz="1200" u="none" cap="none" strike="noStrike">
                          <a:solidFill>
                            <a:srgbClr val="0A2540"/>
                          </a:solidFill>
                          <a:latin typeface="Calibri"/>
                          <a:ea typeface="Calibri"/>
                          <a:cs typeface="Calibri"/>
                          <a:sym typeface="Calibri"/>
                        </a:rPr>
                        <a:t>0,25</a:t>
                      </a:r>
                      <a:endParaRPr/>
                    </a:p>
                  </a:txBody>
                  <a:tcPr marT="41150" marB="41150" marR="73150" marL="91450" anchor="ctr"/>
                </a:tc>
                <a:tc>
                  <a:txBody>
                    <a:bodyPr/>
                    <a:lstStyle/>
                    <a:p>
                      <a:pPr indent="0" lvl="0" marL="0" marR="0" rtl="0" algn="ctr">
                        <a:lnSpc>
                          <a:spcPct val="105000"/>
                        </a:lnSpc>
                        <a:spcBef>
                          <a:spcPts val="0"/>
                        </a:spcBef>
                        <a:spcAft>
                          <a:spcPts val="0"/>
                        </a:spcAft>
                        <a:buNone/>
                      </a:pPr>
                      <a:r>
                        <a:rPr b="1" i="0" lang="en-US" sz="1200" u="none" cap="none" strike="noStrike">
                          <a:solidFill>
                            <a:srgbClr val="C87F0A"/>
                          </a:solidFill>
                          <a:latin typeface="Calibri"/>
                          <a:ea typeface="Calibri"/>
                          <a:cs typeface="Calibri"/>
                          <a:sym typeface="Calibri"/>
                        </a:rPr>
                        <a:t>2,0</a:t>
                      </a:r>
                      <a:endParaRPr/>
                    </a:p>
                  </a:txBody>
                  <a:tcPr marT="41150" marB="41150" marR="73150" marL="91450" anchor="ctr"/>
                </a:tc>
              </a:tr>
              <a:tr h="228600">
                <a:tc>
                  <a:txBody>
                    <a:bodyPr/>
                    <a:lstStyle/>
                    <a:p>
                      <a:pPr indent="0" lvl="0" marL="0" marR="0" rtl="0" algn="l">
                        <a:lnSpc>
                          <a:spcPct val="105000"/>
                        </a:lnSpc>
                        <a:spcBef>
                          <a:spcPts val="0"/>
                        </a:spcBef>
                        <a:spcAft>
                          <a:spcPts val="0"/>
                        </a:spcAft>
                        <a:buNone/>
                      </a:pPr>
                      <a:r>
                        <a:rPr b="0" i="0" lang="en-US" sz="1200" u="none" cap="none" strike="noStrike">
                          <a:solidFill>
                            <a:srgbClr val="0A2540"/>
                          </a:solidFill>
                          <a:latin typeface="Calibri"/>
                          <a:ea typeface="Calibri"/>
                          <a:cs typeface="Calibri"/>
                          <a:sym typeface="Calibri"/>
                        </a:rPr>
                        <a:t>Kiểm tra và xử lý kỹ thuật từ xa</a:t>
                      </a:r>
                      <a:endParaRPr/>
                    </a:p>
                  </a:txBody>
                  <a:tcPr marT="41150" marB="41150" marR="73150" marL="91450" anchor="ctr"/>
                </a:tc>
                <a:tc>
                  <a:txBody>
                    <a:bodyPr/>
                    <a:lstStyle/>
                    <a:p>
                      <a:pPr indent="0" lvl="0" marL="0" marR="0" rtl="0" algn="l">
                        <a:lnSpc>
                          <a:spcPct val="105000"/>
                        </a:lnSpc>
                        <a:spcBef>
                          <a:spcPts val="0"/>
                        </a:spcBef>
                        <a:spcAft>
                          <a:spcPts val="0"/>
                        </a:spcAft>
                        <a:buNone/>
                      </a:pPr>
                      <a:r>
                        <a:rPr b="0" i="0" lang="en-US" sz="1200" u="none" cap="none" strike="noStrike">
                          <a:solidFill>
                            <a:srgbClr val="0A2540"/>
                          </a:solidFill>
                          <a:latin typeface="Calibri"/>
                          <a:ea typeface="Calibri"/>
                          <a:cs typeface="Calibri"/>
                          <a:sym typeface="Calibri"/>
                        </a:rPr>
                        <a:t>Service Engineer</a:t>
                      </a:r>
                      <a:endParaRPr/>
                    </a:p>
                  </a:txBody>
                  <a:tcPr marT="41150" marB="41150" marR="73150" marL="91450" anchor="ctr"/>
                </a:tc>
                <a:tc>
                  <a:txBody>
                    <a:bodyPr/>
                    <a:lstStyle/>
                    <a:p>
                      <a:pPr indent="0" lvl="0" marL="0" marR="0" rtl="0" algn="ctr">
                        <a:lnSpc>
                          <a:spcPct val="105000"/>
                        </a:lnSpc>
                        <a:spcBef>
                          <a:spcPts val="0"/>
                        </a:spcBef>
                        <a:spcAft>
                          <a:spcPts val="0"/>
                        </a:spcAft>
                        <a:buNone/>
                      </a:pPr>
                      <a:r>
                        <a:rPr b="0" i="0" lang="en-US" sz="1200" u="none" cap="none" strike="noStrike">
                          <a:solidFill>
                            <a:srgbClr val="0A2540"/>
                          </a:solidFill>
                          <a:latin typeface="Calibri"/>
                          <a:ea typeface="Calibri"/>
                          <a:cs typeface="Calibri"/>
                          <a:sym typeface="Calibri"/>
                        </a:rPr>
                        <a:t>1,5</a:t>
                      </a:r>
                      <a:endParaRPr/>
                    </a:p>
                  </a:txBody>
                  <a:tcPr marT="41150" marB="41150" marR="73150" marL="91450" anchor="ctr"/>
                </a:tc>
                <a:tc>
                  <a:txBody>
                    <a:bodyPr/>
                    <a:lstStyle/>
                    <a:p>
                      <a:pPr indent="0" lvl="0" marL="0" marR="0" rtl="0" algn="ctr">
                        <a:lnSpc>
                          <a:spcPct val="105000"/>
                        </a:lnSpc>
                        <a:spcBef>
                          <a:spcPts val="0"/>
                        </a:spcBef>
                        <a:spcAft>
                          <a:spcPts val="0"/>
                        </a:spcAft>
                        <a:buNone/>
                      </a:pPr>
                      <a:r>
                        <a:rPr b="1" i="0" lang="en-US" sz="1200" u="none" cap="none" strike="noStrike">
                          <a:solidFill>
                            <a:srgbClr val="C87F0A"/>
                          </a:solidFill>
                          <a:latin typeface="Calibri"/>
                          <a:ea typeface="Calibri"/>
                          <a:cs typeface="Calibri"/>
                          <a:sym typeface="Calibri"/>
                        </a:rPr>
                        <a:t>1,0</a:t>
                      </a:r>
                      <a:endParaRPr/>
                    </a:p>
                  </a:txBody>
                  <a:tcPr marT="41150" marB="41150" marR="73150" marL="91450" anchor="ctr"/>
                </a:tc>
              </a:tr>
              <a:tr h="228600">
                <a:tc>
                  <a:txBody>
                    <a:bodyPr/>
                    <a:lstStyle/>
                    <a:p>
                      <a:pPr indent="0" lvl="0" marL="0" marR="0" rtl="0" algn="l">
                        <a:lnSpc>
                          <a:spcPct val="105000"/>
                        </a:lnSpc>
                        <a:spcBef>
                          <a:spcPts val="0"/>
                        </a:spcBef>
                        <a:spcAft>
                          <a:spcPts val="0"/>
                        </a:spcAft>
                        <a:buNone/>
                      </a:pPr>
                      <a:r>
                        <a:rPr b="0" i="0" lang="en-US" sz="1200" u="none" cap="none" strike="noStrike">
                          <a:solidFill>
                            <a:srgbClr val="0A2540"/>
                          </a:solidFill>
                          <a:latin typeface="Calibri"/>
                          <a:ea typeface="Calibri"/>
                          <a:cs typeface="Calibri"/>
                          <a:sym typeface="Calibri"/>
                        </a:rPr>
                        <a:t>Phối hợp kiểm tra trực tiếp (onsite)</a:t>
                      </a:r>
                      <a:endParaRPr/>
                    </a:p>
                  </a:txBody>
                  <a:tcPr marT="41150" marB="41150" marR="73150" marL="91450" anchor="ctr"/>
                </a:tc>
                <a:tc>
                  <a:txBody>
                    <a:bodyPr/>
                    <a:lstStyle/>
                    <a:p>
                      <a:pPr indent="0" lvl="0" marL="0" marR="0" rtl="0" algn="l">
                        <a:lnSpc>
                          <a:spcPct val="105000"/>
                        </a:lnSpc>
                        <a:spcBef>
                          <a:spcPts val="0"/>
                        </a:spcBef>
                        <a:spcAft>
                          <a:spcPts val="0"/>
                        </a:spcAft>
                        <a:buNone/>
                      </a:pPr>
                      <a:r>
                        <a:rPr b="0" i="0" lang="en-US" sz="1200" u="none" cap="none" strike="noStrike">
                          <a:solidFill>
                            <a:srgbClr val="0A2540"/>
                          </a:solidFill>
                          <a:latin typeface="Calibri"/>
                          <a:ea typeface="Calibri"/>
                          <a:cs typeface="Calibri"/>
                          <a:sym typeface="Calibri"/>
                        </a:rPr>
                        <a:t>End-user / Engineer</a:t>
                      </a:r>
                      <a:endParaRPr/>
                    </a:p>
                  </a:txBody>
                  <a:tcPr marT="41150" marB="41150" marR="73150" marL="91450" anchor="ctr"/>
                </a:tc>
                <a:tc>
                  <a:txBody>
                    <a:bodyPr/>
                    <a:lstStyle/>
                    <a:p>
                      <a:pPr indent="0" lvl="0" marL="0" marR="0" rtl="0" algn="ctr">
                        <a:lnSpc>
                          <a:spcPct val="105000"/>
                        </a:lnSpc>
                        <a:spcBef>
                          <a:spcPts val="0"/>
                        </a:spcBef>
                        <a:spcAft>
                          <a:spcPts val="0"/>
                        </a:spcAft>
                        <a:buNone/>
                      </a:pPr>
                      <a:r>
                        <a:rPr b="0" i="0" lang="en-US" sz="1200" u="none" cap="none" strike="noStrike">
                          <a:solidFill>
                            <a:srgbClr val="0A2540"/>
                          </a:solidFill>
                          <a:latin typeface="Calibri"/>
                          <a:ea typeface="Calibri"/>
                          <a:cs typeface="Calibri"/>
                          <a:sym typeface="Calibri"/>
                        </a:rPr>
                        <a:t>0,5</a:t>
                      </a:r>
                      <a:endParaRPr/>
                    </a:p>
                  </a:txBody>
                  <a:tcPr marT="41150" marB="41150" marR="73150" marL="91450" anchor="ctr"/>
                </a:tc>
                <a:tc>
                  <a:txBody>
                    <a:bodyPr/>
                    <a:lstStyle/>
                    <a:p>
                      <a:pPr indent="0" lvl="0" marL="0" marR="0" rtl="0" algn="ctr">
                        <a:lnSpc>
                          <a:spcPct val="105000"/>
                        </a:lnSpc>
                        <a:spcBef>
                          <a:spcPts val="0"/>
                        </a:spcBef>
                        <a:spcAft>
                          <a:spcPts val="0"/>
                        </a:spcAft>
                        <a:buNone/>
                      </a:pPr>
                      <a:r>
                        <a:rPr b="1" i="0" lang="en-US" sz="1200" u="none" cap="none" strike="noStrike">
                          <a:solidFill>
                            <a:srgbClr val="C0392B"/>
                          </a:solidFill>
                          <a:latin typeface="Calibri"/>
                          <a:ea typeface="Calibri"/>
                          <a:cs typeface="Calibri"/>
                          <a:sym typeface="Calibri"/>
                        </a:rPr>
                        <a:t>8,0</a:t>
                      </a:r>
                      <a:endParaRPr/>
                    </a:p>
                  </a:txBody>
                  <a:tcPr marT="41150" marB="41150" marR="73150" marL="91450" anchor="ctr"/>
                </a:tc>
              </a:tr>
              <a:tr h="228600">
                <a:tc>
                  <a:txBody>
                    <a:bodyPr/>
                    <a:lstStyle/>
                    <a:p>
                      <a:pPr indent="0" lvl="0" marL="0" marR="0" rtl="0" algn="l">
                        <a:lnSpc>
                          <a:spcPct val="105000"/>
                        </a:lnSpc>
                        <a:spcBef>
                          <a:spcPts val="0"/>
                        </a:spcBef>
                        <a:spcAft>
                          <a:spcPts val="0"/>
                        </a:spcAft>
                        <a:buNone/>
                      </a:pPr>
                      <a:r>
                        <a:rPr b="0" i="0" lang="en-US" sz="1200" u="none" cap="none" strike="noStrike">
                          <a:solidFill>
                            <a:srgbClr val="0A2540"/>
                          </a:solidFill>
                          <a:latin typeface="Calibri"/>
                          <a:ea typeface="Calibri"/>
                          <a:cs typeface="Calibri"/>
                          <a:sym typeface="Calibri"/>
                        </a:rPr>
                        <a:t>Khảo sát và đánh giá hiện trạng thiết bị</a:t>
                      </a:r>
                      <a:endParaRPr/>
                    </a:p>
                  </a:txBody>
                  <a:tcPr marT="41150" marB="41150" marR="73150" marL="91450" anchor="ctr"/>
                </a:tc>
                <a:tc>
                  <a:txBody>
                    <a:bodyPr/>
                    <a:lstStyle/>
                    <a:p>
                      <a:pPr indent="0" lvl="0" marL="0" marR="0" rtl="0" algn="l">
                        <a:lnSpc>
                          <a:spcPct val="105000"/>
                        </a:lnSpc>
                        <a:spcBef>
                          <a:spcPts val="0"/>
                        </a:spcBef>
                        <a:spcAft>
                          <a:spcPts val="0"/>
                        </a:spcAft>
                        <a:buNone/>
                      </a:pPr>
                      <a:r>
                        <a:rPr b="0" i="0" lang="en-US" sz="1200" u="none" cap="none" strike="noStrike">
                          <a:solidFill>
                            <a:srgbClr val="0A2540"/>
                          </a:solidFill>
                          <a:latin typeface="Calibri"/>
                          <a:ea typeface="Calibri"/>
                          <a:cs typeface="Calibri"/>
                          <a:sym typeface="Calibri"/>
                        </a:rPr>
                        <a:t>Service Engineer</a:t>
                      </a:r>
                      <a:endParaRPr/>
                    </a:p>
                  </a:txBody>
                  <a:tcPr marT="41150" marB="41150" marR="73150" marL="91450" anchor="ctr"/>
                </a:tc>
                <a:tc>
                  <a:txBody>
                    <a:bodyPr/>
                    <a:lstStyle/>
                    <a:p>
                      <a:pPr indent="0" lvl="0" marL="0" marR="0" rtl="0" algn="ctr">
                        <a:lnSpc>
                          <a:spcPct val="105000"/>
                        </a:lnSpc>
                        <a:spcBef>
                          <a:spcPts val="0"/>
                        </a:spcBef>
                        <a:spcAft>
                          <a:spcPts val="0"/>
                        </a:spcAft>
                        <a:buNone/>
                      </a:pPr>
                      <a:r>
                        <a:rPr b="1" i="0" lang="en-US" sz="1200" u="none" cap="none" strike="noStrike">
                          <a:solidFill>
                            <a:srgbClr val="0A2540"/>
                          </a:solidFill>
                          <a:latin typeface="Calibri"/>
                          <a:ea typeface="Calibri"/>
                          <a:cs typeface="Calibri"/>
                          <a:sym typeface="Calibri"/>
                        </a:rPr>
                        <a:t>2,0</a:t>
                      </a:r>
                      <a:endParaRPr/>
                    </a:p>
                  </a:txBody>
                  <a:tcPr marT="41150" marB="41150" marR="73150" marL="91450" anchor="ctr"/>
                </a:tc>
                <a:tc>
                  <a:txBody>
                    <a:bodyPr/>
                    <a:lstStyle/>
                    <a:p>
                      <a:pPr indent="0" lvl="0" marL="0" marR="0" rtl="0" algn="ctr">
                        <a:lnSpc>
                          <a:spcPct val="105000"/>
                        </a:lnSpc>
                        <a:spcBef>
                          <a:spcPts val="0"/>
                        </a:spcBef>
                        <a:spcAft>
                          <a:spcPts val="0"/>
                        </a:spcAft>
                        <a:buNone/>
                      </a:pPr>
                      <a:r>
                        <a:rPr b="0" i="0" lang="en-US" sz="1200" u="none" cap="none" strike="noStrike">
                          <a:solidFill>
                            <a:srgbClr val="6B7784"/>
                          </a:solidFill>
                          <a:latin typeface="Calibri"/>
                          <a:ea typeface="Calibri"/>
                          <a:cs typeface="Calibri"/>
                          <a:sym typeface="Calibri"/>
                        </a:rPr>
                        <a:t>–</a:t>
                      </a:r>
                      <a:endParaRPr/>
                    </a:p>
                  </a:txBody>
                  <a:tcPr marT="41150" marB="41150" marR="73150" marL="91450" anchor="ctr"/>
                </a:tc>
              </a:tr>
              <a:tr h="228600">
                <a:tc>
                  <a:txBody>
                    <a:bodyPr/>
                    <a:lstStyle/>
                    <a:p>
                      <a:pPr indent="0" lvl="0" marL="0" marR="0" rtl="0" algn="l">
                        <a:lnSpc>
                          <a:spcPct val="105000"/>
                        </a:lnSpc>
                        <a:spcBef>
                          <a:spcPts val="0"/>
                        </a:spcBef>
                        <a:spcAft>
                          <a:spcPts val="0"/>
                        </a:spcAft>
                        <a:buNone/>
                      </a:pPr>
                      <a:r>
                        <a:rPr b="0" i="0" lang="en-US" sz="1200" u="none" cap="none" strike="noStrike">
                          <a:solidFill>
                            <a:srgbClr val="0A2540"/>
                          </a:solidFill>
                          <a:latin typeface="Calibri"/>
                          <a:ea typeface="Calibri"/>
                          <a:cs typeface="Calibri"/>
                          <a:sym typeface="Calibri"/>
                        </a:rPr>
                        <a:t>Tiếp nhận kết quả đánh giá kỹ thuật</a:t>
                      </a:r>
                      <a:endParaRPr/>
                    </a:p>
                  </a:txBody>
                  <a:tcPr marT="41150" marB="41150" marR="73150" marL="91450" anchor="ctr"/>
                </a:tc>
                <a:tc>
                  <a:txBody>
                    <a:bodyPr/>
                    <a:lstStyle/>
                    <a:p>
                      <a:pPr indent="0" lvl="0" marL="0" marR="0" rtl="0" algn="l">
                        <a:lnSpc>
                          <a:spcPct val="105000"/>
                        </a:lnSpc>
                        <a:spcBef>
                          <a:spcPts val="0"/>
                        </a:spcBef>
                        <a:spcAft>
                          <a:spcPts val="0"/>
                        </a:spcAft>
                        <a:buNone/>
                      </a:pPr>
                      <a:r>
                        <a:rPr b="0" i="0" lang="en-US" sz="1200" u="none" cap="none" strike="noStrike">
                          <a:solidFill>
                            <a:srgbClr val="0A2540"/>
                          </a:solidFill>
                          <a:latin typeface="Calibri"/>
                          <a:ea typeface="Calibri"/>
                          <a:cs typeface="Calibri"/>
                          <a:sym typeface="Calibri"/>
                        </a:rPr>
                        <a:t>Service Admin</a:t>
                      </a:r>
                      <a:endParaRPr/>
                    </a:p>
                  </a:txBody>
                  <a:tcPr marT="41150" marB="41150" marR="73150" marL="91450" anchor="ctr"/>
                </a:tc>
                <a:tc>
                  <a:txBody>
                    <a:bodyPr/>
                    <a:lstStyle/>
                    <a:p>
                      <a:pPr indent="0" lvl="0" marL="0" marR="0" rtl="0" algn="ctr">
                        <a:lnSpc>
                          <a:spcPct val="105000"/>
                        </a:lnSpc>
                        <a:spcBef>
                          <a:spcPts val="0"/>
                        </a:spcBef>
                        <a:spcAft>
                          <a:spcPts val="0"/>
                        </a:spcAft>
                        <a:buNone/>
                      </a:pPr>
                      <a:r>
                        <a:rPr b="0" i="0" lang="en-US" sz="1200" u="none" cap="none" strike="noStrike">
                          <a:solidFill>
                            <a:srgbClr val="0A2540"/>
                          </a:solidFill>
                          <a:latin typeface="Calibri"/>
                          <a:ea typeface="Calibri"/>
                          <a:cs typeface="Calibri"/>
                          <a:sym typeface="Calibri"/>
                        </a:rPr>
                        <a:t>0,25</a:t>
                      </a:r>
                      <a:endParaRPr/>
                    </a:p>
                  </a:txBody>
                  <a:tcPr marT="41150" marB="41150" marR="73150" marL="91450" anchor="ctr"/>
                </a:tc>
                <a:tc>
                  <a:txBody>
                    <a:bodyPr/>
                    <a:lstStyle/>
                    <a:p>
                      <a:pPr indent="0" lvl="0" marL="0" marR="0" rtl="0" algn="ctr">
                        <a:lnSpc>
                          <a:spcPct val="105000"/>
                        </a:lnSpc>
                        <a:spcBef>
                          <a:spcPts val="0"/>
                        </a:spcBef>
                        <a:spcAft>
                          <a:spcPts val="0"/>
                        </a:spcAft>
                        <a:buNone/>
                      </a:pPr>
                      <a:r>
                        <a:rPr b="1" i="0" lang="en-US" sz="1200" u="none" cap="none" strike="noStrike">
                          <a:solidFill>
                            <a:srgbClr val="C87F0A"/>
                          </a:solidFill>
                          <a:latin typeface="Calibri"/>
                          <a:ea typeface="Calibri"/>
                          <a:cs typeface="Calibri"/>
                          <a:sym typeface="Calibri"/>
                        </a:rPr>
                        <a:t>1,0</a:t>
                      </a:r>
                      <a:endParaRPr/>
                    </a:p>
                  </a:txBody>
                  <a:tcPr marT="41150" marB="41150" marR="73150" marL="91450" anchor="ctr"/>
                </a:tc>
              </a:tr>
              <a:tr h="228600">
                <a:tc>
                  <a:txBody>
                    <a:bodyPr/>
                    <a:lstStyle/>
                    <a:p>
                      <a:pPr indent="0" lvl="0" marL="0" marR="0" rtl="0" algn="l">
                        <a:lnSpc>
                          <a:spcPct val="105000"/>
                        </a:lnSpc>
                        <a:spcBef>
                          <a:spcPts val="0"/>
                        </a:spcBef>
                        <a:spcAft>
                          <a:spcPts val="0"/>
                        </a:spcAft>
                        <a:buNone/>
                      </a:pPr>
                      <a:r>
                        <a:rPr b="0" i="0" lang="en-US" sz="1200" u="none" cap="none" strike="noStrike">
                          <a:solidFill>
                            <a:srgbClr val="0A2540"/>
                          </a:solidFill>
                          <a:latin typeface="Calibri"/>
                          <a:ea typeface="Calibri"/>
                          <a:cs typeface="Calibri"/>
                          <a:sym typeface="Calibri"/>
                        </a:rPr>
                        <a:t>Thủ tục thương mại &amp; chờ quyết định báo giá</a:t>
                      </a:r>
                      <a:endParaRPr/>
                    </a:p>
                  </a:txBody>
                  <a:tcPr marT="41150" marB="41150" marR="73150" marL="91450" anchor="ctr"/>
                </a:tc>
                <a:tc>
                  <a:txBody>
                    <a:bodyPr/>
                    <a:lstStyle/>
                    <a:p>
                      <a:pPr indent="0" lvl="0" marL="0" marR="0" rtl="0" algn="l">
                        <a:lnSpc>
                          <a:spcPct val="105000"/>
                        </a:lnSpc>
                        <a:spcBef>
                          <a:spcPts val="0"/>
                        </a:spcBef>
                        <a:spcAft>
                          <a:spcPts val="0"/>
                        </a:spcAft>
                        <a:buNone/>
                      </a:pPr>
                      <a:r>
                        <a:rPr b="0" i="0" lang="en-US" sz="1200" u="none" cap="none" strike="noStrike">
                          <a:solidFill>
                            <a:srgbClr val="0A2540"/>
                          </a:solidFill>
                          <a:latin typeface="Calibri"/>
                          <a:ea typeface="Calibri"/>
                          <a:cs typeface="Calibri"/>
                          <a:sym typeface="Calibri"/>
                        </a:rPr>
                        <a:t>Distributor / End-user</a:t>
                      </a:r>
                      <a:endParaRPr/>
                    </a:p>
                  </a:txBody>
                  <a:tcPr marT="41150" marB="41150" marR="73150" marL="91450" anchor="ctr"/>
                </a:tc>
                <a:tc>
                  <a:txBody>
                    <a:bodyPr/>
                    <a:lstStyle/>
                    <a:p>
                      <a:pPr indent="0" lvl="0" marL="0" marR="0" rtl="0" algn="ctr">
                        <a:lnSpc>
                          <a:spcPct val="105000"/>
                        </a:lnSpc>
                        <a:spcBef>
                          <a:spcPts val="0"/>
                        </a:spcBef>
                        <a:spcAft>
                          <a:spcPts val="0"/>
                        </a:spcAft>
                        <a:buNone/>
                      </a:pPr>
                      <a:r>
                        <a:rPr b="0" i="0" lang="en-US" sz="1200" u="none" cap="none" strike="noStrike">
                          <a:solidFill>
                            <a:srgbClr val="0A2540"/>
                          </a:solidFill>
                          <a:latin typeface="Calibri"/>
                          <a:ea typeface="Calibri"/>
                          <a:cs typeface="Calibri"/>
                          <a:sym typeface="Calibri"/>
                        </a:rPr>
                        <a:t>0,5</a:t>
                      </a:r>
                      <a:endParaRPr/>
                    </a:p>
                  </a:txBody>
                  <a:tcPr marT="41150" marB="41150" marR="73150" marL="91450" anchor="ctr"/>
                </a:tc>
                <a:tc>
                  <a:txBody>
                    <a:bodyPr/>
                    <a:lstStyle/>
                    <a:p>
                      <a:pPr indent="0" lvl="0" marL="0" marR="0" rtl="0" algn="ctr">
                        <a:lnSpc>
                          <a:spcPct val="105000"/>
                        </a:lnSpc>
                        <a:spcBef>
                          <a:spcPts val="0"/>
                        </a:spcBef>
                        <a:spcAft>
                          <a:spcPts val="0"/>
                        </a:spcAft>
                        <a:buNone/>
                      </a:pPr>
                      <a:r>
                        <a:rPr b="1" i="0" lang="en-US" sz="1200" u="none" cap="none" strike="noStrike">
                          <a:solidFill>
                            <a:srgbClr val="C0392B"/>
                          </a:solidFill>
                          <a:latin typeface="Calibri"/>
                          <a:ea typeface="Calibri"/>
                          <a:cs typeface="Calibri"/>
                          <a:sym typeface="Calibri"/>
                        </a:rPr>
                        <a:t>16,0</a:t>
                      </a:r>
                      <a:endParaRPr/>
                    </a:p>
                  </a:txBody>
                  <a:tcPr marT="41150" marB="41150" marR="73150" marL="91450" anchor="ctr"/>
                </a:tc>
              </a:tr>
              <a:tr h="228600">
                <a:tc>
                  <a:txBody>
                    <a:bodyPr/>
                    <a:lstStyle/>
                    <a:p>
                      <a:pPr indent="0" lvl="0" marL="0" marR="0" rtl="0" algn="l">
                        <a:lnSpc>
                          <a:spcPct val="105000"/>
                        </a:lnSpc>
                        <a:spcBef>
                          <a:spcPts val="0"/>
                        </a:spcBef>
                        <a:spcAft>
                          <a:spcPts val="0"/>
                        </a:spcAft>
                        <a:buNone/>
                      </a:pPr>
                      <a:r>
                        <a:rPr b="0" i="0" lang="en-US" sz="1200" u="none" cap="none" strike="noStrike">
                          <a:solidFill>
                            <a:srgbClr val="0A2540"/>
                          </a:solidFill>
                          <a:latin typeface="Calibri"/>
                          <a:ea typeface="Calibri"/>
                          <a:cs typeface="Calibri"/>
                          <a:sym typeface="Calibri"/>
                        </a:rPr>
                        <a:t>Phân công Service Engineer phù hợp</a:t>
                      </a:r>
                      <a:endParaRPr/>
                    </a:p>
                  </a:txBody>
                  <a:tcPr marT="41150" marB="41150" marR="73150" marL="91450" anchor="ctr"/>
                </a:tc>
                <a:tc>
                  <a:txBody>
                    <a:bodyPr/>
                    <a:lstStyle/>
                    <a:p>
                      <a:pPr indent="0" lvl="0" marL="0" marR="0" rtl="0" algn="l">
                        <a:lnSpc>
                          <a:spcPct val="105000"/>
                        </a:lnSpc>
                        <a:spcBef>
                          <a:spcPts val="0"/>
                        </a:spcBef>
                        <a:spcAft>
                          <a:spcPts val="0"/>
                        </a:spcAft>
                        <a:buNone/>
                      </a:pPr>
                      <a:r>
                        <a:rPr b="0" i="0" lang="en-US" sz="1200" u="none" cap="none" strike="noStrike">
                          <a:solidFill>
                            <a:srgbClr val="0A2540"/>
                          </a:solidFill>
                          <a:latin typeface="Calibri"/>
                          <a:ea typeface="Calibri"/>
                          <a:cs typeface="Calibri"/>
                          <a:sym typeface="Calibri"/>
                        </a:rPr>
                        <a:t>Service Admin</a:t>
                      </a:r>
                      <a:endParaRPr/>
                    </a:p>
                  </a:txBody>
                  <a:tcPr marT="41150" marB="41150" marR="73150" marL="91450" anchor="ctr"/>
                </a:tc>
                <a:tc>
                  <a:txBody>
                    <a:bodyPr/>
                    <a:lstStyle/>
                    <a:p>
                      <a:pPr indent="0" lvl="0" marL="0" marR="0" rtl="0" algn="ctr">
                        <a:lnSpc>
                          <a:spcPct val="105000"/>
                        </a:lnSpc>
                        <a:spcBef>
                          <a:spcPts val="0"/>
                        </a:spcBef>
                        <a:spcAft>
                          <a:spcPts val="0"/>
                        </a:spcAft>
                        <a:buNone/>
                      </a:pPr>
                      <a:r>
                        <a:rPr b="0" i="0" lang="en-US" sz="1200" u="none" cap="none" strike="noStrike">
                          <a:solidFill>
                            <a:srgbClr val="0A2540"/>
                          </a:solidFill>
                          <a:latin typeface="Calibri"/>
                          <a:ea typeface="Calibri"/>
                          <a:cs typeface="Calibri"/>
                          <a:sym typeface="Calibri"/>
                        </a:rPr>
                        <a:t>0,25</a:t>
                      </a:r>
                      <a:endParaRPr/>
                    </a:p>
                  </a:txBody>
                  <a:tcPr marT="41150" marB="41150" marR="73150" marL="91450" anchor="ctr"/>
                </a:tc>
                <a:tc>
                  <a:txBody>
                    <a:bodyPr/>
                    <a:lstStyle/>
                    <a:p>
                      <a:pPr indent="0" lvl="0" marL="0" marR="0" rtl="0" algn="ctr">
                        <a:lnSpc>
                          <a:spcPct val="105000"/>
                        </a:lnSpc>
                        <a:spcBef>
                          <a:spcPts val="0"/>
                        </a:spcBef>
                        <a:spcAft>
                          <a:spcPts val="0"/>
                        </a:spcAft>
                        <a:buNone/>
                      </a:pPr>
                      <a:r>
                        <a:rPr b="1" i="0" lang="en-US" sz="1200" u="none" cap="none" strike="noStrike">
                          <a:solidFill>
                            <a:srgbClr val="C87F0A"/>
                          </a:solidFill>
                          <a:latin typeface="Calibri"/>
                          <a:ea typeface="Calibri"/>
                          <a:cs typeface="Calibri"/>
                          <a:sym typeface="Calibri"/>
                        </a:rPr>
                        <a:t>4,0</a:t>
                      </a:r>
                      <a:endParaRPr/>
                    </a:p>
                  </a:txBody>
                  <a:tcPr marT="41150" marB="41150" marR="73150" marL="91450" anchor="ctr"/>
                </a:tc>
              </a:tr>
              <a:tr h="228600">
                <a:tc>
                  <a:txBody>
                    <a:bodyPr/>
                    <a:lstStyle/>
                    <a:p>
                      <a:pPr indent="0" lvl="0" marL="0" marR="0" rtl="0" algn="l">
                        <a:lnSpc>
                          <a:spcPct val="105000"/>
                        </a:lnSpc>
                        <a:spcBef>
                          <a:spcPts val="0"/>
                        </a:spcBef>
                        <a:spcAft>
                          <a:spcPts val="0"/>
                        </a:spcAft>
                        <a:buNone/>
                      </a:pPr>
                      <a:r>
                        <a:rPr b="0" i="0" lang="en-US" sz="1200" u="none" cap="none" strike="noStrike">
                          <a:solidFill>
                            <a:srgbClr val="0A2540"/>
                          </a:solidFill>
                          <a:latin typeface="Calibri"/>
                          <a:ea typeface="Calibri"/>
                          <a:cs typeface="Calibri"/>
                          <a:sym typeface="Calibri"/>
                        </a:rPr>
                        <a:t>Thực hiện dịch vụ kỹ thuật</a:t>
                      </a:r>
                      <a:endParaRPr/>
                    </a:p>
                  </a:txBody>
                  <a:tcPr marT="41150" marB="41150" marR="73150" marL="91450" anchor="ctr"/>
                </a:tc>
                <a:tc>
                  <a:txBody>
                    <a:bodyPr/>
                    <a:lstStyle/>
                    <a:p>
                      <a:pPr indent="0" lvl="0" marL="0" marR="0" rtl="0" algn="l">
                        <a:lnSpc>
                          <a:spcPct val="105000"/>
                        </a:lnSpc>
                        <a:spcBef>
                          <a:spcPts val="0"/>
                        </a:spcBef>
                        <a:spcAft>
                          <a:spcPts val="0"/>
                        </a:spcAft>
                        <a:buNone/>
                      </a:pPr>
                      <a:r>
                        <a:rPr b="0" i="0" lang="en-US" sz="1200" u="none" cap="none" strike="noStrike">
                          <a:solidFill>
                            <a:srgbClr val="0A2540"/>
                          </a:solidFill>
                          <a:latin typeface="Calibri"/>
                          <a:ea typeface="Calibri"/>
                          <a:cs typeface="Calibri"/>
                          <a:sym typeface="Calibri"/>
                        </a:rPr>
                        <a:t>Service Engineer</a:t>
                      </a:r>
                      <a:endParaRPr/>
                    </a:p>
                  </a:txBody>
                  <a:tcPr marT="41150" marB="41150" marR="73150" marL="91450" anchor="ctr"/>
                </a:tc>
                <a:tc>
                  <a:txBody>
                    <a:bodyPr/>
                    <a:lstStyle/>
                    <a:p>
                      <a:pPr indent="0" lvl="0" marL="0" marR="0" rtl="0" algn="ctr">
                        <a:lnSpc>
                          <a:spcPct val="105000"/>
                        </a:lnSpc>
                        <a:spcBef>
                          <a:spcPts val="0"/>
                        </a:spcBef>
                        <a:spcAft>
                          <a:spcPts val="0"/>
                        </a:spcAft>
                        <a:buNone/>
                      </a:pPr>
                      <a:r>
                        <a:rPr b="1" i="0" lang="en-US" sz="1200" u="none" cap="none" strike="noStrike">
                          <a:solidFill>
                            <a:srgbClr val="00C2A8"/>
                          </a:solidFill>
                          <a:latin typeface="Calibri"/>
                          <a:ea typeface="Calibri"/>
                          <a:cs typeface="Calibri"/>
                          <a:sym typeface="Calibri"/>
                        </a:rPr>
                        <a:t>16,0</a:t>
                      </a:r>
                      <a:endParaRPr/>
                    </a:p>
                  </a:txBody>
                  <a:tcPr marT="41150" marB="41150" marR="73150" marL="91450" anchor="ctr"/>
                </a:tc>
                <a:tc>
                  <a:txBody>
                    <a:bodyPr/>
                    <a:lstStyle/>
                    <a:p>
                      <a:pPr indent="0" lvl="0" marL="0" marR="0" rtl="0" algn="ctr">
                        <a:lnSpc>
                          <a:spcPct val="105000"/>
                        </a:lnSpc>
                        <a:spcBef>
                          <a:spcPts val="0"/>
                        </a:spcBef>
                        <a:spcAft>
                          <a:spcPts val="0"/>
                        </a:spcAft>
                        <a:buNone/>
                      </a:pPr>
                      <a:r>
                        <a:rPr b="0" i="0" lang="en-US" sz="1200" u="none" cap="none" strike="noStrike">
                          <a:solidFill>
                            <a:srgbClr val="6B7784"/>
                          </a:solidFill>
                          <a:latin typeface="Calibri"/>
                          <a:ea typeface="Calibri"/>
                          <a:cs typeface="Calibri"/>
                          <a:sym typeface="Calibri"/>
                        </a:rPr>
                        <a:t>–</a:t>
                      </a:r>
                      <a:endParaRPr/>
                    </a:p>
                  </a:txBody>
                  <a:tcPr marT="41150" marB="41150" marR="73150" marL="91450" anchor="ctr"/>
                </a:tc>
              </a:tr>
              <a:tr h="228600">
                <a:tc>
                  <a:txBody>
                    <a:bodyPr/>
                    <a:lstStyle/>
                    <a:p>
                      <a:pPr indent="0" lvl="0" marL="0" marR="0" rtl="0" algn="l">
                        <a:lnSpc>
                          <a:spcPct val="105000"/>
                        </a:lnSpc>
                        <a:spcBef>
                          <a:spcPts val="0"/>
                        </a:spcBef>
                        <a:spcAft>
                          <a:spcPts val="0"/>
                        </a:spcAft>
                        <a:buNone/>
                      </a:pPr>
                      <a:r>
                        <a:rPr b="0" i="0" lang="en-US" sz="1200" u="none" cap="none" strike="noStrike">
                          <a:solidFill>
                            <a:srgbClr val="0A2540"/>
                          </a:solidFill>
                          <a:latin typeface="Calibri"/>
                          <a:ea typeface="Calibri"/>
                          <a:cs typeface="Calibri"/>
                          <a:sym typeface="Calibri"/>
                        </a:rPr>
                        <a:t>End-user xác nhận kết quả xử lý</a:t>
                      </a:r>
                      <a:endParaRPr/>
                    </a:p>
                  </a:txBody>
                  <a:tcPr marT="41150" marB="41150" marR="73150" marL="91450" anchor="ctr"/>
                </a:tc>
                <a:tc>
                  <a:txBody>
                    <a:bodyPr/>
                    <a:lstStyle/>
                    <a:p>
                      <a:pPr indent="0" lvl="0" marL="0" marR="0" rtl="0" algn="l">
                        <a:lnSpc>
                          <a:spcPct val="105000"/>
                        </a:lnSpc>
                        <a:spcBef>
                          <a:spcPts val="0"/>
                        </a:spcBef>
                        <a:spcAft>
                          <a:spcPts val="0"/>
                        </a:spcAft>
                        <a:buNone/>
                      </a:pPr>
                      <a:r>
                        <a:rPr b="0" i="0" lang="en-US" sz="1200" u="none" cap="none" strike="noStrike">
                          <a:solidFill>
                            <a:srgbClr val="0A2540"/>
                          </a:solidFill>
                          <a:latin typeface="Calibri"/>
                          <a:ea typeface="Calibri"/>
                          <a:cs typeface="Calibri"/>
                          <a:sym typeface="Calibri"/>
                        </a:rPr>
                        <a:t>Hospital / End-user</a:t>
                      </a:r>
                      <a:endParaRPr/>
                    </a:p>
                  </a:txBody>
                  <a:tcPr marT="41150" marB="41150" marR="73150" marL="91450" anchor="ctr"/>
                </a:tc>
                <a:tc>
                  <a:txBody>
                    <a:bodyPr/>
                    <a:lstStyle/>
                    <a:p>
                      <a:pPr indent="0" lvl="0" marL="0" marR="0" rtl="0" algn="ctr">
                        <a:lnSpc>
                          <a:spcPct val="105000"/>
                        </a:lnSpc>
                        <a:spcBef>
                          <a:spcPts val="0"/>
                        </a:spcBef>
                        <a:spcAft>
                          <a:spcPts val="0"/>
                        </a:spcAft>
                        <a:buNone/>
                      </a:pPr>
                      <a:r>
                        <a:rPr b="0" i="0" lang="en-US" sz="1200" u="none" cap="none" strike="noStrike">
                          <a:solidFill>
                            <a:srgbClr val="0A2540"/>
                          </a:solidFill>
                          <a:latin typeface="Calibri"/>
                          <a:ea typeface="Calibri"/>
                          <a:cs typeface="Calibri"/>
                          <a:sym typeface="Calibri"/>
                        </a:rPr>
                        <a:t>0,25</a:t>
                      </a:r>
                      <a:endParaRPr/>
                    </a:p>
                  </a:txBody>
                  <a:tcPr marT="41150" marB="41150" marR="73150" marL="91450" anchor="ctr"/>
                </a:tc>
                <a:tc>
                  <a:txBody>
                    <a:bodyPr/>
                    <a:lstStyle/>
                    <a:p>
                      <a:pPr indent="0" lvl="0" marL="0" marR="0" rtl="0" algn="ctr">
                        <a:lnSpc>
                          <a:spcPct val="105000"/>
                        </a:lnSpc>
                        <a:spcBef>
                          <a:spcPts val="0"/>
                        </a:spcBef>
                        <a:spcAft>
                          <a:spcPts val="0"/>
                        </a:spcAft>
                        <a:buNone/>
                      </a:pPr>
                      <a:r>
                        <a:rPr b="1" i="0" lang="en-US" sz="1200" u="none" cap="none" strike="noStrike">
                          <a:solidFill>
                            <a:srgbClr val="C0392B"/>
                          </a:solidFill>
                          <a:latin typeface="Calibri"/>
                          <a:ea typeface="Calibri"/>
                          <a:cs typeface="Calibri"/>
                          <a:sym typeface="Calibri"/>
                        </a:rPr>
                        <a:t>8,0</a:t>
                      </a:r>
                      <a:endParaRPr/>
                    </a:p>
                  </a:txBody>
                  <a:tcPr marT="41150" marB="41150" marR="73150" marL="91450" anchor="ctr"/>
                </a:tc>
              </a:tr>
            </a:tbl>
          </a:graphicData>
        </a:graphic>
      </p:graphicFrame>
      <p:sp>
        <p:nvSpPr>
          <p:cNvPr id="757" name="Google Shape;757;p42"/>
          <p:cNvSpPr/>
          <p:nvPr/>
        </p:nvSpPr>
        <p:spPr>
          <a:xfrm>
            <a:off x="658368" y="5760720"/>
            <a:ext cx="10874959" cy="457200"/>
          </a:xfrm>
          <a:prstGeom prst="rect">
            <a:avLst/>
          </a:prstGeom>
          <a:solidFill>
            <a:srgbClr val="EDF6FB"/>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58" name="Google Shape;758;p42"/>
          <p:cNvSpPr/>
          <p:nvPr/>
        </p:nvSpPr>
        <p:spPr>
          <a:xfrm>
            <a:off x="658368" y="5760720"/>
            <a:ext cx="50292" cy="457200"/>
          </a:xfrm>
          <a:prstGeom prst="rect">
            <a:avLst/>
          </a:prstGeom>
          <a:solidFill>
            <a:srgbClr val="0A25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59" name="Google Shape;759;p42"/>
          <p:cNvSpPr txBox="1"/>
          <p:nvPr/>
        </p:nvSpPr>
        <p:spPr>
          <a:xfrm>
            <a:off x="864108" y="5875020"/>
            <a:ext cx="10463479" cy="22860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None/>
            </a:pPr>
            <a:r>
              <a:rPr b="0" i="0" lang="en-US" sz="950">
                <a:solidFill>
                  <a:srgbClr val="0A2540"/>
                </a:solidFill>
                <a:latin typeface="Calibri"/>
                <a:ea typeface="Calibri"/>
                <a:cs typeface="Calibri"/>
                <a:sym typeface="Calibri"/>
              </a:rPr>
              <a:t>PT lớn nhất là thực hiện dịch vụ kỹ thuật (16 giờ ≈ 02 ngày) — đây là công việc tạo giá trị. WT lớn nhất nằm ở chờ quyết định báo giá (16 giờ), phối hợp onsite (8 giờ) và xác nhận kết quả (8 giờ).</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3" name="Shape 763"/>
        <p:cNvGrpSpPr/>
        <p:nvPr/>
      </p:nvGrpSpPr>
      <p:grpSpPr>
        <a:xfrm>
          <a:off x="0" y="0"/>
          <a:ext cx="0" cy="0"/>
          <a:chOff x="0" y="0"/>
          <a:chExt cx="0" cy="0"/>
        </a:xfrm>
      </p:grpSpPr>
      <p:sp>
        <p:nvSpPr>
          <p:cNvPr id="764" name="Google Shape;764;p43"/>
          <p:cNvSpPr txBox="1"/>
          <p:nvPr/>
        </p:nvSpPr>
        <p:spPr>
          <a:xfrm>
            <a:off x="658368" y="384048"/>
            <a:ext cx="10874959"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050">
                <a:solidFill>
                  <a:srgbClr val="0096D6"/>
                </a:solidFill>
                <a:latin typeface="Calibri"/>
                <a:ea typeface="Calibri"/>
                <a:cs typeface="Calibri"/>
                <a:sym typeface="Calibri"/>
              </a:rPr>
              <a:t>CHƯƠNG 4 · 4.2.3A PHÂN TÍCH THỜI GIAN (TIME)</a:t>
            </a:r>
            <a:endParaRPr/>
          </a:p>
        </p:txBody>
      </p:sp>
      <p:sp>
        <p:nvSpPr>
          <p:cNvPr id="765" name="Google Shape;765;p43"/>
          <p:cNvSpPr txBox="1"/>
          <p:nvPr/>
        </p:nvSpPr>
        <p:spPr>
          <a:xfrm>
            <a:off x="658368" y="640080"/>
            <a:ext cx="10874959" cy="60350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US" sz="2500">
                <a:solidFill>
                  <a:srgbClr val="0A2540"/>
                </a:solidFill>
                <a:latin typeface="Calibri"/>
                <a:ea typeface="Calibri"/>
                <a:cs typeface="Calibri"/>
                <a:sym typeface="Calibri"/>
              </a:rPr>
              <a:t>CYCLE TIME THEO TỪNG NHÁNH XỬ LÝ</a:t>
            </a:r>
            <a:endParaRPr/>
          </a:p>
        </p:txBody>
      </p:sp>
      <p:sp>
        <p:nvSpPr>
          <p:cNvPr id="766" name="Google Shape;766;p43"/>
          <p:cNvSpPr/>
          <p:nvPr/>
        </p:nvSpPr>
        <p:spPr>
          <a:xfrm>
            <a:off x="658368" y="1280160"/>
            <a:ext cx="566928" cy="41148"/>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67" name="Google Shape;767;p43"/>
          <p:cNvSpPr/>
          <p:nvPr/>
        </p:nvSpPr>
        <p:spPr>
          <a:xfrm>
            <a:off x="1298448" y="1280160"/>
            <a:ext cx="10234879" cy="41148"/>
          </a:xfrm>
          <a:prstGeom prst="rect">
            <a:avLst/>
          </a:prstGeom>
          <a:solidFill>
            <a:srgbClr val="DFE4E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68" name="Google Shape;768;p43"/>
          <p:cNvSpPr txBox="1"/>
          <p:nvPr/>
        </p:nvSpPr>
        <p:spPr>
          <a:xfrm>
            <a:off x="658368" y="1371600"/>
            <a:ext cx="10874959"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1" lang="en-US" sz="1100">
                <a:solidFill>
                  <a:srgbClr val="6B7784"/>
                </a:solidFill>
                <a:latin typeface="Calibri"/>
                <a:ea typeface="Calibri"/>
                <a:cs typeface="Calibri"/>
                <a:sym typeface="Calibri"/>
              </a:rPr>
              <a:t>Bảng 4.5 — Tỷ lệ các nhánh  ·  CT = PT + WT tính theo cấu trúc luồng của mô hình BPMN</a:t>
            </a:r>
            <a:endParaRPr/>
          </a:p>
        </p:txBody>
      </p:sp>
      <p:sp>
        <p:nvSpPr>
          <p:cNvPr id="769" name="Google Shape;769;p43"/>
          <p:cNvSpPr txBox="1"/>
          <p:nvPr/>
        </p:nvSpPr>
        <p:spPr>
          <a:xfrm>
            <a:off x="658368" y="6355080"/>
            <a:ext cx="10326319"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850">
                <a:solidFill>
                  <a:srgbClr val="6B7784"/>
                </a:solidFill>
                <a:latin typeface="Calibri"/>
                <a:ea typeface="Calibri"/>
                <a:cs typeface="Calibri"/>
                <a:sym typeface="Calibri"/>
              </a:rPr>
              <a:t>SOLVENTUM VIỆT NAM  ·  HỆ THỐNG QUẢN TRỊ QUY TRÌNH NGHIỆP VỤ</a:t>
            </a:r>
            <a:endParaRPr/>
          </a:p>
        </p:txBody>
      </p:sp>
      <p:sp>
        <p:nvSpPr>
          <p:cNvPr id="770" name="Google Shape;770;p43"/>
          <p:cNvSpPr txBox="1"/>
          <p:nvPr/>
        </p:nvSpPr>
        <p:spPr>
          <a:xfrm>
            <a:off x="10984687" y="6355080"/>
            <a:ext cx="548640" cy="2286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1" i="0" lang="en-US" sz="950">
                <a:solidFill>
                  <a:srgbClr val="0096D6"/>
                </a:solidFill>
                <a:latin typeface="Calibri"/>
                <a:ea typeface="Calibri"/>
                <a:cs typeface="Calibri"/>
                <a:sym typeface="Calibri"/>
              </a:rPr>
              <a:t>31</a:t>
            </a:r>
            <a:endParaRPr/>
          </a:p>
        </p:txBody>
      </p:sp>
      <p:sp>
        <p:nvSpPr>
          <p:cNvPr id="771" name="Google Shape;771;p43"/>
          <p:cNvSpPr txBox="1"/>
          <p:nvPr/>
        </p:nvSpPr>
        <p:spPr>
          <a:xfrm>
            <a:off x="658368" y="1737360"/>
            <a:ext cx="5323459"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200">
                <a:solidFill>
                  <a:srgbClr val="0096D6"/>
                </a:solidFill>
                <a:latin typeface="Calibri"/>
                <a:ea typeface="Calibri"/>
                <a:cs typeface="Calibri"/>
                <a:sym typeface="Calibri"/>
              </a:rPr>
              <a:t>BẢNG 4.5 — TỶ LỆ CÁC NHÁNH XỬ LÝ</a:t>
            </a:r>
            <a:endParaRPr/>
          </a:p>
        </p:txBody>
      </p:sp>
      <p:graphicFrame>
        <p:nvGraphicFramePr>
          <p:cNvPr id="772" name="Google Shape;772;p43"/>
          <p:cNvGraphicFramePr/>
          <p:nvPr/>
        </p:nvGraphicFramePr>
        <p:xfrm>
          <a:off x="658368" y="2057400"/>
          <a:ext cx="3000000" cy="3000000"/>
        </p:xfrm>
        <a:graphic>
          <a:graphicData uri="http://schemas.openxmlformats.org/drawingml/2006/table">
            <a:tbl>
              <a:tblPr firstRow="1">
                <a:noFill/>
                <a:tableStyleId>{65267F91-CA84-436A-A840-DCCC5366F6D9}</a:tableStyleId>
              </a:tblPr>
              <a:tblGrid>
                <a:gridCol w="548650"/>
                <a:gridCol w="3474725"/>
                <a:gridCol w="1300100"/>
              </a:tblGrid>
              <a:tr h="365750">
                <a:tc>
                  <a:txBody>
                    <a:bodyPr/>
                    <a:lstStyle/>
                    <a:p>
                      <a:pPr indent="0" lvl="0" marL="0" marR="0" rtl="0" algn="ctr">
                        <a:lnSpc>
                          <a:spcPct val="105000"/>
                        </a:lnSpc>
                        <a:spcBef>
                          <a:spcPts val="0"/>
                        </a:spcBef>
                        <a:spcAft>
                          <a:spcPts val="0"/>
                        </a:spcAft>
                        <a:buNone/>
                      </a:pPr>
                      <a:r>
                        <a:rPr b="1" i="0" lang="en-US" sz="1150" u="none" cap="none" strike="noStrike">
                          <a:solidFill>
                            <a:srgbClr val="FFFFFF"/>
                          </a:solidFill>
                          <a:latin typeface="Calibri"/>
                          <a:ea typeface="Calibri"/>
                          <a:cs typeface="Calibri"/>
                          <a:sym typeface="Calibri"/>
                        </a:rPr>
                        <a:t>STT</a:t>
                      </a:r>
                      <a:endParaRPr/>
                    </a:p>
                  </a:txBody>
                  <a:tcPr marT="41150" marB="41150" marR="73150" marL="91450" anchor="ctr">
                    <a:solidFill>
                      <a:srgbClr val="0A2540"/>
                    </a:solidFill>
                  </a:tcPr>
                </a:tc>
                <a:tc>
                  <a:txBody>
                    <a:bodyPr/>
                    <a:lstStyle/>
                    <a:p>
                      <a:pPr indent="0" lvl="0" marL="0" marR="0" rtl="0" algn="ctr">
                        <a:lnSpc>
                          <a:spcPct val="105000"/>
                        </a:lnSpc>
                        <a:spcBef>
                          <a:spcPts val="0"/>
                        </a:spcBef>
                        <a:spcAft>
                          <a:spcPts val="0"/>
                        </a:spcAft>
                        <a:buNone/>
                      </a:pPr>
                      <a:r>
                        <a:rPr b="1" i="0" lang="en-US" sz="1150" u="none" cap="none" strike="noStrike">
                          <a:solidFill>
                            <a:srgbClr val="FFFFFF"/>
                          </a:solidFill>
                          <a:latin typeface="Calibri"/>
                          <a:ea typeface="Calibri"/>
                          <a:cs typeface="Calibri"/>
                          <a:sym typeface="Calibri"/>
                        </a:rPr>
                        <a:t>NHÁNH XỬ LÝ</a:t>
                      </a:r>
                      <a:endParaRPr/>
                    </a:p>
                  </a:txBody>
                  <a:tcPr marT="41150" marB="41150" marR="73150" marL="91450" anchor="ctr">
                    <a:solidFill>
                      <a:srgbClr val="0A2540"/>
                    </a:solidFill>
                  </a:tcPr>
                </a:tc>
                <a:tc>
                  <a:txBody>
                    <a:bodyPr/>
                    <a:lstStyle/>
                    <a:p>
                      <a:pPr indent="0" lvl="0" marL="0" marR="0" rtl="0" algn="ctr">
                        <a:lnSpc>
                          <a:spcPct val="105000"/>
                        </a:lnSpc>
                        <a:spcBef>
                          <a:spcPts val="0"/>
                        </a:spcBef>
                        <a:spcAft>
                          <a:spcPts val="0"/>
                        </a:spcAft>
                        <a:buNone/>
                      </a:pPr>
                      <a:r>
                        <a:rPr b="1" i="0" lang="en-US" sz="1150" u="none" cap="none" strike="noStrike">
                          <a:solidFill>
                            <a:srgbClr val="FFFFFF"/>
                          </a:solidFill>
                          <a:latin typeface="Calibri"/>
                          <a:ea typeface="Calibri"/>
                          <a:cs typeface="Calibri"/>
                          <a:sym typeface="Calibri"/>
                        </a:rPr>
                        <a:t>TỶ LỆ</a:t>
                      </a:r>
                      <a:endParaRPr/>
                    </a:p>
                  </a:txBody>
                  <a:tcPr marT="41150" marB="41150" marR="73150" marL="91450" anchor="ctr">
                    <a:solidFill>
                      <a:srgbClr val="0A2540"/>
                    </a:solidFill>
                  </a:tcPr>
                </a:tc>
              </a:tr>
              <a:tr h="365750">
                <a:tc>
                  <a:txBody>
                    <a:bodyPr/>
                    <a:lstStyle/>
                    <a:p>
                      <a:pPr indent="0" lvl="0" marL="0" marR="0" rtl="0" algn="ctr">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1</a:t>
                      </a:r>
                      <a:endParaRPr/>
                    </a:p>
                  </a:txBody>
                  <a:tcPr marT="41150" marB="41150" marR="73150" marL="91450" anchor="ctr"/>
                </a:tc>
                <a:tc>
                  <a:txBody>
                    <a:bodyPr/>
                    <a:lstStyle/>
                    <a:p>
                      <a:pPr indent="0" lvl="0" marL="0" marR="0" rtl="0" algn="l">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Xử lý thành công qua Remote Support</a:t>
                      </a:r>
                      <a:endParaRPr/>
                    </a:p>
                  </a:txBody>
                  <a:tcPr marT="41150" marB="41150" marR="73150" marL="91450" anchor="ctr"/>
                </a:tc>
                <a:tc>
                  <a:txBody>
                    <a:bodyPr/>
                    <a:lstStyle/>
                    <a:p>
                      <a:pPr indent="0" lvl="0" marL="0" marR="0" rtl="0" algn="ctr">
                        <a:lnSpc>
                          <a:spcPct val="105000"/>
                        </a:lnSpc>
                        <a:spcBef>
                          <a:spcPts val="0"/>
                        </a:spcBef>
                        <a:spcAft>
                          <a:spcPts val="0"/>
                        </a:spcAft>
                        <a:buNone/>
                      </a:pPr>
                      <a:r>
                        <a:rPr b="1" i="0" lang="en-US" sz="1400" u="none" cap="none" strike="noStrike">
                          <a:solidFill>
                            <a:srgbClr val="0A2540"/>
                          </a:solidFill>
                          <a:latin typeface="Calibri"/>
                          <a:ea typeface="Calibri"/>
                          <a:cs typeface="Calibri"/>
                          <a:sym typeface="Calibri"/>
                        </a:rPr>
                        <a:t>20%</a:t>
                      </a:r>
                      <a:endParaRPr/>
                    </a:p>
                  </a:txBody>
                  <a:tcPr marT="41150" marB="41150" marR="73150" marL="91450" anchor="ctr"/>
                </a:tc>
              </a:tr>
              <a:tr h="365750">
                <a:tc>
                  <a:txBody>
                    <a:bodyPr/>
                    <a:lstStyle/>
                    <a:p>
                      <a:pPr indent="0" lvl="0" marL="0" marR="0" rtl="0" algn="ctr">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2</a:t>
                      </a:r>
                      <a:endParaRPr/>
                    </a:p>
                  </a:txBody>
                  <a:tcPr marT="41150" marB="41150" marR="73150" marL="91450" anchor="ctr"/>
                </a:tc>
                <a:tc>
                  <a:txBody>
                    <a:bodyPr/>
                    <a:lstStyle/>
                    <a:p>
                      <a:pPr indent="0" lvl="0" marL="0" marR="0" rtl="0" algn="l">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Cần tiếp tục Onsite / Service</a:t>
                      </a:r>
                      <a:endParaRPr/>
                    </a:p>
                  </a:txBody>
                  <a:tcPr marT="41150" marB="41150" marR="73150" marL="91450" anchor="ctr"/>
                </a:tc>
                <a:tc>
                  <a:txBody>
                    <a:bodyPr/>
                    <a:lstStyle/>
                    <a:p>
                      <a:pPr indent="0" lvl="0" marL="0" marR="0" rtl="0" algn="ctr">
                        <a:lnSpc>
                          <a:spcPct val="105000"/>
                        </a:lnSpc>
                        <a:spcBef>
                          <a:spcPts val="0"/>
                        </a:spcBef>
                        <a:spcAft>
                          <a:spcPts val="0"/>
                        </a:spcAft>
                        <a:buNone/>
                      </a:pPr>
                      <a:r>
                        <a:rPr b="1" i="0" lang="en-US" sz="1400" u="none" cap="none" strike="noStrike">
                          <a:solidFill>
                            <a:srgbClr val="0A2540"/>
                          </a:solidFill>
                          <a:latin typeface="Calibri"/>
                          <a:ea typeface="Calibri"/>
                          <a:cs typeface="Calibri"/>
                          <a:sym typeface="Calibri"/>
                        </a:rPr>
                        <a:t>80%</a:t>
                      </a:r>
                      <a:endParaRPr/>
                    </a:p>
                  </a:txBody>
                  <a:tcPr marT="41150" marB="41150" marR="73150" marL="91450" anchor="ctr"/>
                </a:tc>
              </a:tr>
              <a:tr h="365750">
                <a:tc>
                  <a:txBody>
                    <a:bodyPr/>
                    <a:lstStyle/>
                    <a:p>
                      <a:pPr indent="0" lvl="0" marL="0" marR="0" rtl="0" algn="ctr">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3</a:t>
                      </a:r>
                      <a:endParaRPr/>
                    </a:p>
                  </a:txBody>
                  <a:tcPr marT="41150" marB="41150" marR="73150" marL="91450" anchor="ctr"/>
                </a:tc>
                <a:tc>
                  <a:txBody>
                    <a:bodyPr/>
                    <a:lstStyle/>
                    <a:p>
                      <a:pPr indent="0" lvl="0" marL="0" marR="0" rtl="0" algn="l">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Warranty / No-charge trong nhóm Onsite</a:t>
                      </a:r>
                      <a:endParaRPr/>
                    </a:p>
                  </a:txBody>
                  <a:tcPr marT="41150" marB="41150" marR="73150" marL="91450" anchor="ctr"/>
                </a:tc>
                <a:tc>
                  <a:txBody>
                    <a:bodyPr/>
                    <a:lstStyle/>
                    <a:p>
                      <a:pPr indent="0" lvl="0" marL="0" marR="0" rtl="0" algn="ctr">
                        <a:lnSpc>
                          <a:spcPct val="105000"/>
                        </a:lnSpc>
                        <a:spcBef>
                          <a:spcPts val="0"/>
                        </a:spcBef>
                        <a:spcAft>
                          <a:spcPts val="0"/>
                        </a:spcAft>
                        <a:buNone/>
                      </a:pPr>
                      <a:r>
                        <a:rPr b="1" i="0" lang="en-US" sz="1400" u="none" cap="none" strike="noStrike">
                          <a:solidFill>
                            <a:srgbClr val="0A2540"/>
                          </a:solidFill>
                          <a:latin typeface="Calibri"/>
                          <a:ea typeface="Calibri"/>
                          <a:cs typeface="Calibri"/>
                          <a:sym typeface="Calibri"/>
                        </a:rPr>
                        <a:t>60%</a:t>
                      </a:r>
                      <a:endParaRPr/>
                    </a:p>
                  </a:txBody>
                  <a:tcPr marT="41150" marB="41150" marR="73150" marL="91450" anchor="ctr"/>
                </a:tc>
              </a:tr>
              <a:tr h="365750">
                <a:tc>
                  <a:txBody>
                    <a:bodyPr/>
                    <a:lstStyle/>
                    <a:p>
                      <a:pPr indent="0" lvl="0" marL="0" marR="0" rtl="0" algn="ctr">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4</a:t>
                      </a:r>
                      <a:endParaRPr/>
                    </a:p>
                  </a:txBody>
                  <a:tcPr marT="41150" marB="41150" marR="73150" marL="91450" anchor="ctr"/>
                </a:tc>
                <a:tc>
                  <a:txBody>
                    <a:bodyPr/>
                    <a:lstStyle/>
                    <a:p>
                      <a:pPr indent="0" lvl="0" marL="0" marR="0" rtl="0" algn="l">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Chargeable trong nhóm Onsite</a:t>
                      </a:r>
                      <a:endParaRPr/>
                    </a:p>
                  </a:txBody>
                  <a:tcPr marT="41150" marB="41150" marR="73150" marL="91450" anchor="ctr"/>
                </a:tc>
                <a:tc>
                  <a:txBody>
                    <a:bodyPr/>
                    <a:lstStyle/>
                    <a:p>
                      <a:pPr indent="0" lvl="0" marL="0" marR="0" rtl="0" algn="ctr">
                        <a:lnSpc>
                          <a:spcPct val="105000"/>
                        </a:lnSpc>
                        <a:spcBef>
                          <a:spcPts val="0"/>
                        </a:spcBef>
                        <a:spcAft>
                          <a:spcPts val="0"/>
                        </a:spcAft>
                        <a:buNone/>
                      </a:pPr>
                      <a:r>
                        <a:rPr b="1" i="0" lang="en-US" sz="1400" u="none" cap="none" strike="noStrike">
                          <a:solidFill>
                            <a:srgbClr val="0A2540"/>
                          </a:solidFill>
                          <a:latin typeface="Calibri"/>
                          <a:ea typeface="Calibri"/>
                          <a:cs typeface="Calibri"/>
                          <a:sym typeface="Calibri"/>
                        </a:rPr>
                        <a:t>40%</a:t>
                      </a:r>
                      <a:endParaRPr/>
                    </a:p>
                  </a:txBody>
                  <a:tcPr marT="41150" marB="41150" marR="73150" marL="91450" anchor="ctr"/>
                </a:tc>
              </a:tr>
            </a:tbl>
          </a:graphicData>
        </a:graphic>
      </p:graphicFrame>
      <p:sp>
        <p:nvSpPr>
          <p:cNvPr id="773" name="Google Shape;773;p43"/>
          <p:cNvSpPr/>
          <p:nvPr/>
        </p:nvSpPr>
        <p:spPr>
          <a:xfrm>
            <a:off x="658368" y="3931920"/>
            <a:ext cx="10874959" cy="457200"/>
          </a:xfrm>
          <a:prstGeom prst="rect">
            <a:avLst/>
          </a:prstGeom>
          <a:solidFill>
            <a:srgbClr val="EDF6FB"/>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74" name="Google Shape;774;p43"/>
          <p:cNvSpPr/>
          <p:nvPr/>
        </p:nvSpPr>
        <p:spPr>
          <a:xfrm>
            <a:off x="658368" y="3931920"/>
            <a:ext cx="50292" cy="457200"/>
          </a:xfrm>
          <a:prstGeom prst="rect">
            <a:avLst/>
          </a:prstGeom>
          <a:solidFill>
            <a:srgbClr val="0A25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75" name="Google Shape;775;p43"/>
          <p:cNvSpPr txBox="1"/>
          <p:nvPr/>
        </p:nvSpPr>
        <p:spPr>
          <a:xfrm>
            <a:off x="864108" y="4046220"/>
            <a:ext cx="10463479" cy="22860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None/>
            </a:pPr>
            <a:r>
              <a:rPr b="1" i="0" lang="en-US" sz="1300">
                <a:solidFill>
                  <a:srgbClr val="0A2540"/>
                </a:solidFill>
                <a:latin typeface="Calibri"/>
                <a:ea typeface="Calibri"/>
                <a:cs typeface="Calibri"/>
                <a:sym typeface="Calibri"/>
              </a:rPr>
              <a:t>Tỷ lệ thực tế của ba nhánh:   Remote 20%   ·   No-charge  80% × 60% = 48%   ·   Chargeable  80% × 40% = 32%</a:t>
            </a:r>
            <a:endParaRPr/>
          </a:p>
        </p:txBody>
      </p:sp>
      <p:sp>
        <p:nvSpPr>
          <p:cNvPr id="776" name="Google Shape;776;p43"/>
          <p:cNvSpPr txBox="1"/>
          <p:nvPr/>
        </p:nvSpPr>
        <p:spPr>
          <a:xfrm>
            <a:off x="6209868" y="1737360"/>
            <a:ext cx="5323459"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200">
                <a:solidFill>
                  <a:srgbClr val="00C2A8"/>
                </a:solidFill>
                <a:latin typeface="Calibri"/>
                <a:ea typeface="Calibri"/>
                <a:cs typeface="Calibri"/>
                <a:sym typeface="Calibri"/>
              </a:rPr>
              <a:t>CYCLE TIME CỦA TỪNG NHÁNH</a:t>
            </a:r>
            <a:endParaRPr/>
          </a:p>
        </p:txBody>
      </p:sp>
      <p:graphicFrame>
        <p:nvGraphicFramePr>
          <p:cNvPr id="777" name="Google Shape;777;p43"/>
          <p:cNvGraphicFramePr/>
          <p:nvPr/>
        </p:nvGraphicFramePr>
        <p:xfrm>
          <a:off x="6209868" y="2057400"/>
          <a:ext cx="3000000" cy="3000000"/>
        </p:xfrm>
        <a:graphic>
          <a:graphicData uri="http://schemas.openxmlformats.org/drawingml/2006/table">
            <a:tbl>
              <a:tblPr firstRow="1">
                <a:noFill/>
                <a:tableStyleId>{65267F91-CA84-436A-A840-DCCC5366F6D9}</a:tableStyleId>
              </a:tblPr>
              <a:tblGrid>
                <a:gridCol w="2103125"/>
                <a:gridCol w="1005850"/>
                <a:gridCol w="1005850"/>
                <a:gridCol w="1208700"/>
              </a:tblGrid>
              <a:tr h="365750">
                <a:tc>
                  <a:txBody>
                    <a:bodyPr/>
                    <a:lstStyle/>
                    <a:p>
                      <a:pPr indent="0" lvl="0" marL="0" marR="0" rtl="0" algn="ctr">
                        <a:lnSpc>
                          <a:spcPct val="105000"/>
                        </a:lnSpc>
                        <a:spcBef>
                          <a:spcPts val="0"/>
                        </a:spcBef>
                        <a:spcAft>
                          <a:spcPts val="0"/>
                        </a:spcAft>
                        <a:buNone/>
                      </a:pPr>
                      <a:r>
                        <a:rPr b="1" i="0" lang="en-US" sz="1150" u="none" cap="none" strike="noStrike">
                          <a:solidFill>
                            <a:srgbClr val="FFFFFF"/>
                          </a:solidFill>
                          <a:latin typeface="Calibri"/>
                          <a:ea typeface="Calibri"/>
                          <a:cs typeface="Calibri"/>
                          <a:sym typeface="Calibri"/>
                        </a:rPr>
                        <a:t>NHÁNH</a:t>
                      </a:r>
                      <a:endParaRPr/>
                    </a:p>
                  </a:txBody>
                  <a:tcPr marT="41150" marB="41150" marR="73150" marL="91450" anchor="ctr">
                    <a:solidFill>
                      <a:srgbClr val="0A2540"/>
                    </a:solidFill>
                  </a:tcPr>
                </a:tc>
                <a:tc>
                  <a:txBody>
                    <a:bodyPr/>
                    <a:lstStyle/>
                    <a:p>
                      <a:pPr indent="0" lvl="0" marL="0" marR="0" rtl="0" algn="ctr">
                        <a:lnSpc>
                          <a:spcPct val="105000"/>
                        </a:lnSpc>
                        <a:spcBef>
                          <a:spcPts val="0"/>
                        </a:spcBef>
                        <a:spcAft>
                          <a:spcPts val="0"/>
                        </a:spcAft>
                        <a:buNone/>
                      </a:pPr>
                      <a:r>
                        <a:rPr b="1" i="0" lang="en-US" sz="1150" u="none" cap="none" strike="noStrike">
                          <a:solidFill>
                            <a:srgbClr val="FFFFFF"/>
                          </a:solidFill>
                          <a:latin typeface="Calibri"/>
                          <a:ea typeface="Calibri"/>
                          <a:cs typeface="Calibri"/>
                          <a:sym typeface="Calibri"/>
                        </a:rPr>
                        <a:t>PT (giờ)</a:t>
                      </a:r>
                      <a:endParaRPr/>
                    </a:p>
                  </a:txBody>
                  <a:tcPr marT="41150" marB="41150" marR="73150" marL="91450" anchor="ctr">
                    <a:solidFill>
                      <a:srgbClr val="0A2540"/>
                    </a:solidFill>
                  </a:tcPr>
                </a:tc>
                <a:tc>
                  <a:txBody>
                    <a:bodyPr/>
                    <a:lstStyle/>
                    <a:p>
                      <a:pPr indent="0" lvl="0" marL="0" marR="0" rtl="0" algn="ctr">
                        <a:lnSpc>
                          <a:spcPct val="105000"/>
                        </a:lnSpc>
                        <a:spcBef>
                          <a:spcPts val="0"/>
                        </a:spcBef>
                        <a:spcAft>
                          <a:spcPts val="0"/>
                        </a:spcAft>
                        <a:buNone/>
                      </a:pPr>
                      <a:r>
                        <a:rPr b="1" i="0" lang="en-US" sz="1150" u="none" cap="none" strike="noStrike">
                          <a:solidFill>
                            <a:srgbClr val="FFFFFF"/>
                          </a:solidFill>
                          <a:latin typeface="Calibri"/>
                          <a:ea typeface="Calibri"/>
                          <a:cs typeface="Calibri"/>
                          <a:sym typeface="Calibri"/>
                        </a:rPr>
                        <a:t>WT (giờ)</a:t>
                      </a:r>
                      <a:endParaRPr/>
                    </a:p>
                  </a:txBody>
                  <a:tcPr marT="41150" marB="41150" marR="73150" marL="91450" anchor="ctr">
                    <a:solidFill>
                      <a:srgbClr val="0A2540"/>
                    </a:solidFill>
                  </a:tcPr>
                </a:tc>
                <a:tc>
                  <a:txBody>
                    <a:bodyPr/>
                    <a:lstStyle/>
                    <a:p>
                      <a:pPr indent="0" lvl="0" marL="0" marR="0" rtl="0" algn="ctr">
                        <a:lnSpc>
                          <a:spcPct val="105000"/>
                        </a:lnSpc>
                        <a:spcBef>
                          <a:spcPts val="0"/>
                        </a:spcBef>
                        <a:spcAft>
                          <a:spcPts val="0"/>
                        </a:spcAft>
                        <a:buNone/>
                      </a:pPr>
                      <a:r>
                        <a:rPr b="1" i="0" lang="en-US" sz="1150" u="none" cap="none" strike="noStrike">
                          <a:solidFill>
                            <a:srgbClr val="FFFFFF"/>
                          </a:solidFill>
                          <a:latin typeface="Calibri"/>
                          <a:ea typeface="Calibri"/>
                          <a:cs typeface="Calibri"/>
                          <a:sym typeface="Calibri"/>
                        </a:rPr>
                        <a:t>CT (giờ)</a:t>
                      </a:r>
                      <a:endParaRPr/>
                    </a:p>
                  </a:txBody>
                  <a:tcPr marT="41150" marB="41150" marR="73150" marL="91450" anchor="ctr">
                    <a:solidFill>
                      <a:srgbClr val="0A2540"/>
                    </a:solidFill>
                  </a:tcPr>
                </a:tc>
              </a:tr>
              <a:tr h="365750">
                <a:tc>
                  <a:txBody>
                    <a:bodyPr/>
                    <a:lstStyle/>
                    <a:p>
                      <a:pPr indent="0" lvl="0" marL="0" marR="0" rtl="0" algn="l">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Remote Support</a:t>
                      </a:r>
                      <a:endParaRPr/>
                    </a:p>
                  </a:txBody>
                  <a:tcPr marT="41150" marB="41150" marR="73150" marL="91450" anchor="ctr"/>
                </a:tc>
                <a:tc>
                  <a:txBody>
                    <a:bodyPr/>
                    <a:lstStyle/>
                    <a:p>
                      <a:pPr indent="0" lvl="0" marL="0" marR="0" rtl="0" algn="ctr">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5,5</a:t>
                      </a:r>
                      <a:endParaRPr/>
                    </a:p>
                  </a:txBody>
                  <a:tcPr marT="41150" marB="41150" marR="73150" marL="91450" anchor="ctr"/>
                </a:tc>
                <a:tc>
                  <a:txBody>
                    <a:bodyPr/>
                    <a:lstStyle/>
                    <a:p>
                      <a:pPr indent="0" lvl="0" marL="0" marR="0" rtl="0" algn="ctr">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12</a:t>
                      </a:r>
                      <a:endParaRPr/>
                    </a:p>
                  </a:txBody>
                  <a:tcPr marT="41150" marB="41150" marR="73150" marL="91450" anchor="ctr"/>
                </a:tc>
                <a:tc>
                  <a:txBody>
                    <a:bodyPr/>
                    <a:lstStyle/>
                    <a:p>
                      <a:pPr indent="0" lvl="0" marL="0" marR="0" rtl="0" algn="ctr">
                        <a:lnSpc>
                          <a:spcPct val="105000"/>
                        </a:lnSpc>
                        <a:spcBef>
                          <a:spcPts val="0"/>
                        </a:spcBef>
                        <a:spcAft>
                          <a:spcPts val="0"/>
                        </a:spcAft>
                        <a:buNone/>
                      </a:pPr>
                      <a:r>
                        <a:rPr b="1" i="0" lang="en-US" sz="1400" u="none" cap="none" strike="noStrike">
                          <a:solidFill>
                            <a:srgbClr val="00C2A8"/>
                          </a:solidFill>
                          <a:latin typeface="Calibri"/>
                          <a:ea typeface="Calibri"/>
                          <a:cs typeface="Calibri"/>
                          <a:sym typeface="Calibri"/>
                        </a:rPr>
                        <a:t>17,5</a:t>
                      </a:r>
                      <a:endParaRPr/>
                    </a:p>
                  </a:txBody>
                  <a:tcPr marT="41150" marB="41150" marR="73150" marL="91450" anchor="ctr"/>
                </a:tc>
              </a:tr>
              <a:tr h="365750">
                <a:tc>
                  <a:txBody>
                    <a:bodyPr/>
                    <a:lstStyle/>
                    <a:p>
                      <a:pPr indent="0" lvl="0" marL="0" marR="0" rtl="0" algn="l">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Onsite – No-charge</a:t>
                      </a:r>
                      <a:endParaRPr/>
                    </a:p>
                  </a:txBody>
                  <a:tcPr marT="41150" marB="41150" marR="73150" marL="91450" anchor="ctr"/>
                </a:tc>
                <a:tc>
                  <a:txBody>
                    <a:bodyPr/>
                    <a:lstStyle/>
                    <a:p>
                      <a:pPr indent="0" lvl="0" marL="0" marR="0" rtl="0" algn="ctr">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27,5</a:t>
                      </a:r>
                      <a:endParaRPr/>
                    </a:p>
                  </a:txBody>
                  <a:tcPr marT="41150" marB="41150" marR="73150" marL="91450" anchor="ctr"/>
                </a:tc>
                <a:tc>
                  <a:txBody>
                    <a:bodyPr/>
                    <a:lstStyle/>
                    <a:p>
                      <a:pPr indent="0" lvl="0" marL="0" marR="0" rtl="0" algn="ctr">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25</a:t>
                      </a:r>
                      <a:endParaRPr/>
                    </a:p>
                  </a:txBody>
                  <a:tcPr marT="41150" marB="41150" marR="73150" marL="91450" anchor="ctr"/>
                </a:tc>
                <a:tc>
                  <a:txBody>
                    <a:bodyPr/>
                    <a:lstStyle/>
                    <a:p>
                      <a:pPr indent="0" lvl="0" marL="0" marR="0" rtl="0" algn="ctr">
                        <a:lnSpc>
                          <a:spcPct val="105000"/>
                        </a:lnSpc>
                        <a:spcBef>
                          <a:spcPts val="0"/>
                        </a:spcBef>
                        <a:spcAft>
                          <a:spcPts val="0"/>
                        </a:spcAft>
                        <a:buNone/>
                      </a:pPr>
                      <a:r>
                        <a:rPr b="1" i="0" lang="en-US" sz="1400" u="none" cap="none" strike="noStrike">
                          <a:solidFill>
                            <a:srgbClr val="C87F0A"/>
                          </a:solidFill>
                          <a:latin typeface="Calibri"/>
                          <a:ea typeface="Calibri"/>
                          <a:cs typeface="Calibri"/>
                          <a:sym typeface="Calibri"/>
                        </a:rPr>
                        <a:t>52,5</a:t>
                      </a:r>
                      <a:endParaRPr/>
                    </a:p>
                  </a:txBody>
                  <a:tcPr marT="41150" marB="41150" marR="73150" marL="91450" anchor="ctr"/>
                </a:tc>
              </a:tr>
              <a:tr h="365750">
                <a:tc>
                  <a:txBody>
                    <a:bodyPr/>
                    <a:lstStyle/>
                    <a:p>
                      <a:pPr indent="0" lvl="0" marL="0" marR="0" rtl="0" algn="l">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Onsite – Chargeable</a:t>
                      </a:r>
                      <a:endParaRPr/>
                    </a:p>
                  </a:txBody>
                  <a:tcPr marT="41150" marB="41150" marR="73150" marL="91450" anchor="ctr"/>
                </a:tc>
                <a:tc>
                  <a:txBody>
                    <a:bodyPr/>
                    <a:lstStyle/>
                    <a:p>
                      <a:pPr indent="0" lvl="0" marL="0" marR="0" rtl="0" algn="ctr">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29</a:t>
                      </a:r>
                      <a:endParaRPr/>
                    </a:p>
                  </a:txBody>
                  <a:tcPr marT="41150" marB="41150" marR="73150" marL="91450" anchor="ctr"/>
                </a:tc>
                <a:tc>
                  <a:txBody>
                    <a:bodyPr/>
                    <a:lstStyle/>
                    <a:p>
                      <a:pPr indent="0" lvl="0" marL="0" marR="0" rtl="0" algn="ctr">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41</a:t>
                      </a:r>
                      <a:endParaRPr/>
                    </a:p>
                  </a:txBody>
                  <a:tcPr marT="41150" marB="41150" marR="73150" marL="91450" anchor="ctr"/>
                </a:tc>
                <a:tc>
                  <a:txBody>
                    <a:bodyPr/>
                    <a:lstStyle/>
                    <a:p>
                      <a:pPr indent="0" lvl="0" marL="0" marR="0" rtl="0" algn="ctr">
                        <a:lnSpc>
                          <a:spcPct val="105000"/>
                        </a:lnSpc>
                        <a:spcBef>
                          <a:spcPts val="0"/>
                        </a:spcBef>
                        <a:spcAft>
                          <a:spcPts val="0"/>
                        </a:spcAft>
                        <a:buNone/>
                      </a:pPr>
                      <a:r>
                        <a:rPr b="1" i="0" lang="en-US" sz="1400" u="none" cap="none" strike="noStrike">
                          <a:solidFill>
                            <a:srgbClr val="C0392B"/>
                          </a:solidFill>
                          <a:latin typeface="Calibri"/>
                          <a:ea typeface="Calibri"/>
                          <a:cs typeface="Calibri"/>
                          <a:sym typeface="Calibri"/>
                        </a:rPr>
                        <a:t>70,0</a:t>
                      </a:r>
                      <a:endParaRPr/>
                    </a:p>
                  </a:txBody>
                  <a:tcPr marT="41150" marB="41150" marR="73150" marL="91450" anchor="ctr"/>
                </a:tc>
              </a:tr>
            </a:tbl>
          </a:graphicData>
        </a:graphic>
      </p:graphicFrame>
      <p:sp>
        <p:nvSpPr>
          <p:cNvPr id="778" name="Google Shape;778;p43"/>
          <p:cNvSpPr txBox="1"/>
          <p:nvPr/>
        </p:nvSpPr>
        <p:spPr>
          <a:xfrm>
            <a:off x="6209868" y="3611880"/>
            <a:ext cx="5323459" cy="54864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0" i="1" lang="en-US" sz="1300">
                <a:solidFill>
                  <a:srgbClr val="6B7784"/>
                </a:solidFill>
                <a:latin typeface="Calibri"/>
                <a:ea typeface="Calibri"/>
                <a:cs typeface="Calibri"/>
                <a:sym typeface="Calibri"/>
              </a:rPr>
              <a:t>Chênh lệch 17,5 giờ giữa hai nhánh Onsite gần như hoàn toàn do thời gian chờ phản hồi báo giá.</a:t>
            </a:r>
            <a:endParaRPr/>
          </a:p>
        </p:txBody>
      </p:sp>
      <p:sp>
        <p:nvSpPr>
          <p:cNvPr id="779" name="Google Shape;779;p43"/>
          <p:cNvSpPr txBox="1"/>
          <p:nvPr/>
        </p:nvSpPr>
        <p:spPr>
          <a:xfrm>
            <a:off x="658368" y="4526280"/>
            <a:ext cx="10874959"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200">
                <a:solidFill>
                  <a:srgbClr val="0096D6"/>
                </a:solidFill>
                <a:latin typeface="Calibri"/>
                <a:ea typeface="Calibri"/>
                <a:cs typeface="Calibri"/>
                <a:sym typeface="Calibri"/>
              </a:rPr>
              <a:t>CYCLE TIME TRUNG BÌNH CÓ TRỌNG SỐ</a:t>
            </a:r>
            <a:endParaRPr/>
          </a:p>
        </p:txBody>
      </p:sp>
      <p:sp>
        <p:nvSpPr>
          <p:cNvPr id="780" name="Google Shape;780;p43"/>
          <p:cNvSpPr/>
          <p:nvPr/>
        </p:nvSpPr>
        <p:spPr>
          <a:xfrm>
            <a:off x="658368" y="4846320"/>
            <a:ext cx="3472586" cy="1188720"/>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81" name="Google Shape;781;p43"/>
          <p:cNvSpPr/>
          <p:nvPr/>
        </p:nvSpPr>
        <p:spPr>
          <a:xfrm>
            <a:off x="658368" y="4846320"/>
            <a:ext cx="3472586" cy="50292"/>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82" name="Google Shape;782;p43"/>
          <p:cNvSpPr txBox="1"/>
          <p:nvPr/>
        </p:nvSpPr>
        <p:spPr>
          <a:xfrm>
            <a:off x="886968" y="4983480"/>
            <a:ext cx="3015386" cy="3886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300">
                <a:solidFill>
                  <a:srgbClr val="0096D6"/>
                </a:solidFill>
                <a:latin typeface="Calibri"/>
                <a:ea typeface="Calibri"/>
                <a:cs typeface="Calibri"/>
                <a:sym typeface="Calibri"/>
              </a:rPr>
              <a:t>51,1 giờ</a:t>
            </a:r>
            <a:endParaRPr/>
          </a:p>
        </p:txBody>
      </p:sp>
      <p:sp>
        <p:nvSpPr>
          <p:cNvPr id="783" name="Google Shape;783;p43"/>
          <p:cNvSpPr txBox="1"/>
          <p:nvPr/>
        </p:nvSpPr>
        <p:spPr>
          <a:xfrm>
            <a:off x="886968" y="5372100"/>
            <a:ext cx="3015386" cy="2057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200">
                <a:solidFill>
                  <a:srgbClr val="0A2540"/>
                </a:solidFill>
                <a:latin typeface="Calibri"/>
                <a:ea typeface="Calibri"/>
                <a:cs typeface="Calibri"/>
                <a:sym typeface="Calibri"/>
              </a:rPr>
              <a:t>CYCLE TIME TRUNG BÌNH</a:t>
            </a:r>
            <a:endParaRPr/>
          </a:p>
        </p:txBody>
      </p:sp>
      <p:sp>
        <p:nvSpPr>
          <p:cNvPr id="784" name="Google Shape;784;p43"/>
          <p:cNvSpPr txBox="1"/>
          <p:nvPr/>
        </p:nvSpPr>
        <p:spPr>
          <a:xfrm>
            <a:off x="886968" y="5600700"/>
            <a:ext cx="3015386" cy="3429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0" i="0" lang="en-US" sz="1050">
                <a:solidFill>
                  <a:srgbClr val="6B7784"/>
                </a:solidFill>
                <a:latin typeface="Calibri"/>
                <a:ea typeface="Calibri"/>
                <a:cs typeface="Calibri"/>
                <a:sym typeface="Calibri"/>
              </a:rPr>
              <a:t>(0,20×17,5) + (0,48×52,5) + (0,32×70) = 3,5 + 25,2 + 22,4</a:t>
            </a:r>
            <a:endParaRPr/>
          </a:p>
        </p:txBody>
      </p:sp>
      <p:sp>
        <p:nvSpPr>
          <p:cNvPr id="785" name="Google Shape;785;p43"/>
          <p:cNvSpPr/>
          <p:nvPr/>
        </p:nvSpPr>
        <p:spPr>
          <a:xfrm>
            <a:off x="4359554" y="4846320"/>
            <a:ext cx="3472586" cy="1188720"/>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86" name="Google Shape;786;p43"/>
          <p:cNvSpPr/>
          <p:nvPr/>
        </p:nvSpPr>
        <p:spPr>
          <a:xfrm>
            <a:off x="4359554" y="4846320"/>
            <a:ext cx="3472586" cy="50292"/>
          </a:xfrm>
          <a:prstGeom prst="rect">
            <a:avLst/>
          </a:prstGeom>
          <a:solidFill>
            <a:srgbClr val="0A25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87" name="Google Shape;787;p43"/>
          <p:cNvSpPr txBox="1"/>
          <p:nvPr/>
        </p:nvSpPr>
        <p:spPr>
          <a:xfrm>
            <a:off x="4588154" y="4983480"/>
            <a:ext cx="3015386" cy="3886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300">
                <a:solidFill>
                  <a:srgbClr val="0A2540"/>
                </a:solidFill>
                <a:latin typeface="Calibri"/>
                <a:ea typeface="Calibri"/>
                <a:cs typeface="Calibri"/>
                <a:sym typeface="Calibri"/>
              </a:rPr>
              <a:t>6,39 ngày</a:t>
            </a:r>
            <a:endParaRPr/>
          </a:p>
        </p:txBody>
      </p:sp>
      <p:sp>
        <p:nvSpPr>
          <p:cNvPr id="788" name="Google Shape;788;p43"/>
          <p:cNvSpPr txBox="1"/>
          <p:nvPr/>
        </p:nvSpPr>
        <p:spPr>
          <a:xfrm>
            <a:off x="4588154" y="5372100"/>
            <a:ext cx="3015386" cy="2057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200">
                <a:solidFill>
                  <a:srgbClr val="0A2540"/>
                </a:solidFill>
                <a:latin typeface="Calibri"/>
                <a:ea typeface="Calibri"/>
                <a:cs typeface="Calibri"/>
                <a:sym typeface="Calibri"/>
              </a:rPr>
              <a:t>QUY ĐỔI NGÀY LÀM VIỆC</a:t>
            </a:r>
            <a:endParaRPr/>
          </a:p>
        </p:txBody>
      </p:sp>
      <p:sp>
        <p:nvSpPr>
          <p:cNvPr id="789" name="Google Shape;789;p43"/>
          <p:cNvSpPr txBox="1"/>
          <p:nvPr/>
        </p:nvSpPr>
        <p:spPr>
          <a:xfrm>
            <a:off x="4588154" y="5600700"/>
            <a:ext cx="3015386" cy="3429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0" i="0" lang="en-US" sz="1050">
                <a:solidFill>
                  <a:srgbClr val="6B7784"/>
                </a:solidFill>
                <a:latin typeface="Calibri"/>
                <a:ea typeface="Calibri"/>
                <a:cs typeface="Calibri"/>
                <a:sym typeface="Calibri"/>
              </a:rPr>
              <a:t>51,1 ÷ 8 giờ — thời gian trung bình hoàn tất một Service Order</a:t>
            </a:r>
            <a:endParaRPr/>
          </a:p>
        </p:txBody>
      </p:sp>
      <p:sp>
        <p:nvSpPr>
          <p:cNvPr id="790" name="Google Shape;790;p43"/>
          <p:cNvSpPr/>
          <p:nvPr/>
        </p:nvSpPr>
        <p:spPr>
          <a:xfrm>
            <a:off x="8060740" y="4846320"/>
            <a:ext cx="3472586" cy="1188720"/>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91" name="Google Shape;791;p43"/>
          <p:cNvSpPr/>
          <p:nvPr/>
        </p:nvSpPr>
        <p:spPr>
          <a:xfrm>
            <a:off x="8060740" y="4846320"/>
            <a:ext cx="3472586" cy="50292"/>
          </a:xfrm>
          <a:prstGeom prst="rect">
            <a:avLst/>
          </a:prstGeom>
          <a:solidFill>
            <a:srgbClr val="C0392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92" name="Google Shape;792;p43"/>
          <p:cNvSpPr txBox="1"/>
          <p:nvPr/>
        </p:nvSpPr>
        <p:spPr>
          <a:xfrm>
            <a:off x="8289340" y="4983480"/>
            <a:ext cx="3015386" cy="3886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300">
                <a:solidFill>
                  <a:srgbClr val="C0392B"/>
                </a:solidFill>
                <a:latin typeface="Calibri"/>
                <a:ea typeface="Calibri"/>
                <a:cs typeface="Calibri"/>
                <a:sym typeface="Calibri"/>
              </a:rPr>
              <a:t>+4,5 giờ</a:t>
            </a:r>
            <a:endParaRPr/>
          </a:p>
        </p:txBody>
      </p:sp>
      <p:sp>
        <p:nvSpPr>
          <p:cNvPr id="793" name="Google Shape;793;p43"/>
          <p:cNvSpPr txBox="1"/>
          <p:nvPr/>
        </p:nvSpPr>
        <p:spPr>
          <a:xfrm>
            <a:off x="8289340" y="5372100"/>
            <a:ext cx="3015386" cy="2057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200">
                <a:solidFill>
                  <a:srgbClr val="0A2540"/>
                </a:solidFill>
                <a:latin typeface="Calibri"/>
                <a:ea typeface="Calibri"/>
                <a:cs typeface="Calibri"/>
                <a:sym typeface="Calibri"/>
              </a:rPr>
              <a:t>MỖI VÒNG BỔ SUNG</a:t>
            </a:r>
            <a:endParaRPr/>
          </a:p>
        </p:txBody>
      </p:sp>
      <p:sp>
        <p:nvSpPr>
          <p:cNvPr id="794" name="Google Shape;794;p43"/>
          <p:cNvSpPr txBox="1"/>
          <p:nvPr/>
        </p:nvSpPr>
        <p:spPr>
          <a:xfrm>
            <a:off x="8289340" y="5600700"/>
            <a:ext cx="3015386" cy="3429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0" i="0" lang="en-US" sz="1050">
                <a:solidFill>
                  <a:srgbClr val="6B7784"/>
                </a:solidFill>
                <a:latin typeface="Calibri"/>
                <a:ea typeface="Calibri"/>
                <a:cs typeface="Calibri"/>
                <a:sym typeface="Calibri"/>
              </a:rPr>
              <a:t>0,5 giờ PT + 4,0 giờ WT — chưa tính vào CT trung bình do thiếu dữ liệu tỷ lệ</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8" name="Shape 798"/>
        <p:cNvGrpSpPr/>
        <p:nvPr/>
      </p:nvGrpSpPr>
      <p:grpSpPr>
        <a:xfrm>
          <a:off x="0" y="0"/>
          <a:ext cx="0" cy="0"/>
          <a:chOff x="0" y="0"/>
          <a:chExt cx="0" cy="0"/>
        </a:xfrm>
      </p:grpSpPr>
      <p:sp>
        <p:nvSpPr>
          <p:cNvPr id="799" name="Google Shape;799;p44"/>
          <p:cNvSpPr txBox="1"/>
          <p:nvPr/>
        </p:nvSpPr>
        <p:spPr>
          <a:xfrm>
            <a:off x="658368" y="384048"/>
            <a:ext cx="10874959"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050">
                <a:solidFill>
                  <a:srgbClr val="0096D6"/>
                </a:solidFill>
                <a:latin typeface="Calibri"/>
                <a:ea typeface="Calibri"/>
                <a:cs typeface="Calibri"/>
                <a:sym typeface="Calibri"/>
              </a:rPr>
              <a:t>CHƯƠNG 4 · 4.2.3A PHÂN TÍCH THỜI GIAN (TIME)</a:t>
            </a:r>
            <a:endParaRPr/>
          </a:p>
        </p:txBody>
      </p:sp>
      <p:sp>
        <p:nvSpPr>
          <p:cNvPr id="800" name="Google Shape;800;p44"/>
          <p:cNvSpPr txBox="1"/>
          <p:nvPr/>
        </p:nvSpPr>
        <p:spPr>
          <a:xfrm>
            <a:off x="658368" y="640080"/>
            <a:ext cx="10874959" cy="60350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US" sz="2500">
                <a:solidFill>
                  <a:srgbClr val="0A2540"/>
                </a:solidFill>
                <a:latin typeface="Calibri"/>
                <a:ea typeface="Calibri"/>
                <a:cs typeface="Calibri"/>
                <a:sym typeface="Calibri"/>
              </a:rPr>
              <a:t>HIỆU SUẤT THỜI GIAN — CYCLE TIME EFFICIENCY</a:t>
            </a:r>
            <a:endParaRPr/>
          </a:p>
        </p:txBody>
      </p:sp>
      <p:sp>
        <p:nvSpPr>
          <p:cNvPr id="801" name="Google Shape;801;p44"/>
          <p:cNvSpPr/>
          <p:nvPr/>
        </p:nvSpPr>
        <p:spPr>
          <a:xfrm>
            <a:off x="658368" y="1280160"/>
            <a:ext cx="566928" cy="41148"/>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02" name="Google Shape;802;p44"/>
          <p:cNvSpPr/>
          <p:nvPr/>
        </p:nvSpPr>
        <p:spPr>
          <a:xfrm>
            <a:off x="1298448" y="1280160"/>
            <a:ext cx="10234879" cy="41148"/>
          </a:xfrm>
          <a:prstGeom prst="rect">
            <a:avLst/>
          </a:prstGeom>
          <a:solidFill>
            <a:srgbClr val="DFE4E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03" name="Google Shape;803;p44"/>
          <p:cNvSpPr txBox="1"/>
          <p:nvPr/>
        </p:nvSpPr>
        <p:spPr>
          <a:xfrm>
            <a:off x="658368" y="1371600"/>
            <a:ext cx="10874959"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1" lang="en-US" sz="1100">
                <a:solidFill>
                  <a:srgbClr val="6B7784"/>
                </a:solidFill>
                <a:latin typeface="Calibri"/>
                <a:ea typeface="Calibri"/>
                <a:cs typeface="Calibri"/>
                <a:sym typeface="Calibri"/>
              </a:rPr>
              <a:t>CTE = PT trung bình ÷ CT trung bình × 100%</a:t>
            </a:r>
            <a:endParaRPr/>
          </a:p>
        </p:txBody>
      </p:sp>
      <p:sp>
        <p:nvSpPr>
          <p:cNvPr id="804" name="Google Shape;804;p44"/>
          <p:cNvSpPr txBox="1"/>
          <p:nvPr/>
        </p:nvSpPr>
        <p:spPr>
          <a:xfrm>
            <a:off x="658368" y="6355080"/>
            <a:ext cx="10326319"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850">
                <a:solidFill>
                  <a:srgbClr val="6B7784"/>
                </a:solidFill>
                <a:latin typeface="Calibri"/>
                <a:ea typeface="Calibri"/>
                <a:cs typeface="Calibri"/>
                <a:sym typeface="Calibri"/>
              </a:rPr>
              <a:t>SOLVENTUM VIỆT NAM  ·  HỆ THỐNG QUẢN TRỊ QUY TRÌNH NGHIỆP VỤ</a:t>
            </a:r>
            <a:endParaRPr/>
          </a:p>
        </p:txBody>
      </p:sp>
      <p:sp>
        <p:nvSpPr>
          <p:cNvPr id="805" name="Google Shape;805;p44"/>
          <p:cNvSpPr txBox="1"/>
          <p:nvPr/>
        </p:nvSpPr>
        <p:spPr>
          <a:xfrm>
            <a:off x="10984687" y="6355080"/>
            <a:ext cx="548640" cy="2286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1" i="0" lang="en-US" sz="950">
                <a:solidFill>
                  <a:srgbClr val="0096D6"/>
                </a:solidFill>
                <a:latin typeface="Calibri"/>
                <a:ea typeface="Calibri"/>
                <a:cs typeface="Calibri"/>
                <a:sym typeface="Calibri"/>
              </a:rPr>
              <a:t>32</a:t>
            </a:r>
            <a:endParaRPr/>
          </a:p>
        </p:txBody>
      </p:sp>
      <p:sp>
        <p:nvSpPr>
          <p:cNvPr id="806" name="Google Shape;806;p44"/>
          <p:cNvSpPr/>
          <p:nvPr/>
        </p:nvSpPr>
        <p:spPr>
          <a:xfrm>
            <a:off x="658368" y="1737360"/>
            <a:ext cx="3472586" cy="1554480"/>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07" name="Google Shape;807;p44"/>
          <p:cNvSpPr/>
          <p:nvPr/>
        </p:nvSpPr>
        <p:spPr>
          <a:xfrm>
            <a:off x="658368" y="1737360"/>
            <a:ext cx="3472586" cy="50292"/>
          </a:xfrm>
          <a:prstGeom prst="rect">
            <a:avLst/>
          </a:prstGeom>
          <a:solidFill>
            <a:srgbClr val="00C2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08" name="Google Shape;808;p44"/>
          <p:cNvSpPr txBox="1"/>
          <p:nvPr/>
        </p:nvSpPr>
        <p:spPr>
          <a:xfrm>
            <a:off x="886968" y="1874520"/>
            <a:ext cx="3015386" cy="3886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300">
                <a:solidFill>
                  <a:srgbClr val="00C2A8"/>
                </a:solidFill>
                <a:latin typeface="Calibri"/>
                <a:ea typeface="Calibri"/>
                <a:cs typeface="Calibri"/>
                <a:sym typeface="Calibri"/>
              </a:rPr>
              <a:t>23,58 giờ</a:t>
            </a:r>
            <a:endParaRPr/>
          </a:p>
        </p:txBody>
      </p:sp>
      <p:sp>
        <p:nvSpPr>
          <p:cNvPr id="809" name="Google Shape;809;p44"/>
          <p:cNvSpPr txBox="1"/>
          <p:nvPr/>
        </p:nvSpPr>
        <p:spPr>
          <a:xfrm>
            <a:off x="886968" y="2263140"/>
            <a:ext cx="3015386" cy="2057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200">
                <a:solidFill>
                  <a:srgbClr val="0A2540"/>
                </a:solidFill>
                <a:latin typeface="Calibri"/>
                <a:ea typeface="Calibri"/>
                <a:cs typeface="Calibri"/>
                <a:sym typeface="Calibri"/>
              </a:rPr>
              <a:t>PT TRUNG BÌNH</a:t>
            </a:r>
            <a:endParaRPr/>
          </a:p>
        </p:txBody>
      </p:sp>
      <p:sp>
        <p:nvSpPr>
          <p:cNvPr id="810" name="Google Shape;810;p44"/>
          <p:cNvSpPr txBox="1"/>
          <p:nvPr/>
        </p:nvSpPr>
        <p:spPr>
          <a:xfrm>
            <a:off x="886968" y="2491740"/>
            <a:ext cx="3015386" cy="70866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0" i="0" lang="en-US" sz="1200">
                <a:solidFill>
                  <a:srgbClr val="6B7784"/>
                </a:solidFill>
                <a:latin typeface="Calibri"/>
                <a:ea typeface="Calibri"/>
                <a:cs typeface="Calibri"/>
                <a:sym typeface="Calibri"/>
              </a:rPr>
              <a:t>(0,20×5,5) + (0,48×27,5) + (0,32×29) = 1,10 + 13,20 + 9,28</a:t>
            </a:r>
            <a:endParaRPr/>
          </a:p>
        </p:txBody>
      </p:sp>
      <p:sp>
        <p:nvSpPr>
          <p:cNvPr id="811" name="Google Shape;811;p44"/>
          <p:cNvSpPr/>
          <p:nvPr/>
        </p:nvSpPr>
        <p:spPr>
          <a:xfrm>
            <a:off x="4359554" y="1737360"/>
            <a:ext cx="3472586" cy="1554480"/>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12" name="Google Shape;812;p44"/>
          <p:cNvSpPr/>
          <p:nvPr/>
        </p:nvSpPr>
        <p:spPr>
          <a:xfrm>
            <a:off x="4359554" y="1737360"/>
            <a:ext cx="3472586" cy="50292"/>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13" name="Google Shape;813;p44"/>
          <p:cNvSpPr txBox="1"/>
          <p:nvPr/>
        </p:nvSpPr>
        <p:spPr>
          <a:xfrm>
            <a:off x="4588154" y="1874520"/>
            <a:ext cx="3015386" cy="3886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300">
                <a:solidFill>
                  <a:srgbClr val="0096D6"/>
                </a:solidFill>
                <a:latin typeface="Calibri"/>
                <a:ea typeface="Calibri"/>
                <a:cs typeface="Calibri"/>
                <a:sym typeface="Calibri"/>
              </a:rPr>
              <a:t>51,10 giờ</a:t>
            </a:r>
            <a:endParaRPr/>
          </a:p>
        </p:txBody>
      </p:sp>
      <p:sp>
        <p:nvSpPr>
          <p:cNvPr id="814" name="Google Shape;814;p44"/>
          <p:cNvSpPr txBox="1"/>
          <p:nvPr/>
        </p:nvSpPr>
        <p:spPr>
          <a:xfrm>
            <a:off x="4588154" y="2263140"/>
            <a:ext cx="3015386" cy="2057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200">
                <a:solidFill>
                  <a:srgbClr val="0A2540"/>
                </a:solidFill>
                <a:latin typeface="Calibri"/>
                <a:ea typeface="Calibri"/>
                <a:cs typeface="Calibri"/>
                <a:sym typeface="Calibri"/>
              </a:rPr>
              <a:t>CT TRUNG BÌNH</a:t>
            </a:r>
            <a:endParaRPr/>
          </a:p>
        </p:txBody>
      </p:sp>
      <p:sp>
        <p:nvSpPr>
          <p:cNvPr id="815" name="Google Shape;815;p44"/>
          <p:cNvSpPr txBox="1"/>
          <p:nvPr/>
        </p:nvSpPr>
        <p:spPr>
          <a:xfrm>
            <a:off x="4588154" y="2491740"/>
            <a:ext cx="3015386" cy="70866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0" i="0" lang="en-US" sz="1200">
                <a:solidFill>
                  <a:srgbClr val="6B7784"/>
                </a:solidFill>
                <a:latin typeface="Calibri"/>
                <a:ea typeface="Calibri"/>
                <a:cs typeface="Calibri"/>
                <a:sym typeface="Calibri"/>
              </a:rPr>
              <a:t>Tổng thời gian chu kỳ trung bình của một Service Order</a:t>
            </a:r>
            <a:endParaRPr/>
          </a:p>
        </p:txBody>
      </p:sp>
      <p:sp>
        <p:nvSpPr>
          <p:cNvPr id="816" name="Google Shape;816;p44"/>
          <p:cNvSpPr/>
          <p:nvPr/>
        </p:nvSpPr>
        <p:spPr>
          <a:xfrm>
            <a:off x="8060740" y="1737360"/>
            <a:ext cx="3472586" cy="1554480"/>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17" name="Google Shape;817;p44"/>
          <p:cNvSpPr/>
          <p:nvPr/>
        </p:nvSpPr>
        <p:spPr>
          <a:xfrm>
            <a:off x="8060740" y="1737360"/>
            <a:ext cx="3472586" cy="50292"/>
          </a:xfrm>
          <a:prstGeom prst="rect">
            <a:avLst/>
          </a:prstGeom>
          <a:solidFill>
            <a:srgbClr val="C0392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18" name="Google Shape;818;p44"/>
          <p:cNvSpPr txBox="1"/>
          <p:nvPr/>
        </p:nvSpPr>
        <p:spPr>
          <a:xfrm>
            <a:off x="8289340" y="1874520"/>
            <a:ext cx="3015386" cy="3886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600">
                <a:solidFill>
                  <a:srgbClr val="C0392B"/>
                </a:solidFill>
                <a:latin typeface="Calibri"/>
                <a:ea typeface="Calibri"/>
                <a:cs typeface="Calibri"/>
                <a:sym typeface="Calibri"/>
              </a:rPr>
              <a:t>46,14%</a:t>
            </a:r>
            <a:endParaRPr/>
          </a:p>
        </p:txBody>
      </p:sp>
      <p:sp>
        <p:nvSpPr>
          <p:cNvPr id="819" name="Google Shape;819;p44"/>
          <p:cNvSpPr txBox="1"/>
          <p:nvPr/>
        </p:nvSpPr>
        <p:spPr>
          <a:xfrm>
            <a:off x="8289340" y="2263140"/>
            <a:ext cx="3015386" cy="2057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200">
                <a:solidFill>
                  <a:srgbClr val="0A2540"/>
                </a:solidFill>
                <a:latin typeface="Calibri"/>
                <a:ea typeface="Calibri"/>
                <a:cs typeface="Calibri"/>
                <a:sym typeface="Calibri"/>
              </a:rPr>
              <a:t>CYCLE TIME EFFICIENCY</a:t>
            </a:r>
            <a:endParaRPr/>
          </a:p>
        </p:txBody>
      </p:sp>
      <p:sp>
        <p:nvSpPr>
          <p:cNvPr id="820" name="Google Shape;820;p44"/>
          <p:cNvSpPr txBox="1"/>
          <p:nvPr/>
        </p:nvSpPr>
        <p:spPr>
          <a:xfrm>
            <a:off x="8289340" y="2491740"/>
            <a:ext cx="3015386" cy="70866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0" i="0" lang="en-US" sz="1200">
                <a:solidFill>
                  <a:srgbClr val="6B7784"/>
                </a:solidFill>
                <a:latin typeface="Calibri"/>
                <a:ea typeface="Calibri"/>
                <a:cs typeface="Calibri"/>
                <a:sym typeface="Calibri"/>
              </a:rPr>
              <a:t>23,58 ÷ 51,10 × 100% — chỉ chưa tới một nửa là thời gian làm việc thật</a:t>
            </a:r>
            <a:endParaRPr/>
          </a:p>
        </p:txBody>
      </p:sp>
      <p:sp>
        <p:nvSpPr>
          <p:cNvPr id="821" name="Google Shape;821;p44"/>
          <p:cNvSpPr txBox="1"/>
          <p:nvPr/>
        </p:nvSpPr>
        <p:spPr>
          <a:xfrm>
            <a:off x="658368" y="3474720"/>
            <a:ext cx="10874959"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200">
                <a:solidFill>
                  <a:srgbClr val="0096D6"/>
                </a:solidFill>
                <a:latin typeface="Calibri"/>
                <a:ea typeface="Calibri"/>
                <a:cs typeface="Calibri"/>
                <a:sym typeface="Calibri"/>
              </a:rPr>
              <a:t>Ý NGHĨA CỦA KẾT QUẢ</a:t>
            </a:r>
            <a:endParaRPr/>
          </a:p>
        </p:txBody>
      </p:sp>
      <p:sp>
        <p:nvSpPr>
          <p:cNvPr id="822" name="Google Shape;822;p44"/>
          <p:cNvSpPr/>
          <p:nvPr/>
        </p:nvSpPr>
        <p:spPr>
          <a:xfrm>
            <a:off x="658368" y="3794760"/>
            <a:ext cx="3472586" cy="1554480"/>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23" name="Google Shape;823;p44"/>
          <p:cNvSpPr/>
          <p:nvPr/>
        </p:nvSpPr>
        <p:spPr>
          <a:xfrm>
            <a:off x="658368" y="3794760"/>
            <a:ext cx="3472586" cy="50292"/>
          </a:xfrm>
          <a:prstGeom prst="rect">
            <a:avLst/>
          </a:prstGeom>
          <a:solidFill>
            <a:srgbClr val="C87F0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24" name="Google Shape;824;p44"/>
          <p:cNvSpPr txBox="1"/>
          <p:nvPr/>
        </p:nvSpPr>
        <p:spPr>
          <a:xfrm>
            <a:off x="864108" y="3977640"/>
            <a:ext cx="306110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400">
                <a:solidFill>
                  <a:srgbClr val="C87F0A"/>
                </a:solidFill>
                <a:latin typeface="Calibri"/>
                <a:ea typeface="Calibri"/>
                <a:cs typeface="Calibri"/>
                <a:sym typeface="Calibri"/>
              </a:rPr>
              <a:t>01</a:t>
            </a:r>
            <a:endParaRPr/>
          </a:p>
        </p:txBody>
      </p:sp>
      <p:sp>
        <p:nvSpPr>
          <p:cNvPr id="825" name="Google Shape;825;p44"/>
          <p:cNvSpPr txBox="1"/>
          <p:nvPr/>
        </p:nvSpPr>
        <p:spPr>
          <a:xfrm>
            <a:off x="864108" y="4297680"/>
            <a:ext cx="3061106" cy="2743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US" sz="1300">
                <a:solidFill>
                  <a:srgbClr val="0A2540"/>
                </a:solidFill>
                <a:latin typeface="Calibri"/>
                <a:ea typeface="Calibri"/>
                <a:cs typeface="Calibri"/>
                <a:sym typeface="Calibri"/>
              </a:rPr>
              <a:t>Hơn 53% là thời gian chờ</a:t>
            </a:r>
            <a:endParaRPr/>
          </a:p>
        </p:txBody>
      </p:sp>
      <p:sp>
        <p:nvSpPr>
          <p:cNvPr id="826" name="Google Shape;826;p44"/>
          <p:cNvSpPr txBox="1"/>
          <p:nvPr/>
        </p:nvSpPr>
        <p:spPr>
          <a:xfrm>
            <a:off x="864108" y="4663440"/>
            <a:ext cx="3061106" cy="5486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b="0" i="0" lang="en-US" sz="1050">
                <a:solidFill>
                  <a:srgbClr val="6B7784"/>
                </a:solidFill>
                <a:latin typeface="Calibri"/>
                <a:ea typeface="Calibri"/>
                <a:cs typeface="Calibri"/>
                <a:sym typeface="Calibri"/>
              </a:rPr>
              <a:t>27,52 giờ trong mỗi chu kỳ không sinh ra công việc nào — chỉ là chờ và chuyển giao giữa các bên.</a:t>
            </a:r>
            <a:endParaRPr/>
          </a:p>
        </p:txBody>
      </p:sp>
      <p:sp>
        <p:nvSpPr>
          <p:cNvPr id="827" name="Google Shape;827;p44"/>
          <p:cNvSpPr/>
          <p:nvPr/>
        </p:nvSpPr>
        <p:spPr>
          <a:xfrm>
            <a:off x="4359554" y="3794760"/>
            <a:ext cx="3472586" cy="1554480"/>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28" name="Google Shape;828;p44"/>
          <p:cNvSpPr/>
          <p:nvPr/>
        </p:nvSpPr>
        <p:spPr>
          <a:xfrm>
            <a:off x="4359554" y="3794760"/>
            <a:ext cx="3472586" cy="50292"/>
          </a:xfrm>
          <a:prstGeom prst="rect">
            <a:avLst/>
          </a:prstGeom>
          <a:solidFill>
            <a:srgbClr val="00C2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29" name="Google Shape;829;p44"/>
          <p:cNvSpPr txBox="1"/>
          <p:nvPr/>
        </p:nvSpPr>
        <p:spPr>
          <a:xfrm>
            <a:off x="4565294" y="3977640"/>
            <a:ext cx="306110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400">
                <a:solidFill>
                  <a:srgbClr val="00C2A8"/>
                </a:solidFill>
                <a:latin typeface="Calibri"/>
                <a:ea typeface="Calibri"/>
                <a:cs typeface="Calibri"/>
                <a:sym typeface="Calibri"/>
              </a:rPr>
              <a:t>02</a:t>
            </a:r>
            <a:endParaRPr/>
          </a:p>
        </p:txBody>
      </p:sp>
      <p:sp>
        <p:nvSpPr>
          <p:cNvPr id="830" name="Google Shape;830;p44"/>
          <p:cNvSpPr txBox="1"/>
          <p:nvPr/>
        </p:nvSpPr>
        <p:spPr>
          <a:xfrm>
            <a:off x="4565294" y="4297680"/>
            <a:ext cx="3061106" cy="2743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US" sz="1300">
                <a:solidFill>
                  <a:srgbClr val="0A2540"/>
                </a:solidFill>
                <a:latin typeface="Calibri"/>
                <a:ea typeface="Calibri"/>
                <a:cs typeface="Calibri"/>
                <a:sym typeface="Calibri"/>
              </a:rPr>
              <a:t>Cơ hội không nằm ở kỹ thuật</a:t>
            </a:r>
            <a:endParaRPr/>
          </a:p>
        </p:txBody>
      </p:sp>
      <p:sp>
        <p:nvSpPr>
          <p:cNvPr id="831" name="Google Shape;831;p44"/>
          <p:cNvSpPr txBox="1"/>
          <p:nvPr/>
        </p:nvSpPr>
        <p:spPr>
          <a:xfrm>
            <a:off x="4565294" y="4663440"/>
            <a:ext cx="3061106" cy="5486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b="0" i="0" lang="en-US" sz="1050">
                <a:solidFill>
                  <a:srgbClr val="6B7784"/>
                </a:solidFill>
                <a:latin typeface="Calibri"/>
                <a:ea typeface="Calibri"/>
                <a:cs typeface="Calibri"/>
                <a:sym typeface="Calibri"/>
              </a:rPr>
              <a:t>16 giờ thực hiện dịch vụ kỹ thuật là công việc tạo giá trị — rút ngắn phải nhắm vào khâu phối hợp.</a:t>
            </a:r>
            <a:endParaRPr/>
          </a:p>
        </p:txBody>
      </p:sp>
      <p:sp>
        <p:nvSpPr>
          <p:cNvPr id="832" name="Google Shape;832;p44"/>
          <p:cNvSpPr/>
          <p:nvPr/>
        </p:nvSpPr>
        <p:spPr>
          <a:xfrm>
            <a:off x="8060740" y="3794760"/>
            <a:ext cx="3472586" cy="1554480"/>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33" name="Google Shape;833;p44"/>
          <p:cNvSpPr/>
          <p:nvPr/>
        </p:nvSpPr>
        <p:spPr>
          <a:xfrm>
            <a:off x="8060740" y="3794760"/>
            <a:ext cx="3472586" cy="50292"/>
          </a:xfrm>
          <a:prstGeom prst="rect">
            <a:avLst/>
          </a:prstGeom>
          <a:solidFill>
            <a:srgbClr val="C0392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34" name="Google Shape;834;p44"/>
          <p:cNvSpPr txBox="1"/>
          <p:nvPr/>
        </p:nvSpPr>
        <p:spPr>
          <a:xfrm>
            <a:off x="8266480" y="3977640"/>
            <a:ext cx="306110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400">
                <a:solidFill>
                  <a:srgbClr val="C0392B"/>
                </a:solidFill>
                <a:latin typeface="Calibri"/>
                <a:ea typeface="Calibri"/>
                <a:cs typeface="Calibri"/>
                <a:sym typeface="Calibri"/>
              </a:rPr>
              <a:t>03</a:t>
            </a:r>
            <a:endParaRPr/>
          </a:p>
        </p:txBody>
      </p:sp>
      <p:sp>
        <p:nvSpPr>
          <p:cNvPr id="835" name="Google Shape;835;p44"/>
          <p:cNvSpPr txBox="1"/>
          <p:nvPr/>
        </p:nvSpPr>
        <p:spPr>
          <a:xfrm>
            <a:off x="8266480" y="4297680"/>
            <a:ext cx="3061106" cy="2743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US" sz="1300">
                <a:solidFill>
                  <a:srgbClr val="0A2540"/>
                </a:solidFill>
                <a:latin typeface="Calibri"/>
                <a:ea typeface="Calibri"/>
                <a:cs typeface="Calibri"/>
                <a:sym typeface="Calibri"/>
              </a:rPr>
              <a:t>Bốn điểm chờ trọng yếu</a:t>
            </a:r>
            <a:endParaRPr/>
          </a:p>
        </p:txBody>
      </p:sp>
      <p:sp>
        <p:nvSpPr>
          <p:cNvPr id="836" name="Google Shape;836;p44"/>
          <p:cNvSpPr txBox="1"/>
          <p:nvPr/>
        </p:nvSpPr>
        <p:spPr>
          <a:xfrm>
            <a:off x="8266480" y="4663440"/>
            <a:ext cx="3061106" cy="5486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b="0" i="0" lang="en-US" sz="1100">
                <a:solidFill>
                  <a:srgbClr val="6B7784"/>
                </a:solidFill>
                <a:latin typeface="Calibri"/>
                <a:ea typeface="Calibri"/>
                <a:cs typeface="Calibri"/>
                <a:sym typeface="Calibri"/>
              </a:rPr>
              <a:t>Phản hồi báo giá (16h), phối hợp onsite (8h), xác nhận kết quả (8h) và bố trí Engineer (4h).</a:t>
            </a:r>
            <a:endParaRPr/>
          </a:p>
        </p:txBody>
      </p:sp>
      <p:sp>
        <p:nvSpPr>
          <p:cNvPr id="837" name="Google Shape;837;p44"/>
          <p:cNvSpPr/>
          <p:nvPr/>
        </p:nvSpPr>
        <p:spPr>
          <a:xfrm>
            <a:off x="658368" y="5486400"/>
            <a:ext cx="10874959" cy="594360"/>
          </a:xfrm>
          <a:prstGeom prst="rect">
            <a:avLst/>
          </a:prstGeom>
          <a:solidFill>
            <a:srgbClr val="FBF4E8"/>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38" name="Google Shape;838;p44"/>
          <p:cNvSpPr/>
          <p:nvPr/>
        </p:nvSpPr>
        <p:spPr>
          <a:xfrm>
            <a:off x="658368" y="5486400"/>
            <a:ext cx="50292" cy="594360"/>
          </a:xfrm>
          <a:prstGeom prst="rect">
            <a:avLst/>
          </a:prstGeom>
          <a:solidFill>
            <a:srgbClr val="C87F0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39" name="Google Shape;839;p44"/>
          <p:cNvSpPr txBox="1"/>
          <p:nvPr/>
        </p:nvSpPr>
        <p:spPr>
          <a:xfrm>
            <a:off x="864108" y="5600700"/>
            <a:ext cx="10463479" cy="36576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None/>
            </a:pPr>
            <a:r>
              <a:rPr b="0" i="0" lang="en-US" sz="1100">
                <a:solidFill>
                  <a:srgbClr val="0A2540"/>
                </a:solidFill>
                <a:latin typeface="Calibri"/>
                <a:ea typeface="Calibri"/>
                <a:cs typeface="Calibri"/>
                <a:sym typeface="Calibri"/>
              </a:rPr>
              <a:t>Kết quả định lượng xác nhận phân tích định tính: 06 điểm Hold đã nhận diện ở Bảng 4.2 chính là phần lớn khoảng 53,86% thời gian bị mất. Giảm thời gian chờ và tăng hiệu quả phối hợp là hướng cải tiến có tác động lớn nhất đến Cycle Time.</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3" name="Shape 843"/>
        <p:cNvGrpSpPr/>
        <p:nvPr/>
      </p:nvGrpSpPr>
      <p:grpSpPr>
        <a:xfrm>
          <a:off x="0" y="0"/>
          <a:ext cx="0" cy="0"/>
          <a:chOff x="0" y="0"/>
          <a:chExt cx="0" cy="0"/>
        </a:xfrm>
      </p:grpSpPr>
      <p:sp>
        <p:nvSpPr>
          <p:cNvPr id="844" name="Google Shape;844;p45"/>
          <p:cNvSpPr/>
          <p:nvPr/>
        </p:nvSpPr>
        <p:spPr>
          <a:xfrm>
            <a:off x="0" y="0"/>
            <a:ext cx="12191695" cy="859536"/>
          </a:xfrm>
          <a:prstGeom prst="rect">
            <a:avLst/>
          </a:prstGeom>
          <a:solidFill>
            <a:srgbClr val="0A25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45" name="Google Shape;845;p45"/>
          <p:cNvSpPr/>
          <p:nvPr/>
        </p:nvSpPr>
        <p:spPr>
          <a:xfrm>
            <a:off x="0" y="0"/>
            <a:ext cx="182880" cy="859536"/>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46" name="Google Shape;846;p45"/>
          <p:cNvSpPr txBox="1"/>
          <p:nvPr/>
        </p:nvSpPr>
        <p:spPr>
          <a:xfrm>
            <a:off x="475488" y="137160"/>
            <a:ext cx="795527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950">
                <a:solidFill>
                  <a:srgbClr val="00C2A8"/>
                </a:solidFill>
                <a:latin typeface="Calibri"/>
                <a:ea typeface="Calibri"/>
                <a:cs typeface="Calibri"/>
                <a:sym typeface="Calibri"/>
              </a:rPr>
              <a:t>CHƯƠNG 4 · 4.2.3A PHÂN TÍCH THỜI GIAN (TIME)</a:t>
            </a:r>
            <a:endParaRPr/>
          </a:p>
        </p:txBody>
      </p:sp>
      <p:sp>
        <p:nvSpPr>
          <p:cNvPr id="847" name="Google Shape;847;p45"/>
          <p:cNvSpPr txBox="1"/>
          <p:nvPr/>
        </p:nvSpPr>
        <p:spPr>
          <a:xfrm>
            <a:off x="475488" y="411480"/>
            <a:ext cx="7955279"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700">
                <a:solidFill>
                  <a:srgbClr val="FFFFFF"/>
                </a:solidFill>
                <a:latin typeface="Calibri"/>
                <a:ea typeface="Calibri"/>
                <a:cs typeface="Calibri"/>
                <a:sym typeface="Calibri"/>
              </a:rPr>
              <a:t>C03 — Phân tích thời gian trên mô hình quy trình</a:t>
            </a:r>
            <a:endParaRPr/>
          </a:p>
        </p:txBody>
      </p:sp>
      <p:sp>
        <p:nvSpPr>
          <p:cNvPr id="848" name="Google Shape;848;p45"/>
          <p:cNvSpPr txBox="1"/>
          <p:nvPr/>
        </p:nvSpPr>
        <p:spPr>
          <a:xfrm>
            <a:off x="8595360" y="265176"/>
            <a:ext cx="3154680" cy="329184"/>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1" i="0" lang="en-US" sz="1400">
                <a:solidFill>
                  <a:srgbClr val="00C2A8"/>
                </a:solidFill>
                <a:latin typeface="Calibri"/>
                <a:ea typeface="Calibri"/>
                <a:cs typeface="Calibri"/>
                <a:sym typeface="Calibri"/>
              </a:rPr>
              <a:t>Hình 4.4</a:t>
            </a:r>
            <a:endParaRPr/>
          </a:p>
        </p:txBody>
      </p:sp>
      <p:sp>
        <p:nvSpPr>
          <p:cNvPr id="849" name="Google Shape;849;p45"/>
          <p:cNvSpPr txBox="1"/>
          <p:nvPr/>
        </p:nvSpPr>
        <p:spPr>
          <a:xfrm>
            <a:off x="658368" y="6355080"/>
            <a:ext cx="10326319"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850">
                <a:solidFill>
                  <a:srgbClr val="6B7784"/>
                </a:solidFill>
                <a:latin typeface="Calibri"/>
                <a:ea typeface="Calibri"/>
                <a:cs typeface="Calibri"/>
                <a:sym typeface="Calibri"/>
              </a:rPr>
              <a:t>SOLVENTUM VIỆT NAM  ·  HỆ THỐNG QUẢN TRỊ QUY TRÌNH NGHIỆP VỤ</a:t>
            </a:r>
            <a:endParaRPr/>
          </a:p>
        </p:txBody>
      </p:sp>
      <p:sp>
        <p:nvSpPr>
          <p:cNvPr id="850" name="Google Shape;850;p45"/>
          <p:cNvSpPr txBox="1"/>
          <p:nvPr/>
        </p:nvSpPr>
        <p:spPr>
          <a:xfrm>
            <a:off x="10984687" y="6355080"/>
            <a:ext cx="548640" cy="2286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1" i="0" lang="en-US" sz="950">
                <a:solidFill>
                  <a:srgbClr val="0096D6"/>
                </a:solidFill>
                <a:latin typeface="Calibri"/>
                <a:ea typeface="Calibri"/>
                <a:cs typeface="Calibri"/>
                <a:sym typeface="Calibri"/>
              </a:rPr>
              <a:t>33</a:t>
            </a:r>
            <a:endParaRPr/>
          </a:p>
        </p:txBody>
      </p:sp>
      <p:pic>
        <p:nvPicPr>
          <p:cNvPr id="851" name="Google Shape;851;p45"/>
          <p:cNvPicPr preferRelativeResize="0"/>
          <p:nvPr/>
        </p:nvPicPr>
        <p:blipFill>
          <a:blip r:embed="rId3">
            <a:alphaModFix/>
          </a:blip>
          <a:stretch>
            <a:fillRect/>
          </a:stretch>
        </p:blipFill>
        <p:spPr>
          <a:xfrm>
            <a:off x="1111388" y="1084850"/>
            <a:ext cx="9420275" cy="50449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5" name="Shape 855"/>
        <p:cNvGrpSpPr/>
        <p:nvPr/>
      </p:nvGrpSpPr>
      <p:grpSpPr>
        <a:xfrm>
          <a:off x="0" y="0"/>
          <a:ext cx="0" cy="0"/>
          <a:chOff x="0" y="0"/>
          <a:chExt cx="0" cy="0"/>
        </a:xfrm>
      </p:grpSpPr>
      <p:sp>
        <p:nvSpPr>
          <p:cNvPr id="856" name="Google Shape;856;p46"/>
          <p:cNvSpPr txBox="1"/>
          <p:nvPr/>
        </p:nvSpPr>
        <p:spPr>
          <a:xfrm>
            <a:off x="658368" y="384048"/>
            <a:ext cx="10874959"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050">
                <a:solidFill>
                  <a:srgbClr val="0096D6"/>
                </a:solidFill>
                <a:latin typeface="Calibri"/>
                <a:ea typeface="Calibri"/>
                <a:cs typeface="Calibri"/>
                <a:sym typeface="Calibri"/>
              </a:rPr>
              <a:t>CHƯƠNG 4 · 4.2.3B–C CHẤT LƯỢNG VÀ CHI PHÍ</a:t>
            </a:r>
            <a:endParaRPr/>
          </a:p>
        </p:txBody>
      </p:sp>
      <p:sp>
        <p:nvSpPr>
          <p:cNvPr id="857" name="Google Shape;857;p46"/>
          <p:cNvSpPr txBox="1"/>
          <p:nvPr/>
        </p:nvSpPr>
        <p:spPr>
          <a:xfrm>
            <a:off x="658368" y="640080"/>
            <a:ext cx="10874959" cy="60350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US" sz="2500">
                <a:solidFill>
                  <a:srgbClr val="0A2540"/>
                </a:solidFill>
                <a:latin typeface="Calibri"/>
                <a:ea typeface="Calibri"/>
                <a:cs typeface="Calibri"/>
                <a:sym typeface="Calibri"/>
              </a:rPr>
              <a:t>CHỈ SỐ CHẤT LƯỢNG VÀ CHI PHÍ NGUỒN LỰC</a:t>
            </a:r>
            <a:endParaRPr/>
          </a:p>
        </p:txBody>
      </p:sp>
      <p:sp>
        <p:nvSpPr>
          <p:cNvPr id="858" name="Google Shape;858;p46"/>
          <p:cNvSpPr/>
          <p:nvPr/>
        </p:nvSpPr>
        <p:spPr>
          <a:xfrm>
            <a:off x="658368" y="1280160"/>
            <a:ext cx="566928" cy="41148"/>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59" name="Google Shape;859;p46"/>
          <p:cNvSpPr/>
          <p:nvPr/>
        </p:nvSpPr>
        <p:spPr>
          <a:xfrm>
            <a:off x="1298448" y="1280160"/>
            <a:ext cx="10234879" cy="41148"/>
          </a:xfrm>
          <a:prstGeom prst="rect">
            <a:avLst/>
          </a:prstGeom>
          <a:solidFill>
            <a:srgbClr val="DFE4E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60" name="Google Shape;860;p46"/>
          <p:cNvSpPr txBox="1"/>
          <p:nvPr/>
        </p:nvSpPr>
        <p:spPr>
          <a:xfrm>
            <a:off x="658368" y="1371600"/>
            <a:ext cx="10874959"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1" lang="en-US" sz="1100">
                <a:solidFill>
                  <a:srgbClr val="6B7784"/>
                </a:solidFill>
                <a:latin typeface="Calibri"/>
                <a:ea typeface="Calibri"/>
                <a:cs typeface="Calibri"/>
                <a:sym typeface="Calibri"/>
              </a:rPr>
              <a:t>Bảng 4.6 — 05 chỉ số chất lượng   |   Bảng 4.7 — chi phí nguồn lực, giả định R = 150.000 đồng/giờ</a:t>
            </a:r>
            <a:endParaRPr/>
          </a:p>
        </p:txBody>
      </p:sp>
      <p:sp>
        <p:nvSpPr>
          <p:cNvPr id="861" name="Google Shape;861;p46"/>
          <p:cNvSpPr txBox="1"/>
          <p:nvPr/>
        </p:nvSpPr>
        <p:spPr>
          <a:xfrm>
            <a:off x="658368" y="6355080"/>
            <a:ext cx="10326319"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850">
                <a:solidFill>
                  <a:srgbClr val="6B7784"/>
                </a:solidFill>
                <a:latin typeface="Calibri"/>
                <a:ea typeface="Calibri"/>
                <a:cs typeface="Calibri"/>
                <a:sym typeface="Calibri"/>
              </a:rPr>
              <a:t>SOLVENTUM VIỆT NAM  ·  HỆ THỐNG QUẢN TRỊ QUY TRÌNH NGHIỆP VỤ</a:t>
            </a:r>
            <a:endParaRPr/>
          </a:p>
        </p:txBody>
      </p:sp>
      <p:sp>
        <p:nvSpPr>
          <p:cNvPr id="862" name="Google Shape;862;p46"/>
          <p:cNvSpPr txBox="1"/>
          <p:nvPr/>
        </p:nvSpPr>
        <p:spPr>
          <a:xfrm>
            <a:off x="10984687" y="6355080"/>
            <a:ext cx="548640" cy="2286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1" i="0" lang="en-US" sz="950">
                <a:solidFill>
                  <a:srgbClr val="0096D6"/>
                </a:solidFill>
                <a:latin typeface="Calibri"/>
                <a:ea typeface="Calibri"/>
                <a:cs typeface="Calibri"/>
                <a:sym typeface="Calibri"/>
              </a:rPr>
              <a:t>34</a:t>
            </a:r>
            <a:endParaRPr/>
          </a:p>
        </p:txBody>
      </p:sp>
      <p:sp>
        <p:nvSpPr>
          <p:cNvPr id="863" name="Google Shape;863;p46"/>
          <p:cNvSpPr txBox="1"/>
          <p:nvPr/>
        </p:nvSpPr>
        <p:spPr>
          <a:xfrm>
            <a:off x="658368" y="1737360"/>
            <a:ext cx="5323459"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200">
                <a:solidFill>
                  <a:srgbClr val="0096D6"/>
                </a:solidFill>
                <a:latin typeface="Calibri"/>
                <a:ea typeface="Calibri"/>
                <a:cs typeface="Calibri"/>
                <a:sym typeface="Calibri"/>
              </a:rPr>
              <a:t>BẢNG 4.6 — 05 CHỈ SỐ ĐÁNH GIÁ CHẤT LƯỢNG</a:t>
            </a:r>
            <a:endParaRPr/>
          </a:p>
        </p:txBody>
      </p:sp>
      <p:sp>
        <p:nvSpPr>
          <p:cNvPr id="864" name="Google Shape;864;p46"/>
          <p:cNvSpPr txBox="1"/>
          <p:nvPr/>
        </p:nvSpPr>
        <p:spPr>
          <a:xfrm>
            <a:off x="658368" y="2103120"/>
            <a:ext cx="5323459" cy="237744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0" i="0" lang="en-US" sz="1400">
                <a:solidFill>
                  <a:srgbClr val="6B7784"/>
                </a:solidFill>
                <a:latin typeface="Calibri"/>
                <a:ea typeface="Calibri"/>
                <a:cs typeface="Calibri"/>
                <a:sym typeface="Calibri"/>
              </a:rPr>
              <a:t>•  Tỷ lệ yêu cầu đầy đủ thông tin ngay lần đầu</a:t>
            </a:r>
            <a:endParaRPr/>
          </a:p>
          <a:p>
            <a:pPr indent="0" lvl="0" marL="0" marR="0" rtl="0" algn="l">
              <a:lnSpc>
                <a:spcPct val="115000"/>
              </a:lnSpc>
              <a:spcBef>
                <a:spcPts val="600"/>
              </a:spcBef>
              <a:spcAft>
                <a:spcPts val="0"/>
              </a:spcAft>
              <a:buNone/>
            </a:pPr>
            <a:r>
              <a:rPr b="0" i="0" lang="en-US" sz="1400">
                <a:solidFill>
                  <a:srgbClr val="6B7784"/>
                </a:solidFill>
                <a:latin typeface="Calibri"/>
                <a:ea typeface="Calibri"/>
                <a:cs typeface="Calibri"/>
                <a:sym typeface="Calibri"/>
              </a:rPr>
              <a:t>•  Tỷ lệ yêu cầu phải bổ sung thông tin</a:t>
            </a:r>
            <a:endParaRPr/>
          </a:p>
          <a:p>
            <a:pPr indent="0" lvl="0" marL="0" marR="0" rtl="0" algn="l">
              <a:lnSpc>
                <a:spcPct val="115000"/>
              </a:lnSpc>
              <a:spcBef>
                <a:spcPts val="600"/>
              </a:spcBef>
              <a:spcAft>
                <a:spcPts val="0"/>
              </a:spcAft>
              <a:buNone/>
            </a:pPr>
            <a:r>
              <a:rPr b="0" i="0" lang="en-US" sz="1400">
                <a:solidFill>
                  <a:srgbClr val="6B7784"/>
                </a:solidFill>
                <a:latin typeface="Calibri"/>
                <a:ea typeface="Calibri"/>
                <a:cs typeface="Calibri"/>
                <a:sym typeface="Calibri"/>
              </a:rPr>
              <a:t>•  Tỷ lệ xử lý thành công qua Remote Support</a:t>
            </a:r>
            <a:endParaRPr/>
          </a:p>
          <a:p>
            <a:pPr indent="0" lvl="0" marL="0" marR="0" rtl="0" algn="l">
              <a:lnSpc>
                <a:spcPct val="115000"/>
              </a:lnSpc>
              <a:spcBef>
                <a:spcPts val="600"/>
              </a:spcBef>
              <a:spcAft>
                <a:spcPts val="0"/>
              </a:spcAft>
              <a:buNone/>
            </a:pPr>
            <a:r>
              <a:rPr b="0" i="0" lang="en-US" sz="1400">
                <a:solidFill>
                  <a:srgbClr val="6B7784"/>
                </a:solidFill>
                <a:latin typeface="Calibri"/>
                <a:ea typeface="Calibri"/>
                <a:cs typeface="Calibri"/>
                <a:sym typeface="Calibri"/>
              </a:rPr>
              <a:t>•  Tỷ lệ yêu cầu phải xử lý lại  (Rework Rate)</a:t>
            </a:r>
            <a:endParaRPr/>
          </a:p>
          <a:p>
            <a:pPr indent="0" lvl="0" marL="0" marR="0" rtl="0" algn="l">
              <a:lnSpc>
                <a:spcPct val="115000"/>
              </a:lnSpc>
              <a:spcBef>
                <a:spcPts val="600"/>
              </a:spcBef>
              <a:spcAft>
                <a:spcPts val="0"/>
              </a:spcAft>
              <a:buNone/>
            </a:pPr>
            <a:r>
              <a:rPr b="0" i="0" lang="en-US" sz="1400">
                <a:solidFill>
                  <a:srgbClr val="6B7784"/>
                </a:solidFill>
                <a:latin typeface="Calibri"/>
                <a:ea typeface="Calibri"/>
                <a:cs typeface="Calibri"/>
                <a:sym typeface="Calibri"/>
              </a:rPr>
              <a:t>•  Tỷ lệ hoàn tất yêu cầu dịch vụ</a:t>
            </a:r>
            <a:endParaRPr/>
          </a:p>
        </p:txBody>
      </p:sp>
      <p:sp>
        <p:nvSpPr>
          <p:cNvPr id="865" name="Google Shape;865;p46"/>
          <p:cNvSpPr txBox="1"/>
          <p:nvPr/>
        </p:nvSpPr>
        <p:spPr>
          <a:xfrm>
            <a:off x="658368" y="4480560"/>
            <a:ext cx="5323459" cy="7315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b="0" i="1" lang="en-US" sz="1300">
                <a:solidFill>
                  <a:srgbClr val="6B7784"/>
                </a:solidFill>
                <a:latin typeface="Calibri"/>
                <a:ea typeface="Calibri"/>
                <a:cs typeface="Calibri"/>
                <a:sym typeface="Calibri"/>
              </a:rPr>
              <a:t>Ví dụ: 50 yêu cầu trong kỳ, 8 yêu cầu phải bổ sung  →  16% phải bổ sung, 84% đầy đủ thông tin ngay lần đầu.</a:t>
            </a:r>
            <a:endParaRPr/>
          </a:p>
        </p:txBody>
      </p:sp>
      <p:sp>
        <p:nvSpPr>
          <p:cNvPr id="866" name="Google Shape;866;p46"/>
          <p:cNvSpPr txBox="1"/>
          <p:nvPr/>
        </p:nvSpPr>
        <p:spPr>
          <a:xfrm>
            <a:off x="6209868" y="1737360"/>
            <a:ext cx="5323459"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200">
                <a:solidFill>
                  <a:srgbClr val="00C2A8"/>
                </a:solidFill>
                <a:latin typeface="Calibri"/>
                <a:ea typeface="Calibri"/>
                <a:cs typeface="Calibri"/>
                <a:sym typeface="Calibri"/>
              </a:rPr>
              <a:t>BẢNG 4.7 — CHI PHÍ NGUỒN LỰC THEO NHÁNH</a:t>
            </a:r>
            <a:endParaRPr/>
          </a:p>
        </p:txBody>
      </p:sp>
      <p:graphicFrame>
        <p:nvGraphicFramePr>
          <p:cNvPr id="867" name="Google Shape;867;p46"/>
          <p:cNvGraphicFramePr/>
          <p:nvPr/>
        </p:nvGraphicFramePr>
        <p:xfrm>
          <a:off x="6209868" y="2103120"/>
          <a:ext cx="3000000" cy="3000000"/>
        </p:xfrm>
        <a:graphic>
          <a:graphicData uri="http://schemas.openxmlformats.org/drawingml/2006/table">
            <a:tbl>
              <a:tblPr firstRow="1">
                <a:noFill/>
                <a:tableStyleId>{65267F91-CA84-436A-A840-DCCC5366F6D9}</a:tableStyleId>
              </a:tblPr>
              <a:tblGrid>
                <a:gridCol w="2377450"/>
                <a:gridCol w="1005850"/>
                <a:gridCol w="1940175"/>
              </a:tblGrid>
              <a:tr h="411475">
                <a:tc>
                  <a:txBody>
                    <a:bodyPr/>
                    <a:lstStyle/>
                    <a:p>
                      <a:pPr indent="0" lvl="0" marL="0" marR="0" rtl="0" algn="ctr">
                        <a:lnSpc>
                          <a:spcPct val="105000"/>
                        </a:lnSpc>
                        <a:spcBef>
                          <a:spcPts val="0"/>
                        </a:spcBef>
                        <a:spcAft>
                          <a:spcPts val="0"/>
                        </a:spcAft>
                        <a:buNone/>
                      </a:pPr>
                      <a:r>
                        <a:rPr b="1" i="0" lang="en-US" sz="1150" u="none" cap="none" strike="noStrike">
                          <a:solidFill>
                            <a:srgbClr val="FFFFFF"/>
                          </a:solidFill>
                          <a:latin typeface="Calibri"/>
                          <a:ea typeface="Calibri"/>
                          <a:cs typeface="Calibri"/>
                          <a:sym typeface="Calibri"/>
                        </a:rPr>
                        <a:t>NHÁNH XỬ LÝ</a:t>
                      </a:r>
                      <a:endParaRPr/>
                    </a:p>
                  </a:txBody>
                  <a:tcPr marT="41150" marB="41150" marR="73150" marL="91450" anchor="ctr">
                    <a:solidFill>
                      <a:srgbClr val="0A2540"/>
                    </a:solidFill>
                  </a:tcPr>
                </a:tc>
                <a:tc>
                  <a:txBody>
                    <a:bodyPr/>
                    <a:lstStyle/>
                    <a:p>
                      <a:pPr indent="0" lvl="0" marL="0" marR="0" rtl="0" algn="ctr">
                        <a:lnSpc>
                          <a:spcPct val="105000"/>
                        </a:lnSpc>
                        <a:spcBef>
                          <a:spcPts val="0"/>
                        </a:spcBef>
                        <a:spcAft>
                          <a:spcPts val="0"/>
                        </a:spcAft>
                        <a:buNone/>
                      </a:pPr>
                      <a:r>
                        <a:rPr b="1" i="0" lang="en-US" sz="1150" u="none" cap="none" strike="noStrike">
                          <a:solidFill>
                            <a:srgbClr val="FFFFFF"/>
                          </a:solidFill>
                          <a:latin typeface="Calibri"/>
                          <a:ea typeface="Calibri"/>
                          <a:cs typeface="Calibri"/>
                          <a:sym typeface="Calibri"/>
                        </a:rPr>
                        <a:t>TỶ LỆ</a:t>
                      </a:r>
                      <a:endParaRPr/>
                    </a:p>
                  </a:txBody>
                  <a:tcPr marT="41150" marB="41150" marR="73150" marL="91450" anchor="ctr">
                    <a:solidFill>
                      <a:srgbClr val="0A2540"/>
                    </a:solidFill>
                  </a:tcPr>
                </a:tc>
                <a:tc>
                  <a:txBody>
                    <a:bodyPr/>
                    <a:lstStyle/>
                    <a:p>
                      <a:pPr indent="0" lvl="0" marL="0" marR="0" rtl="0" algn="ctr">
                        <a:lnSpc>
                          <a:spcPct val="105000"/>
                        </a:lnSpc>
                        <a:spcBef>
                          <a:spcPts val="0"/>
                        </a:spcBef>
                        <a:spcAft>
                          <a:spcPts val="0"/>
                        </a:spcAft>
                        <a:buNone/>
                      </a:pPr>
                      <a:r>
                        <a:rPr b="1" i="0" lang="en-US" sz="1150" u="none" cap="none" strike="noStrike">
                          <a:solidFill>
                            <a:srgbClr val="FFFFFF"/>
                          </a:solidFill>
                          <a:latin typeface="Calibri"/>
                          <a:ea typeface="Calibri"/>
                          <a:cs typeface="Calibri"/>
                          <a:sym typeface="Calibri"/>
                        </a:rPr>
                        <a:t>CHI PHÍ TRUNG BÌNH</a:t>
                      </a:r>
                      <a:endParaRPr/>
                    </a:p>
                  </a:txBody>
                  <a:tcPr marT="41150" marB="41150" marR="73150" marL="91450" anchor="ctr">
                    <a:solidFill>
                      <a:srgbClr val="0A2540"/>
                    </a:solidFill>
                  </a:tcPr>
                </a:tc>
              </a:tr>
              <a:tr h="411475">
                <a:tc>
                  <a:txBody>
                    <a:bodyPr/>
                    <a:lstStyle/>
                    <a:p>
                      <a:pPr indent="0" lvl="0" marL="0" marR="0" rtl="0" algn="l">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Remote Support</a:t>
                      </a:r>
                      <a:endParaRPr/>
                    </a:p>
                  </a:txBody>
                  <a:tcPr marT="41150" marB="41150" marR="73150" marL="91450" anchor="ctr"/>
                </a:tc>
                <a:tc>
                  <a:txBody>
                    <a:bodyPr/>
                    <a:lstStyle/>
                    <a:p>
                      <a:pPr indent="0" lvl="0" marL="0" marR="0" rtl="0" algn="ctr">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20%</a:t>
                      </a:r>
                      <a:endParaRPr/>
                    </a:p>
                  </a:txBody>
                  <a:tcPr marT="41150" marB="41150" marR="73150" marL="91450" anchor="ctr"/>
                </a:tc>
                <a:tc>
                  <a:txBody>
                    <a:bodyPr/>
                    <a:lstStyle/>
                    <a:p>
                      <a:pPr indent="0" lvl="0" marL="0" marR="0" rtl="0" algn="ctr">
                        <a:lnSpc>
                          <a:spcPct val="105000"/>
                        </a:lnSpc>
                        <a:spcBef>
                          <a:spcPts val="0"/>
                        </a:spcBef>
                        <a:spcAft>
                          <a:spcPts val="0"/>
                        </a:spcAft>
                        <a:buNone/>
                      </a:pPr>
                      <a:r>
                        <a:rPr b="1" i="0" lang="en-US" sz="1400" u="none" cap="none" strike="noStrike">
                          <a:solidFill>
                            <a:srgbClr val="00C2A8"/>
                          </a:solidFill>
                          <a:latin typeface="Calibri"/>
                          <a:ea typeface="Calibri"/>
                          <a:cs typeface="Calibri"/>
                          <a:sym typeface="Calibri"/>
                        </a:rPr>
                        <a:t>135.000 đồng</a:t>
                      </a:r>
                      <a:endParaRPr/>
                    </a:p>
                  </a:txBody>
                  <a:tcPr marT="41150" marB="41150" marR="73150" marL="91450" anchor="ctr"/>
                </a:tc>
              </a:tr>
              <a:tr h="411475">
                <a:tc>
                  <a:txBody>
                    <a:bodyPr/>
                    <a:lstStyle/>
                    <a:p>
                      <a:pPr indent="0" lvl="0" marL="0" marR="0" rtl="0" algn="l">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Onsite – No-charge</a:t>
                      </a:r>
                      <a:endParaRPr/>
                    </a:p>
                  </a:txBody>
                  <a:tcPr marT="41150" marB="41150" marR="73150" marL="91450" anchor="ctr"/>
                </a:tc>
                <a:tc>
                  <a:txBody>
                    <a:bodyPr/>
                    <a:lstStyle/>
                    <a:p>
                      <a:pPr indent="0" lvl="0" marL="0" marR="0" rtl="0" algn="ctr">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48%</a:t>
                      </a:r>
                      <a:endParaRPr/>
                    </a:p>
                  </a:txBody>
                  <a:tcPr marT="41150" marB="41150" marR="73150" marL="91450" anchor="ctr"/>
                </a:tc>
                <a:tc>
                  <a:txBody>
                    <a:bodyPr/>
                    <a:lstStyle/>
                    <a:p>
                      <a:pPr indent="0" lvl="0" marL="0" marR="0" rtl="0" algn="ctr">
                        <a:lnSpc>
                          <a:spcPct val="105000"/>
                        </a:lnSpc>
                        <a:spcBef>
                          <a:spcPts val="0"/>
                        </a:spcBef>
                        <a:spcAft>
                          <a:spcPts val="0"/>
                        </a:spcAft>
                        <a:buNone/>
                      </a:pPr>
                      <a:r>
                        <a:rPr b="1" i="0" lang="en-US" sz="1400" u="none" cap="none" strike="noStrike">
                          <a:solidFill>
                            <a:srgbClr val="C87F0A"/>
                          </a:solidFill>
                          <a:latin typeface="Calibri"/>
                          <a:ea typeface="Calibri"/>
                          <a:cs typeface="Calibri"/>
                          <a:sym typeface="Calibri"/>
                        </a:rPr>
                        <a:t>1.908.000 đồng</a:t>
                      </a:r>
                      <a:endParaRPr/>
                    </a:p>
                  </a:txBody>
                  <a:tcPr marT="41150" marB="41150" marR="73150" marL="91450" anchor="ctr"/>
                </a:tc>
              </a:tr>
              <a:tr h="411475">
                <a:tc>
                  <a:txBody>
                    <a:bodyPr/>
                    <a:lstStyle/>
                    <a:p>
                      <a:pPr indent="0" lvl="0" marL="0" marR="0" rtl="0" algn="l">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Onsite – Chargeable</a:t>
                      </a:r>
                      <a:endParaRPr/>
                    </a:p>
                  </a:txBody>
                  <a:tcPr marT="41150" marB="41150" marR="73150" marL="91450" anchor="ctr"/>
                </a:tc>
                <a:tc>
                  <a:txBody>
                    <a:bodyPr/>
                    <a:lstStyle/>
                    <a:p>
                      <a:pPr indent="0" lvl="0" marL="0" marR="0" rtl="0" algn="ctr">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32%</a:t>
                      </a:r>
                      <a:endParaRPr/>
                    </a:p>
                  </a:txBody>
                  <a:tcPr marT="41150" marB="41150" marR="73150" marL="91450" anchor="ctr"/>
                </a:tc>
                <a:tc>
                  <a:txBody>
                    <a:bodyPr/>
                    <a:lstStyle/>
                    <a:p>
                      <a:pPr indent="0" lvl="0" marL="0" marR="0" rtl="0" algn="ctr">
                        <a:lnSpc>
                          <a:spcPct val="105000"/>
                        </a:lnSpc>
                        <a:spcBef>
                          <a:spcPts val="0"/>
                        </a:spcBef>
                        <a:spcAft>
                          <a:spcPts val="0"/>
                        </a:spcAft>
                        <a:buNone/>
                      </a:pPr>
                      <a:r>
                        <a:rPr b="1" i="0" lang="en-US" sz="1400" u="none" cap="none" strike="noStrike">
                          <a:solidFill>
                            <a:srgbClr val="C0392B"/>
                          </a:solidFill>
                          <a:latin typeface="Calibri"/>
                          <a:ea typeface="Calibri"/>
                          <a:cs typeface="Calibri"/>
                          <a:sym typeface="Calibri"/>
                        </a:rPr>
                        <a:t>1.320.000 đồng</a:t>
                      </a:r>
                      <a:endParaRPr/>
                    </a:p>
                  </a:txBody>
                  <a:tcPr marT="41150" marB="41150" marR="73150" marL="91450" anchor="ctr"/>
                </a:tc>
              </a:tr>
              <a:tr h="411475">
                <a:tc>
                  <a:txBody>
                    <a:bodyPr/>
                    <a:lstStyle/>
                    <a:p>
                      <a:pPr indent="0" lvl="0" marL="0" marR="0" rtl="0" algn="l">
                        <a:lnSpc>
                          <a:spcPct val="105000"/>
                        </a:lnSpc>
                        <a:spcBef>
                          <a:spcPts val="0"/>
                        </a:spcBef>
                        <a:spcAft>
                          <a:spcPts val="0"/>
                        </a:spcAft>
                        <a:buNone/>
                      </a:pPr>
                      <a:r>
                        <a:rPr b="1" i="0" lang="en-US" sz="1400" u="none" cap="none" strike="noStrike">
                          <a:solidFill>
                            <a:srgbClr val="0A2540"/>
                          </a:solidFill>
                          <a:latin typeface="Calibri"/>
                          <a:ea typeface="Calibri"/>
                          <a:cs typeface="Calibri"/>
                          <a:sym typeface="Calibri"/>
                        </a:rPr>
                        <a:t>TỔNG CỘNG</a:t>
                      </a:r>
                      <a:endParaRPr/>
                    </a:p>
                  </a:txBody>
                  <a:tcPr marT="41150" marB="41150" marR="73150" marL="91450" anchor="ctr">
                    <a:solidFill>
                      <a:srgbClr val="EDF6FB"/>
                    </a:solidFill>
                  </a:tcPr>
                </a:tc>
                <a:tc>
                  <a:txBody>
                    <a:bodyPr/>
                    <a:lstStyle/>
                    <a:p>
                      <a:pPr indent="0" lvl="0" marL="0" marR="0" rtl="0" algn="ctr">
                        <a:lnSpc>
                          <a:spcPct val="105000"/>
                        </a:lnSpc>
                        <a:spcBef>
                          <a:spcPts val="0"/>
                        </a:spcBef>
                        <a:spcAft>
                          <a:spcPts val="0"/>
                        </a:spcAft>
                        <a:buNone/>
                      </a:pPr>
                      <a:r>
                        <a:rPr b="1" i="0" lang="en-US" sz="1400" u="none" cap="none" strike="noStrike">
                          <a:solidFill>
                            <a:srgbClr val="0A2540"/>
                          </a:solidFill>
                          <a:latin typeface="Calibri"/>
                          <a:ea typeface="Calibri"/>
                          <a:cs typeface="Calibri"/>
                          <a:sym typeface="Calibri"/>
                        </a:rPr>
                        <a:t>100%</a:t>
                      </a:r>
                      <a:endParaRPr/>
                    </a:p>
                  </a:txBody>
                  <a:tcPr marT="41150" marB="41150" marR="73150" marL="91450" anchor="ctr">
                    <a:solidFill>
                      <a:srgbClr val="EDF6FB"/>
                    </a:solidFill>
                  </a:tcPr>
                </a:tc>
                <a:tc>
                  <a:txBody>
                    <a:bodyPr/>
                    <a:lstStyle/>
                    <a:p>
                      <a:pPr indent="0" lvl="0" marL="0" marR="0" rtl="0" algn="ctr">
                        <a:lnSpc>
                          <a:spcPct val="105000"/>
                        </a:lnSpc>
                        <a:spcBef>
                          <a:spcPts val="0"/>
                        </a:spcBef>
                        <a:spcAft>
                          <a:spcPts val="0"/>
                        </a:spcAft>
                        <a:buNone/>
                      </a:pPr>
                      <a:r>
                        <a:rPr b="1" i="0" lang="en-US" sz="1400" u="none" cap="none" strike="noStrike">
                          <a:solidFill>
                            <a:srgbClr val="0A2540"/>
                          </a:solidFill>
                          <a:latin typeface="Calibri"/>
                          <a:ea typeface="Calibri"/>
                          <a:cs typeface="Calibri"/>
                          <a:sym typeface="Calibri"/>
                        </a:rPr>
                        <a:t>3.363.000 đồng</a:t>
                      </a:r>
                      <a:endParaRPr/>
                    </a:p>
                  </a:txBody>
                  <a:tcPr marT="41150" marB="41150" marR="73150" marL="91450" anchor="ctr">
                    <a:solidFill>
                      <a:srgbClr val="EDF6FB"/>
                    </a:solidFill>
                  </a:tcPr>
                </a:tc>
              </a:tr>
            </a:tbl>
          </a:graphicData>
        </a:graphic>
      </p:graphicFrame>
      <p:sp>
        <p:nvSpPr>
          <p:cNvPr id="868" name="Google Shape;868;p46"/>
          <p:cNvSpPr/>
          <p:nvPr/>
        </p:nvSpPr>
        <p:spPr>
          <a:xfrm>
            <a:off x="658368" y="5303520"/>
            <a:ext cx="10874959" cy="731520"/>
          </a:xfrm>
          <a:prstGeom prst="rect">
            <a:avLst/>
          </a:prstGeom>
          <a:solidFill>
            <a:srgbClr val="EDF6FB"/>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69" name="Google Shape;869;p46"/>
          <p:cNvSpPr/>
          <p:nvPr/>
        </p:nvSpPr>
        <p:spPr>
          <a:xfrm>
            <a:off x="658368" y="5303520"/>
            <a:ext cx="50292" cy="731520"/>
          </a:xfrm>
          <a:prstGeom prst="rect">
            <a:avLst/>
          </a:prstGeom>
          <a:solidFill>
            <a:srgbClr val="0A25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70" name="Google Shape;870;p46"/>
          <p:cNvSpPr txBox="1"/>
          <p:nvPr/>
        </p:nvSpPr>
        <p:spPr>
          <a:xfrm>
            <a:off x="864108" y="5417820"/>
            <a:ext cx="10463479" cy="50292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None/>
            </a:pPr>
            <a:r>
              <a:rPr b="1" i="0" lang="en-US" sz="1250">
                <a:solidFill>
                  <a:srgbClr val="0A2540"/>
                </a:solidFill>
                <a:latin typeface="Calibri"/>
                <a:ea typeface="Calibri"/>
                <a:cs typeface="Calibri"/>
                <a:sym typeface="Calibri"/>
              </a:rPr>
              <a:t>CHI PHÍ MỘT LẦN XỬ LÝ:   Remote Support 675.000 đồng   ·   Onsite No-charge 3.975.000 đồng   ·   Onsite Chargeable 4.125.000 đồng</a:t>
            </a:r>
            <a:endParaRPr/>
          </a:p>
          <a:p>
            <a:pPr indent="0" lvl="0" marL="0" marR="0" rtl="0" algn="l">
              <a:lnSpc>
                <a:spcPct val="112000"/>
              </a:lnSpc>
              <a:spcBef>
                <a:spcPts val="0"/>
              </a:spcBef>
              <a:spcAft>
                <a:spcPts val="0"/>
              </a:spcAft>
              <a:buNone/>
            </a:pPr>
            <a:r>
              <a:rPr b="0" i="0" lang="en-US" sz="1250">
                <a:solidFill>
                  <a:srgbClr val="0A2540"/>
                </a:solidFill>
                <a:latin typeface="Calibri"/>
                <a:ea typeface="Calibri"/>
                <a:cs typeface="Calibri"/>
                <a:sym typeface="Calibri"/>
              </a:rPr>
              <a:t>Onsite tốn nguồn lực gấp gần 06 lần Remote Support → ưu tiên xử lý từ xa khi điều kiện kỹ thuật cho phép là đòn bẩy giảm chi phí lớn nhất.</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4" name="Shape 874"/>
        <p:cNvGrpSpPr/>
        <p:nvPr/>
      </p:nvGrpSpPr>
      <p:grpSpPr>
        <a:xfrm>
          <a:off x="0" y="0"/>
          <a:ext cx="0" cy="0"/>
          <a:chOff x="0" y="0"/>
          <a:chExt cx="0" cy="0"/>
        </a:xfrm>
      </p:grpSpPr>
      <p:sp>
        <p:nvSpPr>
          <p:cNvPr id="875" name="Google Shape;875;p47"/>
          <p:cNvSpPr txBox="1"/>
          <p:nvPr/>
        </p:nvSpPr>
        <p:spPr>
          <a:xfrm>
            <a:off x="658368" y="384048"/>
            <a:ext cx="10874959"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050">
                <a:solidFill>
                  <a:srgbClr val="0096D6"/>
                </a:solidFill>
                <a:latin typeface="Calibri"/>
                <a:ea typeface="Calibri"/>
                <a:cs typeface="Calibri"/>
                <a:sym typeface="Calibri"/>
              </a:rPr>
              <a:t>CHƯƠNG 4 · 4.3.1 TỔNG QUAN QUY TRÌNH PHÂN TÍCH</a:t>
            </a:r>
            <a:endParaRPr/>
          </a:p>
        </p:txBody>
      </p:sp>
      <p:sp>
        <p:nvSpPr>
          <p:cNvPr id="876" name="Google Shape;876;p47"/>
          <p:cNvSpPr txBox="1"/>
          <p:nvPr/>
        </p:nvSpPr>
        <p:spPr>
          <a:xfrm>
            <a:off x="658368" y="640080"/>
            <a:ext cx="10874959" cy="60350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US" sz="2500">
                <a:solidFill>
                  <a:srgbClr val="0A2540"/>
                </a:solidFill>
                <a:latin typeface="Calibri"/>
                <a:ea typeface="Calibri"/>
                <a:cs typeface="Calibri"/>
                <a:sym typeface="Calibri"/>
              </a:rPr>
              <a:t>S01 — PROCUREMENT MANAGEMENT</a:t>
            </a:r>
            <a:endParaRPr/>
          </a:p>
        </p:txBody>
      </p:sp>
      <p:sp>
        <p:nvSpPr>
          <p:cNvPr id="877" name="Google Shape;877;p47"/>
          <p:cNvSpPr/>
          <p:nvPr/>
        </p:nvSpPr>
        <p:spPr>
          <a:xfrm>
            <a:off x="658368" y="1280160"/>
            <a:ext cx="566928" cy="41148"/>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78" name="Google Shape;878;p47"/>
          <p:cNvSpPr/>
          <p:nvPr/>
        </p:nvSpPr>
        <p:spPr>
          <a:xfrm>
            <a:off x="1298448" y="1280160"/>
            <a:ext cx="10234879" cy="41148"/>
          </a:xfrm>
          <a:prstGeom prst="rect">
            <a:avLst/>
          </a:prstGeom>
          <a:solidFill>
            <a:srgbClr val="DFE4E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79" name="Google Shape;879;p47"/>
          <p:cNvSpPr txBox="1"/>
          <p:nvPr/>
        </p:nvSpPr>
        <p:spPr>
          <a:xfrm>
            <a:off x="658368" y="1371600"/>
            <a:ext cx="10874959"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1" lang="en-US" sz="1100">
                <a:solidFill>
                  <a:srgbClr val="6B7784"/>
                </a:solidFill>
                <a:latin typeface="Calibri"/>
                <a:ea typeface="Calibri"/>
                <a:cs typeface="Calibri"/>
                <a:sym typeface="Calibri"/>
              </a:rPr>
              <a:t>Quản lý mua hàng và cung ứng  ·  Nhóm quy trình hỗ trợ  ·  Chu trình Source-to-Pay</a:t>
            </a:r>
            <a:endParaRPr/>
          </a:p>
        </p:txBody>
      </p:sp>
      <p:sp>
        <p:nvSpPr>
          <p:cNvPr id="880" name="Google Shape;880;p47"/>
          <p:cNvSpPr txBox="1"/>
          <p:nvPr/>
        </p:nvSpPr>
        <p:spPr>
          <a:xfrm>
            <a:off x="658368" y="6355080"/>
            <a:ext cx="10326319"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850">
                <a:solidFill>
                  <a:srgbClr val="6B7784"/>
                </a:solidFill>
                <a:latin typeface="Calibri"/>
                <a:ea typeface="Calibri"/>
                <a:cs typeface="Calibri"/>
                <a:sym typeface="Calibri"/>
              </a:rPr>
              <a:t>SOLVENTUM VIỆT NAM  ·  HỆ THỐNG QUẢN TRỊ QUY TRÌNH NGHIỆP VỤ</a:t>
            </a:r>
            <a:endParaRPr/>
          </a:p>
        </p:txBody>
      </p:sp>
      <p:sp>
        <p:nvSpPr>
          <p:cNvPr id="881" name="Google Shape;881;p47"/>
          <p:cNvSpPr txBox="1"/>
          <p:nvPr/>
        </p:nvSpPr>
        <p:spPr>
          <a:xfrm>
            <a:off x="10984687" y="6355080"/>
            <a:ext cx="548640" cy="2286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1" i="0" lang="en-US" sz="950">
                <a:solidFill>
                  <a:srgbClr val="0096D6"/>
                </a:solidFill>
                <a:latin typeface="Calibri"/>
                <a:ea typeface="Calibri"/>
                <a:cs typeface="Calibri"/>
                <a:sym typeface="Calibri"/>
              </a:rPr>
              <a:t>35</a:t>
            </a:r>
            <a:endParaRPr/>
          </a:p>
        </p:txBody>
      </p:sp>
      <p:sp>
        <p:nvSpPr>
          <p:cNvPr id="882" name="Google Shape;882;p47"/>
          <p:cNvSpPr txBox="1"/>
          <p:nvPr/>
        </p:nvSpPr>
        <p:spPr>
          <a:xfrm>
            <a:off x="658368" y="1737360"/>
            <a:ext cx="10874959"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200">
                <a:solidFill>
                  <a:srgbClr val="0096D6"/>
                </a:solidFill>
                <a:latin typeface="Calibri"/>
                <a:ea typeface="Calibri"/>
                <a:cs typeface="Calibri"/>
                <a:sym typeface="Calibri"/>
              </a:rPr>
              <a:t>SÁU ĐỐI TƯỢNG THAM GIA CHU TRÌNH SOURCE-TO-PAY</a:t>
            </a:r>
            <a:endParaRPr/>
          </a:p>
        </p:txBody>
      </p:sp>
      <p:sp>
        <p:nvSpPr>
          <p:cNvPr id="883" name="Google Shape;883;p47"/>
          <p:cNvSpPr/>
          <p:nvPr/>
        </p:nvSpPr>
        <p:spPr>
          <a:xfrm>
            <a:off x="658368" y="2011680"/>
            <a:ext cx="3472586" cy="1325880"/>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84" name="Google Shape;884;p47"/>
          <p:cNvSpPr/>
          <p:nvPr/>
        </p:nvSpPr>
        <p:spPr>
          <a:xfrm>
            <a:off x="658368" y="2011680"/>
            <a:ext cx="3472586" cy="50292"/>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85" name="Google Shape;885;p47"/>
          <p:cNvSpPr txBox="1"/>
          <p:nvPr/>
        </p:nvSpPr>
        <p:spPr>
          <a:xfrm>
            <a:off x="864108" y="2194560"/>
            <a:ext cx="3061106" cy="2743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US" sz="1300">
                <a:solidFill>
                  <a:srgbClr val="0A2540"/>
                </a:solidFill>
                <a:latin typeface="Calibri"/>
                <a:ea typeface="Calibri"/>
                <a:cs typeface="Calibri"/>
                <a:sym typeface="Calibri"/>
              </a:rPr>
              <a:t>Requester</a:t>
            </a:r>
            <a:endParaRPr/>
          </a:p>
        </p:txBody>
      </p:sp>
      <p:sp>
        <p:nvSpPr>
          <p:cNvPr id="886" name="Google Shape;886;p47"/>
          <p:cNvSpPr txBox="1"/>
          <p:nvPr/>
        </p:nvSpPr>
        <p:spPr>
          <a:xfrm>
            <a:off x="864108" y="2560320"/>
            <a:ext cx="3061106" cy="6400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b="0" i="0" lang="en-US" sz="1250">
                <a:solidFill>
                  <a:srgbClr val="6B7784"/>
                </a:solidFill>
                <a:latin typeface="Calibri"/>
                <a:ea typeface="Calibri"/>
                <a:cs typeface="Calibri"/>
                <a:sym typeface="Calibri"/>
              </a:rPr>
              <a:t>Bộ phận có nhu cầu, tạo Purchase Requisition (PR) và bổ sung thông tin khi được yêu cầu.</a:t>
            </a:r>
            <a:endParaRPr/>
          </a:p>
        </p:txBody>
      </p:sp>
      <p:sp>
        <p:nvSpPr>
          <p:cNvPr id="887" name="Google Shape;887;p47"/>
          <p:cNvSpPr/>
          <p:nvPr/>
        </p:nvSpPr>
        <p:spPr>
          <a:xfrm>
            <a:off x="4359554" y="2011680"/>
            <a:ext cx="3472586" cy="1325880"/>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88" name="Google Shape;888;p47"/>
          <p:cNvSpPr/>
          <p:nvPr/>
        </p:nvSpPr>
        <p:spPr>
          <a:xfrm>
            <a:off x="4359554" y="2011680"/>
            <a:ext cx="3472586" cy="50292"/>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89" name="Google Shape;889;p47"/>
          <p:cNvSpPr txBox="1"/>
          <p:nvPr/>
        </p:nvSpPr>
        <p:spPr>
          <a:xfrm>
            <a:off x="4565294" y="2194560"/>
            <a:ext cx="3061106" cy="2743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US" sz="1300">
                <a:solidFill>
                  <a:srgbClr val="0A2540"/>
                </a:solidFill>
                <a:latin typeface="Calibri"/>
                <a:ea typeface="Calibri"/>
                <a:cs typeface="Calibri"/>
                <a:sym typeface="Calibri"/>
              </a:rPr>
              <a:t>Approver</a:t>
            </a:r>
            <a:endParaRPr/>
          </a:p>
        </p:txBody>
      </p:sp>
      <p:sp>
        <p:nvSpPr>
          <p:cNvPr id="890" name="Google Shape;890;p47"/>
          <p:cNvSpPr txBox="1"/>
          <p:nvPr/>
        </p:nvSpPr>
        <p:spPr>
          <a:xfrm>
            <a:off x="4565294" y="2560320"/>
            <a:ext cx="3061106" cy="6400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b="0" i="0" lang="en-US" sz="1250">
                <a:solidFill>
                  <a:srgbClr val="6B7784"/>
                </a:solidFill>
                <a:latin typeface="Calibri"/>
                <a:ea typeface="Calibri"/>
                <a:cs typeface="Calibri"/>
                <a:sym typeface="Calibri"/>
              </a:rPr>
              <a:t>Xem xét và phê duyệt PR, hoặc yêu cầu bổ sung / chỉnh sửa trước khi cho phép tiếp tục.</a:t>
            </a:r>
            <a:endParaRPr/>
          </a:p>
        </p:txBody>
      </p:sp>
      <p:sp>
        <p:nvSpPr>
          <p:cNvPr id="891" name="Google Shape;891;p47"/>
          <p:cNvSpPr/>
          <p:nvPr/>
        </p:nvSpPr>
        <p:spPr>
          <a:xfrm>
            <a:off x="8060740" y="2011680"/>
            <a:ext cx="3472586" cy="1325880"/>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92" name="Google Shape;892;p47"/>
          <p:cNvSpPr/>
          <p:nvPr/>
        </p:nvSpPr>
        <p:spPr>
          <a:xfrm>
            <a:off x="8060740" y="2011680"/>
            <a:ext cx="3472586" cy="50292"/>
          </a:xfrm>
          <a:prstGeom prst="rect">
            <a:avLst/>
          </a:prstGeom>
          <a:solidFill>
            <a:srgbClr val="00C2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93" name="Google Shape;893;p47"/>
          <p:cNvSpPr txBox="1"/>
          <p:nvPr/>
        </p:nvSpPr>
        <p:spPr>
          <a:xfrm>
            <a:off x="8266480" y="2194560"/>
            <a:ext cx="3061106" cy="2743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US" sz="1300">
                <a:solidFill>
                  <a:srgbClr val="0A2540"/>
                </a:solidFill>
                <a:latin typeface="Calibri"/>
                <a:ea typeface="Calibri"/>
                <a:cs typeface="Calibri"/>
                <a:sym typeface="Calibri"/>
              </a:rPr>
              <a:t>Procurement Specialist</a:t>
            </a:r>
            <a:endParaRPr/>
          </a:p>
        </p:txBody>
      </p:sp>
      <p:sp>
        <p:nvSpPr>
          <p:cNvPr id="894" name="Google Shape;894;p47"/>
          <p:cNvSpPr txBox="1"/>
          <p:nvPr/>
        </p:nvSpPr>
        <p:spPr>
          <a:xfrm>
            <a:off x="8266480" y="2560320"/>
            <a:ext cx="3061106" cy="6400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b="0" i="0" lang="en-US" sz="1250">
                <a:solidFill>
                  <a:srgbClr val="6B7784"/>
                </a:solidFill>
                <a:latin typeface="Calibri"/>
                <a:ea typeface="Calibri"/>
                <a:cs typeface="Calibri"/>
                <a:sym typeface="Calibri"/>
              </a:rPr>
              <a:t>Kiểm tra nguồn cung, tìm Supplier và chốt Quotation, phát hành PO, theo dõi cung ứng.</a:t>
            </a:r>
            <a:endParaRPr/>
          </a:p>
        </p:txBody>
      </p:sp>
      <p:sp>
        <p:nvSpPr>
          <p:cNvPr id="895" name="Google Shape;895;p47"/>
          <p:cNvSpPr/>
          <p:nvPr/>
        </p:nvSpPr>
        <p:spPr>
          <a:xfrm>
            <a:off x="658368" y="3474720"/>
            <a:ext cx="3472586" cy="1325880"/>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96" name="Google Shape;896;p47"/>
          <p:cNvSpPr/>
          <p:nvPr/>
        </p:nvSpPr>
        <p:spPr>
          <a:xfrm>
            <a:off x="658368" y="3474720"/>
            <a:ext cx="3472586" cy="50292"/>
          </a:xfrm>
          <a:prstGeom prst="rect">
            <a:avLst/>
          </a:prstGeom>
          <a:solidFill>
            <a:srgbClr val="00C2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97" name="Google Shape;897;p47"/>
          <p:cNvSpPr txBox="1"/>
          <p:nvPr/>
        </p:nvSpPr>
        <p:spPr>
          <a:xfrm>
            <a:off x="864108" y="3657600"/>
            <a:ext cx="3061106" cy="2743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US" sz="1300">
                <a:solidFill>
                  <a:srgbClr val="0A2540"/>
                </a:solidFill>
                <a:latin typeface="Calibri"/>
                <a:ea typeface="Calibri"/>
                <a:cs typeface="Calibri"/>
                <a:sym typeface="Calibri"/>
              </a:rPr>
              <a:t>Warehouse</a:t>
            </a:r>
            <a:endParaRPr/>
          </a:p>
        </p:txBody>
      </p:sp>
      <p:sp>
        <p:nvSpPr>
          <p:cNvPr id="898" name="Google Shape;898;p47"/>
          <p:cNvSpPr txBox="1"/>
          <p:nvPr/>
        </p:nvSpPr>
        <p:spPr>
          <a:xfrm>
            <a:off x="864108" y="4023360"/>
            <a:ext cx="3061106" cy="6400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b="0" i="0" lang="en-US" sz="1250">
                <a:solidFill>
                  <a:srgbClr val="6B7784"/>
                </a:solidFill>
                <a:latin typeface="Calibri"/>
                <a:ea typeface="Calibri"/>
                <a:cs typeface="Calibri"/>
                <a:sym typeface="Calibri"/>
              </a:rPr>
              <a:t>Tiếp nhận hàng, kiểm tra chất lượng – số lượng, đối chiếu PO và ghi nhận Goods Receipt.</a:t>
            </a:r>
            <a:endParaRPr/>
          </a:p>
        </p:txBody>
      </p:sp>
      <p:sp>
        <p:nvSpPr>
          <p:cNvPr id="899" name="Google Shape;899;p47"/>
          <p:cNvSpPr/>
          <p:nvPr/>
        </p:nvSpPr>
        <p:spPr>
          <a:xfrm>
            <a:off x="4359554" y="3474720"/>
            <a:ext cx="3472586" cy="1325880"/>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00" name="Google Shape;900;p47"/>
          <p:cNvSpPr/>
          <p:nvPr/>
        </p:nvSpPr>
        <p:spPr>
          <a:xfrm>
            <a:off x="4359554" y="3474720"/>
            <a:ext cx="3472586" cy="50292"/>
          </a:xfrm>
          <a:prstGeom prst="rect">
            <a:avLst/>
          </a:prstGeom>
          <a:solidFill>
            <a:srgbClr val="C87F0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01" name="Google Shape;901;p47"/>
          <p:cNvSpPr txBox="1"/>
          <p:nvPr/>
        </p:nvSpPr>
        <p:spPr>
          <a:xfrm>
            <a:off x="4565294" y="3657600"/>
            <a:ext cx="3061106" cy="2743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US" sz="1300">
                <a:solidFill>
                  <a:srgbClr val="0A2540"/>
                </a:solidFill>
                <a:latin typeface="Calibri"/>
                <a:ea typeface="Calibri"/>
                <a:cs typeface="Calibri"/>
                <a:sym typeface="Calibri"/>
              </a:rPr>
              <a:t>Finance / Accounts Payable</a:t>
            </a:r>
            <a:endParaRPr/>
          </a:p>
        </p:txBody>
      </p:sp>
      <p:sp>
        <p:nvSpPr>
          <p:cNvPr id="902" name="Google Shape;902;p47"/>
          <p:cNvSpPr txBox="1"/>
          <p:nvPr/>
        </p:nvSpPr>
        <p:spPr>
          <a:xfrm>
            <a:off x="4565294" y="4023360"/>
            <a:ext cx="3061106" cy="6400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b="0" i="0" lang="en-US" sz="1250">
                <a:solidFill>
                  <a:srgbClr val="6B7784"/>
                </a:solidFill>
                <a:latin typeface="Calibri"/>
                <a:ea typeface="Calibri"/>
                <a:cs typeface="Calibri"/>
                <a:sym typeface="Calibri"/>
              </a:rPr>
              <a:t>Đối chiếu hóa đơn với PO và GR, yêu cầu chỉnh sửa nếu sai lệch, thanh toán và lưu hồ sơ.</a:t>
            </a:r>
            <a:endParaRPr/>
          </a:p>
        </p:txBody>
      </p:sp>
      <p:sp>
        <p:nvSpPr>
          <p:cNvPr id="903" name="Google Shape;903;p47"/>
          <p:cNvSpPr/>
          <p:nvPr/>
        </p:nvSpPr>
        <p:spPr>
          <a:xfrm>
            <a:off x="8060740" y="3474720"/>
            <a:ext cx="3472586" cy="1325880"/>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04" name="Google Shape;904;p47"/>
          <p:cNvSpPr/>
          <p:nvPr/>
        </p:nvSpPr>
        <p:spPr>
          <a:xfrm>
            <a:off x="8060740" y="3474720"/>
            <a:ext cx="3472586" cy="50292"/>
          </a:xfrm>
          <a:prstGeom prst="rect">
            <a:avLst/>
          </a:prstGeom>
          <a:solidFill>
            <a:srgbClr val="C0392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05" name="Google Shape;905;p47"/>
          <p:cNvSpPr txBox="1"/>
          <p:nvPr/>
        </p:nvSpPr>
        <p:spPr>
          <a:xfrm>
            <a:off x="8266480" y="3657600"/>
            <a:ext cx="3061106" cy="2743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US" sz="1300">
                <a:solidFill>
                  <a:srgbClr val="0A2540"/>
                </a:solidFill>
                <a:latin typeface="Calibri"/>
                <a:ea typeface="Calibri"/>
                <a:cs typeface="Calibri"/>
                <a:sym typeface="Calibri"/>
              </a:rPr>
              <a:t>Supplier</a:t>
            </a:r>
            <a:endParaRPr/>
          </a:p>
        </p:txBody>
      </p:sp>
      <p:sp>
        <p:nvSpPr>
          <p:cNvPr id="906" name="Google Shape;906;p47"/>
          <p:cNvSpPr txBox="1"/>
          <p:nvPr/>
        </p:nvSpPr>
        <p:spPr>
          <a:xfrm>
            <a:off x="8266480" y="4023360"/>
            <a:ext cx="3061106" cy="6400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b="0" i="0" lang="en-US" sz="1250">
                <a:solidFill>
                  <a:srgbClr val="6B7784"/>
                </a:solidFill>
                <a:latin typeface="Calibri"/>
                <a:ea typeface="Calibri"/>
                <a:cs typeface="Calibri"/>
                <a:sym typeface="Calibri"/>
              </a:rPr>
              <a:t>Cung cấp hàng hóa theo PO, điều chỉnh khi có sai lệch, phát hành và chỉnh sửa hóa đơn.</a:t>
            </a:r>
            <a:endParaRPr/>
          </a:p>
        </p:txBody>
      </p:sp>
      <p:sp>
        <p:nvSpPr>
          <p:cNvPr id="907" name="Google Shape;907;p47"/>
          <p:cNvSpPr txBox="1"/>
          <p:nvPr/>
        </p:nvSpPr>
        <p:spPr>
          <a:xfrm>
            <a:off x="658368" y="4937760"/>
            <a:ext cx="10874959"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200">
                <a:solidFill>
                  <a:srgbClr val="0096D6"/>
                </a:solidFill>
                <a:latin typeface="Calibri"/>
                <a:ea typeface="Calibri"/>
                <a:cs typeface="Calibri"/>
                <a:sym typeface="Calibri"/>
              </a:rPr>
              <a:t>BỐN VÒNG LẶP CÓ THỂ PHÁT SINH — ĐẶC ĐIỂM ĐỊNH HÌNH TOÀN BỘ PHÂN TÍCH</a:t>
            </a:r>
            <a:endParaRPr/>
          </a:p>
        </p:txBody>
      </p:sp>
      <p:sp>
        <p:nvSpPr>
          <p:cNvPr id="908" name="Google Shape;908;p47"/>
          <p:cNvSpPr/>
          <p:nvPr/>
        </p:nvSpPr>
        <p:spPr>
          <a:xfrm>
            <a:off x="658368" y="5257800"/>
            <a:ext cx="2547289" cy="731520"/>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09" name="Google Shape;909;p47"/>
          <p:cNvSpPr/>
          <p:nvPr/>
        </p:nvSpPr>
        <p:spPr>
          <a:xfrm>
            <a:off x="658368" y="5257800"/>
            <a:ext cx="2547289" cy="50292"/>
          </a:xfrm>
          <a:prstGeom prst="rect">
            <a:avLst/>
          </a:prstGeom>
          <a:solidFill>
            <a:srgbClr val="C0392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10" name="Google Shape;910;p47"/>
          <p:cNvSpPr txBox="1"/>
          <p:nvPr/>
        </p:nvSpPr>
        <p:spPr>
          <a:xfrm>
            <a:off x="864108" y="5440680"/>
            <a:ext cx="2135809" cy="2743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US" sz="1250">
                <a:solidFill>
                  <a:srgbClr val="0A2540"/>
                </a:solidFill>
                <a:latin typeface="Calibri"/>
                <a:ea typeface="Calibri"/>
                <a:cs typeface="Calibri"/>
                <a:sym typeface="Calibri"/>
              </a:rPr>
              <a:t>PR cần bổ sung / chỉnh sửa</a:t>
            </a:r>
            <a:endParaRPr/>
          </a:p>
        </p:txBody>
      </p:sp>
      <p:sp>
        <p:nvSpPr>
          <p:cNvPr id="911" name="Google Shape;911;p47"/>
          <p:cNvSpPr txBox="1"/>
          <p:nvPr/>
        </p:nvSpPr>
        <p:spPr>
          <a:xfrm>
            <a:off x="864108" y="5669280"/>
            <a:ext cx="2135809"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200">
                <a:solidFill>
                  <a:srgbClr val="C0392B"/>
                </a:solidFill>
                <a:latin typeface="Calibri"/>
                <a:ea typeface="Calibri"/>
                <a:cs typeface="Calibri"/>
                <a:sym typeface="Calibri"/>
              </a:rPr>
              <a:t>15%</a:t>
            </a:r>
            <a:endParaRPr/>
          </a:p>
        </p:txBody>
      </p:sp>
      <p:sp>
        <p:nvSpPr>
          <p:cNvPr id="912" name="Google Shape;912;p47"/>
          <p:cNvSpPr/>
          <p:nvPr/>
        </p:nvSpPr>
        <p:spPr>
          <a:xfrm>
            <a:off x="3434257" y="5257800"/>
            <a:ext cx="2547289" cy="731520"/>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13" name="Google Shape;913;p47"/>
          <p:cNvSpPr/>
          <p:nvPr/>
        </p:nvSpPr>
        <p:spPr>
          <a:xfrm>
            <a:off x="3434257" y="5257800"/>
            <a:ext cx="2547289" cy="50292"/>
          </a:xfrm>
          <a:prstGeom prst="rect">
            <a:avLst/>
          </a:prstGeom>
          <a:solidFill>
            <a:srgbClr val="C0392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14" name="Google Shape;914;p47"/>
          <p:cNvSpPr txBox="1"/>
          <p:nvPr/>
        </p:nvSpPr>
        <p:spPr>
          <a:xfrm>
            <a:off x="3639997" y="5440680"/>
            <a:ext cx="2135809" cy="2743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US" sz="1250">
                <a:solidFill>
                  <a:srgbClr val="0A2540"/>
                </a:solidFill>
                <a:latin typeface="Calibri"/>
                <a:ea typeface="Calibri"/>
                <a:cs typeface="Calibri"/>
                <a:sym typeface="Calibri"/>
              </a:rPr>
              <a:t>Phải tìm Supplier mới</a:t>
            </a:r>
            <a:endParaRPr/>
          </a:p>
        </p:txBody>
      </p:sp>
      <p:sp>
        <p:nvSpPr>
          <p:cNvPr id="915" name="Google Shape;915;p47"/>
          <p:cNvSpPr txBox="1"/>
          <p:nvPr/>
        </p:nvSpPr>
        <p:spPr>
          <a:xfrm>
            <a:off x="3639997" y="5669280"/>
            <a:ext cx="2135809"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200">
                <a:solidFill>
                  <a:srgbClr val="C0392B"/>
                </a:solidFill>
                <a:latin typeface="Calibri"/>
                <a:ea typeface="Calibri"/>
                <a:cs typeface="Calibri"/>
                <a:sym typeface="Calibri"/>
              </a:rPr>
              <a:t>20%</a:t>
            </a:r>
            <a:endParaRPr/>
          </a:p>
        </p:txBody>
      </p:sp>
      <p:sp>
        <p:nvSpPr>
          <p:cNvPr id="916" name="Google Shape;916;p47"/>
          <p:cNvSpPr/>
          <p:nvPr/>
        </p:nvSpPr>
        <p:spPr>
          <a:xfrm>
            <a:off x="6210146" y="5257800"/>
            <a:ext cx="2547289" cy="731520"/>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17" name="Google Shape;917;p47"/>
          <p:cNvSpPr/>
          <p:nvPr/>
        </p:nvSpPr>
        <p:spPr>
          <a:xfrm>
            <a:off x="6210146" y="5257800"/>
            <a:ext cx="2547289" cy="50292"/>
          </a:xfrm>
          <a:prstGeom prst="rect">
            <a:avLst/>
          </a:prstGeom>
          <a:solidFill>
            <a:srgbClr val="C0392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18" name="Google Shape;918;p47"/>
          <p:cNvSpPr txBox="1"/>
          <p:nvPr/>
        </p:nvSpPr>
        <p:spPr>
          <a:xfrm>
            <a:off x="6415886" y="5440680"/>
            <a:ext cx="2135809" cy="2743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US" sz="1250">
                <a:solidFill>
                  <a:srgbClr val="0A2540"/>
                </a:solidFill>
                <a:latin typeface="Calibri"/>
                <a:ea typeface="Calibri"/>
                <a:cs typeface="Calibri"/>
                <a:sym typeface="Calibri"/>
              </a:rPr>
              <a:t>Hàng hóa sai lệch với PO</a:t>
            </a:r>
            <a:endParaRPr/>
          </a:p>
        </p:txBody>
      </p:sp>
      <p:sp>
        <p:nvSpPr>
          <p:cNvPr id="919" name="Google Shape;919;p47"/>
          <p:cNvSpPr txBox="1"/>
          <p:nvPr/>
        </p:nvSpPr>
        <p:spPr>
          <a:xfrm>
            <a:off x="6415886" y="5669280"/>
            <a:ext cx="2135809"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200">
                <a:solidFill>
                  <a:srgbClr val="C0392B"/>
                </a:solidFill>
                <a:latin typeface="Calibri"/>
                <a:ea typeface="Calibri"/>
                <a:cs typeface="Calibri"/>
                <a:sym typeface="Calibri"/>
              </a:rPr>
              <a:t>5%</a:t>
            </a:r>
            <a:endParaRPr/>
          </a:p>
        </p:txBody>
      </p:sp>
      <p:sp>
        <p:nvSpPr>
          <p:cNvPr id="920" name="Google Shape;920;p47"/>
          <p:cNvSpPr/>
          <p:nvPr/>
        </p:nvSpPr>
        <p:spPr>
          <a:xfrm>
            <a:off x="8986035" y="5257800"/>
            <a:ext cx="2547289" cy="731520"/>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21" name="Google Shape;921;p47"/>
          <p:cNvSpPr/>
          <p:nvPr/>
        </p:nvSpPr>
        <p:spPr>
          <a:xfrm>
            <a:off x="8986035" y="5257800"/>
            <a:ext cx="2547289" cy="50292"/>
          </a:xfrm>
          <a:prstGeom prst="rect">
            <a:avLst/>
          </a:prstGeom>
          <a:solidFill>
            <a:srgbClr val="C0392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22" name="Google Shape;922;p47"/>
          <p:cNvSpPr txBox="1"/>
          <p:nvPr/>
        </p:nvSpPr>
        <p:spPr>
          <a:xfrm>
            <a:off x="9191775" y="5440680"/>
            <a:ext cx="2135809" cy="2743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US" sz="1250">
                <a:solidFill>
                  <a:srgbClr val="0A2540"/>
                </a:solidFill>
                <a:latin typeface="Calibri"/>
                <a:ea typeface="Calibri"/>
                <a:cs typeface="Calibri"/>
                <a:sym typeface="Calibri"/>
              </a:rPr>
              <a:t>Hóa đơn cần chỉnh sửa</a:t>
            </a:r>
            <a:endParaRPr/>
          </a:p>
        </p:txBody>
      </p:sp>
      <p:sp>
        <p:nvSpPr>
          <p:cNvPr id="923" name="Google Shape;923;p47"/>
          <p:cNvSpPr txBox="1"/>
          <p:nvPr/>
        </p:nvSpPr>
        <p:spPr>
          <a:xfrm>
            <a:off x="9191775" y="5669280"/>
            <a:ext cx="2135809"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200">
                <a:solidFill>
                  <a:srgbClr val="C0392B"/>
                </a:solidFill>
                <a:latin typeface="Calibri"/>
                <a:ea typeface="Calibri"/>
                <a:cs typeface="Calibri"/>
                <a:sym typeface="Calibri"/>
              </a:rPr>
              <a:t>5%</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7" name="Shape 927"/>
        <p:cNvGrpSpPr/>
        <p:nvPr/>
      </p:nvGrpSpPr>
      <p:grpSpPr>
        <a:xfrm>
          <a:off x="0" y="0"/>
          <a:ext cx="0" cy="0"/>
          <a:chOff x="0" y="0"/>
          <a:chExt cx="0" cy="0"/>
        </a:xfrm>
      </p:grpSpPr>
      <p:sp>
        <p:nvSpPr>
          <p:cNvPr id="928" name="Google Shape;928;p48"/>
          <p:cNvSpPr txBox="1"/>
          <p:nvPr/>
        </p:nvSpPr>
        <p:spPr>
          <a:xfrm>
            <a:off x="658368" y="384048"/>
            <a:ext cx="10874959"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050">
                <a:solidFill>
                  <a:srgbClr val="0096D6"/>
                </a:solidFill>
                <a:latin typeface="Calibri"/>
                <a:ea typeface="Calibri"/>
                <a:cs typeface="Calibri"/>
                <a:sym typeface="Calibri"/>
              </a:rPr>
              <a:t>CHƯƠNG 4 · 4.3.2A PHÂN TÍCH GIÁ TRỊ GIA TĂNG</a:t>
            </a:r>
            <a:endParaRPr/>
          </a:p>
        </p:txBody>
      </p:sp>
      <p:sp>
        <p:nvSpPr>
          <p:cNvPr id="929" name="Google Shape;929;p48"/>
          <p:cNvSpPr txBox="1"/>
          <p:nvPr/>
        </p:nvSpPr>
        <p:spPr>
          <a:xfrm>
            <a:off x="658368" y="640080"/>
            <a:ext cx="10874959" cy="60350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US" sz="2500">
                <a:solidFill>
                  <a:srgbClr val="0A2540"/>
                </a:solidFill>
                <a:latin typeface="Calibri"/>
                <a:ea typeface="Calibri"/>
                <a:cs typeface="Calibri"/>
                <a:sym typeface="Calibri"/>
              </a:rPr>
              <a:t>PHÂN LOẠI VA – BVA – NVA CỦA PROCUREMENT MANAGEMENT</a:t>
            </a:r>
            <a:endParaRPr/>
          </a:p>
        </p:txBody>
      </p:sp>
      <p:sp>
        <p:nvSpPr>
          <p:cNvPr id="930" name="Google Shape;930;p48"/>
          <p:cNvSpPr/>
          <p:nvPr/>
        </p:nvSpPr>
        <p:spPr>
          <a:xfrm>
            <a:off x="658368" y="1280160"/>
            <a:ext cx="566928" cy="41148"/>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31" name="Google Shape;931;p48"/>
          <p:cNvSpPr/>
          <p:nvPr/>
        </p:nvSpPr>
        <p:spPr>
          <a:xfrm>
            <a:off x="1298448" y="1280160"/>
            <a:ext cx="10234879" cy="41148"/>
          </a:xfrm>
          <a:prstGeom prst="rect">
            <a:avLst/>
          </a:prstGeom>
          <a:solidFill>
            <a:srgbClr val="DFE4E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32" name="Google Shape;932;p48"/>
          <p:cNvSpPr txBox="1"/>
          <p:nvPr/>
        </p:nvSpPr>
        <p:spPr>
          <a:xfrm>
            <a:off x="658368" y="1371600"/>
            <a:ext cx="10874959"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1" lang="en-US" sz="1100">
                <a:solidFill>
                  <a:srgbClr val="6B7784"/>
                </a:solidFill>
                <a:latin typeface="Calibri"/>
                <a:ea typeface="Calibri"/>
                <a:cs typeface="Calibri"/>
                <a:sym typeface="Calibri"/>
              </a:rPr>
              <a:t>Bảng 4.8 — 20 hoạt động chính của 06 đối tượng tham gia</a:t>
            </a:r>
            <a:endParaRPr/>
          </a:p>
        </p:txBody>
      </p:sp>
      <p:sp>
        <p:nvSpPr>
          <p:cNvPr id="933" name="Google Shape;933;p48"/>
          <p:cNvSpPr txBox="1"/>
          <p:nvPr/>
        </p:nvSpPr>
        <p:spPr>
          <a:xfrm>
            <a:off x="658368" y="6355080"/>
            <a:ext cx="10326319"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850">
                <a:solidFill>
                  <a:srgbClr val="6B7784"/>
                </a:solidFill>
                <a:latin typeface="Calibri"/>
                <a:ea typeface="Calibri"/>
                <a:cs typeface="Calibri"/>
                <a:sym typeface="Calibri"/>
              </a:rPr>
              <a:t>SOLVENTUM VIỆT NAM  ·  HỆ THỐNG QUẢN TRỊ QUY TRÌNH NGHIỆP VỤ</a:t>
            </a:r>
            <a:endParaRPr/>
          </a:p>
        </p:txBody>
      </p:sp>
      <p:sp>
        <p:nvSpPr>
          <p:cNvPr id="934" name="Google Shape;934;p48"/>
          <p:cNvSpPr txBox="1"/>
          <p:nvPr/>
        </p:nvSpPr>
        <p:spPr>
          <a:xfrm>
            <a:off x="10984687" y="6355080"/>
            <a:ext cx="548640" cy="2286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1" i="0" lang="en-US" sz="950">
                <a:solidFill>
                  <a:srgbClr val="0096D6"/>
                </a:solidFill>
                <a:latin typeface="Calibri"/>
                <a:ea typeface="Calibri"/>
                <a:cs typeface="Calibri"/>
                <a:sym typeface="Calibri"/>
              </a:rPr>
              <a:t>36</a:t>
            </a:r>
            <a:endParaRPr/>
          </a:p>
        </p:txBody>
      </p:sp>
      <p:sp>
        <p:nvSpPr>
          <p:cNvPr id="935" name="Google Shape;935;p48"/>
          <p:cNvSpPr/>
          <p:nvPr/>
        </p:nvSpPr>
        <p:spPr>
          <a:xfrm>
            <a:off x="658368" y="1737360"/>
            <a:ext cx="3472586" cy="1554480"/>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36" name="Google Shape;936;p48"/>
          <p:cNvSpPr/>
          <p:nvPr/>
        </p:nvSpPr>
        <p:spPr>
          <a:xfrm>
            <a:off x="658368" y="1737360"/>
            <a:ext cx="3472586" cy="50292"/>
          </a:xfrm>
          <a:prstGeom prst="rect">
            <a:avLst/>
          </a:prstGeom>
          <a:solidFill>
            <a:srgbClr val="00C2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37" name="Google Shape;937;p48"/>
          <p:cNvSpPr txBox="1"/>
          <p:nvPr/>
        </p:nvSpPr>
        <p:spPr>
          <a:xfrm>
            <a:off x="886968" y="1874520"/>
            <a:ext cx="3015386" cy="3886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600">
                <a:solidFill>
                  <a:srgbClr val="00C2A8"/>
                </a:solidFill>
                <a:latin typeface="Calibri"/>
                <a:ea typeface="Calibri"/>
                <a:cs typeface="Calibri"/>
                <a:sym typeface="Calibri"/>
              </a:rPr>
              <a:t>02</a:t>
            </a:r>
            <a:endParaRPr/>
          </a:p>
        </p:txBody>
      </p:sp>
      <p:sp>
        <p:nvSpPr>
          <p:cNvPr id="938" name="Google Shape;938;p48"/>
          <p:cNvSpPr txBox="1"/>
          <p:nvPr/>
        </p:nvSpPr>
        <p:spPr>
          <a:xfrm>
            <a:off x="886968" y="2263140"/>
            <a:ext cx="3015386" cy="2057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200">
                <a:solidFill>
                  <a:srgbClr val="0A2540"/>
                </a:solidFill>
                <a:latin typeface="Calibri"/>
                <a:ea typeface="Calibri"/>
                <a:cs typeface="Calibri"/>
                <a:sym typeface="Calibri"/>
              </a:rPr>
              <a:t>HOẠT ĐỘNG VA</a:t>
            </a:r>
            <a:endParaRPr/>
          </a:p>
        </p:txBody>
      </p:sp>
      <p:sp>
        <p:nvSpPr>
          <p:cNvPr id="939" name="Google Shape;939;p48"/>
          <p:cNvSpPr txBox="1"/>
          <p:nvPr/>
        </p:nvSpPr>
        <p:spPr>
          <a:xfrm>
            <a:off x="886968" y="2491740"/>
            <a:ext cx="3015386" cy="70866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0" i="0" lang="en-US" sz="1200">
                <a:solidFill>
                  <a:srgbClr val="6B7784"/>
                </a:solidFill>
                <a:latin typeface="Calibri"/>
                <a:ea typeface="Calibri"/>
                <a:cs typeface="Calibri"/>
                <a:sym typeface="Calibri"/>
              </a:rPr>
              <a:t>Chỉ 02 hoạt động trực tiếp tạo giá trị: Supplier cung cấp hàng theo PO và Warehouse tiếp nhận, kiểm tra hàng.</a:t>
            </a:r>
            <a:endParaRPr/>
          </a:p>
        </p:txBody>
      </p:sp>
      <p:sp>
        <p:nvSpPr>
          <p:cNvPr id="940" name="Google Shape;940;p48"/>
          <p:cNvSpPr/>
          <p:nvPr/>
        </p:nvSpPr>
        <p:spPr>
          <a:xfrm>
            <a:off x="4359554" y="1737360"/>
            <a:ext cx="3472586" cy="1554480"/>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41" name="Google Shape;941;p48"/>
          <p:cNvSpPr/>
          <p:nvPr/>
        </p:nvSpPr>
        <p:spPr>
          <a:xfrm>
            <a:off x="4359554" y="1737360"/>
            <a:ext cx="3472586" cy="50292"/>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42" name="Google Shape;942;p48"/>
          <p:cNvSpPr txBox="1"/>
          <p:nvPr/>
        </p:nvSpPr>
        <p:spPr>
          <a:xfrm>
            <a:off x="4588154" y="1874520"/>
            <a:ext cx="3015386" cy="3886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600">
                <a:solidFill>
                  <a:srgbClr val="0096D6"/>
                </a:solidFill>
                <a:latin typeface="Calibri"/>
                <a:ea typeface="Calibri"/>
                <a:cs typeface="Calibri"/>
                <a:sym typeface="Calibri"/>
              </a:rPr>
              <a:t>12</a:t>
            </a:r>
            <a:endParaRPr/>
          </a:p>
        </p:txBody>
      </p:sp>
      <p:sp>
        <p:nvSpPr>
          <p:cNvPr id="943" name="Google Shape;943;p48"/>
          <p:cNvSpPr txBox="1"/>
          <p:nvPr/>
        </p:nvSpPr>
        <p:spPr>
          <a:xfrm>
            <a:off x="4588154" y="2263140"/>
            <a:ext cx="3015386" cy="2057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200">
                <a:solidFill>
                  <a:srgbClr val="0A2540"/>
                </a:solidFill>
                <a:latin typeface="Calibri"/>
                <a:ea typeface="Calibri"/>
                <a:cs typeface="Calibri"/>
                <a:sym typeface="Calibri"/>
              </a:rPr>
              <a:t>HOẠT ĐỘNG BVA</a:t>
            </a:r>
            <a:endParaRPr/>
          </a:p>
        </p:txBody>
      </p:sp>
      <p:sp>
        <p:nvSpPr>
          <p:cNvPr id="944" name="Google Shape;944;p48"/>
          <p:cNvSpPr txBox="1"/>
          <p:nvPr/>
        </p:nvSpPr>
        <p:spPr>
          <a:xfrm>
            <a:off x="4588154" y="2491740"/>
            <a:ext cx="3015386" cy="70866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0" i="0" lang="en-US" sz="1200">
                <a:solidFill>
                  <a:srgbClr val="6B7784"/>
                </a:solidFill>
                <a:latin typeface="Calibri"/>
                <a:ea typeface="Calibri"/>
                <a:cs typeface="Calibri"/>
                <a:sym typeface="Calibri"/>
              </a:rPr>
              <a:t>Phê duyệt, kiểm soát nguồn cung, quản lý PO, đối chiếu, ghi nhận GR, kiểm tra hóa đơn và thanh toán.</a:t>
            </a:r>
            <a:endParaRPr/>
          </a:p>
        </p:txBody>
      </p:sp>
      <p:sp>
        <p:nvSpPr>
          <p:cNvPr id="945" name="Google Shape;945;p48"/>
          <p:cNvSpPr/>
          <p:nvPr/>
        </p:nvSpPr>
        <p:spPr>
          <a:xfrm>
            <a:off x="8060740" y="1737360"/>
            <a:ext cx="3472586" cy="1554480"/>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46" name="Google Shape;946;p48"/>
          <p:cNvSpPr/>
          <p:nvPr/>
        </p:nvSpPr>
        <p:spPr>
          <a:xfrm>
            <a:off x="8060740" y="1737360"/>
            <a:ext cx="3472586" cy="50292"/>
          </a:xfrm>
          <a:prstGeom prst="rect">
            <a:avLst/>
          </a:prstGeom>
          <a:solidFill>
            <a:srgbClr val="C0392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47" name="Google Shape;947;p48"/>
          <p:cNvSpPr txBox="1"/>
          <p:nvPr/>
        </p:nvSpPr>
        <p:spPr>
          <a:xfrm>
            <a:off x="8289340" y="1874520"/>
            <a:ext cx="3015386" cy="3886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600">
                <a:solidFill>
                  <a:srgbClr val="C0392B"/>
                </a:solidFill>
                <a:latin typeface="Calibri"/>
                <a:ea typeface="Calibri"/>
                <a:cs typeface="Calibri"/>
                <a:sym typeface="Calibri"/>
              </a:rPr>
              <a:t>06</a:t>
            </a:r>
            <a:endParaRPr/>
          </a:p>
        </p:txBody>
      </p:sp>
      <p:sp>
        <p:nvSpPr>
          <p:cNvPr id="948" name="Google Shape;948;p48"/>
          <p:cNvSpPr txBox="1"/>
          <p:nvPr/>
        </p:nvSpPr>
        <p:spPr>
          <a:xfrm>
            <a:off x="8289340" y="2263140"/>
            <a:ext cx="3015386" cy="2057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200">
                <a:solidFill>
                  <a:srgbClr val="0A2540"/>
                </a:solidFill>
                <a:latin typeface="Calibri"/>
                <a:ea typeface="Calibri"/>
                <a:cs typeface="Calibri"/>
                <a:sym typeface="Calibri"/>
              </a:rPr>
              <a:t>HOẠT ĐỘNG NVA</a:t>
            </a:r>
            <a:endParaRPr/>
          </a:p>
        </p:txBody>
      </p:sp>
      <p:sp>
        <p:nvSpPr>
          <p:cNvPr id="949" name="Google Shape;949;p48"/>
          <p:cNvSpPr txBox="1"/>
          <p:nvPr/>
        </p:nvSpPr>
        <p:spPr>
          <a:xfrm>
            <a:off x="8289340" y="2491740"/>
            <a:ext cx="3015386" cy="70866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0" i="0" lang="en-US" sz="1200">
                <a:solidFill>
                  <a:srgbClr val="6B7784"/>
                </a:solidFill>
                <a:latin typeface="Calibri"/>
                <a:ea typeface="Calibri"/>
                <a:cs typeface="Calibri"/>
                <a:sym typeface="Calibri"/>
              </a:rPr>
              <a:t>Tỷ trọng NVA cao gấp ba lần VA — toàn bộ đến từ các vòng bổ sung, điều chỉnh PR, hàng hóa và hóa đơn.</a:t>
            </a:r>
            <a:endParaRPr/>
          </a:p>
        </p:txBody>
      </p:sp>
      <p:sp>
        <p:nvSpPr>
          <p:cNvPr id="950" name="Google Shape;950;p48"/>
          <p:cNvSpPr txBox="1"/>
          <p:nvPr/>
        </p:nvSpPr>
        <p:spPr>
          <a:xfrm>
            <a:off x="658368" y="3474720"/>
            <a:ext cx="5323459"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200">
                <a:solidFill>
                  <a:srgbClr val="00C2A8"/>
                </a:solidFill>
                <a:latin typeface="Calibri"/>
                <a:ea typeface="Calibri"/>
                <a:cs typeface="Calibri"/>
                <a:sym typeface="Calibri"/>
              </a:rPr>
              <a:t>02 HOẠT ĐỘNG VA</a:t>
            </a:r>
            <a:endParaRPr/>
          </a:p>
        </p:txBody>
      </p:sp>
      <p:sp>
        <p:nvSpPr>
          <p:cNvPr id="951" name="Google Shape;951;p48"/>
          <p:cNvSpPr txBox="1"/>
          <p:nvPr/>
        </p:nvSpPr>
        <p:spPr>
          <a:xfrm>
            <a:off x="658368" y="3776980"/>
            <a:ext cx="5323459" cy="155448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0" i="0" lang="en-US" sz="1300">
                <a:solidFill>
                  <a:srgbClr val="6B7784"/>
                </a:solidFill>
                <a:latin typeface="Calibri"/>
                <a:ea typeface="Calibri"/>
                <a:cs typeface="Calibri"/>
                <a:sym typeface="Calibri"/>
              </a:rPr>
              <a:t>•  Cung cấp hàng hóa theo PO  (Supplier)</a:t>
            </a:r>
            <a:endParaRPr/>
          </a:p>
          <a:p>
            <a:pPr indent="0" lvl="0" marL="0" marR="0" rtl="0" algn="l">
              <a:lnSpc>
                <a:spcPct val="115000"/>
              </a:lnSpc>
              <a:spcBef>
                <a:spcPts val="400"/>
              </a:spcBef>
              <a:spcAft>
                <a:spcPts val="0"/>
              </a:spcAft>
              <a:buNone/>
            </a:pPr>
            <a:r>
              <a:rPr b="0" i="0" lang="en-US" sz="1300">
                <a:solidFill>
                  <a:srgbClr val="6B7784"/>
                </a:solidFill>
                <a:latin typeface="Calibri"/>
                <a:ea typeface="Calibri"/>
                <a:cs typeface="Calibri"/>
                <a:sym typeface="Calibri"/>
              </a:rPr>
              <a:t>•  Tiếp nhận hàng hóa và kiểm tra chất lượng, số lượng  (Warehouse)</a:t>
            </a:r>
            <a:endParaRPr/>
          </a:p>
        </p:txBody>
      </p:sp>
      <p:sp>
        <p:nvSpPr>
          <p:cNvPr id="952" name="Google Shape;952;p48"/>
          <p:cNvSpPr txBox="1"/>
          <p:nvPr/>
        </p:nvSpPr>
        <p:spPr>
          <a:xfrm>
            <a:off x="6209868" y="3474720"/>
            <a:ext cx="5323459"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200">
                <a:solidFill>
                  <a:srgbClr val="C0392B"/>
                </a:solidFill>
                <a:latin typeface="Calibri"/>
                <a:ea typeface="Calibri"/>
                <a:cs typeface="Calibri"/>
                <a:sym typeface="Calibri"/>
              </a:rPr>
              <a:t>06 HOẠT ĐỘNG NVA</a:t>
            </a:r>
            <a:endParaRPr/>
          </a:p>
        </p:txBody>
      </p:sp>
      <p:sp>
        <p:nvSpPr>
          <p:cNvPr id="953" name="Google Shape;953;p48"/>
          <p:cNvSpPr txBox="1"/>
          <p:nvPr/>
        </p:nvSpPr>
        <p:spPr>
          <a:xfrm>
            <a:off x="6209868" y="3776980"/>
            <a:ext cx="5323459" cy="155448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0" i="0" lang="en-US" sz="1250">
                <a:solidFill>
                  <a:srgbClr val="6B7784"/>
                </a:solidFill>
                <a:latin typeface="Calibri"/>
                <a:ea typeface="Calibri"/>
                <a:cs typeface="Calibri"/>
                <a:sym typeface="Calibri"/>
              </a:rPr>
              <a:t>•  Bổ sung thông tin mua hàng  (Requester)</a:t>
            </a:r>
            <a:endParaRPr/>
          </a:p>
          <a:p>
            <a:pPr indent="0" lvl="0" marL="0" marR="0" rtl="0" algn="l">
              <a:lnSpc>
                <a:spcPct val="115000"/>
              </a:lnSpc>
              <a:spcBef>
                <a:spcPts val="400"/>
              </a:spcBef>
              <a:spcAft>
                <a:spcPts val="0"/>
              </a:spcAft>
              <a:buNone/>
            </a:pPr>
            <a:r>
              <a:rPr b="0" i="0" lang="en-US" sz="1250">
                <a:solidFill>
                  <a:srgbClr val="6B7784"/>
                </a:solidFill>
                <a:latin typeface="Calibri"/>
                <a:ea typeface="Calibri"/>
                <a:cs typeface="Calibri"/>
                <a:sym typeface="Calibri"/>
              </a:rPr>
              <a:t>•  Yêu cầu bổ sung / chỉnh sửa yêu cầu mua hàng  (Approver)</a:t>
            </a:r>
            <a:endParaRPr/>
          </a:p>
          <a:p>
            <a:pPr indent="0" lvl="0" marL="0" marR="0" rtl="0" algn="l">
              <a:lnSpc>
                <a:spcPct val="115000"/>
              </a:lnSpc>
              <a:spcBef>
                <a:spcPts val="400"/>
              </a:spcBef>
              <a:spcAft>
                <a:spcPts val="0"/>
              </a:spcAft>
              <a:buNone/>
            </a:pPr>
            <a:r>
              <a:rPr b="0" i="0" lang="en-US" sz="1250">
                <a:solidFill>
                  <a:srgbClr val="6B7784"/>
                </a:solidFill>
                <a:latin typeface="Calibri"/>
                <a:ea typeface="Calibri"/>
                <a:cs typeface="Calibri"/>
                <a:sym typeface="Calibri"/>
              </a:rPr>
              <a:t>•  Ghi nhận sai lệch và yêu cầu điều chỉnh hàng hóa  (Warehouse)</a:t>
            </a:r>
            <a:endParaRPr/>
          </a:p>
          <a:p>
            <a:pPr indent="0" lvl="0" marL="0" marR="0" rtl="0" algn="l">
              <a:lnSpc>
                <a:spcPct val="115000"/>
              </a:lnSpc>
              <a:spcBef>
                <a:spcPts val="400"/>
              </a:spcBef>
              <a:spcAft>
                <a:spcPts val="0"/>
              </a:spcAft>
              <a:buNone/>
            </a:pPr>
            <a:r>
              <a:rPr b="0" i="0" lang="en-US" sz="1250">
                <a:solidFill>
                  <a:srgbClr val="6B7784"/>
                </a:solidFill>
                <a:latin typeface="Calibri"/>
                <a:ea typeface="Calibri"/>
                <a:cs typeface="Calibri"/>
                <a:sym typeface="Calibri"/>
              </a:rPr>
              <a:t>•  Kiểm tra &amp; điều chỉnh hàng hóa  (Supplier)</a:t>
            </a:r>
            <a:endParaRPr/>
          </a:p>
          <a:p>
            <a:pPr indent="0" lvl="0" marL="0" marR="0" rtl="0" algn="l">
              <a:lnSpc>
                <a:spcPct val="115000"/>
              </a:lnSpc>
              <a:spcBef>
                <a:spcPts val="400"/>
              </a:spcBef>
              <a:spcAft>
                <a:spcPts val="0"/>
              </a:spcAft>
              <a:buNone/>
            </a:pPr>
            <a:r>
              <a:rPr b="0" i="0" lang="en-US" sz="1250">
                <a:solidFill>
                  <a:srgbClr val="6B7784"/>
                </a:solidFill>
                <a:latin typeface="Calibri"/>
                <a:ea typeface="Calibri"/>
                <a:cs typeface="Calibri"/>
                <a:sym typeface="Calibri"/>
              </a:rPr>
              <a:t>•  Yêu cầu NCC chỉnh sửa hóa đơn  (Finance / AP)  ·  Chỉnh sửa hóa đơn  (Supplier)</a:t>
            </a:r>
            <a:endParaRPr/>
          </a:p>
        </p:txBody>
      </p:sp>
      <p:sp>
        <p:nvSpPr>
          <p:cNvPr id="954" name="Google Shape;954;p48"/>
          <p:cNvSpPr/>
          <p:nvPr/>
        </p:nvSpPr>
        <p:spPr>
          <a:xfrm>
            <a:off x="658368" y="5486400"/>
            <a:ext cx="10874959" cy="594360"/>
          </a:xfrm>
          <a:prstGeom prst="rect">
            <a:avLst/>
          </a:prstGeom>
          <a:solidFill>
            <a:srgbClr val="FBEDEC"/>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55" name="Google Shape;955;p48"/>
          <p:cNvSpPr/>
          <p:nvPr/>
        </p:nvSpPr>
        <p:spPr>
          <a:xfrm>
            <a:off x="658368" y="5486400"/>
            <a:ext cx="50292" cy="594360"/>
          </a:xfrm>
          <a:prstGeom prst="rect">
            <a:avLst/>
          </a:prstGeom>
          <a:solidFill>
            <a:srgbClr val="C0392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56" name="Google Shape;956;p48"/>
          <p:cNvSpPr txBox="1"/>
          <p:nvPr/>
        </p:nvSpPr>
        <p:spPr>
          <a:xfrm>
            <a:off x="864108" y="5600700"/>
            <a:ext cx="10463479" cy="36576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None/>
            </a:pPr>
            <a:r>
              <a:rPr b="0" i="0" lang="en-US" sz="1100">
                <a:solidFill>
                  <a:srgbClr val="0A2540"/>
                </a:solidFill>
                <a:latin typeface="Calibri"/>
                <a:ea typeface="Calibri"/>
                <a:cs typeface="Calibri"/>
                <a:sym typeface="Calibri"/>
              </a:rPr>
              <a:t>So sánh với Service Order Management (08 VA / 23 BVA / 04 NVA): Procurement có tỷ trọng VA thấp hơn nhiều vì bản chất là quy trình kiểm soát và đối chiếu chứng từ. Cải tiến vì vậy phải nhắm vào việc loại bỏ nguyên nhân gây ra 06 hoạt động NVA, không phải cắt bớt hoạt động BVA.</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0" name="Shape 960"/>
        <p:cNvGrpSpPr/>
        <p:nvPr/>
      </p:nvGrpSpPr>
      <p:grpSpPr>
        <a:xfrm>
          <a:off x="0" y="0"/>
          <a:ext cx="0" cy="0"/>
          <a:chOff x="0" y="0"/>
          <a:chExt cx="0" cy="0"/>
        </a:xfrm>
      </p:grpSpPr>
      <p:sp>
        <p:nvSpPr>
          <p:cNvPr id="961" name="Google Shape;961;p49"/>
          <p:cNvSpPr txBox="1"/>
          <p:nvPr/>
        </p:nvSpPr>
        <p:spPr>
          <a:xfrm>
            <a:off x="658368" y="384048"/>
            <a:ext cx="10874959"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050">
                <a:solidFill>
                  <a:srgbClr val="0096D6"/>
                </a:solidFill>
                <a:latin typeface="Calibri"/>
                <a:ea typeface="Calibri"/>
                <a:cs typeface="Calibri"/>
                <a:sym typeface="Calibri"/>
              </a:rPr>
              <a:t>CHƯƠNG 4 · 4.3.2B PHÂN TÍCH SỰ LÃNG PHÍ</a:t>
            </a:r>
            <a:endParaRPr/>
          </a:p>
        </p:txBody>
      </p:sp>
      <p:sp>
        <p:nvSpPr>
          <p:cNvPr id="962" name="Google Shape;962;p49"/>
          <p:cNvSpPr txBox="1"/>
          <p:nvPr/>
        </p:nvSpPr>
        <p:spPr>
          <a:xfrm>
            <a:off x="658368" y="640080"/>
            <a:ext cx="10874959" cy="60350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US" sz="2500">
                <a:solidFill>
                  <a:srgbClr val="0A2540"/>
                </a:solidFill>
                <a:latin typeface="Calibri"/>
                <a:ea typeface="Calibri"/>
                <a:cs typeface="Calibri"/>
                <a:sym typeface="Calibri"/>
              </a:rPr>
              <a:t>LÃNG PHÍ MOVE – HOLD – OVERDO CỦA PROCUREMENT MANAGEMENT</a:t>
            </a:r>
            <a:endParaRPr/>
          </a:p>
        </p:txBody>
      </p:sp>
      <p:sp>
        <p:nvSpPr>
          <p:cNvPr id="963" name="Google Shape;963;p49"/>
          <p:cNvSpPr/>
          <p:nvPr/>
        </p:nvSpPr>
        <p:spPr>
          <a:xfrm>
            <a:off x="658368" y="1280160"/>
            <a:ext cx="566928" cy="41148"/>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64" name="Google Shape;964;p49"/>
          <p:cNvSpPr/>
          <p:nvPr/>
        </p:nvSpPr>
        <p:spPr>
          <a:xfrm>
            <a:off x="1298448" y="1280160"/>
            <a:ext cx="10234879" cy="41148"/>
          </a:xfrm>
          <a:prstGeom prst="rect">
            <a:avLst/>
          </a:prstGeom>
          <a:solidFill>
            <a:srgbClr val="DFE4E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65" name="Google Shape;965;p49"/>
          <p:cNvSpPr txBox="1"/>
          <p:nvPr/>
        </p:nvSpPr>
        <p:spPr>
          <a:xfrm>
            <a:off x="658368" y="1371600"/>
            <a:ext cx="10874959"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1" lang="en-US" sz="1100">
                <a:solidFill>
                  <a:srgbClr val="6B7784"/>
                </a:solidFill>
                <a:latin typeface="Calibri"/>
                <a:ea typeface="Calibri"/>
                <a:cs typeface="Calibri"/>
                <a:sym typeface="Calibri"/>
              </a:rPr>
              <a:t>Bảng 4.9 — 15 điểm phát sinh lãng phí trên chu trình Source-to-Pay, gom theo loại</a:t>
            </a:r>
            <a:endParaRPr/>
          </a:p>
        </p:txBody>
      </p:sp>
      <p:sp>
        <p:nvSpPr>
          <p:cNvPr id="966" name="Google Shape;966;p49"/>
          <p:cNvSpPr txBox="1"/>
          <p:nvPr/>
        </p:nvSpPr>
        <p:spPr>
          <a:xfrm>
            <a:off x="658368" y="6355080"/>
            <a:ext cx="10326319"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850">
                <a:solidFill>
                  <a:srgbClr val="6B7784"/>
                </a:solidFill>
                <a:latin typeface="Calibri"/>
                <a:ea typeface="Calibri"/>
                <a:cs typeface="Calibri"/>
                <a:sym typeface="Calibri"/>
              </a:rPr>
              <a:t>SOLVENTUM VIỆT NAM  ·  HỆ THỐNG QUẢN TRỊ QUY TRÌNH NGHIỆP VỤ</a:t>
            </a:r>
            <a:endParaRPr/>
          </a:p>
        </p:txBody>
      </p:sp>
      <p:sp>
        <p:nvSpPr>
          <p:cNvPr id="967" name="Google Shape;967;p49"/>
          <p:cNvSpPr txBox="1"/>
          <p:nvPr/>
        </p:nvSpPr>
        <p:spPr>
          <a:xfrm>
            <a:off x="10984687" y="6355080"/>
            <a:ext cx="548640" cy="2286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1" i="0" lang="en-US" sz="950">
                <a:solidFill>
                  <a:srgbClr val="0096D6"/>
                </a:solidFill>
                <a:latin typeface="Calibri"/>
                <a:ea typeface="Calibri"/>
                <a:cs typeface="Calibri"/>
                <a:sym typeface="Calibri"/>
              </a:rPr>
              <a:t>37</a:t>
            </a:r>
            <a:endParaRPr/>
          </a:p>
        </p:txBody>
      </p:sp>
      <p:sp>
        <p:nvSpPr>
          <p:cNvPr id="968" name="Google Shape;968;p49"/>
          <p:cNvSpPr/>
          <p:nvPr/>
        </p:nvSpPr>
        <p:spPr>
          <a:xfrm>
            <a:off x="658368" y="1737360"/>
            <a:ext cx="3472586" cy="3200400"/>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69" name="Google Shape;969;p49"/>
          <p:cNvSpPr/>
          <p:nvPr/>
        </p:nvSpPr>
        <p:spPr>
          <a:xfrm>
            <a:off x="658368" y="1737360"/>
            <a:ext cx="3472586" cy="50292"/>
          </a:xfrm>
          <a:prstGeom prst="rect">
            <a:avLst/>
          </a:prstGeom>
          <a:solidFill>
            <a:srgbClr val="2E9E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70" name="Google Shape;970;p49"/>
          <p:cNvSpPr txBox="1"/>
          <p:nvPr/>
        </p:nvSpPr>
        <p:spPr>
          <a:xfrm>
            <a:off x="864108" y="1920240"/>
            <a:ext cx="306110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400">
                <a:solidFill>
                  <a:srgbClr val="2E9E5B"/>
                </a:solidFill>
                <a:latin typeface="Calibri"/>
                <a:ea typeface="Calibri"/>
                <a:cs typeface="Calibri"/>
                <a:sym typeface="Calibri"/>
              </a:rPr>
              <a:t>MOVE  ·  04 ĐIỂM</a:t>
            </a:r>
            <a:endParaRPr/>
          </a:p>
        </p:txBody>
      </p:sp>
      <p:sp>
        <p:nvSpPr>
          <p:cNvPr id="971" name="Google Shape;971;p49"/>
          <p:cNvSpPr txBox="1"/>
          <p:nvPr/>
        </p:nvSpPr>
        <p:spPr>
          <a:xfrm>
            <a:off x="864108" y="2240280"/>
            <a:ext cx="3061106" cy="2743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US" sz="1400">
                <a:solidFill>
                  <a:srgbClr val="0A2540"/>
                </a:solidFill>
                <a:latin typeface="Calibri"/>
                <a:ea typeface="Calibri"/>
                <a:cs typeface="Calibri"/>
                <a:sym typeface="Calibri"/>
              </a:rPr>
              <a:t>Chuyển giao chứng từ với Supplier</a:t>
            </a:r>
            <a:endParaRPr/>
          </a:p>
        </p:txBody>
      </p:sp>
      <p:sp>
        <p:nvSpPr>
          <p:cNvPr id="972" name="Google Shape;972;p49"/>
          <p:cNvSpPr txBox="1"/>
          <p:nvPr/>
        </p:nvSpPr>
        <p:spPr>
          <a:xfrm>
            <a:off x="864108" y="2606040"/>
            <a:ext cx="3061106" cy="219456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b="0" i="0" lang="en-US" sz="1400">
                <a:solidFill>
                  <a:srgbClr val="6B7784"/>
                </a:solidFill>
                <a:latin typeface="Calibri"/>
                <a:ea typeface="Calibri"/>
                <a:cs typeface="Calibri"/>
                <a:sym typeface="Calibri"/>
              </a:rPr>
              <a:t>Phát hành PO đến Supplier</a:t>
            </a:r>
            <a:endParaRPr/>
          </a:p>
          <a:p>
            <a:pPr indent="0" lvl="0" marL="0" marR="0" rtl="0" algn="l">
              <a:lnSpc>
                <a:spcPct val="112000"/>
              </a:lnSpc>
              <a:spcBef>
                <a:spcPts val="200"/>
              </a:spcBef>
              <a:spcAft>
                <a:spcPts val="0"/>
              </a:spcAft>
              <a:buNone/>
            </a:pPr>
            <a:r>
              <a:rPr b="0" i="0" lang="en-US" sz="1400">
                <a:solidFill>
                  <a:srgbClr val="6B7784"/>
                </a:solidFill>
                <a:latin typeface="Calibri"/>
                <a:ea typeface="Calibri"/>
                <a:cs typeface="Calibri"/>
                <a:sym typeface="Calibri"/>
              </a:rPr>
              <a:t>Chuyển thông tin Goods Receipt cho Supplier</a:t>
            </a:r>
            <a:endParaRPr/>
          </a:p>
          <a:p>
            <a:pPr indent="0" lvl="0" marL="0" marR="0" rtl="0" algn="l">
              <a:lnSpc>
                <a:spcPct val="112000"/>
              </a:lnSpc>
              <a:spcBef>
                <a:spcPts val="200"/>
              </a:spcBef>
              <a:spcAft>
                <a:spcPts val="0"/>
              </a:spcAft>
              <a:buNone/>
            </a:pPr>
            <a:r>
              <a:rPr b="0" i="0" lang="en-US" sz="1400">
                <a:solidFill>
                  <a:srgbClr val="6B7784"/>
                </a:solidFill>
                <a:latin typeface="Calibri"/>
                <a:ea typeface="Calibri"/>
                <a:cs typeface="Calibri"/>
                <a:sym typeface="Calibri"/>
              </a:rPr>
              <a:t>Hóa đơn chuyển đến Finance / AP</a:t>
            </a:r>
            <a:endParaRPr/>
          </a:p>
          <a:p>
            <a:pPr indent="0" lvl="0" marL="0" marR="0" rtl="0" algn="l">
              <a:lnSpc>
                <a:spcPct val="112000"/>
              </a:lnSpc>
              <a:spcBef>
                <a:spcPts val="200"/>
              </a:spcBef>
              <a:spcAft>
                <a:spcPts val="0"/>
              </a:spcAft>
              <a:buNone/>
            </a:pPr>
            <a:r>
              <a:rPr b="0" i="0" lang="en-US" sz="1400">
                <a:solidFill>
                  <a:srgbClr val="6B7784"/>
                </a:solidFill>
                <a:latin typeface="Calibri"/>
                <a:ea typeface="Calibri"/>
                <a:cs typeface="Calibri"/>
                <a:sym typeface="Calibri"/>
              </a:rPr>
              <a:t>Chuyển thông tin thanh toán cho Supplier</a:t>
            </a:r>
            <a:endParaRPr/>
          </a:p>
        </p:txBody>
      </p:sp>
      <p:sp>
        <p:nvSpPr>
          <p:cNvPr id="973" name="Google Shape;973;p49"/>
          <p:cNvSpPr/>
          <p:nvPr/>
        </p:nvSpPr>
        <p:spPr>
          <a:xfrm>
            <a:off x="4359554" y="1737360"/>
            <a:ext cx="3472586" cy="3200400"/>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74" name="Google Shape;974;p49"/>
          <p:cNvSpPr/>
          <p:nvPr/>
        </p:nvSpPr>
        <p:spPr>
          <a:xfrm>
            <a:off x="4359554" y="1737360"/>
            <a:ext cx="3472586" cy="50292"/>
          </a:xfrm>
          <a:prstGeom prst="rect">
            <a:avLst/>
          </a:prstGeom>
          <a:solidFill>
            <a:srgbClr val="C87F0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75" name="Google Shape;975;p49"/>
          <p:cNvSpPr txBox="1"/>
          <p:nvPr/>
        </p:nvSpPr>
        <p:spPr>
          <a:xfrm>
            <a:off x="4565294" y="1920240"/>
            <a:ext cx="306110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400">
                <a:solidFill>
                  <a:srgbClr val="C87F0A"/>
                </a:solidFill>
                <a:latin typeface="Calibri"/>
                <a:ea typeface="Calibri"/>
                <a:cs typeface="Calibri"/>
                <a:sym typeface="Calibri"/>
              </a:rPr>
              <a:t>HOLD  ·  05 ĐIỂM</a:t>
            </a:r>
            <a:endParaRPr/>
          </a:p>
        </p:txBody>
      </p:sp>
      <p:sp>
        <p:nvSpPr>
          <p:cNvPr id="976" name="Google Shape;976;p49"/>
          <p:cNvSpPr txBox="1"/>
          <p:nvPr/>
        </p:nvSpPr>
        <p:spPr>
          <a:xfrm>
            <a:off x="4565294" y="2240280"/>
            <a:ext cx="3061106" cy="2743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US" sz="1400">
                <a:solidFill>
                  <a:srgbClr val="0A2540"/>
                </a:solidFill>
                <a:latin typeface="Calibri"/>
                <a:ea typeface="Calibri"/>
                <a:cs typeface="Calibri"/>
                <a:sym typeface="Calibri"/>
              </a:rPr>
              <a:t>Chờ phê duyệt và chờ Supplier</a:t>
            </a:r>
            <a:endParaRPr/>
          </a:p>
        </p:txBody>
      </p:sp>
      <p:sp>
        <p:nvSpPr>
          <p:cNvPr id="977" name="Google Shape;977;p49"/>
          <p:cNvSpPr txBox="1"/>
          <p:nvPr/>
        </p:nvSpPr>
        <p:spPr>
          <a:xfrm>
            <a:off x="4565294" y="2606040"/>
            <a:ext cx="3061106" cy="219456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b="0" i="0" lang="en-US" sz="1400">
                <a:solidFill>
                  <a:srgbClr val="6B7784"/>
                </a:solidFill>
                <a:latin typeface="Calibri"/>
                <a:ea typeface="Calibri"/>
                <a:cs typeface="Calibri"/>
                <a:sym typeface="Calibri"/>
              </a:rPr>
              <a:t>Chờ xem xét và phê duyệt PR — 4 giờ</a:t>
            </a:r>
            <a:endParaRPr/>
          </a:p>
          <a:p>
            <a:pPr indent="0" lvl="0" marL="0" marR="0" rtl="0" algn="l">
              <a:lnSpc>
                <a:spcPct val="112000"/>
              </a:lnSpc>
              <a:spcBef>
                <a:spcPts val="200"/>
              </a:spcBef>
              <a:spcAft>
                <a:spcPts val="0"/>
              </a:spcAft>
              <a:buNone/>
            </a:pPr>
            <a:r>
              <a:rPr b="0" i="0" lang="en-US" sz="1400">
                <a:solidFill>
                  <a:srgbClr val="6B7784"/>
                </a:solidFill>
                <a:latin typeface="Calibri"/>
                <a:ea typeface="Calibri"/>
                <a:cs typeface="Calibri"/>
                <a:sym typeface="Calibri"/>
              </a:rPr>
              <a:t>Chờ tìm Supplier mới, chốt Quotation — 8 giờ</a:t>
            </a:r>
            <a:endParaRPr/>
          </a:p>
          <a:p>
            <a:pPr indent="0" lvl="0" marL="0" marR="0" rtl="0" algn="l">
              <a:lnSpc>
                <a:spcPct val="112000"/>
              </a:lnSpc>
              <a:spcBef>
                <a:spcPts val="200"/>
              </a:spcBef>
              <a:spcAft>
                <a:spcPts val="0"/>
              </a:spcAft>
              <a:buNone/>
            </a:pPr>
            <a:r>
              <a:rPr b="0" i="0" lang="en-US" sz="1400">
                <a:solidFill>
                  <a:srgbClr val="6B7784"/>
                </a:solidFill>
                <a:latin typeface="Calibri"/>
                <a:ea typeface="Calibri"/>
                <a:cs typeface="Calibri"/>
                <a:sym typeface="Calibri"/>
              </a:rPr>
              <a:t>Chờ quá trình cung ứng — 80 giờ</a:t>
            </a:r>
            <a:endParaRPr/>
          </a:p>
          <a:p>
            <a:pPr indent="0" lvl="0" marL="0" marR="0" rtl="0" algn="l">
              <a:lnSpc>
                <a:spcPct val="112000"/>
              </a:lnSpc>
              <a:spcBef>
                <a:spcPts val="200"/>
              </a:spcBef>
              <a:spcAft>
                <a:spcPts val="0"/>
              </a:spcAft>
              <a:buNone/>
            </a:pPr>
            <a:r>
              <a:rPr b="0" i="0" lang="en-US" sz="1400">
                <a:solidFill>
                  <a:srgbClr val="6B7784"/>
                </a:solidFill>
                <a:latin typeface="Calibri"/>
                <a:ea typeface="Calibri"/>
                <a:cs typeface="Calibri"/>
                <a:sym typeface="Calibri"/>
              </a:rPr>
              <a:t>Chờ Supplier điều chỉnh hàng hóa — 8 giờ</a:t>
            </a:r>
            <a:endParaRPr/>
          </a:p>
          <a:p>
            <a:pPr indent="0" lvl="0" marL="0" marR="0" rtl="0" algn="l">
              <a:lnSpc>
                <a:spcPct val="112000"/>
              </a:lnSpc>
              <a:spcBef>
                <a:spcPts val="200"/>
              </a:spcBef>
              <a:spcAft>
                <a:spcPts val="0"/>
              </a:spcAft>
              <a:buNone/>
            </a:pPr>
            <a:r>
              <a:rPr b="0" i="0" lang="en-US" sz="1400">
                <a:solidFill>
                  <a:srgbClr val="6B7784"/>
                </a:solidFill>
                <a:latin typeface="Calibri"/>
                <a:ea typeface="Calibri"/>
                <a:cs typeface="Calibri"/>
                <a:sym typeface="Calibri"/>
              </a:rPr>
              <a:t>Chờ Supplier chỉnh sửa hóa đơn — 8 giờ</a:t>
            </a:r>
            <a:endParaRPr/>
          </a:p>
        </p:txBody>
      </p:sp>
      <p:sp>
        <p:nvSpPr>
          <p:cNvPr id="978" name="Google Shape;978;p49"/>
          <p:cNvSpPr/>
          <p:nvPr/>
        </p:nvSpPr>
        <p:spPr>
          <a:xfrm>
            <a:off x="8060740" y="1737360"/>
            <a:ext cx="3472586" cy="3200400"/>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79" name="Google Shape;979;p49"/>
          <p:cNvSpPr/>
          <p:nvPr/>
        </p:nvSpPr>
        <p:spPr>
          <a:xfrm>
            <a:off x="8060740" y="1737360"/>
            <a:ext cx="3472586" cy="50292"/>
          </a:xfrm>
          <a:prstGeom prst="rect">
            <a:avLst/>
          </a:prstGeom>
          <a:solidFill>
            <a:srgbClr val="C0392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80" name="Google Shape;980;p49"/>
          <p:cNvSpPr txBox="1"/>
          <p:nvPr/>
        </p:nvSpPr>
        <p:spPr>
          <a:xfrm>
            <a:off x="8266480" y="1920240"/>
            <a:ext cx="306110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400">
                <a:solidFill>
                  <a:srgbClr val="C0392B"/>
                </a:solidFill>
                <a:latin typeface="Calibri"/>
                <a:ea typeface="Calibri"/>
                <a:cs typeface="Calibri"/>
                <a:sym typeface="Calibri"/>
              </a:rPr>
              <a:t>OVERDO  ·  06 ĐIỂM</a:t>
            </a:r>
            <a:endParaRPr/>
          </a:p>
        </p:txBody>
      </p:sp>
      <p:sp>
        <p:nvSpPr>
          <p:cNvPr id="981" name="Google Shape;981;p49"/>
          <p:cNvSpPr txBox="1"/>
          <p:nvPr/>
        </p:nvSpPr>
        <p:spPr>
          <a:xfrm>
            <a:off x="8266480" y="2240280"/>
            <a:ext cx="3061106" cy="2743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US" sz="1400">
                <a:solidFill>
                  <a:srgbClr val="0A2540"/>
                </a:solidFill>
                <a:latin typeface="Calibri"/>
                <a:ea typeface="Calibri"/>
                <a:cs typeface="Calibri"/>
                <a:sym typeface="Calibri"/>
              </a:rPr>
              <a:t>Ba vòng lặp xử lý lại</a:t>
            </a:r>
            <a:endParaRPr/>
          </a:p>
        </p:txBody>
      </p:sp>
      <p:sp>
        <p:nvSpPr>
          <p:cNvPr id="982" name="Google Shape;982;p49"/>
          <p:cNvSpPr txBox="1"/>
          <p:nvPr/>
        </p:nvSpPr>
        <p:spPr>
          <a:xfrm>
            <a:off x="8266480" y="2606040"/>
            <a:ext cx="3061106" cy="219456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b="0" i="0" lang="en-US" sz="1400">
                <a:solidFill>
                  <a:srgbClr val="6B7784"/>
                </a:solidFill>
                <a:latin typeface="Calibri"/>
                <a:ea typeface="Calibri"/>
                <a:cs typeface="Calibri"/>
                <a:sym typeface="Calibri"/>
              </a:rPr>
              <a:t>Yêu cầu bổ sung / chỉnh sửa PR</a:t>
            </a:r>
            <a:endParaRPr/>
          </a:p>
          <a:p>
            <a:pPr indent="0" lvl="0" marL="0" marR="0" rtl="0" algn="l">
              <a:lnSpc>
                <a:spcPct val="112000"/>
              </a:lnSpc>
              <a:spcBef>
                <a:spcPts val="200"/>
              </a:spcBef>
              <a:spcAft>
                <a:spcPts val="0"/>
              </a:spcAft>
              <a:buNone/>
            </a:pPr>
            <a:r>
              <a:rPr b="0" i="0" lang="en-US" sz="1400">
                <a:solidFill>
                  <a:srgbClr val="6B7784"/>
                </a:solidFill>
                <a:latin typeface="Calibri"/>
                <a:ea typeface="Calibri"/>
                <a:cs typeface="Calibri"/>
                <a:sym typeface="Calibri"/>
              </a:rPr>
              <a:t>Requester bổ sung thông tin mua hàng</a:t>
            </a:r>
            <a:endParaRPr/>
          </a:p>
          <a:p>
            <a:pPr indent="0" lvl="0" marL="0" marR="0" rtl="0" algn="l">
              <a:lnSpc>
                <a:spcPct val="112000"/>
              </a:lnSpc>
              <a:spcBef>
                <a:spcPts val="200"/>
              </a:spcBef>
              <a:spcAft>
                <a:spcPts val="0"/>
              </a:spcAft>
              <a:buNone/>
            </a:pPr>
            <a:r>
              <a:rPr b="0" i="0" lang="en-US" sz="1400">
                <a:solidFill>
                  <a:srgbClr val="6B7784"/>
                </a:solidFill>
                <a:latin typeface="Calibri"/>
                <a:ea typeface="Calibri"/>
                <a:cs typeface="Calibri"/>
                <a:sym typeface="Calibri"/>
              </a:rPr>
              <a:t>Ghi nhận sai lệch, yêu cầu điều chỉnh hàng</a:t>
            </a:r>
            <a:endParaRPr/>
          </a:p>
          <a:p>
            <a:pPr indent="0" lvl="0" marL="0" marR="0" rtl="0" algn="l">
              <a:lnSpc>
                <a:spcPct val="112000"/>
              </a:lnSpc>
              <a:spcBef>
                <a:spcPts val="200"/>
              </a:spcBef>
              <a:spcAft>
                <a:spcPts val="0"/>
              </a:spcAft>
              <a:buNone/>
            </a:pPr>
            <a:r>
              <a:rPr b="0" i="0" lang="en-US" sz="1400">
                <a:solidFill>
                  <a:srgbClr val="6B7784"/>
                </a:solidFill>
                <a:latin typeface="Calibri"/>
                <a:ea typeface="Calibri"/>
                <a:cs typeface="Calibri"/>
                <a:sym typeface="Calibri"/>
              </a:rPr>
              <a:t>Supplier kiểm tra &amp; điều chỉnh hàng hóa</a:t>
            </a:r>
            <a:endParaRPr/>
          </a:p>
          <a:p>
            <a:pPr indent="0" lvl="0" marL="0" marR="0" rtl="0" algn="l">
              <a:lnSpc>
                <a:spcPct val="112000"/>
              </a:lnSpc>
              <a:spcBef>
                <a:spcPts val="200"/>
              </a:spcBef>
              <a:spcAft>
                <a:spcPts val="0"/>
              </a:spcAft>
              <a:buNone/>
            </a:pPr>
            <a:r>
              <a:rPr b="0" i="0" lang="en-US" sz="1400">
                <a:solidFill>
                  <a:srgbClr val="6B7784"/>
                </a:solidFill>
                <a:latin typeface="Calibri"/>
                <a:ea typeface="Calibri"/>
                <a:cs typeface="Calibri"/>
                <a:sym typeface="Calibri"/>
              </a:rPr>
              <a:t>Yêu cầu NCC chỉnh sửa hóa đơn</a:t>
            </a:r>
            <a:endParaRPr/>
          </a:p>
          <a:p>
            <a:pPr indent="0" lvl="0" marL="0" marR="0" rtl="0" algn="l">
              <a:lnSpc>
                <a:spcPct val="112000"/>
              </a:lnSpc>
              <a:spcBef>
                <a:spcPts val="200"/>
              </a:spcBef>
              <a:spcAft>
                <a:spcPts val="0"/>
              </a:spcAft>
              <a:buNone/>
            </a:pPr>
            <a:r>
              <a:rPr b="0" i="0" lang="en-US" sz="1400">
                <a:solidFill>
                  <a:srgbClr val="6B7784"/>
                </a:solidFill>
                <a:latin typeface="Calibri"/>
                <a:ea typeface="Calibri"/>
                <a:cs typeface="Calibri"/>
                <a:sym typeface="Calibri"/>
              </a:rPr>
              <a:t>Supplier chỉnh sửa lại hóa đơn</a:t>
            </a:r>
            <a:endParaRPr/>
          </a:p>
        </p:txBody>
      </p:sp>
      <p:sp>
        <p:nvSpPr>
          <p:cNvPr id="983" name="Google Shape;983;p49"/>
          <p:cNvSpPr/>
          <p:nvPr/>
        </p:nvSpPr>
        <p:spPr>
          <a:xfrm>
            <a:off x="658368" y="5074920"/>
            <a:ext cx="10874959" cy="1005840"/>
          </a:xfrm>
          <a:prstGeom prst="rect">
            <a:avLst/>
          </a:prstGeom>
          <a:solidFill>
            <a:srgbClr val="FBEDEC"/>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84" name="Google Shape;984;p49"/>
          <p:cNvSpPr/>
          <p:nvPr/>
        </p:nvSpPr>
        <p:spPr>
          <a:xfrm>
            <a:off x="658368" y="5074920"/>
            <a:ext cx="50292" cy="1005840"/>
          </a:xfrm>
          <a:prstGeom prst="rect">
            <a:avLst/>
          </a:prstGeom>
          <a:solidFill>
            <a:srgbClr val="C0392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85" name="Google Shape;985;p49"/>
          <p:cNvSpPr txBox="1"/>
          <p:nvPr/>
        </p:nvSpPr>
        <p:spPr>
          <a:xfrm>
            <a:off x="864108" y="5189220"/>
            <a:ext cx="10463479" cy="77724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None/>
            </a:pPr>
            <a:r>
              <a:rPr b="0" i="0" lang="en-US" sz="1400">
                <a:solidFill>
                  <a:srgbClr val="0A2540"/>
                </a:solidFill>
                <a:latin typeface="Calibri"/>
                <a:ea typeface="Calibri"/>
                <a:cs typeface="Calibri"/>
                <a:sym typeface="Calibri"/>
              </a:rPr>
              <a:t>Khác với Service Order Management: Overdo là nhóm lớn nhất (06/15 điểm) và Hold bị chi phối bởi một điểm duy nhất — chờ cung ứng 80 giờ. Vì vậy hướng cải tiến ưu tiên hạn chế ba vòng lặp xử lý lại và kiểm soát thời gian cung ứng, thay vì rút gọn các điểm chuyển giao.</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9" name="Shape 989"/>
        <p:cNvGrpSpPr/>
        <p:nvPr/>
      </p:nvGrpSpPr>
      <p:grpSpPr>
        <a:xfrm>
          <a:off x="0" y="0"/>
          <a:ext cx="0" cy="0"/>
          <a:chOff x="0" y="0"/>
          <a:chExt cx="0" cy="0"/>
        </a:xfrm>
      </p:grpSpPr>
      <p:pic>
        <p:nvPicPr>
          <p:cNvPr id="990" name="Google Shape;990;p50"/>
          <p:cNvPicPr preferRelativeResize="0"/>
          <p:nvPr/>
        </p:nvPicPr>
        <p:blipFill>
          <a:blip r:embed="rId3">
            <a:alphaModFix/>
          </a:blip>
          <a:stretch>
            <a:fillRect/>
          </a:stretch>
        </p:blipFill>
        <p:spPr>
          <a:xfrm>
            <a:off x="4483025" y="1371600"/>
            <a:ext cx="6031401" cy="5132700"/>
          </a:xfrm>
          <a:prstGeom prst="rect">
            <a:avLst/>
          </a:prstGeom>
          <a:noFill/>
          <a:ln>
            <a:noFill/>
          </a:ln>
        </p:spPr>
      </p:pic>
      <p:sp>
        <p:nvSpPr>
          <p:cNvPr id="991" name="Google Shape;991;p50"/>
          <p:cNvSpPr/>
          <p:nvPr/>
        </p:nvSpPr>
        <p:spPr>
          <a:xfrm>
            <a:off x="0" y="0"/>
            <a:ext cx="12191695" cy="859536"/>
          </a:xfrm>
          <a:prstGeom prst="rect">
            <a:avLst/>
          </a:prstGeom>
          <a:solidFill>
            <a:srgbClr val="0A25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92" name="Google Shape;992;p50"/>
          <p:cNvSpPr/>
          <p:nvPr/>
        </p:nvSpPr>
        <p:spPr>
          <a:xfrm>
            <a:off x="0" y="0"/>
            <a:ext cx="182880" cy="859536"/>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93" name="Google Shape;993;p50"/>
          <p:cNvSpPr txBox="1"/>
          <p:nvPr/>
        </p:nvSpPr>
        <p:spPr>
          <a:xfrm>
            <a:off x="475488" y="137160"/>
            <a:ext cx="7955279"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950">
                <a:solidFill>
                  <a:srgbClr val="00C2A8"/>
                </a:solidFill>
                <a:latin typeface="Calibri"/>
                <a:ea typeface="Calibri"/>
                <a:cs typeface="Calibri"/>
                <a:sym typeface="Calibri"/>
              </a:rPr>
              <a:t>CHƯƠNG 4 · 4.3.2B PHÂN TÍCH SỰ LÃNG PHÍ</a:t>
            </a:r>
            <a:endParaRPr/>
          </a:p>
        </p:txBody>
      </p:sp>
      <p:sp>
        <p:nvSpPr>
          <p:cNvPr id="994" name="Google Shape;994;p50"/>
          <p:cNvSpPr txBox="1"/>
          <p:nvPr/>
        </p:nvSpPr>
        <p:spPr>
          <a:xfrm>
            <a:off x="475488" y="411480"/>
            <a:ext cx="7955279"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700">
                <a:solidFill>
                  <a:srgbClr val="FFFFFF"/>
                </a:solidFill>
                <a:latin typeface="Calibri"/>
                <a:ea typeface="Calibri"/>
                <a:cs typeface="Calibri"/>
                <a:sym typeface="Calibri"/>
              </a:rPr>
              <a:t>S01 — Phân tích Move / Hold / Overdo trên mô hình quy trình</a:t>
            </a:r>
            <a:endParaRPr/>
          </a:p>
        </p:txBody>
      </p:sp>
      <p:sp>
        <p:nvSpPr>
          <p:cNvPr id="995" name="Google Shape;995;p50"/>
          <p:cNvSpPr txBox="1"/>
          <p:nvPr/>
        </p:nvSpPr>
        <p:spPr>
          <a:xfrm>
            <a:off x="8595360" y="265176"/>
            <a:ext cx="3154680" cy="329184"/>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1" i="0" lang="en-US" sz="1400">
                <a:solidFill>
                  <a:srgbClr val="00C2A8"/>
                </a:solidFill>
                <a:latin typeface="Calibri"/>
                <a:ea typeface="Calibri"/>
                <a:cs typeface="Calibri"/>
                <a:sym typeface="Calibri"/>
              </a:rPr>
              <a:t>Hình 4.6</a:t>
            </a:r>
            <a:endParaRPr/>
          </a:p>
        </p:txBody>
      </p:sp>
      <p:sp>
        <p:nvSpPr>
          <p:cNvPr id="996" name="Google Shape;996;p50"/>
          <p:cNvSpPr txBox="1"/>
          <p:nvPr/>
        </p:nvSpPr>
        <p:spPr>
          <a:xfrm>
            <a:off x="658368" y="6355080"/>
            <a:ext cx="10326319"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850">
                <a:solidFill>
                  <a:srgbClr val="6B7784"/>
                </a:solidFill>
                <a:latin typeface="Calibri"/>
                <a:ea typeface="Calibri"/>
                <a:cs typeface="Calibri"/>
                <a:sym typeface="Calibri"/>
              </a:rPr>
              <a:t>SOLVENTUM VIỆT NAM  ·  HỆ THỐNG QUẢN TRỊ QUY TRÌNH NGHIỆP VỤ</a:t>
            </a:r>
            <a:endParaRPr/>
          </a:p>
        </p:txBody>
      </p:sp>
      <p:sp>
        <p:nvSpPr>
          <p:cNvPr id="997" name="Google Shape;997;p50"/>
          <p:cNvSpPr txBox="1"/>
          <p:nvPr/>
        </p:nvSpPr>
        <p:spPr>
          <a:xfrm>
            <a:off x="10984687" y="6355080"/>
            <a:ext cx="548640" cy="2286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1" i="0" lang="en-US" sz="950">
                <a:solidFill>
                  <a:srgbClr val="0096D6"/>
                </a:solidFill>
                <a:latin typeface="Calibri"/>
                <a:ea typeface="Calibri"/>
                <a:cs typeface="Calibri"/>
                <a:sym typeface="Calibri"/>
              </a:rPr>
              <a:t>38</a:t>
            </a:r>
            <a:endParaRPr/>
          </a:p>
        </p:txBody>
      </p:sp>
      <p:sp>
        <p:nvSpPr>
          <p:cNvPr id="998" name="Google Shape;998;p50"/>
          <p:cNvSpPr txBox="1"/>
          <p:nvPr/>
        </p:nvSpPr>
        <p:spPr>
          <a:xfrm>
            <a:off x="658368" y="1097280"/>
            <a:ext cx="10874959"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400">
                <a:solidFill>
                  <a:srgbClr val="0A2540"/>
                </a:solidFill>
                <a:latin typeface="Calibri"/>
                <a:ea typeface="Calibri"/>
                <a:cs typeface="Calibri"/>
                <a:sym typeface="Calibri"/>
              </a:rPr>
              <a:t>Hình 4.6. Phân tích Move / Hold / Overdo trên mô hình quy trình Procurement Management</a:t>
            </a:r>
            <a:endParaRPr/>
          </a:p>
        </p:txBody>
      </p:sp>
      <p:sp>
        <p:nvSpPr>
          <p:cNvPr id="999" name="Google Shape;999;p50"/>
          <p:cNvSpPr/>
          <p:nvPr/>
        </p:nvSpPr>
        <p:spPr>
          <a:xfrm>
            <a:off x="658368" y="1554480"/>
            <a:ext cx="228600" cy="182880"/>
          </a:xfrm>
          <a:prstGeom prst="rect">
            <a:avLst/>
          </a:prstGeom>
          <a:solidFill>
            <a:srgbClr val="2E9E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00" name="Google Shape;1000;p50"/>
          <p:cNvSpPr txBox="1"/>
          <p:nvPr/>
        </p:nvSpPr>
        <p:spPr>
          <a:xfrm>
            <a:off x="955548" y="1508760"/>
            <a:ext cx="32004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400">
                <a:solidFill>
                  <a:srgbClr val="0A2540"/>
                </a:solidFill>
                <a:latin typeface="Calibri"/>
                <a:ea typeface="Calibri"/>
                <a:cs typeface="Calibri"/>
                <a:sym typeface="Calibri"/>
              </a:rPr>
              <a:t>Move — Chuyển giao / di chuyển</a:t>
            </a:r>
            <a:endParaRPr/>
          </a:p>
        </p:txBody>
      </p:sp>
      <p:sp>
        <p:nvSpPr>
          <p:cNvPr id="1001" name="Google Shape;1001;p50"/>
          <p:cNvSpPr/>
          <p:nvPr/>
        </p:nvSpPr>
        <p:spPr>
          <a:xfrm>
            <a:off x="658368" y="2121405"/>
            <a:ext cx="228600" cy="183000"/>
          </a:xfrm>
          <a:prstGeom prst="rect">
            <a:avLst/>
          </a:prstGeom>
          <a:solidFill>
            <a:srgbClr val="DDC2E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02" name="Google Shape;1002;p50"/>
          <p:cNvSpPr txBox="1"/>
          <p:nvPr/>
        </p:nvSpPr>
        <p:spPr>
          <a:xfrm>
            <a:off x="955548" y="2075685"/>
            <a:ext cx="32004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400">
                <a:solidFill>
                  <a:srgbClr val="0A2540"/>
                </a:solidFill>
                <a:latin typeface="Calibri"/>
                <a:ea typeface="Calibri"/>
                <a:cs typeface="Calibri"/>
                <a:sym typeface="Calibri"/>
              </a:rPr>
              <a:t>Hold — Chờ đợi</a:t>
            </a:r>
            <a:endParaRPr/>
          </a:p>
        </p:txBody>
      </p:sp>
      <p:sp>
        <p:nvSpPr>
          <p:cNvPr id="1003" name="Google Shape;1003;p50"/>
          <p:cNvSpPr/>
          <p:nvPr/>
        </p:nvSpPr>
        <p:spPr>
          <a:xfrm>
            <a:off x="658368" y="2688205"/>
            <a:ext cx="228600" cy="183000"/>
          </a:xfrm>
          <a:prstGeom prst="rect">
            <a:avLst/>
          </a:prstGeom>
          <a:solidFill>
            <a:srgbClr val="C5DF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04" name="Google Shape;1004;p50"/>
          <p:cNvSpPr txBox="1"/>
          <p:nvPr/>
        </p:nvSpPr>
        <p:spPr>
          <a:xfrm>
            <a:off x="955548" y="2642485"/>
            <a:ext cx="32004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400">
                <a:solidFill>
                  <a:srgbClr val="0A2540"/>
                </a:solidFill>
                <a:latin typeface="Calibri"/>
                <a:ea typeface="Calibri"/>
                <a:cs typeface="Calibri"/>
                <a:sym typeface="Calibri"/>
              </a:rPr>
              <a:t>Overdo — Xử lý quá mức</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8" name="Shape 1008"/>
        <p:cNvGrpSpPr/>
        <p:nvPr/>
      </p:nvGrpSpPr>
      <p:grpSpPr>
        <a:xfrm>
          <a:off x="0" y="0"/>
          <a:ext cx="0" cy="0"/>
          <a:chOff x="0" y="0"/>
          <a:chExt cx="0" cy="0"/>
        </a:xfrm>
      </p:grpSpPr>
      <p:sp>
        <p:nvSpPr>
          <p:cNvPr id="1009" name="Google Shape;1009;p51"/>
          <p:cNvSpPr txBox="1"/>
          <p:nvPr/>
        </p:nvSpPr>
        <p:spPr>
          <a:xfrm>
            <a:off x="658368" y="384048"/>
            <a:ext cx="10874959"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050">
                <a:solidFill>
                  <a:srgbClr val="0096D6"/>
                </a:solidFill>
                <a:latin typeface="Calibri"/>
                <a:ea typeface="Calibri"/>
                <a:cs typeface="Calibri"/>
                <a:sym typeface="Calibri"/>
              </a:rPr>
              <a:t>CHƯƠNG 4 · 4.3.2C PHÂN TÍCH CÁC BÊN LIÊN QUAN</a:t>
            </a:r>
            <a:endParaRPr/>
          </a:p>
        </p:txBody>
      </p:sp>
      <p:sp>
        <p:nvSpPr>
          <p:cNvPr id="1010" name="Google Shape;1010;p51"/>
          <p:cNvSpPr txBox="1"/>
          <p:nvPr/>
        </p:nvSpPr>
        <p:spPr>
          <a:xfrm>
            <a:off x="658368" y="640080"/>
            <a:ext cx="10874959" cy="60350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US" sz="2500">
                <a:solidFill>
                  <a:srgbClr val="0A2540"/>
                </a:solidFill>
                <a:latin typeface="Calibri"/>
                <a:ea typeface="Calibri"/>
                <a:cs typeface="Calibri"/>
                <a:sym typeface="Calibri"/>
              </a:rPr>
              <a:t>BỐN NHÓM NGUYÊN NHÂN KÉO DÀI THỜI GIAN MUA HÀNG</a:t>
            </a:r>
            <a:endParaRPr/>
          </a:p>
        </p:txBody>
      </p:sp>
      <p:sp>
        <p:nvSpPr>
          <p:cNvPr id="1011" name="Google Shape;1011;p51"/>
          <p:cNvSpPr/>
          <p:nvPr/>
        </p:nvSpPr>
        <p:spPr>
          <a:xfrm>
            <a:off x="658368" y="1280160"/>
            <a:ext cx="566928" cy="41148"/>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12" name="Google Shape;1012;p51"/>
          <p:cNvSpPr/>
          <p:nvPr/>
        </p:nvSpPr>
        <p:spPr>
          <a:xfrm>
            <a:off x="1298448" y="1280160"/>
            <a:ext cx="10234879" cy="41148"/>
          </a:xfrm>
          <a:prstGeom prst="rect">
            <a:avLst/>
          </a:prstGeom>
          <a:solidFill>
            <a:srgbClr val="DFE4E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13" name="Google Shape;1013;p51"/>
          <p:cNvSpPr txBox="1"/>
          <p:nvPr/>
        </p:nvSpPr>
        <p:spPr>
          <a:xfrm>
            <a:off x="658368" y="1371600"/>
            <a:ext cx="10874959"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1" lang="en-US" sz="1100">
                <a:solidFill>
                  <a:srgbClr val="6B7784"/>
                </a:solidFill>
                <a:latin typeface="Calibri"/>
                <a:ea typeface="Calibri"/>
                <a:cs typeface="Calibri"/>
                <a:sym typeface="Calibri"/>
              </a:rPr>
              <a:t>Bảng 4.10 — Vấn đề trung tâm: “Thời gian hoàn tất quy trình mua hàng có thể bị kéo dài”</a:t>
            </a:r>
            <a:endParaRPr/>
          </a:p>
        </p:txBody>
      </p:sp>
      <p:sp>
        <p:nvSpPr>
          <p:cNvPr id="1014" name="Google Shape;1014;p51"/>
          <p:cNvSpPr txBox="1"/>
          <p:nvPr/>
        </p:nvSpPr>
        <p:spPr>
          <a:xfrm>
            <a:off x="658368" y="6355080"/>
            <a:ext cx="10326319"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850">
                <a:solidFill>
                  <a:srgbClr val="6B7784"/>
                </a:solidFill>
                <a:latin typeface="Calibri"/>
                <a:ea typeface="Calibri"/>
                <a:cs typeface="Calibri"/>
                <a:sym typeface="Calibri"/>
              </a:rPr>
              <a:t>SOLVENTUM VIỆT NAM  ·  HỆ THỐNG QUẢN TRỊ QUY TRÌNH NGHIỆP VỤ</a:t>
            </a:r>
            <a:endParaRPr/>
          </a:p>
        </p:txBody>
      </p:sp>
      <p:sp>
        <p:nvSpPr>
          <p:cNvPr id="1015" name="Google Shape;1015;p51"/>
          <p:cNvSpPr txBox="1"/>
          <p:nvPr/>
        </p:nvSpPr>
        <p:spPr>
          <a:xfrm>
            <a:off x="10984687" y="6355080"/>
            <a:ext cx="548640" cy="2286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1" i="0" lang="en-US" sz="950">
                <a:solidFill>
                  <a:srgbClr val="0096D6"/>
                </a:solidFill>
                <a:latin typeface="Calibri"/>
                <a:ea typeface="Calibri"/>
                <a:cs typeface="Calibri"/>
                <a:sym typeface="Calibri"/>
              </a:rPr>
              <a:t>39</a:t>
            </a:r>
            <a:endParaRPr/>
          </a:p>
        </p:txBody>
      </p:sp>
      <p:sp>
        <p:nvSpPr>
          <p:cNvPr id="1016" name="Google Shape;1016;p51"/>
          <p:cNvSpPr/>
          <p:nvPr/>
        </p:nvSpPr>
        <p:spPr>
          <a:xfrm>
            <a:off x="658368" y="1737360"/>
            <a:ext cx="2581579" cy="3383280"/>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17" name="Google Shape;1017;p51"/>
          <p:cNvSpPr/>
          <p:nvPr/>
        </p:nvSpPr>
        <p:spPr>
          <a:xfrm>
            <a:off x="658368" y="1737360"/>
            <a:ext cx="2581579" cy="50292"/>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18" name="Google Shape;1018;p51"/>
          <p:cNvSpPr txBox="1"/>
          <p:nvPr/>
        </p:nvSpPr>
        <p:spPr>
          <a:xfrm>
            <a:off x="864108" y="1920240"/>
            <a:ext cx="2170099"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400">
                <a:solidFill>
                  <a:srgbClr val="0096D6"/>
                </a:solidFill>
                <a:latin typeface="Calibri"/>
                <a:ea typeface="Calibri"/>
                <a:cs typeface="Calibri"/>
                <a:sym typeface="Calibri"/>
              </a:rPr>
              <a:t>PEOPLE</a:t>
            </a:r>
            <a:endParaRPr/>
          </a:p>
        </p:txBody>
      </p:sp>
      <p:sp>
        <p:nvSpPr>
          <p:cNvPr id="1019" name="Google Shape;1019;p51"/>
          <p:cNvSpPr txBox="1"/>
          <p:nvPr/>
        </p:nvSpPr>
        <p:spPr>
          <a:xfrm>
            <a:off x="864108" y="2240280"/>
            <a:ext cx="2170099" cy="2743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US" sz="1400">
                <a:solidFill>
                  <a:srgbClr val="0A2540"/>
                </a:solidFill>
                <a:latin typeface="Calibri"/>
                <a:ea typeface="Calibri"/>
                <a:cs typeface="Calibri"/>
                <a:sym typeface="Calibri"/>
              </a:rPr>
              <a:t>Con người</a:t>
            </a:r>
            <a:endParaRPr/>
          </a:p>
        </p:txBody>
      </p:sp>
      <p:sp>
        <p:nvSpPr>
          <p:cNvPr id="1020" name="Google Shape;1020;p51"/>
          <p:cNvSpPr txBox="1"/>
          <p:nvPr/>
        </p:nvSpPr>
        <p:spPr>
          <a:xfrm>
            <a:off x="864108" y="2606040"/>
            <a:ext cx="2170099" cy="23774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b="0" i="0" lang="en-US" sz="1300">
                <a:solidFill>
                  <a:srgbClr val="6B7784"/>
                </a:solidFill>
                <a:latin typeface="Calibri"/>
                <a:ea typeface="Calibri"/>
                <a:cs typeface="Calibri"/>
                <a:sym typeface="Calibri"/>
              </a:rPr>
              <a:t>Requester có thể cung cấp thông tin PR chưa đầy đủ.</a:t>
            </a:r>
            <a:endParaRPr/>
          </a:p>
          <a:p>
            <a:pPr indent="0" lvl="0" marL="0" marR="0" rtl="0" algn="l">
              <a:lnSpc>
                <a:spcPct val="112000"/>
              </a:lnSpc>
              <a:spcBef>
                <a:spcPts val="200"/>
              </a:spcBef>
              <a:spcAft>
                <a:spcPts val="0"/>
              </a:spcAft>
              <a:buNone/>
            </a:pPr>
            <a:r>
              <a:rPr b="0" i="0" lang="en-US" sz="1300">
                <a:solidFill>
                  <a:srgbClr val="6B7784"/>
                </a:solidFill>
                <a:latin typeface="Calibri"/>
                <a:ea typeface="Calibri"/>
                <a:cs typeface="Calibri"/>
                <a:sym typeface="Calibri"/>
              </a:rPr>
              <a:t>Quá trình phê duyệt phụ thuộc vào Approver.</a:t>
            </a:r>
            <a:endParaRPr/>
          </a:p>
          <a:p>
            <a:pPr indent="0" lvl="0" marL="0" marR="0" rtl="0" algn="l">
              <a:lnSpc>
                <a:spcPct val="112000"/>
              </a:lnSpc>
              <a:spcBef>
                <a:spcPts val="200"/>
              </a:spcBef>
              <a:spcAft>
                <a:spcPts val="0"/>
              </a:spcAft>
              <a:buNone/>
            </a:pPr>
            <a:r>
              <a:rPr b="0" i="0" lang="en-US" sz="1300">
                <a:solidFill>
                  <a:srgbClr val="6B7784"/>
                </a:solidFill>
                <a:latin typeface="Calibri"/>
                <a:ea typeface="Calibri"/>
                <a:cs typeface="Calibri"/>
                <a:sym typeface="Calibri"/>
              </a:rPr>
              <a:t>Xử lý sai lệch cần phối hợp giữa Warehouse và Supplier.</a:t>
            </a:r>
            <a:endParaRPr/>
          </a:p>
          <a:p>
            <a:pPr indent="0" lvl="0" marL="0" marR="0" rtl="0" algn="l">
              <a:lnSpc>
                <a:spcPct val="112000"/>
              </a:lnSpc>
              <a:spcBef>
                <a:spcPts val="200"/>
              </a:spcBef>
              <a:spcAft>
                <a:spcPts val="0"/>
              </a:spcAft>
              <a:buNone/>
            </a:pPr>
            <a:r>
              <a:rPr b="0" i="0" lang="en-US" sz="1300">
                <a:solidFill>
                  <a:srgbClr val="6B7784"/>
                </a:solidFill>
                <a:latin typeface="Calibri"/>
                <a:ea typeface="Calibri"/>
                <a:cs typeface="Calibri"/>
                <a:sym typeface="Calibri"/>
              </a:rPr>
              <a:t>Việc chỉnh sửa hóa đơn phụ thuộc phản hồi của Supplier.</a:t>
            </a:r>
            <a:endParaRPr/>
          </a:p>
        </p:txBody>
      </p:sp>
      <p:sp>
        <p:nvSpPr>
          <p:cNvPr id="1021" name="Google Shape;1021;p51"/>
          <p:cNvSpPr/>
          <p:nvPr/>
        </p:nvSpPr>
        <p:spPr>
          <a:xfrm>
            <a:off x="3422827" y="1737360"/>
            <a:ext cx="2581579" cy="3383280"/>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22" name="Google Shape;1022;p51"/>
          <p:cNvSpPr/>
          <p:nvPr/>
        </p:nvSpPr>
        <p:spPr>
          <a:xfrm>
            <a:off x="3422827" y="1737360"/>
            <a:ext cx="2581579" cy="50292"/>
          </a:xfrm>
          <a:prstGeom prst="rect">
            <a:avLst/>
          </a:prstGeom>
          <a:solidFill>
            <a:srgbClr val="C0392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23" name="Google Shape;1023;p51"/>
          <p:cNvSpPr txBox="1"/>
          <p:nvPr/>
        </p:nvSpPr>
        <p:spPr>
          <a:xfrm>
            <a:off x="3628567" y="1920240"/>
            <a:ext cx="2170099"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400">
                <a:solidFill>
                  <a:srgbClr val="C0392B"/>
                </a:solidFill>
                <a:latin typeface="Calibri"/>
                <a:ea typeface="Calibri"/>
                <a:cs typeface="Calibri"/>
                <a:sym typeface="Calibri"/>
              </a:rPr>
              <a:t>INFORMATION</a:t>
            </a:r>
            <a:endParaRPr/>
          </a:p>
        </p:txBody>
      </p:sp>
      <p:sp>
        <p:nvSpPr>
          <p:cNvPr id="1024" name="Google Shape;1024;p51"/>
          <p:cNvSpPr txBox="1"/>
          <p:nvPr/>
        </p:nvSpPr>
        <p:spPr>
          <a:xfrm>
            <a:off x="3628567" y="2240280"/>
            <a:ext cx="2170099" cy="2743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US" sz="1400">
                <a:solidFill>
                  <a:srgbClr val="0A2540"/>
                </a:solidFill>
                <a:latin typeface="Calibri"/>
                <a:ea typeface="Calibri"/>
                <a:cs typeface="Calibri"/>
                <a:sym typeface="Calibri"/>
              </a:rPr>
              <a:t>Thông tin</a:t>
            </a:r>
            <a:endParaRPr/>
          </a:p>
        </p:txBody>
      </p:sp>
      <p:sp>
        <p:nvSpPr>
          <p:cNvPr id="1025" name="Google Shape;1025;p51"/>
          <p:cNvSpPr txBox="1"/>
          <p:nvPr/>
        </p:nvSpPr>
        <p:spPr>
          <a:xfrm>
            <a:off x="3628567" y="2606040"/>
            <a:ext cx="2170099" cy="23774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b="0" i="0" lang="en-US" sz="1300">
                <a:solidFill>
                  <a:srgbClr val="6B7784"/>
                </a:solidFill>
                <a:latin typeface="Calibri"/>
                <a:ea typeface="Calibri"/>
                <a:cs typeface="Calibri"/>
                <a:sym typeface="Calibri"/>
              </a:rPr>
              <a:t>Thông tin PR có thể cần bổ sung hoặc chỉnh sửa.</a:t>
            </a:r>
            <a:endParaRPr/>
          </a:p>
          <a:p>
            <a:pPr indent="0" lvl="0" marL="0" marR="0" rtl="0" algn="l">
              <a:lnSpc>
                <a:spcPct val="112000"/>
              </a:lnSpc>
              <a:spcBef>
                <a:spcPts val="200"/>
              </a:spcBef>
              <a:spcAft>
                <a:spcPts val="0"/>
              </a:spcAft>
              <a:buNone/>
            </a:pPr>
            <a:r>
              <a:rPr b="0" i="0" lang="en-US" sz="1300">
                <a:solidFill>
                  <a:srgbClr val="6B7784"/>
                </a:solidFill>
                <a:latin typeface="Calibri"/>
                <a:ea typeface="Calibri"/>
                <a:cs typeface="Calibri"/>
                <a:sym typeface="Calibri"/>
              </a:rPr>
              <a:t>Hàng hóa thực nhận có thể không phù hợp với PO.</a:t>
            </a:r>
            <a:endParaRPr/>
          </a:p>
          <a:p>
            <a:pPr indent="0" lvl="0" marL="0" marR="0" rtl="0" algn="l">
              <a:lnSpc>
                <a:spcPct val="112000"/>
              </a:lnSpc>
              <a:spcBef>
                <a:spcPts val="200"/>
              </a:spcBef>
              <a:spcAft>
                <a:spcPts val="0"/>
              </a:spcAft>
              <a:buNone/>
            </a:pPr>
            <a:r>
              <a:rPr b="0" i="0" lang="en-US" sz="1300">
                <a:solidFill>
                  <a:srgbClr val="6B7784"/>
                </a:solidFill>
                <a:latin typeface="Calibri"/>
                <a:ea typeface="Calibri"/>
                <a:cs typeface="Calibri"/>
                <a:sym typeface="Calibri"/>
              </a:rPr>
              <a:t>Thông tin hóa đơn có thể không phù hợp với PO / GR.</a:t>
            </a:r>
            <a:endParaRPr/>
          </a:p>
          <a:p>
            <a:pPr indent="0" lvl="0" marL="0" marR="0" rtl="0" algn="l">
              <a:lnSpc>
                <a:spcPct val="112000"/>
              </a:lnSpc>
              <a:spcBef>
                <a:spcPts val="200"/>
              </a:spcBef>
              <a:spcAft>
                <a:spcPts val="0"/>
              </a:spcAft>
              <a:buNone/>
            </a:pPr>
            <a:r>
              <a:rPr b="0" i="0" lang="en-US" sz="1300">
                <a:solidFill>
                  <a:srgbClr val="6B7784"/>
                </a:solidFill>
                <a:latin typeface="Calibri"/>
                <a:ea typeface="Calibri"/>
                <a:cs typeface="Calibri"/>
                <a:sym typeface="Calibri"/>
              </a:rPr>
              <a:t>Thông tin trao đổi giữa nhiều đối tượng trong quá trình.</a:t>
            </a:r>
            <a:endParaRPr/>
          </a:p>
        </p:txBody>
      </p:sp>
      <p:sp>
        <p:nvSpPr>
          <p:cNvPr id="1026" name="Google Shape;1026;p51"/>
          <p:cNvSpPr/>
          <p:nvPr/>
        </p:nvSpPr>
        <p:spPr>
          <a:xfrm>
            <a:off x="6187286" y="1737360"/>
            <a:ext cx="2581579" cy="3383280"/>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27" name="Google Shape;1027;p51"/>
          <p:cNvSpPr/>
          <p:nvPr/>
        </p:nvSpPr>
        <p:spPr>
          <a:xfrm>
            <a:off x="6187286" y="1737360"/>
            <a:ext cx="2581579" cy="50292"/>
          </a:xfrm>
          <a:prstGeom prst="rect">
            <a:avLst/>
          </a:prstGeom>
          <a:solidFill>
            <a:srgbClr val="C87F0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28" name="Google Shape;1028;p51"/>
          <p:cNvSpPr txBox="1"/>
          <p:nvPr/>
        </p:nvSpPr>
        <p:spPr>
          <a:xfrm>
            <a:off x="6393026" y="1920240"/>
            <a:ext cx="2170099"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400">
                <a:solidFill>
                  <a:srgbClr val="C87F0A"/>
                </a:solidFill>
                <a:latin typeface="Calibri"/>
                <a:ea typeface="Calibri"/>
                <a:cs typeface="Calibri"/>
                <a:sym typeface="Calibri"/>
              </a:rPr>
              <a:t>PROCESS</a:t>
            </a:r>
            <a:endParaRPr/>
          </a:p>
        </p:txBody>
      </p:sp>
      <p:sp>
        <p:nvSpPr>
          <p:cNvPr id="1029" name="Google Shape;1029;p51"/>
          <p:cNvSpPr txBox="1"/>
          <p:nvPr/>
        </p:nvSpPr>
        <p:spPr>
          <a:xfrm>
            <a:off x="6393026" y="2240280"/>
            <a:ext cx="2170099" cy="2743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US" sz="1400">
                <a:solidFill>
                  <a:srgbClr val="0A2540"/>
                </a:solidFill>
                <a:latin typeface="Calibri"/>
                <a:ea typeface="Calibri"/>
                <a:cs typeface="Calibri"/>
                <a:sym typeface="Calibri"/>
              </a:rPr>
              <a:t>Quy trình</a:t>
            </a:r>
            <a:endParaRPr/>
          </a:p>
        </p:txBody>
      </p:sp>
      <p:sp>
        <p:nvSpPr>
          <p:cNvPr id="1030" name="Google Shape;1030;p51"/>
          <p:cNvSpPr txBox="1"/>
          <p:nvPr/>
        </p:nvSpPr>
        <p:spPr>
          <a:xfrm>
            <a:off x="6393026" y="2606040"/>
            <a:ext cx="2170099" cy="23774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b="0" i="0" lang="en-US" sz="1300">
                <a:solidFill>
                  <a:srgbClr val="6B7784"/>
                </a:solidFill>
                <a:latin typeface="Calibri"/>
                <a:ea typeface="Calibri"/>
                <a:cs typeface="Calibri"/>
                <a:sym typeface="Calibri"/>
              </a:rPr>
              <a:t>PR chưa đạt yêu cầu làm phát sinh vòng lặp bổ sung.</a:t>
            </a:r>
            <a:endParaRPr/>
          </a:p>
          <a:p>
            <a:pPr indent="0" lvl="0" marL="0" marR="0" rtl="0" algn="l">
              <a:lnSpc>
                <a:spcPct val="112000"/>
              </a:lnSpc>
              <a:spcBef>
                <a:spcPts val="200"/>
              </a:spcBef>
              <a:spcAft>
                <a:spcPts val="0"/>
              </a:spcAft>
              <a:buNone/>
            </a:pPr>
            <a:r>
              <a:rPr b="0" i="0" lang="en-US" sz="1300">
                <a:solidFill>
                  <a:srgbClr val="6B7784"/>
                </a:solidFill>
                <a:latin typeface="Calibri"/>
                <a:ea typeface="Calibri"/>
                <a:cs typeface="Calibri"/>
                <a:sym typeface="Calibri"/>
              </a:rPr>
              <a:t>Chưa có Supplier phù hợp làm phát sinh bước tìm mới.</a:t>
            </a:r>
            <a:endParaRPr/>
          </a:p>
          <a:p>
            <a:pPr indent="0" lvl="0" marL="0" marR="0" rtl="0" algn="l">
              <a:lnSpc>
                <a:spcPct val="112000"/>
              </a:lnSpc>
              <a:spcBef>
                <a:spcPts val="200"/>
              </a:spcBef>
              <a:spcAft>
                <a:spcPts val="0"/>
              </a:spcAft>
              <a:buNone/>
            </a:pPr>
            <a:r>
              <a:rPr b="0" i="0" lang="en-US" sz="1300">
                <a:solidFill>
                  <a:srgbClr val="6B7784"/>
                </a:solidFill>
                <a:latin typeface="Calibri"/>
                <a:ea typeface="Calibri"/>
                <a:cs typeface="Calibri"/>
                <a:sym typeface="Calibri"/>
              </a:rPr>
              <a:t>Sai lệch hàng hóa làm phát sinh vòng lặp điều chỉnh.</a:t>
            </a:r>
            <a:endParaRPr/>
          </a:p>
          <a:p>
            <a:pPr indent="0" lvl="0" marL="0" marR="0" rtl="0" algn="l">
              <a:lnSpc>
                <a:spcPct val="112000"/>
              </a:lnSpc>
              <a:spcBef>
                <a:spcPts val="200"/>
              </a:spcBef>
              <a:spcAft>
                <a:spcPts val="0"/>
              </a:spcAft>
              <a:buNone/>
            </a:pPr>
            <a:r>
              <a:rPr b="0" i="0" lang="en-US" sz="1300">
                <a:solidFill>
                  <a:srgbClr val="6B7784"/>
                </a:solidFill>
                <a:latin typeface="Calibri"/>
                <a:ea typeface="Calibri"/>
                <a:cs typeface="Calibri"/>
                <a:sym typeface="Calibri"/>
              </a:rPr>
              <a:t>Hóa đơn chưa phù hợp làm phát sinh vòng lặp chỉnh sửa.</a:t>
            </a:r>
            <a:endParaRPr/>
          </a:p>
        </p:txBody>
      </p:sp>
      <p:sp>
        <p:nvSpPr>
          <p:cNvPr id="1031" name="Google Shape;1031;p51"/>
          <p:cNvSpPr/>
          <p:nvPr/>
        </p:nvSpPr>
        <p:spPr>
          <a:xfrm>
            <a:off x="8951745" y="1737360"/>
            <a:ext cx="2581579" cy="3383280"/>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32" name="Google Shape;1032;p51"/>
          <p:cNvSpPr/>
          <p:nvPr/>
        </p:nvSpPr>
        <p:spPr>
          <a:xfrm>
            <a:off x="8951745" y="1737360"/>
            <a:ext cx="2581579" cy="50292"/>
          </a:xfrm>
          <a:prstGeom prst="rect">
            <a:avLst/>
          </a:prstGeom>
          <a:solidFill>
            <a:srgbClr val="00C2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33" name="Google Shape;1033;p51"/>
          <p:cNvSpPr txBox="1"/>
          <p:nvPr/>
        </p:nvSpPr>
        <p:spPr>
          <a:xfrm>
            <a:off x="9157485" y="1920240"/>
            <a:ext cx="2170099"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400">
                <a:solidFill>
                  <a:srgbClr val="00C2A8"/>
                </a:solidFill>
                <a:latin typeface="Calibri"/>
                <a:ea typeface="Calibri"/>
                <a:cs typeface="Calibri"/>
                <a:sym typeface="Calibri"/>
              </a:rPr>
              <a:t>TOOLS / SYSTEM</a:t>
            </a:r>
            <a:endParaRPr/>
          </a:p>
        </p:txBody>
      </p:sp>
      <p:sp>
        <p:nvSpPr>
          <p:cNvPr id="1034" name="Google Shape;1034;p51"/>
          <p:cNvSpPr txBox="1"/>
          <p:nvPr/>
        </p:nvSpPr>
        <p:spPr>
          <a:xfrm>
            <a:off x="9157485" y="2240280"/>
            <a:ext cx="2170099" cy="2743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US" sz="1400">
                <a:solidFill>
                  <a:srgbClr val="0A2540"/>
                </a:solidFill>
                <a:latin typeface="Calibri"/>
                <a:ea typeface="Calibri"/>
                <a:cs typeface="Calibri"/>
                <a:sym typeface="Calibri"/>
              </a:rPr>
              <a:t>Công cụ – Hệ thống</a:t>
            </a:r>
            <a:endParaRPr/>
          </a:p>
        </p:txBody>
      </p:sp>
      <p:sp>
        <p:nvSpPr>
          <p:cNvPr id="1035" name="Google Shape;1035;p51"/>
          <p:cNvSpPr txBox="1"/>
          <p:nvPr/>
        </p:nvSpPr>
        <p:spPr>
          <a:xfrm>
            <a:off x="9157485" y="2606040"/>
            <a:ext cx="2170099" cy="23774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b="0" i="0" lang="en-US" sz="1300">
                <a:solidFill>
                  <a:srgbClr val="6B7784"/>
                </a:solidFill>
                <a:latin typeface="Calibri"/>
                <a:ea typeface="Calibri"/>
                <a:cs typeface="Calibri"/>
                <a:sym typeface="Calibri"/>
              </a:rPr>
              <a:t>Mức độ chuẩn hóa thông tin khi tạo PR.</a:t>
            </a:r>
            <a:endParaRPr/>
          </a:p>
          <a:p>
            <a:pPr indent="0" lvl="0" marL="0" marR="0" rtl="0" algn="l">
              <a:lnSpc>
                <a:spcPct val="112000"/>
              </a:lnSpc>
              <a:spcBef>
                <a:spcPts val="200"/>
              </a:spcBef>
              <a:spcAft>
                <a:spcPts val="0"/>
              </a:spcAft>
              <a:buNone/>
            </a:pPr>
            <a:r>
              <a:rPr b="0" i="0" lang="en-US" sz="1300">
                <a:solidFill>
                  <a:srgbClr val="6B7784"/>
                </a:solidFill>
                <a:latin typeface="Calibri"/>
                <a:ea typeface="Calibri"/>
                <a:cs typeface="Calibri"/>
                <a:sym typeface="Calibri"/>
              </a:rPr>
              <a:t>Khả năng duy trì và sử dụng lại thông tin Supplier.</a:t>
            </a:r>
            <a:endParaRPr/>
          </a:p>
          <a:p>
            <a:pPr indent="0" lvl="0" marL="0" marR="0" rtl="0" algn="l">
              <a:lnSpc>
                <a:spcPct val="112000"/>
              </a:lnSpc>
              <a:spcBef>
                <a:spcPts val="200"/>
              </a:spcBef>
              <a:spcAft>
                <a:spcPts val="0"/>
              </a:spcAft>
              <a:buNone/>
            </a:pPr>
            <a:r>
              <a:rPr b="0" i="0" lang="en-US" sz="1300">
                <a:solidFill>
                  <a:srgbClr val="6B7784"/>
                </a:solidFill>
                <a:latin typeface="Calibri"/>
                <a:ea typeface="Calibri"/>
                <a:cs typeface="Calibri"/>
                <a:sym typeface="Calibri"/>
              </a:rPr>
              <a:t>Khả năng đối chiếu tự động PR / PO / GR / hóa đơn.</a:t>
            </a:r>
            <a:endParaRPr/>
          </a:p>
          <a:p>
            <a:pPr indent="0" lvl="0" marL="0" marR="0" rtl="0" algn="l">
              <a:lnSpc>
                <a:spcPct val="112000"/>
              </a:lnSpc>
              <a:spcBef>
                <a:spcPts val="200"/>
              </a:spcBef>
              <a:spcAft>
                <a:spcPts val="0"/>
              </a:spcAft>
              <a:buNone/>
            </a:pPr>
            <a:r>
              <a:rPr b="0" i="0" lang="en-US" sz="1300">
                <a:solidFill>
                  <a:srgbClr val="6B7784"/>
                </a:solidFill>
                <a:latin typeface="Calibri"/>
                <a:ea typeface="Calibri"/>
                <a:cs typeface="Calibri"/>
                <a:sym typeface="Calibri"/>
              </a:rPr>
              <a:t>Khả năng theo dõi trạng thái xử lý của giao dịch.</a:t>
            </a:r>
            <a:endParaRPr/>
          </a:p>
        </p:txBody>
      </p:sp>
      <p:sp>
        <p:nvSpPr>
          <p:cNvPr id="1036" name="Google Shape;1036;p51"/>
          <p:cNvSpPr/>
          <p:nvPr/>
        </p:nvSpPr>
        <p:spPr>
          <a:xfrm>
            <a:off x="658368" y="5257800"/>
            <a:ext cx="10874959" cy="594360"/>
          </a:xfrm>
          <a:prstGeom prst="rect">
            <a:avLst/>
          </a:prstGeom>
          <a:solidFill>
            <a:srgbClr val="EDF6FB"/>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37" name="Google Shape;1037;p51"/>
          <p:cNvSpPr/>
          <p:nvPr/>
        </p:nvSpPr>
        <p:spPr>
          <a:xfrm>
            <a:off x="658368" y="5257800"/>
            <a:ext cx="50292" cy="594360"/>
          </a:xfrm>
          <a:prstGeom prst="rect">
            <a:avLst/>
          </a:prstGeom>
          <a:solidFill>
            <a:srgbClr val="0A25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38" name="Google Shape;1038;p51"/>
          <p:cNvSpPr txBox="1"/>
          <p:nvPr/>
        </p:nvSpPr>
        <p:spPr>
          <a:xfrm>
            <a:off x="864108" y="5372100"/>
            <a:ext cx="10463479" cy="36576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None/>
            </a:pPr>
            <a:r>
              <a:rPr b="0" i="0" lang="en-US" sz="950">
                <a:solidFill>
                  <a:srgbClr val="0A2540"/>
                </a:solidFill>
                <a:latin typeface="Calibri"/>
                <a:ea typeface="Calibri"/>
                <a:cs typeface="Calibri"/>
                <a:sym typeface="Calibri"/>
              </a:rPr>
              <a:t>Giống Service Order Management, nguyên nhân không tập trung tại một đối tượng hay hoạt động riêng lẻ. Nhóm Thông tin và Quy trình có liên hệ rõ nhất với kết quả Waste Analysis — đặc biệt là ba vòng lặp bổ sung PR, điều chỉnh hàng hóa và chỉnh sửa hóa đơn. Hướng ưu tiên: nâng cao độ chính xác thông tin từ đầu, hạn chế sai lệch chứng từ và kiểm soát thời gian cung ứng.</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2" name="Shape 1042"/>
        <p:cNvGrpSpPr/>
        <p:nvPr/>
      </p:nvGrpSpPr>
      <p:grpSpPr>
        <a:xfrm>
          <a:off x="0" y="0"/>
          <a:ext cx="0" cy="0"/>
          <a:chOff x="0" y="0"/>
          <a:chExt cx="0" cy="0"/>
        </a:xfrm>
      </p:grpSpPr>
      <p:sp>
        <p:nvSpPr>
          <p:cNvPr id="1043" name="Google Shape;1043;p52"/>
          <p:cNvSpPr/>
          <p:nvPr/>
        </p:nvSpPr>
        <p:spPr>
          <a:xfrm>
            <a:off x="0" y="0"/>
            <a:ext cx="12191695" cy="859536"/>
          </a:xfrm>
          <a:prstGeom prst="rect">
            <a:avLst/>
          </a:prstGeom>
          <a:solidFill>
            <a:srgbClr val="0A25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44" name="Google Shape;1044;p52"/>
          <p:cNvSpPr/>
          <p:nvPr/>
        </p:nvSpPr>
        <p:spPr>
          <a:xfrm>
            <a:off x="0" y="0"/>
            <a:ext cx="182880" cy="859536"/>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45" name="Google Shape;1045;p52"/>
          <p:cNvSpPr txBox="1"/>
          <p:nvPr/>
        </p:nvSpPr>
        <p:spPr>
          <a:xfrm>
            <a:off x="475488" y="137160"/>
            <a:ext cx="7955279"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950">
                <a:solidFill>
                  <a:srgbClr val="00C2A8"/>
                </a:solidFill>
                <a:latin typeface="Calibri"/>
                <a:ea typeface="Calibri"/>
                <a:cs typeface="Calibri"/>
                <a:sym typeface="Calibri"/>
              </a:rPr>
              <a:t>CHƯƠNG 4 · 4.3.2C PHÂN TÍCH CÁC BÊN LIÊN QUAN</a:t>
            </a:r>
            <a:endParaRPr/>
          </a:p>
        </p:txBody>
      </p:sp>
      <p:sp>
        <p:nvSpPr>
          <p:cNvPr id="1046" name="Google Shape;1046;p52"/>
          <p:cNvSpPr txBox="1"/>
          <p:nvPr/>
        </p:nvSpPr>
        <p:spPr>
          <a:xfrm>
            <a:off x="475488" y="411480"/>
            <a:ext cx="7955279"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700">
                <a:solidFill>
                  <a:srgbClr val="FFFFFF"/>
                </a:solidFill>
                <a:latin typeface="Calibri"/>
                <a:ea typeface="Calibri"/>
                <a:cs typeface="Calibri"/>
                <a:sym typeface="Calibri"/>
              </a:rPr>
              <a:t>S01 — Sơ đồ xương cá (Fishbone Diagram)</a:t>
            </a:r>
            <a:endParaRPr/>
          </a:p>
        </p:txBody>
      </p:sp>
      <p:sp>
        <p:nvSpPr>
          <p:cNvPr id="1047" name="Google Shape;1047;p52"/>
          <p:cNvSpPr txBox="1"/>
          <p:nvPr/>
        </p:nvSpPr>
        <p:spPr>
          <a:xfrm>
            <a:off x="8595360" y="265176"/>
            <a:ext cx="3154680" cy="329184"/>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1" i="0" lang="en-US" sz="1400">
                <a:solidFill>
                  <a:srgbClr val="00C2A8"/>
                </a:solidFill>
                <a:latin typeface="Calibri"/>
                <a:ea typeface="Calibri"/>
                <a:cs typeface="Calibri"/>
                <a:sym typeface="Calibri"/>
              </a:rPr>
              <a:t>Hình 4.7</a:t>
            </a:r>
            <a:endParaRPr/>
          </a:p>
        </p:txBody>
      </p:sp>
      <p:sp>
        <p:nvSpPr>
          <p:cNvPr id="1048" name="Google Shape;1048;p52"/>
          <p:cNvSpPr txBox="1"/>
          <p:nvPr/>
        </p:nvSpPr>
        <p:spPr>
          <a:xfrm>
            <a:off x="658368" y="6355080"/>
            <a:ext cx="10326319"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850">
                <a:solidFill>
                  <a:srgbClr val="6B7784"/>
                </a:solidFill>
                <a:latin typeface="Calibri"/>
                <a:ea typeface="Calibri"/>
                <a:cs typeface="Calibri"/>
                <a:sym typeface="Calibri"/>
              </a:rPr>
              <a:t>SOLVENTUM VIỆT NAM  ·  HỆ THỐNG QUẢN TRỊ QUY TRÌNH NGHIỆP VỤ</a:t>
            </a:r>
            <a:endParaRPr/>
          </a:p>
        </p:txBody>
      </p:sp>
      <p:sp>
        <p:nvSpPr>
          <p:cNvPr id="1049" name="Google Shape;1049;p52"/>
          <p:cNvSpPr txBox="1"/>
          <p:nvPr/>
        </p:nvSpPr>
        <p:spPr>
          <a:xfrm>
            <a:off x="10984687" y="6355080"/>
            <a:ext cx="548640" cy="2286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1" i="0" lang="en-US" sz="950">
                <a:solidFill>
                  <a:srgbClr val="0096D6"/>
                </a:solidFill>
                <a:latin typeface="Calibri"/>
                <a:ea typeface="Calibri"/>
                <a:cs typeface="Calibri"/>
                <a:sym typeface="Calibri"/>
              </a:rPr>
              <a:t>40</a:t>
            </a:r>
            <a:endParaRPr/>
          </a:p>
        </p:txBody>
      </p:sp>
      <p:sp>
        <p:nvSpPr>
          <p:cNvPr id="1050" name="Google Shape;1050;p52"/>
          <p:cNvSpPr txBox="1"/>
          <p:nvPr/>
        </p:nvSpPr>
        <p:spPr>
          <a:xfrm>
            <a:off x="658368" y="1097280"/>
            <a:ext cx="10874959"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400">
                <a:solidFill>
                  <a:srgbClr val="0A2540"/>
                </a:solidFill>
                <a:latin typeface="Calibri"/>
                <a:ea typeface="Calibri"/>
                <a:cs typeface="Calibri"/>
                <a:sym typeface="Calibri"/>
              </a:rPr>
              <a:t>Hình 4.7. Biểu đồ Fishbone phân tích nguyên nhân làm kéo dài thời gian hoàn tất quy trình Procurement Management</a:t>
            </a:r>
            <a:endParaRPr/>
          </a:p>
        </p:txBody>
      </p:sp>
      <p:pic>
        <p:nvPicPr>
          <p:cNvPr id="1051" name="Google Shape;1051;p52"/>
          <p:cNvPicPr preferRelativeResize="0"/>
          <p:nvPr/>
        </p:nvPicPr>
        <p:blipFill>
          <a:blip r:embed="rId3">
            <a:alphaModFix/>
          </a:blip>
          <a:stretch>
            <a:fillRect/>
          </a:stretch>
        </p:blipFill>
        <p:spPr>
          <a:xfrm>
            <a:off x="2187488" y="1510875"/>
            <a:ext cx="7816737" cy="428367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5" name="Shape 1055"/>
        <p:cNvGrpSpPr/>
        <p:nvPr/>
      </p:nvGrpSpPr>
      <p:grpSpPr>
        <a:xfrm>
          <a:off x="0" y="0"/>
          <a:ext cx="0" cy="0"/>
          <a:chOff x="0" y="0"/>
          <a:chExt cx="0" cy="0"/>
        </a:xfrm>
      </p:grpSpPr>
      <p:sp>
        <p:nvSpPr>
          <p:cNvPr id="1056" name="Google Shape;1056;p53"/>
          <p:cNvSpPr txBox="1"/>
          <p:nvPr/>
        </p:nvSpPr>
        <p:spPr>
          <a:xfrm>
            <a:off x="658368" y="384048"/>
            <a:ext cx="10874959"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050">
                <a:solidFill>
                  <a:srgbClr val="0096D6"/>
                </a:solidFill>
                <a:latin typeface="Calibri"/>
                <a:ea typeface="Calibri"/>
                <a:cs typeface="Calibri"/>
                <a:sym typeface="Calibri"/>
              </a:rPr>
              <a:t>CHƯƠNG 4 · 4.3.3A PHÂN TÍCH THỜI GIAN (TIME)</a:t>
            </a:r>
            <a:endParaRPr/>
          </a:p>
        </p:txBody>
      </p:sp>
      <p:sp>
        <p:nvSpPr>
          <p:cNvPr id="1057" name="Google Shape;1057;p53"/>
          <p:cNvSpPr txBox="1"/>
          <p:nvPr/>
        </p:nvSpPr>
        <p:spPr>
          <a:xfrm>
            <a:off x="658368" y="640080"/>
            <a:ext cx="10874959" cy="60350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US" sz="2500">
                <a:solidFill>
                  <a:srgbClr val="0A2540"/>
                </a:solidFill>
                <a:latin typeface="Calibri"/>
                <a:ea typeface="Calibri"/>
                <a:cs typeface="Calibri"/>
                <a:sym typeface="Calibri"/>
              </a:rPr>
              <a:t>CÁC ĐIỂM CHI PHỐI THỜI GIAN CỦA QUY TRÌNH</a:t>
            </a:r>
            <a:endParaRPr/>
          </a:p>
        </p:txBody>
      </p:sp>
      <p:sp>
        <p:nvSpPr>
          <p:cNvPr id="1058" name="Google Shape;1058;p53"/>
          <p:cNvSpPr/>
          <p:nvPr/>
        </p:nvSpPr>
        <p:spPr>
          <a:xfrm>
            <a:off x="658368" y="1280160"/>
            <a:ext cx="566928" cy="41148"/>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59" name="Google Shape;1059;p53"/>
          <p:cNvSpPr/>
          <p:nvPr/>
        </p:nvSpPr>
        <p:spPr>
          <a:xfrm>
            <a:off x="1298448" y="1280160"/>
            <a:ext cx="10234879" cy="41148"/>
          </a:xfrm>
          <a:prstGeom prst="rect">
            <a:avLst/>
          </a:prstGeom>
          <a:solidFill>
            <a:srgbClr val="DFE4E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60" name="Google Shape;1060;p53"/>
          <p:cNvSpPr txBox="1"/>
          <p:nvPr/>
        </p:nvSpPr>
        <p:spPr>
          <a:xfrm>
            <a:off x="658368" y="1371600"/>
            <a:ext cx="10874959"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1" lang="en-US" sz="1100">
                <a:solidFill>
                  <a:srgbClr val="6B7784"/>
                </a:solidFill>
                <a:latin typeface="Calibri"/>
                <a:ea typeface="Calibri"/>
                <a:cs typeface="Calibri"/>
                <a:sym typeface="Calibri"/>
              </a:rPr>
              <a:t>Trích từ Bảng 4.11 (17 hoạt động) — các bước có Waiting Time hoặc Processing Time lớn  ·  01 ngày = 08 giờ</a:t>
            </a:r>
            <a:endParaRPr/>
          </a:p>
        </p:txBody>
      </p:sp>
      <p:sp>
        <p:nvSpPr>
          <p:cNvPr id="1061" name="Google Shape;1061;p53"/>
          <p:cNvSpPr txBox="1"/>
          <p:nvPr/>
        </p:nvSpPr>
        <p:spPr>
          <a:xfrm>
            <a:off x="658368" y="6355080"/>
            <a:ext cx="10326319"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850">
                <a:solidFill>
                  <a:srgbClr val="6B7784"/>
                </a:solidFill>
                <a:latin typeface="Calibri"/>
                <a:ea typeface="Calibri"/>
                <a:cs typeface="Calibri"/>
                <a:sym typeface="Calibri"/>
              </a:rPr>
              <a:t>SOLVENTUM VIỆT NAM  ·  HỆ THỐNG QUẢN TRỊ QUY TRÌNH NGHIỆP VỤ</a:t>
            </a:r>
            <a:endParaRPr/>
          </a:p>
        </p:txBody>
      </p:sp>
      <p:sp>
        <p:nvSpPr>
          <p:cNvPr id="1062" name="Google Shape;1062;p53"/>
          <p:cNvSpPr txBox="1"/>
          <p:nvPr/>
        </p:nvSpPr>
        <p:spPr>
          <a:xfrm>
            <a:off x="10984687" y="6355080"/>
            <a:ext cx="548640" cy="2286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1" i="0" lang="en-US" sz="950">
                <a:solidFill>
                  <a:srgbClr val="0096D6"/>
                </a:solidFill>
                <a:latin typeface="Calibri"/>
                <a:ea typeface="Calibri"/>
                <a:cs typeface="Calibri"/>
                <a:sym typeface="Calibri"/>
              </a:rPr>
              <a:t>41</a:t>
            </a:r>
            <a:endParaRPr/>
          </a:p>
        </p:txBody>
      </p:sp>
      <p:graphicFrame>
        <p:nvGraphicFramePr>
          <p:cNvPr id="1063" name="Google Shape;1063;p53"/>
          <p:cNvGraphicFramePr/>
          <p:nvPr/>
        </p:nvGraphicFramePr>
        <p:xfrm>
          <a:off x="658368" y="1810512"/>
          <a:ext cx="3000000" cy="3000000"/>
        </p:xfrm>
        <a:graphic>
          <a:graphicData uri="http://schemas.openxmlformats.org/drawingml/2006/table">
            <a:tbl>
              <a:tblPr firstRow="1">
                <a:noFill/>
                <a:tableStyleId>{65267F91-CA84-436A-A840-DCCC5366F6D9}</a:tableStyleId>
              </a:tblPr>
              <a:tblGrid>
                <a:gridCol w="4937750"/>
                <a:gridCol w="3154675"/>
                <a:gridCol w="1391250"/>
                <a:gridCol w="1391250"/>
              </a:tblGrid>
              <a:tr h="411475">
                <a:tc>
                  <a:txBody>
                    <a:bodyPr/>
                    <a:lstStyle/>
                    <a:p>
                      <a:pPr indent="0" lvl="0" marL="0" marR="0" rtl="0" algn="ctr">
                        <a:lnSpc>
                          <a:spcPct val="105000"/>
                        </a:lnSpc>
                        <a:spcBef>
                          <a:spcPts val="0"/>
                        </a:spcBef>
                        <a:spcAft>
                          <a:spcPts val="0"/>
                        </a:spcAft>
                        <a:buNone/>
                      </a:pPr>
                      <a:r>
                        <a:rPr b="1" i="0" lang="en-US" sz="1150" u="none" cap="none" strike="noStrike">
                          <a:solidFill>
                            <a:srgbClr val="FFFFFF"/>
                          </a:solidFill>
                          <a:latin typeface="Calibri"/>
                          <a:ea typeface="Calibri"/>
                          <a:cs typeface="Calibri"/>
                          <a:sym typeface="Calibri"/>
                        </a:rPr>
                        <a:t>HOẠT ĐỘNG / GIAI ĐOẠN</a:t>
                      </a:r>
                      <a:endParaRPr/>
                    </a:p>
                  </a:txBody>
                  <a:tcPr marT="41150" marB="41150" marR="73150" marL="91450" anchor="ctr">
                    <a:solidFill>
                      <a:srgbClr val="0A2540"/>
                    </a:solidFill>
                  </a:tcPr>
                </a:tc>
                <a:tc>
                  <a:txBody>
                    <a:bodyPr/>
                    <a:lstStyle/>
                    <a:p>
                      <a:pPr indent="0" lvl="0" marL="0" marR="0" rtl="0" algn="ctr">
                        <a:lnSpc>
                          <a:spcPct val="105000"/>
                        </a:lnSpc>
                        <a:spcBef>
                          <a:spcPts val="0"/>
                        </a:spcBef>
                        <a:spcAft>
                          <a:spcPts val="0"/>
                        </a:spcAft>
                        <a:buNone/>
                      </a:pPr>
                      <a:r>
                        <a:rPr b="1" i="0" lang="en-US" sz="1150" u="none" cap="none" strike="noStrike">
                          <a:solidFill>
                            <a:srgbClr val="FFFFFF"/>
                          </a:solidFill>
                          <a:latin typeface="Calibri"/>
                          <a:ea typeface="Calibri"/>
                          <a:cs typeface="Calibri"/>
                          <a:sym typeface="Calibri"/>
                        </a:rPr>
                        <a:t>ĐỐI TƯỢNG CHÍNH</a:t>
                      </a:r>
                      <a:endParaRPr/>
                    </a:p>
                  </a:txBody>
                  <a:tcPr marT="41150" marB="41150" marR="73150" marL="91450" anchor="ctr">
                    <a:solidFill>
                      <a:srgbClr val="0A2540"/>
                    </a:solidFill>
                  </a:tcPr>
                </a:tc>
                <a:tc>
                  <a:txBody>
                    <a:bodyPr/>
                    <a:lstStyle/>
                    <a:p>
                      <a:pPr indent="0" lvl="0" marL="0" marR="0" rtl="0" algn="ctr">
                        <a:lnSpc>
                          <a:spcPct val="105000"/>
                        </a:lnSpc>
                        <a:spcBef>
                          <a:spcPts val="0"/>
                        </a:spcBef>
                        <a:spcAft>
                          <a:spcPts val="0"/>
                        </a:spcAft>
                        <a:buNone/>
                      </a:pPr>
                      <a:r>
                        <a:rPr b="1" i="0" lang="en-US" sz="1150" u="none" cap="none" strike="noStrike">
                          <a:solidFill>
                            <a:srgbClr val="FFFFFF"/>
                          </a:solidFill>
                          <a:latin typeface="Calibri"/>
                          <a:ea typeface="Calibri"/>
                          <a:cs typeface="Calibri"/>
                          <a:sym typeface="Calibri"/>
                        </a:rPr>
                        <a:t>PT</a:t>
                      </a:r>
                      <a:endParaRPr/>
                    </a:p>
                    <a:p>
                      <a:pPr indent="0" lvl="0" marL="0" marR="0" rtl="0" algn="ctr">
                        <a:lnSpc>
                          <a:spcPct val="105000"/>
                        </a:lnSpc>
                        <a:spcBef>
                          <a:spcPts val="0"/>
                        </a:spcBef>
                        <a:spcAft>
                          <a:spcPts val="0"/>
                        </a:spcAft>
                        <a:buNone/>
                      </a:pPr>
                      <a:r>
                        <a:rPr b="1" i="0" lang="en-US" sz="1150" u="none" cap="none" strike="noStrike">
                          <a:solidFill>
                            <a:srgbClr val="FFFFFF"/>
                          </a:solidFill>
                          <a:latin typeface="Calibri"/>
                          <a:ea typeface="Calibri"/>
                          <a:cs typeface="Calibri"/>
                          <a:sym typeface="Calibri"/>
                        </a:rPr>
                        <a:t>(giờ)</a:t>
                      </a:r>
                      <a:endParaRPr/>
                    </a:p>
                  </a:txBody>
                  <a:tcPr marT="41150" marB="41150" marR="73150" marL="91450" anchor="ctr">
                    <a:solidFill>
                      <a:srgbClr val="0A2540"/>
                    </a:solidFill>
                  </a:tcPr>
                </a:tc>
                <a:tc>
                  <a:txBody>
                    <a:bodyPr/>
                    <a:lstStyle/>
                    <a:p>
                      <a:pPr indent="0" lvl="0" marL="0" marR="0" rtl="0" algn="ctr">
                        <a:lnSpc>
                          <a:spcPct val="105000"/>
                        </a:lnSpc>
                        <a:spcBef>
                          <a:spcPts val="0"/>
                        </a:spcBef>
                        <a:spcAft>
                          <a:spcPts val="0"/>
                        </a:spcAft>
                        <a:buNone/>
                      </a:pPr>
                      <a:r>
                        <a:rPr b="1" i="0" lang="en-US" sz="1150" u="none" cap="none" strike="noStrike">
                          <a:solidFill>
                            <a:srgbClr val="FFFFFF"/>
                          </a:solidFill>
                          <a:latin typeface="Calibri"/>
                          <a:ea typeface="Calibri"/>
                          <a:cs typeface="Calibri"/>
                          <a:sym typeface="Calibri"/>
                        </a:rPr>
                        <a:t>WT</a:t>
                      </a:r>
                      <a:endParaRPr/>
                    </a:p>
                    <a:p>
                      <a:pPr indent="0" lvl="0" marL="0" marR="0" rtl="0" algn="ctr">
                        <a:lnSpc>
                          <a:spcPct val="105000"/>
                        </a:lnSpc>
                        <a:spcBef>
                          <a:spcPts val="0"/>
                        </a:spcBef>
                        <a:spcAft>
                          <a:spcPts val="0"/>
                        </a:spcAft>
                        <a:buNone/>
                      </a:pPr>
                      <a:r>
                        <a:rPr b="1" i="0" lang="en-US" sz="1150" u="none" cap="none" strike="noStrike">
                          <a:solidFill>
                            <a:srgbClr val="FFFFFF"/>
                          </a:solidFill>
                          <a:latin typeface="Calibri"/>
                          <a:ea typeface="Calibri"/>
                          <a:cs typeface="Calibri"/>
                          <a:sym typeface="Calibri"/>
                        </a:rPr>
                        <a:t>(giờ)</a:t>
                      </a:r>
                      <a:endParaRPr/>
                    </a:p>
                  </a:txBody>
                  <a:tcPr marT="41150" marB="41150" marR="73150" marL="91450" anchor="ctr">
                    <a:solidFill>
                      <a:srgbClr val="0A2540"/>
                    </a:solidFill>
                  </a:tcPr>
                </a:tc>
              </a:tr>
              <a:tr h="320050">
                <a:tc>
                  <a:txBody>
                    <a:bodyPr/>
                    <a:lstStyle/>
                    <a:p>
                      <a:pPr indent="0" lvl="0" marL="0" marR="0" rtl="0" algn="l">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Tạo Purchase Requisition (PR)</a:t>
                      </a:r>
                      <a:endParaRPr/>
                    </a:p>
                  </a:txBody>
                  <a:tcPr marT="41150" marB="41150" marR="73150" marL="91450" anchor="ctr"/>
                </a:tc>
                <a:tc>
                  <a:txBody>
                    <a:bodyPr/>
                    <a:lstStyle/>
                    <a:p>
                      <a:pPr indent="0" lvl="0" marL="0" marR="0" rtl="0" algn="l">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Requester</a:t>
                      </a:r>
                      <a:endParaRPr/>
                    </a:p>
                  </a:txBody>
                  <a:tcPr marT="41150" marB="41150" marR="73150" marL="91450" anchor="ctr"/>
                </a:tc>
                <a:tc>
                  <a:txBody>
                    <a:bodyPr/>
                    <a:lstStyle/>
                    <a:p>
                      <a:pPr indent="0" lvl="0" marL="0" marR="0" rtl="0" algn="ctr">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0,5</a:t>
                      </a:r>
                      <a:endParaRPr/>
                    </a:p>
                  </a:txBody>
                  <a:tcPr marT="41150" marB="41150" marR="73150" marL="91450" anchor="ctr"/>
                </a:tc>
                <a:tc>
                  <a:txBody>
                    <a:bodyPr/>
                    <a:lstStyle/>
                    <a:p>
                      <a:pPr indent="0" lvl="0" marL="0" marR="0" rtl="0" algn="ctr">
                        <a:lnSpc>
                          <a:spcPct val="105000"/>
                        </a:lnSpc>
                        <a:spcBef>
                          <a:spcPts val="0"/>
                        </a:spcBef>
                        <a:spcAft>
                          <a:spcPts val="0"/>
                        </a:spcAft>
                        <a:buNone/>
                      </a:pPr>
                      <a:r>
                        <a:rPr b="0" i="0" lang="en-US" sz="1400" u="none" cap="none" strike="noStrike">
                          <a:solidFill>
                            <a:srgbClr val="6B7784"/>
                          </a:solidFill>
                          <a:latin typeface="Calibri"/>
                          <a:ea typeface="Calibri"/>
                          <a:cs typeface="Calibri"/>
                          <a:sym typeface="Calibri"/>
                        </a:rPr>
                        <a:t>–</a:t>
                      </a:r>
                      <a:endParaRPr/>
                    </a:p>
                  </a:txBody>
                  <a:tcPr marT="41150" marB="41150" marR="73150" marL="91450" anchor="ctr"/>
                </a:tc>
              </a:tr>
              <a:tr h="320050">
                <a:tc>
                  <a:txBody>
                    <a:bodyPr/>
                    <a:lstStyle/>
                    <a:p>
                      <a:pPr indent="0" lvl="0" marL="0" marR="0" rtl="0" algn="l">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Xem xét và phê duyệt PR</a:t>
                      </a:r>
                      <a:endParaRPr/>
                    </a:p>
                  </a:txBody>
                  <a:tcPr marT="41150" marB="41150" marR="73150" marL="91450" anchor="ctr"/>
                </a:tc>
                <a:tc>
                  <a:txBody>
                    <a:bodyPr/>
                    <a:lstStyle/>
                    <a:p>
                      <a:pPr indent="0" lvl="0" marL="0" marR="0" rtl="0" algn="l">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Approver</a:t>
                      </a:r>
                      <a:endParaRPr/>
                    </a:p>
                  </a:txBody>
                  <a:tcPr marT="41150" marB="41150" marR="73150" marL="91450" anchor="ctr"/>
                </a:tc>
                <a:tc>
                  <a:txBody>
                    <a:bodyPr/>
                    <a:lstStyle/>
                    <a:p>
                      <a:pPr indent="0" lvl="0" marL="0" marR="0" rtl="0" algn="ctr">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0,5</a:t>
                      </a:r>
                      <a:endParaRPr/>
                    </a:p>
                  </a:txBody>
                  <a:tcPr marT="41150" marB="41150" marR="73150" marL="91450" anchor="ctr"/>
                </a:tc>
                <a:tc>
                  <a:txBody>
                    <a:bodyPr/>
                    <a:lstStyle/>
                    <a:p>
                      <a:pPr indent="0" lvl="0" marL="0" marR="0" rtl="0" algn="ctr">
                        <a:lnSpc>
                          <a:spcPct val="105000"/>
                        </a:lnSpc>
                        <a:spcBef>
                          <a:spcPts val="0"/>
                        </a:spcBef>
                        <a:spcAft>
                          <a:spcPts val="0"/>
                        </a:spcAft>
                        <a:buNone/>
                      </a:pPr>
                      <a:r>
                        <a:rPr b="1" i="0" lang="en-US" sz="1400" u="none" cap="none" strike="noStrike">
                          <a:solidFill>
                            <a:srgbClr val="C87F0A"/>
                          </a:solidFill>
                          <a:latin typeface="Calibri"/>
                          <a:ea typeface="Calibri"/>
                          <a:cs typeface="Calibri"/>
                          <a:sym typeface="Calibri"/>
                        </a:rPr>
                        <a:t>4,0</a:t>
                      </a:r>
                      <a:endParaRPr/>
                    </a:p>
                  </a:txBody>
                  <a:tcPr marT="41150" marB="41150" marR="73150" marL="91450" anchor="ctr"/>
                </a:tc>
              </a:tr>
              <a:tr h="320050">
                <a:tc>
                  <a:txBody>
                    <a:bodyPr/>
                    <a:lstStyle/>
                    <a:p>
                      <a:pPr indent="0" lvl="0" marL="0" marR="0" rtl="0" algn="l">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Bổ sung thông tin mua hàng (nếu phát sinh)</a:t>
                      </a:r>
                      <a:endParaRPr/>
                    </a:p>
                  </a:txBody>
                  <a:tcPr marT="41150" marB="41150" marR="73150" marL="91450" anchor="ctr"/>
                </a:tc>
                <a:tc>
                  <a:txBody>
                    <a:bodyPr/>
                    <a:lstStyle/>
                    <a:p>
                      <a:pPr indent="0" lvl="0" marL="0" marR="0" rtl="0" algn="l">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Requester</a:t>
                      </a:r>
                      <a:endParaRPr/>
                    </a:p>
                  </a:txBody>
                  <a:tcPr marT="41150" marB="41150" marR="73150" marL="91450" anchor="ctr"/>
                </a:tc>
                <a:tc>
                  <a:txBody>
                    <a:bodyPr/>
                    <a:lstStyle/>
                    <a:p>
                      <a:pPr indent="0" lvl="0" marL="0" marR="0" rtl="0" algn="ctr">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0,5</a:t>
                      </a:r>
                      <a:endParaRPr/>
                    </a:p>
                  </a:txBody>
                  <a:tcPr marT="41150" marB="41150" marR="73150" marL="91450" anchor="ctr"/>
                </a:tc>
                <a:tc>
                  <a:txBody>
                    <a:bodyPr/>
                    <a:lstStyle/>
                    <a:p>
                      <a:pPr indent="0" lvl="0" marL="0" marR="0" rtl="0" algn="ctr">
                        <a:lnSpc>
                          <a:spcPct val="105000"/>
                        </a:lnSpc>
                        <a:spcBef>
                          <a:spcPts val="0"/>
                        </a:spcBef>
                        <a:spcAft>
                          <a:spcPts val="0"/>
                        </a:spcAft>
                        <a:buNone/>
                      </a:pPr>
                      <a:r>
                        <a:rPr b="1" i="0" lang="en-US" sz="1400" u="none" cap="none" strike="noStrike">
                          <a:solidFill>
                            <a:srgbClr val="C87F0A"/>
                          </a:solidFill>
                          <a:latin typeface="Calibri"/>
                          <a:ea typeface="Calibri"/>
                          <a:cs typeface="Calibri"/>
                          <a:sym typeface="Calibri"/>
                        </a:rPr>
                        <a:t>4,0</a:t>
                      </a:r>
                      <a:endParaRPr/>
                    </a:p>
                  </a:txBody>
                  <a:tcPr marT="41150" marB="41150" marR="73150" marL="91450" anchor="ctr"/>
                </a:tc>
              </a:tr>
              <a:tr h="320050">
                <a:tc>
                  <a:txBody>
                    <a:bodyPr/>
                    <a:lstStyle/>
                    <a:p>
                      <a:pPr indent="0" lvl="0" marL="0" marR="0" rtl="0" algn="l">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Tìm Supplier mới và chốt Quotation</a:t>
                      </a:r>
                      <a:endParaRPr/>
                    </a:p>
                  </a:txBody>
                  <a:tcPr marT="41150" marB="41150" marR="73150" marL="91450" anchor="ctr"/>
                </a:tc>
                <a:tc>
                  <a:txBody>
                    <a:bodyPr/>
                    <a:lstStyle/>
                    <a:p>
                      <a:pPr indent="0" lvl="0" marL="0" marR="0" rtl="0" algn="l">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Procurement Specialist</a:t>
                      </a:r>
                      <a:endParaRPr/>
                    </a:p>
                  </a:txBody>
                  <a:tcPr marT="41150" marB="41150" marR="73150" marL="91450" anchor="ctr"/>
                </a:tc>
                <a:tc>
                  <a:txBody>
                    <a:bodyPr/>
                    <a:lstStyle/>
                    <a:p>
                      <a:pPr indent="0" lvl="0" marL="0" marR="0" rtl="0" algn="ctr">
                        <a:lnSpc>
                          <a:spcPct val="105000"/>
                        </a:lnSpc>
                        <a:spcBef>
                          <a:spcPts val="0"/>
                        </a:spcBef>
                        <a:spcAft>
                          <a:spcPts val="0"/>
                        </a:spcAft>
                        <a:buNone/>
                      </a:pPr>
                      <a:r>
                        <a:rPr b="1" i="0" lang="en-US" sz="1400" u="none" cap="none" strike="noStrike">
                          <a:solidFill>
                            <a:srgbClr val="0A2540"/>
                          </a:solidFill>
                          <a:latin typeface="Calibri"/>
                          <a:ea typeface="Calibri"/>
                          <a:cs typeface="Calibri"/>
                          <a:sym typeface="Calibri"/>
                        </a:rPr>
                        <a:t>4,0</a:t>
                      </a:r>
                      <a:endParaRPr/>
                    </a:p>
                  </a:txBody>
                  <a:tcPr marT="41150" marB="41150" marR="73150" marL="91450" anchor="ctr"/>
                </a:tc>
                <a:tc>
                  <a:txBody>
                    <a:bodyPr/>
                    <a:lstStyle/>
                    <a:p>
                      <a:pPr indent="0" lvl="0" marL="0" marR="0" rtl="0" algn="ctr">
                        <a:lnSpc>
                          <a:spcPct val="105000"/>
                        </a:lnSpc>
                        <a:spcBef>
                          <a:spcPts val="0"/>
                        </a:spcBef>
                        <a:spcAft>
                          <a:spcPts val="0"/>
                        </a:spcAft>
                        <a:buNone/>
                      </a:pPr>
                      <a:r>
                        <a:rPr b="1" i="0" lang="en-US" sz="1400" u="none" cap="none" strike="noStrike">
                          <a:solidFill>
                            <a:srgbClr val="C0392B"/>
                          </a:solidFill>
                          <a:latin typeface="Calibri"/>
                          <a:ea typeface="Calibri"/>
                          <a:cs typeface="Calibri"/>
                          <a:sym typeface="Calibri"/>
                        </a:rPr>
                        <a:t>8,0</a:t>
                      </a:r>
                      <a:endParaRPr/>
                    </a:p>
                  </a:txBody>
                  <a:tcPr marT="41150" marB="41150" marR="73150" marL="91450" anchor="ctr"/>
                </a:tc>
              </a:tr>
              <a:tr h="320050">
                <a:tc>
                  <a:txBody>
                    <a:bodyPr/>
                    <a:lstStyle/>
                    <a:p>
                      <a:pPr indent="0" lvl="0" marL="0" marR="0" rtl="0" algn="l">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Theo dõi quá trình cung ứng</a:t>
                      </a:r>
                      <a:endParaRPr/>
                    </a:p>
                  </a:txBody>
                  <a:tcPr marT="41150" marB="41150" marR="73150" marL="91450" anchor="ctr"/>
                </a:tc>
                <a:tc>
                  <a:txBody>
                    <a:bodyPr/>
                    <a:lstStyle/>
                    <a:p>
                      <a:pPr indent="0" lvl="0" marL="0" marR="0" rtl="0" algn="l">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Procurement Specialist</a:t>
                      </a:r>
                      <a:endParaRPr/>
                    </a:p>
                  </a:txBody>
                  <a:tcPr marT="41150" marB="41150" marR="73150" marL="91450" anchor="ctr"/>
                </a:tc>
                <a:tc>
                  <a:txBody>
                    <a:bodyPr/>
                    <a:lstStyle/>
                    <a:p>
                      <a:pPr indent="0" lvl="0" marL="0" marR="0" rtl="0" algn="ctr">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1,5</a:t>
                      </a:r>
                      <a:endParaRPr/>
                    </a:p>
                  </a:txBody>
                  <a:tcPr marT="41150" marB="41150" marR="73150" marL="91450" anchor="ctr"/>
                </a:tc>
                <a:tc>
                  <a:txBody>
                    <a:bodyPr/>
                    <a:lstStyle/>
                    <a:p>
                      <a:pPr indent="0" lvl="0" marL="0" marR="0" rtl="0" algn="ctr">
                        <a:lnSpc>
                          <a:spcPct val="105000"/>
                        </a:lnSpc>
                        <a:spcBef>
                          <a:spcPts val="0"/>
                        </a:spcBef>
                        <a:spcAft>
                          <a:spcPts val="0"/>
                        </a:spcAft>
                        <a:buNone/>
                      </a:pPr>
                      <a:r>
                        <a:rPr b="1" i="0" lang="en-US" sz="1400" u="none" cap="none" strike="noStrike">
                          <a:solidFill>
                            <a:srgbClr val="C0392B"/>
                          </a:solidFill>
                          <a:latin typeface="Calibri"/>
                          <a:ea typeface="Calibri"/>
                          <a:cs typeface="Calibri"/>
                          <a:sym typeface="Calibri"/>
                        </a:rPr>
                        <a:t>80,0</a:t>
                      </a:r>
                      <a:endParaRPr/>
                    </a:p>
                  </a:txBody>
                  <a:tcPr marT="41150" marB="41150" marR="73150" marL="91450" anchor="ctr"/>
                </a:tc>
              </a:tr>
              <a:tr h="320050">
                <a:tc>
                  <a:txBody>
                    <a:bodyPr/>
                    <a:lstStyle/>
                    <a:p>
                      <a:pPr indent="0" lvl="0" marL="0" marR="0" rtl="0" algn="l">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Cung cấp hàng hóa theo PO</a:t>
                      </a:r>
                      <a:endParaRPr/>
                    </a:p>
                  </a:txBody>
                  <a:tcPr marT="41150" marB="41150" marR="73150" marL="91450" anchor="ctr"/>
                </a:tc>
                <a:tc>
                  <a:txBody>
                    <a:bodyPr/>
                    <a:lstStyle/>
                    <a:p>
                      <a:pPr indent="0" lvl="0" marL="0" marR="0" rtl="0" algn="l">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Supplier</a:t>
                      </a:r>
                      <a:endParaRPr/>
                    </a:p>
                  </a:txBody>
                  <a:tcPr marT="41150" marB="41150" marR="73150" marL="91450" anchor="ctr"/>
                </a:tc>
                <a:tc>
                  <a:txBody>
                    <a:bodyPr/>
                    <a:lstStyle/>
                    <a:p>
                      <a:pPr indent="0" lvl="0" marL="0" marR="0" rtl="0" algn="ctr">
                        <a:lnSpc>
                          <a:spcPct val="105000"/>
                        </a:lnSpc>
                        <a:spcBef>
                          <a:spcPts val="0"/>
                        </a:spcBef>
                        <a:spcAft>
                          <a:spcPts val="0"/>
                        </a:spcAft>
                        <a:buNone/>
                      </a:pPr>
                      <a:r>
                        <a:rPr b="1" i="0" lang="en-US" sz="1400" u="none" cap="none" strike="noStrike">
                          <a:solidFill>
                            <a:srgbClr val="00C2A8"/>
                          </a:solidFill>
                          <a:latin typeface="Calibri"/>
                          <a:ea typeface="Calibri"/>
                          <a:cs typeface="Calibri"/>
                          <a:sym typeface="Calibri"/>
                        </a:rPr>
                        <a:t>3,0</a:t>
                      </a:r>
                      <a:endParaRPr/>
                    </a:p>
                  </a:txBody>
                  <a:tcPr marT="41150" marB="41150" marR="73150" marL="91450" anchor="ctr"/>
                </a:tc>
                <a:tc>
                  <a:txBody>
                    <a:bodyPr/>
                    <a:lstStyle/>
                    <a:p>
                      <a:pPr indent="0" lvl="0" marL="0" marR="0" rtl="0" algn="ctr">
                        <a:lnSpc>
                          <a:spcPct val="105000"/>
                        </a:lnSpc>
                        <a:spcBef>
                          <a:spcPts val="0"/>
                        </a:spcBef>
                        <a:spcAft>
                          <a:spcPts val="0"/>
                        </a:spcAft>
                        <a:buNone/>
                      </a:pPr>
                      <a:r>
                        <a:rPr b="0" i="0" lang="en-US" sz="1400" u="none" cap="none" strike="noStrike">
                          <a:solidFill>
                            <a:srgbClr val="6B7784"/>
                          </a:solidFill>
                          <a:latin typeface="Calibri"/>
                          <a:ea typeface="Calibri"/>
                          <a:cs typeface="Calibri"/>
                          <a:sym typeface="Calibri"/>
                        </a:rPr>
                        <a:t>–</a:t>
                      </a:r>
                      <a:endParaRPr/>
                    </a:p>
                  </a:txBody>
                  <a:tcPr marT="41150" marB="41150" marR="73150" marL="91450" anchor="ctr"/>
                </a:tc>
              </a:tr>
              <a:tr h="320050">
                <a:tc>
                  <a:txBody>
                    <a:bodyPr/>
                    <a:lstStyle/>
                    <a:p>
                      <a:pPr indent="0" lvl="0" marL="0" marR="0" rtl="0" algn="l">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Kiểm tra &amp; điều chỉnh hàng hóa (nếu phát sinh)</a:t>
                      </a:r>
                      <a:endParaRPr/>
                    </a:p>
                  </a:txBody>
                  <a:tcPr marT="41150" marB="41150" marR="73150" marL="91450" anchor="ctr"/>
                </a:tc>
                <a:tc>
                  <a:txBody>
                    <a:bodyPr/>
                    <a:lstStyle/>
                    <a:p>
                      <a:pPr indent="0" lvl="0" marL="0" marR="0" rtl="0" algn="l">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Supplier</a:t>
                      </a:r>
                      <a:endParaRPr/>
                    </a:p>
                  </a:txBody>
                  <a:tcPr marT="41150" marB="41150" marR="73150" marL="91450" anchor="ctr"/>
                </a:tc>
                <a:tc>
                  <a:txBody>
                    <a:bodyPr/>
                    <a:lstStyle/>
                    <a:p>
                      <a:pPr indent="0" lvl="0" marL="0" marR="0" rtl="0" algn="ctr">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1,0</a:t>
                      </a:r>
                      <a:endParaRPr/>
                    </a:p>
                  </a:txBody>
                  <a:tcPr marT="41150" marB="41150" marR="73150" marL="91450" anchor="ctr"/>
                </a:tc>
                <a:tc>
                  <a:txBody>
                    <a:bodyPr/>
                    <a:lstStyle/>
                    <a:p>
                      <a:pPr indent="0" lvl="0" marL="0" marR="0" rtl="0" algn="ctr">
                        <a:lnSpc>
                          <a:spcPct val="105000"/>
                        </a:lnSpc>
                        <a:spcBef>
                          <a:spcPts val="0"/>
                        </a:spcBef>
                        <a:spcAft>
                          <a:spcPts val="0"/>
                        </a:spcAft>
                        <a:buNone/>
                      </a:pPr>
                      <a:r>
                        <a:rPr b="1" i="0" lang="en-US" sz="1400" u="none" cap="none" strike="noStrike">
                          <a:solidFill>
                            <a:srgbClr val="C0392B"/>
                          </a:solidFill>
                          <a:latin typeface="Calibri"/>
                          <a:ea typeface="Calibri"/>
                          <a:cs typeface="Calibri"/>
                          <a:sym typeface="Calibri"/>
                        </a:rPr>
                        <a:t>8,0</a:t>
                      </a:r>
                      <a:endParaRPr/>
                    </a:p>
                  </a:txBody>
                  <a:tcPr marT="41150" marB="41150" marR="73150" marL="91450" anchor="ctr"/>
                </a:tc>
              </a:tr>
              <a:tr h="320050">
                <a:tc>
                  <a:txBody>
                    <a:bodyPr/>
                    <a:lstStyle/>
                    <a:p>
                      <a:pPr indent="0" lvl="0" marL="0" marR="0" rtl="0" algn="l">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Phát hành hóa đơn</a:t>
                      </a:r>
                      <a:endParaRPr/>
                    </a:p>
                  </a:txBody>
                  <a:tcPr marT="41150" marB="41150" marR="73150" marL="91450" anchor="ctr"/>
                </a:tc>
                <a:tc>
                  <a:txBody>
                    <a:bodyPr/>
                    <a:lstStyle/>
                    <a:p>
                      <a:pPr indent="0" lvl="0" marL="0" marR="0" rtl="0" algn="l">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Supplier</a:t>
                      </a:r>
                      <a:endParaRPr/>
                    </a:p>
                  </a:txBody>
                  <a:tcPr marT="41150" marB="41150" marR="73150" marL="91450" anchor="ctr"/>
                </a:tc>
                <a:tc>
                  <a:txBody>
                    <a:bodyPr/>
                    <a:lstStyle/>
                    <a:p>
                      <a:pPr indent="0" lvl="0" marL="0" marR="0" rtl="0" algn="ctr">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0,5</a:t>
                      </a:r>
                      <a:endParaRPr/>
                    </a:p>
                  </a:txBody>
                  <a:tcPr marT="41150" marB="41150" marR="73150" marL="91450" anchor="ctr"/>
                </a:tc>
                <a:tc>
                  <a:txBody>
                    <a:bodyPr/>
                    <a:lstStyle/>
                    <a:p>
                      <a:pPr indent="0" lvl="0" marL="0" marR="0" rtl="0" algn="ctr">
                        <a:lnSpc>
                          <a:spcPct val="105000"/>
                        </a:lnSpc>
                        <a:spcBef>
                          <a:spcPts val="0"/>
                        </a:spcBef>
                        <a:spcAft>
                          <a:spcPts val="0"/>
                        </a:spcAft>
                        <a:buNone/>
                      </a:pPr>
                      <a:r>
                        <a:rPr b="1" i="0" lang="en-US" sz="1400" u="none" cap="none" strike="noStrike">
                          <a:solidFill>
                            <a:srgbClr val="C87F0A"/>
                          </a:solidFill>
                          <a:latin typeface="Calibri"/>
                          <a:ea typeface="Calibri"/>
                          <a:cs typeface="Calibri"/>
                          <a:sym typeface="Calibri"/>
                        </a:rPr>
                        <a:t>4,0</a:t>
                      </a:r>
                      <a:endParaRPr/>
                    </a:p>
                  </a:txBody>
                  <a:tcPr marT="41150" marB="41150" marR="73150" marL="91450" anchor="ctr"/>
                </a:tc>
              </a:tr>
              <a:tr h="320050">
                <a:tc>
                  <a:txBody>
                    <a:bodyPr/>
                    <a:lstStyle/>
                    <a:p>
                      <a:pPr indent="0" lvl="0" marL="0" marR="0" rtl="0" algn="l">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Chỉnh sửa hóa đơn (nếu phát sinh)</a:t>
                      </a:r>
                      <a:endParaRPr/>
                    </a:p>
                  </a:txBody>
                  <a:tcPr marT="41150" marB="41150" marR="73150" marL="91450" anchor="ctr"/>
                </a:tc>
                <a:tc>
                  <a:txBody>
                    <a:bodyPr/>
                    <a:lstStyle/>
                    <a:p>
                      <a:pPr indent="0" lvl="0" marL="0" marR="0" rtl="0" algn="l">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Supplier</a:t>
                      </a:r>
                      <a:endParaRPr/>
                    </a:p>
                  </a:txBody>
                  <a:tcPr marT="41150" marB="41150" marR="73150" marL="91450" anchor="ctr"/>
                </a:tc>
                <a:tc>
                  <a:txBody>
                    <a:bodyPr/>
                    <a:lstStyle/>
                    <a:p>
                      <a:pPr indent="0" lvl="0" marL="0" marR="0" rtl="0" algn="ctr">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0,5</a:t>
                      </a:r>
                      <a:endParaRPr/>
                    </a:p>
                  </a:txBody>
                  <a:tcPr marT="41150" marB="41150" marR="73150" marL="91450" anchor="ctr"/>
                </a:tc>
                <a:tc>
                  <a:txBody>
                    <a:bodyPr/>
                    <a:lstStyle/>
                    <a:p>
                      <a:pPr indent="0" lvl="0" marL="0" marR="0" rtl="0" algn="ctr">
                        <a:lnSpc>
                          <a:spcPct val="105000"/>
                        </a:lnSpc>
                        <a:spcBef>
                          <a:spcPts val="0"/>
                        </a:spcBef>
                        <a:spcAft>
                          <a:spcPts val="0"/>
                        </a:spcAft>
                        <a:buNone/>
                      </a:pPr>
                      <a:r>
                        <a:rPr b="1" i="0" lang="en-US" sz="1400" u="none" cap="none" strike="noStrike">
                          <a:solidFill>
                            <a:srgbClr val="C0392B"/>
                          </a:solidFill>
                          <a:latin typeface="Calibri"/>
                          <a:ea typeface="Calibri"/>
                          <a:cs typeface="Calibri"/>
                          <a:sym typeface="Calibri"/>
                        </a:rPr>
                        <a:t>8,0</a:t>
                      </a:r>
                      <a:endParaRPr/>
                    </a:p>
                  </a:txBody>
                  <a:tcPr marT="41150" marB="41150" marR="73150" marL="91450" anchor="ctr"/>
                </a:tc>
              </a:tr>
              <a:tr h="320050">
                <a:tc>
                  <a:txBody>
                    <a:bodyPr/>
                    <a:lstStyle/>
                    <a:p>
                      <a:pPr indent="0" lvl="0" marL="0" marR="0" rtl="0" algn="l">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Thanh toán và thông báo cho nhà cung cấp</a:t>
                      </a:r>
                      <a:endParaRPr/>
                    </a:p>
                  </a:txBody>
                  <a:tcPr marT="41150" marB="41150" marR="73150" marL="91450" anchor="ctr"/>
                </a:tc>
                <a:tc>
                  <a:txBody>
                    <a:bodyPr/>
                    <a:lstStyle/>
                    <a:p>
                      <a:pPr indent="0" lvl="0" marL="0" marR="0" rtl="0" algn="l">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Finance / Accounts Payable</a:t>
                      </a:r>
                      <a:endParaRPr/>
                    </a:p>
                  </a:txBody>
                  <a:tcPr marT="41150" marB="41150" marR="73150" marL="91450" anchor="ctr"/>
                </a:tc>
                <a:tc>
                  <a:txBody>
                    <a:bodyPr/>
                    <a:lstStyle/>
                    <a:p>
                      <a:pPr indent="0" lvl="0" marL="0" marR="0" rtl="0" algn="ctr">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0,5</a:t>
                      </a:r>
                      <a:endParaRPr/>
                    </a:p>
                  </a:txBody>
                  <a:tcPr marT="41150" marB="41150" marR="73150" marL="91450" anchor="ctr"/>
                </a:tc>
                <a:tc>
                  <a:txBody>
                    <a:bodyPr/>
                    <a:lstStyle/>
                    <a:p>
                      <a:pPr indent="0" lvl="0" marL="0" marR="0" rtl="0" algn="ctr">
                        <a:lnSpc>
                          <a:spcPct val="105000"/>
                        </a:lnSpc>
                        <a:spcBef>
                          <a:spcPts val="0"/>
                        </a:spcBef>
                        <a:spcAft>
                          <a:spcPts val="0"/>
                        </a:spcAft>
                        <a:buNone/>
                      </a:pPr>
                      <a:r>
                        <a:rPr b="1" i="0" lang="en-US" sz="1400" u="none" cap="none" strike="noStrike">
                          <a:solidFill>
                            <a:srgbClr val="C0392B"/>
                          </a:solidFill>
                          <a:latin typeface="Calibri"/>
                          <a:ea typeface="Calibri"/>
                          <a:cs typeface="Calibri"/>
                          <a:sym typeface="Calibri"/>
                        </a:rPr>
                        <a:t>8,0</a:t>
                      </a:r>
                      <a:endParaRPr/>
                    </a:p>
                  </a:txBody>
                  <a:tcPr marT="41150" marB="41150" marR="73150" marL="91450" anchor="ctr"/>
                </a:tc>
              </a:tr>
            </a:tbl>
          </a:graphicData>
        </a:graphic>
      </p:graphicFrame>
      <p:sp>
        <p:nvSpPr>
          <p:cNvPr id="1064" name="Google Shape;1064;p53"/>
          <p:cNvSpPr/>
          <p:nvPr/>
        </p:nvSpPr>
        <p:spPr>
          <a:xfrm>
            <a:off x="658368" y="5669280"/>
            <a:ext cx="10874959" cy="548640"/>
          </a:xfrm>
          <a:prstGeom prst="rect">
            <a:avLst/>
          </a:prstGeom>
          <a:solidFill>
            <a:srgbClr val="FBF4E8"/>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65" name="Google Shape;1065;p53"/>
          <p:cNvSpPr/>
          <p:nvPr/>
        </p:nvSpPr>
        <p:spPr>
          <a:xfrm>
            <a:off x="658368" y="5669280"/>
            <a:ext cx="50292" cy="548640"/>
          </a:xfrm>
          <a:prstGeom prst="rect">
            <a:avLst/>
          </a:prstGeom>
          <a:solidFill>
            <a:srgbClr val="C87F0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66" name="Google Shape;1066;p53"/>
          <p:cNvSpPr txBox="1"/>
          <p:nvPr/>
        </p:nvSpPr>
        <p:spPr>
          <a:xfrm>
            <a:off x="864108" y="5783580"/>
            <a:ext cx="10463479" cy="32004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None/>
            </a:pPr>
            <a:r>
              <a:rPr b="0" i="0" lang="en-US" sz="950">
                <a:solidFill>
                  <a:srgbClr val="0A2540"/>
                </a:solidFill>
                <a:latin typeface="Calibri"/>
                <a:ea typeface="Calibri"/>
                <a:cs typeface="Calibri"/>
                <a:sym typeface="Calibri"/>
              </a:rPr>
              <a:t>80 giờ chờ cung ứng ≈ 10 ngày làm việc, chiếm phần lớn toàn bộ Cycle Time của quy trình — giá trị đại diện cho lead time thường gặp 1–3 tuần. Đây là điểm nghẽn chi phối, nhưng phần lớn phụ thuộc vào Supplier.</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0" name="Shape 1070"/>
        <p:cNvGrpSpPr/>
        <p:nvPr/>
      </p:nvGrpSpPr>
      <p:grpSpPr>
        <a:xfrm>
          <a:off x="0" y="0"/>
          <a:ext cx="0" cy="0"/>
          <a:chOff x="0" y="0"/>
          <a:chExt cx="0" cy="0"/>
        </a:xfrm>
      </p:grpSpPr>
      <p:sp>
        <p:nvSpPr>
          <p:cNvPr id="1071" name="Google Shape;1071;p54"/>
          <p:cNvSpPr txBox="1"/>
          <p:nvPr/>
        </p:nvSpPr>
        <p:spPr>
          <a:xfrm>
            <a:off x="658368" y="384048"/>
            <a:ext cx="10874959"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050">
                <a:solidFill>
                  <a:srgbClr val="0096D6"/>
                </a:solidFill>
                <a:latin typeface="Calibri"/>
                <a:ea typeface="Calibri"/>
                <a:cs typeface="Calibri"/>
                <a:sym typeface="Calibri"/>
              </a:rPr>
              <a:t>CHƯƠNG 4 · 4.3.3A PHÂN TÍCH THỜI GIAN (TIME)</a:t>
            </a:r>
            <a:endParaRPr/>
          </a:p>
        </p:txBody>
      </p:sp>
      <p:sp>
        <p:nvSpPr>
          <p:cNvPr id="1072" name="Google Shape;1072;p54"/>
          <p:cNvSpPr txBox="1"/>
          <p:nvPr/>
        </p:nvSpPr>
        <p:spPr>
          <a:xfrm>
            <a:off x="658368" y="640080"/>
            <a:ext cx="10874959" cy="60350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US" sz="2500">
                <a:solidFill>
                  <a:srgbClr val="0A2540"/>
                </a:solidFill>
                <a:latin typeface="Calibri"/>
                <a:ea typeface="Calibri"/>
                <a:cs typeface="Calibri"/>
                <a:sym typeface="Calibri"/>
              </a:rPr>
              <a:t>CYCLE TIME VÀ HIỆU SUẤT THỜI GIAN</a:t>
            </a:r>
            <a:endParaRPr/>
          </a:p>
        </p:txBody>
      </p:sp>
      <p:sp>
        <p:nvSpPr>
          <p:cNvPr id="1073" name="Google Shape;1073;p54"/>
          <p:cNvSpPr/>
          <p:nvPr/>
        </p:nvSpPr>
        <p:spPr>
          <a:xfrm>
            <a:off x="658368" y="1280160"/>
            <a:ext cx="566928" cy="41148"/>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74" name="Google Shape;1074;p54"/>
          <p:cNvSpPr/>
          <p:nvPr/>
        </p:nvSpPr>
        <p:spPr>
          <a:xfrm>
            <a:off x="1298448" y="1280160"/>
            <a:ext cx="10234879" cy="41148"/>
          </a:xfrm>
          <a:prstGeom prst="rect">
            <a:avLst/>
          </a:prstGeom>
          <a:solidFill>
            <a:srgbClr val="DFE4E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75" name="Google Shape;1075;p54"/>
          <p:cNvSpPr txBox="1"/>
          <p:nvPr/>
        </p:nvSpPr>
        <p:spPr>
          <a:xfrm>
            <a:off x="658368" y="1371600"/>
            <a:ext cx="10874959"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1" lang="en-US" sz="1100">
                <a:solidFill>
                  <a:srgbClr val="6B7784"/>
                </a:solidFill>
                <a:latin typeface="Calibri"/>
                <a:ea typeface="Calibri"/>
                <a:cs typeface="Calibri"/>
                <a:sym typeface="Calibri"/>
              </a:rPr>
              <a:t>Luồng cơ sở (không phát sinh vòng lặp):  PT 9,75 giờ  +  WT 96 giờ  =  CT 105,75 giờ  ≈  13,22 ngày làm việc</a:t>
            </a:r>
            <a:endParaRPr/>
          </a:p>
        </p:txBody>
      </p:sp>
      <p:sp>
        <p:nvSpPr>
          <p:cNvPr id="1076" name="Google Shape;1076;p54"/>
          <p:cNvSpPr txBox="1"/>
          <p:nvPr/>
        </p:nvSpPr>
        <p:spPr>
          <a:xfrm>
            <a:off x="658368" y="6355080"/>
            <a:ext cx="10326319"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850">
                <a:solidFill>
                  <a:srgbClr val="6B7784"/>
                </a:solidFill>
                <a:latin typeface="Calibri"/>
                <a:ea typeface="Calibri"/>
                <a:cs typeface="Calibri"/>
                <a:sym typeface="Calibri"/>
              </a:rPr>
              <a:t>SOLVENTUM VIỆT NAM  ·  HỆ THỐNG QUẢN TRỊ QUY TRÌNH NGHIỆP VỤ</a:t>
            </a:r>
            <a:endParaRPr/>
          </a:p>
        </p:txBody>
      </p:sp>
      <p:sp>
        <p:nvSpPr>
          <p:cNvPr id="1077" name="Google Shape;1077;p54"/>
          <p:cNvSpPr txBox="1"/>
          <p:nvPr/>
        </p:nvSpPr>
        <p:spPr>
          <a:xfrm>
            <a:off x="10984687" y="6355080"/>
            <a:ext cx="548640" cy="2286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1" i="0" lang="en-US" sz="950">
                <a:solidFill>
                  <a:srgbClr val="0096D6"/>
                </a:solidFill>
                <a:latin typeface="Calibri"/>
                <a:ea typeface="Calibri"/>
                <a:cs typeface="Calibri"/>
                <a:sym typeface="Calibri"/>
              </a:rPr>
              <a:t>42</a:t>
            </a:r>
            <a:endParaRPr/>
          </a:p>
        </p:txBody>
      </p:sp>
      <p:sp>
        <p:nvSpPr>
          <p:cNvPr id="1078" name="Google Shape;1078;p54"/>
          <p:cNvSpPr txBox="1"/>
          <p:nvPr/>
        </p:nvSpPr>
        <p:spPr>
          <a:xfrm>
            <a:off x="658368" y="1691640"/>
            <a:ext cx="10874959"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200">
                <a:solidFill>
                  <a:srgbClr val="0096D6"/>
                </a:solidFill>
                <a:latin typeface="Calibri"/>
                <a:ea typeface="Calibri"/>
                <a:cs typeface="Calibri"/>
                <a:sym typeface="Calibri"/>
              </a:rPr>
              <a:t>BẢNG 4.12 + 4.14 — THỜI GIAN VÀ CHI PHÍ TĂNG THÊM TỪ 04 NHÁNH PHÁT SINH</a:t>
            </a:r>
            <a:endParaRPr/>
          </a:p>
        </p:txBody>
      </p:sp>
      <p:graphicFrame>
        <p:nvGraphicFramePr>
          <p:cNvPr id="1079" name="Google Shape;1079;p54"/>
          <p:cNvGraphicFramePr/>
          <p:nvPr/>
        </p:nvGraphicFramePr>
        <p:xfrm>
          <a:off x="658368" y="2011680"/>
          <a:ext cx="3000000" cy="3000000"/>
        </p:xfrm>
        <a:graphic>
          <a:graphicData uri="http://schemas.openxmlformats.org/drawingml/2006/table">
            <a:tbl>
              <a:tblPr firstRow="1">
                <a:noFill/>
                <a:tableStyleId>{65267F91-CA84-436A-A840-DCCC5366F6D9}</a:tableStyleId>
              </a:tblPr>
              <a:tblGrid>
                <a:gridCol w="3474725"/>
                <a:gridCol w="1188725"/>
                <a:gridCol w="1737350"/>
                <a:gridCol w="1737350"/>
                <a:gridCol w="2736800"/>
              </a:tblGrid>
              <a:tr h="365750">
                <a:tc>
                  <a:txBody>
                    <a:bodyPr/>
                    <a:lstStyle/>
                    <a:p>
                      <a:pPr indent="0" lvl="0" marL="0" marR="0" rtl="0" algn="ctr">
                        <a:lnSpc>
                          <a:spcPct val="105000"/>
                        </a:lnSpc>
                        <a:spcBef>
                          <a:spcPts val="0"/>
                        </a:spcBef>
                        <a:spcAft>
                          <a:spcPts val="0"/>
                        </a:spcAft>
                        <a:buNone/>
                      </a:pPr>
                      <a:r>
                        <a:rPr b="1" i="0" lang="en-US" sz="1150" u="none" cap="none" strike="noStrike">
                          <a:solidFill>
                            <a:srgbClr val="FFFFFF"/>
                          </a:solidFill>
                          <a:latin typeface="Calibri"/>
                          <a:ea typeface="Calibri"/>
                          <a:cs typeface="Calibri"/>
                          <a:sym typeface="Calibri"/>
                        </a:rPr>
                        <a:t>TRƯỜNG HỢP PHÁT SINH</a:t>
                      </a:r>
                      <a:endParaRPr/>
                    </a:p>
                  </a:txBody>
                  <a:tcPr marT="41150" marB="41150" marR="73150" marL="91450" anchor="ctr">
                    <a:solidFill>
                      <a:srgbClr val="0A2540"/>
                    </a:solidFill>
                  </a:tcPr>
                </a:tc>
                <a:tc>
                  <a:txBody>
                    <a:bodyPr/>
                    <a:lstStyle/>
                    <a:p>
                      <a:pPr indent="0" lvl="0" marL="0" marR="0" rtl="0" algn="ctr">
                        <a:lnSpc>
                          <a:spcPct val="105000"/>
                        </a:lnSpc>
                        <a:spcBef>
                          <a:spcPts val="0"/>
                        </a:spcBef>
                        <a:spcAft>
                          <a:spcPts val="0"/>
                        </a:spcAft>
                        <a:buNone/>
                      </a:pPr>
                      <a:r>
                        <a:rPr b="1" i="0" lang="en-US" sz="1150" u="none" cap="none" strike="noStrike">
                          <a:solidFill>
                            <a:srgbClr val="FFFFFF"/>
                          </a:solidFill>
                          <a:latin typeface="Calibri"/>
                          <a:ea typeface="Calibri"/>
                          <a:cs typeface="Calibri"/>
                          <a:sym typeface="Calibri"/>
                        </a:rPr>
                        <a:t>TỶ LỆ</a:t>
                      </a:r>
                      <a:endParaRPr/>
                    </a:p>
                  </a:txBody>
                  <a:tcPr marT="41150" marB="41150" marR="73150" marL="91450" anchor="ctr">
                    <a:solidFill>
                      <a:srgbClr val="0A2540"/>
                    </a:solidFill>
                  </a:tcPr>
                </a:tc>
                <a:tc>
                  <a:txBody>
                    <a:bodyPr/>
                    <a:lstStyle/>
                    <a:p>
                      <a:pPr indent="0" lvl="0" marL="0" marR="0" rtl="0" algn="ctr">
                        <a:lnSpc>
                          <a:spcPct val="105000"/>
                        </a:lnSpc>
                        <a:spcBef>
                          <a:spcPts val="0"/>
                        </a:spcBef>
                        <a:spcAft>
                          <a:spcPts val="0"/>
                        </a:spcAft>
                        <a:buNone/>
                      </a:pPr>
                      <a:r>
                        <a:rPr b="1" i="0" lang="en-US" sz="1150" u="none" cap="none" strike="noStrike">
                          <a:solidFill>
                            <a:srgbClr val="FFFFFF"/>
                          </a:solidFill>
                          <a:latin typeface="Calibri"/>
                          <a:ea typeface="Calibri"/>
                          <a:cs typeface="Calibri"/>
                          <a:sym typeface="Calibri"/>
                        </a:rPr>
                        <a:t>THỜI GIAN PHÁT SINH</a:t>
                      </a:r>
                      <a:endParaRPr/>
                    </a:p>
                  </a:txBody>
                  <a:tcPr marT="41150" marB="41150" marR="73150" marL="91450" anchor="ctr">
                    <a:solidFill>
                      <a:srgbClr val="0A2540"/>
                    </a:solidFill>
                  </a:tcPr>
                </a:tc>
                <a:tc>
                  <a:txBody>
                    <a:bodyPr/>
                    <a:lstStyle/>
                    <a:p>
                      <a:pPr indent="0" lvl="0" marL="0" marR="0" rtl="0" algn="ctr">
                        <a:lnSpc>
                          <a:spcPct val="105000"/>
                        </a:lnSpc>
                        <a:spcBef>
                          <a:spcPts val="0"/>
                        </a:spcBef>
                        <a:spcAft>
                          <a:spcPts val="0"/>
                        </a:spcAft>
                        <a:buNone/>
                      </a:pPr>
                      <a:r>
                        <a:rPr b="1" i="0" lang="en-US" sz="1150" u="none" cap="none" strike="noStrike">
                          <a:solidFill>
                            <a:srgbClr val="FFFFFF"/>
                          </a:solidFill>
                          <a:latin typeface="Calibri"/>
                          <a:ea typeface="Calibri"/>
                          <a:cs typeface="Calibri"/>
                          <a:sym typeface="Calibri"/>
                        </a:rPr>
                        <a:t>TÍNH VÀO CT</a:t>
                      </a:r>
                      <a:endParaRPr/>
                    </a:p>
                  </a:txBody>
                  <a:tcPr marT="41150" marB="41150" marR="73150" marL="91450" anchor="ctr">
                    <a:solidFill>
                      <a:srgbClr val="0A2540"/>
                    </a:solidFill>
                  </a:tcPr>
                </a:tc>
                <a:tc>
                  <a:txBody>
                    <a:bodyPr/>
                    <a:lstStyle/>
                    <a:p>
                      <a:pPr indent="0" lvl="0" marL="0" marR="0" rtl="0" algn="ctr">
                        <a:lnSpc>
                          <a:spcPct val="105000"/>
                        </a:lnSpc>
                        <a:spcBef>
                          <a:spcPts val="0"/>
                        </a:spcBef>
                        <a:spcAft>
                          <a:spcPts val="0"/>
                        </a:spcAft>
                        <a:buNone/>
                      </a:pPr>
                      <a:r>
                        <a:rPr b="1" i="0" lang="en-US" sz="1150" u="none" cap="none" strike="noStrike">
                          <a:solidFill>
                            <a:srgbClr val="FFFFFF"/>
                          </a:solidFill>
                          <a:latin typeface="Calibri"/>
                          <a:ea typeface="Calibri"/>
                          <a:cs typeface="Calibri"/>
                          <a:sym typeface="Calibri"/>
                        </a:rPr>
                        <a:t>CHI PHÍ TĂNG THÊM</a:t>
                      </a:r>
                      <a:endParaRPr/>
                    </a:p>
                  </a:txBody>
                  <a:tcPr marT="41150" marB="41150" marR="73150" marL="91450" anchor="ctr">
                    <a:solidFill>
                      <a:srgbClr val="0A2540"/>
                    </a:solidFill>
                  </a:tcPr>
                </a:tc>
              </a:tr>
              <a:tr h="365750">
                <a:tc>
                  <a:txBody>
                    <a:bodyPr/>
                    <a:lstStyle/>
                    <a:p>
                      <a:pPr indent="0" lvl="0" marL="0" marR="0" rtl="0" algn="l">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Bổ sung / chỉnh sửa PR</a:t>
                      </a:r>
                      <a:endParaRPr/>
                    </a:p>
                  </a:txBody>
                  <a:tcPr marT="41150" marB="41150" marR="73150" marL="91450" anchor="ctr"/>
                </a:tc>
                <a:tc>
                  <a:txBody>
                    <a:bodyPr/>
                    <a:lstStyle/>
                    <a:p>
                      <a:pPr indent="0" lvl="0" marL="0" marR="0" rtl="0" algn="ctr">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15%</a:t>
                      </a:r>
                      <a:endParaRPr/>
                    </a:p>
                  </a:txBody>
                  <a:tcPr marT="41150" marB="41150" marR="73150" marL="91450" anchor="ctr"/>
                </a:tc>
                <a:tc>
                  <a:txBody>
                    <a:bodyPr/>
                    <a:lstStyle/>
                    <a:p>
                      <a:pPr indent="0" lvl="0" marL="0" marR="0" rtl="0" algn="ctr">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0,5 + 4 = 4,5 giờ</a:t>
                      </a:r>
                      <a:endParaRPr/>
                    </a:p>
                  </a:txBody>
                  <a:tcPr marT="41150" marB="41150" marR="73150" marL="91450" anchor="ctr"/>
                </a:tc>
                <a:tc>
                  <a:txBody>
                    <a:bodyPr/>
                    <a:lstStyle/>
                    <a:p>
                      <a:pPr indent="0" lvl="0" marL="0" marR="0" rtl="0" algn="ctr">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0,675 giờ</a:t>
                      </a:r>
                      <a:endParaRPr/>
                    </a:p>
                  </a:txBody>
                  <a:tcPr marT="41150" marB="41150" marR="73150" marL="91450" anchor="ctr"/>
                </a:tc>
                <a:tc>
                  <a:txBody>
                    <a:bodyPr/>
                    <a:lstStyle/>
                    <a:p>
                      <a:pPr indent="0" lvl="0" marL="0" marR="0" rtl="0" algn="ctr">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11.250 đồng</a:t>
                      </a:r>
                      <a:endParaRPr/>
                    </a:p>
                  </a:txBody>
                  <a:tcPr marT="41150" marB="41150" marR="73150" marL="91450" anchor="ctr"/>
                </a:tc>
              </a:tr>
              <a:tr h="365750">
                <a:tc>
                  <a:txBody>
                    <a:bodyPr/>
                    <a:lstStyle/>
                    <a:p>
                      <a:pPr indent="0" lvl="0" marL="0" marR="0" rtl="0" algn="l">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Tìm Supplier mới và chốt Quotation</a:t>
                      </a:r>
                      <a:endParaRPr/>
                    </a:p>
                  </a:txBody>
                  <a:tcPr marT="41150" marB="41150" marR="73150" marL="91450" anchor="ctr"/>
                </a:tc>
                <a:tc>
                  <a:txBody>
                    <a:bodyPr/>
                    <a:lstStyle/>
                    <a:p>
                      <a:pPr indent="0" lvl="0" marL="0" marR="0" rtl="0" algn="ctr">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20%</a:t>
                      </a:r>
                      <a:endParaRPr/>
                    </a:p>
                  </a:txBody>
                  <a:tcPr marT="41150" marB="41150" marR="73150" marL="91450" anchor="ctr"/>
                </a:tc>
                <a:tc>
                  <a:txBody>
                    <a:bodyPr/>
                    <a:lstStyle/>
                    <a:p>
                      <a:pPr indent="0" lvl="0" marL="0" marR="0" rtl="0" algn="ctr">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4 + 8 = 12 giờ</a:t>
                      </a:r>
                      <a:endParaRPr/>
                    </a:p>
                  </a:txBody>
                  <a:tcPr marT="41150" marB="41150" marR="73150" marL="91450" anchor="ctr"/>
                </a:tc>
                <a:tc>
                  <a:txBody>
                    <a:bodyPr/>
                    <a:lstStyle/>
                    <a:p>
                      <a:pPr indent="0" lvl="0" marL="0" marR="0" rtl="0" algn="ctr">
                        <a:lnSpc>
                          <a:spcPct val="105000"/>
                        </a:lnSpc>
                        <a:spcBef>
                          <a:spcPts val="0"/>
                        </a:spcBef>
                        <a:spcAft>
                          <a:spcPts val="0"/>
                        </a:spcAft>
                        <a:buNone/>
                      </a:pPr>
                      <a:r>
                        <a:rPr b="1" i="0" lang="en-US" sz="1400" u="none" cap="none" strike="noStrike">
                          <a:solidFill>
                            <a:srgbClr val="C0392B"/>
                          </a:solidFill>
                          <a:latin typeface="Calibri"/>
                          <a:ea typeface="Calibri"/>
                          <a:cs typeface="Calibri"/>
                          <a:sym typeface="Calibri"/>
                        </a:rPr>
                        <a:t>2,400 giờ</a:t>
                      </a:r>
                      <a:endParaRPr/>
                    </a:p>
                  </a:txBody>
                  <a:tcPr marT="41150" marB="41150" marR="73150" marL="91450" anchor="ctr"/>
                </a:tc>
                <a:tc>
                  <a:txBody>
                    <a:bodyPr/>
                    <a:lstStyle/>
                    <a:p>
                      <a:pPr indent="0" lvl="0" marL="0" marR="0" rtl="0" algn="ctr">
                        <a:lnSpc>
                          <a:spcPct val="105000"/>
                        </a:lnSpc>
                        <a:spcBef>
                          <a:spcPts val="0"/>
                        </a:spcBef>
                        <a:spcAft>
                          <a:spcPts val="0"/>
                        </a:spcAft>
                        <a:buNone/>
                      </a:pPr>
                      <a:r>
                        <a:rPr b="1" i="0" lang="en-US" sz="1400" u="none" cap="none" strike="noStrike">
                          <a:solidFill>
                            <a:srgbClr val="C0392B"/>
                          </a:solidFill>
                          <a:latin typeface="Calibri"/>
                          <a:ea typeface="Calibri"/>
                          <a:cs typeface="Calibri"/>
                          <a:sym typeface="Calibri"/>
                        </a:rPr>
                        <a:t>120.000 đồng</a:t>
                      </a:r>
                      <a:endParaRPr/>
                    </a:p>
                  </a:txBody>
                  <a:tcPr marT="41150" marB="41150" marR="73150" marL="91450" anchor="ctr"/>
                </a:tc>
              </a:tr>
              <a:tr h="365750">
                <a:tc>
                  <a:txBody>
                    <a:bodyPr/>
                    <a:lstStyle/>
                    <a:p>
                      <a:pPr indent="0" lvl="0" marL="0" marR="0" rtl="0" algn="l">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Điều chỉnh hàng hóa</a:t>
                      </a:r>
                      <a:endParaRPr/>
                    </a:p>
                  </a:txBody>
                  <a:tcPr marT="41150" marB="41150" marR="73150" marL="91450" anchor="ctr"/>
                </a:tc>
                <a:tc>
                  <a:txBody>
                    <a:bodyPr/>
                    <a:lstStyle/>
                    <a:p>
                      <a:pPr indent="0" lvl="0" marL="0" marR="0" rtl="0" algn="ctr">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5%</a:t>
                      </a:r>
                      <a:endParaRPr/>
                    </a:p>
                  </a:txBody>
                  <a:tcPr marT="41150" marB="41150" marR="73150" marL="91450" anchor="ctr"/>
                </a:tc>
                <a:tc>
                  <a:txBody>
                    <a:bodyPr/>
                    <a:lstStyle/>
                    <a:p>
                      <a:pPr indent="0" lvl="0" marL="0" marR="0" rtl="0" algn="ctr">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1 + 8 = 9 giờ</a:t>
                      </a:r>
                      <a:endParaRPr/>
                    </a:p>
                  </a:txBody>
                  <a:tcPr marT="41150" marB="41150" marR="73150" marL="91450" anchor="ctr"/>
                </a:tc>
                <a:tc>
                  <a:txBody>
                    <a:bodyPr/>
                    <a:lstStyle/>
                    <a:p>
                      <a:pPr indent="0" lvl="0" marL="0" marR="0" rtl="0" algn="ctr">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0,450 giờ</a:t>
                      </a:r>
                      <a:endParaRPr/>
                    </a:p>
                  </a:txBody>
                  <a:tcPr marT="41150" marB="41150" marR="73150" marL="91450" anchor="ctr"/>
                </a:tc>
                <a:tc>
                  <a:txBody>
                    <a:bodyPr/>
                    <a:lstStyle/>
                    <a:p>
                      <a:pPr indent="0" lvl="0" marL="0" marR="0" rtl="0" algn="ctr">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7.500 đồng</a:t>
                      </a:r>
                      <a:endParaRPr/>
                    </a:p>
                  </a:txBody>
                  <a:tcPr marT="41150" marB="41150" marR="73150" marL="91450" anchor="ctr"/>
                </a:tc>
              </a:tr>
              <a:tr h="365750">
                <a:tc>
                  <a:txBody>
                    <a:bodyPr/>
                    <a:lstStyle/>
                    <a:p>
                      <a:pPr indent="0" lvl="0" marL="0" marR="0" rtl="0" algn="l">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Chỉnh sửa hóa đơn</a:t>
                      </a:r>
                      <a:endParaRPr/>
                    </a:p>
                  </a:txBody>
                  <a:tcPr marT="41150" marB="41150" marR="73150" marL="91450" anchor="ctr"/>
                </a:tc>
                <a:tc>
                  <a:txBody>
                    <a:bodyPr/>
                    <a:lstStyle/>
                    <a:p>
                      <a:pPr indent="0" lvl="0" marL="0" marR="0" rtl="0" algn="ctr">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5%</a:t>
                      </a:r>
                      <a:endParaRPr/>
                    </a:p>
                  </a:txBody>
                  <a:tcPr marT="41150" marB="41150" marR="73150" marL="91450" anchor="ctr"/>
                </a:tc>
                <a:tc>
                  <a:txBody>
                    <a:bodyPr/>
                    <a:lstStyle/>
                    <a:p>
                      <a:pPr indent="0" lvl="0" marL="0" marR="0" rtl="0" algn="ctr">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0,5 + 8 = 8,5 giờ</a:t>
                      </a:r>
                      <a:endParaRPr/>
                    </a:p>
                  </a:txBody>
                  <a:tcPr marT="41150" marB="41150" marR="73150" marL="91450" anchor="ctr"/>
                </a:tc>
                <a:tc>
                  <a:txBody>
                    <a:bodyPr/>
                    <a:lstStyle/>
                    <a:p>
                      <a:pPr indent="0" lvl="0" marL="0" marR="0" rtl="0" algn="ctr">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0,425 giờ</a:t>
                      </a:r>
                      <a:endParaRPr/>
                    </a:p>
                  </a:txBody>
                  <a:tcPr marT="41150" marB="41150" marR="73150" marL="91450" anchor="ctr"/>
                </a:tc>
                <a:tc>
                  <a:txBody>
                    <a:bodyPr/>
                    <a:lstStyle/>
                    <a:p>
                      <a:pPr indent="0" lvl="0" marL="0" marR="0" rtl="0" algn="ctr">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3.750 đồng</a:t>
                      </a:r>
                      <a:endParaRPr/>
                    </a:p>
                  </a:txBody>
                  <a:tcPr marT="41150" marB="41150" marR="73150" marL="91450" anchor="ctr"/>
                </a:tc>
              </a:tr>
              <a:tr h="365750">
                <a:tc>
                  <a:txBody>
                    <a:bodyPr/>
                    <a:lstStyle/>
                    <a:p>
                      <a:pPr indent="0" lvl="0" marL="0" marR="0" rtl="0" algn="l">
                        <a:lnSpc>
                          <a:spcPct val="105000"/>
                        </a:lnSpc>
                        <a:spcBef>
                          <a:spcPts val="0"/>
                        </a:spcBef>
                        <a:spcAft>
                          <a:spcPts val="0"/>
                        </a:spcAft>
                        <a:buNone/>
                      </a:pPr>
                      <a:r>
                        <a:rPr b="1" i="0" lang="en-US" sz="1400" u="none" cap="none" strike="noStrike">
                          <a:solidFill>
                            <a:srgbClr val="0A2540"/>
                          </a:solidFill>
                          <a:latin typeface="Calibri"/>
                          <a:ea typeface="Calibri"/>
                          <a:cs typeface="Calibri"/>
                          <a:sym typeface="Calibri"/>
                        </a:rPr>
                        <a:t>TỔNG CỘNG</a:t>
                      </a:r>
                      <a:endParaRPr/>
                    </a:p>
                  </a:txBody>
                  <a:tcPr marT="41150" marB="41150" marR="73150" marL="91450" anchor="ctr">
                    <a:solidFill>
                      <a:srgbClr val="EDF6FB"/>
                    </a:solidFill>
                  </a:tcPr>
                </a:tc>
                <a:tc>
                  <a:txBody>
                    <a:bodyPr/>
                    <a:lstStyle/>
                    <a:p>
                      <a:pPr indent="0" lvl="0" marL="0" marR="0" rtl="0" algn="ctr">
                        <a:lnSpc>
                          <a:spcPct val="105000"/>
                        </a:lnSpc>
                        <a:spcBef>
                          <a:spcPts val="0"/>
                        </a:spcBef>
                        <a:spcAft>
                          <a:spcPts val="0"/>
                        </a:spcAft>
                        <a:buNone/>
                      </a:pPr>
                      <a:r>
                        <a:t/>
                      </a:r>
                      <a:endParaRPr sz="1800" u="none" cap="none" strike="noStrike">
                        <a:solidFill>
                          <a:schemeClr val="dk1"/>
                        </a:solidFill>
                        <a:latin typeface="Calibri"/>
                        <a:ea typeface="Calibri"/>
                        <a:cs typeface="Calibri"/>
                        <a:sym typeface="Calibri"/>
                      </a:endParaRPr>
                    </a:p>
                  </a:txBody>
                  <a:tcPr marT="41150" marB="41150" marR="73150" marL="91450" anchor="ctr">
                    <a:solidFill>
                      <a:srgbClr val="EDF6FB"/>
                    </a:solidFill>
                  </a:tcPr>
                </a:tc>
                <a:tc>
                  <a:txBody>
                    <a:bodyPr/>
                    <a:lstStyle/>
                    <a:p>
                      <a:pPr indent="0" lvl="0" marL="0" marR="0" rtl="0" algn="ctr">
                        <a:lnSpc>
                          <a:spcPct val="105000"/>
                        </a:lnSpc>
                        <a:spcBef>
                          <a:spcPts val="0"/>
                        </a:spcBef>
                        <a:spcAft>
                          <a:spcPts val="0"/>
                        </a:spcAft>
                        <a:buNone/>
                      </a:pPr>
                      <a:r>
                        <a:t/>
                      </a:r>
                      <a:endParaRPr sz="1800" u="none" cap="none" strike="noStrike">
                        <a:solidFill>
                          <a:schemeClr val="dk1"/>
                        </a:solidFill>
                        <a:latin typeface="Calibri"/>
                        <a:ea typeface="Calibri"/>
                        <a:cs typeface="Calibri"/>
                        <a:sym typeface="Calibri"/>
                      </a:endParaRPr>
                    </a:p>
                  </a:txBody>
                  <a:tcPr marT="41150" marB="41150" marR="73150" marL="91450" anchor="ctr">
                    <a:solidFill>
                      <a:srgbClr val="EDF6FB"/>
                    </a:solidFill>
                  </a:tcPr>
                </a:tc>
                <a:tc>
                  <a:txBody>
                    <a:bodyPr/>
                    <a:lstStyle/>
                    <a:p>
                      <a:pPr indent="0" lvl="0" marL="0" marR="0" rtl="0" algn="ctr">
                        <a:lnSpc>
                          <a:spcPct val="105000"/>
                        </a:lnSpc>
                        <a:spcBef>
                          <a:spcPts val="0"/>
                        </a:spcBef>
                        <a:spcAft>
                          <a:spcPts val="0"/>
                        </a:spcAft>
                        <a:buNone/>
                      </a:pPr>
                      <a:r>
                        <a:rPr b="1" i="0" lang="en-US" sz="1400" u="none" cap="none" strike="noStrike">
                          <a:solidFill>
                            <a:srgbClr val="0A2540"/>
                          </a:solidFill>
                          <a:latin typeface="Calibri"/>
                          <a:ea typeface="Calibri"/>
                          <a:cs typeface="Calibri"/>
                          <a:sym typeface="Calibri"/>
                        </a:rPr>
                        <a:t>3,950 giờ</a:t>
                      </a:r>
                      <a:endParaRPr/>
                    </a:p>
                  </a:txBody>
                  <a:tcPr marT="41150" marB="41150" marR="73150" marL="91450" anchor="ctr">
                    <a:solidFill>
                      <a:srgbClr val="EDF6FB"/>
                    </a:solidFill>
                  </a:tcPr>
                </a:tc>
                <a:tc>
                  <a:txBody>
                    <a:bodyPr/>
                    <a:lstStyle/>
                    <a:p>
                      <a:pPr indent="0" lvl="0" marL="0" marR="0" rtl="0" algn="ctr">
                        <a:lnSpc>
                          <a:spcPct val="105000"/>
                        </a:lnSpc>
                        <a:spcBef>
                          <a:spcPts val="0"/>
                        </a:spcBef>
                        <a:spcAft>
                          <a:spcPts val="0"/>
                        </a:spcAft>
                        <a:buNone/>
                      </a:pPr>
                      <a:r>
                        <a:rPr b="1" i="0" lang="en-US" sz="1400" u="none" cap="none" strike="noStrike">
                          <a:solidFill>
                            <a:srgbClr val="0A2540"/>
                          </a:solidFill>
                          <a:latin typeface="Calibri"/>
                          <a:ea typeface="Calibri"/>
                          <a:cs typeface="Calibri"/>
                          <a:sym typeface="Calibri"/>
                        </a:rPr>
                        <a:t>142.500 đồng</a:t>
                      </a:r>
                      <a:endParaRPr/>
                    </a:p>
                  </a:txBody>
                  <a:tcPr marT="41150" marB="41150" marR="73150" marL="91450" anchor="ctr">
                    <a:solidFill>
                      <a:srgbClr val="EDF6FB"/>
                    </a:solidFill>
                  </a:tcPr>
                </a:tc>
              </a:tr>
            </a:tbl>
          </a:graphicData>
        </a:graphic>
      </p:graphicFrame>
      <p:sp>
        <p:nvSpPr>
          <p:cNvPr id="1080" name="Google Shape;1080;p54"/>
          <p:cNvSpPr/>
          <p:nvPr/>
        </p:nvSpPr>
        <p:spPr>
          <a:xfrm>
            <a:off x="658368" y="4754880"/>
            <a:ext cx="2547289" cy="1188720"/>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81" name="Google Shape;1081;p54"/>
          <p:cNvSpPr/>
          <p:nvPr/>
        </p:nvSpPr>
        <p:spPr>
          <a:xfrm>
            <a:off x="658368" y="4754880"/>
            <a:ext cx="2547289" cy="50292"/>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82" name="Google Shape;1082;p54"/>
          <p:cNvSpPr txBox="1"/>
          <p:nvPr/>
        </p:nvSpPr>
        <p:spPr>
          <a:xfrm>
            <a:off x="886968" y="4892040"/>
            <a:ext cx="2090089" cy="3886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000">
                <a:solidFill>
                  <a:srgbClr val="0096D6"/>
                </a:solidFill>
                <a:latin typeface="Calibri"/>
                <a:ea typeface="Calibri"/>
                <a:cs typeface="Calibri"/>
                <a:sym typeface="Calibri"/>
              </a:rPr>
              <a:t>109,70 giờ</a:t>
            </a:r>
            <a:endParaRPr/>
          </a:p>
        </p:txBody>
      </p:sp>
      <p:sp>
        <p:nvSpPr>
          <p:cNvPr id="1083" name="Google Shape;1083;p54"/>
          <p:cNvSpPr txBox="1"/>
          <p:nvPr/>
        </p:nvSpPr>
        <p:spPr>
          <a:xfrm>
            <a:off x="886968" y="5280660"/>
            <a:ext cx="2090089" cy="2057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200">
                <a:solidFill>
                  <a:srgbClr val="0A2540"/>
                </a:solidFill>
                <a:latin typeface="Calibri"/>
                <a:ea typeface="Calibri"/>
                <a:cs typeface="Calibri"/>
                <a:sym typeface="Calibri"/>
              </a:rPr>
              <a:t>CT TRUNG BÌNH</a:t>
            </a:r>
            <a:endParaRPr/>
          </a:p>
        </p:txBody>
      </p:sp>
      <p:sp>
        <p:nvSpPr>
          <p:cNvPr id="1084" name="Google Shape;1084;p54"/>
          <p:cNvSpPr txBox="1"/>
          <p:nvPr/>
        </p:nvSpPr>
        <p:spPr>
          <a:xfrm>
            <a:off x="886968" y="5509260"/>
            <a:ext cx="2090089" cy="3429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0" i="0" lang="en-US" sz="1050">
                <a:solidFill>
                  <a:srgbClr val="6B7784"/>
                </a:solidFill>
                <a:latin typeface="Calibri"/>
                <a:ea typeface="Calibri"/>
                <a:cs typeface="Calibri"/>
                <a:sym typeface="Calibri"/>
              </a:rPr>
              <a:t>105,75 + 3,95 giờ phát sinh có trọng số</a:t>
            </a:r>
            <a:endParaRPr/>
          </a:p>
        </p:txBody>
      </p:sp>
      <p:sp>
        <p:nvSpPr>
          <p:cNvPr id="1085" name="Google Shape;1085;p54"/>
          <p:cNvSpPr/>
          <p:nvPr/>
        </p:nvSpPr>
        <p:spPr>
          <a:xfrm>
            <a:off x="3434257" y="4754880"/>
            <a:ext cx="2547289" cy="1188720"/>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86" name="Google Shape;1086;p54"/>
          <p:cNvSpPr/>
          <p:nvPr/>
        </p:nvSpPr>
        <p:spPr>
          <a:xfrm>
            <a:off x="3434257" y="4754880"/>
            <a:ext cx="2547289" cy="50292"/>
          </a:xfrm>
          <a:prstGeom prst="rect">
            <a:avLst/>
          </a:prstGeom>
          <a:solidFill>
            <a:srgbClr val="0A25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87" name="Google Shape;1087;p54"/>
          <p:cNvSpPr txBox="1"/>
          <p:nvPr/>
        </p:nvSpPr>
        <p:spPr>
          <a:xfrm>
            <a:off x="3662857" y="4892040"/>
            <a:ext cx="2090089" cy="3886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000">
                <a:solidFill>
                  <a:srgbClr val="0A2540"/>
                </a:solidFill>
                <a:latin typeface="Calibri"/>
                <a:ea typeface="Calibri"/>
                <a:cs typeface="Calibri"/>
                <a:sym typeface="Calibri"/>
              </a:rPr>
              <a:t>13,71 ngày</a:t>
            </a:r>
            <a:endParaRPr/>
          </a:p>
        </p:txBody>
      </p:sp>
      <p:sp>
        <p:nvSpPr>
          <p:cNvPr id="1088" name="Google Shape;1088;p54"/>
          <p:cNvSpPr txBox="1"/>
          <p:nvPr/>
        </p:nvSpPr>
        <p:spPr>
          <a:xfrm>
            <a:off x="3662857" y="5280660"/>
            <a:ext cx="2090089" cy="2057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200">
                <a:solidFill>
                  <a:srgbClr val="0A2540"/>
                </a:solidFill>
                <a:latin typeface="Calibri"/>
                <a:ea typeface="Calibri"/>
                <a:cs typeface="Calibri"/>
                <a:sym typeface="Calibri"/>
              </a:rPr>
              <a:t>QUY ĐỔI NGÀY LÀM VIỆC</a:t>
            </a:r>
            <a:endParaRPr/>
          </a:p>
        </p:txBody>
      </p:sp>
      <p:sp>
        <p:nvSpPr>
          <p:cNvPr id="1089" name="Google Shape;1089;p54"/>
          <p:cNvSpPr txBox="1"/>
          <p:nvPr/>
        </p:nvSpPr>
        <p:spPr>
          <a:xfrm>
            <a:off x="3662857" y="5509260"/>
            <a:ext cx="2090089" cy="3429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0" i="0" lang="en-US" sz="1200">
                <a:solidFill>
                  <a:srgbClr val="6B7784"/>
                </a:solidFill>
                <a:latin typeface="Calibri"/>
                <a:ea typeface="Calibri"/>
                <a:cs typeface="Calibri"/>
                <a:sym typeface="Calibri"/>
              </a:rPr>
              <a:t>109,70 ÷ 8 giờ</a:t>
            </a:r>
            <a:endParaRPr/>
          </a:p>
        </p:txBody>
      </p:sp>
      <p:sp>
        <p:nvSpPr>
          <p:cNvPr id="1090" name="Google Shape;1090;p54"/>
          <p:cNvSpPr/>
          <p:nvPr/>
        </p:nvSpPr>
        <p:spPr>
          <a:xfrm>
            <a:off x="6210146" y="4754880"/>
            <a:ext cx="2547289" cy="1188720"/>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91" name="Google Shape;1091;p54"/>
          <p:cNvSpPr/>
          <p:nvPr/>
        </p:nvSpPr>
        <p:spPr>
          <a:xfrm>
            <a:off x="6210146" y="4754880"/>
            <a:ext cx="2547289" cy="50292"/>
          </a:xfrm>
          <a:prstGeom prst="rect">
            <a:avLst/>
          </a:prstGeom>
          <a:solidFill>
            <a:srgbClr val="00C2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92" name="Google Shape;1092;p54"/>
          <p:cNvSpPr txBox="1"/>
          <p:nvPr/>
        </p:nvSpPr>
        <p:spPr>
          <a:xfrm>
            <a:off x="6438746" y="4892040"/>
            <a:ext cx="2090089" cy="3886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000">
                <a:solidFill>
                  <a:srgbClr val="00C2A8"/>
                </a:solidFill>
                <a:latin typeface="Calibri"/>
                <a:ea typeface="Calibri"/>
                <a:cs typeface="Calibri"/>
                <a:sym typeface="Calibri"/>
              </a:rPr>
              <a:t>10,70 giờ</a:t>
            </a:r>
            <a:endParaRPr/>
          </a:p>
        </p:txBody>
      </p:sp>
      <p:sp>
        <p:nvSpPr>
          <p:cNvPr id="1093" name="Google Shape;1093;p54"/>
          <p:cNvSpPr txBox="1"/>
          <p:nvPr/>
        </p:nvSpPr>
        <p:spPr>
          <a:xfrm>
            <a:off x="6438746" y="5280660"/>
            <a:ext cx="2090089" cy="2057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200">
                <a:solidFill>
                  <a:srgbClr val="0A2540"/>
                </a:solidFill>
                <a:latin typeface="Calibri"/>
                <a:ea typeface="Calibri"/>
                <a:cs typeface="Calibri"/>
                <a:sym typeface="Calibri"/>
              </a:rPr>
              <a:t>PT TRUNG BÌNH</a:t>
            </a:r>
            <a:endParaRPr/>
          </a:p>
        </p:txBody>
      </p:sp>
      <p:sp>
        <p:nvSpPr>
          <p:cNvPr id="1094" name="Google Shape;1094;p54"/>
          <p:cNvSpPr txBox="1"/>
          <p:nvPr/>
        </p:nvSpPr>
        <p:spPr>
          <a:xfrm>
            <a:off x="6438746" y="5509260"/>
            <a:ext cx="2090089" cy="3429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0" i="0" lang="en-US" sz="1200">
                <a:solidFill>
                  <a:srgbClr val="6B7784"/>
                </a:solidFill>
                <a:latin typeface="Calibri"/>
                <a:ea typeface="Calibri"/>
                <a:cs typeface="Calibri"/>
                <a:sym typeface="Calibri"/>
              </a:rPr>
              <a:t>9,75 + 0,95 giờ phát sinh</a:t>
            </a:r>
            <a:endParaRPr/>
          </a:p>
        </p:txBody>
      </p:sp>
      <p:sp>
        <p:nvSpPr>
          <p:cNvPr id="1095" name="Google Shape;1095;p54"/>
          <p:cNvSpPr/>
          <p:nvPr/>
        </p:nvSpPr>
        <p:spPr>
          <a:xfrm>
            <a:off x="8986035" y="4754880"/>
            <a:ext cx="2547289" cy="1188720"/>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96" name="Google Shape;1096;p54"/>
          <p:cNvSpPr/>
          <p:nvPr/>
        </p:nvSpPr>
        <p:spPr>
          <a:xfrm>
            <a:off x="8986035" y="4754880"/>
            <a:ext cx="2547289" cy="50292"/>
          </a:xfrm>
          <a:prstGeom prst="rect">
            <a:avLst/>
          </a:prstGeom>
          <a:solidFill>
            <a:srgbClr val="C0392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97" name="Google Shape;1097;p54"/>
          <p:cNvSpPr txBox="1"/>
          <p:nvPr/>
        </p:nvSpPr>
        <p:spPr>
          <a:xfrm>
            <a:off x="9214635" y="4892040"/>
            <a:ext cx="2090089" cy="3886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600">
                <a:solidFill>
                  <a:srgbClr val="C0392B"/>
                </a:solidFill>
                <a:latin typeface="Calibri"/>
                <a:ea typeface="Calibri"/>
                <a:cs typeface="Calibri"/>
                <a:sym typeface="Calibri"/>
              </a:rPr>
              <a:t>9,75%</a:t>
            </a:r>
            <a:endParaRPr/>
          </a:p>
        </p:txBody>
      </p:sp>
      <p:sp>
        <p:nvSpPr>
          <p:cNvPr id="1098" name="Google Shape;1098;p54"/>
          <p:cNvSpPr txBox="1"/>
          <p:nvPr/>
        </p:nvSpPr>
        <p:spPr>
          <a:xfrm>
            <a:off x="9214635" y="5280660"/>
            <a:ext cx="2090089" cy="2057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200">
                <a:solidFill>
                  <a:srgbClr val="0A2540"/>
                </a:solidFill>
                <a:latin typeface="Calibri"/>
                <a:ea typeface="Calibri"/>
                <a:cs typeface="Calibri"/>
                <a:sym typeface="Calibri"/>
              </a:rPr>
              <a:t>CYCLE TIME EFFICIENCY</a:t>
            </a:r>
            <a:endParaRPr/>
          </a:p>
        </p:txBody>
      </p:sp>
      <p:sp>
        <p:nvSpPr>
          <p:cNvPr id="1099" name="Google Shape;1099;p54"/>
          <p:cNvSpPr txBox="1"/>
          <p:nvPr/>
        </p:nvSpPr>
        <p:spPr>
          <a:xfrm>
            <a:off x="9214635" y="5509260"/>
            <a:ext cx="2090089" cy="3429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0" i="0" lang="en-US" sz="1050">
                <a:solidFill>
                  <a:srgbClr val="6B7784"/>
                </a:solidFill>
                <a:latin typeface="Calibri"/>
                <a:ea typeface="Calibri"/>
                <a:cs typeface="Calibri"/>
                <a:sym typeface="Calibri"/>
              </a:rPr>
              <a:t>10,70 ÷ 109,70 — hơn 90% là chờ đợi</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3" name="Shape 1103"/>
        <p:cNvGrpSpPr/>
        <p:nvPr/>
      </p:nvGrpSpPr>
      <p:grpSpPr>
        <a:xfrm>
          <a:off x="0" y="0"/>
          <a:ext cx="0" cy="0"/>
          <a:chOff x="0" y="0"/>
          <a:chExt cx="0" cy="0"/>
        </a:xfrm>
      </p:grpSpPr>
      <p:sp>
        <p:nvSpPr>
          <p:cNvPr id="1104" name="Google Shape;1104;p55"/>
          <p:cNvSpPr/>
          <p:nvPr/>
        </p:nvSpPr>
        <p:spPr>
          <a:xfrm>
            <a:off x="0" y="0"/>
            <a:ext cx="12191695" cy="859536"/>
          </a:xfrm>
          <a:prstGeom prst="rect">
            <a:avLst/>
          </a:prstGeom>
          <a:solidFill>
            <a:srgbClr val="0A25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05" name="Google Shape;1105;p55"/>
          <p:cNvSpPr/>
          <p:nvPr/>
        </p:nvSpPr>
        <p:spPr>
          <a:xfrm>
            <a:off x="0" y="0"/>
            <a:ext cx="182880" cy="859536"/>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06" name="Google Shape;1106;p55"/>
          <p:cNvSpPr txBox="1"/>
          <p:nvPr/>
        </p:nvSpPr>
        <p:spPr>
          <a:xfrm>
            <a:off x="475488" y="137160"/>
            <a:ext cx="7955279"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950">
                <a:solidFill>
                  <a:srgbClr val="00C2A8"/>
                </a:solidFill>
                <a:latin typeface="Calibri"/>
                <a:ea typeface="Calibri"/>
                <a:cs typeface="Calibri"/>
                <a:sym typeface="Calibri"/>
              </a:rPr>
              <a:t>CHƯƠNG 4 · 4.3.3A PHÂN TÍCH THỜI GIAN (TIME)</a:t>
            </a:r>
            <a:endParaRPr/>
          </a:p>
        </p:txBody>
      </p:sp>
      <p:sp>
        <p:nvSpPr>
          <p:cNvPr id="1107" name="Google Shape;1107;p55"/>
          <p:cNvSpPr txBox="1"/>
          <p:nvPr/>
        </p:nvSpPr>
        <p:spPr>
          <a:xfrm>
            <a:off x="475488" y="411480"/>
            <a:ext cx="7955279"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700">
                <a:solidFill>
                  <a:srgbClr val="FFFFFF"/>
                </a:solidFill>
                <a:latin typeface="Calibri"/>
                <a:ea typeface="Calibri"/>
                <a:cs typeface="Calibri"/>
                <a:sym typeface="Calibri"/>
              </a:rPr>
              <a:t>S01 — Phân tích thời gian trên mô hình quy trình</a:t>
            </a:r>
            <a:endParaRPr/>
          </a:p>
        </p:txBody>
      </p:sp>
      <p:sp>
        <p:nvSpPr>
          <p:cNvPr id="1108" name="Google Shape;1108;p55"/>
          <p:cNvSpPr txBox="1"/>
          <p:nvPr/>
        </p:nvSpPr>
        <p:spPr>
          <a:xfrm>
            <a:off x="8595360" y="265176"/>
            <a:ext cx="3154680" cy="329184"/>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1" i="0" lang="en-US" sz="1400">
                <a:solidFill>
                  <a:srgbClr val="00C2A8"/>
                </a:solidFill>
                <a:latin typeface="Calibri"/>
                <a:ea typeface="Calibri"/>
                <a:cs typeface="Calibri"/>
                <a:sym typeface="Calibri"/>
              </a:rPr>
              <a:t>Hình 4.8</a:t>
            </a:r>
            <a:endParaRPr/>
          </a:p>
        </p:txBody>
      </p:sp>
      <p:sp>
        <p:nvSpPr>
          <p:cNvPr id="1109" name="Google Shape;1109;p55"/>
          <p:cNvSpPr txBox="1"/>
          <p:nvPr/>
        </p:nvSpPr>
        <p:spPr>
          <a:xfrm>
            <a:off x="658368" y="6355080"/>
            <a:ext cx="10326319"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850">
                <a:solidFill>
                  <a:srgbClr val="6B7784"/>
                </a:solidFill>
                <a:latin typeface="Calibri"/>
                <a:ea typeface="Calibri"/>
                <a:cs typeface="Calibri"/>
                <a:sym typeface="Calibri"/>
              </a:rPr>
              <a:t>SOLVENTUM VIỆT NAM  ·  HỆ THỐNG QUẢN TRỊ QUY TRÌNH NGHIỆP VỤ</a:t>
            </a:r>
            <a:endParaRPr/>
          </a:p>
        </p:txBody>
      </p:sp>
      <p:sp>
        <p:nvSpPr>
          <p:cNvPr id="1110" name="Google Shape;1110;p55"/>
          <p:cNvSpPr txBox="1"/>
          <p:nvPr/>
        </p:nvSpPr>
        <p:spPr>
          <a:xfrm>
            <a:off x="10984687" y="6355080"/>
            <a:ext cx="548640" cy="2286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1" i="0" lang="en-US" sz="950">
                <a:solidFill>
                  <a:srgbClr val="0096D6"/>
                </a:solidFill>
                <a:latin typeface="Calibri"/>
                <a:ea typeface="Calibri"/>
                <a:cs typeface="Calibri"/>
                <a:sym typeface="Calibri"/>
              </a:rPr>
              <a:t>43</a:t>
            </a:r>
            <a:endParaRPr/>
          </a:p>
        </p:txBody>
      </p:sp>
      <p:sp>
        <p:nvSpPr>
          <p:cNvPr id="1111" name="Google Shape;1111;p55"/>
          <p:cNvSpPr txBox="1"/>
          <p:nvPr/>
        </p:nvSpPr>
        <p:spPr>
          <a:xfrm>
            <a:off x="658368" y="1097280"/>
            <a:ext cx="10874959"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400">
                <a:solidFill>
                  <a:srgbClr val="0A2540"/>
                </a:solidFill>
                <a:latin typeface="Calibri"/>
                <a:ea typeface="Calibri"/>
                <a:cs typeface="Calibri"/>
                <a:sym typeface="Calibri"/>
              </a:rPr>
              <a:t>Hình 4.8. Phân tích thời gian trên mô hình quy trình Procurement Management  ·  Đơn vị PT và WT: giờ (h)</a:t>
            </a:r>
            <a:endParaRPr/>
          </a:p>
        </p:txBody>
      </p:sp>
      <p:pic>
        <p:nvPicPr>
          <p:cNvPr id="1112" name="Google Shape;1112;p55"/>
          <p:cNvPicPr preferRelativeResize="0"/>
          <p:nvPr/>
        </p:nvPicPr>
        <p:blipFill>
          <a:blip r:embed="rId3">
            <a:alphaModFix/>
          </a:blip>
          <a:stretch>
            <a:fillRect/>
          </a:stretch>
        </p:blipFill>
        <p:spPr>
          <a:xfrm>
            <a:off x="3146900" y="1489825"/>
            <a:ext cx="5349260" cy="474702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6" name="Shape 1116"/>
        <p:cNvGrpSpPr/>
        <p:nvPr/>
      </p:nvGrpSpPr>
      <p:grpSpPr>
        <a:xfrm>
          <a:off x="0" y="0"/>
          <a:ext cx="0" cy="0"/>
          <a:chOff x="0" y="0"/>
          <a:chExt cx="0" cy="0"/>
        </a:xfrm>
      </p:grpSpPr>
      <p:sp>
        <p:nvSpPr>
          <p:cNvPr id="1117" name="Google Shape;1117;p56"/>
          <p:cNvSpPr txBox="1"/>
          <p:nvPr/>
        </p:nvSpPr>
        <p:spPr>
          <a:xfrm>
            <a:off x="658368" y="384048"/>
            <a:ext cx="10874959"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050">
                <a:solidFill>
                  <a:srgbClr val="0096D6"/>
                </a:solidFill>
                <a:latin typeface="Calibri"/>
                <a:ea typeface="Calibri"/>
                <a:cs typeface="Calibri"/>
                <a:sym typeface="Calibri"/>
              </a:rPr>
              <a:t>CHƯƠNG 4 · 4.3.3B–C CHẤT LƯỢNG VÀ CHI PHÍ</a:t>
            </a:r>
            <a:endParaRPr/>
          </a:p>
        </p:txBody>
      </p:sp>
      <p:sp>
        <p:nvSpPr>
          <p:cNvPr id="1118" name="Google Shape;1118;p56"/>
          <p:cNvSpPr txBox="1"/>
          <p:nvPr/>
        </p:nvSpPr>
        <p:spPr>
          <a:xfrm>
            <a:off x="658368" y="640080"/>
            <a:ext cx="10874959" cy="60350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US" sz="2500">
                <a:solidFill>
                  <a:srgbClr val="0A2540"/>
                </a:solidFill>
                <a:latin typeface="Calibri"/>
                <a:ea typeface="Calibri"/>
                <a:cs typeface="Calibri"/>
                <a:sym typeface="Calibri"/>
              </a:rPr>
              <a:t>CHỈ SỐ CHẤT LƯỢNG VÀ CHI PHÍ NGUỒN LỰC</a:t>
            </a:r>
            <a:endParaRPr/>
          </a:p>
        </p:txBody>
      </p:sp>
      <p:sp>
        <p:nvSpPr>
          <p:cNvPr id="1119" name="Google Shape;1119;p56"/>
          <p:cNvSpPr/>
          <p:nvPr/>
        </p:nvSpPr>
        <p:spPr>
          <a:xfrm>
            <a:off x="658368" y="1280160"/>
            <a:ext cx="566928" cy="41148"/>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20" name="Google Shape;1120;p56"/>
          <p:cNvSpPr/>
          <p:nvPr/>
        </p:nvSpPr>
        <p:spPr>
          <a:xfrm>
            <a:off x="1298448" y="1280160"/>
            <a:ext cx="10234879" cy="41148"/>
          </a:xfrm>
          <a:prstGeom prst="rect">
            <a:avLst/>
          </a:prstGeom>
          <a:solidFill>
            <a:srgbClr val="DFE4E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21" name="Google Shape;1121;p56"/>
          <p:cNvSpPr txBox="1"/>
          <p:nvPr/>
        </p:nvSpPr>
        <p:spPr>
          <a:xfrm>
            <a:off x="658368" y="1371600"/>
            <a:ext cx="10874959"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1" lang="en-US" sz="1100">
                <a:solidFill>
                  <a:srgbClr val="6B7784"/>
                </a:solidFill>
                <a:latin typeface="Calibri"/>
                <a:ea typeface="Calibri"/>
                <a:cs typeface="Calibri"/>
                <a:sym typeface="Calibri"/>
              </a:rPr>
              <a:t>Bảng 4.13 — 05 chỉ số chất lượng   |   Bảng 4.14 — chi phí nguồn lực, giả định R = 150.000 đồng/giờ</a:t>
            </a:r>
            <a:endParaRPr/>
          </a:p>
        </p:txBody>
      </p:sp>
      <p:sp>
        <p:nvSpPr>
          <p:cNvPr id="1122" name="Google Shape;1122;p56"/>
          <p:cNvSpPr txBox="1"/>
          <p:nvPr/>
        </p:nvSpPr>
        <p:spPr>
          <a:xfrm>
            <a:off x="658368" y="6355080"/>
            <a:ext cx="10326319"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850">
                <a:solidFill>
                  <a:srgbClr val="6B7784"/>
                </a:solidFill>
                <a:latin typeface="Calibri"/>
                <a:ea typeface="Calibri"/>
                <a:cs typeface="Calibri"/>
                <a:sym typeface="Calibri"/>
              </a:rPr>
              <a:t>SOLVENTUM VIỆT NAM  ·  HỆ THỐNG QUẢN TRỊ QUY TRÌNH NGHIỆP VỤ</a:t>
            </a:r>
            <a:endParaRPr/>
          </a:p>
        </p:txBody>
      </p:sp>
      <p:sp>
        <p:nvSpPr>
          <p:cNvPr id="1123" name="Google Shape;1123;p56"/>
          <p:cNvSpPr txBox="1"/>
          <p:nvPr/>
        </p:nvSpPr>
        <p:spPr>
          <a:xfrm>
            <a:off x="10984687" y="6355080"/>
            <a:ext cx="548640" cy="2286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1" i="0" lang="en-US" sz="950">
                <a:solidFill>
                  <a:srgbClr val="0096D6"/>
                </a:solidFill>
                <a:latin typeface="Calibri"/>
                <a:ea typeface="Calibri"/>
                <a:cs typeface="Calibri"/>
                <a:sym typeface="Calibri"/>
              </a:rPr>
              <a:t>44</a:t>
            </a:r>
            <a:endParaRPr/>
          </a:p>
        </p:txBody>
      </p:sp>
      <p:sp>
        <p:nvSpPr>
          <p:cNvPr id="1124" name="Google Shape;1124;p56"/>
          <p:cNvSpPr txBox="1"/>
          <p:nvPr/>
        </p:nvSpPr>
        <p:spPr>
          <a:xfrm>
            <a:off x="658368" y="1737360"/>
            <a:ext cx="5323459"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200">
                <a:solidFill>
                  <a:srgbClr val="0096D6"/>
                </a:solidFill>
                <a:latin typeface="Calibri"/>
                <a:ea typeface="Calibri"/>
                <a:cs typeface="Calibri"/>
                <a:sym typeface="Calibri"/>
              </a:rPr>
              <a:t>BẢNG 4.13 — 05 CHỈ SỐ ĐÁNH GIÁ CHẤT LƯỢNG</a:t>
            </a:r>
            <a:endParaRPr/>
          </a:p>
        </p:txBody>
      </p:sp>
      <p:sp>
        <p:nvSpPr>
          <p:cNvPr id="1125" name="Google Shape;1125;p56"/>
          <p:cNvSpPr txBox="1"/>
          <p:nvPr/>
        </p:nvSpPr>
        <p:spPr>
          <a:xfrm>
            <a:off x="658368" y="2103120"/>
            <a:ext cx="5323459" cy="237744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0" i="0" lang="en-US" sz="1400">
                <a:solidFill>
                  <a:srgbClr val="6B7784"/>
                </a:solidFill>
                <a:latin typeface="Calibri"/>
                <a:ea typeface="Calibri"/>
                <a:cs typeface="Calibri"/>
                <a:sym typeface="Calibri"/>
              </a:rPr>
              <a:t>•  Tỷ lệ PR được phê duyệt ngay lần đầu</a:t>
            </a:r>
            <a:endParaRPr/>
          </a:p>
          <a:p>
            <a:pPr indent="0" lvl="0" marL="0" marR="0" rtl="0" algn="l">
              <a:lnSpc>
                <a:spcPct val="115000"/>
              </a:lnSpc>
              <a:spcBef>
                <a:spcPts val="600"/>
              </a:spcBef>
              <a:spcAft>
                <a:spcPts val="0"/>
              </a:spcAft>
              <a:buNone/>
            </a:pPr>
            <a:r>
              <a:rPr b="0" i="0" lang="en-US" sz="1400">
                <a:solidFill>
                  <a:srgbClr val="6B7784"/>
                </a:solidFill>
                <a:latin typeface="Calibri"/>
                <a:ea typeface="Calibri"/>
                <a:cs typeface="Calibri"/>
                <a:sym typeface="Calibri"/>
              </a:rPr>
              <a:t>•  Tỷ lệ PR phải bổ sung / chỉnh sửa</a:t>
            </a:r>
            <a:endParaRPr/>
          </a:p>
          <a:p>
            <a:pPr indent="0" lvl="0" marL="0" marR="0" rtl="0" algn="l">
              <a:lnSpc>
                <a:spcPct val="115000"/>
              </a:lnSpc>
              <a:spcBef>
                <a:spcPts val="600"/>
              </a:spcBef>
              <a:spcAft>
                <a:spcPts val="0"/>
              </a:spcAft>
              <a:buNone/>
            </a:pPr>
            <a:r>
              <a:rPr b="0" i="0" lang="en-US" sz="1400">
                <a:solidFill>
                  <a:srgbClr val="6B7784"/>
                </a:solidFill>
                <a:latin typeface="Calibri"/>
                <a:ea typeface="Calibri"/>
                <a:cs typeface="Calibri"/>
                <a:sym typeface="Calibri"/>
              </a:rPr>
              <a:t>•  Tỷ lệ hàng hóa phù hợp với PO ngay lần đầu</a:t>
            </a:r>
            <a:endParaRPr/>
          </a:p>
          <a:p>
            <a:pPr indent="0" lvl="0" marL="0" marR="0" rtl="0" algn="l">
              <a:lnSpc>
                <a:spcPct val="115000"/>
              </a:lnSpc>
              <a:spcBef>
                <a:spcPts val="600"/>
              </a:spcBef>
              <a:spcAft>
                <a:spcPts val="0"/>
              </a:spcAft>
              <a:buNone/>
            </a:pPr>
            <a:r>
              <a:rPr b="0" i="0" lang="en-US" sz="1400">
                <a:solidFill>
                  <a:srgbClr val="6B7784"/>
                </a:solidFill>
                <a:latin typeface="Calibri"/>
                <a:ea typeface="Calibri"/>
                <a:cs typeface="Calibri"/>
                <a:sym typeface="Calibri"/>
              </a:rPr>
              <a:t>•  Tỷ lệ hóa đơn phù hợp ngay lần đầu</a:t>
            </a:r>
            <a:endParaRPr/>
          </a:p>
          <a:p>
            <a:pPr indent="0" lvl="0" marL="0" marR="0" rtl="0" algn="l">
              <a:lnSpc>
                <a:spcPct val="115000"/>
              </a:lnSpc>
              <a:spcBef>
                <a:spcPts val="600"/>
              </a:spcBef>
              <a:spcAft>
                <a:spcPts val="0"/>
              </a:spcAft>
              <a:buNone/>
            </a:pPr>
            <a:r>
              <a:rPr b="0" i="0" lang="en-US" sz="1400">
                <a:solidFill>
                  <a:srgbClr val="6B7784"/>
                </a:solidFill>
                <a:latin typeface="Calibri"/>
                <a:ea typeface="Calibri"/>
                <a:cs typeface="Calibri"/>
                <a:sym typeface="Calibri"/>
              </a:rPr>
              <a:t>•  Tỷ lệ giao dịch phát sinh xử lý lại</a:t>
            </a:r>
            <a:endParaRPr/>
          </a:p>
        </p:txBody>
      </p:sp>
      <p:sp>
        <p:nvSpPr>
          <p:cNvPr id="1126" name="Google Shape;1126;p56"/>
          <p:cNvSpPr txBox="1"/>
          <p:nvPr/>
        </p:nvSpPr>
        <p:spPr>
          <a:xfrm>
            <a:off x="658368" y="4480560"/>
            <a:ext cx="5323459" cy="7315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b="0" i="1" lang="en-US" sz="1300">
                <a:solidFill>
                  <a:srgbClr val="6B7784"/>
                </a:solidFill>
                <a:latin typeface="Calibri"/>
                <a:ea typeface="Calibri"/>
                <a:cs typeface="Calibri"/>
                <a:sym typeface="Calibri"/>
              </a:rPr>
              <a:t>Ví dụ: 100 PR trong kỳ, 15 PR phải bổ sung / chỉnh sửa  →  15% phải xử lý lại, 85% được phê duyệt ngay lần đầu.</a:t>
            </a:r>
            <a:endParaRPr/>
          </a:p>
        </p:txBody>
      </p:sp>
      <p:sp>
        <p:nvSpPr>
          <p:cNvPr id="1127" name="Google Shape;1127;p56"/>
          <p:cNvSpPr txBox="1"/>
          <p:nvPr/>
        </p:nvSpPr>
        <p:spPr>
          <a:xfrm>
            <a:off x="6209868" y="1737360"/>
            <a:ext cx="5323459"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200">
                <a:solidFill>
                  <a:srgbClr val="00C2A8"/>
                </a:solidFill>
                <a:latin typeface="Calibri"/>
                <a:ea typeface="Calibri"/>
                <a:cs typeface="Calibri"/>
                <a:sym typeface="Calibri"/>
              </a:rPr>
              <a:t>CHI PHÍ NGUỒN LỰC MỘT GIAO DỊCH MUA HÀNG</a:t>
            </a:r>
            <a:endParaRPr/>
          </a:p>
        </p:txBody>
      </p:sp>
      <p:sp>
        <p:nvSpPr>
          <p:cNvPr id="1128" name="Google Shape;1128;p56"/>
          <p:cNvSpPr/>
          <p:nvPr/>
        </p:nvSpPr>
        <p:spPr>
          <a:xfrm>
            <a:off x="6209868" y="2103120"/>
            <a:ext cx="2547429" cy="1188720"/>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29" name="Google Shape;1129;p56"/>
          <p:cNvSpPr/>
          <p:nvPr/>
        </p:nvSpPr>
        <p:spPr>
          <a:xfrm>
            <a:off x="6209868" y="2103120"/>
            <a:ext cx="2547429" cy="50292"/>
          </a:xfrm>
          <a:prstGeom prst="rect">
            <a:avLst/>
          </a:prstGeom>
          <a:solidFill>
            <a:srgbClr val="00C2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30" name="Google Shape;1130;p56"/>
          <p:cNvSpPr txBox="1"/>
          <p:nvPr/>
        </p:nvSpPr>
        <p:spPr>
          <a:xfrm>
            <a:off x="6438468" y="2240280"/>
            <a:ext cx="2090229" cy="3886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700">
                <a:solidFill>
                  <a:srgbClr val="00C2A8"/>
                </a:solidFill>
                <a:latin typeface="Calibri"/>
                <a:ea typeface="Calibri"/>
                <a:cs typeface="Calibri"/>
                <a:sym typeface="Calibri"/>
              </a:rPr>
              <a:t>1.462.500 đ</a:t>
            </a:r>
            <a:endParaRPr/>
          </a:p>
        </p:txBody>
      </p:sp>
      <p:sp>
        <p:nvSpPr>
          <p:cNvPr id="1131" name="Google Shape;1131;p56"/>
          <p:cNvSpPr txBox="1"/>
          <p:nvPr/>
        </p:nvSpPr>
        <p:spPr>
          <a:xfrm>
            <a:off x="6438468" y="2628900"/>
            <a:ext cx="2090229" cy="2057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200">
                <a:solidFill>
                  <a:srgbClr val="0A2540"/>
                </a:solidFill>
                <a:latin typeface="Calibri"/>
                <a:ea typeface="Calibri"/>
                <a:cs typeface="Calibri"/>
                <a:sym typeface="Calibri"/>
              </a:rPr>
              <a:t>LUỒNG CƠ SỞ</a:t>
            </a:r>
            <a:endParaRPr/>
          </a:p>
        </p:txBody>
      </p:sp>
      <p:sp>
        <p:nvSpPr>
          <p:cNvPr id="1132" name="Google Shape;1132;p56"/>
          <p:cNvSpPr txBox="1"/>
          <p:nvPr/>
        </p:nvSpPr>
        <p:spPr>
          <a:xfrm>
            <a:off x="6438468" y="2857500"/>
            <a:ext cx="2090229" cy="3429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0" i="0" lang="en-US" sz="1200">
                <a:solidFill>
                  <a:srgbClr val="6B7784"/>
                </a:solidFill>
                <a:latin typeface="Calibri"/>
                <a:ea typeface="Calibri"/>
                <a:cs typeface="Calibri"/>
                <a:sym typeface="Calibri"/>
              </a:rPr>
              <a:t>9,75 giờ × 150.000 đồng</a:t>
            </a:r>
            <a:endParaRPr/>
          </a:p>
        </p:txBody>
      </p:sp>
      <p:sp>
        <p:nvSpPr>
          <p:cNvPr id="1133" name="Google Shape;1133;p56"/>
          <p:cNvSpPr/>
          <p:nvPr/>
        </p:nvSpPr>
        <p:spPr>
          <a:xfrm>
            <a:off x="8985897" y="2103120"/>
            <a:ext cx="2547429" cy="1188720"/>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34" name="Google Shape;1134;p56"/>
          <p:cNvSpPr/>
          <p:nvPr/>
        </p:nvSpPr>
        <p:spPr>
          <a:xfrm>
            <a:off x="8985897" y="2103120"/>
            <a:ext cx="2547429" cy="50292"/>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35" name="Google Shape;1135;p56"/>
          <p:cNvSpPr txBox="1"/>
          <p:nvPr/>
        </p:nvSpPr>
        <p:spPr>
          <a:xfrm>
            <a:off x="9214497" y="2240280"/>
            <a:ext cx="2090229" cy="3886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700">
                <a:solidFill>
                  <a:srgbClr val="0096D6"/>
                </a:solidFill>
                <a:latin typeface="Calibri"/>
                <a:ea typeface="Calibri"/>
                <a:cs typeface="Calibri"/>
                <a:sym typeface="Calibri"/>
              </a:rPr>
              <a:t>1.605.000 đ</a:t>
            </a:r>
            <a:endParaRPr/>
          </a:p>
        </p:txBody>
      </p:sp>
      <p:sp>
        <p:nvSpPr>
          <p:cNvPr id="1136" name="Google Shape;1136;p56"/>
          <p:cNvSpPr txBox="1"/>
          <p:nvPr/>
        </p:nvSpPr>
        <p:spPr>
          <a:xfrm>
            <a:off x="9214497" y="2628900"/>
            <a:ext cx="2090229" cy="2057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200">
                <a:solidFill>
                  <a:srgbClr val="0A2540"/>
                </a:solidFill>
                <a:latin typeface="Calibri"/>
                <a:ea typeface="Calibri"/>
                <a:cs typeface="Calibri"/>
                <a:sym typeface="Calibri"/>
              </a:rPr>
              <a:t>TRUNG BÌNH</a:t>
            </a:r>
            <a:endParaRPr/>
          </a:p>
        </p:txBody>
      </p:sp>
      <p:sp>
        <p:nvSpPr>
          <p:cNvPr id="1137" name="Google Shape;1137;p56"/>
          <p:cNvSpPr txBox="1"/>
          <p:nvPr/>
        </p:nvSpPr>
        <p:spPr>
          <a:xfrm>
            <a:off x="9214497" y="2857500"/>
            <a:ext cx="2090229" cy="3429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0" i="0" lang="en-US" sz="1200">
                <a:solidFill>
                  <a:srgbClr val="6B7784"/>
                </a:solidFill>
                <a:latin typeface="Calibri"/>
                <a:ea typeface="Calibri"/>
                <a:cs typeface="Calibri"/>
                <a:sym typeface="Calibri"/>
              </a:rPr>
              <a:t>10,70 giờ × 150.000 đồng</a:t>
            </a:r>
            <a:endParaRPr/>
          </a:p>
        </p:txBody>
      </p:sp>
      <p:sp>
        <p:nvSpPr>
          <p:cNvPr id="1138" name="Google Shape;1138;p56"/>
          <p:cNvSpPr/>
          <p:nvPr/>
        </p:nvSpPr>
        <p:spPr>
          <a:xfrm>
            <a:off x="6209868" y="3474720"/>
            <a:ext cx="2547429" cy="1188720"/>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39" name="Google Shape;1139;p56"/>
          <p:cNvSpPr/>
          <p:nvPr/>
        </p:nvSpPr>
        <p:spPr>
          <a:xfrm>
            <a:off x="6209868" y="3474720"/>
            <a:ext cx="2547429" cy="50292"/>
          </a:xfrm>
          <a:prstGeom prst="rect">
            <a:avLst/>
          </a:prstGeom>
          <a:solidFill>
            <a:srgbClr val="C0392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40" name="Google Shape;1140;p56"/>
          <p:cNvSpPr txBox="1"/>
          <p:nvPr/>
        </p:nvSpPr>
        <p:spPr>
          <a:xfrm>
            <a:off x="6438468" y="3611880"/>
            <a:ext cx="2090229" cy="3886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700">
                <a:solidFill>
                  <a:srgbClr val="C0392B"/>
                </a:solidFill>
                <a:latin typeface="Calibri"/>
                <a:ea typeface="Calibri"/>
                <a:cs typeface="Calibri"/>
                <a:sym typeface="Calibri"/>
              </a:rPr>
              <a:t>+142.500 đ</a:t>
            </a:r>
            <a:endParaRPr/>
          </a:p>
        </p:txBody>
      </p:sp>
      <p:sp>
        <p:nvSpPr>
          <p:cNvPr id="1141" name="Google Shape;1141;p56"/>
          <p:cNvSpPr txBox="1"/>
          <p:nvPr/>
        </p:nvSpPr>
        <p:spPr>
          <a:xfrm>
            <a:off x="6438468" y="4000500"/>
            <a:ext cx="2090229" cy="2057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200">
                <a:solidFill>
                  <a:srgbClr val="0A2540"/>
                </a:solidFill>
                <a:latin typeface="Calibri"/>
                <a:ea typeface="Calibri"/>
                <a:cs typeface="Calibri"/>
                <a:sym typeface="Calibri"/>
              </a:rPr>
              <a:t>DO XỬ LÝ LẠI</a:t>
            </a:r>
            <a:endParaRPr/>
          </a:p>
        </p:txBody>
      </p:sp>
      <p:sp>
        <p:nvSpPr>
          <p:cNvPr id="1142" name="Google Shape;1142;p56"/>
          <p:cNvSpPr txBox="1"/>
          <p:nvPr/>
        </p:nvSpPr>
        <p:spPr>
          <a:xfrm>
            <a:off x="6438468" y="4229100"/>
            <a:ext cx="2090229" cy="3429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0" i="0" lang="en-US" sz="1100">
                <a:solidFill>
                  <a:srgbClr val="6B7784"/>
                </a:solidFill>
                <a:latin typeface="Calibri"/>
                <a:ea typeface="Calibri"/>
                <a:cs typeface="Calibri"/>
                <a:sym typeface="Calibri"/>
              </a:rPr>
              <a:t>tương ứng 0,95 giờ công phát sinh</a:t>
            </a:r>
            <a:endParaRPr/>
          </a:p>
        </p:txBody>
      </p:sp>
      <p:sp>
        <p:nvSpPr>
          <p:cNvPr id="1143" name="Google Shape;1143;p56"/>
          <p:cNvSpPr/>
          <p:nvPr/>
        </p:nvSpPr>
        <p:spPr>
          <a:xfrm>
            <a:off x="8985897" y="3474720"/>
            <a:ext cx="2547429" cy="1188720"/>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44" name="Google Shape;1144;p56"/>
          <p:cNvSpPr/>
          <p:nvPr/>
        </p:nvSpPr>
        <p:spPr>
          <a:xfrm>
            <a:off x="8985897" y="3474720"/>
            <a:ext cx="2547429" cy="50292"/>
          </a:xfrm>
          <a:prstGeom prst="rect">
            <a:avLst/>
          </a:prstGeom>
          <a:solidFill>
            <a:srgbClr val="C0392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45" name="Google Shape;1145;p56"/>
          <p:cNvSpPr txBox="1"/>
          <p:nvPr/>
        </p:nvSpPr>
        <p:spPr>
          <a:xfrm>
            <a:off x="9214497" y="3611880"/>
            <a:ext cx="2090229" cy="3886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700">
                <a:solidFill>
                  <a:srgbClr val="C0392B"/>
                </a:solidFill>
                <a:latin typeface="Calibri"/>
                <a:ea typeface="Calibri"/>
                <a:cs typeface="Calibri"/>
                <a:sym typeface="Calibri"/>
              </a:rPr>
              <a:t>84%</a:t>
            </a:r>
            <a:endParaRPr/>
          </a:p>
        </p:txBody>
      </p:sp>
      <p:sp>
        <p:nvSpPr>
          <p:cNvPr id="1146" name="Google Shape;1146;p56"/>
          <p:cNvSpPr txBox="1"/>
          <p:nvPr/>
        </p:nvSpPr>
        <p:spPr>
          <a:xfrm>
            <a:off x="9214497" y="4000500"/>
            <a:ext cx="2090229" cy="2057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200">
                <a:solidFill>
                  <a:srgbClr val="0A2540"/>
                </a:solidFill>
                <a:latin typeface="Calibri"/>
                <a:ea typeface="Calibri"/>
                <a:cs typeface="Calibri"/>
                <a:sym typeface="Calibri"/>
              </a:rPr>
              <a:t>DO TÌM SUPPLIER MỚI</a:t>
            </a:r>
            <a:endParaRPr/>
          </a:p>
        </p:txBody>
      </p:sp>
      <p:sp>
        <p:nvSpPr>
          <p:cNvPr id="1147" name="Google Shape;1147;p56"/>
          <p:cNvSpPr txBox="1"/>
          <p:nvPr/>
        </p:nvSpPr>
        <p:spPr>
          <a:xfrm>
            <a:off x="9214497" y="4229100"/>
            <a:ext cx="2090229" cy="3429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0" i="0" lang="en-US" sz="1050">
                <a:solidFill>
                  <a:srgbClr val="6B7784"/>
                </a:solidFill>
                <a:latin typeface="Calibri"/>
                <a:ea typeface="Calibri"/>
                <a:cs typeface="Calibri"/>
                <a:sym typeface="Calibri"/>
              </a:rPr>
              <a:t>120.000 / 142.500 đồng chi phí phát sinh</a:t>
            </a:r>
            <a:endParaRPr/>
          </a:p>
        </p:txBody>
      </p:sp>
      <p:sp>
        <p:nvSpPr>
          <p:cNvPr id="1148" name="Google Shape;1148;p56"/>
          <p:cNvSpPr/>
          <p:nvPr/>
        </p:nvSpPr>
        <p:spPr>
          <a:xfrm>
            <a:off x="658368" y="5303520"/>
            <a:ext cx="10874959" cy="731520"/>
          </a:xfrm>
          <a:prstGeom prst="rect">
            <a:avLst/>
          </a:prstGeom>
          <a:solidFill>
            <a:srgbClr val="EDF6FB"/>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49" name="Google Shape;1149;p56"/>
          <p:cNvSpPr/>
          <p:nvPr/>
        </p:nvSpPr>
        <p:spPr>
          <a:xfrm>
            <a:off x="658368" y="5303520"/>
            <a:ext cx="50292" cy="731520"/>
          </a:xfrm>
          <a:prstGeom prst="rect">
            <a:avLst/>
          </a:prstGeom>
          <a:solidFill>
            <a:srgbClr val="0A25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50" name="Google Shape;1150;p56"/>
          <p:cNvSpPr txBox="1"/>
          <p:nvPr/>
        </p:nvSpPr>
        <p:spPr>
          <a:xfrm>
            <a:off x="864108" y="5417820"/>
            <a:ext cx="10463479" cy="50292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None/>
            </a:pPr>
            <a:r>
              <a:rPr b="0" i="0" lang="en-US" sz="1300">
                <a:solidFill>
                  <a:srgbClr val="0A2540"/>
                </a:solidFill>
                <a:latin typeface="Calibri"/>
                <a:ea typeface="Calibri"/>
                <a:cs typeface="Calibri"/>
                <a:sym typeface="Calibri"/>
              </a:rPr>
              <a:t>Duy trì và cập nhật danh mục Supplier phù hợp là đòn bẩy cải tiến chi phí lớn nhất của quy trình mua hàng: riêng nhánh tìm Supplier mới chiếm 84% toàn bộ chi phí phát sinh do xử lý lại. Lưu ý: mức 150.000 đồng/giờ chỉ dùng minh họa phương pháp tính.</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4" name="Shape 1154"/>
        <p:cNvGrpSpPr/>
        <p:nvPr/>
      </p:nvGrpSpPr>
      <p:grpSpPr>
        <a:xfrm>
          <a:off x="0" y="0"/>
          <a:ext cx="0" cy="0"/>
          <a:chOff x="0" y="0"/>
          <a:chExt cx="0" cy="0"/>
        </a:xfrm>
      </p:grpSpPr>
      <p:sp>
        <p:nvSpPr>
          <p:cNvPr id="1155" name="Google Shape;1155;p57"/>
          <p:cNvSpPr txBox="1"/>
          <p:nvPr/>
        </p:nvSpPr>
        <p:spPr>
          <a:xfrm>
            <a:off x="658368" y="384048"/>
            <a:ext cx="10874959"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050">
                <a:solidFill>
                  <a:srgbClr val="0096D6"/>
                </a:solidFill>
                <a:latin typeface="Calibri"/>
                <a:ea typeface="Calibri"/>
                <a:cs typeface="Calibri"/>
                <a:sym typeface="Calibri"/>
              </a:rPr>
              <a:t>CHƯƠNG 4 · 4.4 TỔNG HỢP VẤN ĐỀ VÀ ĐỀ XUẤT CẢI TIẾN</a:t>
            </a:r>
            <a:endParaRPr/>
          </a:p>
        </p:txBody>
      </p:sp>
      <p:sp>
        <p:nvSpPr>
          <p:cNvPr id="1156" name="Google Shape;1156;p57"/>
          <p:cNvSpPr txBox="1"/>
          <p:nvPr/>
        </p:nvSpPr>
        <p:spPr>
          <a:xfrm>
            <a:off x="658368" y="640080"/>
            <a:ext cx="10874959" cy="60350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US" sz="2500">
                <a:solidFill>
                  <a:srgbClr val="0A2540"/>
                </a:solidFill>
                <a:latin typeface="Calibri"/>
                <a:ea typeface="Calibri"/>
                <a:cs typeface="Calibri"/>
                <a:sym typeface="Calibri"/>
              </a:rPr>
              <a:t>BẢNG 4.15 — 12 VẤN ĐỀ VÀ ĐỀ XUẤT CẢI TIẾN</a:t>
            </a:r>
            <a:endParaRPr/>
          </a:p>
        </p:txBody>
      </p:sp>
      <p:sp>
        <p:nvSpPr>
          <p:cNvPr id="1157" name="Google Shape;1157;p57"/>
          <p:cNvSpPr/>
          <p:nvPr/>
        </p:nvSpPr>
        <p:spPr>
          <a:xfrm>
            <a:off x="658368" y="1280160"/>
            <a:ext cx="566928" cy="41148"/>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58" name="Google Shape;1158;p57"/>
          <p:cNvSpPr/>
          <p:nvPr/>
        </p:nvSpPr>
        <p:spPr>
          <a:xfrm>
            <a:off x="1298448" y="1280160"/>
            <a:ext cx="10234879" cy="41148"/>
          </a:xfrm>
          <a:prstGeom prst="rect">
            <a:avLst/>
          </a:prstGeom>
          <a:solidFill>
            <a:srgbClr val="DFE4E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59" name="Google Shape;1159;p57"/>
          <p:cNvSpPr txBox="1"/>
          <p:nvPr/>
        </p:nvSpPr>
        <p:spPr>
          <a:xfrm>
            <a:off x="658368" y="1371600"/>
            <a:ext cx="10874959"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1" lang="en-US" sz="1100">
                <a:solidFill>
                  <a:srgbClr val="6B7784"/>
                </a:solidFill>
                <a:latin typeface="Calibri"/>
                <a:ea typeface="Calibri"/>
                <a:cs typeface="Calibri"/>
                <a:sym typeface="Calibri"/>
              </a:rPr>
              <a:t>C03 Service Order Management: 06 vấn đề   |   S01 Procurement Management: 06 vấn đề</a:t>
            </a:r>
            <a:endParaRPr/>
          </a:p>
        </p:txBody>
      </p:sp>
      <p:sp>
        <p:nvSpPr>
          <p:cNvPr id="1160" name="Google Shape;1160;p57"/>
          <p:cNvSpPr txBox="1"/>
          <p:nvPr/>
        </p:nvSpPr>
        <p:spPr>
          <a:xfrm>
            <a:off x="658368" y="6355080"/>
            <a:ext cx="10326319"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850">
                <a:solidFill>
                  <a:srgbClr val="6B7784"/>
                </a:solidFill>
                <a:latin typeface="Calibri"/>
                <a:ea typeface="Calibri"/>
                <a:cs typeface="Calibri"/>
                <a:sym typeface="Calibri"/>
              </a:rPr>
              <a:t>SOLVENTUM VIỆT NAM  ·  HỆ THỐNG QUẢN TRỊ QUY TRÌNH NGHIỆP VỤ</a:t>
            </a:r>
            <a:endParaRPr/>
          </a:p>
        </p:txBody>
      </p:sp>
      <p:sp>
        <p:nvSpPr>
          <p:cNvPr id="1161" name="Google Shape;1161;p57"/>
          <p:cNvSpPr txBox="1"/>
          <p:nvPr/>
        </p:nvSpPr>
        <p:spPr>
          <a:xfrm>
            <a:off x="10984687" y="6355080"/>
            <a:ext cx="548640" cy="2286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1" i="0" lang="en-US" sz="950">
                <a:solidFill>
                  <a:srgbClr val="0096D6"/>
                </a:solidFill>
                <a:latin typeface="Calibri"/>
                <a:ea typeface="Calibri"/>
                <a:cs typeface="Calibri"/>
                <a:sym typeface="Calibri"/>
              </a:rPr>
              <a:t>45</a:t>
            </a:r>
            <a:endParaRPr/>
          </a:p>
        </p:txBody>
      </p:sp>
      <p:graphicFrame>
        <p:nvGraphicFramePr>
          <p:cNvPr id="1162" name="Google Shape;1162;p57"/>
          <p:cNvGraphicFramePr/>
          <p:nvPr/>
        </p:nvGraphicFramePr>
        <p:xfrm>
          <a:off x="658368" y="1810512"/>
          <a:ext cx="3000000" cy="3000000"/>
        </p:xfrm>
        <a:graphic>
          <a:graphicData uri="http://schemas.openxmlformats.org/drawingml/2006/table">
            <a:tbl>
              <a:tblPr firstRow="1">
                <a:noFill/>
                <a:tableStyleId>{65267F91-CA84-436A-A840-DCCC5366F6D9}</a:tableStyleId>
              </a:tblPr>
              <a:tblGrid>
                <a:gridCol w="457200"/>
                <a:gridCol w="1188725"/>
                <a:gridCol w="4297675"/>
                <a:gridCol w="4931350"/>
              </a:tblGrid>
              <a:tr h="320050">
                <a:tc>
                  <a:txBody>
                    <a:bodyPr/>
                    <a:lstStyle/>
                    <a:p>
                      <a:pPr indent="0" lvl="0" marL="0" marR="0" rtl="0" algn="ctr">
                        <a:lnSpc>
                          <a:spcPct val="105000"/>
                        </a:lnSpc>
                        <a:spcBef>
                          <a:spcPts val="0"/>
                        </a:spcBef>
                        <a:spcAft>
                          <a:spcPts val="0"/>
                        </a:spcAft>
                        <a:buNone/>
                      </a:pPr>
                      <a:r>
                        <a:rPr b="1" i="0" lang="en-US" sz="1200" u="none" cap="none" strike="noStrike">
                          <a:solidFill>
                            <a:srgbClr val="FFFFFF"/>
                          </a:solidFill>
                          <a:latin typeface="Calibri"/>
                          <a:ea typeface="Calibri"/>
                          <a:cs typeface="Calibri"/>
                          <a:sym typeface="Calibri"/>
                        </a:rPr>
                        <a:t>STT</a:t>
                      </a:r>
                      <a:endParaRPr/>
                    </a:p>
                  </a:txBody>
                  <a:tcPr marT="41150" marB="41150" marR="73150" marL="91450" anchor="ctr">
                    <a:solidFill>
                      <a:srgbClr val="0A2540"/>
                    </a:solidFill>
                  </a:tcPr>
                </a:tc>
                <a:tc>
                  <a:txBody>
                    <a:bodyPr/>
                    <a:lstStyle/>
                    <a:p>
                      <a:pPr indent="0" lvl="0" marL="0" marR="0" rtl="0" algn="ctr">
                        <a:lnSpc>
                          <a:spcPct val="105000"/>
                        </a:lnSpc>
                        <a:spcBef>
                          <a:spcPts val="0"/>
                        </a:spcBef>
                        <a:spcAft>
                          <a:spcPts val="0"/>
                        </a:spcAft>
                        <a:buNone/>
                      </a:pPr>
                      <a:r>
                        <a:rPr b="1" i="0" lang="en-US" sz="1200" u="none" cap="none" strike="noStrike">
                          <a:solidFill>
                            <a:srgbClr val="FFFFFF"/>
                          </a:solidFill>
                          <a:latin typeface="Calibri"/>
                          <a:ea typeface="Calibri"/>
                          <a:cs typeface="Calibri"/>
                          <a:sym typeface="Calibri"/>
                        </a:rPr>
                        <a:t>QUY TRÌNH</a:t>
                      </a:r>
                      <a:endParaRPr/>
                    </a:p>
                  </a:txBody>
                  <a:tcPr marT="41150" marB="41150" marR="73150" marL="91450" anchor="ctr">
                    <a:solidFill>
                      <a:srgbClr val="0A2540"/>
                    </a:solidFill>
                  </a:tcPr>
                </a:tc>
                <a:tc>
                  <a:txBody>
                    <a:bodyPr/>
                    <a:lstStyle/>
                    <a:p>
                      <a:pPr indent="0" lvl="0" marL="0" marR="0" rtl="0" algn="ctr">
                        <a:lnSpc>
                          <a:spcPct val="105000"/>
                        </a:lnSpc>
                        <a:spcBef>
                          <a:spcPts val="0"/>
                        </a:spcBef>
                        <a:spcAft>
                          <a:spcPts val="0"/>
                        </a:spcAft>
                        <a:buNone/>
                      </a:pPr>
                      <a:r>
                        <a:rPr b="1" i="0" lang="en-US" sz="1200" u="none" cap="none" strike="noStrike">
                          <a:solidFill>
                            <a:srgbClr val="FFFFFF"/>
                          </a:solidFill>
                          <a:latin typeface="Calibri"/>
                          <a:ea typeface="Calibri"/>
                          <a:cs typeface="Calibri"/>
                          <a:sym typeface="Calibri"/>
                        </a:rPr>
                        <a:t>VẤN ĐỀ NHẬN DIỆN</a:t>
                      </a:r>
                      <a:endParaRPr/>
                    </a:p>
                  </a:txBody>
                  <a:tcPr marT="41150" marB="41150" marR="73150" marL="91450" anchor="ctr">
                    <a:solidFill>
                      <a:srgbClr val="0A2540"/>
                    </a:solidFill>
                  </a:tcPr>
                </a:tc>
                <a:tc>
                  <a:txBody>
                    <a:bodyPr/>
                    <a:lstStyle/>
                    <a:p>
                      <a:pPr indent="0" lvl="0" marL="0" marR="0" rtl="0" algn="ctr">
                        <a:lnSpc>
                          <a:spcPct val="105000"/>
                        </a:lnSpc>
                        <a:spcBef>
                          <a:spcPts val="0"/>
                        </a:spcBef>
                        <a:spcAft>
                          <a:spcPts val="0"/>
                        </a:spcAft>
                        <a:buNone/>
                      </a:pPr>
                      <a:r>
                        <a:rPr b="1" i="0" lang="en-US" sz="1200" u="none" cap="none" strike="noStrike">
                          <a:solidFill>
                            <a:srgbClr val="FFFFFF"/>
                          </a:solidFill>
                          <a:latin typeface="Calibri"/>
                          <a:ea typeface="Calibri"/>
                          <a:cs typeface="Calibri"/>
                          <a:sym typeface="Calibri"/>
                        </a:rPr>
                        <a:t>ĐỀ XUẤT CẢI TIẾN</a:t>
                      </a:r>
                      <a:endParaRPr/>
                    </a:p>
                  </a:txBody>
                  <a:tcPr marT="41150" marB="41150" marR="73150" marL="91450" anchor="ctr">
                    <a:solidFill>
                      <a:srgbClr val="0A2540"/>
                    </a:solidFill>
                  </a:tcPr>
                </a:tc>
              </a:tr>
              <a:tr h="320050">
                <a:tc>
                  <a:txBody>
                    <a:bodyPr/>
                    <a:lstStyle/>
                    <a:p>
                      <a:pPr indent="0" lvl="0" marL="0" marR="0" rtl="0" algn="ctr">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1</a:t>
                      </a:r>
                      <a:endParaRPr/>
                    </a:p>
                  </a:txBody>
                  <a:tcPr marT="41150" marB="41150" marR="73150" marL="91450" anchor="ctr"/>
                </a:tc>
                <a:tc>
                  <a:txBody>
                    <a:bodyPr/>
                    <a:lstStyle/>
                    <a:p>
                      <a:pPr indent="0" lvl="0" marL="0" marR="0" rtl="0" algn="ctr">
                        <a:lnSpc>
                          <a:spcPct val="105000"/>
                        </a:lnSpc>
                        <a:spcBef>
                          <a:spcPts val="0"/>
                        </a:spcBef>
                        <a:spcAft>
                          <a:spcPts val="0"/>
                        </a:spcAft>
                        <a:buNone/>
                      </a:pPr>
                      <a:r>
                        <a:rPr b="1" i="0" lang="en-US" sz="1400" u="none" cap="none" strike="noStrike">
                          <a:solidFill>
                            <a:srgbClr val="0096D6"/>
                          </a:solidFill>
                          <a:latin typeface="Calibri"/>
                          <a:ea typeface="Calibri"/>
                          <a:cs typeface="Calibri"/>
                          <a:sym typeface="Calibri"/>
                        </a:rPr>
                        <a:t>C03</a:t>
                      </a:r>
                      <a:endParaRPr/>
                    </a:p>
                  </a:txBody>
                  <a:tcPr marT="41150" marB="41150" marR="73150" marL="91450" anchor="ctr"/>
                </a:tc>
                <a:tc>
                  <a:txBody>
                    <a:bodyPr/>
                    <a:lstStyle/>
                    <a:p>
                      <a:pPr indent="0" lvl="0" marL="0" marR="0" rtl="0" algn="l">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Thông tin yêu cầu dịch vụ ban đầu chưa đầy đủ</a:t>
                      </a:r>
                      <a:endParaRPr/>
                    </a:p>
                  </a:txBody>
                  <a:tcPr marT="41150" marB="41150" marR="73150" marL="91450" anchor="ctr"/>
                </a:tc>
                <a:tc>
                  <a:txBody>
                    <a:bodyPr/>
                    <a:lstStyle/>
                    <a:p>
                      <a:pPr indent="0" lvl="0" marL="0" marR="0" rtl="0" algn="l">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Chuẩn hóa thông tin bắt buộc khi tiếp nhận yêu cầu</a:t>
                      </a:r>
                      <a:endParaRPr/>
                    </a:p>
                  </a:txBody>
                  <a:tcPr marT="41150" marB="41150" marR="73150" marL="91450" anchor="ctr"/>
                </a:tc>
              </a:tr>
              <a:tr h="320050">
                <a:tc>
                  <a:txBody>
                    <a:bodyPr/>
                    <a:lstStyle/>
                    <a:p>
                      <a:pPr indent="0" lvl="0" marL="0" marR="0" rtl="0" algn="ctr">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2</a:t>
                      </a:r>
                      <a:endParaRPr/>
                    </a:p>
                  </a:txBody>
                  <a:tcPr marT="41150" marB="41150" marR="73150" marL="91450" anchor="ctr"/>
                </a:tc>
                <a:tc>
                  <a:txBody>
                    <a:bodyPr/>
                    <a:lstStyle/>
                    <a:p>
                      <a:pPr indent="0" lvl="0" marL="0" marR="0" rtl="0" algn="ctr">
                        <a:lnSpc>
                          <a:spcPct val="105000"/>
                        </a:lnSpc>
                        <a:spcBef>
                          <a:spcPts val="0"/>
                        </a:spcBef>
                        <a:spcAft>
                          <a:spcPts val="0"/>
                        </a:spcAft>
                        <a:buNone/>
                      </a:pPr>
                      <a:r>
                        <a:rPr b="1" i="0" lang="en-US" sz="1400" u="none" cap="none" strike="noStrike">
                          <a:solidFill>
                            <a:srgbClr val="0096D6"/>
                          </a:solidFill>
                          <a:latin typeface="Calibri"/>
                          <a:ea typeface="Calibri"/>
                          <a:cs typeface="Calibri"/>
                          <a:sym typeface="Calibri"/>
                        </a:rPr>
                        <a:t>C03</a:t>
                      </a:r>
                      <a:endParaRPr/>
                    </a:p>
                  </a:txBody>
                  <a:tcPr marT="41150" marB="41150" marR="73150" marL="91450" anchor="ctr"/>
                </a:tc>
                <a:tc>
                  <a:txBody>
                    <a:bodyPr/>
                    <a:lstStyle/>
                    <a:p>
                      <a:pPr indent="0" lvl="0" marL="0" marR="0" rtl="0" algn="l">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Yêu cầu phải đi vòng qua Distributor</a:t>
                      </a:r>
                      <a:endParaRPr/>
                    </a:p>
                  </a:txBody>
                  <a:tcPr marT="41150" marB="41150" marR="73150" marL="91450" anchor="ctr"/>
                </a:tc>
                <a:tc>
                  <a:txBody>
                    <a:bodyPr/>
                    <a:lstStyle/>
                    <a:p>
                      <a:pPr indent="0" lvl="0" marL="0" marR="0" rtl="0" algn="l">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Chuẩn hóa nội dung, phương thức chuyển giao 3 bên</a:t>
                      </a:r>
                      <a:endParaRPr/>
                    </a:p>
                  </a:txBody>
                  <a:tcPr marT="41150" marB="41150" marR="73150" marL="91450" anchor="ctr"/>
                </a:tc>
              </a:tr>
              <a:tr h="320050">
                <a:tc>
                  <a:txBody>
                    <a:bodyPr/>
                    <a:lstStyle/>
                    <a:p>
                      <a:pPr indent="0" lvl="0" marL="0" marR="0" rtl="0" algn="ctr">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3</a:t>
                      </a:r>
                      <a:endParaRPr/>
                    </a:p>
                  </a:txBody>
                  <a:tcPr marT="41150" marB="41150" marR="73150" marL="91450" anchor="ctr"/>
                </a:tc>
                <a:tc>
                  <a:txBody>
                    <a:bodyPr/>
                    <a:lstStyle/>
                    <a:p>
                      <a:pPr indent="0" lvl="0" marL="0" marR="0" rtl="0" algn="ctr">
                        <a:lnSpc>
                          <a:spcPct val="105000"/>
                        </a:lnSpc>
                        <a:spcBef>
                          <a:spcPts val="0"/>
                        </a:spcBef>
                        <a:spcAft>
                          <a:spcPts val="0"/>
                        </a:spcAft>
                        <a:buNone/>
                      </a:pPr>
                      <a:r>
                        <a:rPr b="1" i="0" lang="en-US" sz="1400" u="none" cap="none" strike="noStrike">
                          <a:solidFill>
                            <a:srgbClr val="0096D6"/>
                          </a:solidFill>
                          <a:latin typeface="Calibri"/>
                          <a:ea typeface="Calibri"/>
                          <a:cs typeface="Calibri"/>
                          <a:sym typeface="Calibri"/>
                        </a:rPr>
                        <a:t>C03</a:t>
                      </a:r>
                      <a:endParaRPr/>
                    </a:p>
                  </a:txBody>
                  <a:tcPr marT="41150" marB="41150" marR="73150" marL="91450" anchor="ctr"/>
                </a:tc>
                <a:tc>
                  <a:txBody>
                    <a:bodyPr/>
                    <a:lstStyle/>
                    <a:p>
                      <a:pPr indent="0" lvl="0" marL="0" marR="0" rtl="0" algn="l">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Phát sinh chờ khi phối hợp onsite</a:t>
                      </a:r>
                      <a:endParaRPr/>
                    </a:p>
                  </a:txBody>
                  <a:tcPr marT="41150" marB="41150" marR="73150" marL="91450" anchor="ctr"/>
                </a:tc>
                <a:tc>
                  <a:txBody>
                    <a:bodyPr/>
                    <a:lstStyle/>
                    <a:p>
                      <a:pPr indent="0" lvl="0" marL="0" marR="0" rtl="0" algn="l">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Phối hợp lịch onsite ngay khi xác định nhu cầu</a:t>
                      </a:r>
                      <a:endParaRPr/>
                    </a:p>
                  </a:txBody>
                  <a:tcPr marT="41150" marB="41150" marR="73150" marL="91450" anchor="ctr"/>
                </a:tc>
              </a:tr>
              <a:tr h="320050">
                <a:tc>
                  <a:txBody>
                    <a:bodyPr/>
                    <a:lstStyle/>
                    <a:p>
                      <a:pPr indent="0" lvl="0" marL="0" marR="0" rtl="0" algn="ctr">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4</a:t>
                      </a:r>
                      <a:endParaRPr/>
                    </a:p>
                  </a:txBody>
                  <a:tcPr marT="41150" marB="41150" marR="73150" marL="91450" anchor="ctr"/>
                </a:tc>
                <a:tc>
                  <a:txBody>
                    <a:bodyPr/>
                    <a:lstStyle/>
                    <a:p>
                      <a:pPr indent="0" lvl="0" marL="0" marR="0" rtl="0" algn="ctr">
                        <a:lnSpc>
                          <a:spcPct val="105000"/>
                        </a:lnSpc>
                        <a:spcBef>
                          <a:spcPts val="0"/>
                        </a:spcBef>
                        <a:spcAft>
                          <a:spcPts val="0"/>
                        </a:spcAft>
                        <a:buNone/>
                      </a:pPr>
                      <a:r>
                        <a:rPr b="1" i="0" lang="en-US" sz="1400" u="none" cap="none" strike="noStrike">
                          <a:solidFill>
                            <a:srgbClr val="0096D6"/>
                          </a:solidFill>
                          <a:latin typeface="Calibri"/>
                          <a:ea typeface="Calibri"/>
                          <a:cs typeface="Calibri"/>
                          <a:sym typeface="Calibri"/>
                        </a:rPr>
                        <a:t>C03</a:t>
                      </a:r>
                      <a:endParaRPr/>
                    </a:p>
                  </a:txBody>
                  <a:tcPr marT="41150" marB="41150" marR="73150" marL="91450" anchor="ctr"/>
                </a:tc>
                <a:tc>
                  <a:txBody>
                    <a:bodyPr/>
                    <a:lstStyle/>
                    <a:p>
                      <a:pPr indent="0" lvl="0" marL="0" marR="0" rtl="0" algn="l">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Chờ End-user phản hồi báo giá — 16 giờ</a:t>
                      </a:r>
                      <a:endParaRPr/>
                    </a:p>
                  </a:txBody>
                  <a:tcPr marT="41150" marB="41150" marR="73150" marL="91450" anchor="ctr"/>
                </a:tc>
                <a:tc>
                  <a:txBody>
                    <a:bodyPr/>
                    <a:lstStyle/>
                    <a:p>
                      <a:pPr indent="0" lvl="0" marL="0" marR="0" rtl="0" algn="l">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Trạng thái Pending kèm thời hạn phản hồi báo giá</a:t>
                      </a:r>
                      <a:endParaRPr/>
                    </a:p>
                  </a:txBody>
                  <a:tcPr marT="41150" marB="41150" marR="73150" marL="91450" anchor="ctr"/>
                </a:tc>
              </a:tr>
              <a:tr h="320050">
                <a:tc>
                  <a:txBody>
                    <a:bodyPr/>
                    <a:lstStyle/>
                    <a:p>
                      <a:pPr indent="0" lvl="0" marL="0" marR="0" rtl="0" algn="ctr">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5</a:t>
                      </a:r>
                      <a:endParaRPr/>
                    </a:p>
                  </a:txBody>
                  <a:tcPr marT="41150" marB="41150" marR="73150" marL="91450" anchor="ctr"/>
                </a:tc>
                <a:tc>
                  <a:txBody>
                    <a:bodyPr/>
                    <a:lstStyle/>
                    <a:p>
                      <a:pPr indent="0" lvl="0" marL="0" marR="0" rtl="0" algn="ctr">
                        <a:lnSpc>
                          <a:spcPct val="105000"/>
                        </a:lnSpc>
                        <a:spcBef>
                          <a:spcPts val="0"/>
                        </a:spcBef>
                        <a:spcAft>
                          <a:spcPts val="0"/>
                        </a:spcAft>
                        <a:buNone/>
                      </a:pPr>
                      <a:r>
                        <a:rPr b="1" i="0" lang="en-US" sz="1400" u="none" cap="none" strike="noStrike">
                          <a:solidFill>
                            <a:srgbClr val="0096D6"/>
                          </a:solidFill>
                          <a:latin typeface="Calibri"/>
                          <a:ea typeface="Calibri"/>
                          <a:cs typeface="Calibri"/>
                          <a:sym typeface="Calibri"/>
                        </a:rPr>
                        <a:t>C03</a:t>
                      </a:r>
                      <a:endParaRPr/>
                    </a:p>
                  </a:txBody>
                  <a:tcPr marT="41150" marB="41150" marR="73150" marL="91450" anchor="ctr"/>
                </a:tc>
                <a:tc>
                  <a:txBody>
                    <a:bodyPr/>
                    <a:lstStyle/>
                    <a:p>
                      <a:pPr indent="0" lvl="0" marL="0" marR="0" rtl="0" algn="l">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Chờ bố trí Service Engineer — 4 giờ</a:t>
                      </a:r>
                      <a:endParaRPr/>
                    </a:p>
                  </a:txBody>
                  <a:tcPr marT="41150" marB="41150" marR="73150" marL="91450" anchor="ctr"/>
                </a:tc>
                <a:tc>
                  <a:txBody>
                    <a:bodyPr/>
                    <a:lstStyle/>
                    <a:p>
                      <a:pPr indent="0" lvl="0" marL="0" marR="0" rtl="0" algn="l">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Phân công theo yêu cầu kỹ thuật và khả năng đáp ứng</a:t>
                      </a:r>
                      <a:endParaRPr/>
                    </a:p>
                  </a:txBody>
                  <a:tcPr marT="41150" marB="41150" marR="73150" marL="91450" anchor="ctr"/>
                </a:tc>
              </a:tr>
              <a:tr h="320050">
                <a:tc>
                  <a:txBody>
                    <a:bodyPr/>
                    <a:lstStyle/>
                    <a:p>
                      <a:pPr indent="0" lvl="0" marL="0" marR="0" rtl="0" algn="ctr">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6</a:t>
                      </a:r>
                      <a:endParaRPr/>
                    </a:p>
                  </a:txBody>
                  <a:tcPr marT="41150" marB="41150" marR="73150" marL="91450" anchor="ctr"/>
                </a:tc>
                <a:tc>
                  <a:txBody>
                    <a:bodyPr/>
                    <a:lstStyle/>
                    <a:p>
                      <a:pPr indent="0" lvl="0" marL="0" marR="0" rtl="0" algn="ctr">
                        <a:lnSpc>
                          <a:spcPct val="105000"/>
                        </a:lnSpc>
                        <a:spcBef>
                          <a:spcPts val="0"/>
                        </a:spcBef>
                        <a:spcAft>
                          <a:spcPts val="0"/>
                        </a:spcAft>
                        <a:buNone/>
                      </a:pPr>
                      <a:r>
                        <a:rPr b="1" i="0" lang="en-US" sz="1400" u="none" cap="none" strike="noStrike">
                          <a:solidFill>
                            <a:srgbClr val="0096D6"/>
                          </a:solidFill>
                          <a:latin typeface="Calibri"/>
                          <a:ea typeface="Calibri"/>
                          <a:cs typeface="Calibri"/>
                          <a:sym typeface="Calibri"/>
                        </a:rPr>
                        <a:t>C03</a:t>
                      </a:r>
                      <a:endParaRPr/>
                    </a:p>
                  </a:txBody>
                  <a:tcPr marT="41150" marB="41150" marR="73150" marL="91450" anchor="ctr"/>
                </a:tc>
                <a:tc>
                  <a:txBody>
                    <a:bodyPr/>
                    <a:lstStyle/>
                    <a:p>
                      <a:pPr indent="0" lvl="0" marL="0" marR="0" rtl="0" algn="l">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Onsite tốn nguồn lực gấp gần 6 lần Remote</a:t>
                      </a:r>
                      <a:endParaRPr/>
                    </a:p>
                  </a:txBody>
                  <a:tcPr marT="41150" marB="41150" marR="73150" marL="91450" anchor="ctr"/>
                </a:tc>
                <a:tc>
                  <a:txBody>
                    <a:bodyPr/>
                    <a:lstStyle/>
                    <a:p>
                      <a:pPr indent="0" lvl="0" marL="0" marR="0" rtl="0" algn="l">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Ưu tiên Remote Support khi kỹ thuật cho phép</a:t>
                      </a:r>
                      <a:endParaRPr/>
                    </a:p>
                  </a:txBody>
                  <a:tcPr marT="41150" marB="41150" marR="73150" marL="91450" anchor="ctr"/>
                </a:tc>
              </a:tr>
              <a:tr h="320050">
                <a:tc>
                  <a:txBody>
                    <a:bodyPr/>
                    <a:lstStyle/>
                    <a:p>
                      <a:pPr indent="0" lvl="0" marL="0" marR="0" rtl="0" algn="ctr">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7</a:t>
                      </a:r>
                      <a:endParaRPr/>
                    </a:p>
                  </a:txBody>
                  <a:tcPr marT="41150" marB="41150" marR="73150" marL="91450" anchor="ctr"/>
                </a:tc>
                <a:tc>
                  <a:txBody>
                    <a:bodyPr/>
                    <a:lstStyle/>
                    <a:p>
                      <a:pPr indent="0" lvl="0" marL="0" marR="0" rtl="0" algn="ctr">
                        <a:lnSpc>
                          <a:spcPct val="105000"/>
                        </a:lnSpc>
                        <a:spcBef>
                          <a:spcPts val="0"/>
                        </a:spcBef>
                        <a:spcAft>
                          <a:spcPts val="0"/>
                        </a:spcAft>
                        <a:buNone/>
                      </a:pPr>
                      <a:r>
                        <a:rPr b="1" i="0" lang="en-US" sz="1400" u="none" cap="none" strike="noStrike">
                          <a:solidFill>
                            <a:srgbClr val="00C2A8"/>
                          </a:solidFill>
                          <a:latin typeface="Calibri"/>
                          <a:ea typeface="Calibri"/>
                          <a:cs typeface="Calibri"/>
                          <a:sym typeface="Calibri"/>
                        </a:rPr>
                        <a:t>S01</a:t>
                      </a:r>
                      <a:endParaRPr/>
                    </a:p>
                  </a:txBody>
                  <a:tcPr marT="41150" marB="41150" marR="73150" marL="91450" anchor="ctr"/>
                </a:tc>
                <a:tc>
                  <a:txBody>
                    <a:bodyPr/>
                    <a:lstStyle/>
                    <a:p>
                      <a:pPr indent="0" lvl="0" marL="0" marR="0" rtl="0" algn="l">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PR thiếu hoặc chưa phù hợp yêu cầu duyệt</a:t>
                      </a:r>
                      <a:endParaRPr/>
                    </a:p>
                  </a:txBody>
                  <a:tcPr marT="41150" marB="41150" marR="73150" marL="91450" anchor="ctr"/>
                </a:tc>
                <a:tc>
                  <a:txBody>
                    <a:bodyPr/>
                    <a:lstStyle/>
                    <a:p>
                      <a:pPr indent="0" lvl="0" marL="0" marR="0" rtl="0" algn="l">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Chuẩn hóa trường dữ liệu bắt buộc khi tạo PR</a:t>
                      </a:r>
                      <a:endParaRPr/>
                    </a:p>
                  </a:txBody>
                  <a:tcPr marT="41150" marB="41150" marR="73150" marL="91450" anchor="ctr"/>
                </a:tc>
              </a:tr>
              <a:tr h="320050">
                <a:tc>
                  <a:txBody>
                    <a:bodyPr/>
                    <a:lstStyle/>
                    <a:p>
                      <a:pPr indent="0" lvl="0" marL="0" marR="0" rtl="0" algn="ctr">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8</a:t>
                      </a:r>
                      <a:endParaRPr/>
                    </a:p>
                  </a:txBody>
                  <a:tcPr marT="41150" marB="41150" marR="73150" marL="91450" anchor="ctr"/>
                </a:tc>
                <a:tc>
                  <a:txBody>
                    <a:bodyPr/>
                    <a:lstStyle/>
                    <a:p>
                      <a:pPr indent="0" lvl="0" marL="0" marR="0" rtl="0" algn="ctr">
                        <a:lnSpc>
                          <a:spcPct val="105000"/>
                        </a:lnSpc>
                        <a:spcBef>
                          <a:spcPts val="0"/>
                        </a:spcBef>
                        <a:spcAft>
                          <a:spcPts val="0"/>
                        </a:spcAft>
                        <a:buNone/>
                      </a:pPr>
                      <a:r>
                        <a:rPr b="1" i="0" lang="en-US" sz="1400" u="none" cap="none" strike="noStrike">
                          <a:solidFill>
                            <a:srgbClr val="00C2A8"/>
                          </a:solidFill>
                          <a:latin typeface="Calibri"/>
                          <a:ea typeface="Calibri"/>
                          <a:cs typeface="Calibri"/>
                          <a:sym typeface="Calibri"/>
                        </a:rPr>
                        <a:t>S01</a:t>
                      </a:r>
                      <a:endParaRPr/>
                    </a:p>
                  </a:txBody>
                  <a:tcPr marT="41150" marB="41150" marR="73150" marL="91450" anchor="ctr"/>
                </a:tc>
                <a:tc>
                  <a:txBody>
                    <a:bodyPr/>
                    <a:lstStyle/>
                    <a:p>
                      <a:pPr indent="0" lvl="0" marL="0" marR="0" rtl="0" algn="l">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Phải tìm Supplier mới — 20% giao dịch</a:t>
                      </a:r>
                      <a:endParaRPr/>
                    </a:p>
                  </a:txBody>
                  <a:tcPr marT="41150" marB="41150" marR="73150" marL="91450" anchor="ctr"/>
                </a:tc>
                <a:tc>
                  <a:txBody>
                    <a:bodyPr/>
                    <a:lstStyle/>
                    <a:p>
                      <a:pPr indent="0" lvl="0" marL="0" marR="0" rtl="0" algn="l">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Duy trì, cập nhật danh mục Supplier phù hợp</a:t>
                      </a:r>
                      <a:endParaRPr/>
                    </a:p>
                  </a:txBody>
                  <a:tcPr marT="41150" marB="41150" marR="73150" marL="91450" anchor="ctr"/>
                </a:tc>
              </a:tr>
              <a:tr h="320050">
                <a:tc>
                  <a:txBody>
                    <a:bodyPr/>
                    <a:lstStyle/>
                    <a:p>
                      <a:pPr indent="0" lvl="0" marL="0" marR="0" rtl="0" algn="ctr">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9</a:t>
                      </a:r>
                      <a:endParaRPr/>
                    </a:p>
                  </a:txBody>
                  <a:tcPr marT="41150" marB="41150" marR="73150" marL="91450" anchor="ctr"/>
                </a:tc>
                <a:tc>
                  <a:txBody>
                    <a:bodyPr/>
                    <a:lstStyle/>
                    <a:p>
                      <a:pPr indent="0" lvl="0" marL="0" marR="0" rtl="0" algn="ctr">
                        <a:lnSpc>
                          <a:spcPct val="105000"/>
                        </a:lnSpc>
                        <a:spcBef>
                          <a:spcPts val="0"/>
                        </a:spcBef>
                        <a:spcAft>
                          <a:spcPts val="0"/>
                        </a:spcAft>
                        <a:buNone/>
                      </a:pPr>
                      <a:r>
                        <a:rPr b="1" i="0" lang="en-US" sz="1400" u="none" cap="none" strike="noStrike">
                          <a:solidFill>
                            <a:srgbClr val="00C2A8"/>
                          </a:solidFill>
                          <a:latin typeface="Calibri"/>
                          <a:ea typeface="Calibri"/>
                          <a:cs typeface="Calibri"/>
                          <a:sym typeface="Calibri"/>
                        </a:rPr>
                        <a:t>S01</a:t>
                      </a:r>
                      <a:endParaRPr/>
                    </a:p>
                  </a:txBody>
                  <a:tcPr marT="41150" marB="41150" marR="73150" marL="91450" anchor="ctr"/>
                </a:tc>
                <a:tc>
                  <a:txBody>
                    <a:bodyPr/>
                    <a:lstStyle/>
                    <a:p>
                      <a:pPr indent="0" lvl="0" marL="0" marR="0" rtl="0" algn="l">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Hàng hóa không phù hợp với PO</a:t>
                      </a:r>
                      <a:endParaRPr/>
                    </a:p>
                  </a:txBody>
                  <a:tcPr marT="41150" marB="41150" marR="73150" marL="91450" anchor="ctr"/>
                </a:tc>
                <a:tc>
                  <a:txBody>
                    <a:bodyPr/>
                    <a:lstStyle/>
                    <a:p>
                      <a:pPr indent="0" lvl="0" marL="0" marR="0" rtl="0" algn="l">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Xác nhận yêu cầu với Supplier trước khi cung ứng</a:t>
                      </a:r>
                      <a:endParaRPr/>
                    </a:p>
                  </a:txBody>
                  <a:tcPr marT="41150" marB="41150" marR="73150" marL="91450" anchor="ctr"/>
                </a:tc>
              </a:tr>
              <a:tr h="320050">
                <a:tc>
                  <a:txBody>
                    <a:bodyPr/>
                    <a:lstStyle/>
                    <a:p>
                      <a:pPr indent="0" lvl="0" marL="0" marR="0" rtl="0" algn="ctr">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10</a:t>
                      </a:r>
                      <a:endParaRPr/>
                    </a:p>
                  </a:txBody>
                  <a:tcPr marT="41150" marB="41150" marR="73150" marL="91450" anchor="ctr"/>
                </a:tc>
                <a:tc>
                  <a:txBody>
                    <a:bodyPr/>
                    <a:lstStyle/>
                    <a:p>
                      <a:pPr indent="0" lvl="0" marL="0" marR="0" rtl="0" algn="ctr">
                        <a:lnSpc>
                          <a:spcPct val="105000"/>
                        </a:lnSpc>
                        <a:spcBef>
                          <a:spcPts val="0"/>
                        </a:spcBef>
                        <a:spcAft>
                          <a:spcPts val="0"/>
                        </a:spcAft>
                        <a:buNone/>
                      </a:pPr>
                      <a:r>
                        <a:rPr b="1" i="0" lang="en-US" sz="1400" u="none" cap="none" strike="noStrike">
                          <a:solidFill>
                            <a:srgbClr val="00C2A8"/>
                          </a:solidFill>
                          <a:latin typeface="Calibri"/>
                          <a:ea typeface="Calibri"/>
                          <a:cs typeface="Calibri"/>
                          <a:sym typeface="Calibri"/>
                        </a:rPr>
                        <a:t>S01</a:t>
                      </a:r>
                      <a:endParaRPr/>
                    </a:p>
                  </a:txBody>
                  <a:tcPr marT="41150" marB="41150" marR="73150" marL="91450" anchor="ctr"/>
                </a:tc>
                <a:tc>
                  <a:txBody>
                    <a:bodyPr/>
                    <a:lstStyle/>
                    <a:p>
                      <a:pPr indent="0" lvl="0" marL="0" marR="0" rtl="0" algn="l">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Hóa đơn không phù hợp PO / GR</a:t>
                      </a:r>
                      <a:endParaRPr/>
                    </a:p>
                  </a:txBody>
                  <a:tcPr marT="41150" marB="41150" marR="73150" marL="91450" anchor="ctr"/>
                </a:tc>
                <a:tc>
                  <a:txBody>
                    <a:bodyPr/>
                    <a:lstStyle/>
                    <a:p>
                      <a:pPr indent="0" lvl="0" marL="0" marR="0" rtl="0" algn="l">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Tăng tính nhất quán giữa PO, GR và Invoice</a:t>
                      </a:r>
                      <a:endParaRPr/>
                    </a:p>
                  </a:txBody>
                  <a:tcPr marT="41150" marB="41150" marR="73150" marL="91450" anchor="ctr"/>
                </a:tc>
              </a:tr>
              <a:tr h="320050">
                <a:tc>
                  <a:txBody>
                    <a:bodyPr/>
                    <a:lstStyle/>
                    <a:p>
                      <a:pPr indent="0" lvl="0" marL="0" marR="0" rtl="0" algn="ctr">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11</a:t>
                      </a:r>
                      <a:endParaRPr/>
                    </a:p>
                  </a:txBody>
                  <a:tcPr marT="41150" marB="41150" marR="73150" marL="91450" anchor="ctr"/>
                </a:tc>
                <a:tc>
                  <a:txBody>
                    <a:bodyPr/>
                    <a:lstStyle/>
                    <a:p>
                      <a:pPr indent="0" lvl="0" marL="0" marR="0" rtl="0" algn="ctr">
                        <a:lnSpc>
                          <a:spcPct val="105000"/>
                        </a:lnSpc>
                        <a:spcBef>
                          <a:spcPts val="0"/>
                        </a:spcBef>
                        <a:spcAft>
                          <a:spcPts val="0"/>
                        </a:spcAft>
                        <a:buNone/>
                      </a:pPr>
                      <a:r>
                        <a:rPr b="1" i="0" lang="en-US" sz="1400" u="none" cap="none" strike="noStrike">
                          <a:solidFill>
                            <a:srgbClr val="00C2A8"/>
                          </a:solidFill>
                          <a:latin typeface="Calibri"/>
                          <a:ea typeface="Calibri"/>
                          <a:cs typeface="Calibri"/>
                          <a:sym typeface="Calibri"/>
                        </a:rPr>
                        <a:t>S01</a:t>
                      </a:r>
                      <a:endParaRPr/>
                    </a:p>
                  </a:txBody>
                  <a:tcPr marT="41150" marB="41150" marR="73150" marL="91450" anchor="ctr"/>
                </a:tc>
                <a:tc>
                  <a:txBody>
                    <a:bodyPr/>
                    <a:lstStyle/>
                    <a:p>
                      <a:pPr indent="0" lvl="0" marL="0" marR="0" rtl="0" algn="l">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Cung ứng chiếm 80 giờ Waiting Time</a:t>
                      </a:r>
                      <a:endParaRPr/>
                    </a:p>
                  </a:txBody>
                  <a:tcPr marT="41150" marB="41150" marR="73150" marL="91450" anchor="ctr"/>
                </a:tc>
                <a:tc>
                  <a:txBody>
                    <a:bodyPr/>
                    <a:lstStyle/>
                    <a:p>
                      <a:pPr indent="0" lvl="0" marL="0" marR="0" rtl="0" algn="l">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Theo dõi tiến độ và các mốc thực hiện của PO</a:t>
                      </a:r>
                      <a:endParaRPr/>
                    </a:p>
                  </a:txBody>
                  <a:tcPr marT="41150" marB="41150" marR="73150" marL="91450" anchor="ctr"/>
                </a:tc>
              </a:tr>
              <a:tr h="320050">
                <a:tc>
                  <a:txBody>
                    <a:bodyPr/>
                    <a:lstStyle/>
                    <a:p>
                      <a:pPr indent="0" lvl="0" marL="0" marR="0" rtl="0" algn="ctr">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12</a:t>
                      </a:r>
                      <a:endParaRPr/>
                    </a:p>
                  </a:txBody>
                  <a:tcPr marT="41150" marB="41150" marR="73150" marL="91450" anchor="ctr"/>
                </a:tc>
                <a:tc>
                  <a:txBody>
                    <a:bodyPr/>
                    <a:lstStyle/>
                    <a:p>
                      <a:pPr indent="0" lvl="0" marL="0" marR="0" rtl="0" algn="ctr">
                        <a:lnSpc>
                          <a:spcPct val="105000"/>
                        </a:lnSpc>
                        <a:spcBef>
                          <a:spcPts val="0"/>
                        </a:spcBef>
                        <a:spcAft>
                          <a:spcPts val="0"/>
                        </a:spcAft>
                        <a:buNone/>
                      </a:pPr>
                      <a:r>
                        <a:rPr b="1" i="0" lang="en-US" sz="1400" u="none" cap="none" strike="noStrike">
                          <a:solidFill>
                            <a:srgbClr val="00C2A8"/>
                          </a:solidFill>
                          <a:latin typeface="Calibri"/>
                          <a:ea typeface="Calibri"/>
                          <a:cs typeface="Calibri"/>
                          <a:sym typeface="Calibri"/>
                        </a:rPr>
                        <a:t>S01</a:t>
                      </a:r>
                      <a:endParaRPr/>
                    </a:p>
                  </a:txBody>
                  <a:tcPr marT="41150" marB="41150" marR="73150" marL="91450" anchor="ctr"/>
                </a:tc>
                <a:tc>
                  <a:txBody>
                    <a:bodyPr/>
                    <a:lstStyle/>
                    <a:p>
                      <a:pPr indent="0" lvl="0" marL="0" marR="0" rtl="0" algn="l">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Nhiều điểm chuyển giao giữa các bên</a:t>
                      </a:r>
                      <a:endParaRPr/>
                    </a:p>
                  </a:txBody>
                  <a:tcPr marT="41150" marB="41150" marR="73150" marL="91450" anchor="ctr"/>
                </a:tc>
                <a:tc>
                  <a:txBody>
                    <a:bodyPr/>
                    <a:lstStyle/>
                    <a:p>
                      <a:pPr indent="0" lvl="0" marL="0" marR="0" rtl="0" algn="l">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Chuẩn hóa trạng thái xử lý và thông tin bàn giao</a:t>
                      </a:r>
                      <a:endParaRPr/>
                    </a:p>
                  </a:txBody>
                  <a:tcPr marT="41150" marB="41150" marR="73150" marL="91450" anchor="ctr"/>
                </a:tc>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6" name="Shape 1166"/>
        <p:cNvGrpSpPr/>
        <p:nvPr/>
      </p:nvGrpSpPr>
      <p:grpSpPr>
        <a:xfrm>
          <a:off x="0" y="0"/>
          <a:ext cx="0" cy="0"/>
          <a:chOff x="0" y="0"/>
          <a:chExt cx="0" cy="0"/>
        </a:xfrm>
      </p:grpSpPr>
      <p:sp>
        <p:nvSpPr>
          <p:cNvPr id="1167" name="Google Shape;1167;p58"/>
          <p:cNvSpPr txBox="1"/>
          <p:nvPr/>
        </p:nvSpPr>
        <p:spPr>
          <a:xfrm>
            <a:off x="658368" y="384048"/>
            <a:ext cx="10874959"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050">
                <a:solidFill>
                  <a:srgbClr val="0096D6"/>
                </a:solidFill>
                <a:latin typeface="Calibri"/>
                <a:ea typeface="Calibri"/>
                <a:cs typeface="Calibri"/>
                <a:sym typeface="Calibri"/>
              </a:rPr>
              <a:t>CHƯƠNG 4 · 4.4 TỔNG HỢP VẤN ĐỀ VÀ ĐỀ XUẤT CẢI TIẾN</a:t>
            </a:r>
            <a:endParaRPr/>
          </a:p>
        </p:txBody>
      </p:sp>
      <p:sp>
        <p:nvSpPr>
          <p:cNvPr id="1168" name="Google Shape;1168;p58"/>
          <p:cNvSpPr txBox="1"/>
          <p:nvPr/>
        </p:nvSpPr>
        <p:spPr>
          <a:xfrm>
            <a:off x="658368" y="640080"/>
            <a:ext cx="10874959" cy="60350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US" sz="2500">
                <a:solidFill>
                  <a:srgbClr val="0A2540"/>
                </a:solidFill>
                <a:latin typeface="Calibri"/>
                <a:ea typeface="Calibri"/>
                <a:cs typeface="Calibri"/>
                <a:sym typeface="Calibri"/>
              </a:rPr>
              <a:t>TRỌNG TÂM CẢI TIẾN VÀ CHỈ SỐ THEO DÕI SAU CẢI TIẾN</a:t>
            </a:r>
            <a:endParaRPr/>
          </a:p>
        </p:txBody>
      </p:sp>
      <p:sp>
        <p:nvSpPr>
          <p:cNvPr id="1169" name="Google Shape;1169;p58"/>
          <p:cNvSpPr/>
          <p:nvPr/>
        </p:nvSpPr>
        <p:spPr>
          <a:xfrm>
            <a:off x="658368" y="1280160"/>
            <a:ext cx="566928" cy="41148"/>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70" name="Google Shape;1170;p58"/>
          <p:cNvSpPr/>
          <p:nvPr/>
        </p:nvSpPr>
        <p:spPr>
          <a:xfrm>
            <a:off x="1298448" y="1280160"/>
            <a:ext cx="10234879" cy="41148"/>
          </a:xfrm>
          <a:prstGeom prst="rect">
            <a:avLst/>
          </a:prstGeom>
          <a:solidFill>
            <a:srgbClr val="DFE4E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71" name="Google Shape;1171;p58"/>
          <p:cNvSpPr txBox="1"/>
          <p:nvPr/>
        </p:nvSpPr>
        <p:spPr>
          <a:xfrm>
            <a:off x="658368" y="1371600"/>
            <a:ext cx="10874959"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1" lang="en-US" sz="1100">
                <a:solidFill>
                  <a:srgbClr val="6B7784"/>
                </a:solidFill>
                <a:latin typeface="Calibri"/>
                <a:ea typeface="Calibri"/>
                <a:cs typeface="Calibri"/>
                <a:sym typeface="Calibri"/>
              </a:rPr>
              <a:t>Cải tiến không nhằm loại bỏ hoạt động BVA, mà giảm nguyên nhân sinh ra NVA và hạn chế Waiting Time</a:t>
            </a:r>
            <a:endParaRPr/>
          </a:p>
        </p:txBody>
      </p:sp>
      <p:sp>
        <p:nvSpPr>
          <p:cNvPr id="1172" name="Google Shape;1172;p58"/>
          <p:cNvSpPr txBox="1"/>
          <p:nvPr/>
        </p:nvSpPr>
        <p:spPr>
          <a:xfrm>
            <a:off x="658368" y="6355080"/>
            <a:ext cx="10326319"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850">
                <a:solidFill>
                  <a:srgbClr val="6B7784"/>
                </a:solidFill>
                <a:latin typeface="Calibri"/>
                <a:ea typeface="Calibri"/>
                <a:cs typeface="Calibri"/>
                <a:sym typeface="Calibri"/>
              </a:rPr>
              <a:t>SOLVENTUM VIỆT NAM  ·  HỆ THỐNG QUẢN TRỊ QUY TRÌNH NGHIỆP VỤ</a:t>
            </a:r>
            <a:endParaRPr/>
          </a:p>
        </p:txBody>
      </p:sp>
      <p:sp>
        <p:nvSpPr>
          <p:cNvPr id="1173" name="Google Shape;1173;p58"/>
          <p:cNvSpPr txBox="1"/>
          <p:nvPr/>
        </p:nvSpPr>
        <p:spPr>
          <a:xfrm>
            <a:off x="10984687" y="6355080"/>
            <a:ext cx="548640" cy="2286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1" i="0" lang="en-US" sz="950">
                <a:solidFill>
                  <a:srgbClr val="0096D6"/>
                </a:solidFill>
                <a:latin typeface="Calibri"/>
                <a:ea typeface="Calibri"/>
                <a:cs typeface="Calibri"/>
                <a:sym typeface="Calibri"/>
              </a:rPr>
              <a:t>46</a:t>
            </a:r>
            <a:endParaRPr/>
          </a:p>
        </p:txBody>
      </p:sp>
      <p:sp>
        <p:nvSpPr>
          <p:cNvPr id="1174" name="Google Shape;1174;p58"/>
          <p:cNvSpPr txBox="1"/>
          <p:nvPr/>
        </p:nvSpPr>
        <p:spPr>
          <a:xfrm>
            <a:off x="658368" y="1737360"/>
            <a:ext cx="5323459"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200">
                <a:solidFill>
                  <a:srgbClr val="0096D6"/>
                </a:solidFill>
                <a:latin typeface="Calibri"/>
                <a:ea typeface="Calibri"/>
                <a:cs typeface="Calibri"/>
                <a:sym typeface="Calibri"/>
              </a:rPr>
              <a:t>TRỌNG TÂM CẢI TIẾN — C03 SERVICE ORDER MANAGEMENT</a:t>
            </a:r>
            <a:endParaRPr/>
          </a:p>
        </p:txBody>
      </p:sp>
      <p:sp>
        <p:nvSpPr>
          <p:cNvPr id="1175" name="Google Shape;1175;p58"/>
          <p:cNvSpPr/>
          <p:nvPr/>
        </p:nvSpPr>
        <p:spPr>
          <a:xfrm>
            <a:off x="658368" y="2057400"/>
            <a:ext cx="5323459" cy="786384"/>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76" name="Google Shape;1176;p58"/>
          <p:cNvSpPr/>
          <p:nvPr/>
        </p:nvSpPr>
        <p:spPr>
          <a:xfrm>
            <a:off x="658368" y="2057400"/>
            <a:ext cx="5323459" cy="50292"/>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77" name="Google Shape;1177;p58"/>
          <p:cNvSpPr txBox="1"/>
          <p:nvPr/>
        </p:nvSpPr>
        <p:spPr>
          <a:xfrm>
            <a:off x="864108" y="2240280"/>
            <a:ext cx="4911979"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400">
                <a:solidFill>
                  <a:srgbClr val="0096D6"/>
                </a:solidFill>
                <a:latin typeface="Calibri"/>
                <a:ea typeface="Calibri"/>
                <a:cs typeface="Calibri"/>
                <a:sym typeface="Calibri"/>
              </a:rPr>
              <a:t>ƯU TIÊN 01</a:t>
            </a:r>
            <a:endParaRPr/>
          </a:p>
        </p:txBody>
      </p:sp>
      <p:sp>
        <p:nvSpPr>
          <p:cNvPr id="1178" name="Google Shape;1178;p58"/>
          <p:cNvSpPr txBox="1"/>
          <p:nvPr/>
        </p:nvSpPr>
        <p:spPr>
          <a:xfrm>
            <a:off x="864108" y="2560320"/>
            <a:ext cx="4911979" cy="2743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US" sz="1300">
                <a:solidFill>
                  <a:srgbClr val="0A2540"/>
                </a:solidFill>
                <a:latin typeface="Calibri"/>
                <a:ea typeface="Calibri"/>
                <a:cs typeface="Calibri"/>
                <a:sym typeface="Calibri"/>
              </a:rPr>
              <a:t>Nâng cao chất lượng thông tin ngay khi tiếp nhận yêu cầu</a:t>
            </a:r>
            <a:endParaRPr/>
          </a:p>
        </p:txBody>
      </p:sp>
      <p:sp>
        <p:nvSpPr>
          <p:cNvPr id="1179" name="Google Shape;1179;p58"/>
          <p:cNvSpPr/>
          <p:nvPr/>
        </p:nvSpPr>
        <p:spPr>
          <a:xfrm>
            <a:off x="658368" y="3008376"/>
            <a:ext cx="5323459" cy="786384"/>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80" name="Google Shape;1180;p58"/>
          <p:cNvSpPr/>
          <p:nvPr/>
        </p:nvSpPr>
        <p:spPr>
          <a:xfrm>
            <a:off x="658368" y="3008376"/>
            <a:ext cx="5323459" cy="50292"/>
          </a:xfrm>
          <a:prstGeom prst="rect">
            <a:avLst/>
          </a:prstGeom>
          <a:solidFill>
            <a:srgbClr val="C87F0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81" name="Google Shape;1181;p58"/>
          <p:cNvSpPr txBox="1"/>
          <p:nvPr/>
        </p:nvSpPr>
        <p:spPr>
          <a:xfrm>
            <a:off x="864108" y="3191256"/>
            <a:ext cx="4911979"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400">
                <a:solidFill>
                  <a:srgbClr val="C87F0A"/>
                </a:solidFill>
                <a:latin typeface="Calibri"/>
                <a:ea typeface="Calibri"/>
                <a:cs typeface="Calibri"/>
                <a:sym typeface="Calibri"/>
              </a:rPr>
              <a:t>ƯU TIÊN 02</a:t>
            </a:r>
            <a:endParaRPr/>
          </a:p>
        </p:txBody>
      </p:sp>
      <p:sp>
        <p:nvSpPr>
          <p:cNvPr id="1182" name="Google Shape;1182;p58"/>
          <p:cNvSpPr txBox="1"/>
          <p:nvPr/>
        </p:nvSpPr>
        <p:spPr>
          <a:xfrm>
            <a:off x="864108" y="3511296"/>
            <a:ext cx="4911979" cy="2743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US" sz="1300">
                <a:solidFill>
                  <a:srgbClr val="0A2540"/>
                </a:solidFill>
                <a:latin typeface="Calibri"/>
                <a:ea typeface="Calibri"/>
                <a:cs typeface="Calibri"/>
                <a:sym typeface="Calibri"/>
              </a:rPr>
              <a:t>Tăng hiệu quả phối hợp giữa các bên, giảm 06 điểm Hold</a:t>
            </a:r>
            <a:endParaRPr/>
          </a:p>
        </p:txBody>
      </p:sp>
      <p:sp>
        <p:nvSpPr>
          <p:cNvPr id="1183" name="Google Shape;1183;p58"/>
          <p:cNvSpPr txBox="1"/>
          <p:nvPr/>
        </p:nvSpPr>
        <p:spPr>
          <a:xfrm>
            <a:off x="6209868" y="1737360"/>
            <a:ext cx="5323459"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200">
                <a:solidFill>
                  <a:srgbClr val="00C2A8"/>
                </a:solidFill>
                <a:latin typeface="Calibri"/>
                <a:ea typeface="Calibri"/>
                <a:cs typeface="Calibri"/>
                <a:sym typeface="Calibri"/>
              </a:rPr>
              <a:t>TRỌNG TÂM CẢI TIẾN — S01 PROCUREMENT MANAGEMENT</a:t>
            </a:r>
            <a:endParaRPr/>
          </a:p>
        </p:txBody>
      </p:sp>
      <p:sp>
        <p:nvSpPr>
          <p:cNvPr id="1184" name="Google Shape;1184;p58"/>
          <p:cNvSpPr/>
          <p:nvPr/>
        </p:nvSpPr>
        <p:spPr>
          <a:xfrm>
            <a:off x="6209868" y="2057400"/>
            <a:ext cx="5323459" cy="786384"/>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85" name="Google Shape;1185;p58"/>
          <p:cNvSpPr/>
          <p:nvPr/>
        </p:nvSpPr>
        <p:spPr>
          <a:xfrm>
            <a:off x="6209868" y="2057400"/>
            <a:ext cx="5323459" cy="50292"/>
          </a:xfrm>
          <a:prstGeom prst="rect">
            <a:avLst/>
          </a:prstGeom>
          <a:solidFill>
            <a:srgbClr val="00C2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86" name="Google Shape;1186;p58"/>
          <p:cNvSpPr txBox="1"/>
          <p:nvPr/>
        </p:nvSpPr>
        <p:spPr>
          <a:xfrm>
            <a:off x="6415608" y="2240280"/>
            <a:ext cx="4911979"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400">
                <a:solidFill>
                  <a:srgbClr val="00C2A8"/>
                </a:solidFill>
                <a:latin typeface="Calibri"/>
                <a:ea typeface="Calibri"/>
                <a:cs typeface="Calibri"/>
                <a:sym typeface="Calibri"/>
              </a:rPr>
              <a:t>ƯU TIÊN 01</a:t>
            </a:r>
            <a:endParaRPr/>
          </a:p>
        </p:txBody>
      </p:sp>
      <p:sp>
        <p:nvSpPr>
          <p:cNvPr id="1187" name="Google Shape;1187;p58"/>
          <p:cNvSpPr txBox="1"/>
          <p:nvPr/>
        </p:nvSpPr>
        <p:spPr>
          <a:xfrm>
            <a:off x="6415608" y="2560320"/>
            <a:ext cx="4911979" cy="2743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US" sz="1300">
                <a:solidFill>
                  <a:srgbClr val="0A2540"/>
                </a:solidFill>
                <a:latin typeface="Calibri"/>
                <a:ea typeface="Calibri"/>
                <a:cs typeface="Calibri"/>
                <a:sym typeface="Calibri"/>
              </a:rPr>
              <a:t>Nâng cao chất lượng PR, duy trì nguồn Supplier phù hợp</a:t>
            </a:r>
            <a:endParaRPr/>
          </a:p>
        </p:txBody>
      </p:sp>
      <p:sp>
        <p:nvSpPr>
          <p:cNvPr id="1188" name="Google Shape;1188;p58"/>
          <p:cNvSpPr/>
          <p:nvPr/>
        </p:nvSpPr>
        <p:spPr>
          <a:xfrm>
            <a:off x="6209868" y="3008376"/>
            <a:ext cx="5323459" cy="786384"/>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89" name="Google Shape;1189;p58"/>
          <p:cNvSpPr/>
          <p:nvPr/>
        </p:nvSpPr>
        <p:spPr>
          <a:xfrm>
            <a:off x="6209868" y="3008376"/>
            <a:ext cx="5323459" cy="50292"/>
          </a:xfrm>
          <a:prstGeom prst="rect">
            <a:avLst/>
          </a:prstGeom>
          <a:solidFill>
            <a:srgbClr val="C0392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90" name="Google Shape;1190;p58"/>
          <p:cNvSpPr txBox="1"/>
          <p:nvPr/>
        </p:nvSpPr>
        <p:spPr>
          <a:xfrm>
            <a:off x="6415608" y="3191256"/>
            <a:ext cx="4911979"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400">
                <a:solidFill>
                  <a:srgbClr val="C0392B"/>
                </a:solidFill>
                <a:latin typeface="Calibri"/>
                <a:ea typeface="Calibri"/>
                <a:cs typeface="Calibri"/>
                <a:sym typeface="Calibri"/>
              </a:rPr>
              <a:t>ƯU TIÊN 02</a:t>
            </a:r>
            <a:endParaRPr/>
          </a:p>
        </p:txBody>
      </p:sp>
      <p:sp>
        <p:nvSpPr>
          <p:cNvPr id="1191" name="Google Shape;1191;p58"/>
          <p:cNvSpPr txBox="1"/>
          <p:nvPr/>
        </p:nvSpPr>
        <p:spPr>
          <a:xfrm>
            <a:off x="6415608" y="3511296"/>
            <a:ext cx="4911979" cy="2743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US" sz="1300">
                <a:solidFill>
                  <a:srgbClr val="0A2540"/>
                </a:solidFill>
                <a:latin typeface="Calibri"/>
                <a:ea typeface="Calibri"/>
                <a:cs typeface="Calibri"/>
                <a:sym typeface="Calibri"/>
              </a:rPr>
              <a:t>Tăng độ chính xác chứng từ, theo dõi tiến độ PO</a:t>
            </a:r>
            <a:endParaRPr/>
          </a:p>
        </p:txBody>
      </p:sp>
      <p:sp>
        <p:nvSpPr>
          <p:cNvPr id="1192" name="Google Shape;1192;p58"/>
          <p:cNvSpPr txBox="1"/>
          <p:nvPr/>
        </p:nvSpPr>
        <p:spPr>
          <a:xfrm>
            <a:off x="658368" y="3931920"/>
            <a:ext cx="10874959"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200">
                <a:solidFill>
                  <a:srgbClr val="0096D6"/>
                </a:solidFill>
                <a:latin typeface="Calibri"/>
                <a:ea typeface="Calibri"/>
                <a:cs typeface="Calibri"/>
                <a:sym typeface="Calibri"/>
              </a:rPr>
              <a:t>CHỈ SỐ THEO DÕI HIỆU QUẢ SAU CẢI TIẾN  —  ĐO LẠI KHI CÓ DỮ LIỆU VẬN HÀNH THỰC TẾ</a:t>
            </a:r>
            <a:endParaRPr/>
          </a:p>
        </p:txBody>
      </p:sp>
      <p:graphicFrame>
        <p:nvGraphicFramePr>
          <p:cNvPr id="1193" name="Google Shape;1193;p58"/>
          <p:cNvGraphicFramePr/>
          <p:nvPr/>
        </p:nvGraphicFramePr>
        <p:xfrm>
          <a:off x="658368" y="4251960"/>
          <a:ext cx="3000000" cy="3000000"/>
        </p:xfrm>
        <a:graphic>
          <a:graphicData uri="http://schemas.openxmlformats.org/drawingml/2006/table">
            <a:tbl>
              <a:tblPr firstRow="1">
                <a:noFill/>
                <a:tableStyleId>{65267F91-CA84-436A-A840-DCCC5366F6D9}</a:tableStyleId>
              </a:tblPr>
              <a:tblGrid>
                <a:gridCol w="2926075"/>
                <a:gridCol w="3931925"/>
                <a:gridCol w="4016950"/>
              </a:tblGrid>
              <a:tr h="457200">
                <a:tc>
                  <a:txBody>
                    <a:bodyPr/>
                    <a:lstStyle/>
                    <a:p>
                      <a:pPr indent="0" lvl="0" marL="0" marR="0" rtl="0" algn="ctr">
                        <a:lnSpc>
                          <a:spcPct val="105000"/>
                        </a:lnSpc>
                        <a:spcBef>
                          <a:spcPts val="0"/>
                        </a:spcBef>
                        <a:spcAft>
                          <a:spcPts val="0"/>
                        </a:spcAft>
                        <a:buNone/>
                      </a:pPr>
                      <a:r>
                        <a:rPr b="1" i="0" lang="en-US" sz="1100" u="none" cap="none" strike="noStrike">
                          <a:solidFill>
                            <a:srgbClr val="FFFFFF"/>
                          </a:solidFill>
                          <a:latin typeface="Calibri"/>
                          <a:ea typeface="Calibri"/>
                          <a:cs typeface="Calibri"/>
                          <a:sym typeface="Calibri"/>
                        </a:rPr>
                        <a:t>QUY TRÌNH</a:t>
                      </a:r>
                      <a:endParaRPr/>
                    </a:p>
                  </a:txBody>
                  <a:tcPr marT="41150" marB="41150" marR="73150" marL="91450" anchor="ctr">
                    <a:solidFill>
                      <a:srgbClr val="0A2540"/>
                    </a:solidFill>
                  </a:tcPr>
                </a:tc>
                <a:tc>
                  <a:txBody>
                    <a:bodyPr/>
                    <a:lstStyle/>
                    <a:p>
                      <a:pPr indent="0" lvl="0" marL="0" marR="0" rtl="0" algn="ctr">
                        <a:lnSpc>
                          <a:spcPct val="105000"/>
                        </a:lnSpc>
                        <a:spcBef>
                          <a:spcPts val="0"/>
                        </a:spcBef>
                        <a:spcAft>
                          <a:spcPts val="0"/>
                        </a:spcAft>
                        <a:buNone/>
                      </a:pPr>
                      <a:r>
                        <a:rPr b="1" i="0" lang="en-US" sz="1100" u="none" cap="none" strike="noStrike">
                          <a:solidFill>
                            <a:srgbClr val="FFFFFF"/>
                          </a:solidFill>
                          <a:latin typeface="Calibri"/>
                          <a:ea typeface="Calibri"/>
                          <a:cs typeface="Calibri"/>
                          <a:sym typeface="Calibri"/>
                        </a:rPr>
                        <a:t>CHỈ SỐ THỜI GIAN</a:t>
                      </a:r>
                      <a:endParaRPr/>
                    </a:p>
                  </a:txBody>
                  <a:tcPr marT="41150" marB="41150" marR="73150" marL="91450" anchor="ctr">
                    <a:solidFill>
                      <a:srgbClr val="0A2540"/>
                    </a:solidFill>
                  </a:tcPr>
                </a:tc>
                <a:tc>
                  <a:txBody>
                    <a:bodyPr/>
                    <a:lstStyle/>
                    <a:p>
                      <a:pPr indent="0" lvl="0" marL="0" marR="0" rtl="0" algn="ctr">
                        <a:lnSpc>
                          <a:spcPct val="105000"/>
                        </a:lnSpc>
                        <a:spcBef>
                          <a:spcPts val="0"/>
                        </a:spcBef>
                        <a:spcAft>
                          <a:spcPts val="0"/>
                        </a:spcAft>
                        <a:buNone/>
                      </a:pPr>
                      <a:r>
                        <a:rPr b="1" i="0" lang="en-US" sz="1100" u="none" cap="none" strike="noStrike">
                          <a:solidFill>
                            <a:srgbClr val="FFFFFF"/>
                          </a:solidFill>
                          <a:latin typeface="Calibri"/>
                          <a:ea typeface="Calibri"/>
                          <a:cs typeface="Calibri"/>
                          <a:sym typeface="Calibri"/>
                        </a:rPr>
                        <a:t>CHỈ SỐ CHẤT LƯỢNG</a:t>
                      </a:r>
                      <a:endParaRPr/>
                    </a:p>
                  </a:txBody>
                  <a:tcPr marT="41150" marB="41150" marR="73150" marL="91450" anchor="ctr">
                    <a:solidFill>
                      <a:srgbClr val="0A2540"/>
                    </a:solidFill>
                  </a:tcPr>
                </a:tc>
              </a:tr>
              <a:tr h="617225">
                <a:tc>
                  <a:txBody>
                    <a:bodyPr/>
                    <a:lstStyle/>
                    <a:p>
                      <a:pPr indent="0" lvl="0" marL="0" marR="0" rtl="0" algn="l">
                        <a:lnSpc>
                          <a:spcPct val="105000"/>
                        </a:lnSpc>
                        <a:spcBef>
                          <a:spcPts val="0"/>
                        </a:spcBef>
                        <a:spcAft>
                          <a:spcPts val="0"/>
                        </a:spcAft>
                        <a:buNone/>
                      </a:pPr>
                      <a:r>
                        <a:rPr b="1" i="0" lang="en-US" sz="1350" u="none" cap="none" strike="noStrike">
                          <a:solidFill>
                            <a:srgbClr val="0A2540"/>
                          </a:solidFill>
                          <a:latin typeface="Calibri"/>
                          <a:ea typeface="Calibri"/>
                          <a:cs typeface="Calibri"/>
                          <a:sym typeface="Calibri"/>
                        </a:rPr>
                        <a:t>C03  Service Order Management</a:t>
                      </a:r>
                      <a:endParaRPr/>
                    </a:p>
                  </a:txBody>
                  <a:tcPr marT="41150" marB="41150" marR="73150" marL="91450" anchor="ctr"/>
                </a:tc>
                <a:tc>
                  <a:txBody>
                    <a:bodyPr/>
                    <a:lstStyle/>
                    <a:p>
                      <a:pPr indent="0" lvl="0" marL="0" marR="0" rtl="0" algn="l">
                        <a:lnSpc>
                          <a:spcPct val="105000"/>
                        </a:lnSpc>
                        <a:spcBef>
                          <a:spcPts val="0"/>
                        </a:spcBef>
                        <a:spcAft>
                          <a:spcPts val="0"/>
                        </a:spcAft>
                        <a:buNone/>
                      </a:pPr>
                      <a:r>
                        <a:rPr b="0" i="0" lang="en-US" sz="1350" u="none" cap="none" strike="noStrike">
                          <a:solidFill>
                            <a:srgbClr val="0A2540"/>
                          </a:solidFill>
                          <a:latin typeface="Calibri"/>
                          <a:ea typeface="Calibri"/>
                          <a:cs typeface="Calibri"/>
                          <a:sym typeface="Calibri"/>
                        </a:rPr>
                        <a:t>Cycle Time · Waiting Time · CTE</a:t>
                      </a:r>
                      <a:endParaRPr/>
                    </a:p>
                  </a:txBody>
                  <a:tcPr marT="41150" marB="41150" marR="73150" marL="91450" anchor="ctr"/>
                </a:tc>
                <a:tc>
                  <a:txBody>
                    <a:bodyPr/>
                    <a:lstStyle/>
                    <a:p>
                      <a:pPr indent="0" lvl="0" marL="0" marR="0" rtl="0" algn="l">
                        <a:lnSpc>
                          <a:spcPct val="105000"/>
                        </a:lnSpc>
                        <a:spcBef>
                          <a:spcPts val="0"/>
                        </a:spcBef>
                        <a:spcAft>
                          <a:spcPts val="0"/>
                        </a:spcAft>
                        <a:buNone/>
                      </a:pPr>
                      <a:r>
                        <a:rPr b="0" i="0" lang="en-US" sz="1350" u="none" cap="none" strike="noStrike">
                          <a:solidFill>
                            <a:srgbClr val="0A2540"/>
                          </a:solidFill>
                          <a:latin typeface="Calibri"/>
                          <a:ea typeface="Calibri"/>
                          <a:cs typeface="Calibri"/>
                          <a:sym typeface="Calibri"/>
                        </a:rPr>
                        <a:t>Tỷ lệ đủ thông tin ngay lần đầu</a:t>
                      </a:r>
                      <a:endParaRPr/>
                    </a:p>
                    <a:p>
                      <a:pPr indent="0" lvl="0" marL="0" marR="0" rtl="0" algn="l">
                        <a:lnSpc>
                          <a:spcPct val="105000"/>
                        </a:lnSpc>
                        <a:spcBef>
                          <a:spcPts val="0"/>
                        </a:spcBef>
                        <a:spcAft>
                          <a:spcPts val="0"/>
                        </a:spcAft>
                        <a:buNone/>
                      </a:pPr>
                      <a:r>
                        <a:rPr b="0" i="0" lang="en-US" sz="1350" u="none" cap="none" strike="noStrike">
                          <a:solidFill>
                            <a:srgbClr val="0A2540"/>
                          </a:solidFill>
                          <a:latin typeface="Calibri"/>
                          <a:ea typeface="Calibri"/>
                          <a:cs typeface="Calibri"/>
                          <a:sym typeface="Calibri"/>
                        </a:rPr>
                        <a:t>Tỷ lệ Remote Support thành công · Tỷ lệ xử lý lại</a:t>
                      </a:r>
                      <a:endParaRPr/>
                    </a:p>
                  </a:txBody>
                  <a:tcPr marT="41150" marB="41150" marR="73150" marL="91450" anchor="ctr"/>
                </a:tc>
              </a:tr>
              <a:tr h="617225">
                <a:tc>
                  <a:txBody>
                    <a:bodyPr/>
                    <a:lstStyle/>
                    <a:p>
                      <a:pPr indent="0" lvl="0" marL="0" marR="0" rtl="0" algn="l">
                        <a:lnSpc>
                          <a:spcPct val="105000"/>
                        </a:lnSpc>
                        <a:spcBef>
                          <a:spcPts val="0"/>
                        </a:spcBef>
                        <a:spcAft>
                          <a:spcPts val="0"/>
                        </a:spcAft>
                        <a:buNone/>
                      </a:pPr>
                      <a:r>
                        <a:rPr b="1" i="0" lang="en-US" sz="1350" u="none" cap="none" strike="noStrike">
                          <a:solidFill>
                            <a:srgbClr val="0A2540"/>
                          </a:solidFill>
                          <a:latin typeface="Calibri"/>
                          <a:ea typeface="Calibri"/>
                          <a:cs typeface="Calibri"/>
                          <a:sym typeface="Calibri"/>
                        </a:rPr>
                        <a:t>S01  Procurement Management</a:t>
                      </a:r>
                      <a:endParaRPr/>
                    </a:p>
                  </a:txBody>
                  <a:tcPr marT="41150" marB="41150" marR="73150" marL="91450" anchor="ctr"/>
                </a:tc>
                <a:tc>
                  <a:txBody>
                    <a:bodyPr/>
                    <a:lstStyle/>
                    <a:p>
                      <a:pPr indent="0" lvl="0" marL="0" marR="0" rtl="0" algn="l">
                        <a:lnSpc>
                          <a:spcPct val="105000"/>
                        </a:lnSpc>
                        <a:spcBef>
                          <a:spcPts val="0"/>
                        </a:spcBef>
                        <a:spcAft>
                          <a:spcPts val="0"/>
                        </a:spcAft>
                        <a:buNone/>
                      </a:pPr>
                      <a:r>
                        <a:rPr b="0" i="0" lang="en-US" sz="1350" u="none" cap="none" strike="noStrike">
                          <a:solidFill>
                            <a:srgbClr val="0A2540"/>
                          </a:solidFill>
                          <a:latin typeface="Calibri"/>
                          <a:ea typeface="Calibri"/>
                          <a:cs typeface="Calibri"/>
                          <a:sym typeface="Calibri"/>
                        </a:rPr>
                        <a:t>Cycle Time · Thời gian cung ứng</a:t>
                      </a:r>
                      <a:endParaRPr/>
                    </a:p>
                    <a:p>
                      <a:pPr indent="0" lvl="0" marL="0" marR="0" rtl="0" algn="l">
                        <a:lnSpc>
                          <a:spcPct val="105000"/>
                        </a:lnSpc>
                        <a:spcBef>
                          <a:spcPts val="0"/>
                        </a:spcBef>
                        <a:spcAft>
                          <a:spcPts val="0"/>
                        </a:spcAft>
                        <a:buNone/>
                      </a:pPr>
                      <a:r>
                        <a:rPr b="0" i="0" lang="en-US" sz="1350" u="none" cap="none" strike="noStrike">
                          <a:solidFill>
                            <a:srgbClr val="0A2540"/>
                          </a:solidFill>
                          <a:latin typeface="Calibri"/>
                          <a:ea typeface="Calibri"/>
                          <a:cs typeface="Calibri"/>
                          <a:sym typeface="Calibri"/>
                        </a:rPr>
                        <a:t>Thời gian chờ phê duyệt PR</a:t>
                      </a:r>
                      <a:endParaRPr/>
                    </a:p>
                  </a:txBody>
                  <a:tcPr marT="41150" marB="41150" marR="73150" marL="91450" anchor="ctr"/>
                </a:tc>
                <a:tc>
                  <a:txBody>
                    <a:bodyPr/>
                    <a:lstStyle/>
                    <a:p>
                      <a:pPr indent="0" lvl="0" marL="0" marR="0" rtl="0" algn="l">
                        <a:lnSpc>
                          <a:spcPct val="105000"/>
                        </a:lnSpc>
                        <a:spcBef>
                          <a:spcPts val="0"/>
                        </a:spcBef>
                        <a:spcAft>
                          <a:spcPts val="0"/>
                        </a:spcAft>
                        <a:buNone/>
                      </a:pPr>
                      <a:r>
                        <a:rPr b="0" i="0" lang="en-US" sz="1350" u="none" cap="none" strike="noStrike">
                          <a:solidFill>
                            <a:srgbClr val="0A2540"/>
                          </a:solidFill>
                          <a:latin typeface="Calibri"/>
                          <a:ea typeface="Calibri"/>
                          <a:cs typeface="Calibri"/>
                          <a:sym typeface="Calibri"/>
                        </a:rPr>
                        <a:t>Tỷ lệ PR duyệt ngay lần đầu · Tỷ lệ hàng đúng PO</a:t>
                      </a:r>
                      <a:endParaRPr/>
                    </a:p>
                    <a:p>
                      <a:pPr indent="0" lvl="0" marL="0" marR="0" rtl="0" algn="l">
                        <a:lnSpc>
                          <a:spcPct val="105000"/>
                        </a:lnSpc>
                        <a:spcBef>
                          <a:spcPts val="0"/>
                        </a:spcBef>
                        <a:spcAft>
                          <a:spcPts val="0"/>
                        </a:spcAft>
                        <a:buNone/>
                      </a:pPr>
                      <a:r>
                        <a:rPr b="0" i="0" lang="en-US" sz="1350" u="none" cap="none" strike="noStrike">
                          <a:solidFill>
                            <a:srgbClr val="0A2540"/>
                          </a:solidFill>
                          <a:latin typeface="Calibri"/>
                          <a:ea typeface="Calibri"/>
                          <a:cs typeface="Calibri"/>
                          <a:sym typeface="Calibri"/>
                        </a:rPr>
                        <a:t>Tỷ lệ hóa đơn đúng lần đầu · Tỷ lệ rework</a:t>
                      </a:r>
                      <a:endParaRPr/>
                    </a:p>
                  </a:txBody>
                  <a:tcPr marT="41150" marB="41150" marR="73150" marL="91450" anchor="ctr"/>
                </a:tc>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7" name="Shape 1197"/>
        <p:cNvGrpSpPr/>
        <p:nvPr/>
      </p:nvGrpSpPr>
      <p:grpSpPr>
        <a:xfrm>
          <a:off x="0" y="0"/>
          <a:ext cx="0" cy="0"/>
          <a:chOff x="0" y="0"/>
          <a:chExt cx="0" cy="0"/>
        </a:xfrm>
      </p:grpSpPr>
      <p:sp>
        <p:nvSpPr>
          <p:cNvPr id="1198" name="Google Shape;1198;p59"/>
          <p:cNvSpPr txBox="1"/>
          <p:nvPr/>
        </p:nvSpPr>
        <p:spPr>
          <a:xfrm>
            <a:off x="658368" y="384048"/>
            <a:ext cx="10874959"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050">
                <a:solidFill>
                  <a:srgbClr val="0096D6"/>
                </a:solidFill>
                <a:latin typeface="Calibri"/>
                <a:ea typeface="Calibri"/>
                <a:cs typeface="Calibri"/>
                <a:sym typeface="Calibri"/>
              </a:rPr>
              <a:t>CHƯƠNG 4 · 4.5 KẾT LUẬN CHƯƠNG</a:t>
            </a:r>
            <a:endParaRPr/>
          </a:p>
        </p:txBody>
      </p:sp>
      <p:sp>
        <p:nvSpPr>
          <p:cNvPr id="1199" name="Google Shape;1199;p59"/>
          <p:cNvSpPr txBox="1"/>
          <p:nvPr/>
        </p:nvSpPr>
        <p:spPr>
          <a:xfrm>
            <a:off x="658368" y="640080"/>
            <a:ext cx="10874959" cy="60350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US" sz="2500">
                <a:solidFill>
                  <a:srgbClr val="0A2540"/>
                </a:solidFill>
                <a:latin typeface="Calibri"/>
                <a:ea typeface="Calibri"/>
                <a:cs typeface="Calibri"/>
                <a:sym typeface="Calibri"/>
              </a:rPr>
              <a:t>KẾT QUẢ PHÂN TÍCH HAI QUY TRÌNH TRỌNG TÂM</a:t>
            </a:r>
            <a:endParaRPr/>
          </a:p>
        </p:txBody>
      </p:sp>
      <p:sp>
        <p:nvSpPr>
          <p:cNvPr id="1200" name="Google Shape;1200;p59"/>
          <p:cNvSpPr/>
          <p:nvPr/>
        </p:nvSpPr>
        <p:spPr>
          <a:xfrm>
            <a:off x="658368" y="1280160"/>
            <a:ext cx="566928" cy="41148"/>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01" name="Google Shape;1201;p59"/>
          <p:cNvSpPr/>
          <p:nvPr/>
        </p:nvSpPr>
        <p:spPr>
          <a:xfrm>
            <a:off x="1298448" y="1280160"/>
            <a:ext cx="10234879" cy="41148"/>
          </a:xfrm>
          <a:prstGeom prst="rect">
            <a:avLst/>
          </a:prstGeom>
          <a:solidFill>
            <a:srgbClr val="DFE4E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02" name="Google Shape;1202;p59"/>
          <p:cNvSpPr txBox="1"/>
          <p:nvPr/>
        </p:nvSpPr>
        <p:spPr>
          <a:xfrm>
            <a:off x="658368" y="1371600"/>
            <a:ext cx="10874959"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1" lang="en-US" sz="1100">
                <a:solidFill>
                  <a:srgbClr val="6B7784"/>
                </a:solidFill>
                <a:latin typeface="Calibri"/>
                <a:ea typeface="Calibri"/>
                <a:cs typeface="Calibri"/>
                <a:sym typeface="Calibri"/>
              </a:rPr>
              <a:t>So sánh trực tiếp kết quả định lượng của C03 Service Order Management và S01 Procurement Management</a:t>
            </a:r>
            <a:endParaRPr/>
          </a:p>
        </p:txBody>
      </p:sp>
      <p:sp>
        <p:nvSpPr>
          <p:cNvPr id="1203" name="Google Shape;1203;p59"/>
          <p:cNvSpPr txBox="1"/>
          <p:nvPr/>
        </p:nvSpPr>
        <p:spPr>
          <a:xfrm>
            <a:off x="658368" y="6355080"/>
            <a:ext cx="10326319"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850">
                <a:solidFill>
                  <a:srgbClr val="6B7784"/>
                </a:solidFill>
                <a:latin typeface="Calibri"/>
                <a:ea typeface="Calibri"/>
                <a:cs typeface="Calibri"/>
                <a:sym typeface="Calibri"/>
              </a:rPr>
              <a:t>SOLVENTUM VIỆT NAM  ·  HỆ THỐNG QUẢN TRỊ QUY TRÌNH NGHIỆP VỤ</a:t>
            </a:r>
            <a:endParaRPr/>
          </a:p>
        </p:txBody>
      </p:sp>
      <p:sp>
        <p:nvSpPr>
          <p:cNvPr id="1204" name="Google Shape;1204;p59"/>
          <p:cNvSpPr txBox="1"/>
          <p:nvPr/>
        </p:nvSpPr>
        <p:spPr>
          <a:xfrm>
            <a:off x="10984687" y="6355080"/>
            <a:ext cx="548640" cy="2286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1" i="0" lang="en-US" sz="950">
                <a:solidFill>
                  <a:srgbClr val="0096D6"/>
                </a:solidFill>
                <a:latin typeface="Calibri"/>
                <a:ea typeface="Calibri"/>
                <a:cs typeface="Calibri"/>
                <a:sym typeface="Calibri"/>
              </a:rPr>
              <a:t>47</a:t>
            </a:r>
            <a:endParaRPr/>
          </a:p>
        </p:txBody>
      </p:sp>
      <p:graphicFrame>
        <p:nvGraphicFramePr>
          <p:cNvPr id="1205" name="Google Shape;1205;p59"/>
          <p:cNvGraphicFramePr/>
          <p:nvPr/>
        </p:nvGraphicFramePr>
        <p:xfrm>
          <a:off x="658368" y="1810512"/>
          <a:ext cx="3000000" cy="3000000"/>
        </p:xfrm>
        <a:graphic>
          <a:graphicData uri="http://schemas.openxmlformats.org/drawingml/2006/table">
            <a:tbl>
              <a:tblPr firstRow="1">
                <a:noFill/>
                <a:tableStyleId>{65267F91-CA84-436A-A840-DCCC5366F6D9}</a:tableStyleId>
              </a:tblPr>
              <a:tblGrid>
                <a:gridCol w="3474725"/>
                <a:gridCol w="3700250"/>
                <a:gridCol w="3700000"/>
              </a:tblGrid>
              <a:tr h="411475">
                <a:tc>
                  <a:txBody>
                    <a:bodyPr/>
                    <a:lstStyle/>
                    <a:p>
                      <a:pPr indent="0" lvl="0" marL="0" marR="0" rtl="0" algn="ctr">
                        <a:lnSpc>
                          <a:spcPct val="105000"/>
                        </a:lnSpc>
                        <a:spcBef>
                          <a:spcPts val="0"/>
                        </a:spcBef>
                        <a:spcAft>
                          <a:spcPts val="0"/>
                        </a:spcAft>
                        <a:buNone/>
                      </a:pPr>
                      <a:r>
                        <a:rPr b="1" i="0" lang="en-US" sz="1200" u="none" cap="none" strike="noStrike">
                          <a:solidFill>
                            <a:srgbClr val="FFFFFF"/>
                          </a:solidFill>
                          <a:latin typeface="Calibri"/>
                          <a:ea typeface="Calibri"/>
                          <a:cs typeface="Calibri"/>
                          <a:sym typeface="Calibri"/>
                        </a:rPr>
                        <a:t>CHỈ TIÊU</a:t>
                      </a:r>
                      <a:endParaRPr/>
                    </a:p>
                  </a:txBody>
                  <a:tcPr marT="41150" marB="41150" marR="73150" marL="91450" anchor="ctr">
                    <a:solidFill>
                      <a:srgbClr val="0A2540"/>
                    </a:solidFill>
                  </a:tcPr>
                </a:tc>
                <a:tc>
                  <a:txBody>
                    <a:bodyPr/>
                    <a:lstStyle/>
                    <a:p>
                      <a:pPr indent="0" lvl="0" marL="0" marR="0" rtl="0" algn="ctr">
                        <a:lnSpc>
                          <a:spcPct val="105000"/>
                        </a:lnSpc>
                        <a:spcBef>
                          <a:spcPts val="0"/>
                        </a:spcBef>
                        <a:spcAft>
                          <a:spcPts val="0"/>
                        </a:spcAft>
                        <a:buNone/>
                      </a:pPr>
                      <a:r>
                        <a:rPr b="1" i="0" lang="en-US" sz="1200" u="none" cap="none" strike="noStrike">
                          <a:solidFill>
                            <a:srgbClr val="FFFFFF"/>
                          </a:solidFill>
                          <a:latin typeface="Calibri"/>
                          <a:ea typeface="Calibri"/>
                          <a:cs typeface="Calibri"/>
                          <a:sym typeface="Calibri"/>
                        </a:rPr>
                        <a:t>C03 SERVICE ORDER MANAGEMENT</a:t>
                      </a:r>
                      <a:endParaRPr/>
                    </a:p>
                  </a:txBody>
                  <a:tcPr marT="41150" marB="41150" marR="73150" marL="91450" anchor="ctr">
                    <a:solidFill>
                      <a:srgbClr val="0A2540"/>
                    </a:solidFill>
                  </a:tcPr>
                </a:tc>
                <a:tc>
                  <a:txBody>
                    <a:bodyPr/>
                    <a:lstStyle/>
                    <a:p>
                      <a:pPr indent="0" lvl="0" marL="0" marR="0" rtl="0" algn="ctr">
                        <a:lnSpc>
                          <a:spcPct val="105000"/>
                        </a:lnSpc>
                        <a:spcBef>
                          <a:spcPts val="0"/>
                        </a:spcBef>
                        <a:spcAft>
                          <a:spcPts val="0"/>
                        </a:spcAft>
                        <a:buNone/>
                      </a:pPr>
                      <a:r>
                        <a:rPr b="1" i="0" lang="en-US" sz="1200" u="none" cap="none" strike="noStrike">
                          <a:solidFill>
                            <a:srgbClr val="FFFFFF"/>
                          </a:solidFill>
                          <a:latin typeface="Calibri"/>
                          <a:ea typeface="Calibri"/>
                          <a:cs typeface="Calibri"/>
                          <a:sym typeface="Calibri"/>
                        </a:rPr>
                        <a:t>S01 PROCUREMENT MANAGEMENT</a:t>
                      </a:r>
                      <a:endParaRPr/>
                    </a:p>
                  </a:txBody>
                  <a:tcPr marT="41150" marB="41150" marR="73150" marL="91450" anchor="ctr">
                    <a:solidFill>
                      <a:srgbClr val="0A2540"/>
                    </a:solidFill>
                  </a:tcPr>
                </a:tc>
              </a:tr>
              <a:tr h="411475">
                <a:tc>
                  <a:txBody>
                    <a:bodyPr/>
                    <a:lstStyle/>
                    <a:p>
                      <a:pPr indent="0" lvl="0" marL="0" marR="0" rtl="0" algn="l">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Số hoạt động phân tích</a:t>
                      </a:r>
                      <a:endParaRPr/>
                    </a:p>
                  </a:txBody>
                  <a:tcPr marT="41150" marB="41150" marR="73150" marL="91450" anchor="ctr"/>
                </a:tc>
                <a:tc>
                  <a:txBody>
                    <a:bodyPr/>
                    <a:lstStyle/>
                    <a:p>
                      <a:pPr indent="0" lvl="0" marL="0" marR="0" rtl="0" algn="l">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35 hoạt động  ·  04 tác nhân</a:t>
                      </a:r>
                      <a:endParaRPr/>
                    </a:p>
                  </a:txBody>
                  <a:tcPr marT="41150" marB="41150" marR="73150" marL="91450" anchor="ctr"/>
                </a:tc>
                <a:tc>
                  <a:txBody>
                    <a:bodyPr/>
                    <a:lstStyle/>
                    <a:p>
                      <a:pPr indent="0" lvl="0" marL="0" marR="0" rtl="0" algn="l">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20 hoạt động  ·  06 đối tượng</a:t>
                      </a:r>
                      <a:endParaRPr/>
                    </a:p>
                  </a:txBody>
                  <a:tcPr marT="41150" marB="41150" marR="73150" marL="91450" anchor="ctr"/>
                </a:tc>
              </a:tr>
              <a:tr h="411475">
                <a:tc>
                  <a:txBody>
                    <a:bodyPr/>
                    <a:lstStyle/>
                    <a:p>
                      <a:pPr indent="0" lvl="0" marL="0" marR="0" rtl="0" algn="l">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Phân loại giá trị gia tăng</a:t>
                      </a:r>
                      <a:endParaRPr/>
                    </a:p>
                  </a:txBody>
                  <a:tcPr marT="41150" marB="41150" marR="73150" marL="91450" anchor="ctr"/>
                </a:tc>
                <a:tc>
                  <a:txBody>
                    <a:bodyPr/>
                    <a:lstStyle/>
                    <a:p>
                      <a:pPr indent="0" lvl="0" marL="0" marR="0" rtl="0" algn="l">
                        <a:lnSpc>
                          <a:spcPct val="105000"/>
                        </a:lnSpc>
                        <a:spcBef>
                          <a:spcPts val="0"/>
                        </a:spcBef>
                        <a:spcAft>
                          <a:spcPts val="0"/>
                        </a:spcAft>
                        <a:buNone/>
                      </a:pPr>
                      <a:r>
                        <a:rPr b="1" i="0" lang="en-US" sz="1400" u="none" cap="none" strike="noStrike">
                          <a:solidFill>
                            <a:srgbClr val="0A2540"/>
                          </a:solidFill>
                          <a:latin typeface="Calibri"/>
                          <a:ea typeface="Calibri"/>
                          <a:cs typeface="Calibri"/>
                          <a:sym typeface="Calibri"/>
                        </a:rPr>
                        <a:t>08 VA  ·  23 BVA  ·  04 NVA</a:t>
                      </a:r>
                      <a:endParaRPr/>
                    </a:p>
                  </a:txBody>
                  <a:tcPr marT="41150" marB="41150" marR="73150" marL="91450" anchor="ctr"/>
                </a:tc>
                <a:tc>
                  <a:txBody>
                    <a:bodyPr/>
                    <a:lstStyle/>
                    <a:p>
                      <a:pPr indent="0" lvl="0" marL="0" marR="0" rtl="0" algn="l">
                        <a:lnSpc>
                          <a:spcPct val="105000"/>
                        </a:lnSpc>
                        <a:spcBef>
                          <a:spcPts val="0"/>
                        </a:spcBef>
                        <a:spcAft>
                          <a:spcPts val="0"/>
                        </a:spcAft>
                        <a:buNone/>
                      </a:pPr>
                      <a:r>
                        <a:rPr b="1" i="0" lang="en-US" sz="1400" u="none" cap="none" strike="noStrike">
                          <a:solidFill>
                            <a:srgbClr val="0A2540"/>
                          </a:solidFill>
                          <a:latin typeface="Calibri"/>
                          <a:ea typeface="Calibri"/>
                          <a:cs typeface="Calibri"/>
                          <a:sym typeface="Calibri"/>
                        </a:rPr>
                        <a:t>02 VA  ·  12 BVA  ·  06 NVA</a:t>
                      </a:r>
                      <a:endParaRPr/>
                    </a:p>
                  </a:txBody>
                  <a:tcPr marT="41150" marB="41150" marR="73150" marL="91450" anchor="ctr"/>
                </a:tc>
              </a:tr>
              <a:tr h="411475">
                <a:tc>
                  <a:txBody>
                    <a:bodyPr/>
                    <a:lstStyle/>
                    <a:p>
                      <a:pPr indent="0" lvl="0" marL="0" marR="0" rtl="0" algn="l">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Điểm lãng phí nhận diện</a:t>
                      </a:r>
                      <a:endParaRPr/>
                    </a:p>
                  </a:txBody>
                  <a:tcPr marT="41150" marB="41150" marR="73150" marL="91450" anchor="ctr"/>
                </a:tc>
                <a:tc>
                  <a:txBody>
                    <a:bodyPr/>
                    <a:lstStyle/>
                    <a:p>
                      <a:pPr indent="0" lvl="0" marL="0" marR="0" rtl="0" algn="l">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17 điểm  ·  Move 6 – Hold 6 – Overdo 5</a:t>
                      </a:r>
                      <a:endParaRPr/>
                    </a:p>
                  </a:txBody>
                  <a:tcPr marT="41150" marB="41150" marR="73150" marL="91450" anchor="ctr"/>
                </a:tc>
                <a:tc>
                  <a:txBody>
                    <a:bodyPr/>
                    <a:lstStyle/>
                    <a:p>
                      <a:pPr indent="0" lvl="0" marL="0" marR="0" rtl="0" algn="l">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15 điểm  ·  Move 4 – Hold 5 – Overdo 6</a:t>
                      </a:r>
                      <a:endParaRPr/>
                    </a:p>
                  </a:txBody>
                  <a:tcPr marT="41150" marB="41150" marR="73150" marL="91450" anchor="ctr"/>
                </a:tc>
              </a:tr>
              <a:tr h="411475">
                <a:tc>
                  <a:txBody>
                    <a:bodyPr/>
                    <a:lstStyle/>
                    <a:p>
                      <a:pPr indent="0" lvl="0" marL="0" marR="0" rtl="0" algn="l">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Cycle Time trung bình</a:t>
                      </a:r>
                      <a:endParaRPr/>
                    </a:p>
                  </a:txBody>
                  <a:tcPr marT="41150" marB="41150" marR="73150" marL="91450" anchor="ctr"/>
                </a:tc>
                <a:tc>
                  <a:txBody>
                    <a:bodyPr/>
                    <a:lstStyle/>
                    <a:p>
                      <a:pPr indent="0" lvl="0" marL="0" marR="0" rtl="0" algn="l">
                        <a:lnSpc>
                          <a:spcPct val="105000"/>
                        </a:lnSpc>
                        <a:spcBef>
                          <a:spcPts val="0"/>
                        </a:spcBef>
                        <a:spcAft>
                          <a:spcPts val="0"/>
                        </a:spcAft>
                        <a:buNone/>
                      </a:pPr>
                      <a:r>
                        <a:rPr b="1" i="0" lang="en-US" sz="1400" u="none" cap="none" strike="noStrike">
                          <a:solidFill>
                            <a:srgbClr val="0A2540"/>
                          </a:solidFill>
                          <a:latin typeface="Calibri"/>
                          <a:ea typeface="Calibri"/>
                          <a:cs typeface="Calibri"/>
                          <a:sym typeface="Calibri"/>
                        </a:rPr>
                        <a:t>51,10 giờ  ≈  6,39 ngày làm việc</a:t>
                      </a:r>
                      <a:endParaRPr/>
                    </a:p>
                  </a:txBody>
                  <a:tcPr marT="41150" marB="41150" marR="73150" marL="91450" anchor="ctr"/>
                </a:tc>
                <a:tc>
                  <a:txBody>
                    <a:bodyPr/>
                    <a:lstStyle/>
                    <a:p>
                      <a:pPr indent="0" lvl="0" marL="0" marR="0" rtl="0" algn="l">
                        <a:lnSpc>
                          <a:spcPct val="105000"/>
                        </a:lnSpc>
                        <a:spcBef>
                          <a:spcPts val="0"/>
                        </a:spcBef>
                        <a:spcAft>
                          <a:spcPts val="0"/>
                        </a:spcAft>
                        <a:buNone/>
                      </a:pPr>
                      <a:r>
                        <a:rPr b="1" i="0" lang="en-US" sz="1400" u="none" cap="none" strike="noStrike">
                          <a:solidFill>
                            <a:srgbClr val="0A2540"/>
                          </a:solidFill>
                          <a:latin typeface="Calibri"/>
                          <a:ea typeface="Calibri"/>
                          <a:cs typeface="Calibri"/>
                          <a:sym typeface="Calibri"/>
                        </a:rPr>
                        <a:t>109,70 giờ  ≈  13,71 ngày làm việc</a:t>
                      </a:r>
                      <a:endParaRPr/>
                    </a:p>
                  </a:txBody>
                  <a:tcPr marT="41150" marB="41150" marR="73150" marL="91450" anchor="ctr"/>
                </a:tc>
              </a:tr>
              <a:tr h="411475">
                <a:tc>
                  <a:txBody>
                    <a:bodyPr/>
                    <a:lstStyle/>
                    <a:p>
                      <a:pPr indent="0" lvl="0" marL="0" marR="0" rtl="0" algn="l">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Cycle Time Efficiency</a:t>
                      </a:r>
                      <a:endParaRPr/>
                    </a:p>
                  </a:txBody>
                  <a:tcPr marT="41150" marB="41150" marR="73150" marL="91450" anchor="ctr">
                    <a:solidFill>
                      <a:srgbClr val="EDF6FB"/>
                    </a:solidFill>
                  </a:tcPr>
                </a:tc>
                <a:tc>
                  <a:txBody>
                    <a:bodyPr/>
                    <a:lstStyle/>
                    <a:p>
                      <a:pPr indent="0" lvl="0" marL="0" marR="0" rtl="0" algn="l">
                        <a:lnSpc>
                          <a:spcPct val="105000"/>
                        </a:lnSpc>
                        <a:spcBef>
                          <a:spcPts val="0"/>
                        </a:spcBef>
                        <a:spcAft>
                          <a:spcPts val="0"/>
                        </a:spcAft>
                        <a:buNone/>
                      </a:pPr>
                      <a:r>
                        <a:rPr b="1" i="0" lang="en-US" sz="1400" u="none" cap="none" strike="noStrike">
                          <a:solidFill>
                            <a:srgbClr val="C87F0A"/>
                          </a:solidFill>
                          <a:latin typeface="Calibri"/>
                          <a:ea typeface="Calibri"/>
                          <a:cs typeface="Calibri"/>
                          <a:sym typeface="Calibri"/>
                        </a:rPr>
                        <a:t>46,14%</a:t>
                      </a:r>
                      <a:endParaRPr/>
                    </a:p>
                  </a:txBody>
                  <a:tcPr marT="41150" marB="41150" marR="73150" marL="91450" anchor="ctr">
                    <a:solidFill>
                      <a:srgbClr val="EDF6FB"/>
                    </a:solidFill>
                  </a:tcPr>
                </a:tc>
                <a:tc>
                  <a:txBody>
                    <a:bodyPr/>
                    <a:lstStyle/>
                    <a:p>
                      <a:pPr indent="0" lvl="0" marL="0" marR="0" rtl="0" algn="l">
                        <a:lnSpc>
                          <a:spcPct val="105000"/>
                        </a:lnSpc>
                        <a:spcBef>
                          <a:spcPts val="0"/>
                        </a:spcBef>
                        <a:spcAft>
                          <a:spcPts val="0"/>
                        </a:spcAft>
                        <a:buNone/>
                      </a:pPr>
                      <a:r>
                        <a:rPr b="1" i="0" lang="en-US" sz="1400" u="none" cap="none" strike="noStrike">
                          <a:solidFill>
                            <a:srgbClr val="C0392B"/>
                          </a:solidFill>
                          <a:latin typeface="Calibri"/>
                          <a:ea typeface="Calibri"/>
                          <a:cs typeface="Calibri"/>
                          <a:sym typeface="Calibri"/>
                        </a:rPr>
                        <a:t>9,75%</a:t>
                      </a:r>
                      <a:endParaRPr/>
                    </a:p>
                  </a:txBody>
                  <a:tcPr marT="41150" marB="41150" marR="73150" marL="91450" anchor="ctr">
                    <a:solidFill>
                      <a:srgbClr val="EDF6FB"/>
                    </a:solidFill>
                  </a:tcPr>
                </a:tc>
              </a:tr>
              <a:tr h="411475">
                <a:tc>
                  <a:txBody>
                    <a:bodyPr/>
                    <a:lstStyle/>
                    <a:p>
                      <a:pPr indent="0" lvl="0" marL="0" marR="0" rtl="0" algn="l">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Chi phí nguồn lực trung bình</a:t>
                      </a:r>
                      <a:endParaRPr/>
                    </a:p>
                  </a:txBody>
                  <a:tcPr marT="41150" marB="41150" marR="73150" marL="91450" anchor="ctr"/>
                </a:tc>
                <a:tc>
                  <a:txBody>
                    <a:bodyPr/>
                    <a:lstStyle/>
                    <a:p>
                      <a:pPr indent="0" lvl="0" marL="0" marR="0" rtl="0" algn="l">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3.363.000 đồng / Service Order</a:t>
                      </a:r>
                      <a:endParaRPr/>
                    </a:p>
                  </a:txBody>
                  <a:tcPr marT="41150" marB="41150" marR="73150" marL="91450" anchor="ctr"/>
                </a:tc>
                <a:tc>
                  <a:txBody>
                    <a:bodyPr/>
                    <a:lstStyle/>
                    <a:p>
                      <a:pPr indent="0" lvl="0" marL="0" marR="0" rtl="0" algn="l">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1.605.000 đồng / giao dịch mua hàng</a:t>
                      </a:r>
                      <a:endParaRPr/>
                    </a:p>
                  </a:txBody>
                  <a:tcPr marT="41150" marB="41150" marR="73150" marL="91450" anchor="ctr"/>
                </a:tc>
              </a:tr>
              <a:tr h="411475">
                <a:tc>
                  <a:txBody>
                    <a:bodyPr/>
                    <a:lstStyle/>
                    <a:p>
                      <a:pPr indent="0" lvl="0" marL="0" marR="0" rtl="0" algn="l">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Điểm nghẽn lớn nhất</a:t>
                      </a:r>
                      <a:endParaRPr/>
                    </a:p>
                  </a:txBody>
                  <a:tcPr marT="41150" marB="41150" marR="73150" marL="91450" anchor="ctr"/>
                </a:tc>
                <a:tc>
                  <a:txBody>
                    <a:bodyPr/>
                    <a:lstStyle/>
                    <a:p>
                      <a:pPr indent="0" lvl="0" marL="0" marR="0" rtl="0" algn="l">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Chờ phản hồi báo giá  —  16 giờ</a:t>
                      </a:r>
                      <a:endParaRPr/>
                    </a:p>
                  </a:txBody>
                  <a:tcPr marT="41150" marB="41150" marR="73150" marL="91450" anchor="ctr"/>
                </a:tc>
                <a:tc>
                  <a:txBody>
                    <a:bodyPr/>
                    <a:lstStyle/>
                    <a:p>
                      <a:pPr indent="0" lvl="0" marL="0" marR="0" rtl="0" algn="l">
                        <a:lnSpc>
                          <a:spcPct val="105000"/>
                        </a:lnSpc>
                        <a:spcBef>
                          <a:spcPts val="0"/>
                        </a:spcBef>
                        <a:spcAft>
                          <a:spcPts val="0"/>
                        </a:spcAft>
                        <a:buNone/>
                      </a:pPr>
                      <a:r>
                        <a:rPr b="0" i="0" lang="en-US" sz="1400" u="none" cap="none" strike="noStrike">
                          <a:solidFill>
                            <a:srgbClr val="0A2540"/>
                          </a:solidFill>
                          <a:latin typeface="Calibri"/>
                          <a:ea typeface="Calibri"/>
                          <a:cs typeface="Calibri"/>
                          <a:sym typeface="Calibri"/>
                        </a:rPr>
                        <a:t>Chờ quá trình cung ứng  —  80 giờ</a:t>
                      </a:r>
                      <a:endParaRPr/>
                    </a:p>
                  </a:txBody>
                  <a:tcPr marT="41150" marB="41150" marR="73150" marL="91450" anchor="ctr"/>
                </a:tc>
              </a:tr>
            </a:tbl>
          </a:graphicData>
        </a:graphic>
      </p:graphicFrame>
      <p:sp>
        <p:nvSpPr>
          <p:cNvPr id="1206" name="Google Shape;1206;p59"/>
          <p:cNvSpPr txBox="1"/>
          <p:nvPr/>
        </p:nvSpPr>
        <p:spPr>
          <a:xfrm>
            <a:off x="658368" y="5303520"/>
            <a:ext cx="10874959"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200">
                <a:solidFill>
                  <a:srgbClr val="0096D6"/>
                </a:solidFill>
                <a:latin typeface="Calibri"/>
                <a:ea typeface="Calibri"/>
                <a:cs typeface="Calibri"/>
                <a:sym typeface="Calibri"/>
              </a:rPr>
              <a:t>BỐN KẾT LUẬN CHUNG CỦA CHƯƠNG 4</a:t>
            </a:r>
            <a:endParaRPr/>
          </a:p>
        </p:txBody>
      </p:sp>
      <p:sp>
        <p:nvSpPr>
          <p:cNvPr id="1207" name="Google Shape;1207;p59"/>
          <p:cNvSpPr/>
          <p:nvPr/>
        </p:nvSpPr>
        <p:spPr>
          <a:xfrm>
            <a:off x="658368" y="5623560"/>
            <a:ext cx="2547289" cy="594360"/>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08" name="Google Shape;1208;p59"/>
          <p:cNvSpPr/>
          <p:nvPr/>
        </p:nvSpPr>
        <p:spPr>
          <a:xfrm>
            <a:off x="658368" y="5623560"/>
            <a:ext cx="2547289" cy="50292"/>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09" name="Google Shape;1209;p59"/>
          <p:cNvSpPr txBox="1"/>
          <p:nvPr/>
        </p:nvSpPr>
        <p:spPr>
          <a:xfrm>
            <a:off x="864108" y="5806440"/>
            <a:ext cx="2135809" cy="304766"/>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US" sz="1000">
                <a:solidFill>
                  <a:srgbClr val="0A2540"/>
                </a:solidFill>
                <a:latin typeface="Calibri"/>
                <a:ea typeface="Calibri"/>
                <a:cs typeface="Calibri"/>
                <a:sym typeface="Calibri"/>
              </a:rPr>
              <a:t>Vấn đề nằm ở phối hợp, không ở khối lượng công việc</a:t>
            </a:r>
            <a:endParaRPr/>
          </a:p>
        </p:txBody>
      </p:sp>
      <p:sp>
        <p:nvSpPr>
          <p:cNvPr id="1210" name="Google Shape;1210;p59"/>
          <p:cNvSpPr/>
          <p:nvPr/>
        </p:nvSpPr>
        <p:spPr>
          <a:xfrm>
            <a:off x="3434257" y="5623560"/>
            <a:ext cx="2547289" cy="594360"/>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11" name="Google Shape;1211;p59"/>
          <p:cNvSpPr/>
          <p:nvPr/>
        </p:nvSpPr>
        <p:spPr>
          <a:xfrm>
            <a:off x="3434257" y="5623560"/>
            <a:ext cx="2547289" cy="50292"/>
          </a:xfrm>
          <a:prstGeom prst="rect">
            <a:avLst/>
          </a:prstGeom>
          <a:solidFill>
            <a:srgbClr val="C0392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12" name="Google Shape;1212;p59"/>
          <p:cNvSpPr txBox="1"/>
          <p:nvPr/>
        </p:nvSpPr>
        <p:spPr>
          <a:xfrm>
            <a:off x="3639997" y="5806440"/>
            <a:ext cx="2135809" cy="304766"/>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US" sz="1000">
                <a:solidFill>
                  <a:srgbClr val="0A2540"/>
                </a:solidFill>
                <a:latin typeface="Calibri"/>
                <a:ea typeface="Calibri"/>
                <a:cs typeface="Calibri"/>
                <a:sym typeface="Calibri"/>
              </a:rPr>
              <a:t>Chất lượng thông tin đầu vào là nguyên nhân gốc</a:t>
            </a:r>
            <a:endParaRPr/>
          </a:p>
        </p:txBody>
      </p:sp>
      <p:sp>
        <p:nvSpPr>
          <p:cNvPr id="1213" name="Google Shape;1213;p59"/>
          <p:cNvSpPr/>
          <p:nvPr/>
        </p:nvSpPr>
        <p:spPr>
          <a:xfrm>
            <a:off x="6210146" y="5623560"/>
            <a:ext cx="2547289" cy="594360"/>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14" name="Google Shape;1214;p59"/>
          <p:cNvSpPr/>
          <p:nvPr/>
        </p:nvSpPr>
        <p:spPr>
          <a:xfrm>
            <a:off x="6210146" y="5623560"/>
            <a:ext cx="2547289" cy="50292"/>
          </a:xfrm>
          <a:prstGeom prst="rect">
            <a:avLst/>
          </a:prstGeom>
          <a:solidFill>
            <a:srgbClr val="C87F0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15" name="Google Shape;1215;p59"/>
          <p:cNvSpPr txBox="1"/>
          <p:nvPr/>
        </p:nvSpPr>
        <p:spPr>
          <a:xfrm>
            <a:off x="6415886" y="5806440"/>
            <a:ext cx="2135809" cy="304766"/>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US" sz="1000">
                <a:solidFill>
                  <a:srgbClr val="0A2540"/>
                </a:solidFill>
                <a:latin typeface="Calibri"/>
                <a:ea typeface="Calibri"/>
                <a:cs typeface="Calibri"/>
                <a:sym typeface="Calibri"/>
              </a:rPr>
              <a:t>Waiting Time chi phối Cycle Time ở cả hai quy trình</a:t>
            </a:r>
            <a:endParaRPr/>
          </a:p>
        </p:txBody>
      </p:sp>
      <p:sp>
        <p:nvSpPr>
          <p:cNvPr id="1216" name="Google Shape;1216;p59"/>
          <p:cNvSpPr/>
          <p:nvPr/>
        </p:nvSpPr>
        <p:spPr>
          <a:xfrm>
            <a:off x="8986035" y="5623560"/>
            <a:ext cx="2547289" cy="594360"/>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17" name="Google Shape;1217;p59"/>
          <p:cNvSpPr/>
          <p:nvPr/>
        </p:nvSpPr>
        <p:spPr>
          <a:xfrm>
            <a:off x="8986035" y="5623560"/>
            <a:ext cx="2547289" cy="50292"/>
          </a:xfrm>
          <a:prstGeom prst="rect">
            <a:avLst/>
          </a:prstGeom>
          <a:solidFill>
            <a:srgbClr val="00C2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18" name="Google Shape;1218;p59"/>
          <p:cNvSpPr txBox="1"/>
          <p:nvPr/>
        </p:nvSpPr>
        <p:spPr>
          <a:xfrm>
            <a:off x="9191775" y="5806440"/>
            <a:ext cx="2135809" cy="304766"/>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US" sz="1000">
                <a:solidFill>
                  <a:srgbClr val="0A2540"/>
                </a:solidFill>
                <a:latin typeface="Calibri"/>
                <a:ea typeface="Calibri"/>
                <a:cs typeface="Calibri"/>
                <a:sym typeface="Calibri"/>
              </a:rPr>
              <a:t>BPMN + phân tích định tính, định lượng bổ trợ nhau</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2540"/>
        </a:solidFill>
      </p:bgPr>
    </p:bg>
    <p:spTree>
      <p:nvGrpSpPr>
        <p:cNvPr id="1222" name="Shape 1222"/>
        <p:cNvGrpSpPr/>
        <p:nvPr/>
      </p:nvGrpSpPr>
      <p:grpSpPr>
        <a:xfrm>
          <a:off x="0" y="0"/>
          <a:ext cx="0" cy="0"/>
          <a:chOff x="0" y="0"/>
          <a:chExt cx="0" cy="0"/>
        </a:xfrm>
      </p:grpSpPr>
      <p:sp>
        <p:nvSpPr>
          <p:cNvPr id="1223" name="Google Shape;1223;p60"/>
          <p:cNvSpPr/>
          <p:nvPr/>
        </p:nvSpPr>
        <p:spPr>
          <a:xfrm>
            <a:off x="0" y="0"/>
            <a:ext cx="182880" cy="6858000"/>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24" name="Google Shape;1224;p60"/>
          <p:cNvSpPr/>
          <p:nvPr/>
        </p:nvSpPr>
        <p:spPr>
          <a:xfrm>
            <a:off x="7863840" y="0"/>
            <a:ext cx="4325112" cy="6858000"/>
          </a:xfrm>
          <a:prstGeom prst="rect">
            <a:avLst/>
          </a:prstGeom>
          <a:solidFill>
            <a:srgbClr val="143A5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25" name="Google Shape;1225;p60"/>
          <p:cNvSpPr txBox="1"/>
          <p:nvPr/>
        </p:nvSpPr>
        <p:spPr>
          <a:xfrm>
            <a:off x="8229600" y="1874519"/>
            <a:ext cx="3657600" cy="20781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None/>
            </a:pPr>
            <a:r>
              <a:rPr b="1" i="0" lang="en-US" sz="15000">
                <a:solidFill>
                  <a:srgbClr val="E7F7F3"/>
                </a:solidFill>
                <a:latin typeface="Calibri"/>
                <a:ea typeface="Calibri"/>
                <a:cs typeface="Calibri"/>
                <a:sym typeface="Calibri"/>
              </a:rPr>
              <a:t>05</a:t>
            </a:r>
            <a:endParaRPr>
              <a:solidFill>
                <a:srgbClr val="E7F7F3"/>
              </a:solidFill>
            </a:endParaRPr>
          </a:p>
        </p:txBody>
      </p:sp>
      <p:sp>
        <p:nvSpPr>
          <p:cNvPr id="1226" name="Google Shape;1226;p60"/>
          <p:cNvSpPr txBox="1"/>
          <p:nvPr/>
        </p:nvSpPr>
        <p:spPr>
          <a:xfrm>
            <a:off x="1051560" y="2331720"/>
            <a:ext cx="6583680" cy="2154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a:solidFill>
                  <a:srgbClr val="00C2A8"/>
                </a:solidFill>
                <a:latin typeface="Calibri"/>
                <a:ea typeface="Calibri"/>
                <a:cs typeface="Calibri"/>
                <a:sym typeface="Calibri"/>
              </a:rPr>
              <a:t>PHẦN 5 · WRAP-UP</a:t>
            </a:r>
            <a:endParaRPr/>
          </a:p>
        </p:txBody>
      </p:sp>
      <p:sp>
        <p:nvSpPr>
          <p:cNvPr id="1227" name="Google Shape;1227;p60"/>
          <p:cNvSpPr txBox="1"/>
          <p:nvPr/>
        </p:nvSpPr>
        <p:spPr>
          <a:xfrm>
            <a:off x="1051560" y="2724912"/>
            <a:ext cx="6583680" cy="1005840"/>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None/>
            </a:pPr>
            <a:r>
              <a:rPr b="1" i="0" lang="en-US" sz="3200">
                <a:solidFill>
                  <a:srgbClr val="FFFFFF"/>
                </a:solidFill>
                <a:latin typeface="Calibri"/>
                <a:ea typeface="Calibri"/>
                <a:cs typeface="Calibri"/>
                <a:sym typeface="Calibri"/>
              </a:rPr>
              <a:t>Kết luận và hướng phát triển</a:t>
            </a:r>
            <a:endParaRPr/>
          </a:p>
        </p:txBody>
      </p:sp>
      <p:sp>
        <p:nvSpPr>
          <p:cNvPr id="1228" name="Google Shape;1228;p60"/>
          <p:cNvSpPr/>
          <p:nvPr/>
        </p:nvSpPr>
        <p:spPr>
          <a:xfrm>
            <a:off x="1051560" y="3858768"/>
            <a:ext cx="1005840" cy="45720"/>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29" name="Google Shape;1229;p60"/>
          <p:cNvSpPr txBox="1"/>
          <p:nvPr/>
        </p:nvSpPr>
        <p:spPr>
          <a:xfrm>
            <a:off x="1051560" y="4096512"/>
            <a:ext cx="6492240" cy="537519"/>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1400">
                <a:solidFill>
                  <a:srgbClr val="B6C9D8"/>
                </a:solidFill>
                <a:latin typeface="Calibri"/>
                <a:ea typeface="Calibri"/>
                <a:cs typeface="Calibri"/>
                <a:sym typeface="Calibri"/>
              </a:rPr>
              <a:t>Kết quả đạt được qua Chương 1 – 2 – 3 – 4  ·  Hạn chế của đề tài  ·  Hướng phát triển tiếp theo</a:t>
            </a:r>
            <a:endParaRPr b="0" i="0" sz="1400">
              <a:solidFill>
                <a:srgbClr val="B6C9D8"/>
              </a:solidFill>
              <a:latin typeface="Calibri"/>
              <a:ea typeface="Calibri"/>
              <a:cs typeface="Calibri"/>
              <a:sym typeface="Calibri"/>
            </a:endParaRPr>
          </a:p>
        </p:txBody>
      </p:sp>
      <p:sp>
        <p:nvSpPr>
          <p:cNvPr id="1230" name="Google Shape;1230;p60"/>
          <p:cNvSpPr txBox="1"/>
          <p:nvPr/>
        </p:nvSpPr>
        <p:spPr>
          <a:xfrm>
            <a:off x="658368" y="6355080"/>
            <a:ext cx="10326319"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850">
                <a:solidFill>
                  <a:srgbClr val="8FA6BC"/>
                </a:solidFill>
                <a:latin typeface="Calibri"/>
                <a:ea typeface="Calibri"/>
                <a:cs typeface="Calibri"/>
                <a:sym typeface="Calibri"/>
              </a:rPr>
              <a:t>SOLVENTUM VIỆT NAM  ·  HỆ THỐNG QUẢN TRỊ QUY TRÌNH NGHIỆP VỤ</a:t>
            </a:r>
            <a:endParaRPr/>
          </a:p>
        </p:txBody>
      </p:sp>
      <p:sp>
        <p:nvSpPr>
          <p:cNvPr id="1231" name="Google Shape;1231;p60"/>
          <p:cNvSpPr txBox="1"/>
          <p:nvPr/>
        </p:nvSpPr>
        <p:spPr>
          <a:xfrm>
            <a:off x="10984687" y="6355080"/>
            <a:ext cx="548640" cy="2286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1" i="0" lang="en-US" sz="950">
                <a:solidFill>
                  <a:srgbClr val="00C2A8"/>
                </a:solidFill>
                <a:latin typeface="Calibri"/>
                <a:ea typeface="Calibri"/>
                <a:cs typeface="Calibri"/>
                <a:sym typeface="Calibri"/>
              </a:rPr>
              <a:t>48</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5" name="Shape 1235"/>
        <p:cNvGrpSpPr/>
        <p:nvPr/>
      </p:nvGrpSpPr>
      <p:grpSpPr>
        <a:xfrm>
          <a:off x="0" y="0"/>
          <a:ext cx="0" cy="0"/>
          <a:chOff x="0" y="0"/>
          <a:chExt cx="0" cy="0"/>
        </a:xfrm>
      </p:grpSpPr>
      <p:sp>
        <p:nvSpPr>
          <p:cNvPr id="1236" name="Google Shape;1236;p61"/>
          <p:cNvSpPr txBox="1"/>
          <p:nvPr/>
        </p:nvSpPr>
        <p:spPr>
          <a:xfrm>
            <a:off x="658368" y="384048"/>
            <a:ext cx="10874959"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050">
                <a:solidFill>
                  <a:srgbClr val="0096D6"/>
                </a:solidFill>
                <a:latin typeface="Calibri"/>
                <a:ea typeface="Calibri"/>
                <a:cs typeface="Calibri"/>
                <a:sym typeface="Calibri"/>
              </a:rPr>
              <a:t>CHƯƠNG 5 · 5.1 KẾT LUẬN</a:t>
            </a:r>
            <a:endParaRPr/>
          </a:p>
        </p:txBody>
      </p:sp>
      <p:sp>
        <p:nvSpPr>
          <p:cNvPr id="1237" name="Google Shape;1237;p61"/>
          <p:cNvSpPr txBox="1"/>
          <p:nvPr/>
        </p:nvSpPr>
        <p:spPr>
          <a:xfrm>
            <a:off x="658368" y="640080"/>
            <a:ext cx="10874959" cy="60350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US" sz="2500">
                <a:solidFill>
                  <a:srgbClr val="0A2540"/>
                </a:solidFill>
                <a:latin typeface="Calibri"/>
                <a:ea typeface="Calibri"/>
                <a:cs typeface="Calibri"/>
                <a:sym typeface="Calibri"/>
              </a:rPr>
              <a:t>KẾT QUẢ ĐẠT ĐƯỢC QUA CHƯƠNG 1 – 2 – 3 – 4</a:t>
            </a:r>
            <a:endParaRPr/>
          </a:p>
        </p:txBody>
      </p:sp>
      <p:sp>
        <p:nvSpPr>
          <p:cNvPr id="1238" name="Google Shape;1238;p61"/>
          <p:cNvSpPr/>
          <p:nvPr/>
        </p:nvSpPr>
        <p:spPr>
          <a:xfrm>
            <a:off x="658368" y="1280160"/>
            <a:ext cx="566928" cy="41148"/>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39" name="Google Shape;1239;p61"/>
          <p:cNvSpPr/>
          <p:nvPr/>
        </p:nvSpPr>
        <p:spPr>
          <a:xfrm>
            <a:off x="1298448" y="1280160"/>
            <a:ext cx="10234879" cy="41148"/>
          </a:xfrm>
          <a:prstGeom prst="rect">
            <a:avLst/>
          </a:prstGeom>
          <a:solidFill>
            <a:srgbClr val="DFE4E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40" name="Google Shape;1240;p61"/>
          <p:cNvSpPr txBox="1"/>
          <p:nvPr/>
        </p:nvSpPr>
        <p:spPr>
          <a:xfrm>
            <a:off x="658368" y="1371600"/>
            <a:ext cx="10874959"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1" lang="en-US" sz="1100">
                <a:solidFill>
                  <a:srgbClr val="6B7784"/>
                </a:solidFill>
                <a:latin typeface="Calibri"/>
                <a:ea typeface="Calibri"/>
                <a:cs typeface="Calibri"/>
                <a:sym typeface="Calibri"/>
              </a:rPr>
              <a:t>Tám kết quả chính của đồ án  ·  Process Discovery + mô hình hóa BPMN + phân tích quy trình đã chuyển hoạt động nghiệp vụ thực tế thành mô hình có cấu trúc</a:t>
            </a:r>
            <a:endParaRPr/>
          </a:p>
        </p:txBody>
      </p:sp>
      <p:sp>
        <p:nvSpPr>
          <p:cNvPr id="1241" name="Google Shape;1241;p61"/>
          <p:cNvSpPr txBox="1"/>
          <p:nvPr/>
        </p:nvSpPr>
        <p:spPr>
          <a:xfrm>
            <a:off x="658368" y="6355080"/>
            <a:ext cx="10326319"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850">
                <a:solidFill>
                  <a:srgbClr val="6B7784"/>
                </a:solidFill>
                <a:latin typeface="Calibri"/>
                <a:ea typeface="Calibri"/>
                <a:cs typeface="Calibri"/>
                <a:sym typeface="Calibri"/>
              </a:rPr>
              <a:t>SOLVENTUM VIỆT NAM  ·  HỆ THỐNG QUẢN TRỊ QUY TRÌNH NGHIỆP VỤ</a:t>
            </a:r>
            <a:endParaRPr/>
          </a:p>
        </p:txBody>
      </p:sp>
      <p:sp>
        <p:nvSpPr>
          <p:cNvPr id="1242" name="Google Shape;1242;p61"/>
          <p:cNvSpPr txBox="1"/>
          <p:nvPr/>
        </p:nvSpPr>
        <p:spPr>
          <a:xfrm>
            <a:off x="10984687" y="6355080"/>
            <a:ext cx="548640" cy="2286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1" i="0" lang="en-US" sz="950">
                <a:solidFill>
                  <a:srgbClr val="0096D6"/>
                </a:solidFill>
                <a:latin typeface="Calibri"/>
                <a:ea typeface="Calibri"/>
                <a:cs typeface="Calibri"/>
                <a:sym typeface="Calibri"/>
              </a:rPr>
              <a:t>49</a:t>
            </a:r>
            <a:endParaRPr/>
          </a:p>
        </p:txBody>
      </p:sp>
      <p:sp>
        <p:nvSpPr>
          <p:cNvPr id="1243" name="Google Shape;1243;p61"/>
          <p:cNvSpPr/>
          <p:nvPr/>
        </p:nvSpPr>
        <p:spPr>
          <a:xfrm>
            <a:off x="658368" y="1737360"/>
            <a:ext cx="2581579" cy="2148840"/>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44" name="Google Shape;1244;p61"/>
          <p:cNvSpPr/>
          <p:nvPr/>
        </p:nvSpPr>
        <p:spPr>
          <a:xfrm>
            <a:off x="658368" y="1737360"/>
            <a:ext cx="2581579" cy="50292"/>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45" name="Google Shape;1245;p61"/>
          <p:cNvSpPr txBox="1"/>
          <p:nvPr/>
        </p:nvSpPr>
        <p:spPr>
          <a:xfrm>
            <a:off x="864108" y="1920240"/>
            <a:ext cx="2170099"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400">
                <a:solidFill>
                  <a:srgbClr val="0096D6"/>
                </a:solidFill>
                <a:latin typeface="Calibri"/>
                <a:ea typeface="Calibri"/>
                <a:cs typeface="Calibri"/>
                <a:sym typeface="Calibri"/>
              </a:rPr>
              <a:t>01</a:t>
            </a:r>
            <a:endParaRPr/>
          </a:p>
        </p:txBody>
      </p:sp>
      <p:sp>
        <p:nvSpPr>
          <p:cNvPr id="1246" name="Google Shape;1246;p61"/>
          <p:cNvSpPr txBox="1"/>
          <p:nvPr/>
        </p:nvSpPr>
        <p:spPr>
          <a:xfrm>
            <a:off x="864108" y="2240280"/>
            <a:ext cx="2170099" cy="396195"/>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US" sz="1300">
                <a:solidFill>
                  <a:srgbClr val="0A2540"/>
                </a:solidFill>
                <a:latin typeface="Calibri"/>
                <a:ea typeface="Calibri"/>
                <a:cs typeface="Calibri"/>
                <a:sym typeface="Calibri"/>
              </a:rPr>
              <a:t>Khảo sát tổng quan doanh nghiệp</a:t>
            </a:r>
            <a:endParaRPr/>
          </a:p>
        </p:txBody>
      </p:sp>
      <p:sp>
        <p:nvSpPr>
          <p:cNvPr id="1247" name="Google Shape;1247;p61"/>
          <p:cNvSpPr txBox="1"/>
          <p:nvPr/>
        </p:nvSpPr>
        <p:spPr>
          <a:xfrm>
            <a:off x="864108" y="2727915"/>
            <a:ext cx="2170099" cy="1021125"/>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b="0" i="0" lang="en-US" sz="1300">
                <a:solidFill>
                  <a:srgbClr val="6B7784"/>
                </a:solidFill>
                <a:latin typeface="Calibri"/>
                <a:ea typeface="Calibri"/>
                <a:cs typeface="Calibri"/>
                <a:sym typeface="Calibri"/>
              </a:rPr>
              <a:t>Quá trình hình thành, 03 nhóm sản phẩm – giải pháp và mô hình tổ chức theo chiều dọc của Solventum Việt Nam.</a:t>
            </a:r>
            <a:endParaRPr/>
          </a:p>
        </p:txBody>
      </p:sp>
      <p:sp>
        <p:nvSpPr>
          <p:cNvPr id="1248" name="Google Shape;1248;p61"/>
          <p:cNvSpPr/>
          <p:nvPr/>
        </p:nvSpPr>
        <p:spPr>
          <a:xfrm>
            <a:off x="3422827" y="1737360"/>
            <a:ext cx="2581579" cy="2148840"/>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49" name="Google Shape;1249;p61"/>
          <p:cNvSpPr/>
          <p:nvPr/>
        </p:nvSpPr>
        <p:spPr>
          <a:xfrm>
            <a:off x="3422827" y="1737360"/>
            <a:ext cx="2581579" cy="50292"/>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50" name="Google Shape;1250;p61"/>
          <p:cNvSpPr txBox="1"/>
          <p:nvPr/>
        </p:nvSpPr>
        <p:spPr>
          <a:xfrm>
            <a:off x="3628567" y="1920240"/>
            <a:ext cx="2170099"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400">
                <a:solidFill>
                  <a:srgbClr val="0096D6"/>
                </a:solidFill>
                <a:latin typeface="Calibri"/>
                <a:ea typeface="Calibri"/>
                <a:cs typeface="Calibri"/>
                <a:sym typeface="Calibri"/>
              </a:rPr>
              <a:t>02</a:t>
            </a:r>
            <a:endParaRPr/>
          </a:p>
        </p:txBody>
      </p:sp>
      <p:sp>
        <p:nvSpPr>
          <p:cNvPr id="1251" name="Google Shape;1251;p61"/>
          <p:cNvSpPr txBox="1"/>
          <p:nvPr/>
        </p:nvSpPr>
        <p:spPr>
          <a:xfrm>
            <a:off x="3628567" y="2240280"/>
            <a:ext cx="2170099" cy="2743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US" sz="1300">
                <a:solidFill>
                  <a:srgbClr val="0A2540"/>
                </a:solidFill>
                <a:latin typeface="Calibri"/>
                <a:ea typeface="Calibri"/>
                <a:cs typeface="Calibri"/>
                <a:sym typeface="Calibri"/>
              </a:rPr>
              <a:t>Xây dựng kiến trúc quy trình</a:t>
            </a:r>
            <a:endParaRPr/>
          </a:p>
        </p:txBody>
      </p:sp>
      <p:sp>
        <p:nvSpPr>
          <p:cNvPr id="1252" name="Google Shape;1252;p61"/>
          <p:cNvSpPr txBox="1"/>
          <p:nvPr/>
        </p:nvSpPr>
        <p:spPr>
          <a:xfrm>
            <a:off x="3628567" y="2606040"/>
            <a:ext cx="2170099" cy="11430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b="0" i="0" lang="en-US" sz="1300">
                <a:solidFill>
                  <a:srgbClr val="6B7784"/>
                </a:solidFill>
                <a:latin typeface="Calibri"/>
                <a:ea typeface="Calibri"/>
                <a:cs typeface="Calibri"/>
                <a:sym typeface="Calibri"/>
              </a:rPr>
              <a:t>Business Process Landscape gồm ba nhóm Quản lý – Cốt lõi – Hỗ trợ và mối quan hệ giữa chúng.</a:t>
            </a:r>
            <a:endParaRPr/>
          </a:p>
        </p:txBody>
      </p:sp>
      <p:sp>
        <p:nvSpPr>
          <p:cNvPr id="1253" name="Google Shape;1253;p61"/>
          <p:cNvSpPr/>
          <p:nvPr/>
        </p:nvSpPr>
        <p:spPr>
          <a:xfrm>
            <a:off x="6187286" y="1737360"/>
            <a:ext cx="2581579" cy="2148840"/>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54" name="Google Shape;1254;p61"/>
          <p:cNvSpPr/>
          <p:nvPr/>
        </p:nvSpPr>
        <p:spPr>
          <a:xfrm>
            <a:off x="6187286" y="1737360"/>
            <a:ext cx="2581579" cy="50292"/>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55" name="Google Shape;1255;p61"/>
          <p:cNvSpPr txBox="1"/>
          <p:nvPr/>
        </p:nvSpPr>
        <p:spPr>
          <a:xfrm>
            <a:off x="6393026" y="1920240"/>
            <a:ext cx="2170099"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400">
                <a:solidFill>
                  <a:srgbClr val="0096D6"/>
                </a:solidFill>
                <a:latin typeface="Calibri"/>
                <a:ea typeface="Calibri"/>
                <a:cs typeface="Calibri"/>
                <a:sym typeface="Calibri"/>
              </a:rPr>
              <a:t>03</a:t>
            </a:r>
            <a:endParaRPr/>
          </a:p>
        </p:txBody>
      </p:sp>
      <p:sp>
        <p:nvSpPr>
          <p:cNvPr id="1256" name="Google Shape;1256;p61"/>
          <p:cNvSpPr txBox="1"/>
          <p:nvPr/>
        </p:nvSpPr>
        <p:spPr>
          <a:xfrm>
            <a:off x="6393026" y="2240280"/>
            <a:ext cx="2170099" cy="2743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US" sz="1300">
                <a:solidFill>
                  <a:srgbClr val="0A2540"/>
                </a:solidFill>
                <a:latin typeface="Calibri"/>
                <a:ea typeface="Calibri"/>
                <a:cs typeface="Calibri"/>
                <a:sym typeface="Calibri"/>
              </a:rPr>
              <a:t>Mô tả 10 quy trình tiêu biểu</a:t>
            </a:r>
            <a:endParaRPr/>
          </a:p>
        </p:txBody>
      </p:sp>
      <p:sp>
        <p:nvSpPr>
          <p:cNvPr id="1257" name="Google Shape;1257;p61"/>
          <p:cNvSpPr txBox="1"/>
          <p:nvPr/>
        </p:nvSpPr>
        <p:spPr>
          <a:xfrm>
            <a:off x="6393026" y="2606040"/>
            <a:ext cx="2170099" cy="11430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b="0" i="0" lang="en-US" sz="1300">
                <a:solidFill>
                  <a:srgbClr val="6B7784"/>
                </a:solidFill>
                <a:latin typeface="Calibri"/>
                <a:ea typeface="Calibri"/>
                <a:cs typeface="Calibri"/>
                <a:sym typeface="Calibri"/>
              </a:rPr>
              <a:t>Theo khung thống nhất 05 thành phần: Mục tiêu – Tác nhân – Khách hàng – Các bước – Kết quả.</a:t>
            </a:r>
            <a:endParaRPr/>
          </a:p>
        </p:txBody>
      </p:sp>
      <p:sp>
        <p:nvSpPr>
          <p:cNvPr id="1258" name="Google Shape;1258;p61"/>
          <p:cNvSpPr/>
          <p:nvPr/>
        </p:nvSpPr>
        <p:spPr>
          <a:xfrm>
            <a:off x="8951745" y="1737360"/>
            <a:ext cx="2581579" cy="2148840"/>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59" name="Google Shape;1259;p61"/>
          <p:cNvSpPr/>
          <p:nvPr/>
        </p:nvSpPr>
        <p:spPr>
          <a:xfrm>
            <a:off x="8951745" y="1737360"/>
            <a:ext cx="2581579" cy="50292"/>
          </a:xfrm>
          <a:prstGeom prst="rect">
            <a:avLst/>
          </a:prstGeom>
          <a:solidFill>
            <a:srgbClr val="00C2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60" name="Google Shape;1260;p61"/>
          <p:cNvSpPr txBox="1"/>
          <p:nvPr/>
        </p:nvSpPr>
        <p:spPr>
          <a:xfrm>
            <a:off x="9157485" y="1920240"/>
            <a:ext cx="2170099"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400">
                <a:solidFill>
                  <a:srgbClr val="00C2A8"/>
                </a:solidFill>
                <a:latin typeface="Calibri"/>
                <a:ea typeface="Calibri"/>
                <a:cs typeface="Calibri"/>
                <a:sym typeface="Calibri"/>
              </a:rPr>
              <a:t>04</a:t>
            </a:r>
            <a:endParaRPr/>
          </a:p>
        </p:txBody>
      </p:sp>
      <p:sp>
        <p:nvSpPr>
          <p:cNvPr id="1261" name="Google Shape;1261;p61"/>
          <p:cNvSpPr txBox="1"/>
          <p:nvPr/>
        </p:nvSpPr>
        <p:spPr>
          <a:xfrm>
            <a:off x="9157485" y="2240280"/>
            <a:ext cx="2170099" cy="396195"/>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US" sz="1300">
                <a:solidFill>
                  <a:srgbClr val="0A2540"/>
                </a:solidFill>
                <a:latin typeface="Calibri"/>
                <a:ea typeface="Calibri"/>
                <a:cs typeface="Calibri"/>
                <a:sym typeface="Calibri"/>
              </a:rPr>
              <a:t>Mô hình hóa 06 quy trình bằng BPMN</a:t>
            </a:r>
            <a:endParaRPr/>
          </a:p>
        </p:txBody>
      </p:sp>
      <p:sp>
        <p:nvSpPr>
          <p:cNvPr id="1262" name="Google Shape;1262;p61"/>
          <p:cNvSpPr txBox="1"/>
          <p:nvPr/>
        </p:nvSpPr>
        <p:spPr>
          <a:xfrm>
            <a:off x="9157485" y="2727915"/>
            <a:ext cx="2170099" cy="1021125"/>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b="0" i="0" lang="en-US" sz="1300">
                <a:solidFill>
                  <a:srgbClr val="6B7784"/>
                </a:solidFill>
                <a:latin typeface="Calibri"/>
                <a:ea typeface="Calibri"/>
                <a:cs typeface="Calibri"/>
                <a:sym typeface="Calibri"/>
              </a:rPr>
              <a:t>Hiện trạng As-Is của 02 quy trình quản lý, 02 cốt lõi và 02 hỗ trợ, dựa trên bằng chứng SOP và tài liệu hệ thống.</a:t>
            </a:r>
            <a:endParaRPr/>
          </a:p>
        </p:txBody>
      </p:sp>
      <p:sp>
        <p:nvSpPr>
          <p:cNvPr id="1263" name="Google Shape;1263;p61"/>
          <p:cNvSpPr/>
          <p:nvPr/>
        </p:nvSpPr>
        <p:spPr>
          <a:xfrm>
            <a:off x="658368" y="4069080"/>
            <a:ext cx="2581579" cy="2148840"/>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64" name="Google Shape;1264;p61"/>
          <p:cNvSpPr/>
          <p:nvPr/>
        </p:nvSpPr>
        <p:spPr>
          <a:xfrm>
            <a:off x="658368" y="4069080"/>
            <a:ext cx="2581579" cy="50292"/>
          </a:xfrm>
          <a:prstGeom prst="rect">
            <a:avLst/>
          </a:prstGeom>
          <a:solidFill>
            <a:srgbClr val="00C2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65" name="Google Shape;1265;p61"/>
          <p:cNvSpPr txBox="1"/>
          <p:nvPr/>
        </p:nvSpPr>
        <p:spPr>
          <a:xfrm>
            <a:off x="864108" y="4251960"/>
            <a:ext cx="2170099"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400">
                <a:solidFill>
                  <a:srgbClr val="00C2A8"/>
                </a:solidFill>
                <a:latin typeface="Calibri"/>
                <a:ea typeface="Calibri"/>
                <a:cs typeface="Calibri"/>
                <a:sym typeface="Calibri"/>
              </a:rPr>
              <a:t>05</a:t>
            </a:r>
            <a:endParaRPr/>
          </a:p>
        </p:txBody>
      </p:sp>
      <p:sp>
        <p:nvSpPr>
          <p:cNvPr id="1266" name="Google Shape;1266;p61"/>
          <p:cNvSpPr txBox="1"/>
          <p:nvPr/>
        </p:nvSpPr>
        <p:spPr>
          <a:xfrm>
            <a:off x="864108" y="4572000"/>
            <a:ext cx="2170099" cy="2743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US" sz="1300">
                <a:solidFill>
                  <a:srgbClr val="0A2540"/>
                </a:solidFill>
                <a:latin typeface="Calibri"/>
                <a:ea typeface="Calibri"/>
                <a:cs typeface="Calibri"/>
                <a:sym typeface="Calibri"/>
              </a:rPr>
              <a:t>Chuẩn hóa Process Discovery</a:t>
            </a:r>
            <a:endParaRPr/>
          </a:p>
        </p:txBody>
      </p:sp>
      <p:sp>
        <p:nvSpPr>
          <p:cNvPr id="1267" name="Google Shape;1267;p61"/>
          <p:cNvSpPr txBox="1"/>
          <p:nvPr/>
        </p:nvSpPr>
        <p:spPr>
          <a:xfrm>
            <a:off x="864108" y="4937760"/>
            <a:ext cx="2170099" cy="11430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b="0" i="0" lang="en-US" sz="1300">
                <a:solidFill>
                  <a:srgbClr val="6B7784"/>
                </a:solidFill>
                <a:latin typeface="Calibri"/>
                <a:ea typeface="Calibri"/>
                <a:cs typeface="Calibri"/>
                <a:sym typeface="Calibri"/>
              </a:rPr>
              <a:t>Kết hợp Evidence-based và Interview-based với bộ 20 câu hỏi (10 định tính + 10 định lượng).</a:t>
            </a:r>
            <a:endParaRPr/>
          </a:p>
        </p:txBody>
      </p:sp>
      <p:sp>
        <p:nvSpPr>
          <p:cNvPr id="1268" name="Google Shape;1268;p61"/>
          <p:cNvSpPr/>
          <p:nvPr/>
        </p:nvSpPr>
        <p:spPr>
          <a:xfrm>
            <a:off x="3422827" y="4069080"/>
            <a:ext cx="2581579" cy="2148840"/>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69" name="Google Shape;1269;p61"/>
          <p:cNvSpPr/>
          <p:nvPr/>
        </p:nvSpPr>
        <p:spPr>
          <a:xfrm>
            <a:off x="3422827" y="4069080"/>
            <a:ext cx="2581579" cy="50292"/>
          </a:xfrm>
          <a:prstGeom prst="rect">
            <a:avLst/>
          </a:prstGeom>
          <a:solidFill>
            <a:srgbClr val="00C2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70" name="Google Shape;1270;p61"/>
          <p:cNvSpPr txBox="1"/>
          <p:nvPr/>
        </p:nvSpPr>
        <p:spPr>
          <a:xfrm>
            <a:off x="3628567" y="4251960"/>
            <a:ext cx="2170099"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400">
                <a:solidFill>
                  <a:srgbClr val="00C2A8"/>
                </a:solidFill>
                <a:latin typeface="Calibri"/>
                <a:ea typeface="Calibri"/>
                <a:cs typeface="Calibri"/>
                <a:sym typeface="Calibri"/>
              </a:rPr>
              <a:t>06</a:t>
            </a:r>
            <a:endParaRPr/>
          </a:p>
        </p:txBody>
      </p:sp>
      <p:sp>
        <p:nvSpPr>
          <p:cNvPr id="1271" name="Google Shape;1271;p61"/>
          <p:cNvSpPr txBox="1"/>
          <p:nvPr/>
        </p:nvSpPr>
        <p:spPr>
          <a:xfrm>
            <a:off x="3628567" y="4572000"/>
            <a:ext cx="2170099" cy="396195"/>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US" sz="1300">
                <a:solidFill>
                  <a:srgbClr val="0A2540"/>
                </a:solidFill>
                <a:latin typeface="Calibri"/>
                <a:ea typeface="Calibri"/>
                <a:cs typeface="Calibri"/>
                <a:sym typeface="Calibri"/>
              </a:rPr>
              <a:t>Sàng lọc khách quan theo 05 tiêu chí</a:t>
            </a:r>
            <a:endParaRPr/>
          </a:p>
        </p:txBody>
      </p:sp>
      <p:sp>
        <p:nvSpPr>
          <p:cNvPr id="1272" name="Google Shape;1272;p61"/>
          <p:cNvSpPr txBox="1"/>
          <p:nvPr/>
        </p:nvSpPr>
        <p:spPr>
          <a:xfrm>
            <a:off x="3628567" y="5059635"/>
            <a:ext cx="2170099" cy="1021125"/>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b="0" i="0" lang="en-US" sz="1300">
                <a:solidFill>
                  <a:srgbClr val="6B7784"/>
                </a:solidFill>
                <a:latin typeface="Calibri"/>
                <a:ea typeface="Calibri"/>
                <a:cs typeface="Calibri"/>
                <a:sym typeface="Calibri"/>
              </a:rPr>
              <a:t>Chọn được 02 quy trình trọng tâm: Service Order Management và Procurement Management.</a:t>
            </a:r>
            <a:endParaRPr/>
          </a:p>
        </p:txBody>
      </p:sp>
      <p:sp>
        <p:nvSpPr>
          <p:cNvPr id="1273" name="Google Shape;1273;p61"/>
          <p:cNvSpPr/>
          <p:nvPr/>
        </p:nvSpPr>
        <p:spPr>
          <a:xfrm>
            <a:off x="6187286" y="4069080"/>
            <a:ext cx="2581579" cy="2148840"/>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74" name="Google Shape;1274;p61"/>
          <p:cNvSpPr/>
          <p:nvPr/>
        </p:nvSpPr>
        <p:spPr>
          <a:xfrm>
            <a:off x="6187286" y="4069080"/>
            <a:ext cx="2581579" cy="50292"/>
          </a:xfrm>
          <a:prstGeom prst="rect">
            <a:avLst/>
          </a:prstGeom>
          <a:solidFill>
            <a:srgbClr val="C87F0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75" name="Google Shape;1275;p61"/>
          <p:cNvSpPr txBox="1"/>
          <p:nvPr/>
        </p:nvSpPr>
        <p:spPr>
          <a:xfrm>
            <a:off x="6393026" y="4251960"/>
            <a:ext cx="2170099"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400">
                <a:solidFill>
                  <a:srgbClr val="C87F0A"/>
                </a:solidFill>
                <a:latin typeface="Calibri"/>
                <a:ea typeface="Calibri"/>
                <a:cs typeface="Calibri"/>
                <a:sym typeface="Calibri"/>
              </a:rPr>
              <a:t>07</a:t>
            </a:r>
            <a:endParaRPr/>
          </a:p>
        </p:txBody>
      </p:sp>
      <p:sp>
        <p:nvSpPr>
          <p:cNvPr id="1276" name="Google Shape;1276;p61"/>
          <p:cNvSpPr txBox="1"/>
          <p:nvPr/>
        </p:nvSpPr>
        <p:spPr>
          <a:xfrm>
            <a:off x="6393026" y="4572000"/>
            <a:ext cx="2170099" cy="2743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US" sz="1300">
                <a:solidFill>
                  <a:srgbClr val="0A2540"/>
                </a:solidFill>
                <a:latin typeface="Calibri"/>
                <a:ea typeface="Calibri"/>
                <a:cs typeface="Calibri"/>
                <a:sym typeface="Calibri"/>
              </a:rPr>
              <a:t>Phân tích định tính</a:t>
            </a:r>
            <a:endParaRPr/>
          </a:p>
        </p:txBody>
      </p:sp>
      <p:sp>
        <p:nvSpPr>
          <p:cNvPr id="1277" name="Google Shape;1277;p61"/>
          <p:cNvSpPr txBox="1"/>
          <p:nvPr/>
        </p:nvSpPr>
        <p:spPr>
          <a:xfrm>
            <a:off x="6393026" y="4937760"/>
            <a:ext cx="2170099" cy="11430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b="0" i="0" lang="en-US" sz="1300">
                <a:solidFill>
                  <a:srgbClr val="6B7784"/>
                </a:solidFill>
                <a:latin typeface="Calibri"/>
                <a:ea typeface="Calibri"/>
                <a:cs typeface="Calibri"/>
                <a:sym typeface="Calibri"/>
              </a:rPr>
              <a:t>C03: 08 VA – 23 BVA – 04 NVA · 17 điểm lãng phí.</a:t>
            </a:r>
            <a:endParaRPr/>
          </a:p>
          <a:p>
            <a:pPr indent="0" lvl="0" marL="0" marR="0" rtl="0" algn="l">
              <a:lnSpc>
                <a:spcPct val="112000"/>
              </a:lnSpc>
              <a:spcBef>
                <a:spcPts val="200"/>
              </a:spcBef>
              <a:spcAft>
                <a:spcPts val="0"/>
              </a:spcAft>
              <a:buNone/>
            </a:pPr>
            <a:r>
              <a:rPr b="0" i="0" lang="en-US" sz="1300">
                <a:solidFill>
                  <a:srgbClr val="6B7784"/>
                </a:solidFill>
                <a:latin typeface="Calibri"/>
                <a:ea typeface="Calibri"/>
                <a:cs typeface="Calibri"/>
                <a:sym typeface="Calibri"/>
              </a:rPr>
              <a:t>S01: 02 VA – 12 BVA – 06 NVA · 15 điểm lãng phí.</a:t>
            </a:r>
            <a:endParaRPr/>
          </a:p>
        </p:txBody>
      </p:sp>
      <p:sp>
        <p:nvSpPr>
          <p:cNvPr id="1278" name="Google Shape;1278;p61"/>
          <p:cNvSpPr/>
          <p:nvPr/>
        </p:nvSpPr>
        <p:spPr>
          <a:xfrm>
            <a:off x="8951745" y="4069080"/>
            <a:ext cx="2581579" cy="2148840"/>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79" name="Google Shape;1279;p61"/>
          <p:cNvSpPr/>
          <p:nvPr/>
        </p:nvSpPr>
        <p:spPr>
          <a:xfrm>
            <a:off x="8951745" y="4069080"/>
            <a:ext cx="2581579" cy="50292"/>
          </a:xfrm>
          <a:prstGeom prst="rect">
            <a:avLst/>
          </a:prstGeom>
          <a:solidFill>
            <a:srgbClr val="C0392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80" name="Google Shape;1280;p61"/>
          <p:cNvSpPr txBox="1"/>
          <p:nvPr/>
        </p:nvSpPr>
        <p:spPr>
          <a:xfrm>
            <a:off x="9157485" y="4251960"/>
            <a:ext cx="2170099"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400">
                <a:solidFill>
                  <a:srgbClr val="C0392B"/>
                </a:solidFill>
                <a:latin typeface="Calibri"/>
                <a:ea typeface="Calibri"/>
                <a:cs typeface="Calibri"/>
                <a:sym typeface="Calibri"/>
              </a:rPr>
              <a:t>08</a:t>
            </a:r>
            <a:endParaRPr/>
          </a:p>
        </p:txBody>
      </p:sp>
      <p:sp>
        <p:nvSpPr>
          <p:cNvPr id="1281" name="Google Shape;1281;p61"/>
          <p:cNvSpPr txBox="1"/>
          <p:nvPr/>
        </p:nvSpPr>
        <p:spPr>
          <a:xfrm>
            <a:off x="9157485" y="4572000"/>
            <a:ext cx="2170099" cy="2743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US" sz="1300">
                <a:solidFill>
                  <a:srgbClr val="0A2540"/>
                </a:solidFill>
                <a:latin typeface="Calibri"/>
                <a:ea typeface="Calibri"/>
                <a:cs typeface="Calibri"/>
                <a:sym typeface="Calibri"/>
              </a:rPr>
              <a:t>Phân tích định lượng</a:t>
            </a:r>
            <a:endParaRPr/>
          </a:p>
        </p:txBody>
      </p:sp>
      <p:sp>
        <p:nvSpPr>
          <p:cNvPr id="1282" name="Google Shape;1282;p61"/>
          <p:cNvSpPr txBox="1"/>
          <p:nvPr/>
        </p:nvSpPr>
        <p:spPr>
          <a:xfrm>
            <a:off x="9157485" y="4937760"/>
            <a:ext cx="2170099" cy="11430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b="0" i="0" lang="en-US" sz="1300">
                <a:solidFill>
                  <a:srgbClr val="6B7784"/>
                </a:solidFill>
                <a:latin typeface="Calibri"/>
                <a:ea typeface="Calibri"/>
                <a:cs typeface="Calibri"/>
                <a:sym typeface="Calibri"/>
              </a:rPr>
              <a:t>C03: CT ≈ 6,39 ngày · CTE ≈ 46,14%.</a:t>
            </a:r>
            <a:endParaRPr/>
          </a:p>
          <a:p>
            <a:pPr indent="0" lvl="0" marL="0" marR="0" rtl="0" algn="l">
              <a:lnSpc>
                <a:spcPct val="112000"/>
              </a:lnSpc>
              <a:spcBef>
                <a:spcPts val="200"/>
              </a:spcBef>
              <a:spcAft>
                <a:spcPts val="0"/>
              </a:spcAft>
              <a:buNone/>
            </a:pPr>
            <a:r>
              <a:rPr b="0" i="0" lang="en-US" sz="1300">
                <a:solidFill>
                  <a:srgbClr val="6B7784"/>
                </a:solidFill>
                <a:latin typeface="Calibri"/>
                <a:ea typeface="Calibri"/>
                <a:cs typeface="Calibri"/>
                <a:sym typeface="Calibri"/>
              </a:rPr>
              <a:t>S01: CT ≈ 13,71 ngày · CTE ≈ 9,75%.</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6" name="Shape 1286"/>
        <p:cNvGrpSpPr/>
        <p:nvPr/>
      </p:nvGrpSpPr>
      <p:grpSpPr>
        <a:xfrm>
          <a:off x="0" y="0"/>
          <a:ext cx="0" cy="0"/>
          <a:chOff x="0" y="0"/>
          <a:chExt cx="0" cy="0"/>
        </a:xfrm>
      </p:grpSpPr>
      <p:sp>
        <p:nvSpPr>
          <p:cNvPr id="1287" name="Google Shape;1287;p62"/>
          <p:cNvSpPr txBox="1"/>
          <p:nvPr/>
        </p:nvSpPr>
        <p:spPr>
          <a:xfrm>
            <a:off x="658368" y="384048"/>
            <a:ext cx="10874959"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050">
                <a:solidFill>
                  <a:srgbClr val="0096D6"/>
                </a:solidFill>
                <a:latin typeface="Calibri"/>
                <a:ea typeface="Calibri"/>
                <a:cs typeface="Calibri"/>
                <a:sym typeface="Calibri"/>
              </a:rPr>
              <a:t>CHƯƠNG 5 · 5.2 – 5.3 HẠN CHẾ VÀ HƯỚNG PHÁT TRIỂN</a:t>
            </a:r>
            <a:endParaRPr/>
          </a:p>
        </p:txBody>
      </p:sp>
      <p:sp>
        <p:nvSpPr>
          <p:cNvPr id="1288" name="Google Shape;1288;p62"/>
          <p:cNvSpPr txBox="1"/>
          <p:nvPr/>
        </p:nvSpPr>
        <p:spPr>
          <a:xfrm>
            <a:off x="658368" y="640080"/>
            <a:ext cx="10874959" cy="60350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US" sz="2500">
                <a:solidFill>
                  <a:srgbClr val="0A2540"/>
                </a:solidFill>
                <a:latin typeface="Calibri"/>
                <a:ea typeface="Calibri"/>
                <a:cs typeface="Calibri"/>
                <a:sym typeface="Calibri"/>
              </a:rPr>
              <a:t>HẠN CHẾ CỦA ĐỒ ÁN VÀ HƯỚNG PHÁT TRIỂN</a:t>
            </a:r>
            <a:endParaRPr/>
          </a:p>
        </p:txBody>
      </p:sp>
      <p:sp>
        <p:nvSpPr>
          <p:cNvPr id="1289" name="Google Shape;1289;p62"/>
          <p:cNvSpPr/>
          <p:nvPr/>
        </p:nvSpPr>
        <p:spPr>
          <a:xfrm>
            <a:off x="658368" y="1280160"/>
            <a:ext cx="566928" cy="41148"/>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90" name="Google Shape;1290;p62"/>
          <p:cNvSpPr/>
          <p:nvPr/>
        </p:nvSpPr>
        <p:spPr>
          <a:xfrm>
            <a:off x="1298448" y="1280160"/>
            <a:ext cx="10234879" cy="41148"/>
          </a:xfrm>
          <a:prstGeom prst="rect">
            <a:avLst/>
          </a:prstGeom>
          <a:solidFill>
            <a:srgbClr val="DFE4E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91" name="Google Shape;1291;p62"/>
          <p:cNvSpPr txBox="1"/>
          <p:nvPr/>
        </p:nvSpPr>
        <p:spPr>
          <a:xfrm>
            <a:off x="658368" y="1371600"/>
            <a:ext cx="10874959"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1" lang="en-US" sz="1100">
                <a:solidFill>
                  <a:srgbClr val="6B7784"/>
                </a:solidFill>
                <a:latin typeface="Calibri"/>
                <a:ea typeface="Calibri"/>
                <a:cs typeface="Calibri"/>
                <a:sym typeface="Calibri"/>
              </a:rPr>
              <a:t>Ba hạn chế cần lưu ý khi diễn giải kết quả định lượng   |   Bốn hướng phát triển tiếp theo</a:t>
            </a:r>
            <a:endParaRPr/>
          </a:p>
        </p:txBody>
      </p:sp>
      <p:sp>
        <p:nvSpPr>
          <p:cNvPr id="1292" name="Google Shape;1292;p62"/>
          <p:cNvSpPr txBox="1"/>
          <p:nvPr/>
        </p:nvSpPr>
        <p:spPr>
          <a:xfrm>
            <a:off x="658368" y="6355080"/>
            <a:ext cx="10326319"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850">
                <a:solidFill>
                  <a:srgbClr val="6B7784"/>
                </a:solidFill>
                <a:latin typeface="Calibri"/>
                <a:ea typeface="Calibri"/>
                <a:cs typeface="Calibri"/>
                <a:sym typeface="Calibri"/>
              </a:rPr>
              <a:t>SOLVENTUM VIỆT NAM  ·  HỆ THỐNG QUẢN TRỊ QUY TRÌNH NGHIỆP VỤ</a:t>
            </a:r>
            <a:endParaRPr/>
          </a:p>
        </p:txBody>
      </p:sp>
      <p:sp>
        <p:nvSpPr>
          <p:cNvPr id="1293" name="Google Shape;1293;p62"/>
          <p:cNvSpPr txBox="1"/>
          <p:nvPr/>
        </p:nvSpPr>
        <p:spPr>
          <a:xfrm>
            <a:off x="10984687" y="6355080"/>
            <a:ext cx="548640" cy="2286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1" i="0" lang="en-US" sz="950">
                <a:solidFill>
                  <a:srgbClr val="0096D6"/>
                </a:solidFill>
                <a:latin typeface="Calibri"/>
                <a:ea typeface="Calibri"/>
                <a:cs typeface="Calibri"/>
                <a:sym typeface="Calibri"/>
              </a:rPr>
              <a:t>50</a:t>
            </a:r>
            <a:endParaRPr/>
          </a:p>
        </p:txBody>
      </p:sp>
      <p:sp>
        <p:nvSpPr>
          <p:cNvPr id="1294" name="Google Shape;1294;p62"/>
          <p:cNvSpPr txBox="1"/>
          <p:nvPr/>
        </p:nvSpPr>
        <p:spPr>
          <a:xfrm>
            <a:off x="658368" y="1737360"/>
            <a:ext cx="5323459"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200">
                <a:solidFill>
                  <a:srgbClr val="C0392B"/>
                </a:solidFill>
                <a:latin typeface="Calibri"/>
                <a:ea typeface="Calibri"/>
                <a:cs typeface="Calibri"/>
                <a:sym typeface="Calibri"/>
              </a:rPr>
              <a:t>5.2  BA HẠN CHẾ CỦA PHẠM VI NGHIÊN CỨU</a:t>
            </a:r>
            <a:endParaRPr/>
          </a:p>
        </p:txBody>
      </p:sp>
      <p:sp>
        <p:nvSpPr>
          <p:cNvPr id="1295" name="Google Shape;1295;p62"/>
          <p:cNvSpPr/>
          <p:nvPr/>
        </p:nvSpPr>
        <p:spPr>
          <a:xfrm>
            <a:off x="658368" y="2103120"/>
            <a:ext cx="5323459" cy="1280160"/>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96" name="Google Shape;1296;p62"/>
          <p:cNvSpPr/>
          <p:nvPr/>
        </p:nvSpPr>
        <p:spPr>
          <a:xfrm>
            <a:off x="658368" y="2103120"/>
            <a:ext cx="5323459" cy="50292"/>
          </a:xfrm>
          <a:prstGeom prst="rect">
            <a:avLst/>
          </a:prstGeom>
          <a:solidFill>
            <a:srgbClr val="C0392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97" name="Google Shape;1297;p62"/>
          <p:cNvSpPr txBox="1"/>
          <p:nvPr/>
        </p:nvSpPr>
        <p:spPr>
          <a:xfrm>
            <a:off x="864108" y="2286000"/>
            <a:ext cx="4911979" cy="2743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US" sz="1350">
                <a:solidFill>
                  <a:srgbClr val="0A2540"/>
                </a:solidFill>
                <a:latin typeface="Calibri"/>
                <a:ea typeface="Calibri"/>
                <a:cs typeface="Calibri"/>
                <a:sym typeface="Calibri"/>
              </a:rPr>
              <a:t>Phạm vi mô hình hóa còn giới hạn</a:t>
            </a:r>
            <a:endParaRPr/>
          </a:p>
        </p:txBody>
      </p:sp>
      <p:sp>
        <p:nvSpPr>
          <p:cNvPr id="1298" name="Google Shape;1298;p62"/>
          <p:cNvSpPr txBox="1"/>
          <p:nvPr/>
        </p:nvSpPr>
        <p:spPr>
          <a:xfrm>
            <a:off x="864108" y="2651760"/>
            <a:ext cx="4911979" cy="59436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b="0" i="0" lang="en-US" sz="1300">
                <a:solidFill>
                  <a:srgbClr val="6B7784"/>
                </a:solidFill>
                <a:latin typeface="Calibri"/>
                <a:ea typeface="Calibri"/>
                <a:cs typeface="Calibri"/>
                <a:sym typeface="Calibri"/>
              </a:rPr>
              <a:t>Chỉ 06/10 quy trình được mô hình hóa chi tiết, 02 quy trình được phân tích chuyên sâu.</a:t>
            </a:r>
            <a:endParaRPr/>
          </a:p>
        </p:txBody>
      </p:sp>
      <p:sp>
        <p:nvSpPr>
          <p:cNvPr id="1299" name="Google Shape;1299;p62"/>
          <p:cNvSpPr/>
          <p:nvPr/>
        </p:nvSpPr>
        <p:spPr>
          <a:xfrm>
            <a:off x="658368" y="3520440"/>
            <a:ext cx="5323459" cy="1280160"/>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00" name="Google Shape;1300;p62"/>
          <p:cNvSpPr/>
          <p:nvPr/>
        </p:nvSpPr>
        <p:spPr>
          <a:xfrm>
            <a:off x="658368" y="3520440"/>
            <a:ext cx="5323459" cy="50292"/>
          </a:xfrm>
          <a:prstGeom prst="rect">
            <a:avLst/>
          </a:prstGeom>
          <a:solidFill>
            <a:srgbClr val="C0392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01" name="Google Shape;1301;p62"/>
          <p:cNvSpPr txBox="1"/>
          <p:nvPr/>
        </p:nvSpPr>
        <p:spPr>
          <a:xfrm>
            <a:off x="864108" y="3703320"/>
            <a:ext cx="4911979" cy="2743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US" sz="1350">
                <a:solidFill>
                  <a:srgbClr val="0A2540"/>
                </a:solidFill>
                <a:latin typeface="Calibri"/>
                <a:ea typeface="Calibri"/>
                <a:cs typeface="Calibri"/>
                <a:sym typeface="Calibri"/>
              </a:rPr>
              <a:t>Dữ liệu định lượng mang tính giả định</a:t>
            </a:r>
            <a:endParaRPr/>
          </a:p>
        </p:txBody>
      </p:sp>
      <p:sp>
        <p:nvSpPr>
          <p:cNvPr id="1302" name="Google Shape;1302;p62"/>
          <p:cNvSpPr txBox="1"/>
          <p:nvPr/>
        </p:nvSpPr>
        <p:spPr>
          <a:xfrm>
            <a:off x="864108" y="4069080"/>
            <a:ext cx="4911979" cy="59436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b="0" i="0" lang="en-US" sz="1300">
                <a:solidFill>
                  <a:srgbClr val="6B7784"/>
                </a:solidFill>
                <a:latin typeface="Calibri"/>
                <a:ea typeface="Calibri"/>
                <a:cs typeface="Calibri"/>
                <a:sym typeface="Calibri"/>
              </a:rPr>
              <a:t>Thời gian, tỷ lệ nhánh và mức 150.000 đồng/giờ là giả định phục vụ phân tích, không phải số liệu thống kê.</a:t>
            </a:r>
            <a:endParaRPr/>
          </a:p>
        </p:txBody>
      </p:sp>
      <p:sp>
        <p:nvSpPr>
          <p:cNvPr id="1303" name="Google Shape;1303;p62"/>
          <p:cNvSpPr/>
          <p:nvPr/>
        </p:nvSpPr>
        <p:spPr>
          <a:xfrm>
            <a:off x="658368" y="4937760"/>
            <a:ext cx="5323459" cy="1280160"/>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04" name="Google Shape;1304;p62"/>
          <p:cNvSpPr/>
          <p:nvPr/>
        </p:nvSpPr>
        <p:spPr>
          <a:xfrm>
            <a:off x="658368" y="4937760"/>
            <a:ext cx="5323459" cy="50292"/>
          </a:xfrm>
          <a:prstGeom prst="rect">
            <a:avLst/>
          </a:prstGeom>
          <a:solidFill>
            <a:srgbClr val="C0392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05" name="Google Shape;1305;p62"/>
          <p:cNvSpPr txBox="1"/>
          <p:nvPr/>
        </p:nvSpPr>
        <p:spPr>
          <a:xfrm>
            <a:off x="864108" y="5120640"/>
            <a:ext cx="4911979" cy="2743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US" sz="1350">
                <a:solidFill>
                  <a:srgbClr val="0A2540"/>
                </a:solidFill>
                <a:latin typeface="Calibri"/>
                <a:ea typeface="Calibri"/>
                <a:cs typeface="Calibri"/>
                <a:sym typeface="Calibri"/>
              </a:rPr>
              <a:t>Mô hình chưa bao quát mọi ngoại lệ</a:t>
            </a:r>
            <a:endParaRPr/>
          </a:p>
        </p:txBody>
      </p:sp>
      <p:sp>
        <p:nvSpPr>
          <p:cNvPr id="1306" name="Google Shape;1306;p62"/>
          <p:cNvSpPr txBox="1"/>
          <p:nvPr/>
        </p:nvSpPr>
        <p:spPr>
          <a:xfrm>
            <a:off x="864108" y="5486400"/>
            <a:ext cx="4911979" cy="59436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b="0" i="0" lang="en-US" sz="1300">
                <a:solidFill>
                  <a:srgbClr val="6B7784"/>
                </a:solidFill>
                <a:latin typeface="Calibri"/>
                <a:ea typeface="Calibri"/>
                <a:cs typeface="Calibri"/>
                <a:sym typeface="Calibri"/>
              </a:rPr>
              <a:t>BPMN tập trung các luồng nghiệp vụ chính, không bao gồm mọi tình huống phát sinh trong thực tế.</a:t>
            </a:r>
            <a:endParaRPr/>
          </a:p>
        </p:txBody>
      </p:sp>
      <p:sp>
        <p:nvSpPr>
          <p:cNvPr id="1307" name="Google Shape;1307;p62"/>
          <p:cNvSpPr txBox="1"/>
          <p:nvPr/>
        </p:nvSpPr>
        <p:spPr>
          <a:xfrm>
            <a:off x="6209868" y="1737360"/>
            <a:ext cx="5323459"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200">
                <a:solidFill>
                  <a:srgbClr val="00C2A8"/>
                </a:solidFill>
                <a:latin typeface="Calibri"/>
                <a:ea typeface="Calibri"/>
                <a:cs typeface="Calibri"/>
                <a:sym typeface="Calibri"/>
              </a:rPr>
              <a:t>5.3  BỐN HƯỚNG PHÁT TRIỂN TIẾP THEO</a:t>
            </a:r>
            <a:endParaRPr/>
          </a:p>
        </p:txBody>
      </p:sp>
      <p:sp>
        <p:nvSpPr>
          <p:cNvPr id="1308" name="Google Shape;1308;p62"/>
          <p:cNvSpPr/>
          <p:nvPr/>
        </p:nvSpPr>
        <p:spPr>
          <a:xfrm>
            <a:off x="6209868" y="2103120"/>
            <a:ext cx="5323459" cy="960120"/>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09" name="Google Shape;1309;p62"/>
          <p:cNvSpPr/>
          <p:nvPr/>
        </p:nvSpPr>
        <p:spPr>
          <a:xfrm>
            <a:off x="6209868" y="2103120"/>
            <a:ext cx="5323459" cy="50292"/>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10" name="Google Shape;1310;p62"/>
          <p:cNvSpPr txBox="1"/>
          <p:nvPr/>
        </p:nvSpPr>
        <p:spPr>
          <a:xfrm>
            <a:off x="6415608" y="2286000"/>
            <a:ext cx="4911979" cy="2743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US" sz="1350">
                <a:solidFill>
                  <a:srgbClr val="0A2540"/>
                </a:solidFill>
                <a:latin typeface="Calibri"/>
                <a:ea typeface="Calibri"/>
                <a:cs typeface="Calibri"/>
                <a:sym typeface="Calibri"/>
              </a:rPr>
              <a:t>01   Mở rộng phạm vi mô hình hóa</a:t>
            </a:r>
            <a:endParaRPr/>
          </a:p>
        </p:txBody>
      </p:sp>
      <p:sp>
        <p:nvSpPr>
          <p:cNvPr id="1311" name="Google Shape;1311;p62"/>
          <p:cNvSpPr txBox="1"/>
          <p:nvPr/>
        </p:nvSpPr>
        <p:spPr>
          <a:xfrm>
            <a:off x="6415608" y="2651760"/>
            <a:ext cx="4911979" cy="2743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b="0" i="0" lang="en-US" sz="1300">
                <a:solidFill>
                  <a:srgbClr val="6B7784"/>
                </a:solidFill>
                <a:latin typeface="Calibri"/>
                <a:ea typeface="Calibri"/>
                <a:cs typeface="Calibri"/>
                <a:sym typeface="Calibri"/>
              </a:rPr>
              <a:t>Mô hình hóa các quy trình còn lại trong kiến trúc.</a:t>
            </a:r>
            <a:endParaRPr/>
          </a:p>
        </p:txBody>
      </p:sp>
      <p:sp>
        <p:nvSpPr>
          <p:cNvPr id="1312" name="Google Shape;1312;p62"/>
          <p:cNvSpPr/>
          <p:nvPr/>
        </p:nvSpPr>
        <p:spPr>
          <a:xfrm>
            <a:off x="6209868" y="3154680"/>
            <a:ext cx="5323459" cy="960120"/>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13" name="Google Shape;1313;p62"/>
          <p:cNvSpPr/>
          <p:nvPr/>
        </p:nvSpPr>
        <p:spPr>
          <a:xfrm>
            <a:off x="6209868" y="3154680"/>
            <a:ext cx="5323459" cy="50292"/>
          </a:xfrm>
          <a:prstGeom prst="rect">
            <a:avLst/>
          </a:prstGeom>
          <a:solidFill>
            <a:srgbClr val="00C2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14" name="Google Shape;1314;p62"/>
          <p:cNvSpPr txBox="1"/>
          <p:nvPr/>
        </p:nvSpPr>
        <p:spPr>
          <a:xfrm>
            <a:off x="6415608" y="3337560"/>
            <a:ext cx="4911979" cy="2743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US" sz="1350">
                <a:solidFill>
                  <a:srgbClr val="0A2540"/>
                </a:solidFill>
                <a:latin typeface="Calibri"/>
                <a:ea typeface="Calibri"/>
                <a:cs typeface="Calibri"/>
                <a:sym typeface="Calibri"/>
              </a:rPr>
              <a:t>02   Thu thập dữ liệu vận hành thực tế</a:t>
            </a:r>
            <a:endParaRPr/>
          </a:p>
        </p:txBody>
      </p:sp>
      <p:sp>
        <p:nvSpPr>
          <p:cNvPr id="1315" name="Google Shape;1315;p62"/>
          <p:cNvSpPr txBox="1"/>
          <p:nvPr/>
        </p:nvSpPr>
        <p:spPr>
          <a:xfrm>
            <a:off x="6415608" y="3703320"/>
            <a:ext cx="4911979" cy="2743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b="0" i="0" lang="en-US" sz="1300">
                <a:solidFill>
                  <a:srgbClr val="6B7784"/>
                </a:solidFill>
                <a:latin typeface="Calibri"/>
                <a:ea typeface="Calibri"/>
                <a:cs typeface="Calibri"/>
                <a:sym typeface="Calibri"/>
              </a:rPr>
              <a:t>Đo lại PT, WT, Cycle Time và chi phí thực tế.</a:t>
            </a:r>
            <a:endParaRPr/>
          </a:p>
        </p:txBody>
      </p:sp>
      <p:sp>
        <p:nvSpPr>
          <p:cNvPr id="1316" name="Google Shape;1316;p62"/>
          <p:cNvSpPr/>
          <p:nvPr/>
        </p:nvSpPr>
        <p:spPr>
          <a:xfrm>
            <a:off x="6209868" y="4206240"/>
            <a:ext cx="5323459" cy="960120"/>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17" name="Google Shape;1317;p62"/>
          <p:cNvSpPr/>
          <p:nvPr/>
        </p:nvSpPr>
        <p:spPr>
          <a:xfrm>
            <a:off x="6209868" y="4206240"/>
            <a:ext cx="5323459" cy="50292"/>
          </a:xfrm>
          <a:prstGeom prst="rect">
            <a:avLst/>
          </a:prstGeom>
          <a:solidFill>
            <a:srgbClr val="C87F0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18" name="Google Shape;1318;p62"/>
          <p:cNvSpPr txBox="1"/>
          <p:nvPr/>
        </p:nvSpPr>
        <p:spPr>
          <a:xfrm>
            <a:off x="6415608" y="4389120"/>
            <a:ext cx="4911979" cy="2743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US" sz="1350">
                <a:solidFill>
                  <a:srgbClr val="0A2540"/>
                </a:solidFill>
                <a:latin typeface="Calibri"/>
                <a:ea typeface="Calibri"/>
                <a:cs typeface="Calibri"/>
                <a:sym typeface="Calibri"/>
              </a:rPr>
              <a:t>03   Chuẩn hóa dữ liệu và trạng thái xử lý</a:t>
            </a:r>
            <a:endParaRPr/>
          </a:p>
        </p:txBody>
      </p:sp>
      <p:sp>
        <p:nvSpPr>
          <p:cNvPr id="1319" name="Google Shape;1319;p62"/>
          <p:cNvSpPr txBox="1"/>
          <p:nvPr/>
        </p:nvSpPr>
        <p:spPr>
          <a:xfrm>
            <a:off x="6415608" y="4754880"/>
            <a:ext cx="4911979" cy="2743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b="0" i="0" lang="en-US" sz="1300">
                <a:solidFill>
                  <a:srgbClr val="6B7784"/>
                </a:solidFill>
                <a:latin typeface="Calibri"/>
                <a:ea typeface="Calibri"/>
                <a:cs typeface="Calibri"/>
                <a:sym typeface="Calibri"/>
              </a:rPr>
              <a:t>Giảm vòng bổ sung, theo dõi tiến độ xử lý.</a:t>
            </a:r>
            <a:endParaRPr/>
          </a:p>
        </p:txBody>
      </p:sp>
      <p:sp>
        <p:nvSpPr>
          <p:cNvPr id="1320" name="Google Shape;1320;p62"/>
          <p:cNvSpPr/>
          <p:nvPr/>
        </p:nvSpPr>
        <p:spPr>
          <a:xfrm>
            <a:off x="6209868" y="5257800"/>
            <a:ext cx="5323459" cy="960120"/>
          </a:xfrm>
          <a:prstGeom prst="rect">
            <a:avLst/>
          </a:prstGeom>
          <a:solidFill>
            <a:srgbClr val="F4F7FA"/>
          </a:solidFill>
          <a:ln cap="flat" cmpd="sng" w="9525">
            <a:solidFill>
              <a:srgbClr val="DFE4E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21" name="Google Shape;1321;p62"/>
          <p:cNvSpPr/>
          <p:nvPr/>
        </p:nvSpPr>
        <p:spPr>
          <a:xfrm>
            <a:off x="6209868" y="5257800"/>
            <a:ext cx="5323459" cy="50292"/>
          </a:xfrm>
          <a:prstGeom prst="rect">
            <a:avLst/>
          </a:prstGeom>
          <a:solidFill>
            <a:srgbClr val="C0392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22" name="Google Shape;1322;p62"/>
          <p:cNvSpPr txBox="1"/>
          <p:nvPr/>
        </p:nvSpPr>
        <p:spPr>
          <a:xfrm>
            <a:off x="6415608" y="5440680"/>
            <a:ext cx="4911979" cy="2743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US" sz="1350">
                <a:solidFill>
                  <a:srgbClr val="0A2540"/>
                </a:solidFill>
                <a:latin typeface="Calibri"/>
                <a:ea typeface="Calibri"/>
                <a:cs typeface="Calibri"/>
                <a:sym typeface="Calibri"/>
              </a:rPr>
              <a:t>04   Khai thác Process Mining</a:t>
            </a:r>
            <a:endParaRPr/>
          </a:p>
        </p:txBody>
      </p:sp>
      <p:sp>
        <p:nvSpPr>
          <p:cNvPr id="1323" name="Google Shape;1323;p62"/>
          <p:cNvSpPr txBox="1"/>
          <p:nvPr/>
        </p:nvSpPr>
        <p:spPr>
          <a:xfrm>
            <a:off x="6415608" y="5806440"/>
            <a:ext cx="4911979" cy="2743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b="0" i="0" lang="en-US" sz="1300">
                <a:solidFill>
                  <a:srgbClr val="6B7784"/>
                </a:solidFill>
                <a:latin typeface="Calibri"/>
                <a:ea typeface="Calibri"/>
                <a:cs typeface="Calibri"/>
                <a:sym typeface="Calibri"/>
              </a:rPr>
              <a:t>Đối chiếu Event Log với mô hình BPMN.</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243E"/>
        </a:solidFill>
      </p:bgPr>
    </p:bg>
    <p:spTree>
      <p:nvGrpSpPr>
        <p:cNvPr id="1327" name="Shape 1327"/>
        <p:cNvGrpSpPr/>
        <p:nvPr/>
      </p:nvGrpSpPr>
      <p:grpSpPr>
        <a:xfrm>
          <a:off x="0" y="0"/>
          <a:ext cx="0" cy="0"/>
          <a:chOff x="0" y="0"/>
          <a:chExt cx="0" cy="0"/>
        </a:xfrm>
      </p:grpSpPr>
      <p:sp>
        <p:nvSpPr>
          <p:cNvPr id="1328" name="Google Shape;1328;p63"/>
          <p:cNvSpPr/>
          <p:nvPr/>
        </p:nvSpPr>
        <p:spPr>
          <a:xfrm>
            <a:off x="0" y="0"/>
            <a:ext cx="182880" cy="6858000"/>
          </a:xfrm>
          <a:prstGeom prst="rect">
            <a:avLst/>
          </a:prstGeom>
          <a:solidFill>
            <a:srgbClr val="0096D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29" name="Google Shape;1329;p63"/>
          <p:cNvSpPr txBox="1"/>
          <p:nvPr/>
        </p:nvSpPr>
        <p:spPr>
          <a:xfrm>
            <a:off x="1051560" y="2103120"/>
            <a:ext cx="10058400" cy="30777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2000">
                <a:solidFill>
                  <a:srgbClr val="00C2A8"/>
                </a:solidFill>
                <a:latin typeface="Calibri"/>
                <a:ea typeface="Calibri"/>
                <a:cs typeface="Calibri"/>
                <a:sym typeface="Calibri"/>
              </a:rPr>
              <a:t>HỆ THỐNG QUẢN TRỊ QUY TRÌNH NGHIỆP VỤ  ·  ĐỒ ÁN CUỐI KỲ</a:t>
            </a:r>
            <a:endParaRPr/>
          </a:p>
        </p:txBody>
      </p:sp>
      <p:sp>
        <p:nvSpPr>
          <p:cNvPr id="1330" name="Google Shape;1330;p63"/>
          <p:cNvSpPr txBox="1"/>
          <p:nvPr/>
        </p:nvSpPr>
        <p:spPr>
          <a:xfrm>
            <a:off x="1051560" y="2560320"/>
            <a:ext cx="10058400" cy="914400"/>
          </a:xfrm>
          <a:prstGeom prst="rect">
            <a:avLst/>
          </a:prstGeom>
          <a:noFill/>
          <a:ln>
            <a:noFill/>
          </a:ln>
        </p:spPr>
        <p:txBody>
          <a:bodyPr anchorCtr="0" anchor="t" bIns="0" lIns="0" spcFirstLastPara="1" rIns="0" wrap="square" tIns="0">
            <a:spAutoFit/>
          </a:bodyPr>
          <a:lstStyle/>
          <a:p>
            <a:pPr indent="0" lvl="0" marL="0" marR="0" rtl="0" algn="ctr">
              <a:lnSpc>
                <a:spcPct val="105000"/>
              </a:lnSpc>
              <a:spcBef>
                <a:spcPts val="0"/>
              </a:spcBef>
              <a:spcAft>
                <a:spcPts val="0"/>
              </a:spcAft>
              <a:buNone/>
            </a:pPr>
            <a:r>
              <a:rPr b="1" i="0" lang="en-US" sz="3200">
                <a:solidFill>
                  <a:srgbClr val="FFFFFF"/>
                </a:solidFill>
                <a:latin typeface="Calibri"/>
                <a:ea typeface="Calibri"/>
                <a:cs typeface="Calibri"/>
                <a:sym typeface="Calibri"/>
              </a:rPr>
              <a:t>CẢM ƠN THẦY VÀ CÁC BẠN ĐÃ LẮNG NGHE</a:t>
            </a:r>
            <a:endParaRPr/>
          </a:p>
        </p:txBody>
      </p:sp>
      <p:sp>
        <p:nvSpPr>
          <p:cNvPr id="1331" name="Google Shape;1331;p63"/>
          <p:cNvSpPr/>
          <p:nvPr/>
        </p:nvSpPr>
        <p:spPr>
          <a:xfrm>
            <a:off x="5596128" y="3675887"/>
            <a:ext cx="1005840" cy="45720"/>
          </a:xfrm>
          <a:prstGeom prst="rect">
            <a:avLst/>
          </a:prstGeom>
          <a:solidFill>
            <a:srgbClr val="00C2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32" name="Google Shape;1332;p63"/>
          <p:cNvSpPr txBox="1"/>
          <p:nvPr/>
        </p:nvSpPr>
        <p:spPr>
          <a:xfrm>
            <a:off x="1051560" y="3968496"/>
            <a:ext cx="10058400" cy="295466"/>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1600">
                <a:solidFill>
                  <a:srgbClr val="B6C9D8"/>
                </a:solidFill>
                <a:latin typeface="Calibri"/>
                <a:ea typeface="Calibri"/>
                <a:cs typeface="Calibri"/>
                <a:sym typeface="Calibri"/>
              </a:rPr>
              <a:t>Rất mong nhận được câu hỏi và góp ý từ Thầy và các bạn</a:t>
            </a:r>
            <a:endParaRPr b="0" i="0" sz="1600">
              <a:solidFill>
                <a:srgbClr val="B6C9D8"/>
              </a:solidFill>
              <a:latin typeface="Calibri"/>
              <a:ea typeface="Calibri"/>
              <a:cs typeface="Calibri"/>
              <a:sym typeface="Calibri"/>
            </a:endParaRPr>
          </a:p>
        </p:txBody>
      </p:sp>
      <p:sp>
        <p:nvSpPr>
          <p:cNvPr id="1333" name="Google Shape;1333;p63"/>
          <p:cNvSpPr txBox="1"/>
          <p:nvPr/>
        </p:nvSpPr>
        <p:spPr>
          <a:xfrm>
            <a:off x="1051560" y="4846320"/>
            <a:ext cx="10058400" cy="693523"/>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1600">
                <a:solidFill>
                  <a:srgbClr val="FFFFFF"/>
                </a:solidFill>
                <a:latin typeface="Calibri"/>
                <a:ea typeface="Calibri"/>
                <a:cs typeface="Calibri"/>
                <a:sym typeface="Calibri"/>
              </a:rPr>
              <a:t>Nguyễn Chí Thanh · 25210195      |      Trần Xuân Trứ · 25210227      |      Tăng Thuận Phát · 25210163</a:t>
            </a:r>
            <a:endParaRPr/>
          </a:p>
          <a:p>
            <a:pPr indent="0" lvl="0" marL="0" marR="0" rtl="0" algn="ctr">
              <a:lnSpc>
                <a:spcPct val="120000"/>
              </a:lnSpc>
              <a:spcBef>
                <a:spcPts val="800"/>
              </a:spcBef>
              <a:spcAft>
                <a:spcPts val="0"/>
              </a:spcAft>
              <a:buNone/>
            </a:pPr>
            <a:r>
              <a:rPr b="0" i="0" lang="en-US" sz="1600">
                <a:solidFill>
                  <a:srgbClr val="8FA6BC"/>
                </a:solidFill>
                <a:latin typeface="Calibri"/>
                <a:ea typeface="Calibri"/>
                <a:cs typeface="Calibri"/>
                <a:sym typeface="Calibri"/>
              </a:rPr>
              <a:t>GVHD: ThS. Hà Lê Hoài Trung  ·  TP. Hồ Chí Minh, 08/2026</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